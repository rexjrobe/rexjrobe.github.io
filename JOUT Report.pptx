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ags/tag5.xml" ContentType="application/vnd.openxmlformats-officedocument.presentationml.tags+xml"/>
  <Override PartName="/ppt/notesSlides/notesSlide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notesSlides/notesSlide12.xml" ContentType="application/vnd.openxmlformats-officedocument.presentationml.notesSlide+xml"/>
  <Override PartName="/ppt/charts/chart14.xml" ContentType="application/vnd.openxmlformats-officedocument.drawingml.chart+xml"/>
  <Override PartName="/ppt/charts/chart15.xml" ContentType="application/vnd.openxmlformats-officedocument.drawingml.chart+xml"/>
  <Override PartName="/ppt/tags/tag8.xml" ContentType="application/vnd.openxmlformats-officedocument.presentationml.tags+xml"/>
  <Override PartName="/ppt/notesSlides/notesSlide13.xml" ContentType="application/vnd.openxmlformats-officedocument.presentationml.notesSlide+xml"/>
  <Override PartName="/ppt/charts/chart16.xml" ContentType="application/vnd.openxmlformats-officedocument.drawingml.chart+xml"/>
  <Override PartName="/ppt/charts/chart17.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comments/modernComment_1FB_1B8E3723.xml" ContentType="application/vnd.ms-powerpoint.comments+xml"/>
  <Override PartName="/ppt/tags/tag10.xml" ContentType="application/vnd.openxmlformats-officedocument.presentationml.tags+xml"/>
  <Override PartName="/ppt/notesSlides/notesSlide16.xml" ContentType="application/vnd.openxmlformats-officedocument.presentationml.notesSlide+xml"/>
  <Override PartName="/ppt/comments/modernComment_21D_CEF0BB86.xml" ContentType="application/vnd.ms-powerpoint.comments+xml"/>
  <Override PartName="/ppt/charts/chart18.xml" ContentType="application/vnd.openxmlformats-officedocument.drawingml.chart+xml"/>
  <Override PartName="/ppt/charts/style11.xml" ContentType="application/vnd.ms-office.chartstyle+xml"/>
  <Override PartName="/ppt/charts/colors11.xml" ContentType="application/vnd.ms-office.chartcolorstyl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8.xml" ContentType="application/vnd.openxmlformats-officedocument.presentationml.notesSlide+xml"/>
  <Override PartName="/ppt/charts/chart19.xml" ContentType="application/vnd.openxmlformats-officedocument.drawingml.chart+xml"/>
  <Override PartName="/ppt/notesSlides/notesSlide19.xml" ContentType="application/vnd.openxmlformats-officedocument.presentationml.notesSlide+xml"/>
  <Override PartName="/ppt/tags/tag20.xml" ContentType="application/vnd.openxmlformats-officedocument.presentationml.tags+xml"/>
  <Override PartName="/ppt/charts/chart20.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2.xml" ContentType="application/vnd.openxmlformats-officedocument.themeOverride+xml"/>
  <Override PartName="/ppt/tags/tag21.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76" r:id="rId1"/>
  </p:sldMasterIdLst>
  <p:notesMasterIdLst>
    <p:notesMasterId r:id="rId23"/>
  </p:notesMasterIdLst>
  <p:handoutMasterIdLst>
    <p:handoutMasterId r:id="rId24"/>
  </p:handoutMasterIdLst>
  <p:sldIdLst>
    <p:sldId id="423" r:id="rId2"/>
    <p:sldId id="503" r:id="rId3"/>
    <p:sldId id="552" r:id="rId4"/>
    <p:sldId id="513" r:id="rId5"/>
    <p:sldId id="501" r:id="rId6"/>
    <p:sldId id="462" r:id="rId7"/>
    <p:sldId id="526" r:id="rId8"/>
    <p:sldId id="553" r:id="rId9"/>
    <p:sldId id="536" r:id="rId10"/>
    <p:sldId id="502" r:id="rId11"/>
    <p:sldId id="533" r:id="rId12"/>
    <p:sldId id="545" r:id="rId13"/>
    <p:sldId id="532" r:id="rId14"/>
    <p:sldId id="504" r:id="rId15"/>
    <p:sldId id="507" r:id="rId16"/>
    <p:sldId id="541" r:id="rId17"/>
    <p:sldId id="547" r:id="rId18"/>
    <p:sldId id="548" r:id="rId19"/>
    <p:sldId id="505" r:id="rId20"/>
    <p:sldId id="546" r:id="rId21"/>
    <p:sldId id="542" r:id="rId22"/>
  </p:sldIdLst>
  <p:sldSz cx="9144000" cy="6858000" type="screen4x3"/>
  <p:notesSz cx="9223375" cy="7010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8D85C67-8340-4C92-5383-DD69BC0CB1EF}" name="Jakob Juedes" initials="JJ" userId="S::jcjuedes@uwm.edu::2a552fcc-010b-4f09-bebe-1fc3d17caa47" providerId="AD"/>
  <p188:author id="{855A68B4-31F6-7797-A38E-D97322D7F4F7}" name="Rex James Robe" initials="RR" userId="S::rexjrobe@uwm.edu::1ef13fad-b587-4e1a-82f6-1b3fa19311d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2C755"/>
    <a:srgbClr val="BFBFBF"/>
    <a:srgbClr val="FFFFFF"/>
    <a:srgbClr val="558ED5"/>
    <a:srgbClr val="89C4FF"/>
    <a:srgbClr val="552AD5"/>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B26A09-EAB1-46A3-A33A-C721B9A6CAE7}" v="171" dt="2025-12-11T01:52:11.645"/>
    <p1510:client id="{284B9BB0-C313-BE75-A7DE-E536FDA72F94}" v="155" dt="2025-12-10T15:27:03.999"/>
    <p1510:client id="{9318D5B1-95A4-D8AA-88DD-9A305764900A}" v="598" dt="2025-12-10T16:59:42.485"/>
    <p1510:client id="{EEA1EF48-253F-0199-A24D-66641F36FE74}" v="76" dt="2025-12-10T20:46:11.5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89610" autoAdjust="0"/>
  </p:normalViewPr>
  <p:slideViewPr>
    <p:cSldViewPr snapToGrid="0">
      <p:cViewPr varScale="1">
        <p:scale>
          <a:sx n="80" d="100"/>
          <a:sy n="80" d="100"/>
        </p:scale>
        <p:origin x="102" y="50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1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10.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10.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1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10.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1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7.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7.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7.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1" Type="http://schemas.openxmlformats.org/officeDocument/2006/relationships/oleObject" Target="https://panthers-my.sharepoint.com/personal/rexjrobe_uwm_edu/Documents/ROBE%20FinValTemplate_Codes_5_25.xlsx"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https://panthers-my.sharepoint.com/personal/rexjrobe_uwm_edu/Documents/ROBE%20FinValTemplate_Codes_5_25.xlsx"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https://panthers-my.sharepoint.com/personal/rexjrobe_uwm_edu/Documents/ROBE%20FinValTemplate_Codes_5_25.xlsx" TargetMode="External"/></Relationships>
</file>

<file path=ppt/charts/_rels/chart13.xml.rels><?xml version="1.0" encoding="UTF-8" standalone="yes"?>
<Relationships xmlns="http://schemas.openxmlformats.org/package/2006/relationships"><Relationship Id="rId1" Type="http://schemas.openxmlformats.org/officeDocument/2006/relationships/oleObject" Target="https://panthers-my.sharepoint.com/personal/rexjrobe_uwm_edu/Documents/ROBE%20FinValTemplate_Codes_5_25.xlsx" TargetMode="External"/></Relationships>
</file>

<file path=ppt/charts/_rels/chart14.xml.rels><?xml version="1.0" encoding="UTF-8" standalone="yes"?>
<Relationships xmlns="http://schemas.openxmlformats.org/package/2006/relationships"><Relationship Id="rId1" Type="http://schemas.openxmlformats.org/officeDocument/2006/relationships/oleObject" Target="https://panthers-my.sharepoint.com/personal/rexjrobe_uwm_edu/Documents/ROBE%20FinValTemplate_Codes_5_25.xlsx" TargetMode="External"/></Relationships>
</file>

<file path=ppt/charts/_rels/chart15.xml.rels><?xml version="1.0" encoding="UTF-8" standalone="yes"?>
<Relationships xmlns="http://schemas.openxmlformats.org/package/2006/relationships"><Relationship Id="rId1" Type="http://schemas.openxmlformats.org/officeDocument/2006/relationships/oleObject" Target="https://panthers-my.sharepoint.com/personal/rexjrobe_uwm_edu/Documents/ROBE%20FinValTemplate_Codes_5_25.xlsx" TargetMode="External"/></Relationships>
</file>

<file path=ppt/charts/_rels/chart16.xml.rels><?xml version="1.0" encoding="UTF-8" standalone="yes"?>
<Relationships xmlns="http://schemas.openxmlformats.org/package/2006/relationships"><Relationship Id="rId1" Type="http://schemas.openxmlformats.org/officeDocument/2006/relationships/oleObject" Target="https://panthers-my.sharepoint.com/personal/rexjrobe_uwm_edu/Documents/ROBE%20FinValTemplate_Codes_5_25.xlsx" TargetMode="External"/></Relationships>
</file>

<file path=ppt/charts/_rels/chart17.xml.rels><?xml version="1.0" encoding="UTF-8" standalone="yes"?>
<Relationships xmlns="http://schemas.openxmlformats.org/package/2006/relationships"><Relationship Id="rId3" Type="http://schemas.openxmlformats.org/officeDocument/2006/relationships/oleObject" Target="https://panthers-my.sharepoint.com/personal/rexjrobe_uwm_edu/Documents/Book%207.xlsx" TargetMode="External"/><Relationship Id="rId2" Type="http://schemas.microsoft.com/office/2011/relationships/chartColorStyle" Target="colors10.xml"/><Relationship Id="rId1" Type="http://schemas.microsoft.com/office/2011/relationships/chartStyle" Target="style10.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rexjrobe\Downloads\ROBE%20FinValTemplate_Codes_5_25.xlsx" TargetMode="External"/><Relationship Id="rId2" Type="http://schemas.microsoft.com/office/2011/relationships/chartColorStyle" Target="colors11.xml"/><Relationship Id="rId1" Type="http://schemas.microsoft.com/office/2011/relationships/chartStyle" Target="style11.xml"/></Relationships>
</file>

<file path=ppt/charts/_rels/chart19.xml.rels><?xml version="1.0" encoding="UTF-8" standalone="yes"?>
<Relationships xmlns="http://schemas.openxmlformats.org/package/2006/relationships"><Relationship Id="rId1" Type="http://schemas.openxmlformats.org/officeDocument/2006/relationships/oleObject" Target="file:///C:\Users\rjrob\Downloads\ROBE%20FinValTemplate_Codes_5_25.xlsx" TargetMode="External"/></Relationships>
</file>

<file path=ppt/charts/_rels/chart20.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https://panthers-my.sharepoint.com/personal/rexjrobe_uwm_edu/Documents/Book%207.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spPr>
            <a:solidFill>
              <a:srgbClr val="FFC000"/>
            </a:solidFill>
          </c:spPr>
          <c:dPt>
            <c:idx val="0"/>
            <c:bubble3D val="0"/>
            <c:spPr>
              <a:solidFill>
                <a:srgbClr val="FFC000"/>
              </a:solidFill>
              <a:ln w="19050">
                <a:solidFill>
                  <a:schemeClr val="lt1"/>
                </a:solidFill>
              </a:ln>
              <a:effectLst/>
            </c:spPr>
            <c:extLst>
              <c:ext xmlns:c16="http://schemas.microsoft.com/office/drawing/2014/chart" uri="{C3380CC4-5D6E-409C-BE32-E72D297353CC}">
                <c16:uniqueId val="{00000001-0324-45C6-B165-368D1914F296}"/>
              </c:ext>
            </c:extLst>
          </c:dPt>
          <c:dPt>
            <c:idx val="1"/>
            <c:bubble3D val="0"/>
            <c:spPr>
              <a:solidFill>
                <a:srgbClr val="262626"/>
              </a:solidFill>
              <a:ln w="19050">
                <a:solidFill>
                  <a:schemeClr val="lt1"/>
                </a:solidFill>
              </a:ln>
              <a:effectLst/>
            </c:spPr>
            <c:extLst>
              <c:ext xmlns:c16="http://schemas.microsoft.com/office/drawing/2014/chart" uri="{C3380CC4-5D6E-409C-BE32-E72D297353CC}">
                <c16:uniqueId val="{00000003-0324-45C6-B165-368D1914F296}"/>
              </c:ext>
            </c:extLst>
          </c:dPt>
          <c:dPt>
            <c:idx val="2"/>
            <c:bubble3D val="0"/>
            <c:spPr>
              <a:solidFill>
                <a:srgbClr val="595959"/>
              </a:solidFill>
              <a:ln w="19050">
                <a:solidFill>
                  <a:schemeClr val="lt1"/>
                </a:solidFill>
              </a:ln>
              <a:effectLst/>
            </c:spPr>
            <c:extLst>
              <c:ext xmlns:c16="http://schemas.microsoft.com/office/drawing/2014/chart" uri="{C3380CC4-5D6E-409C-BE32-E72D297353CC}">
                <c16:uniqueId val="{00000005-0324-45C6-B165-368D1914F296}"/>
              </c:ext>
            </c:extLst>
          </c:dPt>
          <c:dPt>
            <c:idx val="3"/>
            <c:bubble3D val="0"/>
            <c:spPr>
              <a:solidFill>
                <a:srgbClr val="D0D0D0"/>
              </a:solidFill>
              <a:ln w="19050">
                <a:solidFill>
                  <a:schemeClr val="lt1"/>
                </a:solidFill>
              </a:ln>
              <a:effectLst/>
            </c:spPr>
            <c:extLst>
              <c:ext xmlns:c16="http://schemas.microsoft.com/office/drawing/2014/chart" uri="{C3380CC4-5D6E-409C-BE32-E72D297353CC}">
                <c16:uniqueId val="{00000007-0324-45C6-B165-368D1914F296}"/>
              </c:ext>
            </c:extLst>
          </c:dPt>
          <c:dLbls>
            <c:spPr>
              <a:noFill/>
              <a:ln>
                <a:solidFill>
                  <a:srgbClr val="FFFFFF"/>
                </a:solidFill>
                <a:prstDash val="solid"/>
              </a:ln>
              <a:effectLst/>
            </c:spPr>
            <c:txPr>
              <a:bodyPr rot="0" spcFirstLastPara="1" vertOverflow="ellipsis" vert="horz" wrap="square" lIns="38100" tIns="19050" rIns="38100" bIns="19050" anchor="ctr" anchorCtr="0">
                <a:spAutoFit/>
              </a:bodyPr>
              <a:lstStyle/>
              <a:p>
                <a:pPr algn="ct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dLblPos val="out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Sheet1!$H$4:$K$4</c:f>
              <c:strCache>
                <c:ptCount val="4"/>
                <c:pt idx="0">
                  <c:v>Fishing</c:v>
                </c:pt>
                <c:pt idx="1">
                  <c:v>Diving</c:v>
                </c:pt>
                <c:pt idx="2">
                  <c:v>Camping</c:v>
                </c:pt>
                <c:pt idx="3">
                  <c:v>Watercraft Recreation</c:v>
                </c:pt>
              </c:strCache>
            </c:strRef>
          </c:cat>
          <c:val>
            <c:numRef>
              <c:f>Sheet1!$H$5:$K$5</c:f>
              <c:numCache>
                <c:formatCode>General</c:formatCode>
                <c:ptCount val="4"/>
                <c:pt idx="0">
                  <c:v>452</c:v>
                </c:pt>
                <c:pt idx="1">
                  <c:v>74</c:v>
                </c:pt>
                <c:pt idx="2">
                  <c:v>38</c:v>
                </c:pt>
                <c:pt idx="3">
                  <c:v>29</c:v>
                </c:pt>
              </c:numCache>
            </c:numRef>
          </c:val>
          <c:extLst>
            <c:ext xmlns:c16="http://schemas.microsoft.com/office/drawing/2014/chart" uri="{C3380CC4-5D6E-409C-BE32-E72D297353CC}">
              <c16:uniqueId val="{00000008-3B4E-4608-94B6-BEEF3E109BC4}"/>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solidFill>
            <a:srgbClr val="FFFFFF"/>
          </a:solidFill>
          <a:prstDash val="solid"/>
        </a:ln>
        <a:effectLst/>
      </c:spPr>
      <c:txPr>
        <a:bodyPr rot="0" spcFirstLastPara="1" vertOverflow="ellipsis" vert="horz" wrap="square" anchor="ctr" anchorCtr="1"/>
        <a:lstStyle/>
        <a:p>
          <a:pPr>
            <a:defRPr sz="900" b="0" i="0" u="none" strike="noStrike" kern="1200" baseline="0">
              <a:solidFill>
                <a:srgbClr val="000000"/>
              </a:solidFill>
              <a:latin typeface="+mn-lt"/>
              <a:ea typeface="+mn-ea"/>
              <a:cs typeface="+mn-cs"/>
            </a:defRPr>
          </a:pPr>
          <a:endParaRPr lang="en-US"/>
        </a:p>
      </c:txPr>
    </c:legend>
    <c:plotVisOnly val="1"/>
    <c:dispBlanksAs val="gap"/>
    <c:showDLblsOverMax val="0"/>
  </c:chart>
  <c:spPr>
    <a:solidFill>
      <a:schemeClr val="bg1"/>
    </a:solidFill>
    <a:ln w="28575" cap="flat" cmpd="sng" algn="ctr">
      <a:solidFill>
        <a:srgbClr val="000000"/>
      </a:solidFill>
      <a:prstDash val="solid"/>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180489714260861"/>
          <c:y val="7.565532489238902E-2"/>
          <c:w val="0.7376791694366609"/>
          <c:h val="0.70316348188101774"/>
        </c:manualLayout>
      </c:layout>
      <c:barChart>
        <c:barDir val="col"/>
        <c:grouping val="clustered"/>
        <c:varyColors val="0"/>
        <c:ser>
          <c:idx val="0"/>
          <c:order val="0"/>
          <c:tx>
            <c:strRef>
              <c:f>Sheet1!$E$62</c:f>
              <c:strCache>
                <c:ptCount val="1"/>
                <c:pt idx="0">
                  <c:v>Total Revenue</c:v>
                </c:pt>
              </c:strCache>
            </c:strRef>
          </c:tx>
          <c:spPr>
            <a:solidFill>
              <a:srgbClr val="FFC000"/>
            </a:solidFill>
            <a:ln>
              <a:noFill/>
            </a:ln>
            <a:effectLst/>
          </c:spPr>
          <c:invertIfNegative val="0"/>
          <c:cat>
            <c:numRef>
              <c:f>Sheet1!$D$63:$D$71</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Sheet1!$E$63:$E$71</c:f>
              <c:numCache>
                <c:formatCode>General</c:formatCode>
                <c:ptCount val="9"/>
                <c:pt idx="0">
                  <c:v>554</c:v>
                </c:pt>
                <c:pt idx="1">
                  <c:v>562</c:v>
                </c:pt>
                <c:pt idx="2">
                  <c:v>594</c:v>
                </c:pt>
                <c:pt idx="3">
                  <c:v>752</c:v>
                </c:pt>
                <c:pt idx="4">
                  <c:v>743</c:v>
                </c:pt>
                <c:pt idx="5">
                  <c:v>664</c:v>
                </c:pt>
                <c:pt idx="6">
                  <c:v>593</c:v>
                </c:pt>
                <c:pt idx="7">
                  <c:v>547</c:v>
                </c:pt>
                <c:pt idx="8">
                  <c:v>553</c:v>
                </c:pt>
              </c:numCache>
            </c:numRef>
          </c:val>
          <c:extLst>
            <c:ext xmlns:c16="http://schemas.microsoft.com/office/drawing/2014/chart" uri="{C3380CC4-5D6E-409C-BE32-E72D297353CC}">
              <c16:uniqueId val="{00000001-EFA2-4033-933C-B91D489768E4}"/>
            </c:ext>
          </c:extLst>
        </c:ser>
        <c:dLbls>
          <c:showLegendKey val="0"/>
          <c:showVal val="0"/>
          <c:showCatName val="0"/>
          <c:showSerName val="0"/>
          <c:showPercent val="0"/>
          <c:showBubbleSize val="0"/>
        </c:dLbls>
        <c:gapWidth val="150"/>
        <c:axId val="1902412295"/>
        <c:axId val="2081321991"/>
      </c:barChart>
      <c:lineChart>
        <c:grouping val="standard"/>
        <c:varyColors val="0"/>
        <c:ser>
          <c:idx val="1"/>
          <c:order val="1"/>
          <c:tx>
            <c:strRef>
              <c:f>Sheet1!$F$62</c:f>
              <c:strCache>
                <c:ptCount val="1"/>
                <c:pt idx="0">
                  <c:v>Growth YoY%</c:v>
                </c:pt>
              </c:strCache>
            </c:strRef>
          </c:tx>
          <c:spPr>
            <a:ln w="28575" cap="rnd">
              <a:solidFill>
                <a:srgbClr val="000000"/>
              </a:solidFill>
              <a:prstDash val="solid"/>
              <a:round/>
            </a:ln>
            <a:effectLst/>
          </c:spPr>
          <c:marker>
            <c:symbol val="none"/>
          </c:marker>
          <c:cat>
            <c:numRef>
              <c:f>Sheet1!$D$63:$D$71</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Sheet1!$F$63:$F$71</c:f>
              <c:numCache>
                <c:formatCode>0.00%</c:formatCode>
                <c:ptCount val="9"/>
                <c:pt idx="0">
                  <c:v>0.108</c:v>
                </c:pt>
                <c:pt idx="1">
                  <c:v>3.3000000000000002E-2</c:v>
                </c:pt>
                <c:pt idx="2">
                  <c:v>5.7000000000000002E-2</c:v>
                </c:pt>
                <c:pt idx="3">
                  <c:v>0.26500000000000001</c:v>
                </c:pt>
                <c:pt idx="4">
                  <c:v>-1.0999999999999999E-2</c:v>
                </c:pt>
                <c:pt idx="5">
                  <c:v>-0.107</c:v>
                </c:pt>
                <c:pt idx="6">
                  <c:v>-0.107</c:v>
                </c:pt>
                <c:pt idx="7">
                  <c:v>-0.107</c:v>
                </c:pt>
                <c:pt idx="8">
                  <c:v>-0.107</c:v>
                </c:pt>
              </c:numCache>
            </c:numRef>
          </c:val>
          <c:smooth val="0"/>
          <c:extLst>
            <c:ext xmlns:c16="http://schemas.microsoft.com/office/drawing/2014/chart" uri="{C3380CC4-5D6E-409C-BE32-E72D297353CC}">
              <c16:uniqueId val="{00000003-EFA2-4033-933C-B91D489768E4}"/>
            </c:ext>
          </c:extLst>
        </c:ser>
        <c:dLbls>
          <c:showLegendKey val="0"/>
          <c:showVal val="0"/>
          <c:showCatName val="0"/>
          <c:showSerName val="0"/>
          <c:showPercent val="0"/>
          <c:showBubbleSize val="0"/>
        </c:dLbls>
        <c:marker val="1"/>
        <c:smooth val="0"/>
        <c:axId val="939350536"/>
        <c:axId val="851344904"/>
      </c:lineChart>
      <c:catAx>
        <c:axId val="1902412295"/>
        <c:scaling>
          <c:orientation val="minMax"/>
        </c:scaling>
        <c:delete val="0"/>
        <c:axPos val="b"/>
        <c:numFmt formatCode="General" sourceLinked="1"/>
        <c:majorTickMark val="none"/>
        <c:minorTickMark val="none"/>
        <c:tickLblPos val="nextTo"/>
        <c:spPr>
          <a:noFill/>
          <a:ln w="9525" cap="flat" cmpd="sng" algn="ctr">
            <a:solidFill>
              <a:srgbClr val="000000"/>
            </a:solidFill>
            <a:prstDash val="solid"/>
            <a:round/>
          </a:ln>
          <a:effectLst/>
        </c:spPr>
        <c:txPr>
          <a:bodyPr rot="0" spcFirstLastPara="1" vertOverflow="ellipsis" wrap="square" anchor="ctr" anchorCtr="1"/>
          <a:lstStyle/>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81321991"/>
        <c:crosses val="autoZero"/>
        <c:auto val="1"/>
        <c:lblAlgn val="ctr"/>
        <c:lblOffset val="100"/>
        <c:noMultiLvlLbl val="0"/>
      </c:catAx>
      <c:valAx>
        <c:axId val="2081321991"/>
        <c:scaling>
          <c:orientation val="minMax"/>
        </c:scaling>
        <c:delete val="0"/>
        <c:axPos val="l"/>
        <c:majorGridlines>
          <c:spPr>
            <a:ln w="9525" cap="flat" cmpd="sng" algn="ctr">
              <a:solidFill>
                <a:srgbClr val="808080"/>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902412295"/>
        <c:crosses val="autoZero"/>
        <c:crossBetween val="between"/>
      </c:valAx>
      <c:valAx>
        <c:axId val="851344904"/>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939350536"/>
        <c:crosses val="max"/>
        <c:crossBetween val="between"/>
      </c:valAx>
      <c:catAx>
        <c:axId val="939350536"/>
        <c:scaling>
          <c:orientation val="minMax"/>
        </c:scaling>
        <c:delete val="1"/>
        <c:axPos val="b"/>
        <c:numFmt formatCode="General" sourceLinked="1"/>
        <c:majorTickMark val="out"/>
        <c:minorTickMark val="none"/>
        <c:tickLblPos val="nextTo"/>
        <c:crossAx val="851344904"/>
        <c:crosses val="autoZero"/>
        <c:auto val="1"/>
        <c:lblAlgn val="ctr"/>
        <c:lblOffset val="100"/>
        <c:noMultiLvlLbl val="0"/>
      </c:catAx>
      <c:spPr>
        <a:noFill/>
        <a:ln w="28575">
          <a:solidFill>
            <a:srgbClr val="000000"/>
          </a:solidFill>
        </a:ln>
        <a:effectLst/>
      </c:spPr>
    </c:plotArea>
    <c:legend>
      <c:legendPos val="b"/>
      <c:layout>
        <c:manualLayout>
          <c:xMode val="edge"/>
          <c:yMode val="edge"/>
          <c:x val="0.15119061080701579"/>
          <c:y val="0.86152365734371605"/>
          <c:w val="0.697618529863126"/>
          <c:h val="0.13847634265628395"/>
        </c:manualLayout>
      </c:layout>
      <c:overlay val="0"/>
      <c:spPr>
        <a:noFill/>
        <a:ln>
          <a:noFill/>
        </a:ln>
        <a:effectLst/>
      </c:spPr>
      <c:txPr>
        <a:bodyPr rot="0" spcFirstLastPara="1" vertOverflow="ellipsis" vert="horz" wrap="square" anchor="ctr" anchorCtr="1"/>
        <a:lstStyle/>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solidFill>
      <a:schemeClr val="bg1"/>
    </a:solidFill>
    <a:ln w="28575" cap="flat" cmpd="sng" algn="ctr">
      <a:solidFill>
        <a:srgbClr val="000000"/>
      </a:solidFill>
      <a:prstDash val="solid"/>
      <a:round/>
    </a:ln>
    <a:effectLst/>
  </c:spPr>
  <c:txPr>
    <a:bodyPr/>
    <a:lstStyle/>
    <a:p>
      <a:pPr algn="ct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Sheet1!$B$95</c:f>
              <c:strCache>
                <c:ptCount val="1"/>
                <c:pt idx="0">
                  <c:v>Watercraft Recreation</c:v>
                </c:pt>
              </c:strCache>
            </c:strRef>
          </c:tx>
          <c:spPr>
            <a:solidFill>
              <a:srgbClr val="FFC000"/>
            </a:solidFill>
            <a:ln>
              <a:noFill/>
            </a:ln>
            <a:effectLst/>
          </c:spPr>
          <c:invertIfNegative val="0"/>
          <c:cat>
            <c:strRef>
              <c:f>Sheet1!$C$94:$K$94</c:f>
              <c:strCache>
                <c:ptCount val="9"/>
                <c:pt idx="0">
                  <c:v>18</c:v>
                </c:pt>
                <c:pt idx="1">
                  <c:v>19</c:v>
                </c:pt>
                <c:pt idx="2">
                  <c:v>20</c:v>
                </c:pt>
                <c:pt idx="3">
                  <c:v>21</c:v>
                </c:pt>
                <c:pt idx="4">
                  <c:v>22</c:v>
                </c:pt>
                <c:pt idx="5">
                  <c:v>23</c:v>
                </c:pt>
                <c:pt idx="6">
                  <c:v>24</c:v>
                </c:pt>
                <c:pt idx="7">
                  <c:v>25</c:v>
                </c:pt>
                <c:pt idx="8">
                  <c:v>26</c:v>
                </c:pt>
              </c:strCache>
            </c:strRef>
          </c:cat>
          <c:val>
            <c:numRef>
              <c:f>Sheet1!$C$95:$K$95</c:f>
              <c:numCache>
                <c:formatCode>General</c:formatCode>
                <c:ptCount val="9"/>
                <c:pt idx="0">
                  <c:v>36</c:v>
                </c:pt>
                <c:pt idx="1">
                  <c:v>33</c:v>
                </c:pt>
                <c:pt idx="2">
                  <c:v>42</c:v>
                </c:pt>
                <c:pt idx="3">
                  <c:v>66</c:v>
                </c:pt>
                <c:pt idx="4">
                  <c:v>68</c:v>
                </c:pt>
                <c:pt idx="5">
                  <c:v>41</c:v>
                </c:pt>
                <c:pt idx="6">
                  <c:v>29</c:v>
                </c:pt>
                <c:pt idx="7">
                  <c:v>40</c:v>
                </c:pt>
                <c:pt idx="8">
                  <c:v>44</c:v>
                </c:pt>
              </c:numCache>
            </c:numRef>
          </c:val>
          <c:extLst>
            <c:ext xmlns:c16="http://schemas.microsoft.com/office/drawing/2014/chart" uri="{C3380CC4-5D6E-409C-BE32-E72D297353CC}">
              <c16:uniqueId val="{00000000-DD3D-441E-9176-E22CC86FD13D}"/>
            </c:ext>
          </c:extLst>
        </c:ser>
        <c:dLbls>
          <c:showLegendKey val="0"/>
          <c:showVal val="0"/>
          <c:showCatName val="0"/>
          <c:showSerName val="0"/>
          <c:showPercent val="0"/>
          <c:showBubbleSize val="0"/>
        </c:dLbls>
        <c:gapWidth val="157"/>
        <c:overlap val="-30"/>
        <c:axId val="1853974024"/>
        <c:axId val="1853976072"/>
      </c:barChart>
      <c:catAx>
        <c:axId val="1853974024"/>
        <c:scaling>
          <c:orientation val="minMax"/>
        </c:scaling>
        <c:delete val="0"/>
        <c:axPos val="b"/>
        <c:title>
          <c:tx>
            <c:rich>
              <a:bodyPr rot="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Years</a:t>
                </a:r>
              </a:p>
            </c:rich>
          </c:tx>
          <c:overlay val="0"/>
          <c:spPr>
            <a:noFill/>
            <a:ln>
              <a:noFill/>
            </a:ln>
            <a:effectLst/>
          </c:spPr>
          <c:txPr>
            <a:bodyPr rot="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853976072"/>
        <c:crosses val="autoZero"/>
        <c:auto val="1"/>
        <c:lblAlgn val="ctr"/>
        <c:lblOffset val="100"/>
        <c:noMultiLvlLbl val="0"/>
      </c:catAx>
      <c:valAx>
        <c:axId val="1853976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Revenue (M)</a:t>
                </a:r>
              </a:p>
            </c:rich>
          </c:tx>
          <c:overlay val="0"/>
          <c:spPr>
            <a:noFill/>
            <a:ln>
              <a:noFill/>
            </a:ln>
            <a:effectLst/>
          </c:spPr>
          <c:txPr>
            <a:bodyPr rot="-540000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853974024"/>
        <c:crosses val="autoZero"/>
        <c:crossBetween val="between"/>
      </c:valAx>
      <c:spPr>
        <a:noFill/>
        <a:ln w="28575">
          <a:solidFill>
            <a:schemeClr val="tx1"/>
          </a:solidFill>
        </a:ln>
        <a:effectLst/>
      </c:spPr>
    </c:plotArea>
    <c:plotVisOnly val="1"/>
    <c:dispBlanksAs val="gap"/>
    <c:showDLblsOverMax val="0"/>
  </c:chart>
  <c:spPr>
    <a:solidFill>
      <a:schemeClr val="bg1"/>
    </a:solidFill>
    <a:ln w="28575" cap="flat" cmpd="sng" algn="ctr">
      <a:solidFill>
        <a:srgbClr val="000000"/>
      </a:solidFill>
      <a:prstDash val="solid"/>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Sheet1!$E$4</c:f>
              <c:strCache>
                <c:ptCount val="1"/>
                <c:pt idx="0">
                  <c:v>Fishing</c:v>
                </c:pt>
              </c:strCache>
            </c:strRef>
          </c:tx>
          <c:spPr>
            <a:solidFill>
              <a:srgbClr val="FFC000"/>
            </a:solidFill>
            <a:ln>
              <a:noFill/>
            </a:ln>
            <a:effectLst/>
          </c:spPr>
          <c:invertIfNegative val="0"/>
          <c:cat>
            <c:numRef>
              <c:f>Sheet1!$D$5:$D$13</c:f>
              <c:numCache>
                <c:formatCode>General</c:formatCode>
                <c:ptCount val="9"/>
                <c:pt idx="0">
                  <c:v>18</c:v>
                </c:pt>
                <c:pt idx="1">
                  <c:v>19</c:v>
                </c:pt>
                <c:pt idx="2">
                  <c:v>20</c:v>
                </c:pt>
                <c:pt idx="3">
                  <c:v>21</c:v>
                </c:pt>
                <c:pt idx="4">
                  <c:v>22</c:v>
                </c:pt>
                <c:pt idx="5">
                  <c:v>23</c:v>
                </c:pt>
                <c:pt idx="6">
                  <c:v>24</c:v>
                </c:pt>
                <c:pt idx="7">
                  <c:v>25</c:v>
                </c:pt>
                <c:pt idx="8">
                  <c:v>26</c:v>
                </c:pt>
              </c:numCache>
            </c:numRef>
          </c:cat>
          <c:val>
            <c:numRef>
              <c:f>Sheet1!$E$5:$E$13</c:f>
              <c:numCache>
                <c:formatCode>General</c:formatCode>
                <c:ptCount val="9"/>
                <c:pt idx="0">
                  <c:v>391</c:v>
                </c:pt>
                <c:pt idx="1">
                  <c:v>412</c:v>
                </c:pt>
                <c:pt idx="2">
                  <c:v>449</c:v>
                </c:pt>
                <c:pt idx="3">
                  <c:v>552</c:v>
                </c:pt>
                <c:pt idx="4">
                  <c:v>526</c:v>
                </c:pt>
                <c:pt idx="5">
                  <c:v>492</c:v>
                </c:pt>
                <c:pt idx="6">
                  <c:v>452</c:v>
                </c:pt>
                <c:pt idx="7">
                  <c:v>427</c:v>
                </c:pt>
                <c:pt idx="8">
                  <c:v>402</c:v>
                </c:pt>
              </c:numCache>
            </c:numRef>
          </c:val>
          <c:extLst>
            <c:ext xmlns:c16="http://schemas.microsoft.com/office/drawing/2014/chart" uri="{C3380CC4-5D6E-409C-BE32-E72D297353CC}">
              <c16:uniqueId val="{00000000-7E42-494A-A386-D824C739E5AD}"/>
            </c:ext>
          </c:extLst>
        </c:ser>
        <c:dLbls>
          <c:showLegendKey val="0"/>
          <c:showVal val="0"/>
          <c:showCatName val="0"/>
          <c:showSerName val="0"/>
          <c:showPercent val="0"/>
          <c:showBubbleSize val="0"/>
        </c:dLbls>
        <c:gapWidth val="219"/>
        <c:overlap val="-27"/>
        <c:axId val="926211591"/>
        <c:axId val="935634951"/>
      </c:barChart>
      <c:catAx>
        <c:axId val="926211591"/>
        <c:scaling>
          <c:orientation val="minMax"/>
        </c:scaling>
        <c:delete val="0"/>
        <c:axPos val="b"/>
        <c:title>
          <c:tx>
            <c:rich>
              <a:bodyPr rot="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Years</a:t>
                </a:r>
              </a:p>
            </c:rich>
          </c:tx>
          <c:overlay val="0"/>
          <c:spPr>
            <a:noFill/>
            <a:ln>
              <a:noFill/>
            </a:ln>
            <a:effectLst/>
          </c:spPr>
          <c:txPr>
            <a:bodyPr rot="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935634951"/>
        <c:crosses val="autoZero"/>
        <c:auto val="1"/>
        <c:lblAlgn val="ctr"/>
        <c:lblOffset val="100"/>
        <c:noMultiLvlLbl val="0"/>
      </c:catAx>
      <c:valAx>
        <c:axId val="93563495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Revenue (M)</a:t>
                </a:r>
              </a:p>
            </c:rich>
          </c:tx>
          <c:overlay val="0"/>
          <c:spPr>
            <a:noFill/>
            <a:ln>
              <a:noFill/>
            </a:ln>
            <a:effectLst/>
          </c:spPr>
          <c:txPr>
            <a:bodyPr rot="-540000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926211591"/>
        <c:crosses val="autoZero"/>
        <c:crossBetween val="between"/>
      </c:valAx>
      <c:spPr>
        <a:noFill/>
        <a:ln w="28575">
          <a:solidFill>
            <a:schemeClr val="tx1"/>
          </a:solidFill>
        </a:ln>
        <a:effectLst/>
      </c:spPr>
    </c:plotArea>
    <c:plotVisOnly val="1"/>
    <c:dispBlanksAs val="gap"/>
    <c:showDLblsOverMax val="0"/>
  </c:chart>
  <c:spPr>
    <a:solidFill>
      <a:schemeClr val="bg1"/>
    </a:solidFill>
    <a:ln w="28575" cap="flat" cmpd="sng" algn="ctr">
      <a:solidFill>
        <a:srgbClr val="000000"/>
      </a:solidFill>
      <a:prstDash val="solid"/>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Sheet1!$G$4</c:f>
              <c:strCache>
                <c:ptCount val="1"/>
                <c:pt idx="0">
                  <c:v>Diving</c:v>
                </c:pt>
              </c:strCache>
            </c:strRef>
          </c:tx>
          <c:spPr>
            <a:solidFill>
              <a:srgbClr val="FFC000"/>
            </a:solidFill>
            <a:ln>
              <a:noFill/>
            </a:ln>
            <a:effectLst/>
          </c:spPr>
          <c:invertIfNegative val="0"/>
          <c:cat>
            <c:numRef>
              <c:f>Sheet1!$F$5:$F$13</c:f>
              <c:numCache>
                <c:formatCode>General</c:formatCode>
                <c:ptCount val="9"/>
                <c:pt idx="0">
                  <c:v>18</c:v>
                </c:pt>
                <c:pt idx="1">
                  <c:v>19</c:v>
                </c:pt>
                <c:pt idx="2">
                  <c:v>20</c:v>
                </c:pt>
                <c:pt idx="3">
                  <c:v>21</c:v>
                </c:pt>
                <c:pt idx="4">
                  <c:v>22</c:v>
                </c:pt>
                <c:pt idx="5">
                  <c:v>23</c:v>
                </c:pt>
                <c:pt idx="6">
                  <c:v>24</c:v>
                </c:pt>
                <c:pt idx="7">
                  <c:v>25</c:v>
                </c:pt>
                <c:pt idx="8">
                  <c:v>26</c:v>
                </c:pt>
              </c:numCache>
            </c:numRef>
          </c:cat>
          <c:val>
            <c:numRef>
              <c:f>Sheet1!$G$5:$G$13</c:f>
              <c:numCache>
                <c:formatCode>General</c:formatCode>
                <c:ptCount val="9"/>
                <c:pt idx="0">
                  <c:v>79</c:v>
                </c:pt>
                <c:pt idx="1">
                  <c:v>76</c:v>
                </c:pt>
                <c:pt idx="2">
                  <c:v>61</c:v>
                </c:pt>
                <c:pt idx="3">
                  <c:v>69</c:v>
                </c:pt>
                <c:pt idx="4">
                  <c:v>79</c:v>
                </c:pt>
                <c:pt idx="5">
                  <c:v>85</c:v>
                </c:pt>
                <c:pt idx="6">
                  <c:v>74</c:v>
                </c:pt>
                <c:pt idx="7">
                  <c:v>70</c:v>
                </c:pt>
                <c:pt idx="8">
                  <c:v>68</c:v>
                </c:pt>
              </c:numCache>
            </c:numRef>
          </c:val>
          <c:extLst>
            <c:ext xmlns:c16="http://schemas.microsoft.com/office/drawing/2014/chart" uri="{C3380CC4-5D6E-409C-BE32-E72D297353CC}">
              <c16:uniqueId val="{00000000-7629-4C02-8FD1-84AAD4D9FDF0}"/>
            </c:ext>
          </c:extLst>
        </c:ser>
        <c:dLbls>
          <c:showLegendKey val="0"/>
          <c:showVal val="0"/>
          <c:showCatName val="0"/>
          <c:showSerName val="0"/>
          <c:showPercent val="0"/>
          <c:showBubbleSize val="0"/>
        </c:dLbls>
        <c:gapWidth val="219"/>
        <c:overlap val="-27"/>
        <c:axId val="620774919"/>
        <c:axId val="623161351"/>
      </c:barChart>
      <c:catAx>
        <c:axId val="620774919"/>
        <c:scaling>
          <c:orientation val="minMax"/>
        </c:scaling>
        <c:delete val="0"/>
        <c:axPos val="b"/>
        <c:title>
          <c:tx>
            <c:rich>
              <a:bodyPr rot="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Years</a:t>
                </a:r>
              </a:p>
            </c:rich>
          </c:tx>
          <c:overlay val="0"/>
          <c:spPr>
            <a:noFill/>
            <a:ln>
              <a:noFill/>
            </a:ln>
            <a:effectLst/>
          </c:spPr>
          <c:txPr>
            <a:bodyPr rot="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23161351"/>
        <c:crosses val="autoZero"/>
        <c:auto val="1"/>
        <c:lblAlgn val="ctr"/>
        <c:lblOffset val="100"/>
        <c:noMultiLvlLbl val="0"/>
      </c:catAx>
      <c:valAx>
        <c:axId val="62316135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Revenue (M)</a:t>
                </a:r>
              </a:p>
            </c:rich>
          </c:tx>
          <c:overlay val="0"/>
          <c:spPr>
            <a:noFill/>
            <a:ln>
              <a:noFill/>
            </a:ln>
            <a:effectLst/>
          </c:spPr>
          <c:txPr>
            <a:bodyPr rot="-5400000" spcFirstLastPara="1" vertOverflow="ellipsis" vert="horz" wrap="square" anchor="ctr" anchorCtr="1"/>
            <a:lstStyle/>
            <a:p>
              <a:pPr algn="ctr">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620774919"/>
        <c:crosses val="autoZero"/>
        <c:crossBetween val="between"/>
      </c:valAx>
      <c:spPr>
        <a:noFill/>
        <a:ln w="28575">
          <a:solidFill>
            <a:schemeClr val="tx1"/>
          </a:solidFill>
        </a:ln>
        <a:effectLst/>
      </c:spPr>
    </c:plotArea>
    <c:plotVisOnly val="1"/>
    <c:dispBlanksAs val="gap"/>
    <c:showDLblsOverMax val="0"/>
  </c:chart>
  <c:spPr>
    <a:solidFill>
      <a:schemeClr val="bg1"/>
    </a:solidFill>
    <a:ln w="28575" cap="flat" cmpd="sng" algn="ctr">
      <a:solidFill>
        <a:srgbClr val="000000"/>
      </a:solidFill>
      <a:prstDash val="solid"/>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Sheet1!$J$4</c:f>
              <c:strCache>
                <c:ptCount val="1"/>
                <c:pt idx="0">
                  <c:v>Camping</c:v>
                </c:pt>
              </c:strCache>
            </c:strRef>
          </c:tx>
          <c:spPr>
            <a:solidFill>
              <a:srgbClr val="FFC000"/>
            </a:solidFill>
            <a:ln>
              <a:noFill/>
            </a:ln>
            <a:effectLst/>
          </c:spPr>
          <c:invertIfNegative val="0"/>
          <c:cat>
            <c:numRef>
              <c:f>Sheet1!$I$5:$I$13</c:f>
              <c:numCache>
                <c:formatCode>General</c:formatCode>
                <c:ptCount val="9"/>
                <c:pt idx="0">
                  <c:v>18</c:v>
                </c:pt>
                <c:pt idx="1">
                  <c:v>19</c:v>
                </c:pt>
                <c:pt idx="2">
                  <c:v>20</c:v>
                </c:pt>
                <c:pt idx="3">
                  <c:v>21</c:v>
                </c:pt>
                <c:pt idx="4">
                  <c:v>22</c:v>
                </c:pt>
                <c:pt idx="5">
                  <c:v>23</c:v>
                </c:pt>
                <c:pt idx="6">
                  <c:v>24</c:v>
                </c:pt>
                <c:pt idx="7">
                  <c:v>25</c:v>
                </c:pt>
                <c:pt idx="8">
                  <c:v>26</c:v>
                </c:pt>
              </c:numCache>
            </c:numRef>
          </c:cat>
          <c:val>
            <c:numRef>
              <c:f>Sheet1!$J$5:$J$13</c:f>
              <c:numCache>
                <c:formatCode>General</c:formatCode>
                <c:ptCount val="9"/>
                <c:pt idx="0">
                  <c:v>38</c:v>
                </c:pt>
                <c:pt idx="1">
                  <c:v>40</c:v>
                </c:pt>
                <c:pt idx="2">
                  <c:v>42</c:v>
                </c:pt>
                <c:pt idx="3">
                  <c:v>63</c:v>
                </c:pt>
                <c:pt idx="4">
                  <c:v>70</c:v>
                </c:pt>
                <c:pt idx="5">
                  <c:v>45</c:v>
                </c:pt>
                <c:pt idx="6">
                  <c:v>38</c:v>
                </c:pt>
                <c:pt idx="7">
                  <c:v>35</c:v>
                </c:pt>
                <c:pt idx="8">
                  <c:v>30</c:v>
                </c:pt>
              </c:numCache>
            </c:numRef>
          </c:val>
          <c:extLst>
            <c:ext xmlns:c16="http://schemas.microsoft.com/office/drawing/2014/chart" uri="{C3380CC4-5D6E-409C-BE32-E72D297353CC}">
              <c16:uniqueId val="{00000000-5B98-422E-B440-158CE1267C53}"/>
            </c:ext>
          </c:extLst>
        </c:ser>
        <c:dLbls>
          <c:showLegendKey val="0"/>
          <c:showVal val="0"/>
          <c:showCatName val="0"/>
          <c:showSerName val="0"/>
          <c:showPercent val="0"/>
          <c:showBubbleSize val="0"/>
        </c:dLbls>
        <c:gapWidth val="219"/>
        <c:overlap val="-27"/>
        <c:axId val="1968728072"/>
        <c:axId val="2004877320"/>
      </c:barChart>
      <c:catAx>
        <c:axId val="1968728072"/>
        <c:scaling>
          <c:orientation val="minMax"/>
        </c:scaling>
        <c:delete val="0"/>
        <c:axPos val="b"/>
        <c:title>
          <c:tx>
            <c:rich>
              <a:bodyPr rot="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Years</a:t>
                </a:r>
              </a:p>
            </c:rich>
          </c:tx>
          <c:overlay val="0"/>
          <c:spPr>
            <a:noFill/>
            <a:ln>
              <a:noFill/>
            </a:ln>
            <a:effectLst/>
          </c:spPr>
          <c:txPr>
            <a:bodyPr rot="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2004877320"/>
        <c:crosses val="autoZero"/>
        <c:auto val="1"/>
        <c:lblAlgn val="ctr"/>
        <c:lblOffset val="100"/>
        <c:noMultiLvlLbl val="0"/>
      </c:catAx>
      <c:valAx>
        <c:axId val="20048773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Revenue (M)</a:t>
                </a:r>
              </a:p>
            </c:rich>
          </c:tx>
          <c:overlay val="0"/>
          <c:spPr>
            <a:noFill/>
            <a:ln>
              <a:noFill/>
            </a:ln>
            <a:effectLst/>
          </c:spPr>
          <c:txPr>
            <a:bodyPr rot="-5400000" spcFirstLastPara="1" vertOverflow="ellipsis" vert="horz" wrap="square" anchor="ctr" anchorCtr="1"/>
            <a:lstStyle/>
            <a:p>
              <a:pPr algn="ctr" rtl="0">
                <a:def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968728072"/>
        <c:crosses val="autoZero"/>
        <c:crossBetween val="between"/>
      </c:valAx>
      <c:spPr>
        <a:noFill/>
        <a:ln w="28575">
          <a:solidFill>
            <a:schemeClr val="tx1"/>
          </a:solidFill>
        </a:ln>
        <a:effectLst/>
      </c:spPr>
    </c:plotArea>
    <c:plotVisOnly val="1"/>
    <c:dispBlanksAs val="gap"/>
    <c:showDLblsOverMax val="0"/>
  </c:chart>
  <c:spPr>
    <a:solidFill>
      <a:schemeClr val="bg1"/>
    </a:solidFill>
    <a:ln w="28575" cap="flat" cmpd="sng" algn="ctr">
      <a:solidFill>
        <a:srgbClr val="000000"/>
      </a:solidFill>
      <a:prstDash val="solid"/>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1"/>
          <c:order val="1"/>
          <c:tx>
            <c:strRef>
              <c:f>Sheet1!$L$1</c:f>
              <c:strCache>
                <c:ptCount val="1"/>
                <c:pt idx="0">
                  <c:v>Net Sales (L)</c:v>
                </c:pt>
              </c:strCache>
            </c:strRef>
          </c:tx>
          <c:spPr>
            <a:ln w="28575" cap="rnd">
              <a:solidFill>
                <a:schemeClr val="accent1">
                  <a:lumMod val="50000"/>
                </a:schemeClr>
              </a:solidFill>
              <a:round/>
            </a:ln>
            <a:effectLst/>
          </c:spPr>
          <c:marker>
            <c:symbol val="none"/>
          </c:marker>
          <c:cat>
            <c:strRef>
              <c:f>Sheet1!$K$2:$K$5</c:f>
              <c:strCache>
                <c:ptCount val="4"/>
                <c:pt idx="0">
                  <c:v>2022</c:v>
                </c:pt>
                <c:pt idx="1">
                  <c:v>2023</c:v>
                </c:pt>
                <c:pt idx="2">
                  <c:v>2024</c:v>
                </c:pt>
                <c:pt idx="3">
                  <c:v>2025E</c:v>
                </c:pt>
              </c:strCache>
            </c:strRef>
          </c:cat>
          <c:val>
            <c:numRef>
              <c:f>Sheet1!$L$2:$L$5</c:f>
              <c:numCache>
                <c:formatCode>"$"#,##0_);[Red]\("$"#,##0\)</c:formatCode>
                <c:ptCount val="4"/>
                <c:pt idx="0">
                  <c:v>743.4</c:v>
                </c:pt>
                <c:pt idx="1">
                  <c:v>663.8</c:v>
                </c:pt>
                <c:pt idx="2">
                  <c:v>561.9</c:v>
                </c:pt>
                <c:pt idx="3">
                  <c:v>582.20000000000005</c:v>
                </c:pt>
              </c:numCache>
            </c:numRef>
          </c:val>
          <c:smooth val="0"/>
          <c:extLst>
            <c:ext xmlns:c16="http://schemas.microsoft.com/office/drawing/2014/chart" uri="{C3380CC4-5D6E-409C-BE32-E72D297353CC}">
              <c16:uniqueId val="{00000000-FA14-4FFD-8003-0E687C4489F0}"/>
            </c:ext>
          </c:extLst>
        </c:ser>
        <c:ser>
          <c:idx val="2"/>
          <c:order val="2"/>
          <c:tx>
            <c:strRef>
              <c:f>Sheet1!$M$1</c:f>
              <c:strCache>
                <c:ptCount val="1"/>
                <c:pt idx="0">
                  <c:v>Cost of Good Sold (L) </c:v>
                </c:pt>
              </c:strCache>
            </c:strRef>
          </c:tx>
          <c:spPr>
            <a:ln w="28575" cap="rnd">
              <a:solidFill>
                <a:srgbClr val="FFC000"/>
              </a:solidFill>
              <a:round/>
            </a:ln>
            <a:effectLst/>
          </c:spPr>
          <c:marker>
            <c:symbol val="none"/>
          </c:marker>
          <c:cat>
            <c:strRef>
              <c:f>Sheet1!$K$2:$K$5</c:f>
              <c:strCache>
                <c:ptCount val="4"/>
                <c:pt idx="0">
                  <c:v>2022</c:v>
                </c:pt>
                <c:pt idx="1">
                  <c:v>2023</c:v>
                </c:pt>
                <c:pt idx="2">
                  <c:v>2024</c:v>
                </c:pt>
                <c:pt idx="3">
                  <c:v>2025E</c:v>
                </c:pt>
              </c:strCache>
            </c:strRef>
          </c:cat>
          <c:val>
            <c:numRef>
              <c:f>Sheet1!$M$2:$M$5</c:f>
              <c:numCache>
                <c:formatCode>"$"#,##0.0_);[Red]\("$"#,##0.0\)</c:formatCode>
                <c:ptCount val="4"/>
                <c:pt idx="0">
                  <c:v>472</c:v>
                </c:pt>
                <c:pt idx="1">
                  <c:v>419.8</c:v>
                </c:pt>
                <c:pt idx="2">
                  <c:v>381.6</c:v>
                </c:pt>
                <c:pt idx="3">
                  <c:v>386.3</c:v>
                </c:pt>
              </c:numCache>
            </c:numRef>
          </c:val>
          <c:smooth val="0"/>
          <c:extLst>
            <c:ext xmlns:c16="http://schemas.microsoft.com/office/drawing/2014/chart" uri="{C3380CC4-5D6E-409C-BE32-E72D297353CC}">
              <c16:uniqueId val="{00000001-FA14-4FFD-8003-0E687C4489F0}"/>
            </c:ext>
          </c:extLst>
        </c:ser>
        <c:dLbls>
          <c:showLegendKey val="0"/>
          <c:showVal val="0"/>
          <c:showCatName val="0"/>
          <c:showSerName val="0"/>
          <c:showPercent val="0"/>
          <c:showBubbleSize val="0"/>
        </c:dLbls>
        <c:marker val="1"/>
        <c:smooth val="0"/>
        <c:axId val="553895215"/>
        <c:axId val="553895695"/>
        <c:extLst>
          <c:ext xmlns:c15="http://schemas.microsoft.com/office/drawing/2012/chart" uri="{02D57815-91ED-43cb-92C2-25804820EDAC}">
            <c15:filteredLineSeries>
              <c15:ser>
                <c:idx val="0"/>
                <c:order val="0"/>
                <c:tx>
                  <c:strRef>
                    <c:extLst>
                      <c:ext uri="{02D57815-91ED-43cb-92C2-25804820EDAC}">
                        <c15:formulaRef>
                          <c15:sqref>Sheet1!$L$1:$N$1</c15:sqref>
                        </c15:formulaRef>
                      </c:ext>
                    </c:extLst>
                    <c:strCache>
                      <c:ptCount val="1"/>
                      <c:pt idx="0">
                        <c:v>Net Sales (L) Cost of Good Sold (L)  GP/Sales (R)</c:v>
                      </c:pt>
                    </c:strCache>
                  </c:strRef>
                </c:tx>
                <c:spPr>
                  <a:ln w="28575" cap="rnd">
                    <a:solidFill>
                      <a:schemeClr val="accent1"/>
                    </a:solidFill>
                    <a:round/>
                  </a:ln>
                  <a:effectLst/>
                </c:spPr>
                <c:marker>
                  <c:symbol val="none"/>
                </c:marker>
                <c:cat>
                  <c:strRef>
                    <c:extLst>
                      <c:ext uri="{02D57815-91ED-43cb-92C2-25804820EDAC}">
                        <c15:formulaRef>
                          <c15:sqref>Sheet1!$K$2:$K$5</c15:sqref>
                        </c15:formulaRef>
                      </c:ext>
                    </c:extLst>
                    <c:strCache>
                      <c:ptCount val="4"/>
                      <c:pt idx="0">
                        <c:v>2022</c:v>
                      </c:pt>
                      <c:pt idx="1">
                        <c:v>2023</c:v>
                      </c:pt>
                      <c:pt idx="2">
                        <c:v>2024</c:v>
                      </c:pt>
                      <c:pt idx="3">
                        <c:v>2025E</c:v>
                      </c:pt>
                    </c:strCache>
                  </c:strRef>
                </c:cat>
                <c:val>
                  <c:numRef>
                    <c:extLst>
                      <c:ext uri="{02D57815-91ED-43cb-92C2-25804820EDAC}">
                        <c15:formulaRef>
                          <c15:sqref>Sheet1!$K$2:$K$5</c15:sqref>
                        </c15:formulaRef>
                      </c:ext>
                    </c:extLst>
                    <c:numCache>
                      <c:formatCode>General</c:formatCode>
                      <c:ptCount val="4"/>
                      <c:pt idx="0">
                        <c:v>2022</c:v>
                      </c:pt>
                      <c:pt idx="1">
                        <c:v>2023</c:v>
                      </c:pt>
                      <c:pt idx="2">
                        <c:v>2024</c:v>
                      </c:pt>
                      <c:pt idx="3">
                        <c:v>0</c:v>
                      </c:pt>
                    </c:numCache>
                  </c:numRef>
                </c:val>
                <c:smooth val="0"/>
                <c:extLst>
                  <c:ext xmlns:c16="http://schemas.microsoft.com/office/drawing/2014/chart" uri="{C3380CC4-5D6E-409C-BE32-E72D297353CC}">
                    <c16:uniqueId val="{00000003-FA14-4FFD-8003-0E687C4489F0}"/>
                  </c:ext>
                </c:extLst>
              </c15:ser>
            </c15:filteredLineSeries>
          </c:ext>
        </c:extLst>
      </c:lineChart>
      <c:lineChart>
        <c:grouping val="standard"/>
        <c:varyColors val="0"/>
        <c:ser>
          <c:idx val="3"/>
          <c:order val="3"/>
          <c:tx>
            <c:strRef>
              <c:f>Sheet1!$N$1</c:f>
              <c:strCache>
                <c:ptCount val="1"/>
                <c:pt idx="0">
                  <c:v>GP/Sales (R)</c:v>
                </c:pt>
              </c:strCache>
            </c:strRef>
          </c:tx>
          <c:spPr>
            <a:ln w="28575" cap="rnd">
              <a:solidFill>
                <a:schemeClr val="tx1"/>
              </a:solidFill>
              <a:round/>
            </a:ln>
            <a:effectLst/>
          </c:spPr>
          <c:marker>
            <c:symbol val="none"/>
          </c:marker>
          <c:val>
            <c:numRef>
              <c:f>Sheet1!$N$2:$N$5</c:f>
              <c:numCache>
                <c:formatCode>General</c:formatCode>
                <c:ptCount val="4"/>
                <c:pt idx="0">
                  <c:v>0.37</c:v>
                </c:pt>
                <c:pt idx="1">
                  <c:v>0.36</c:v>
                </c:pt>
                <c:pt idx="2" formatCode="0.00">
                  <c:v>0.35</c:v>
                </c:pt>
                <c:pt idx="3" formatCode="0.00">
                  <c:v>0.33648230848505672</c:v>
                </c:pt>
              </c:numCache>
            </c:numRef>
          </c:val>
          <c:smooth val="0"/>
          <c:extLst>
            <c:ext xmlns:c16="http://schemas.microsoft.com/office/drawing/2014/chart" uri="{C3380CC4-5D6E-409C-BE32-E72D297353CC}">
              <c16:uniqueId val="{00000002-FA14-4FFD-8003-0E687C4489F0}"/>
            </c:ext>
          </c:extLst>
        </c:ser>
        <c:dLbls>
          <c:showLegendKey val="0"/>
          <c:showVal val="0"/>
          <c:showCatName val="0"/>
          <c:showSerName val="0"/>
          <c:showPercent val="0"/>
          <c:showBubbleSize val="0"/>
        </c:dLbls>
        <c:marker val="1"/>
        <c:smooth val="0"/>
        <c:axId val="217523039"/>
        <c:axId val="184430879"/>
      </c:lineChart>
      <c:catAx>
        <c:axId val="5538952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en-US" sz="1100" b="0" i="0" u="none" strike="noStrike" kern="1200" baseline="0">
                <a:solidFill>
                  <a:srgbClr val="000000"/>
                </a:solidFill>
                <a:latin typeface="Calibri"/>
                <a:ea typeface="+mn-lt"/>
                <a:cs typeface="+mn-lt"/>
              </a:defRPr>
            </a:pPr>
            <a:endParaRPr lang="en-US"/>
          </a:p>
        </c:txPr>
        <c:crossAx val="553895695"/>
        <c:crosses val="autoZero"/>
        <c:auto val="1"/>
        <c:lblAlgn val="ctr"/>
        <c:lblOffset val="100"/>
        <c:noMultiLvlLbl val="0"/>
      </c:catAx>
      <c:valAx>
        <c:axId val="553895695"/>
        <c:scaling>
          <c:orientation val="minMax"/>
        </c:scaling>
        <c:delete val="0"/>
        <c:axPos val="l"/>
        <c:majorGridlines>
          <c:spPr>
            <a:ln w="9525" cap="flat" cmpd="sng" algn="ctr">
              <a:solidFill>
                <a:schemeClr val="tx1">
                  <a:lumMod val="15000"/>
                  <a:lumOff val="85000"/>
                </a:schemeClr>
              </a:solidFill>
              <a:round/>
            </a:ln>
            <a:effectLst/>
          </c:spPr>
        </c:majorGridlines>
        <c:numFmt formatCode="&quot;$&quot;#,##0_);[Red]\(&quot;$&quot;#,##0\)" sourceLinked="1"/>
        <c:majorTickMark val="none"/>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rgbClr val="000000"/>
                </a:solidFill>
                <a:latin typeface="Calibri"/>
                <a:ea typeface="+mn-lt"/>
                <a:cs typeface="+mn-lt"/>
              </a:defRPr>
            </a:pPr>
            <a:endParaRPr lang="en-US"/>
          </a:p>
        </c:txPr>
        <c:crossAx val="553895215"/>
        <c:crosses val="autoZero"/>
        <c:crossBetween val="between"/>
      </c:valAx>
      <c:valAx>
        <c:axId val="184430879"/>
        <c:scaling>
          <c:orientation val="minMax"/>
          <c:max val="0.4"/>
          <c:min val="0.30000000000000004"/>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lgn="ctr">
              <a:defRPr lang="en-US" sz="1100" b="0" i="0" u="none" strike="noStrike" kern="1200" baseline="0">
                <a:solidFill>
                  <a:srgbClr val="000000"/>
                </a:solidFill>
                <a:latin typeface="Calibri"/>
                <a:ea typeface="+mn-lt"/>
                <a:cs typeface="+mn-lt"/>
              </a:defRPr>
            </a:pPr>
            <a:endParaRPr lang="en-US"/>
          </a:p>
        </c:txPr>
        <c:crossAx val="217523039"/>
        <c:crosses val="max"/>
        <c:crossBetween val="between"/>
      </c:valAx>
      <c:catAx>
        <c:axId val="217523039"/>
        <c:scaling>
          <c:orientation val="minMax"/>
        </c:scaling>
        <c:delete val="1"/>
        <c:axPos val="b"/>
        <c:numFmt formatCode="General" sourceLinked="1"/>
        <c:majorTickMark val="out"/>
        <c:minorTickMark val="none"/>
        <c:tickLblPos val="nextTo"/>
        <c:crossAx val="184430879"/>
        <c:crosses val="autoZero"/>
        <c:auto val="1"/>
        <c:lblAlgn val="ctr"/>
        <c:lblOffset val="100"/>
        <c:noMultiLvlLbl val="0"/>
      </c:catAx>
      <c:spPr>
        <a:noFill/>
        <a:ln w="28575">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lang="en-US" sz="1100" b="0" i="0" u="none" strike="noStrike" kern="1200" baseline="0">
              <a:solidFill>
                <a:srgbClr val="000000"/>
              </a:solidFill>
              <a:latin typeface="Calibri"/>
              <a:ea typeface="+mn-lt"/>
              <a:cs typeface="+mn-lt"/>
            </a:defRPr>
          </a:pPr>
          <a:endParaRPr lang="en-US"/>
        </a:p>
      </c:txPr>
    </c:legend>
    <c:plotVisOnly val="1"/>
    <c:dispBlanksAs val="gap"/>
    <c:showDLblsOverMax val="0"/>
  </c:chart>
  <c:spPr>
    <a:solidFill>
      <a:schemeClr val="bg1"/>
    </a:solidFill>
    <a:ln w="28575" cap="flat" cmpd="sng" algn="ctr">
      <a:solidFill>
        <a:schemeClr val="tx1"/>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940004725643839"/>
          <c:y val="5.6583598246619869E-2"/>
          <c:w val="0.67461141917823875"/>
          <c:h val="0.69883896043616167"/>
        </c:manualLayout>
      </c:layout>
      <c:barChart>
        <c:barDir val="col"/>
        <c:grouping val="clustered"/>
        <c:varyColors val="0"/>
        <c:ser>
          <c:idx val="0"/>
          <c:order val="0"/>
          <c:tx>
            <c:strRef>
              <c:f>Sheet1!$R$60</c:f>
              <c:strCache>
                <c:ptCount val="1"/>
                <c:pt idx="0">
                  <c:v>Fishing Revenue ($M)</c:v>
                </c:pt>
              </c:strCache>
            </c:strRef>
          </c:tx>
          <c:spPr>
            <a:solidFill>
              <a:srgbClr val="FFC000"/>
            </a:solidFill>
            <a:ln>
              <a:solidFill>
                <a:srgbClr val="FFC000"/>
              </a:solidFill>
            </a:ln>
            <a:effectLst/>
          </c:spPr>
          <c:invertIfNegative val="0"/>
          <c:cat>
            <c:numRef>
              <c:f>Sheet1!$Q$61:$Q$67</c:f>
              <c:numCache>
                <c:formatCode>General</c:formatCode>
                <c:ptCount val="7"/>
                <c:pt idx="0">
                  <c:v>2018</c:v>
                </c:pt>
                <c:pt idx="1">
                  <c:v>2019</c:v>
                </c:pt>
                <c:pt idx="2">
                  <c:v>2020</c:v>
                </c:pt>
                <c:pt idx="3">
                  <c:v>2021</c:v>
                </c:pt>
                <c:pt idx="4">
                  <c:v>2022</c:v>
                </c:pt>
                <c:pt idx="5">
                  <c:v>2023</c:v>
                </c:pt>
                <c:pt idx="6">
                  <c:v>2024</c:v>
                </c:pt>
              </c:numCache>
            </c:numRef>
          </c:cat>
          <c:val>
            <c:numRef>
              <c:f>Sheet1!$R$61:$R$67</c:f>
              <c:numCache>
                <c:formatCode>General</c:formatCode>
                <c:ptCount val="7"/>
                <c:pt idx="0">
                  <c:v>391</c:v>
                </c:pt>
                <c:pt idx="1">
                  <c:v>412</c:v>
                </c:pt>
                <c:pt idx="2">
                  <c:v>449</c:v>
                </c:pt>
                <c:pt idx="3">
                  <c:v>552</c:v>
                </c:pt>
                <c:pt idx="4">
                  <c:v>525.6</c:v>
                </c:pt>
                <c:pt idx="5">
                  <c:v>491.9</c:v>
                </c:pt>
                <c:pt idx="6">
                  <c:v>451.8</c:v>
                </c:pt>
              </c:numCache>
            </c:numRef>
          </c:val>
          <c:extLst>
            <c:ext xmlns:c16="http://schemas.microsoft.com/office/drawing/2014/chart" uri="{C3380CC4-5D6E-409C-BE32-E72D297353CC}">
              <c16:uniqueId val="{00000000-AEA9-42A1-B12D-BDD33EF1D5AC}"/>
            </c:ext>
          </c:extLst>
        </c:ser>
        <c:dLbls>
          <c:showLegendKey val="0"/>
          <c:showVal val="0"/>
          <c:showCatName val="0"/>
          <c:showSerName val="0"/>
          <c:showPercent val="0"/>
          <c:showBubbleSize val="0"/>
        </c:dLbls>
        <c:gapWidth val="220"/>
        <c:axId val="13034504"/>
        <c:axId val="534904840"/>
      </c:barChart>
      <c:lineChart>
        <c:grouping val="standard"/>
        <c:varyColors val="0"/>
        <c:ser>
          <c:idx val="1"/>
          <c:order val="1"/>
          <c:tx>
            <c:strRef>
              <c:f>Sheet1!$S$60</c:f>
              <c:strCache>
                <c:ptCount val="1"/>
                <c:pt idx="0">
                  <c:v>Operating Margin</c:v>
                </c:pt>
              </c:strCache>
            </c:strRef>
          </c:tx>
          <c:spPr>
            <a:ln w="28575" cap="rnd">
              <a:solidFill>
                <a:schemeClr val="tx1"/>
              </a:solidFill>
              <a:round/>
            </a:ln>
            <a:effectLst/>
          </c:spPr>
          <c:marker>
            <c:symbol val="none"/>
          </c:marker>
          <c:cat>
            <c:numRef>
              <c:f>Sheet1!$Q$61:$Q$67</c:f>
              <c:numCache>
                <c:formatCode>General</c:formatCode>
                <c:ptCount val="7"/>
                <c:pt idx="0">
                  <c:v>2018</c:v>
                </c:pt>
                <c:pt idx="1">
                  <c:v>2019</c:v>
                </c:pt>
                <c:pt idx="2">
                  <c:v>2020</c:v>
                </c:pt>
                <c:pt idx="3">
                  <c:v>2021</c:v>
                </c:pt>
                <c:pt idx="4">
                  <c:v>2022</c:v>
                </c:pt>
                <c:pt idx="5">
                  <c:v>2023</c:v>
                </c:pt>
                <c:pt idx="6">
                  <c:v>2024</c:v>
                </c:pt>
              </c:numCache>
            </c:numRef>
          </c:cat>
          <c:val>
            <c:numRef>
              <c:f>Sheet1!$S$61:$S$67</c:f>
              <c:numCache>
                <c:formatCode>General</c:formatCode>
                <c:ptCount val="7"/>
                <c:pt idx="0">
                  <c:v>11.6</c:v>
                </c:pt>
                <c:pt idx="1">
                  <c:v>11.3</c:v>
                </c:pt>
                <c:pt idx="2">
                  <c:v>12</c:v>
                </c:pt>
                <c:pt idx="3">
                  <c:v>14.8</c:v>
                </c:pt>
                <c:pt idx="4">
                  <c:v>12.5</c:v>
                </c:pt>
                <c:pt idx="5">
                  <c:v>8.4</c:v>
                </c:pt>
                <c:pt idx="6">
                  <c:v>-1.5</c:v>
                </c:pt>
              </c:numCache>
            </c:numRef>
          </c:val>
          <c:smooth val="0"/>
          <c:extLst>
            <c:ext xmlns:c16="http://schemas.microsoft.com/office/drawing/2014/chart" uri="{C3380CC4-5D6E-409C-BE32-E72D297353CC}">
              <c16:uniqueId val="{00000001-AEA9-42A1-B12D-BDD33EF1D5AC}"/>
            </c:ext>
          </c:extLst>
        </c:ser>
        <c:dLbls>
          <c:showLegendKey val="0"/>
          <c:showVal val="0"/>
          <c:showCatName val="0"/>
          <c:showSerName val="0"/>
          <c:showPercent val="0"/>
          <c:showBubbleSize val="0"/>
        </c:dLbls>
        <c:marker val="1"/>
        <c:smooth val="0"/>
        <c:axId val="1272666632"/>
        <c:axId val="1066829832"/>
      </c:lineChart>
      <c:catAx>
        <c:axId val="13034504"/>
        <c:scaling>
          <c:orientation val="minMax"/>
        </c:scaling>
        <c:delete val="0"/>
        <c:axPos val="b"/>
        <c:numFmt formatCode="General"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534904840"/>
        <c:crosses val="autoZero"/>
        <c:auto val="1"/>
        <c:lblAlgn val="ctr"/>
        <c:lblOffset val="100"/>
        <c:noMultiLvlLbl val="0"/>
      </c:catAx>
      <c:valAx>
        <c:axId val="5349048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a:t>Millions ($)</a:t>
                </a:r>
              </a:p>
            </c:rich>
          </c:tx>
          <c:overlay val="0"/>
          <c:spPr>
            <a:noFill/>
            <a:ln>
              <a:noFill/>
            </a:ln>
            <a:effectLst/>
          </c:spPr>
          <c:txPr>
            <a:bodyPr rot="-54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3034504"/>
        <c:crosses val="autoZero"/>
        <c:crossBetween val="between"/>
      </c:valAx>
      <c:valAx>
        <c:axId val="1066829832"/>
        <c:scaling>
          <c:orientation val="minMax"/>
        </c:scaling>
        <c:delete val="0"/>
        <c:axPos val="r"/>
        <c:title>
          <c:tx>
            <c:rich>
              <a:bodyPr rot="-54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a:t>Operating Margin (%)</a:t>
                </a:r>
              </a:p>
            </c:rich>
          </c:tx>
          <c:overlay val="0"/>
          <c:spPr>
            <a:noFill/>
            <a:ln>
              <a:noFill/>
            </a:ln>
            <a:effectLst/>
          </c:spPr>
          <c:txPr>
            <a:bodyPr rot="-54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title>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272666632"/>
        <c:crosses val="max"/>
        <c:crossBetween val="between"/>
      </c:valAx>
      <c:catAx>
        <c:axId val="1272666632"/>
        <c:scaling>
          <c:orientation val="minMax"/>
        </c:scaling>
        <c:delete val="1"/>
        <c:axPos val="b"/>
        <c:numFmt formatCode="General" sourceLinked="1"/>
        <c:majorTickMark val="none"/>
        <c:minorTickMark val="none"/>
        <c:tickLblPos val="none"/>
        <c:crossAx val="1066829832"/>
        <c:crosses val="autoZero"/>
        <c:auto val="1"/>
        <c:lblAlgn val="ctr"/>
        <c:lblOffset val="100"/>
        <c:noMultiLvlLbl val="0"/>
      </c:catAx>
      <c:spPr>
        <a:noFill/>
        <a:ln w="28575">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chart>
  <c:spPr>
    <a:solidFill>
      <a:schemeClr val="bg1"/>
    </a:solidFill>
    <a:ln w="28575" cap="flat" cmpd="sng" algn="ctr">
      <a:solidFill>
        <a:srgbClr val="000000"/>
      </a:solidFill>
      <a:prstDash val="solid"/>
      <a:round/>
    </a:ln>
    <a:effectLst/>
  </c:spPr>
  <c:txPr>
    <a:bodyPr/>
    <a:lstStyle/>
    <a:p>
      <a:pPr algn="ctr" rtl="0">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Sheet1!$C$74</c:f>
              <c:strCache>
                <c:ptCount val="1"/>
                <c:pt idx="0">
                  <c:v>DIO</c:v>
                </c:pt>
              </c:strCache>
            </c:strRef>
          </c:tx>
          <c:spPr>
            <a:ln w="28575" cap="rnd">
              <a:solidFill>
                <a:schemeClr val="tx1"/>
              </a:solidFill>
              <a:round/>
            </a:ln>
            <a:effectLst/>
          </c:spPr>
          <c:marker>
            <c:symbol val="circle"/>
            <c:size val="5"/>
            <c:spPr>
              <a:solidFill>
                <a:schemeClr val="tx1"/>
              </a:solidFill>
              <a:ln w="9525">
                <a:solidFill>
                  <a:schemeClr val="tx1"/>
                </a:solidFill>
              </a:ln>
              <a:effectLst/>
            </c:spPr>
          </c:marker>
          <c:cat>
            <c:strRef>
              <c:f>Sheet1!$B$75:$B$81</c:f>
              <c:strCache>
                <c:ptCount val="7"/>
                <c:pt idx="0">
                  <c:v>2018</c:v>
                </c:pt>
                <c:pt idx="1">
                  <c:v>2019</c:v>
                </c:pt>
                <c:pt idx="2">
                  <c:v>2020</c:v>
                </c:pt>
                <c:pt idx="3">
                  <c:v>2021</c:v>
                </c:pt>
                <c:pt idx="4">
                  <c:v>2022</c:v>
                </c:pt>
                <c:pt idx="5">
                  <c:v>2023</c:v>
                </c:pt>
                <c:pt idx="6">
                  <c:v>2024</c:v>
                </c:pt>
              </c:strCache>
            </c:strRef>
          </c:cat>
          <c:val>
            <c:numRef>
              <c:f>Sheet1!$C$75:$C$81</c:f>
              <c:numCache>
                <c:formatCode>General</c:formatCode>
                <c:ptCount val="7"/>
                <c:pt idx="0">
                  <c:v>107.25</c:v>
                </c:pt>
                <c:pt idx="1">
                  <c:v>108.71</c:v>
                </c:pt>
                <c:pt idx="2">
                  <c:v>106.79</c:v>
                </c:pt>
                <c:pt idx="3">
                  <c:v>144.4</c:v>
                </c:pt>
                <c:pt idx="4">
                  <c:v>252.7</c:v>
                </c:pt>
                <c:pt idx="5">
                  <c:v>217.5</c:v>
                </c:pt>
                <c:pt idx="6">
                  <c:v>195</c:v>
                </c:pt>
              </c:numCache>
            </c:numRef>
          </c:val>
          <c:smooth val="0"/>
          <c:extLst>
            <c:ext xmlns:c16="http://schemas.microsoft.com/office/drawing/2014/chart" uri="{C3380CC4-5D6E-409C-BE32-E72D297353CC}">
              <c16:uniqueId val="{00000000-19C5-4077-BECC-A9DC6978644F}"/>
            </c:ext>
          </c:extLst>
        </c:ser>
        <c:dLbls>
          <c:showLegendKey val="0"/>
          <c:showVal val="0"/>
          <c:showCatName val="0"/>
          <c:showSerName val="0"/>
          <c:showPercent val="0"/>
          <c:showBubbleSize val="0"/>
        </c:dLbls>
        <c:marker val="1"/>
        <c:smooth val="0"/>
        <c:axId val="1675502272"/>
        <c:axId val="1675504192"/>
      </c:lineChart>
      <c:lineChart>
        <c:grouping val="standard"/>
        <c:varyColors val="0"/>
        <c:ser>
          <c:idx val="1"/>
          <c:order val="1"/>
          <c:tx>
            <c:strRef>
              <c:f>Sheet1!$D$74</c:f>
              <c:strCache>
                <c:ptCount val="1"/>
                <c:pt idx="0">
                  <c:v>Gross Margin(%)</c:v>
                </c:pt>
              </c:strCache>
            </c:strRef>
          </c:tx>
          <c:spPr>
            <a:ln w="28575" cap="rnd">
              <a:solidFill>
                <a:srgbClr val="FFC000"/>
              </a:solidFill>
              <a:round/>
            </a:ln>
            <a:effectLst/>
          </c:spPr>
          <c:marker>
            <c:symbol val="circle"/>
            <c:size val="5"/>
            <c:spPr>
              <a:solidFill>
                <a:srgbClr val="FFC000"/>
              </a:solidFill>
              <a:ln w="9525">
                <a:solidFill>
                  <a:schemeClr val="tx1"/>
                </a:solidFill>
              </a:ln>
              <a:effectLst/>
            </c:spPr>
          </c:marker>
          <c:cat>
            <c:strRef>
              <c:f>Sheet1!$B$75:$B$81</c:f>
              <c:strCache>
                <c:ptCount val="7"/>
                <c:pt idx="0">
                  <c:v>2018</c:v>
                </c:pt>
                <c:pt idx="1">
                  <c:v>2019</c:v>
                </c:pt>
                <c:pt idx="2">
                  <c:v>2020</c:v>
                </c:pt>
                <c:pt idx="3">
                  <c:v>2021</c:v>
                </c:pt>
                <c:pt idx="4">
                  <c:v>2022</c:v>
                </c:pt>
                <c:pt idx="5">
                  <c:v>2023</c:v>
                </c:pt>
                <c:pt idx="6">
                  <c:v>2024</c:v>
                </c:pt>
              </c:strCache>
            </c:strRef>
          </c:cat>
          <c:val>
            <c:numRef>
              <c:f>Sheet1!$D$75:$D$81</c:f>
              <c:numCache>
                <c:formatCode>General</c:formatCode>
                <c:ptCount val="7"/>
                <c:pt idx="0">
                  <c:v>0.4</c:v>
                </c:pt>
                <c:pt idx="1">
                  <c:v>0.41</c:v>
                </c:pt>
                <c:pt idx="2">
                  <c:v>0.4</c:v>
                </c:pt>
                <c:pt idx="3">
                  <c:v>0.38</c:v>
                </c:pt>
                <c:pt idx="4">
                  <c:v>0.37</c:v>
                </c:pt>
                <c:pt idx="5">
                  <c:v>0.35</c:v>
                </c:pt>
                <c:pt idx="6">
                  <c:v>0.34</c:v>
                </c:pt>
              </c:numCache>
            </c:numRef>
          </c:val>
          <c:smooth val="0"/>
          <c:extLst>
            <c:ext xmlns:c16="http://schemas.microsoft.com/office/drawing/2014/chart" uri="{C3380CC4-5D6E-409C-BE32-E72D297353CC}">
              <c16:uniqueId val="{00000001-19C5-4077-BECC-A9DC6978644F}"/>
            </c:ext>
          </c:extLst>
        </c:ser>
        <c:dLbls>
          <c:showLegendKey val="0"/>
          <c:showVal val="0"/>
          <c:showCatName val="0"/>
          <c:showSerName val="0"/>
          <c:showPercent val="0"/>
          <c:showBubbleSize val="0"/>
        </c:dLbls>
        <c:marker val="1"/>
        <c:smooth val="0"/>
        <c:axId val="1676824160"/>
        <c:axId val="1676826080"/>
      </c:lineChart>
      <c:catAx>
        <c:axId val="1675502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1200" b="0" i="0" u="none" strike="noStrike" kern="1200" baseline="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75504192"/>
        <c:crosses val="autoZero"/>
        <c:auto val="1"/>
        <c:lblAlgn val="ctr"/>
        <c:lblOffset val="100"/>
        <c:noMultiLvlLbl val="0"/>
      </c:catAx>
      <c:valAx>
        <c:axId val="16755041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en-US" sz="1200" b="0" i="0" u="none" strike="noStrike" kern="1200" baseline="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75502272"/>
        <c:crosses val="autoZero"/>
        <c:crossBetween val="between"/>
      </c:valAx>
      <c:valAx>
        <c:axId val="1676826080"/>
        <c:scaling>
          <c:orientation val="minMax"/>
          <c:max val="0.5"/>
          <c:min val="0.30000000000000004"/>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lang="en-US" sz="1200" b="0" i="0" u="none" strike="noStrike" kern="1200" baseline="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676824160"/>
        <c:crosses val="max"/>
        <c:crossBetween val="between"/>
      </c:valAx>
      <c:catAx>
        <c:axId val="1676824160"/>
        <c:scaling>
          <c:orientation val="minMax"/>
        </c:scaling>
        <c:delete val="1"/>
        <c:axPos val="b"/>
        <c:numFmt formatCode="General" sourceLinked="1"/>
        <c:majorTickMark val="out"/>
        <c:minorTickMark val="none"/>
        <c:tickLblPos val="nextTo"/>
        <c:crossAx val="1676826080"/>
        <c:crosses val="autoZero"/>
        <c:auto val="1"/>
        <c:lblAlgn val="ctr"/>
        <c:lblOffset val="100"/>
        <c:noMultiLvlLbl val="0"/>
      </c:catAx>
      <c:spPr>
        <a:noFill/>
        <a:ln w="28575">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lang="en-US" sz="1200" b="0" i="0" u="none" strike="noStrike" kern="1200" baseline="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28575" cap="flat" cmpd="sng" algn="ctr">
      <a:solidFill>
        <a:schemeClr val="tx1"/>
      </a:solidFill>
      <a:round/>
    </a:ln>
    <a:effectLst/>
  </c:spPr>
  <c:txPr>
    <a:bodyPr/>
    <a:lstStyle/>
    <a:p>
      <a:pPr>
        <a:defRPr lang="en-US" sz="1200" kern="120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manualLayout>
          <c:layoutTarget val="inner"/>
          <c:xMode val="edge"/>
          <c:yMode val="edge"/>
          <c:x val="0.14867349873296998"/>
          <c:y val="3.798920409078925E-2"/>
          <c:w val="0.8170096698367898"/>
          <c:h val="0.52521936417922876"/>
        </c:manualLayout>
      </c:layout>
      <c:lineChart>
        <c:grouping val="stacked"/>
        <c:varyColors val="0"/>
        <c:ser>
          <c:idx val="1"/>
          <c:order val="0"/>
          <c:tx>
            <c:strRef>
              <c:f>Charts!$J$7</c:f>
              <c:strCache>
                <c:ptCount val="1"/>
                <c:pt idx="0">
                  <c:v>Net margin</c:v>
                </c:pt>
              </c:strCache>
            </c:strRef>
          </c:tx>
          <c:spPr>
            <a:ln>
              <a:solidFill>
                <a:sysClr val="windowText" lastClr="000000"/>
              </a:solidFill>
              <a:prstDash val="sysDot"/>
            </a:ln>
          </c:spPr>
          <c:marker>
            <c:symbol val="none"/>
          </c:marker>
          <c:dLbls>
            <c:dLbl>
              <c:idx val="1"/>
              <c:layout>
                <c:manualLayout>
                  <c:x val="3.1298904538341445E-3"/>
                  <c:y val="3.2206119162640899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A98-42EC-A8B6-2BF5654E508D}"/>
                </c:ext>
              </c:extLst>
            </c:dLbl>
            <c:dLbl>
              <c:idx val="2"/>
              <c:layout>
                <c:manualLayout>
                  <c:x val="0"/>
                  <c:y val="2.5764895330112583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A98-42EC-A8B6-2BF5654E508D}"/>
                </c:ext>
              </c:extLst>
            </c:dLbl>
            <c:dLbl>
              <c:idx val="3"/>
              <c:layout>
                <c:manualLayout>
                  <c:x val="1.2519561815336521E-2"/>
                  <c:y val="1.9323671497584877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A98-42EC-A8B6-2BF5654E508D}"/>
                </c:ext>
              </c:extLst>
            </c:dLbl>
            <c:dLbl>
              <c:idx val="4"/>
              <c:layout>
                <c:manualLayout>
                  <c:x val="9.3896713615023528E-3"/>
                  <c:y val="1.9323671497584877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A98-42EC-A8B6-2BF5654E508D}"/>
                </c:ext>
              </c:extLst>
            </c:dLbl>
            <c:dLbl>
              <c:idx val="5"/>
              <c:layout>
                <c:manualLayout>
                  <c:x val="6.2597809076682404E-3"/>
                  <c:y val="1.9323671497584877E-2"/>
                </c:manualLayout>
              </c:layout>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A98-42EC-A8B6-2BF5654E508D}"/>
                </c:ext>
              </c:extLst>
            </c:dLbl>
            <c:spPr>
              <a:noFill/>
              <a:ln>
                <a:noFill/>
              </a:ln>
              <a:effectLst/>
            </c:sp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Charts!$K$4:$Q$4</c:f>
              <c:numCache>
                <c:formatCode>[$-409]mmm\-yy;@</c:formatCode>
                <c:ptCount val="7"/>
                <c:pt idx="0">
                  <c:v>44103</c:v>
                </c:pt>
                <c:pt idx="1">
                  <c:v>44468</c:v>
                </c:pt>
                <c:pt idx="2">
                  <c:v>44833</c:v>
                </c:pt>
                <c:pt idx="3">
                  <c:v>45199</c:v>
                </c:pt>
                <c:pt idx="4">
                  <c:v>45565</c:v>
                </c:pt>
                <c:pt idx="5">
                  <c:v>45930</c:v>
                </c:pt>
                <c:pt idx="6">
                  <c:v>46295</c:v>
                </c:pt>
              </c:numCache>
            </c:numRef>
          </c:cat>
          <c:val>
            <c:numRef>
              <c:f>Charts!$K$7:$Q$7</c:f>
              <c:numCache>
                <c:formatCode>0.0%</c:formatCode>
                <c:ptCount val="7"/>
                <c:pt idx="0">
                  <c:v>9.2979797979797968E-2</c:v>
                </c:pt>
                <c:pt idx="1">
                  <c:v>0.11087765957446807</c:v>
                </c:pt>
                <c:pt idx="2">
                  <c:v>5.9219380888290714E-2</c:v>
                </c:pt>
                <c:pt idx="3">
                  <c:v>2.9412650602409642E-2</c:v>
                </c:pt>
                <c:pt idx="4">
                  <c:v>-4.4749936746225856E-2</c:v>
                </c:pt>
                <c:pt idx="5">
                  <c:v>1.3643778715623341E-2</c:v>
                </c:pt>
                <c:pt idx="6">
                  <c:v>1.9161191085008186E-2</c:v>
                </c:pt>
              </c:numCache>
            </c:numRef>
          </c:val>
          <c:smooth val="0"/>
          <c:extLst>
            <c:ext xmlns:c16="http://schemas.microsoft.com/office/drawing/2014/chart" uri="{C3380CC4-5D6E-409C-BE32-E72D297353CC}">
              <c16:uniqueId val="{00000005-BA98-42EC-A8B6-2BF5654E508D}"/>
            </c:ext>
          </c:extLst>
        </c:ser>
        <c:ser>
          <c:idx val="0"/>
          <c:order val="1"/>
          <c:tx>
            <c:strRef>
              <c:f>Charts!$J$6</c:f>
              <c:strCache>
                <c:ptCount val="1"/>
                <c:pt idx="0">
                  <c:v>Operating margin</c:v>
                </c:pt>
              </c:strCache>
            </c:strRef>
          </c:tx>
          <c:spPr>
            <a:ln>
              <a:solidFill>
                <a:srgbClr val="F2C755"/>
              </a:solidFill>
            </a:ln>
          </c:spPr>
          <c:marker>
            <c:symbol val="none"/>
          </c:marker>
          <c:cat>
            <c:numRef>
              <c:f>Charts!$K$4:$Q$4</c:f>
              <c:numCache>
                <c:formatCode>[$-409]mmm\-yy;@</c:formatCode>
                <c:ptCount val="7"/>
                <c:pt idx="0">
                  <c:v>44103</c:v>
                </c:pt>
                <c:pt idx="1">
                  <c:v>44468</c:v>
                </c:pt>
                <c:pt idx="2">
                  <c:v>44833</c:v>
                </c:pt>
                <c:pt idx="3">
                  <c:v>45199</c:v>
                </c:pt>
                <c:pt idx="4">
                  <c:v>45565</c:v>
                </c:pt>
                <c:pt idx="5">
                  <c:v>45930</c:v>
                </c:pt>
                <c:pt idx="6">
                  <c:v>46295</c:v>
                </c:pt>
              </c:numCache>
            </c:numRef>
          </c:cat>
          <c:val>
            <c:numRef>
              <c:f>Charts!$K$6:$Q$6</c:f>
              <c:numCache>
                <c:formatCode>0.0%</c:formatCode>
                <c:ptCount val="7"/>
                <c:pt idx="0">
                  <c:v>0.11952861952861953</c:v>
                </c:pt>
                <c:pt idx="1">
                  <c:v>0.14797872340425533</c:v>
                </c:pt>
                <c:pt idx="2">
                  <c:v>8.8829071332436074E-2</c:v>
                </c:pt>
                <c:pt idx="3">
                  <c:v>1.8072289156626505E-2</c:v>
                </c:pt>
                <c:pt idx="4">
                  <c:v>-5.4566922493042083E-2</c:v>
                </c:pt>
                <c:pt idx="5">
                  <c:v>2.5000000000000001E-2</c:v>
                </c:pt>
                <c:pt idx="6">
                  <c:v>3.2000000000000001E-2</c:v>
                </c:pt>
              </c:numCache>
            </c:numRef>
          </c:val>
          <c:smooth val="0"/>
          <c:extLst>
            <c:ext xmlns:c16="http://schemas.microsoft.com/office/drawing/2014/chart" uri="{C3380CC4-5D6E-409C-BE32-E72D297353CC}">
              <c16:uniqueId val="{00000006-BA98-42EC-A8B6-2BF5654E508D}"/>
            </c:ext>
          </c:extLst>
        </c:ser>
        <c:ser>
          <c:idx val="2"/>
          <c:order val="2"/>
          <c:tx>
            <c:strRef>
              <c:f>Charts!$J$5</c:f>
              <c:strCache>
                <c:ptCount val="1"/>
                <c:pt idx="0">
                  <c:v>Gross margin</c:v>
                </c:pt>
              </c:strCache>
            </c:strRef>
          </c:tx>
          <c:spPr>
            <a:ln>
              <a:solidFill>
                <a:sysClr val="windowText" lastClr="000000"/>
              </a:solidFill>
            </a:ln>
          </c:spPr>
          <c:marker>
            <c:symbol val="none"/>
          </c:marker>
          <c:cat>
            <c:numRef>
              <c:f>Charts!$C$4:$H$4</c:f>
              <c:numCache>
                <c:formatCode>[$-409]mmm\-yy;@</c:formatCode>
                <c:ptCount val="6"/>
                <c:pt idx="0">
                  <c:v>44468</c:v>
                </c:pt>
                <c:pt idx="1">
                  <c:v>44833</c:v>
                </c:pt>
                <c:pt idx="2">
                  <c:v>45199</c:v>
                </c:pt>
                <c:pt idx="3">
                  <c:v>45565</c:v>
                </c:pt>
                <c:pt idx="4">
                  <c:v>45930</c:v>
                </c:pt>
                <c:pt idx="5">
                  <c:v>46295</c:v>
                </c:pt>
              </c:numCache>
            </c:numRef>
          </c:cat>
          <c:val>
            <c:numRef>
              <c:f>Charts!$K$5:$Q$5</c:f>
              <c:numCache>
                <c:formatCode>0.0%</c:formatCode>
                <c:ptCount val="7"/>
                <c:pt idx="0">
                  <c:v>0.43939393939393939</c:v>
                </c:pt>
                <c:pt idx="1">
                  <c:v>0.43882978723404253</c:v>
                </c:pt>
                <c:pt idx="2">
                  <c:v>0.36473755047106327</c:v>
                </c:pt>
                <c:pt idx="3">
                  <c:v>0.36746987951807231</c:v>
                </c:pt>
                <c:pt idx="4">
                  <c:v>0.33904022940035422</c:v>
                </c:pt>
                <c:pt idx="5">
                  <c:v>0.34200000000000003</c:v>
                </c:pt>
                <c:pt idx="6">
                  <c:v>0.34200000000000003</c:v>
                </c:pt>
              </c:numCache>
            </c:numRef>
          </c:val>
          <c:smooth val="0"/>
          <c:extLst>
            <c:ext xmlns:c16="http://schemas.microsoft.com/office/drawing/2014/chart" uri="{C3380CC4-5D6E-409C-BE32-E72D297353CC}">
              <c16:uniqueId val="{00000007-BA98-42EC-A8B6-2BF5654E508D}"/>
            </c:ext>
          </c:extLst>
        </c:ser>
        <c:dLbls>
          <c:showLegendKey val="0"/>
          <c:showVal val="0"/>
          <c:showCatName val="0"/>
          <c:showSerName val="0"/>
          <c:showPercent val="0"/>
          <c:showBubbleSize val="0"/>
        </c:dLbls>
        <c:smooth val="0"/>
        <c:axId val="855223000"/>
        <c:axId val="855222608"/>
      </c:lineChart>
      <c:dateAx>
        <c:axId val="855223000"/>
        <c:scaling>
          <c:orientation val="minMax"/>
        </c:scaling>
        <c:delete val="0"/>
        <c:axPos val="b"/>
        <c:numFmt formatCode="yyyy" sourceLinked="0"/>
        <c:majorTickMark val="out"/>
        <c:minorTickMark val="none"/>
        <c:tickLblPos val="low"/>
        <c:txPr>
          <a:bodyPr rot="0"/>
          <a:lstStyle/>
          <a:p>
            <a:pPr>
              <a:defRPr sz="900"/>
            </a:pPr>
            <a:endParaRPr lang="en-US"/>
          </a:p>
        </c:txPr>
        <c:crossAx val="855222608"/>
        <c:crosses val="autoZero"/>
        <c:auto val="1"/>
        <c:lblOffset val="100"/>
        <c:baseTimeUnit val="years"/>
      </c:dateAx>
      <c:valAx>
        <c:axId val="855222608"/>
        <c:scaling>
          <c:orientation val="minMax"/>
        </c:scaling>
        <c:delete val="0"/>
        <c:axPos val="l"/>
        <c:majorGridlines/>
        <c:numFmt formatCode="0%" sourceLinked="0"/>
        <c:majorTickMark val="none"/>
        <c:minorTickMark val="none"/>
        <c:tickLblPos val="nextTo"/>
        <c:txPr>
          <a:bodyPr/>
          <a:lstStyle/>
          <a:p>
            <a:pPr>
              <a:defRPr sz="900"/>
            </a:pPr>
            <a:endParaRPr lang="en-US"/>
          </a:p>
        </c:txPr>
        <c:crossAx val="855223000"/>
        <c:crosses val="autoZero"/>
        <c:crossBetween val="between"/>
        <c:majorUnit val="0.2"/>
      </c:valAx>
      <c:spPr>
        <a:ln w="28575">
          <a:solidFill>
            <a:schemeClr val="tx1"/>
          </a:solidFill>
        </a:ln>
      </c:spPr>
    </c:plotArea>
    <c:legend>
      <c:legendPos val="r"/>
      <c:layout>
        <c:manualLayout>
          <c:xMode val="edge"/>
          <c:yMode val="edge"/>
          <c:x val="0"/>
          <c:y val="0.71701847423367082"/>
          <c:w val="0.75421901446856543"/>
          <c:h val="0.28298152576632918"/>
        </c:manualLayout>
      </c:layout>
      <c:overlay val="0"/>
      <c:txPr>
        <a:bodyPr/>
        <a:lstStyle/>
        <a:p>
          <a:pPr marL="0" algn="ctr" defTabSz="685783" rtl="0" eaLnBrk="1" fontAlgn="b" latinLnBrk="0" hangingPunct="1">
            <a:defRPr lang="en-US" sz="95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legend>
    <c:plotVisOnly val="1"/>
    <c:dispBlanksAs val="zero"/>
    <c:showDLblsOverMax val="0"/>
  </c:chart>
  <c:spPr>
    <a:ln w="28575">
      <a:solidFill>
        <a:srgbClr val="000000"/>
      </a:solid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929330493409341"/>
          <c:y val="3.0477156627872124E-2"/>
          <c:w val="0.85313434859349002"/>
          <c:h val="0.49936023562293624"/>
        </c:manualLayout>
      </c:layout>
      <c:barChart>
        <c:barDir val="col"/>
        <c:grouping val="stacked"/>
        <c:varyColors val="0"/>
        <c:ser>
          <c:idx val="0"/>
          <c:order val="0"/>
          <c:tx>
            <c:strRef>
              <c:f>'F-QDriver'!$C$29</c:f>
              <c:strCache>
                <c:ptCount val="1"/>
                <c:pt idx="0">
                  <c:v>Base</c:v>
                </c:pt>
              </c:strCache>
            </c:strRef>
          </c:tx>
          <c:spPr>
            <a:noFill/>
            <a:ln>
              <a:noFill/>
            </a:ln>
          </c:spPr>
          <c:invertIfNegative val="0"/>
          <c:dPt>
            <c:idx val="2"/>
            <c:invertIfNegative val="0"/>
            <c:bubble3D val="0"/>
            <c:spPr>
              <a:solidFill>
                <a:srgbClr val="FFECC5"/>
              </a:solidFill>
              <a:ln>
                <a:noFill/>
              </a:ln>
            </c:spPr>
            <c:extLst>
              <c:ext xmlns:c16="http://schemas.microsoft.com/office/drawing/2014/chart" uri="{C3380CC4-5D6E-409C-BE32-E72D297353CC}">
                <c16:uniqueId val="{00000001-A922-44F5-BDA8-0AB4142508B6}"/>
              </c:ext>
            </c:extLst>
          </c:dPt>
          <c:dPt>
            <c:idx val="3"/>
            <c:invertIfNegative val="0"/>
            <c:bubble3D val="0"/>
            <c:spPr>
              <a:solidFill>
                <a:srgbClr val="FFECC5"/>
              </a:solidFill>
              <a:ln>
                <a:noFill/>
              </a:ln>
            </c:spPr>
            <c:extLst>
              <c:ext xmlns:c16="http://schemas.microsoft.com/office/drawing/2014/chart" uri="{C3380CC4-5D6E-409C-BE32-E72D297353CC}">
                <c16:uniqueId val="{00000003-A922-44F5-BDA8-0AB4142508B6}"/>
              </c:ext>
            </c:extLst>
          </c:dPt>
          <c:dPt>
            <c:idx val="4"/>
            <c:invertIfNegative val="0"/>
            <c:bubble3D val="0"/>
            <c:spPr>
              <a:solidFill>
                <a:srgbClr val="FFECC5"/>
              </a:solidFill>
              <a:ln>
                <a:noFill/>
              </a:ln>
            </c:spPr>
            <c:extLst>
              <c:ext xmlns:c16="http://schemas.microsoft.com/office/drawing/2014/chart" uri="{C3380CC4-5D6E-409C-BE32-E72D297353CC}">
                <c16:uniqueId val="{00000005-A922-44F5-BDA8-0AB4142508B6}"/>
              </c:ext>
            </c:extLst>
          </c:dPt>
          <c:dPt>
            <c:idx val="5"/>
            <c:invertIfNegative val="0"/>
            <c:bubble3D val="0"/>
            <c:spPr>
              <a:solidFill>
                <a:srgbClr val="FFECC5"/>
              </a:solidFill>
              <a:ln>
                <a:noFill/>
              </a:ln>
            </c:spPr>
            <c:extLst>
              <c:ext xmlns:c16="http://schemas.microsoft.com/office/drawing/2014/chart" uri="{C3380CC4-5D6E-409C-BE32-E72D297353CC}">
                <c16:uniqueId val="{00000007-A922-44F5-BDA8-0AB4142508B6}"/>
              </c:ext>
            </c:extLst>
          </c:dPt>
          <c:dLbls>
            <c:dLbl>
              <c:idx val="0"/>
              <c:delete val="1"/>
              <c:extLst>
                <c:ext xmlns:c15="http://schemas.microsoft.com/office/drawing/2012/chart" uri="{CE6537A1-D6FC-4f65-9D91-7224C49458BB}"/>
                <c:ext xmlns:c16="http://schemas.microsoft.com/office/drawing/2014/chart" uri="{C3380CC4-5D6E-409C-BE32-E72D297353CC}">
                  <c16:uniqueId val="{00000008-A922-44F5-BDA8-0AB4142508B6}"/>
                </c:ext>
              </c:extLst>
            </c:dLbl>
            <c:dLbl>
              <c:idx val="2"/>
              <c:tx>
                <c:strRef>
                  <c:f>'F-QDriver'!$D$25</c:f>
                  <c:strCache>
                    <c:ptCount val="1"/>
                    <c:pt idx="0">
                      <c:v>$0.01 </c:v>
                    </c:pt>
                  </c:strCache>
                </c:strRef>
              </c:tx>
              <c:dLblPos val="ctr"/>
              <c:showLegendKey val="0"/>
              <c:showVal val="1"/>
              <c:showCatName val="0"/>
              <c:showSerName val="0"/>
              <c:showPercent val="0"/>
              <c:showBubbleSize val="0"/>
              <c:extLst>
                <c:ext xmlns:c15="http://schemas.microsoft.com/office/drawing/2012/chart" uri="{CE6537A1-D6FC-4f65-9D91-7224C49458BB}">
                  <c15:dlblFieldTable>
                    <c15:dlblFTEntry>
                      <c15:txfldGUID>{D13E541B-2A18-49E3-9659-188F2B0AD993}</c15:txfldGUID>
                      <c15:f>'F-QDriver'!$D$25</c15:f>
                      <c15:dlblFieldTableCache>
                        <c:ptCount val="1"/>
                        <c:pt idx="0">
                          <c:v>$0.01 </c:v>
                        </c:pt>
                      </c15:dlblFieldTableCache>
                    </c15:dlblFTEntry>
                  </c15:dlblFieldTable>
                  <c15:showDataLabelsRange val="0"/>
                </c:ext>
                <c:ext xmlns:c16="http://schemas.microsoft.com/office/drawing/2014/chart" uri="{C3380CC4-5D6E-409C-BE32-E72D297353CC}">
                  <c16:uniqueId val="{00000001-A922-44F5-BDA8-0AB4142508B6}"/>
                </c:ext>
              </c:extLst>
            </c:dLbl>
            <c:dLbl>
              <c:idx val="3"/>
              <c:tx>
                <c:strRef>
                  <c:f>'F-QDriver'!$E$25</c:f>
                  <c:strCache>
                    <c:ptCount val="1"/>
                    <c:pt idx="0">
                      <c:v>$0.16 </c:v>
                    </c:pt>
                  </c:strCache>
                </c:strRef>
              </c:tx>
              <c:dLblPos val="ctr"/>
              <c:showLegendKey val="0"/>
              <c:showVal val="1"/>
              <c:showCatName val="0"/>
              <c:showSerName val="0"/>
              <c:showPercent val="0"/>
              <c:showBubbleSize val="0"/>
              <c:extLst>
                <c:ext xmlns:c15="http://schemas.microsoft.com/office/drawing/2012/chart" uri="{CE6537A1-D6FC-4f65-9D91-7224C49458BB}">
                  <c15:dlblFieldTable>
                    <c15:dlblFTEntry>
                      <c15:txfldGUID>{06F1D0E9-1C59-4EAA-810D-03FA3C8B199A}</c15:txfldGUID>
                      <c15:f>'F-QDriver'!$E$25</c15:f>
                      <c15:dlblFieldTableCache>
                        <c:ptCount val="1"/>
                        <c:pt idx="0">
                          <c:v>$0.16 </c:v>
                        </c:pt>
                      </c15:dlblFieldTableCache>
                    </c15:dlblFTEntry>
                  </c15:dlblFieldTable>
                  <c15:showDataLabelsRange val="0"/>
                </c:ext>
                <c:ext xmlns:c16="http://schemas.microsoft.com/office/drawing/2014/chart" uri="{C3380CC4-5D6E-409C-BE32-E72D297353CC}">
                  <c16:uniqueId val="{00000003-A922-44F5-BDA8-0AB4142508B6}"/>
                </c:ext>
              </c:extLst>
            </c:dLbl>
            <c:dLbl>
              <c:idx val="4"/>
              <c:tx>
                <c:strRef>
                  <c:f>'F-QDriver'!$F$25</c:f>
                  <c:strCache>
                    <c:ptCount val="1"/>
                    <c:pt idx="0">
                      <c:v>$4.04 </c:v>
                    </c:pt>
                  </c:strCache>
                </c:strRef>
              </c:tx>
              <c:dLblPos val="ctr"/>
              <c:showLegendKey val="0"/>
              <c:showVal val="1"/>
              <c:showCatName val="0"/>
              <c:showSerName val="0"/>
              <c:showPercent val="0"/>
              <c:showBubbleSize val="0"/>
              <c:extLst>
                <c:ext xmlns:c15="http://schemas.microsoft.com/office/drawing/2012/chart" uri="{CE6537A1-D6FC-4f65-9D91-7224C49458BB}">
                  <c15:dlblFieldTable>
                    <c15:dlblFTEntry>
                      <c15:txfldGUID>{D1CA99D2-B7B8-4869-92DF-89E5F6EB4EC0}</c15:txfldGUID>
                      <c15:f>'F-QDriver'!$F$25</c15:f>
                      <c15:dlblFieldTableCache>
                        <c:ptCount val="1"/>
                        <c:pt idx="0">
                          <c:v>$4.04 </c:v>
                        </c:pt>
                      </c15:dlblFieldTableCache>
                    </c15:dlblFTEntry>
                  </c15:dlblFieldTable>
                  <c15:showDataLabelsRange val="0"/>
                </c:ext>
                <c:ext xmlns:c16="http://schemas.microsoft.com/office/drawing/2014/chart" uri="{C3380CC4-5D6E-409C-BE32-E72D297353CC}">
                  <c16:uniqueId val="{00000005-A922-44F5-BDA8-0AB4142508B6}"/>
                </c:ext>
              </c:extLst>
            </c:dLbl>
            <c:dLbl>
              <c:idx val="5"/>
              <c:tx>
                <c:strRef>
                  <c:f>'F-QDriver'!$G$25</c:f>
                  <c:strCache>
                    <c:ptCount val="1"/>
                    <c:pt idx="0">
                      <c:v>($2.03)</c:v>
                    </c:pt>
                  </c:strCache>
                </c:strRef>
              </c:tx>
              <c:dLblPos val="ctr"/>
              <c:showLegendKey val="0"/>
              <c:showVal val="1"/>
              <c:showCatName val="0"/>
              <c:showSerName val="0"/>
              <c:showPercent val="0"/>
              <c:showBubbleSize val="0"/>
              <c:extLst>
                <c:ext xmlns:c15="http://schemas.microsoft.com/office/drawing/2012/chart" uri="{CE6537A1-D6FC-4f65-9D91-7224C49458BB}">
                  <c15:dlblFieldTable>
                    <c15:dlblFTEntry>
                      <c15:txfldGUID>{E134594E-02BB-46CA-B82F-5DB949393D02}</c15:txfldGUID>
                      <c15:f>'F-QDriver'!$G$25</c15:f>
                      <c15:dlblFieldTableCache>
                        <c:ptCount val="1"/>
                        <c:pt idx="0">
                          <c:v>($2.03)</c:v>
                        </c:pt>
                      </c15:dlblFieldTableCache>
                    </c15:dlblFTEntry>
                  </c15:dlblFieldTable>
                  <c15:showDataLabelsRange val="0"/>
                </c:ext>
                <c:ext xmlns:c16="http://schemas.microsoft.com/office/drawing/2014/chart" uri="{C3380CC4-5D6E-409C-BE32-E72D297353CC}">
                  <c16:uniqueId val="{00000007-A922-44F5-BDA8-0AB4142508B6}"/>
                </c:ext>
              </c:extLst>
            </c:dLbl>
            <c:dLbl>
              <c:idx val="6"/>
              <c:tx>
                <c:strRef>
                  <c:f>'F-QDriver'!$L$25</c:f>
                  <c:strCache>
                    <c:ptCount val="1"/>
                    <c:pt idx="0">
                      <c:v>$0.00 </c:v>
                    </c:pt>
                  </c:strCache>
                </c:strRef>
              </c:tx>
              <c:dLblPos val="ctr"/>
              <c:showLegendKey val="0"/>
              <c:showVal val="1"/>
              <c:showCatName val="0"/>
              <c:showSerName val="0"/>
              <c:showPercent val="0"/>
              <c:showBubbleSize val="0"/>
              <c:extLst>
                <c:ext xmlns:c15="http://schemas.microsoft.com/office/drawing/2012/chart" uri="{CE6537A1-D6FC-4f65-9D91-7224C49458BB}">
                  <c15:dlblFieldTable>
                    <c15:dlblFTEntry>
                      <c15:txfldGUID>{8E6DB62F-2E14-486A-A5E4-7DD25E447692}</c15:txfldGUID>
                      <c15:f>'F-QDriver'!$L$25</c15:f>
                      <c15:dlblFieldTableCache>
                        <c:ptCount val="1"/>
                        <c:pt idx="0">
                          <c:v>$0.00 </c:v>
                        </c:pt>
                      </c15:dlblFieldTableCache>
                    </c15:dlblFTEntry>
                  </c15:dlblFieldTable>
                  <c15:showDataLabelsRange val="0"/>
                </c:ext>
                <c:ext xmlns:c16="http://schemas.microsoft.com/office/drawing/2014/chart" uri="{C3380CC4-5D6E-409C-BE32-E72D297353CC}">
                  <c16:uniqueId val="{00000009-A922-44F5-BDA8-0AB4142508B6}"/>
                </c:ext>
              </c:extLst>
            </c:dLbl>
            <c:dLbl>
              <c:idx val="7"/>
              <c:delete val="1"/>
              <c:extLst>
                <c:ext xmlns:c15="http://schemas.microsoft.com/office/drawing/2012/chart" uri="{CE6537A1-D6FC-4f65-9D91-7224C49458BB}"/>
                <c:ext xmlns:c16="http://schemas.microsoft.com/office/drawing/2014/chart" uri="{C3380CC4-5D6E-409C-BE32-E72D297353CC}">
                  <c16:uniqueId val="{0000000A-A922-44F5-BDA8-0AB4142508B6}"/>
                </c:ext>
              </c:extLst>
            </c:dLbl>
            <c:dLbl>
              <c:idx val="8"/>
              <c:delete val="1"/>
              <c:extLst>
                <c:ext xmlns:c15="http://schemas.microsoft.com/office/drawing/2012/chart" uri="{CE6537A1-D6FC-4f65-9D91-7224C49458BB}"/>
                <c:ext xmlns:c16="http://schemas.microsoft.com/office/drawing/2014/chart" uri="{C3380CC4-5D6E-409C-BE32-E72D297353CC}">
                  <c16:uniqueId val="{0000000B-A922-44F5-BDA8-0AB4142508B6}"/>
                </c:ext>
              </c:extLst>
            </c:dLbl>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'F-QDriver'!$B$30:$B$37</c:f>
              <c:strCache>
                <c:ptCount val="7"/>
                <c:pt idx="1">
                  <c:v>2024</c:v>
                </c:pt>
                <c:pt idx="2">
                  <c:v>Sales</c:v>
                </c:pt>
                <c:pt idx="3">
                  <c:v>Gross Margin</c:v>
                </c:pt>
                <c:pt idx="4">
                  <c:v>SG&amp;A, R&amp;D, and other</c:v>
                </c:pt>
                <c:pt idx="5">
                  <c:v>Other</c:v>
                </c:pt>
                <c:pt idx="6">
                  <c:v>2025</c:v>
                </c:pt>
              </c:strCache>
            </c:strRef>
          </c:cat>
          <c:val>
            <c:numRef>
              <c:f>'F-QDriver'!$C$30:$C$37</c:f>
              <c:numCache>
                <c:formatCode>General</c:formatCode>
                <c:ptCount val="8"/>
                <c:pt idx="0" formatCode="&quot;$&quot;#,##0.00_);\(&quot;$&quot;#,##0.00\)">
                  <c:v>-1.3264705882352943</c:v>
                </c:pt>
                <c:pt idx="2" formatCode="&quot;$&quot;#,##0.00_);\(&quot;$&quot;#,##0.00\)">
                  <c:v>-1.3264705882352943</c:v>
                </c:pt>
                <c:pt idx="3" formatCode="&quot;$&quot;#,##0.00_);\(&quot;$&quot;#,##0.00\)">
                  <c:v>-1.1607260152647048</c:v>
                </c:pt>
                <c:pt idx="4" formatCode="&quot;$&quot;#,##0.00_);\(&quot;$&quot;#,##0.00\)">
                  <c:v>2.8807636437500004</c:v>
                </c:pt>
                <c:pt idx="5" formatCode="&quot;$&quot;#,##0.00_);\(&quot;$&quot;#,##0.00\)">
                  <c:v>0.85565535232843148</c:v>
                </c:pt>
                <c:pt idx="7" formatCode="&quot;$&quot;#,##0.00_);\(&quot;$&quot;#,##0.00\)">
                  <c:v>0.85565535232843148</c:v>
                </c:pt>
              </c:numCache>
            </c:numRef>
          </c:val>
          <c:extLst>
            <c:ext xmlns:c16="http://schemas.microsoft.com/office/drawing/2014/chart" uri="{C3380CC4-5D6E-409C-BE32-E72D297353CC}">
              <c16:uniqueId val="{0000000C-A922-44F5-BDA8-0AB4142508B6}"/>
            </c:ext>
          </c:extLst>
        </c:ser>
        <c:ser>
          <c:idx val="1"/>
          <c:order val="1"/>
          <c:tx>
            <c:strRef>
              <c:f>'F-QDriver'!$D$29</c:f>
              <c:strCache>
                <c:ptCount val="1"/>
                <c:pt idx="0">
                  <c:v>End</c:v>
                </c:pt>
              </c:strCache>
            </c:strRef>
          </c:tx>
          <c:spPr>
            <a:solidFill>
              <a:srgbClr val="F2C755"/>
            </a:solidFill>
            <a:ln>
              <a:solidFill>
                <a:srgbClr val="F2C755"/>
              </a:solidFill>
            </a:ln>
          </c:spPr>
          <c:invertIfNegative val="0"/>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'F-QDriver'!$B$30:$B$37</c:f>
              <c:strCache>
                <c:ptCount val="7"/>
                <c:pt idx="1">
                  <c:v>2024</c:v>
                </c:pt>
                <c:pt idx="2">
                  <c:v>Sales</c:v>
                </c:pt>
                <c:pt idx="3">
                  <c:v>Gross Margin</c:v>
                </c:pt>
                <c:pt idx="4">
                  <c:v>SG&amp;A, R&amp;D, and other</c:v>
                </c:pt>
                <c:pt idx="5">
                  <c:v>Other</c:v>
                </c:pt>
                <c:pt idx="6">
                  <c:v>2025</c:v>
                </c:pt>
              </c:strCache>
            </c:strRef>
          </c:cat>
          <c:val>
            <c:numRef>
              <c:f>'F-QDriver'!$D$30:$D$37</c:f>
              <c:numCache>
                <c:formatCode>General</c:formatCode>
                <c:ptCount val="8"/>
                <c:pt idx="6" formatCode="&quot;$&quot;#,##0.00_);\(&quot;$&quot;#,##0.00\)">
                  <c:v>0.85565535232843148</c:v>
                </c:pt>
              </c:numCache>
            </c:numRef>
          </c:val>
          <c:extLst>
            <c:ext xmlns:c16="http://schemas.microsoft.com/office/drawing/2014/chart" uri="{C3380CC4-5D6E-409C-BE32-E72D297353CC}">
              <c16:uniqueId val="{0000000D-A922-44F5-BDA8-0AB4142508B6}"/>
            </c:ext>
          </c:extLst>
        </c:ser>
        <c:ser>
          <c:idx val="2"/>
          <c:order val="2"/>
          <c:tx>
            <c:strRef>
              <c:f>'F-QDriver'!$E$29</c:f>
              <c:strCache>
                <c:ptCount val="1"/>
                <c:pt idx="0">
                  <c:v>Down</c:v>
                </c:pt>
              </c:strCache>
            </c:strRef>
          </c:tx>
          <c:spPr>
            <a:solidFill>
              <a:schemeClr val="bg1">
                <a:lumMod val="85000"/>
              </a:schemeClr>
            </a:solidFill>
          </c:spPr>
          <c:invertIfNegative val="0"/>
          <c:cat>
            <c:strRef>
              <c:f>'F-QDriver'!$B$30:$B$37</c:f>
              <c:strCache>
                <c:ptCount val="7"/>
                <c:pt idx="1">
                  <c:v>2024</c:v>
                </c:pt>
                <c:pt idx="2">
                  <c:v>Sales</c:v>
                </c:pt>
                <c:pt idx="3">
                  <c:v>Gross Margin</c:v>
                </c:pt>
                <c:pt idx="4">
                  <c:v>SG&amp;A, R&amp;D, and other</c:v>
                </c:pt>
                <c:pt idx="5">
                  <c:v>Other</c:v>
                </c:pt>
                <c:pt idx="6">
                  <c:v>2025</c:v>
                </c:pt>
              </c:strCache>
            </c:strRef>
          </c:cat>
          <c:val>
            <c:numRef>
              <c:f>'F-QDriver'!$E$30:$E$37</c:f>
              <c:numCache>
                <c:formatCode>General</c:formatCode>
                <c:ptCount val="8"/>
                <c:pt idx="2" formatCode="&quot;$&quot;#,##0.00_);\(&quot;$&quot;#,##0.00\)">
                  <c:v>0</c:v>
                </c:pt>
                <c:pt idx="3" formatCode="&quot;$&quot;#,##0.00_);\(&quot;$&quot;#,##0.00\)">
                  <c:v>0</c:v>
                </c:pt>
                <c:pt idx="4" formatCode="&quot;$&quot;#,##0.00_);\(&quot;$&quot;#,##0.00\)">
                  <c:v>0</c:v>
                </c:pt>
                <c:pt idx="5" formatCode="&quot;$&quot;#,##0.00_);\(&quot;$&quot;#,##0.00\)">
                  <c:v>2.025108291421569</c:v>
                </c:pt>
              </c:numCache>
            </c:numRef>
          </c:val>
          <c:extLst>
            <c:ext xmlns:c16="http://schemas.microsoft.com/office/drawing/2014/chart" uri="{C3380CC4-5D6E-409C-BE32-E72D297353CC}">
              <c16:uniqueId val="{0000000E-A922-44F5-BDA8-0AB4142508B6}"/>
            </c:ext>
          </c:extLst>
        </c:ser>
        <c:ser>
          <c:idx val="3"/>
          <c:order val="3"/>
          <c:tx>
            <c:strRef>
              <c:f>'F-QDriver'!$F$29</c:f>
              <c:strCache>
                <c:ptCount val="1"/>
                <c:pt idx="0">
                  <c:v>Up</c:v>
                </c:pt>
              </c:strCache>
            </c:strRef>
          </c:tx>
          <c:spPr>
            <a:solidFill>
              <a:schemeClr val="tx1"/>
            </a:solidFill>
          </c:spPr>
          <c:invertIfNegative val="0"/>
          <c:cat>
            <c:strRef>
              <c:f>'F-QDriver'!$B$30:$B$37</c:f>
              <c:strCache>
                <c:ptCount val="7"/>
                <c:pt idx="1">
                  <c:v>2024</c:v>
                </c:pt>
                <c:pt idx="2">
                  <c:v>Sales</c:v>
                </c:pt>
                <c:pt idx="3">
                  <c:v>Gross Margin</c:v>
                </c:pt>
                <c:pt idx="4">
                  <c:v>SG&amp;A, R&amp;D, and other</c:v>
                </c:pt>
                <c:pt idx="5">
                  <c:v>Other</c:v>
                </c:pt>
                <c:pt idx="6">
                  <c:v>2025</c:v>
                </c:pt>
              </c:strCache>
            </c:strRef>
          </c:cat>
          <c:val>
            <c:numRef>
              <c:f>'F-QDriver'!$F$30:$F$37</c:f>
              <c:numCache>
                <c:formatCode>General</c:formatCode>
                <c:ptCount val="8"/>
                <c:pt idx="1">
                  <c:v>0</c:v>
                </c:pt>
                <c:pt idx="2" formatCode="&quot;$&quot;#,##0.00_);\(&quot;$&quot;#,##0.00\)">
                  <c:v>9.5988088235294811E-3</c:v>
                </c:pt>
                <c:pt idx="3" formatCode="&quot;$&quot;#,##0.00_);\(&quot;$&quot;#,##0.00\)">
                  <c:v>0.15614576414706005</c:v>
                </c:pt>
                <c:pt idx="4" formatCode="&quot;$&quot;#,##0.00_);\(&quot;$&quot;#,##0.00\)">
                  <c:v>4.0414896590147054</c:v>
                </c:pt>
                <c:pt idx="5" formatCode="&quot;$&quot;#,##0.00_);\(&quot;$&quot;#,##0.00\)">
                  <c:v>0</c:v>
                </c:pt>
              </c:numCache>
            </c:numRef>
          </c:val>
          <c:extLst>
            <c:ext xmlns:c16="http://schemas.microsoft.com/office/drawing/2014/chart" uri="{C3380CC4-5D6E-409C-BE32-E72D297353CC}">
              <c16:uniqueId val="{0000000F-A922-44F5-BDA8-0AB4142508B6}"/>
            </c:ext>
          </c:extLst>
        </c:ser>
        <c:ser>
          <c:idx val="4"/>
          <c:order val="4"/>
          <c:tx>
            <c:strRef>
              <c:f>'F-QDriver'!$G$29</c:f>
              <c:strCache>
                <c:ptCount val="1"/>
                <c:pt idx="0">
                  <c:v>Start</c:v>
                </c:pt>
              </c:strCache>
            </c:strRef>
          </c:tx>
          <c:spPr>
            <a:solidFill>
              <a:srgbClr val="F2C755"/>
            </a:solidFill>
            <a:ln>
              <a:solidFill>
                <a:srgbClr val="F2C755"/>
              </a:solidFill>
            </a:ln>
          </c:spPr>
          <c:invertIfNegative val="0"/>
          <c:dLbls>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A922-44F5-BDA8-0AB4142508B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'F-QDriver'!$B$30:$B$37</c:f>
              <c:strCache>
                <c:ptCount val="7"/>
                <c:pt idx="1">
                  <c:v>2024</c:v>
                </c:pt>
                <c:pt idx="2">
                  <c:v>Sales</c:v>
                </c:pt>
                <c:pt idx="3">
                  <c:v>Gross Margin</c:v>
                </c:pt>
                <c:pt idx="4">
                  <c:v>SG&amp;A, R&amp;D, and other</c:v>
                </c:pt>
                <c:pt idx="5">
                  <c:v>Other</c:v>
                </c:pt>
                <c:pt idx="6">
                  <c:v>2025</c:v>
                </c:pt>
              </c:strCache>
            </c:strRef>
          </c:cat>
          <c:val>
            <c:numRef>
              <c:f>'F-QDriver'!$G$30:$G$37</c:f>
              <c:numCache>
                <c:formatCode>"$"#,##0.00_);\("$"#,##0.00\)</c:formatCode>
                <c:ptCount val="8"/>
                <c:pt idx="1">
                  <c:v>-1.3264705882352943</c:v>
                </c:pt>
              </c:numCache>
            </c:numRef>
          </c:val>
          <c:extLst>
            <c:ext xmlns:c16="http://schemas.microsoft.com/office/drawing/2014/chart" uri="{C3380CC4-5D6E-409C-BE32-E72D297353CC}">
              <c16:uniqueId val="{00000011-A922-44F5-BDA8-0AB4142508B6}"/>
            </c:ext>
          </c:extLst>
        </c:ser>
        <c:dLbls>
          <c:showLegendKey val="0"/>
          <c:showVal val="0"/>
          <c:showCatName val="0"/>
          <c:showSerName val="0"/>
          <c:showPercent val="0"/>
          <c:showBubbleSize val="0"/>
        </c:dLbls>
        <c:gapWidth val="31"/>
        <c:overlap val="100"/>
        <c:axId val="855233976"/>
        <c:axId val="855234368"/>
      </c:barChart>
      <c:catAx>
        <c:axId val="855233976"/>
        <c:scaling>
          <c:orientation val="minMax"/>
        </c:scaling>
        <c:delete val="0"/>
        <c:axPos val="b"/>
        <c:numFmt formatCode="General" sourceLinked="0"/>
        <c:majorTickMark val="out"/>
        <c:minorTickMark val="none"/>
        <c:tickLblPos val="low"/>
        <c:txPr>
          <a:bodyPr rot="-5400000" vert="horz"/>
          <a:lstStyle/>
          <a:p>
            <a:pPr algn="ctr" rtl="0">
              <a:defRPr/>
            </a:pPr>
            <a:endParaRPr lang="en-US"/>
          </a:p>
        </c:txPr>
        <c:crossAx val="855234368"/>
        <c:crosses val="autoZero"/>
        <c:auto val="1"/>
        <c:lblAlgn val="ctr"/>
        <c:lblOffset val="100"/>
        <c:noMultiLvlLbl val="0"/>
      </c:catAx>
      <c:valAx>
        <c:axId val="855234368"/>
        <c:scaling>
          <c:orientation val="minMax"/>
        </c:scaling>
        <c:delete val="0"/>
        <c:axPos val="l"/>
        <c:majorGridlines/>
        <c:numFmt formatCode="&quot;$&quot;#,##0_);\(&quot;$&quot;#,##0\)" sourceLinked="0"/>
        <c:majorTickMark val="none"/>
        <c:minorTickMark val="none"/>
        <c:tickLblPos val="nextTo"/>
        <c:crossAx val="855233976"/>
        <c:crosses val="autoZero"/>
        <c:crossBetween val="between"/>
      </c:valAx>
      <c:spPr>
        <a:ln w="28575">
          <a:solidFill>
            <a:schemeClr val="tx1"/>
          </a:solidFill>
        </a:ln>
      </c:spPr>
    </c:plotArea>
    <c:plotVisOnly val="1"/>
    <c:dispBlanksAs val="gap"/>
    <c:showDLblsOverMax val="0"/>
  </c:chart>
  <c:spPr>
    <a:ln w="28575">
      <a:solidFill>
        <a:schemeClr val="tx1"/>
      </a:solidFill>
    </a:ln>
  </c:spPr>
  <c:txPr>
    <a:bodyPr/>
    <a:lstStyle/>
    <a:p>
      <a:pPr>
        <a:defRPr lang="en-US" sz="1000" kern="12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378951316342567"/>
          <c:y val="8.3385562899816371E-2"/>
          <c:w val="0.86008164361709039"/>
          <c:h val="0.46261378432245387"/>
        </c:manualLayout>
      </c:layout>
      <c:barChart>
        <c:barDir val="col"/>
        <c:grouping val="stacked"/>
        <c:varyColors val="0"/>
        <c:ser>
          <c:idx val="0"/>
          <c:order val="0"/>
          <c:tx>
            <c:strRef>
              <c:f>'F-QDriver'!$K$29</c:f>
              <c:strCache>
                <c:ptCount val="1"/>
                <c:pt idx="0">
                  <c:v>Base</c:v>
                </c:pt>
              </c:strCache>
            </c:strRef>
          </c:tx>
          <c:spPr>
            <a:noFill/>
            <a:ln>
              <a:noFill/>
            </a:ln>
          </c:spPr>
          <c:invertIfNegative val="0"/>
          <c:dPt>
            <c:idx val="2"/>
            <c:invertIfNegative val="0"/>
            <c:bubble3D val="0"/>
            <c:spPr>
              <a:solidFill>
                <a:srgbClr val="FFECC5"/>
              </a:solidFill>
              <a:ln>
                <a:noFill/>
              </a:ln>
            </c:spPr>
            <c:extLst>
              <c:ext xmlns:c16="http://schemas.microsoft.com/office/drawing/2014/chart" uri="{C3380CC4-5D6E-409C-BE32-E72D297353CC}">
                <c16:uniqueId val="{00000001-6B09-441F-A025-2FD49345D535}"/>
              </c:ext>
            </c:extLst>
          </c:dPt>
          <c:dPt>
            <c:idx val="3"/>
            <c:invertIfNegative val="0"/>
            <c:bubble3D val="0"/>
            <c:spPr>
              <a:solidFill>
                <a:srgbClr val="FFECC5"/>
              </a:solidFill>
              <a:ln>
                <a:noFill/>
              </a:ln>
            </c:spPr>
            <c:extLst>
              <c:ext xmlns:c16="http://schemas.microsoft.com/office/drawing/2014/chart" uri="{C3380CC4-5D6E-409C-BE32-E72D297353CC}">
                <c16:uniqueId val="{00000003-6B09-441F-A025-2FD49345D535}"/>
              </c:ext>
            </c:extLst>
          </c:dPt>
          <c:dPt>
            <c:idx val="4"/>
            <c:invertIfNegative val="0"/>
            <c:bubble3D val="0"/>
            <c:spPr>
              <a:solidFill>
                <a:srgbClr val="FFECC5"/>
              </a:solidFill>
              <a:ln>
                <a:noFill/>
              </a:ln>
            </c:spPr>
            <c:extLst>
              <c:ext xmlns:c16="http://schemas.microsoft.com/office/drawing/2014/chart" uri="{C3380CC4-5D6E-409C-BE32-E72D297353CC}">
                <c16:uniqueId val="{00000005-6B09-441F-A025-2FD49345D535}"/>
              </c:ext>
            </c:extLst>
          </c:dPt>
          <c:dPt>
            <c:idx val="5"/>
            <c:invertIfNegative val="0"/>
            <c:bubble3D val="0"/>
            <c:spPr>
              <a:solidFill>
                <a:srgbClr val="FFECC5"/>
              </a:solidFill>
              <a:ln>
                <a:noFill/>
              </a:ln>
            </c:spPr>
            <c:extLst>
              <c:ext xmlns:c16="http://schemas.microsoft.com/office/drawing/2014/chart" uri="{C3380CC4-5D6E-409C-BE32-E72D297353CC}">
                <c16:uniqueId val="{00000007-6B09-441F-A025-2FD49345D535}"/>
              </c:ext>
            </c:extLst>
          </c:dPt>
          <c:dLbls>
            <c:dLbl>
              <c:idx val="0"/>
              <c:delete val="1"/>
              <c:extLst>
                <c:ext xmlns:c15="http://schemas.microsoft.com/office/drawing/2012/chart" uri="{CE6537A1-D6FC-4f65-9D91-7224C49458BB}"/>
                <c:ext xmlns:c16="http://schemas.microsoft.com/office/drawing/2014/chart" uri="{C3380CC4-5D6E-409C-BE32-E72D297353CC}">
                  <c16:uniqueId val="{00000008-6B09-441F-A025-2FD49345D535}"/>
                </c:ext>
              </c:extLst>
            </c:dLbl>
            <c:dLbl>
              <c:idx val="7"/>
              <c:delete val="1"/>
              <c:extLst>
                <c:ext xmlns:c15="http://schemas.microsoft.com/office/drawing/2012/chart" uri="{CE6537A1-D6FC-4f65-9D91-7224C49458BB}"/>
                <c:ext xmlns:c16="http://schemas.microsoft.com/office/drawing/2014/chart" uri="{C3380CC4-5D6E-409C-BE32-E72D297353CC}">
                  <c16:uniqueId val="{0000000A-6B09-441F-A025-2FD49345D535}"/>
                </c:ext>
              </c:extLst>
            </c:dLbl>
            <c:dLbl>
              <c:idx val="8"/>
              <c:delete val="1"/>
              <c:extLst>
                <c:ext xmlns:c15="http://schemas.microsoft.com/office/drawing/2012/chart" uri="{CE6537A1-D6FC-4f65-9D91-7224C49458BB}"/>
                <c:ext xmlns:c16="http://schemas.microsoft.com/office/drawing/2014/chart" uri="{C3380CC4-5D6E-409C-BE32-E72D297353CC}">
                  <c16:uniqueId val="{0000000B-6B09-441F-A025-2FD49345D535}"/>
                </c:ext>
              </c:extLst>
            </c:dLbl>
            <c:spPr>
              <a:noFill/>
              <a:ln>
                <a:noFill/>
              </a:ln>
              <a:effectLst/>
            </c:spPr>
            <c:txPr>
              <a:bodyPr rot="5400000" vert="horz"/>
              <a:lstStyle/>
              <a:p>
                <a:pPr>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'F-QDriver'!$J$30:$J$37</c:f>
              <c:strCache>
                <c:ptCount val="7"/>
                <c:pt idx="1">
                  <c:v>2025</c:v>
                </c:pt>
                <c:pt idx="2">
                  <c:v>Sales</c:v>
                </c:pt>
                <c:pt idx="3">
                  <c:v>Gross Margin</c:v>
                </c:pt>
                <c:pt idx="4">
                  <c:v>SG&amp;A and other</c:v>
                </c:pt>
                <c:pt idx="5">
                  <c:v>Other</c:v>
                </c:pt>
                <c:pt idx="6">
                  <c:v>2026</c:v>
                </c:pt>
              </c:strCache>
            </c:strRef>
          </c:cat>
          <c:val>
            <c:numRef>
              <c:f>'F-QDriver'!$K$30:$K$37</c:f>
              <c:numCache>
                <c:formatCode>General</c:formatCode>
                <c:ptCount val="8"/>
                <c:pt idx="0" formatCode="&quot;$&quot;#,##0.00_);\(&quot;$&quot;#,##0.00\)">
                  <c:v>0.85565535232843148</c:v>
                </c:pt>
                <c:pt idx="2" formatCode="&quot;$&quot;#,##0.00_);\(&quot;$&quot;#,##0.00\)">
                  <c:v>0.85565535232843148</c:v>
                </c:pt>
                <c:pt idx="3" formatCode="&quot;$&quot;#,##0.00_);\(&quot;$&quot;#,##0.00\)">
                  <c:v>0.87750103931678924</c:v>
                </c:pt>
                <c:pt idx="4" formatCode="&quot;$&quot;#,##0.00_);\(&quot;$&quot;#,##0.00\)">
                  <c:v>1.2055542715019609</c:v>
                </c:pt>
                <c:pt idx="5" formatCode="&quot;$&quot;#,##0.00_);\(&quot;$&quot;#,##0.00\)">
                  <c:v>1.2055542715019609</c:v>
                </c:pt>
                <c:pt idx="7" formatCode="&quot;$&quot;#,##0.00_);\(&quot;$&quot;#,##0.00\)">
                  <c:v>1.2055542715019609</c:v>
                </c:pt>
              </c:numCache>
            </c:numRef>
          </c:val>
          <c:extLst>
            <c:ext xmlns:c16="http://schemas.microsoft.com/office/drawing/2014/chart" uri="{C3380CC4-5D6E-409C-BE32-E72D297353CC}">
              <c16:uniqueId val="{0000000C-6B09-441F-A025-2FD49345D535}"/>
            </c:ext>
          </c:extLst>
        </c:ser>
        <c:ser>
          <c:idx val="1"/>
          <c:order val="1"/>
          <c:tx>
            <c:strRef>
              <c:f>'F-QDriver'!$L$29</c:f>
              <c:strCache>
                <c:ptCount val="1"/>
                <c:pt idx="0">
                  <c:v>End</c:v>
                </c:pt>
              </c:strCache>
            </c:strRef>
          </c:tx>
          <c:spPr>
            <a:solidFill>
              <a:srgbClr val="F2C755"/>
            </a:solidFill>
            <a:ln>
              <a:solidFill>
                <a:srgbClr val="F2C755"/>
              </a:solidFill>
            </a:ln>
          </c:spPr>
          <c:invertIfNegative val="0"/>
          <c:dLbls>
            <c:spPr>
              <a:noFill/>
              <a:ln>
                <a:noFill/>
              </a:ln>
              <a:effectLst/>
            </c:sp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'F-QDriver'!$J$30:$J$37</c:f>
              <c:strCache>
                <c:ptCount val="7"/>
                <c:pt idx="1">
                  <c:v>2025</c:v>
                </c:pt>
                <c:pt idx="2">
                  <c:v>Sales</c:v>
                </c:pt>
                <c:pt idx="3">
                  <c:v>Gross Margin</c:v>
                </c:pt>
                <c:pt idx="4">
                  <c:v>SG&amp;A and other</c:v>
                </c:pt>
                <c:pt idx="5">
                  <c:v>Other</c:v>
                </c:pt>
                <c:pt idx="6">
                  <c:v>2026</c:v>
                </c:pt>
              </c:strCache>
            </c:strRef>
          </c:cat>
          <c:val>
            <c:numRef>
              <c:f>'F-QDriver'!$L$30:$L$37</c:f>
              <c:numCache>
                <c:formatCode>General</c:formatCode>
                <c:ptCount val="8"/>
                <c:pt idx="6" formatCode="&quot;$&quot;#,##0.00_);\(&quot;$&quot;#,##0.00\)">
                  <c:v>1.2055542715019609</c:v>
                </c:pt>
              </c:numCache>
            </c:numRef>
          </c:val>
          <c:extLst>
            <c:ext xmlns:c16="http://schemas.microsoft.com/office/drawing/2014/chart" uri="{C3380CC4-5D6E-409C-BE32-E72D297353CC}">
              <c16:uniqueId val="{0000000D-6B09-441F-A025-2FD49345D535}"/>
            </c:ext>
          </c:extLst>
        </c:ser>
        <c:ser>
          <c:idx val="2"/>
          <c:order val="2"/>
          <c:tx>
            <c:strRef>
              <c:f>'F-QDriver'!$M$29</c:f>
              <c:strCache>
                <c:ptCount val="1"/>
                <c:pt idx="0">
                  <c:v>Down</c:v>
                </c:pt>
              </c:strCache>
            </c:strRef>
          </c:tx>
          <c:spPr>
            <a:solidFill>
              <a:schemeClr val="bg1">
                <a:lumMod val="85000"/>
              </a:schemeClr>
            </a:solidFill>
          </c:spPr>
          <c:invertIfNegative val="0"/>
          <c:cat>
            <c:strRef>
              <c:f>'F-QDriver'!$J$30:$J$37</c:f>
              <c:strCache>
                <c:ptCount val="7"/>
                <c:pt idx="1">
                  <c:v>2025</c:v>
                </c:pt>
                <c:pt idx="2">
                  <c:v>Sales</c:v>
                </c:pt>
                <c:pt idx="3">
                  <c:v>Gross Margin</c:v>
                </c:pt>
                <c:pt idx="4">
                  <c:v>SG&amp;A and other</c:v>
                </c:pt>
                <c:pt idx="5">
                  <c:v>Other</c:v>
                </c:pt>
                <c:pt idx="6">
                  <c:v>2026</c:v>
                </c:pt>
              </c:strCache>
            </c:strRef>
          </c:cat>
          <c:val>
            <c:numRef>
              <c:f>'F-QDriver'!$M$30:$M$37</c:f>
              <c:numCache>
                <c:formatCode>General</c:formatCode>
                <c:ptCount val="8"/>
                <c:pt idx="2" formatCode="&quot;$&quot;#,##0.00_);\(&quot;$&quot;#,##0.00\)">
                  <c:v>0</c:v>
                </c:pt>
                <c:pt idx="3" formatCode="&quot;$&quot;#,##0.00_);\(&quot;$&quot;#,##0.00\)">
                  <c:v>0</c:v>
                </c:pt>
                <c:pt idx="4" formatCode="&quot;$&quot;#,##0.00_);\(&quot;$&quot;#,##0.00\)">
                  <c:v>0</c:v>
                </c:pt>
                <c:pt idx="5" formatCode="&quot;$&quot;#,##0.00_);\(&quot;$&quot;#,##0.00\)">
                  <c:v>0</c:v>
                </c:pt>
              </c:numCache>
            </c:numRef>
          </c:val>
          <c:extLst>
            <c:ext xmlns:c16="http://schemas.microsoft.com/office/drawing/2014/chart" uri="{C3380CC4-5D6E-409C-BE32-E72D297353CC}">
              <c16:uniqueId val="{0000000E-6B09-441F-A025-2FD49345D535}"/>
            </c:ext>
          </c:extLst>
        </c:ser>
        <c:ser>
          <c:idx val="3"/>
          <c:order val="3"/>
          <c:tx>
            <c:strRef>
              <c:f>'F-QDriver'!$N$29</c:f>
              <c:strCache>
                <c:ptCount val="1"/>
                <c:pt idx="0">
                  <c:v>Up</c:v>
                </c:pt>
              </c:strCache>
            </c:strRef>
          </c:tx>
          <c:spPr>
            <a:solidFill>
              <a:schemeClr val="tx1"/>
            </a:solidFill>
          </c:spPr>
          <c:invertIfNegative val="0"/>
          <c:cat>
            <c:strRef>
              <c:f>'F-QDriver'!$J$30:$J$37</c:f>
              <c:strCache>
                <c:ptCount val="7"/>
                <c:pt idx="1">
                  <c:v>2025</c:v>
                </c:pt>
                <c:pt idx="2">
                  <c:v>Sales</c:v>
                </c:pt>
                <c:pt idx="3">
                  <c:v>Gross Margin</c:v>
                </c:pt>
                <c:pt idx="4">
                  <c:v>SG&amp;A and other</c:v>
                </c:pt>
                <c:pt idx="5">
                  <c:v>Other</c:v>
                </c:pt>
                <c:pt idx="6">
                  <c:v>2026</c:v>
                </c:pt>
              </c:strCache>
            </c:strRef>
          </c:cat>
          <c:val>
            <c:numRef>
              <c:f>'F-QDriver'!$N$30:$N$37</c:f>
              <c:numCache>
                <c:formatCode>General</c:formatCode>
                <c:ptCount val="8"/>
                <c:pt idx="1">
                  <c:v>0</c:v>
                </c:pt>
                <c:pt idx="2" formatCode="&quot;$&quot;#,##0.00_);\(&quot;$&quot;#,##0.00\)">
                  <c:v>2.184568698835776E-2</c:v>
                </c:pt>
                <c:pt idx="3" formatCode="&quot;$&quot;#,##0.00_);\(&quot;$&quot;#,##0.00\)">
                  <c:v>0</c:v>
                </c:pt>
                <c:pt idx="4" formatCode="&quot;$&quot;#,##0.00_);\(&quot;$&quot;#,##0.00\)">
                  <c:v>0.32805323218517168</c:v>
                </c:pt>
                <c:pt idx="5" formatCode="&quot;$&quot;#,##0.00_);\(&quot;$&quot;#,##0.00\)">
                  <c:v>0</c:v>
                </c:pt>
              </c:numCache>
            </c:numRef>
          </c:val>
          <c:extLst>
            <c:ext xmlns:c16="http://schemas.microsoft.com/office/drawing/2014/chart" uri="{C3380CC4-5D6E-409C-BE32-E72D297353CC}">
              <c16:uniqueId val="{0000000F-6B09-441F-A025-2FD49345D535}"/>
            </c:ext>
          </c:extLst>
        </c:ser>
        <c:ser>
          <c:idx val="4"/>
          <c:order val="4"/>
          <c:tx>
            <c:strRef>
              <c:f>'F-QDriver'!$O$29</c:f>
              <c:strCache>
                <c:ptCount val="1"/>
                <c:pt idx="0">
                  <c:v>Start</c:v>
                </c:pt>
              </c:strCache>
            </c:strRef>
          </c:tx>
          <c:spPr>
            <a:solidFill>
              <a:srgbClr val="F2C755"/>
            </a:solidFill>
            <a:ln>
              <a:solidFill>
                <a:srgbClr val="F2C755"/>
              </a:solidFill>
            </a:ln>
          </c:spPr>
          <c:invertIfNegative val="0"/>
          <c:dLbls>
            <c:dLbl>
              <c:idx val="1"/>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6B09-441F-A025-2FD49345D53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'F-QDriver'!$J$30:$J$37</c:f>
              <c:strCache>
                <c:ptCount val="7"/>
                <c:pt idx="1">
                  <c:v>2025</c:v>
                </c:pt>
                <c:pt idx="2">
                  <c:v>Sales</c:v>
                </c:pt>
                <c:pt idx="3">
                  <c:v>Gross Margin</c:v>
                </c:pt>
                <c:pt idx="4">
                  <c:v>SG&amp;A and other</c:v>
                </c:pt>
                <c:pt idx="5">
                  <c:v>Other</c:v>
                </c:pt>
                <c:pt idx="6">
                  <c:v>2026</c:v>
                </c:pt>
              </c:strCache>
            </c:strRef>
          </c:cat>
          <c:val>
            <c:numRef>
              <c:f>'F-QDriver'!$O$30:$O$37</c:f>
              <c:numCache>
                <c:formatCode>"$"#,##0.00_);\("$"#,##0.00\)</c:formatCode>
                <c:ptCount val="8"/>
                <c:pt idx="1">
                  <c:v>0.85565535232843148</c:v>
                </c:pt>
              </c:numCache>
            </c:numRef>
          </c:val>
          <c:extLst>
            <c:ext xmlns:c16="http://schemas.microsoft.com/office/drawing/2014/chart" uri="{C3380CC4-5D6E-409C-BE32-E72D297353CC}">
              <c16:uniqueId val="{00000011-6B09-441F-A025-2FD49345D535}"/>
            </c:ext>
          </c:extLst>
        </c:ser>
        <c:dLbls>
          <c:showLegendKey val="0"/>
          <c:showVal val="0"/>
          <c:showCatName val="0"/>
          <c:showSerName val="0"/>
          <c:showPercent val="0"/>
          <c:showBubbleSize val="0"/>
        </c:dLbls>
        <c:gapWidth val="30"/>
        <c:overlap val="100"/>
        <c:axId val="855236328"/>
        <c:axId val="855233192"/>
      </c:barChart>
      <c:catAx>
        <c:axId val="855236328"/>
        <c:scaling>
          <c:orientation val="minMax"/>
        </c:scaling>
        <c:delete val="0"/>
        <c:axPos val="b"/>
        <c:numFmt formatCode="General" sourceLinked="0"/>
        <c:majorTickMark val="none"/>
        <c:minorTickMark val="none"/>
        <c:tickLblPos val="low"/>
        <c:txPr>
          <a:bodyPr rot="-5400000" vert="horz"/>
          <a:lstStyle/>
          <a:p>
            <a:pPr algn="ctr" rtl="0">
              <a:defRPr/>
            </a:pPr>
            <a:endParaRPr lang="en-US"/>
          </a:p>
        </c:txPr>
        <c:crossAx val="855233192"/>
        <c:crosses val="autoZero"/>
        <c:auto val="1"/>
        <c:lblAlgn val="ctr"/>
        <c:lblOffset val="100"/>
        <c:noMultiLvlLbl val="0"/>
      </c:catAx>
      <c:valAx>
        <c:axId val="855233192"/>
        <c:scaling>
          <c:orientation val="minMax"/>
        </c:scaling>
        <c:delete val="0"/>
        <c:axPos val="l"/>
        <c:majorGridlines/>
        <c:numFmt formatCode="&quot;$&quot;#,##0.0_);\(&quot;$&quot;#,##0.0\)" sourceLinked="0"/>
        <c:majorTickMark val="none"/>
        <c:minorTickMark val="none"/>
        <c:tickLblPos val="nextTo"/>
        <c:crossAx val="855236328"/>
        <c:crosses val="autoZero"/>
        <c:crossBetween val="between"/>
      </c:valAx>
      <c:spPr>
        <a:ln w="28575">
          <a:solidFill>
            <a:schemeClr val="tx1"/>
          </a:solidFill>
        </a:ln>
      </c:spPr>
    </c:plotArea>
    <c:plotVisOnly val="1"/>
    <c:dispBlanksAs val="gap"/>
    <c:showDLblsOverMax val="0"/>
  </c:chart>
  <c:spPr>
    <a:ln w="28575">
      <a:solidFill>
        <a:srgbClr val="000000"/>
      </a:solidFill>
    </a:ln>
  </c:spPr>
  <c:txPr>
    <a:bodyPr/>
    <a:lstStyle/>
    <a:p>
      <a:pPr>
        <a:defRPr lang="en-US" sz="1000" kern="12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894547444343851"/>
          <c:y val="5.2922697300211513E-2"/>
          <c:w val="0.77232874480619418"/>
          <c:h val="0.48716460000829437"/>
        </c:manualLayout>
      </c:layout>
      <c:barChart>
        <c:barDir val="col"/>
        <c:grouping val="stacked"/>
        <c:varyColors val="0"/>
        <c:ser>
          <c:idx val="0"/>
          <c:order val="0"/>
          <c:tx>
            <c:strRef>
              <c:f>'F-QDriver'!$A$109</c:f>
              <c:strCache>
                <c:ptCount val="1"/>
                <c:pt idx="0">
                  <c:v>Sales growth</c:v>
                </c:pt>
              </c:strCache>
            </c:strRef>
          </c:tx>
          <c:spPr>
            <a:solidFill>
              <a:srgbClr val="FFC000"/>
            </a:solidFill>
            <a:ln>
              <a:solidFill>
                <a:srgbClr val="FFC000"/>
              </a:solidFill>
            </a:ln>
          </c:spPr>
          <c:invertIfNegative val="0"/>
          <c:cat>
            <c:numRef>
              <c:f>'F-QDriver'!$D$81:$H$81</c:f>
              <c:numCache>
                <c:formatCode>[$-409]mmm\-yy;@</c:formatCode>
                <c:ptCount val="5"/>
                <c:pt idx="0">
                  <c:v>44833</c:v>
                </c:pt>
                <c:pt idx="1">
                  <c:v>45199</c:v>
                </c:pt>
                <c:pt idx="2">
                  <c:v>45565</c:v>
                </c:pt>
                <c:pt idx="3">
                  <c:v>45930</c:v>
                </c:pt>
                <c:pt idx="4">
                  <c:v>46295</c:v>
                </c:pt>
              </c:numCache>
            </c:numRef>
          </c:cat>
          <c:val>
            <c:numRef>
              <c:f>'F-QDriver'!$D$109:$H$109</c:f>
              <c:numCache>
                <c:formatCode>"$"#,##0.00_);\("$"#,##0.00\)</c:formatCode>
                <c:ptCount val="5"/>
                <c:pt idx="0">
                  <c:v>-0.16906449195619899</c:v>
                </c:pt>
                <c:pt idx="1">
                  <c:v>-1.2017256225152368</c:v>
                </c:pt>
                <c:pt idx="2">
                  <c:v>-0.65825064965745361</c:v>
                </c:pt>
                <c:pt idx="3">
                  <c:v>1.1297251887810138</c:v>
                </c:pt>
                <c:pt idx="4">
                  <c:v>6.7836606963847967E-2</c:v>
                </c:pt>
              </c:numCache>
            </c:numRef>
          </c:val>
          <c:extLst>
            <c:ext xmlns:c16="http://schemas.microsoft.com/office/drawing/2014/chart" uri="{C3380CC4-5D6E-409C-BE32-E72D297353CC}">
              <c16:uniqueId val="{00000000-7DF4-433B-B097-C57F35E9B8B5}"/>
            </c:ext>
          </c:extLst>
        </c:ser>
        <c:ser>
          <c:idx val="1"/>
          <c:order val="1"/>
          <c:tx>
            <c:strRef>
              <c:f>'F-QDriver'!$A$110</c:f>
              <c:strCache>
                <c:ptCount val="1"/>
                <c:pt idx="0">
                  <c:v>EBIT margin change</c:v>
                </c:pt>
              </c:strCache>
            </c:strRef>
          </c:tx>
          <c:spPr>
            <a:solidFill>
              <a:schemeClr val="tx1"/>
            </a:solidFill>
            <a:ln>
              <a:solidFill>
                <a:schemeClr val="tx1"/>
              </a:solidFill>
            </a:ln>
          </c:spPr>
          <c:invertIfNegative val="0"/>
          <c:cat>
            <c:numRef>
              <c:f>'F-QDriver'!$D$81:$H$81</c:f>
              <c:numCache>
                <c:formatCode>[$-409]mmm\-yy;@</c:formatCode>
                <c:ptCount val="5"/>
                <c:pt idx="0">
                  <c:v>44833</c:v>
                </c:pt>
                <c:pt idx="1">
                  <c:v>45199</c:v>
                </c:pt>
                <c:pt idx="2">
                  <c:v>45565</c:v>
                </c:pt>
                <c:pt idx="3">
                  <c:v>45930</c:v>
                </c:pt>
                <c:pt idx="4">
                  <c:v>46295</c:v>
                </c:pt>
              </c:numCache>
            </c:numRef>
          </c:cat>
          <c:val>
            <c:numRef>
              <c:f>'F-QDriver'!$D$110:$H$110</c:f>
              <c:numCache>
                <c:formatCode>"$"#,##0.00_);\("$"#,##0.00\)</c:formatCode>
                <c:ptCount val="5"/>
                <c:pt idx="0">
                  <c:v>-3.1864017275195771</c:v>
                </c:pt>
                <c:pt idx="1">
                  <c:v>-3.7596198270982177</c:v>
                </c:pt>
                <c:pt idx="2">
                  <c:v>4.2219761398535329</c:v>
                </c:pt>
                <c:pt idx="3">
                  <c:v>4.416134769417476</c:v>
                </c:pt>
                <c:pt idx="4">
                  <c:v>0.32805323218517168</c:v>
                </c:pt>
              </c:numCache>
            </c:numRef>
          </c:val>
          <c:extLst>
            <c:ext xmlns:c16="http://schemas.microsoft.com/office/drawing/2014/chart" uri="{C3380CC4-5D6E-409C-BE32-E72D297353CC}">
              <c16:uniqueId val="{00000001-7DF4-433B-B097-C57F35E9B8B5}"/>
            </c:ext>
          </c:extLst>
        </c:ser>
        <c:ser>
          <c:idx val="2"/>
          <c:order val="2"/>
          <c:tx>
            <c:strRef>
              <c:f>'F-QDriver'!$A$111</c:f>
              <c:strCache>
                <c:ptCount val="1"/>
                <c:pt idx="0">
                  <c:v>Interest</c:v>
                </c:pt>
              </c:strCache>
            </c:strRef>
          </c:tx>
          <c:spPr>
            <a:solidFill>
              <a:schemeClr val="bg1">
                <a:lumMod val="50000"/>
              </a:schemeClr>
            </a:solidFill>
            <a:ln>
              <a:solidFill>
                <a:schemeClr val="bg1">
                  <a:lumMod val="50000"/>
                </a:schemeClr>
              </a:solidFill>
            </a:ln>
          </c:spPr>
          <c:invertIfNegative val="0"/>
          <c:cat>
            <c:numRef>
              <c:f>'F-QDriver'!$D$81:$H$81</c:f>
              <c:numCache>
                <c:formatCode>[$-409]mmm\-yy;@</c:formatCode>
                <c:ptCount val="5"/>
                <c:pt idx="0">
                  <c:v>44833</c:v>
                </c:pt>
                <c:pt idx="1">
                  <c:v>45199</c:v>
                </c:pt>
                <c:pt idx="2">
                  <c:v>45565</c:v>
                </c:pt>
                <c:pt idx="3">
                  <c:v>45930</c:v>
                </c:pt>
                <c:pt idx="4">
                  <c:v>46295</c:v>
                </c:pt>
              </c:numCache>
            </c:numRef>
          </c:cat>
          <c:val>
            <c:numRef>
              <c:f>'F-QDriver'!$D$111:$H$111</c:f>
              <c:numCache>
                <c:formatCode>"$"#,##0.00_);\("$"#,##0.00\)</c:formatCode>
                <c:ptCount val="5"/>
                <c:pt idx="0">
                  <c:v>-5.6552801451839052E-2</c:v>
                </c:pt>
                <c:pt idx="1">
                  <c:v>0</c:v>
                </c:pt>
                <c:pt idx="2">
                  <c:v>0</c:v>
                </c:pt>
                <c:pt idx="3">
                  <c:v>9.1693635382956273E-2</c:v>
                </c:pt>
                <c:pt idx="4">
                  <c:v>0</c:v>
                </c:pt>
              </c:numCache>
            </c:numRef>
          </c:val>
          <c:extLst>
            <c:ext xmlns:c16="http://schemas.microsoft.com/office/drawing/2014/chart" uri="{C3380CC4-5D6E-409C-BE32-E72D297353CC}">
              <c16:uniqueId val="{00000002-7DF4-433B-B097-C57F35E9B8B5}"/>
            </c:ext>
          </c:extLst>
        </c:ser>
        <c:ser>
          <c:idx val="3"/>
          <c:order val="3"/>
          <c:tx>
            <c:strRef>
              <c:f>'F-QDriver'!$A$112</c:f>
              <c:strCache>
                <c:ptCount val="1"/>
                <c:pt idx="0">
                  <c:v>Taxes</c:v>
                </c:pt>
              </c:strCache>
            </c:strRef>
          </c:tx>
          <c:spPr>
            <a:solidFill>
              <a:schemeClr val="bg1">
                <a:lumMod val="75000"/>
              </a:schemeClr>
            </a:solidFill>
            <a:ln>
              <a:solidFill>
                <a:schemeClr val="bg1">
                  <a:lumMod val="75000"/>
                </a:schemeClr>
              </a:solidFill>
            </a:ln>
          </c:spPr>
          <c:invertIfNegative val="0"/>
          <c:cat>
            <c:numRef>
              <c:f>'F-QDriver'!$D$81:$H$81</c:f>
              <c:numCache>
                <c:formatCode>[$-409]mmm\-yy;@</c:formatCode>
                <c:ptCount val="5"/>
                <c:pt idx="0">
                  <c:v>44833</c:v>
                </c:pt>
                <c:pt idx="1">
                  <c:v>45199</c:v>
                </c:pt>
                <c:pt idx="2">
                  <c:v>45565</c:v>
                </c:pt>
                <c:pt idx="3">
                  <c:v>45930</c:v>
                </c:pt>
                <c:pt idx="4">
                  <c:v>46295</c:v>
                </c:pt>
              </c:numCache>
            </c:numRef>
          </c:cat>
          <c:val>
            <c:numRef>
              <c:f>'F-QDriver'!$D$112:$H$112</c:f>
              <c:numCache>
                <c:formatCode>"$"#,##0.00_);\("$"#,##0.00\)</c:formatCode>
                <c:ptCount val="5"/>
                <c:pt idx="0">
                  <c:v>0.48867709769419587</c:v>
                </c:pt>
                <c:pt idx="1">
                  <c:v>-1.9693476196934769</c:v>
                </c:pt>
                <c:pt idx="2">
                  <c:v>-6.3275905831588304</c:v>
                </c:pt>
                <c:pt idx="3">
                  <c:v>-0.23778059419419062</c:v>
                </c:pt>
                <c:pt idx="4">
                  <c:v>0</c:v>
                </c:pt>
              </c:numCache>
            </c:numRef>
          </c:val>
          <c:extLst>
            <c:ext xmlns:c16="http://schemas.microsoft.com/office/drawing/2014/chart" uri="{C3380CC4-5D6E-409C-BE32-E72D297353CC}">
              <c16:uniqueId val="{00000003-7DF4-433B-B097-C57F35E9B8B5}"/>
            </c:ext>
          </c:extLst>
        </c:ser>
        <c:ser>
          <c:idx val="4"/>
          <c:order val="4"/>
          <c:tx>
            <c:strRef>
              <c:f>'F-QDriver'!$A$113</c:f>
              <c:strCache>
                <c:ptCount val="1"/>
                <c:pt idx="0">
                  <c:v>Other</c:v>
                </c:pt>
              </c:strCache>
            </c:strRef>
          </c:tx>
          <c:spPr>
            <a:solidFill>
              <a:schemeClr val="tx1">
                <a:lumMod val="50000"/>
                <a:lumOff val="50000"/>
              </a:schemeClr>
            </a:solidFill>
            <a:ln>
              <a:solidFill>
                <a:schemeClr val="tx1"/>
              </a:solidFill>
            </a:ln>
          </c:spPr>
          <c:invertIfNegative val="0"/>
          <c:cat>
            <c:numRef>
              <c:f>'F-QDriver'!$D$81:$H$81</c:f>
              <c:numCache>
                <c:formatCode>[$-409]mmm\-yy;@</c:formatCode>
                <c:ptCount val="5"/>
                <c:pt idx="0">
                  <c:v>44833</c:v>
                </c:pt>
                <c:pt idx="1">
                  <c:v>45199</c:v>
                </c:pt>
                <c:pt idx="2">
                  <c:v>45565</c:v>
                </c:pt>
                <c:pt idx="3">
                  <c:v>45930</c:v>
                </c:pt>
                <c:pt idx="4">
                  <c:v>46295</c:v>
                </c:pt>
              </c:numCache>
            </c:numRef>
          </c:cat>
          <c:val>
            <c:numRef>
              <c:f>'F-QDriver'!$D$113:$H$113</c:f>
              <c:numCache>
                <c:formatCode>"$"#,##0.00_);\("$"#,##0.00\)</c:formatCode>
                <c:ptCount val="5"/>
                <c:pt idx="0" formatCode="&quot;$&quot;#,##0.0_);\(&quot;$&quot;#,##0.0\)">
                  <c:v>-1.6158415841584155</c:v>
                </c:pt>
                <c:pt idx="1">
                  <c:v>3.7158415841584165</c:v>
                </c:pt>
                <c:pt idx="2">
                  <c:v>-0.55980392156862768</c:v>
                </c:pt>
                <c:pt idx="3">
                  <c:v>-1.943137254901961</c:v>
                </c:pt>
                <c:pt idx="4">
                  <c:v>0</c:v>
                </c:pt>
              </c:numCache>
            </c:numRef>
          </c:val>
          <c:extLst>
            <c:ext xmlns:c16="http://schemas.microsoft.com/office/drawing/2014/chart" uri="{C3380CC4-5D6E-409C-BE32-E72D297353CC}">
              <c16:uniqueId val="{00000004-7DF4-433B-B097-C57F35E9B8B5}"/>
            </c:ext>
          </c:extLst>
        </c:ser>
        <c:ser>
          <c:idx val="5"/>
          <c:order val="5"/>
          <c:tx>
            <c:strRef>
              <c:f>'F-QDriver'!$A$114</c:f>
              <c:strCache>
                <c:ptCount val="1"/>
                <c:pt idx="0">
                  <c:v>Share change</c:v>
                </c:pt>
              </c:strCache>
            </c:strRef>
          </c:tx>
          <c:spPr>
            <a:solidFill>
              <a:schemeClr val="bg1"/>
            </a:solidFill>
            <a:ln>
              <a:solidFill>
                <a:schemeClr val="tx1"/>
              </a:solidFill>
            </a:ln>
          </c:spPr>
          <c:invertIfNegative val="0"/>
          <c:cat>
            <c:numRef>
              <c:f>'F-QDriver'!$D$81:$H$81</c:f>
              <c:numCache>
                <c:formatCode>[$-409]mmm\-yy;@</c:formatCode>
                <c:ptCount val="5"/>
                <c:pt idx="0">
                  <c:v>44833</c:v>
                </c:pt>
                <c:pt idx="1">
                  <c:v>45199</c:v>
                </c:pt>
                <c:pt idx="2">
                  <c:v>45565</c:v>
                </c:pt>
                <c:pt idx="3">
                  <c:v>45930</c:v>
                </c:pt>
                <c:pt idx="4">
                  <c:v>46295</c:v>
                </c:pt>
              </c:numCache>
            </c:numRef>
          </c:cat>
          <c:val>
            <c:numRef>
              <c:f>'F-QDriver'!$D$114:$H$114</c:f>
              <c:numCache>
                <c:formatCode>"$"#,##0.00_);\("$"#,##0.00\)</c:formatCode>
                <c:ptCount val="5"/>
                <c:pt idx="0">
                  <c:v>0</c:v>
                </c:pt>
                <c:pt idx="1">
                  <c:v>-1.1192001553096187E-2</c:v>
                </c:pt>
                <c:pt idx="2">
                  <c:v>0</c:v>
                </c:pt>
                <c:pt idx="3">
                  <c:v>0</c:v>
                </c:pt>
                <c:pt idx="4">
                  <c:v>0</c:v>
                </c:pt>
              </c:numCache>
            </c:numRef>
          </c:val>
          <c:extLst>
            <c:ext xmlns:c16="http://schemas.microsoft.com/office/drawing/2014/chart" uri="{C3380CC4-5D6E-409C-BE32-E72D297353CC}">
              <c16:uniqueId val="{00000005-7DF4-433B-B097-C57F35E9B8B5}"/>
            </c:ext>
          </c:extLst>
        </c:ser>
        <c:dLbls>
          <c:showLegendKey val="0"/>
          <c:showVal val="0"/>
          <c:showCatName val="0"/>
          <c:showSerName val="0"/>
          <c:showPercent val="0"/>
          <c:showBubbleSize val="0"/>
        </c:dLbls>
        <c:gapWidth val="150"/>
        <c:overlap val="100"/>
        <c:axId val="855230448"/>
        <c:axId val="855237896"/>
      </c:barChart>
      <c:dateAx>
        <c:axId val="855230448"/>
        <c:scaling>
          <c:orientation val="minMax"/>
        </c:scaling>
        <c:delete val="0"/>
        <c:axPos val="b"/>
        <c:numFmt formatCode="yyyy;@" sourceLinked="0"/>
        <c:majorTickMark val="none"/>
        <c:minorTickMark val="none"/>
        <c:tickLblPos val="low"/>
        <c:crossAx val="855237896"/>
        <c:crosses val="autoZero"/>
        <c:auto val="1"/>
        <c:lblOffset val="100"/>
        <c:baseTimeUnit val="years"/>
      </c:dateAx>
      <c:valAx>
        <c:axId val="855237896"/>
        <c:scaling>
          <c:orientation val="minMax"/>
        </c:scaling>
        <c:delete val="0"/>
        <c:axPos val="l"/>
        <c:majorGridlines/>
        <c:numFmt formatCode="&quot;$&quot;#,##0_);\(&quot;$&quot;#,##0\)" sourceLinked="0"/>
        <c:majorTickMark val="none"/>
        <c:minorTickMark val="none"/>
        <c:tickLblPos val="nextTo"/>
        <c:crossAx val="855230448"/>
        <c:crosses val="autoZero"/>
        <c:crossBetween val="between"/>
      </c:valAx>
      <c:spPr>
        <a:ln w="28575">
          <a:solidFill>
            <a:schemeClr val="tx1"/>
          </a:solidFill>
        </a:ln>
      </c:spPr>
    </c:plotArea>
    <c:legend>
      <c:legendPos val="r"/>
      <c:layout>
        <c:manualLayout>
          <c:xMode val="edge"/>
          <c:yMode val="edge"/>
          <c:x val="0"/>
          <c:y val="0.71812058502329312"/>
          <c:w val="0.98383574535505058"/>
          <c:h val="0.27677843210439734"/>
        </c:manualLayout>
      </c:layout>
      <c:overlay val="0"/>
      <c:txPr>
        <a:bodyPr/>
        <a:lstStyle/>
        <a:p>
          <a:pPr>
            <a:defRPr/>
          </a:pPr>
          <a:endParaRPr lang="en-US"/>
        </a:p>
      </c:txPr>
    </c:legend>
    <c:plotVisOnly val="1"/>
    <c:dispBlanksAs val="gap"/>
    <c:showDLblsOverMax val="0"/>
  </c:chart>
  <c:spPr>
    <a:ln w="28575">
      <a:solidFill>
        <a:srgbClr val="000000"/>
      </a:solidFill>
    </a:ln>
  </c:spPr>
  <c:txPr>
    <a:bodyPr/>
    <a:lstStyle/>
    <a:p>
      <a:pPr>
        <a:defRPr lang="en-US" sz="1000" kern="1200">
          <a:solidFill>
            <a:schemeClr val="tx1"/>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manualLayout>
          <c:layoutTarget val="inner"/>
          <c:xMode val="edge"/>
          <c:yMode val="edge"/>
          <c:x val="0.12233632767735018"/>
          <c:y val="5.1400554097404488E-2"/>
          <c:w val="0.81552622823555521"/>
          <c:h val="0.69182699988588381"/>
        </c:manualLayout>
      </c:layout>
      <c:lineChart>
        <c:grouping val="stacked"/>
        <c:varyColors val="0"/>
        <c:ser>
          <c:idx val="1"/>
          <c:order val="0"/>
          <c:tx>
            <c:strRef>
              <c:f>Charts!$J$96</c:f>
              <c:strCache>
                <c:ptCount val="1"/>
                <c:pt idx="0">
                  <c:v>FCFF/share</c:v>
                </c:pt>
              </c:strCache>
            </c:strRef>
          </c:tx>
          <c:spPr>
            <a:ln>
              <a:solidFill>
                <a:sysClr val="windowText" lastClr="000000"/>
              </a:solidFill>
              <a:prstDash val="sysDot"/>
            </a:ln>
          </c:spPr>
          <c:marker>
            <c:symbol val="none"/>
          </c:marker>
          <c:cat>
            <c:numRef>
              <c:f>Charts!$L$89:$Q$89</c:f>
              <c:numCache>
                <c:formatCode>[$-409]mmm\-yy;@</c:formatCode>
                <c:ptCount val="6"/>
                <c:pt idx="0">
                  <c:v>44468</c:v>
                </c:pt>
                <c:pt idx="1">
                  <c:v>44833</c:v>
                </c:pt>
                <c:pt idx="2">
                  <c:v>45199</c:v>
                </c:pt>
                <c:pt idx="3">
                  <c:v>45565</c:v>
                </c:pt>
                <c:pt idx="4">
                  <c:v>45930</c:v>
                </c:pt>
                <c:pt idx="5">
                  <c:v>46295</c:v>
                </c:pt>
              </c:numCache>
            </c:numRef>
          </c:cat>
          <c:val>
            <c:numRef>
              <c:f>Charts!$L$96:$Q$96</c:f>
              <c:numCache>
                <c:formatCode>"$"#,##0.00_);\("$"#,##0.00\)</c:formatCode>
                <c:ptCount val="6"/>
                <c:pt idx="0">
                  <c:v>2.9196848223105367</c:v>
                </c:pt>
                <c:pt idx="1">
                  <c:v>-8.5799538857995401</c:v>
                </c:pt>
                <c:pt idx="2">
                  <c:v>0.29411764705882354</c:v>
                </c:pt>
                <c:pt idx="3">
                  <c:v>0.7098872549019607</c:v>
                </c:pt>
                <c:pt idx="4">
                  <c:v>0.69102204856705651</c:v>
                </c:pt>
                <c:pt idx="5">
                  <c:v>0.98056349363245421</c:v>
                </c:pt>
              </c:numCache>
            </c:numRef>
          </c:val>
          <c:smooth val="0"/>
          <c:extLst>
            <c:ext xmlns:c16="http://schemas.microsoft.com/office/drawing/2014/chart" uri="{C3380CC4-5D6E-409C-BE32-E72D297353CC}">
              <c16:uniqueId val="{00000000-6295-4561-9023-F1BA224D73BF}"/>
            </c:ext>
          </c:extLst>
        </c:ser>
        <c:ser>
          <c:idx val="2"/>
          <c:order val="1"/>
          <c:tx>
            <c:strRef>
              <c:f>Charts!$J$98</c:f>
              <c:strCache>
                <c:ptCount val="1"/>
                <c:pt idx="0">
                  <c:v>FCFE/share</c:v>
                </c:pt>
              </c:strCache>
            </c:strRef>
          </c:tx>
          <c:spPr>
            <a:ln>
              <a:solidFill>
                <a:srgbClr val="F2C755"/>
              </a:solidFill>
            </a:ln>
          </c:spPr>
          <c:marker>
            <c:symbol val="none"/>
          </c:marker>
          <c:cat>
            <c:numRef>
              <c:f>Charts!$L$89:$Q$89</c:f>
              <c:numCache>
                <c:formatCode>[$-409]mmm\-yy;@</c:formatCode>
                <c:ptCount val="6"/>
                <c:pt idx="0">
                  <c:v>44468</c:v>
                </c:pt>
                <c:pt idx="1">
                  <c:v>44833</c:v>
                </c:pt>
                <c:pt idx="2">
                  <c:v>45199</c:v>
                </c:pt>
                <c:pt idx="3">
                  <c:v>45565</c:v>
                </c:pt>
                <c:pt idx="4">
                  <c:v>45930</c:v>
                </c:pt>
                <c:pt idx="5">
                  <c:v>46295</c:v>
                </c:pt>
              </c:numCache>
            </c:numRef>
          </c:cat>
          <c:val>
            <c:numRef>
              <c:f>Charts!$L$98:$Q$98</c:f>
              <c:numCache>
                <c:formatCode>"$"#,##0.00_);\("$"#,##0.00\)</c:formatCode>
                <c:ptCount val="6"/>
                <c:pt idx="0">
                  <c:v>2.9037340321574536</c:v>
                </c:pt>
                <c:pt idx="1">
                  <c:v>-8.6599755865997583</c:v>
                </c:pt>
                <c:pt idx="2">
                  <c:v>0.39215686274509809</c:v>
                </c:pt>
                <c:pt idx="3">
                  <c:v>0.62273039215686254</c:v>
                </c:pt>
                <c:pt idx="4">
                  <c:v>0.69102204856705651</c:v>
                </c:pt>
                <c:pt idx="5">
                  <c:v>0.98056349363245421</c:v>
                </c:pt>
              </c:numCache>
            </c:numRef>
          </c:val>
          <c:smooth val="0"/>
          <c:extLst>
            <c:ext xmlns:c16="http://schemas.microsoft.com/office/drawing/2014/chart" uri="{C3380CC4-5D6E-409C-BE32-E72D297353CC}">
              <c16:uniqueId val="{00000001-6295-4561-9023-F1BA224D73BF}"/>
            </c:ext>
          </c:extLst>
        </c:ser>
        <c:dLbls>
          <c:showLegendKey val="0"/>
          <c:showVal val="0"/>
          <c:showCatName val="0"/>
          <c:showSerName val="0"/>
          <c:showPercent val="0"/>
          <c:showBubbleSize val="0"/>
        </c:dLbls>
        <c:smooth val="0"/>
        <c:axId val="855231624"/>
        <c:axId val="855234760"/>
      </c:lineChart>
      <c:dateAx>
        <c:axId val="855231624"/>
        <c:scaling>
          <c:orientation val="minMax"/>
        </c:scaling>
        <c:delete val="0"/>
        <c:axPos val="b"/>
        <c:numFmt formatCode="yyyy" sourceLinked="0"/>
        <c:majorTickMark val="out"/>
        <c:minorTickMark val="none"/>
        <c:tickLblPos val="low"/>
        <c:crossAx val="855234760"/>
        <c:crosses val="autoZero"/>
        <c:auto val="1"/>
        <c:lblOffset val="100"/>
        <c:baseTimeUnit val="years"/>
      </c:dateAx>
      <c:valAx>
        <c:axId val="855234760"/>
        <c:scaling>
          <c:orientation val="minMax"/>
        </c:scaling>
        <c:delete val="0"/>
        <c:axPos val="l"/>
        <c:majorGridlines/>
        <c:numFmt formatCode="&quot;$&quot;#,##0_);\(&quot;$&quot;#,##0\)" sourceLinked="0"/>
        <c:majorTickMark val="none"/>
        <c:minorTickMark val="none"/>
        <c:tickLblPos val="nextTo"/>
        <c:crossAx val="855231624"/>
        <c:crosses val="autoZero"/>
        <c:crossBetween val="between"/>
      </c:valAx>
      <c:spPr>
        <a:ln w="28575">
          <a:solidFill>
            <a:srgbClr val="000000"/>
          </a:solidFill>
        </a:ln>
      </c:spPr>
    </c:plotArea>
    <c:legend>
      <c:legendPos val="r"/>
      <c:layout>
        <c:manualLayout>
          <c:xMode val="edge"/>
          <c:yMode val="edge"/>
          <c:x val="8.4740182125121702E-2"/>
          <c:y val="0.8261118084877076"/>
          <c:w val="0.82716744913927998"/>
          <c:h val="0.17388819151229901"/>
        </c:manualLayout>
      </c:layout>
      <c:overlay val="0"/>
      <c:txPr>
        <a:bodyPr/>
        <a:lstStyle/>
        <a:p>
          <a:pPr algn="l" rtl="0">
            <a:defRPr/>
          </a:pPr>
          <a:endParaRPr lang="en-US"/>
        </a:p>
      </c:txPr>
    </c:legend>
    <c:plotVisOnly val="1"/>
    <c:dispBlanksAs val="zero"/>
    <c:showDLblsOverMax val="0"/>
  </c:chart>
  <c:spPr>
    <a:ln w="28575">
      <a:solidFill>
        <a:srgbClr val="000000"/>
      </a:solidFill>
    </a:ln>
  </c:spPr>
  <c:txPr>
    <a:bodyPr/>
    <a:lstStyle/>
    <a:p>
      <a:pPr algn="l" rtl="0" eaLnBrk="0" fontAlgn="base" hangingPunct="0">
        <a:spcBef>
          <a:spcPts val="0"/>
        </a:spcBef>
        <a:spcAft>
          <a:spcPts val="0"/>
        </a:spcAft>
        <a:defRPr lang="en-US" sz="1000" kern="1200">
          <a:solidFill>
            <a:srgbClr val="000000"/>
          </a:solidFill>
          <a:latin typeface="Calibri"/>
          <a:ea typeface="Calibri" panose="020F0502020204030204" pitchFamily="34" charset="0"/>
          <a:cs typeface="Times New Roman"/>
        </a:defRPr>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manualLayout>
          <c:layoutTarget val="inner"/>
          <c:xMode val="edge"/>
          <c:yMode val="edge"/>
          <c:x val="0.12233632767735018"/>
          <c:y val="5.1400554097404488E-2"/>
          <c:w val="0.81552622823555521"/>
          <c:h val="0.5700081640844139"/>
        </c:manualLayout>
      </c:layout>
      <c:barChart>
        <c:barDir val="col"/>
        <c:grouping val="stacked"/>
        <c:varyColors val="0"/>
        <c:ser>
          <c:idx val="1"/>
          <c:order val="1"/>
          <c:tx>
            <c:strRef>
              <c:f>Charts!$A$94</c:f>
              <c:strCache>
                <c:ptCount val="1"/>
                <c:pt idx="0">
                  <c:v>Other expense - L</c:v>
                </c:pt>
              </c:strCache>
            </c:strRef>
          </c:tx>
          <c:spPr>
            <a:solidFill>
              <a:schemeClr val="bg1">
                <a:lumMod val="50000"/>
              </a:schemeClr>
            </a:solidFill>
            <a:ln>
              <a:solidFill>
                <a:schemeClr val="bg1">
                  <a:lumMod val="50000"/>
                </a:schemeClr>
              </a:solidFill>
            </a:ln>
          </c:spPr>
          <c:invertIfNegative val="0"/>
          <c:cat>
            <c:numRef>
              <c:f>Charts!$C$89:$H$89</c:f>
              <c:numCache>
                <c:formatCode>[$-409]mmm\-yy;@</c:formatCode>
                <c:ptCount val="6"/>
                <c:pt idx="0">
                  <c:v>44468</c:v>
                </c:pt>
                <c:pt idx="1">
                  <c:v>44833</c:v>
                </c:pt>
                <c:pt idx="2">
                  <c:v>45199</c:v>
                </c:pt>
                <c:pt idx="3">
                  <c:v>45565</c:v>
                </c:pt>
                <c:pt idx="4">
                  <c:v>45930</c:v>
                </c:pt>
                <c:pt idx="5">
                  <c:v>46295</c:v>
                </c:pt>
              </c:numCache>
            </c:numRef>
          </c:cat>
          <c:val>
            <c:numRef>
              <c:f>Charts!$C$94:$H$94</c:f>
              <c:numCache>
                <c:formatCode>"$"#,##0_);\("$"#,##0\)</c:formatCode>
                <c:ptCount val="6"/>
                <c:pt idx="0">
                  <c:v>-2.0522862752097022</c:v>
                </c:pt>
                <c:pt idx="1">
                  <c:v>8.5342465753424648</c:v>
                </c:pt>
                <c:pt idx="2">
                  <c:v>-30.53</c:v>
                </c:pt>
                <c:pt idx="3">
                  <c:v>-5.2629999999999999</c:v>
                </c:pt>
                <c:pt idx="4">
                  <c:v>3</c:v>
                </c:pt>
                <c:pt idx="5">
                  <c:v>3</c:v>
                </c:pt>
              </c:numCache>
            </c:numRef>
          </c:val>
          <c:extLst>
            <c:ext xmlns:c16="http://schemas.microsoft.com/office/drawing/2014/chart" uri="{C3380CC4-5D6E-409C-BE32-E72D297353CC}">
              <c16:uniqueId val="{00000000-22F9-449D-BB41-F70F33148448}"/>
            </c:ext>
          </c:extLst>
        </c:ser>
        <c:ser>
          <c:idx val="2"/>
          <c:order val="2"/>
          <c:tx>
            <c:strRef>
              <c:f>Charts!$A$95</c:f>
              <c:strCache>
                <c:ptCount val="1"/>
                <c:pt idx="0">
                  <c:v>Inc cash/mkt sec - L</c:v>
                </c:pt>
              </c:strCache>
            </c:strRef>
          </c:tx>
          <c:spPr>
            <a:solidFill>
              <a:schemeClr val="tx1"/>
            </a:solidFill>
            <a:ln>
              <a:solidFill>
                <a:sysClr val="windowText" lastClr="000000"/>
              </a:solidFill>
            </a:ln>
          </c:spPr>
          <c:invertIfNegative val="0"/>
          <c:cat>
            <c:numRef>
              <c:f>Charts!$C$89:$H$89</c:f>
              <c:numCache>
                <c:formatCode>[$-409]mmm\-yy;@</c:formatCode>
                <c:ptCount val="6"/>
                <c:pt idx="0">
                  <c:v>44468</c:v>
                </c:pt>
                <c:pt idx="1">
                  <c:v>44833</c:v>
                </c:pt>
                <c:pt idx="2">
                  <c:v>45199</c:v>
                </c:pt>
                <c:pt idx="3">
                  <c:v>45565</c:v>
                </c:pt>
                <c:pt idx="4">
                  <c:v>45930</c:v>
                </c:pt>
                <c:pt idx="5">
                  <c:v>46295</c:v>
                </c:pt>
              </c:numCache>
            </c:numRef>
          </c:cat>
          <c:val>
            <c:numRef>
              <c:f>Charts!$C$95:$H$95</c:f>
              <c:numCache>
                <c:formatCode>"$"#,##0_);\("$"#,##0\)</c:formatCode>
                <c:ptCount val="6"/>
                <c:pt idx="0">
                  <c:v>28</c:v>
                </c:pt>
                <c:pt idx="1">
                  <c:v>-110</c:v>
                </c:pt>
                <c:pt idx="2">
                  <c:v>-18</c:v>
                </c:pt>
                <c:pt idx="3">
                  <c:v>33</c:v>
                </c:pt>
                <c:pt idx="4">
                  <c:v>23.059317511634021</c:v>
                </c:pt>
                <c:pt idx="5">
                  <c:v>26.003727211009846</c:v>
                </c:pt>
              </c:numCache>
            </c:numRef>
          </c:val>
          <c:extLst>
            <c:ext xmlns:c16="http://schemas.microsoft.com/office/drawing/2014/chart" uri="{C3380CC4-5D6E-409C-BE32-E72D297353CC}">
              <c16:uniqueId val="{00000001-22F9-449D-BB41-F70F33148448}"/>
            </c:ext>
          </c:extLst>
        </c:ser>
        <c:ser>
          <c:idx val="3"/>
          <c:order val="3"/>
          <c:tx>
            <c:strRef>
              <c:f>Charts!$A$96</c:f>
              <c:strCache>
                <c:ptCount val="1"/>
                <c:pt idx="0">
                  <c:v>Dividends - L</c:v>
                </c:pt>
              </c:strCache>
            </c:strRef>
          </c:tx>
          <c:spPr>
            <a:solidFill>
              <a:schemeClr val="bg1">
                <a:lumMod val="85000"/>
              </a:schemeClr>
            </a:solidFill>
            <a:ln>
              <a:solidFill>
                <a:schemeClr val="bg1">
                  <a:lumMod val="75000"/>
                </a:schemeClr>
              </a:solidFill>
            </a:ln>
          </c:spPr>
          <c:invertIfNegative val="0"/>
          <c:cat>
            <c:numRef>
              <c:f>Charts!$C$89:$H$89</c:f>
              <c:numCache>
                <c:formatCode>[$-409]mmm\-yy;@</c:formatCode>
                <c:ptCount val="6"/>
                <c:pt idx="0">
                  <c:v>44468</c:v>
                </c:pt>
                <c:pt idx="1">
                  <c:v>44833</c:v>
                </c:pt>
                <c:pt idx="2">
                  <c:v>45199</c:v>
                </c:pt>
                <c:pt idx="3">
                  <c:v>45565</c:v>
                </c:pt>
                <c:pt idx="4">
                  <c:v>45930</c:v>
                </c:pt>
                <c:pt idx="5">
                  <c:v>46295</c:v>
                </c:pt>
              </c:numCache>
            </c:numRef>
          </c:cat>
          <c:val>
            <c:numRef>
              <c:f>Charts!$C$96:$H$96</c:f>
              <c:numCache>
                <c:formatCode>"$"#,##0_);\("$"#,##0\)</c:formatCode>
                <c:ptCount val="6"/>
                <c:pt idx="0">
                  <c:v>0</c:v>
                </c:pt>
                <c:pt idx="1">
                  <c:v>0</c:v>
                </c:pt>
                <c:pt idx="2">
                  <c:v>0</c:v>
                </c:pt>
                <c:pt idx="3">
                  <c:v>0</c:v>
                </c:pt>
                <c:pt idx="4">
                  <c:v>-13.48</c:v>
                </c:pt>
                <c:pt idx="5">
                  <c:v>-13.48</c:v>
                </c:pt>
              </c:numCache>
            </c:numRef>
          </c:val>
          <c:extLst>
            <c:ext xmlns:c16="http://schemas.microsoft.com/office/drawing/2014/chart" uri="{C3380CC4-5D6E-409C-BE32-E72D297353CC}">
              <c16:uniqueId val="{00000002-22F9-449D-BB41-F70F33148448}"/>
            </c:ext>
          </c:extLst>
        </c:ser>
        <c:ser>
          <c:idx val="4"/>
          <c:order val="4"/>
          <c:tx>
            <c:strRef>
              <c:f>Charts!$A$97</c:f>
              <c:strCache>
                <c:ptCount val="1"/>
                <c:pt idx="0">
                  <c:v>Change in other equity - L</c:v>
                </c:pt>
              </c:strCache>
            </c:strRef>
          </c:tx>
          <c:spPr>
            <a:solidFill>
              <a:schemeClr val="bg1"/>
            </a:solidFill>
            <a:ln>
              <a:solidFill>
                <a:sysClr val="windowText" lastClr="000000"/>
              </a:solidFill>
            </a:ln>
          </c:spPr>
          <c:invertIfNegative val="0"/>
          <c:cat>
            <c:numRef>
              <c:f>Charts!$C$89:$H$89</c:f>
              <c:numCache>
                <c:formatCode>[$-409]mmm\-yy;@</c:formatCode>
                <c:ptCount val="6"/>
                <c:pt idx="0">
                  <c:v>44468</c:v>
                </c:pt>
                <c:pt idx="1">
                  <c:v>44833</c:v>
                </c:pt>
                <c:pt idx="2">
                  <c:v>45199</c:v>
                </c:pt>
                <c:pt idx="3">
                  <c:v>45565</c:v>
                </c:pt>
                <c:pt idx="4">
                  <c:v>45930</c:v>
                </c:pt>
                <c:pt idx="5">
                  <c:v>46295</c:v>
                </c:pt>
              </c:numCache>
            </c:numRef>
          </c:cat>
          <c:val>
            <c:numRef>
              <c:f>Charts!$C$97:$H$97</c:f>
              <c:numCache>
                <c:formatCode>"$"#,##0_);\("$"#,##0\)</c:formatCode>
                <c:ptCount val="6"/>
                <c:pt idx="0">
                  <c:v>4.3799999999999955</c:v>
                </c:pt>
                <c:pt idx="1">
                  <c:v>27</c:v>
                </c:pt>
                <c:pt idx="2">
                  <c:v>52.53</c:v>
                </c:pt>
                <c:pt idx="3">
                  <c:v>-16.53</c:v>
                </c:pt>
                <c:pt idx="4">
                  <c:v>-1.4210854715202004E-14</c:v>
                </c:pt>
                <c:pt idx="5">
                  <c:v>-7.1054273576010019E-15</c:v>
                </c:pt>
              </c:numCache>
            </c:numRef>
          </c:val>
          <c:extLst>
            <c:ext xmlns:c16="http://schemas.microsoft.com/office/drawing/2014/chart" uri="{C3380CC4-5D6E-409C-BE32-E72D297353CC}">
              <c16:uniqueId val="{00000003-22F9-449D-BB41-F70F33148448}"/>
            </c:ext>
          </c:extLst>
        </c:ser>
        <c:ser>
          <c:idx val="5"/>
          <c:order val="5"/>
          <c:tx>
            <c:strRef>
              <c:f>Charts!$A$98</c:f>
              <c:strCache>
                <c:ptCount val="1"/>
                <c:pt idx="0">
                  <c:v>Change in other liab - L</c:v>
                </c:pt>
              </c:strCache>
            </c:strRef>
          </c:tx>
          <c:spPr>
            <a:solidFill>
              <a:srgbClr val="F2C755"/>
            </a:solidFill>
            <a:ln>
              <a:solidFill>
                <a:srgbClr val="F2C755"/>
              </a:solidFill>
            </a:ln>
          </c:spPr>
          <c:invertIfNegative val="0"/>
          <c:cat>
            <c:numRef>
              <c:f>Charts!$C$89:$H$89</c:f>
              <c:numCache>
                <c:formatCode>[$-409]mmm\-yy;@</c:formatCode>
                <c:ptCount val="6"/>
                <c:pt idx="0">
                  <c:v>44468</c:v>
                </c:pt>
                <c:pt idx="1">
                  <c:v>44833</c:v>
                </c:pt>
                <c:pt idx="2">
                  <c:v>45199</c:v>
                </c:pt>
                <c:pt idx="3">
                  <c:v>45565</c:v>
                </c:pt>
                <c:pt idx="4">
                  <c:v>45930</c:v>
                </c:pt>
                <c:pt idx="5">
                  <c:v>46295</c:v>
                </c:pt>
              </c:numCache>
            </c:numRef>
          </c:cat>
          <c:val>
            <c:numRef>
              <c:f>Charts!$C$98:$H$98</c:f>
              <c:numCache>
                <c:formatCode>"$"#,##0_);\("$"#,##0\)</c:formatCode>
                <c:ptCount val="6"/>
                <c:pt idx="0">
                  <c:v>7</c:v>
                </c:pt>
                <c:pt idx="1">
                  <c:v>-5</c:v>
                </c:pt>
                <c:pt idx="2">
                  <c:v>-6</c:v>
                </c:pt>
                <c:pt idx="3">
                  <c:v>-10</c:v>
                </c:pt>
                <c:pt idx="4">
                  <c:v>-6</c:v>
                </c:pt>
                <c:pt idx="5">
                  <c:v>-6</c:v>
                </c:pt>
              </c:numCache>
            </c:numRef>
          </c:val>
          <c:extLst>
            <c:ext xmlns:c16="http://schemas.microsoft.com/office/drawing/2014/chart" uri="{C3380CC4-5D6E-409C-BE32-E72D297353CC}">
              <c16:uniqueId val="{00000004-22F9-449D-BB41-F70F33148448}"/>
            </c:ext>
          </c:extLst>
        </c:ser>
        <c:dLbls>
          <c:showLegendKey val="0"/>
          <c:showVal val="0"/>
          <c:showCatName val="0"/>
          <c:showSerName val="0"/>
          <c:showPercent val="0"/>
          <c:showBubbleSize val="0"/>
        </c:dLbls>
        <c:gapWidth val="150"/>
        <c:overlap val="100"/>
        <c:axId val="855228880"/>
        <c:axId val="855219080"/>
      </c:barChart>
      <c:lineChart>
        <c:grouping val="stacked"/>
        <c:varyColors val="0"/>
        <c:ser>
          <c:idx val="0"/>
          <c:order val="0"/>
          <c:tx>
            <c:strRef>
              <c:f>Charts!$A$92</c:f>
              <c:strCache>
                <c:ptCount val="1"/>
                <c:pt idx="0">
                  <c:v>Source of cash - R</c:v>
                </c:pt>
              </c:strCache>
            </c:strRef>
          </c:tx>
          <c:spPr>
            <a:ln w="25400">
              <a:solidFill>
                <a:schemeClr val="tx1"/>
              </a:solidFill>
            </a:ln>
          </c:spPr>
          <c:marker>
            <c:symbol val="none"/>
          </c:marker>
          <c:cat>
            <c:numRef>
              <c:f>Charts!$C$89:$H$89</c:f>
              <c:numCache>
                <c:formatCode>[$-409]mmm\-yy;@</c:formatCode>
                <c:ptCount val="6"/>
                <c:pt idx="0">
                  <c:v>44468</c:v>
                </c:pt>
                <c:pt idx="1">
                  <c:v>44833</c:v>
                </c:pt>
                <c:pt idx="2">
                  <c:v>45199</c:v>
                </c:pt>
                <c:pt idx="3">
                  <c:v>45565</c:v>
                </c:pt>
                <c:pt idx="4">
                  <c:v>45930</c:v>
                </c:pt>
                <c:pt idx="5">
                  <c:v>46295</c:v>
                </c:pt>
              </c:numCache>
            </c:numRef>
          </c:cat>
          <c:val>
            <c:numRef>
              <c:f>Charts!$C$92:$H$92</c:f>
              <c:numCache>
                <c:formatCode>"$"#,##0_);\("$"#,##0\)</c:formatCode>
                <c:ptCount val="6"/>
                <c:pt idx="0">
                  <c:v>37.327713724790286</c:v>
                </c:pt>
                <c:pt idx="1">
                  <c:v>-79.465753424657549</c:v>
                </c:pt>
                <c:pt idx="2">
                  <c:v>-2</c:v>
                </c:pt>
                <c:pt idx="3">
                  <c:v>3.351849999999998</c:v>
                </c:pt>
                <c:pt idx="4">
                  <c:v>7.0484248953839757</c:v>
                </c:pt>
                <c:pt idx="5">
                  <c:v>10.001747635051032</c:v>
                </c:pt>
              </c:numCache>
            </c:numRef>
          </c:val>
          <c:smooth val="0"/>
          <c:extLst>
            <c:ext xmlns:c16="http://schemas.microsoft.com/office/drawing/2014/chart" uri="{C3380CC4-5D6E-409C-BE32-E72D297353CC}">
              <c16:uniqueId val="{00000005-22F9-449D-BB41-F70F33148448}"/>
            </c:ext>
          </c:extLst>
        </c:ser>
        <c:dLbls>
          <c:showLegendKey val="0"/>
          <c:showVal val="0"/>
          <c:showCatName val="0"/>
          <c:showSerName val="0"/>
          <c:showPercent val="0"/>
          <c:showBubbleSize val="0"/>
        </c:dLbls>
        <c:marker val="1"/>
        <c:smooth val="0"/>
        <c:axId val="855218688"/>
        <c:axId val="855217904"/>
      </c:lineChart>
      <c:dateAx>
        <c:axId val="855228880"/>
        <c:scaling>
          <c:orientation val="minMax"/>
        </c:scaling>
        <c:delete val="0"/>
        <c:axPos val="b"/>
        <c:numFmt formatCode="yyyy" sourceLinked="0"/>
        <c:majorTickMark val="out"/>
        <c:minorTickMark val="none"/>
        <c:tickLblPos val="low"/>
        <c:crossAx val="855219080"/>
        <c:crosses val="autoZero"/>
        <c:auto val="1"/>
        <c:lblOffset val="100"/>
        <c:baseTimeUnit val="years"/>
      </c:dateAx>
      <c:valAx>
        <c:axId val="855219080"/>
        <c:scaling>
          <c:orientation val="minMax"/>
        </c:scaling>
        <c:delete val="0"/>
        <c:axPos val="l"/>
        <c:majorGridlines/>
        <c:numFmt formatCode="&quot;$&quot;#,##0_);\(&quot;$&quot;#,##0\)" sourceLinked="1"/>
        <c:majorTickMark val="out"/>
        <c:minorTickMark val="none"/>
        <c:tickLblPos val="nextTo"/>
        <c:crossAx val="855228880"/>
        <c:crosses val="autoZero"/>
        <c:crossBetween val="between"/>
      </c:valAx>
      <c:valAx>
        <c:axId val="855217904"/>
        <c:scaling>
          <c:orientation val="minMax"/>
        </c:scaling>
        <c:delete val="0"/>
        <c:axPos val="r"/>
        <c:numFmt formatCode="&quot;$&quot;#,##0_);\(&quot;$&quot;#,##0\)" sourceLinked="1"/>
        <c:majorTickMark val="none"/>
        <c:minorTickMark val="none"/>
        <c:tickLblPos val="nextTo"/>
        <c:crossAx val="855218688"/>
        <c:crosses val="max"/>
        <c:crossBetween val="between"/>
      </c:valAx>
      <c:dateAx>
        <c:axId val="855218688"/>
        <c:scaling>
          <c:orientation val="minMax"/>
        </c:scaling>
        <c:delete val="1"/>
        <c:axPos val="b"/>
        <c:numFmt formatCode="[$-409]mmm\-yy;@" sourceLinked="1"/>
        <c:majorTickMark val="out"/>
        <c:minorTickMark val="none"/>
        <c:tickLblPos val="none"/>
        <c:crossAx val="855217904"/>
        <c:crosses val="autoZero"/>
        <c:auto val="1"/>
        <c:lblOffset val="100"/>
        <c:baseTimeUnit val="years"/>
      </c:dateAx>
      <c:spPr>
        <a:ln w="28575">
          <a:solidFill>
            <a:schemeClr val="tx1"/>
          </a:solidFill>
        </a:ln>
      </c:spPr>
    </c:plotArea>
    <c:legend>
      <c:legendPos val="r"/>
      <c:layout>
        <c:manualLayout>
          <c:xMode val="edge"/>
          <c:yMode val="edge"/>
          <c:x val="8.3396739843401421E-4"/>
          <c:y val="0.79091414940730576"/>
          <c:w val="0.999166032601566"/>
          <c:h val="0.20908585059269427"/>
        </c:manualLayout>
      </c:layout>
      <c:overlay val="0"/>
      <c:txPr>
        <a:bodyPr/>
        <a:lstStyle/>
        <a:p>
          <a:pPr algn="l" rtl="0">
            <a:defRPr lang="en-US" sz="1000" kern="1200">
              <a:solidFill>
                <a:srgbClr val="000000"/>
              </a:solidFill>
              <a:latin typeface="Calibri"/>
              <a:ea typeface="Calibri" panose="020F0502020204030204" pitchFamily="34" charset="0"/>
              <a:cs typeface="Times New Roman"/>
            </a:defRPr>
          </a:pPr>
          <a:endParaRPr lang="en-US"/>
        </a:p>
      </c:txPr>
    </c:legend>
    <c:plotVisOnly val="1"/>
    <c:dispBlanksAs val="zero"/>
    <c:showDLblsOverMax val="0"/>
  </c:chart>
  <c:spPr>
    <a:ln w="28575">
      <a:solidFill>
        <a:schemeClr val="tx1"/>
      </a:solidFill>
    </a:ln>
  </c:spPr>
  <c:txPr>
    <a:bodyPr/>
    <a:lstStyle/>
    <a:p>
      <a:pPr algn="l" rtl="0" eaLnBrk="0" fontAlgn="base" hangingPunct="0">
        <a:spcBef>
          <a:spcPts val="0"/>
        </a:spcBef>
        <a:spcAft>
          <a:spcPts val="0"/>
        </a:spcAft>
        <a:defRPr lang="en-US" sz="1000" b="0" i="0" u="none" strike="noStrike" kern="1200" baseline="0">
          <a:solidFill>
            <a:srgbClr val="000000"/>
          </a:solidFill>
          <a:latin typeface="Calibri" panose="020F0502020204030204" pitchFamily="34" charset="0"/>
          <a:ea typeface="+mn-ea"/>
          <a:cs typeface="+mn-cs"/>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manualLayout>
          <c:layoutTarget val="inner"/>
          <c:xMode val="edge"/>
          <c:yMode val="edge"/>
          <c:x val="8.2758386787398636E-2"/>
          <c:y val="9.4586582474292163E-2"/>
          <c:w val="0.84289832935241082"/>
          <c:h val="0.51145268819880418"/>
        </c:manualLayout>
      </c:layout>
      <c:barChart>
        <c:barDir val="col"/>
        <c:grouping val="clustered"/>
        <c:varyColors val="0"/>
        <c:ser>
          <c:idx val="2"/>
          <c:order val="0"/>
          <c:tx>
            <c:strRef>
              <c:f>Charts!$A$24</c:f>
              <c:strCache>
                <c:ptCount val="1"/>
                <c:pt idx="0">
                  <c:v>ROE - L</c:v>
                </c:pt>
              </c:strCache>
            </c:strRef>
          </c:tx>
          <c:spPr>
            <a:solidFill>
              <a:srgbClr val="F2C755"/>
            </a:solidFill>
          </c:spPr>
          <c:invertIfNegative val="0"/>
          <c:dLbls>
            <c:dLbl>
              <c:idx val="3"/>
              <c:layout>
                <c:manualLayout>
                  <c:x val="0"/>
                  <c:y val="-2.5764895330112583E-2"/>
                </c:manualLayout>
              </c:layout>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344-46D1-A118-5840BC58D51B}"/>
                </c:ext>
              </c:extLst>
            </c:dLbl>
            <c:spPr>
              <a:noFill/>
              <a:ln>
                <a:noFill/>
              </a:ln>
              <a:effectLst/>
            </c:sp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Charts!$C$23:$H$23</c:f>
              <c:numCache>
                <c:formatCode>[$-409]mmm\-yy;@</c:formatCode>
                <c:ptCount val="6"/>
                <c:pt idx="0">
                  <c:v>44468</c:v>
                </c:pt>
                <c:pt idx="1">
                  <c:v>44833</c:v>
                </c:pt>
                <c:pt idx="2">
                  <c:v>45199</c:v>
                </c:pt>
                <c:pt idx="3">
                  <c:v>45565</c:v>
                </c:pt>
                <c:pt idx="4">
                  <c:v>45930</c:v>
                </c:pt>
                <c:pt idx="5">
                  <c:v>46295</c:v>
                </c:pt>
              </c:numCache>
            </c:numRef>
          </c:cat>
          <c:val>
            <c:numRef>
              <c:f>Charts!$C$24:$H$24</c:f>
              <c:numCache>
                <c:formatCode>0.0%</c:formatCode>
                <c:ptCount val="6"/>
                <c:pt idx="0">
                  <c:v>0.30155515370705244</c:v>
                </c:pt>
                <c:pt idx="1">
                  <c:v>0.13559322033898305</c:v>
                </c:pt>
                <c:pt idx="2">
                  <c:v>6.1706161137440776E-2</c:v>
                </c:pt>
                <c:pt idx="3">
                  <c:v>-8.9932203389830517E-2</c:v>
                </c:pt>
                <c:pt idx="4">
                  <c:v>2.7449053535146206E-2</c:v>
                </c:pt>
                <c:pt idx="5">
                  <c:v>3.643364432458749E-2</c:v>
                </c:pt>
              </c:numCache>
            </c:numRef>
          </c:val>
          <c:extLst>
            <c:ext xmlns:c16="http://schemas.microsoft.com/office/drawing/2014/chart" uri="{C3380CC4-5D6E-409C-BE32-E72D297353CC}">
              <c16:uniqueId val="{00000001-C344-46D1-A118-5840BC58D51B}"/>
            </c:ext>
          </c:extLst>
        </c:ser>
        <c:ser>
          <c:idx val="0"/>
          <c:order val="1"/>
          <c:tx>
            <c:strRef>
              <c:f>Charts!$A$27</c:f>
              <c:strCache>
                <c:ptCount val="1"/>
                <c:pt idx="0">
                  <c:v>ROA - L</c:v>
                </c:pt>
              </c:strCache>
            </c:strRef>
          </c:tx>
          <c:spPr>
            <a:solidFill>
              <a:schemeClr val="bg1"/>
            </a:solidFill>
            <a:ln>
              <a:solidFill>
                <a:schemeClr val="tx1"/>
              </a:solidFill>
            </a:ln>
          </c:spPr>
          <c:invertIfNegative val="0"/>
          <c:cat>
            <c:numRef>
              <c:f>Charts!$C$23:$H$23</c:f>
              <c:numCache>
                <c:formatCode>[$-409]mmm\-yy;@</c:formatCode>
                <c:ptCount val="6"/>
                <c:pt idx="0">
                  <c:v>44468</c:v>
                </c:pt>
                <c:pt idx="1">
                  <c:v>44833</c:v>
                </c:pt>
                <c:pt idx="2">
                  <c:v>45199</c:v>
                </c:pt>
                <c:pt idx="3">
                  <c:v>45565</c:v>
                </c:pt>
                <c:pt idx="4">
                  <c:v>45930</c:v>
                </c:pt>
                <c:pt idx="5">
                  <c:v>46295</c:v>
                </c:pt>
              </c:numCache>
            </c:numRef>
          </c:cat>
          <c:val>
            <c:numRef>
              <c:f>Charts!$C$27:$H$27</c:f>
              <c:numCache>
                <c:formatCode>0.0%</c:formatCode>
                <c:ptCount val="6"/>
                <c:pt idx="0">
                  <c:v>0.16445759368836291</c:v>
                </c:pt>
                <c:pt idx="1">
                  <c:v>7.7669902912621352E-2</c:v>
                </c:pt>
                <c:pt idx="2">
                  <c:v>3.5638686131386869E-2</c:v>
                </c:pt>
                <c:pt idx="3">
                  <c:v>-5.1265700483091793E-2</c:v>
                </c:pt>
                <c:pt idx="4">
                  <c:v>1.5755389915912139E-2</c:v>
                </c:pt>
                <c:pt idx="5">
                  <c:v>2.1261177700615697E-2</c:v>
                </c:pt>
              </c:numCache>
            </c:numRef>
          </c:val>
          <c:extLst>
            <c:ext xmlns:c16="http://schemas.microsoft.com/office/drawing/2014/chart" uri="{C3380CC4-5D6E-409C-BE32-E72D297353CC}">
              <c16:uniqueId val="{00000002-C344-46D1-A118-5840BC58D51B}"/>
            </c:ext>
          </c:extLst>
        </c:ser>
        <c:ser>
          <c:idx val="1"/>
          <c:order val="2"/>
          <c:tx>
            <c:strRef>
              <c:f>Charts!$A$25</c:f>
              <c:strCache>
                <c:ptCount val="1"/>
                <c:pt idx="0">
                  <c:v>Net margin - L</c:v>
                </c:pt>
              </c:strCache>
            </c:strRef>
          </c:tx>
          <c:spPr>
            <a:solidFill>
              <a:schemeClr val="tx1"/>
            </a:solidFill>
          </c:spPr>
          <c:invertIfNegative val="0"/>
          <c:cat>
            <c:numRef>
              <c:f>Charts!$C$23:$H$23</c:f>
              <c:numCache>
                <c:formatCode>[$-409]mmm\-yy;@</c:formatCode>
                <c:ptCount val="6"/>
                <c:pt idx="0">
                  <c:v>44468</c:v>
                </c:pt>
                <c:pt idx="1">
                  <c:v>44833</c:v>
                </c:pt>
                <c:pt idx="2">
                  <c:v>45199</c:v>
                </c:pt>
                <c:pt idx="3">
                  <c:v>45565</c:v>
                </c:pt>
                <c:pt idx="4">
                  <c:v>45930</c:v>
                </c:pt>
                <c:pt idx="5">
                  <c:v>46295</c:v>
                </c:pt>
              </c:numCache>
            </c:numRef>
          </c:cat>
          <c:val>
            <c:numRef>
              <c:f>Charts!$C$25:$H$25</c:f>
              <c:numCache>
                <c:formatCode>0.0%</c:formatCode>
                <c:ptCount val="6"/>
                <c:pt idx="0">
                  <c:v>0.11087765957446807</c:v>
                </c:pt>
                <c:pt idx="1">
                  <c:v>5.9219380888290714E-2</c:v>
                </c:pt>
                <c:pt idx="2">
                  <c:v>2.9412650602409642E-2</c:v>
                </c:pt>
                <c:pt idx="3">
                  <c:v>-4.4749936746225856E-2</c:v>
                </c:pt>
                <c:pt idx="4">
                  <c:v>1.3643778715623341E-2</c:v>
                </c:pt>
                <c:pt idx="5">
                  <c:v>1.9161191085008186E-2</c:v>
                </c:pt>
              </c:numCache>
            </c:numRef>
          </c:val>
          <c:extLst>
            <c:ext xmlns:c16="http://schemas.microsoft.com/office/drawing/2014/chart" uri="{C3380CC4-5D6E-409C-BE32-E72D297353CC}">
              <c16:uniqueId val="{00000003-C344-46D1-A118-5840BC58D51B}"/>
            </c:ext>
          </c:extLst>
        </c:ser>
        <c:dLbls>
          <c:showLegendKey val="0"/>
          <c:showVal val="0"/>
          <c:showCatName val="0"/>
          <c:showSerName val="0"/>
          <c:showPercent val="0"/>
          <c:showBubbleSize val="0"/>
        </c:dLbls>
        <c:gapWidth val="150"/>
        <c:axId val="855210456"/>
        <c:axId val="855210848"/>
      </c:barChart>
      <c:lineChart>
        <c:grouping val="standard"/>
        <c:varyColors val="0"/>
        <c:ser>
          <c:idx val="3"/>
          <c:order val="3"/>
          <c:tx>
            <c:strRef>
              <c:f>Charts!$A$26</c:f>
              <c:strCache>
                <c:ptCount val="1"/>
                <c:pt idx="0">
                  <c:v>Asset turnover - R</c:v>
                </c:pt>
              </c:strCache>
            </c:strRef>
          </c:tx>
          <c:spPr>
            <a:ln>
              <a:solidFill>
                <a:sysClr val="windowText" lastClr="000000"/>
              </a:solidFill>
            </a:ln>
          </c:spPr>
          <c:marker>
            <c:symbol val="none"/>
          </c:marker>
          <c:cat>
            <c:numRef>
              <c:f>Charts!$C$23:$H$23</c:f>
              <c:numCache>
                <c:formatCode>[$-409]mmm\-yy;@</c:formatCode>
                <c:ptCount val="6"/>
                <c:pt idx="0">
                  <c:v>44468</c:v>
                </c:pt>
                <c:pt idx="1">
                  <c:v>44833</c:v>
                </c:pt>
                <c:pt idx="2">
                  <c:v>45199</c:v>
                </c:pt>
                <c:pt idx="3">
                  <c:v>45565</c:v>
                </c:pt>
                <c:pt idx="4">
                  <c:v>45930</c:v>
                </c:pt>
                <c:pt idx="5">
                  <c:v>46295</c:v>
                </c:pt>
              </c:numCache>
            </c:numRef>
          </c:cat>
          <c:val>
            <c:numRef>
              <c:f>Charts!$C$26:$H$26</c:f>
              <c:numCache>
                <c:formatCode>_(* #,##0.00_);_(* \(#,##0.00\);_(* "-"??_);_(@_)</c:formatCode>
                <c:ptCount val="6"/>
                <c:pt idx="0">
                  <c:v>1.4832347140039448</c:v>
                </c:pt>
                <c:pt idx="1">
                  <c:v>1.3115622241835834</c:v>
                </c:pt>
                <c:pt idx="2">
                  <c:v>1.2116788321167884</c:v>
                </c:pt>
                <c:pt idx="3">
                  <c:v>1.1456038647342996</c:v>
                </c:pt>
                <c:pt idx="4">
                  <c:v>1.1547673298065746</c:v>
                </c:pt>
                <c:pt idx="5">
                  <c:v>1.1095958286878393</c:v>
                </c:pt>
              </c:numCache>
            </c:numRef>
          </c:val>
          <c:smooth val="0"/>
          <c:extLst>
            <c:ext xmlns:c16="http://schemas.microsoft.com/office/drawing/2014/chart" uri="{C3380CC4-5D6E-409C-BE32-E72D297353CC}">
              <c16:uniqueId val="{00000004-C344-46D1-A118-5840BC58D51B}"/>
            </c:ext>
          </c:extLst>
        </c:ser>
        <c:ser>
          <c:idx val="4"/>
          <c:order val="4"/>
          <c:tx>
            <c:strRef>
              <c:f>Charts!$A$28</c:f>
              <c:strCache>
                <c:ptCount val="1"/>
                <c:pt idx="0">
                  <c:v>Equity multiplier (Leverage) - R</c:v>
                </c:pt>
              </c:strCache>
            </c:strRef>
          </c:tx>
          <c:spPr>
            <a:ln>
              <a:solidFill>
                <a:sysClr val="windowText" lastClr="000000"/>
              </a:solidFill>
              <a:prstDash val="sysDot"/>
            </a:ln>
          </c:spPr>
          <c:marker>
            <c:symbol val="none"/>
          </c:marker>
          <c:cat>
            <c:numRef>
              <c:f>Charts!$C$23:$H$23</c:f>
              <c:numCache>
                <c:formatCode>[$-409]mmm\-yy;@</c:formatCode>
                <c:ptCount val="6"/>
                <c:pt idx="0">
                  <c:v>44468</c:v>
                </c:pt>
                <c:pt idx="1">
                  <c:v>44833</c:v>
                </c:pt>
                <c:pt idx="2">
                  <c:v>45199</c:v>
                </c:pt>
                <c:pt idx="3">
                  <c:v>45565</c:v>
                </c:pt>
                <c:pt idx="4">
                  <c:v>45930</c:v>
                </c:pt>
                <c:pt idx="5">
                  <c:v>46295</c:v>
                </c:pt>
              </c:numCache>
            </c:numRef>
          </c:cat>
          <c:val>
            <c:numRef>
              <c:f>Charts!$C$28:$H$28</c:f>
              <c:numCache>
                <c:formatCode>_(* #,##0.00_);_(* \(#,##0.00\);_(* "-"??_);_(@_)</c:formatCode>
                <c:ptCount val="6"/>
                <c:pt idx="0">
                  <c:v>1.833634719710669</c:v>
                </c:pt>
                <c:pt idx="1">
                  <c:v>1.7457627118644068</c:v>
                </c:pt>
                <c:pt idx="2">
                  <c:v>1.731437598736177</c:v>
                </c:pt>
                <c:pt idx="3">
                  <c:v>1.7542372881355932</c:v>
                </c:pt>
                <c:pt idx="4">
                  <c:v>1.7422008393092236</c:v>
                </c:pt>
                <c:pt idx="5">
                  <c:v>1.7136230568983213</c:v>
                </c:pt>
              </c:numCache>
            </c:numRef>
          </c:val>
          <c:smooth val="0"/>
          <c:extLst>
            <c:ext xmlns:c16="http://schemas.microsoft.com/office/drawing/2014/chart" uri="{C3380CC4-5D6E-409C-BE32-E72D297353CC}">
              <c16:uniqueId val="{00000005-C344-46D1-A118-5840BC58D51B}"/>
            </c:ext>
          </c:extLst>
        </c:ser>
        <c:dLbls>
          <c:showLegendKey val="0"/>
          <c:showVal val="0"/>
          <c:showCatName val="0"/>
          <c:showSerName val="0"/>
          <c:showPercent val="0"/>
          <c:showBubbleSize val="0"/>
        </c:dLbls>
        <c:marker val="1"/>
        <c:smooth val="0"/>
        <c:axId val="855212808"/>
        <c:axId val="855211632"/>
      </c:lineChart>
      <c:dateAx>
        <c:axId val="855210456"/>
        <c:scaling>
          <c:orientation val="minMax"/>
        </c:scaling>
        <c:delete val="0"/>
        <c:axPos val="b"/>
        <c:numFmt formatCode="yyyy" sourceLinked="0"/>
        <c:majorTickMark val="out"/>
        <c:minorTickMark val="none"/>
        <c:tickLblPos val="low"/>
        <c:crossAx val="855210848"/>
        <c:crosses val="autoZero"/>
        <c:auto val="1"/>
        <c:lblOffset val="100"/>
        <c:baseTimeUnit val="years"/>
      </c:dateAx>
      <c:valAx>
        <c:axId val="855210848"/>
        <c:scaling>
          <c:orientation val="minMax"/>
        </c:scaling>
        <c:delete val="0"/>
        <c:axPos val="l"/>
        <c:majorGridlines/>
        <c:numFmt formatCode="0%" sourceLinked="0"/>
        <c:majorTickMark val="none"/>
        <c:minorTickMark val="none"/>
        <c:tickLblPos val="nextTo"/>
        <c:crossAx val="855210456"/>
        <c:crosses val="autoZero"/>
        <c:crossBetween val="between"/>
      </c:valAx>
      <c:valAx>
        <c:axId val="855211632"/>
        <c:scaling>
          <c:orientation val="minMax"/>
        </c:scaling>
        <c:delete val="0"/>
        <c:axPos val="r"/>
        <c:numFmt formatCode="_(* #,##0.0_);_(* \(#,##0.0\);_(* &quot;-&quot;?_);_(@_)" sourceLinked="0"/>
        <c:majorTickMark val="none"/>
        <c:minorTickMark val="none"/>
        <c:tickLblPos val="nextTo"/>
        <c:crossAx val="855212808"/>
        <c:crosses val="max"/>
        <c:crossBetween val="between"/>
      </c:valAx>
      <c:dateAx>
        <c:axId val="855212808"/>
        <c:scaling>
          <c:orientation val="minMax"/>
        </c:scaling>
        <c:delete val="1"/>
        <c:axPos val="b"/>
        <c:numFmt formatCode="[$-409]mmm\-yy;@" sourceLinked="1"/>
        <c:majorTickMark val="out"/>
        <c:minorTickMark val="none"/>
        <c:tickLblPos val="none"/>
        <c:crossAx val="855211632"/>
        <c:crosses val="autoZero"/>
        <c:auto val="1"/>
        <c:lblOffset val="100"/>
        <c:baseTimeUnit val="years"/>
      </c:dateAx>
      <c:spPr>
        <a:ln w="28575">
          <a:solidFill>
            <a:schemeClr val="tx1"/>
          </a:solidFill>
        </a:ln>
      </c:spPr>
    </c:plotArea>
    <c:legend>
      <c:legendPos val="r"/>
      <c:layout>
        <c:manualLayout>
          <c:xMode val="edge"/>
          <c:yMode val="edge"/>
          <c:x val="0"/>
          <c:y val="0.74574106681765295"/>
          <c:w val="1"/>
          <c:h val="0.22462683781210918"/>
        </c:manualLayout>
      </c:layout>
      <c:overlay val="0"/>
      <c:txPr>
        <a:bodyPr/>
        <a:lstStyle/>
        <a:p>
          <a:pPr algn="l" rtl="0">
            <a:defRPr/>
          </a:pPr>
          <a:endParaRPr lang="en-US"/>
        </a:p>
      </c:txPr>
    </c:legend>
    <c:plotVisOnly val="1"/>
    <c:dispBlanksAs val="gap"/>
    <c:showDLblsOverMax val="0"/>
  </c:chart>
  <c:spPr>
    <a:ln w="28575">
      <a:solidFill>
        <a:srgbClr val="000000"/>
      </a:solidFill>
    </a:ln>
  </c:spPr>
  <c:txPr>
    <a:bodyPr/>
    <a:lstStyle/>
    <a:p>
      <a:pPr algn="l" rtl="0" eaLnBrk="0" fontAlgn="base" hangingPunct="0">
        <a:spcBef>
          <a:spcPts val="0"/>
        </a:spcBef>
        <a:spcAft>
          <a:spcPts val="0"/>
        </a:spcAft>
        <a:defRPr lang="en-US" sz="1000" b="0" i="0" u="none" strike="noStrike" kern="1200" baseline="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Sheet1!$K$228</c:f>
              <c:strCache>
                <c:ptCount val="1"/>
                <c:pt idx="0">
                  <c:v>JOUT</c:v>
                </c:pt>
              </c:strCache>
            </c:strRef>
          </c:tx>
          <c:spPr>
            <a:ln w="28575" cap="rnd">
              <a:solidFill>
                <a:srgbClr val="FFC000"/>
              </a:solidFill>
              <a:round/>
            </a:ln>
            <a:effectLst/>
          </c:spPr>
          <c:marker>
            <c:symbol val="none"/>
          </c:marker>
          <c:cat>
            <c:numRef>
              <c:f>Sheet1!$L$227:$U$227</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Sheet1!$L$228:$U$228</c:f>
              <c:numCache>
                <c:formatCode>General</c:formatCode>
                <c:ptCount val="10"/>
                <c:pt idx="0">
                  <c:v>0.05</c:v>
                </c:pt>
                <c:pt idx="1">
                  <c:v>7.0000000000000007E-2</c:v>
                </c:pt>
                <c:pt idx="2">
                  <c:v>0.2</c:v>
                </c:pt>
                <c:pt idx="3">
                  <c:v>0.16</c:v>
                </c:pt>
                <c:pt idx="4">
                  <c:v>0.18</c:v>
                </c:pt>
                <c:pt idx="5">
                  <c:v>0.16</c:v>
                </c:pt>
                <c:pt idx="6">
                  <c:v>0.2</c:v>
                </c:pt>
                <c:pt idx="7">
                  <c:v>0.09</c:v>
                </c:pt>
                <c:pt idx="8">
                  <c:v>0.04</c:v>
                </c:pt>
                <c:pt idx="9">
                  <c:v>-0.06</c:v>
                </c:pt>
              </c:numCache>
            </c:numRef>
          </c:val>
          <c:smooth val="0"/>
          <c:extLst>
            <c:ext xmlns:c16="http://schemas.microsoft.com/office/drawing/2014/chart" uri="{C3380CC4-5D6E-409C-BE32-E72D297353CC}">
              <c16:uniqueId val="{00000000-017A-44CF-AE66-BB0C44626CDF}"/>
            </c:ext>
          </c:extLst>
        </c:ser>
        <c:ser>
          <c:idx val="1"/>
          <c:order val="1"/>
          <c:tx>
            <c:strRef>
              <c:f>Sheet1!$K$229</c:f>
              <c:strCache>
                <c:ptCount val="1"/>
                <c:pt idx="0">
                  <c:v>INDEX</c:v>
                </c:pt>
              </c:strCache>
            </c:strRef>
          </c:tx>
          <c:spPr>
            <a:ln w="28575" cap="rnd">
              <a:solidFill>
                <a:schemeClr val="tx1"/>
              </a:solidFill>
              <a:round/>
            </a:ln>
            <a:effectLst/>
          </c:spPr>
          <c:marker>
            <c:symbol val="none"/>
          </c:marker>
          <c:cat>
            <c:numRef>
              <c:f>Sheet1!$L$227:$U$227</c:f>
              <c:numCache>
                <c:formatCode>General</c:formatCode>
                <c:ptCount val="10"/>
                <c:pt idx="0">
                  <c:v>2015</c:v>
                </c:pt>
                <c:pt idx="1">
                  <c:v>2016</c:v>
                </c:pt>
                <c:pt idx="2">
                  <c:v>2017</c:v>
                </c:pt>
                <c:pt idx="3">
                  <c:v>2018</c:v>
                </c:pt>
                <c:pt idx="4">
                  <c:v>2019</c:v>
                </c:pt>
                <c:pt idx="5">
                  <c:v>2020</c:v>
                </c:pt>
                <c:pt idx="6">
                  <c:v>2021</c:v>
                </c:pt>
                <c:pt idx="7">
                  <c:v>2022</c:v>
                </c:pt>
                <c:pt idx="8">
                  <c:v>2023</c:v>
                </c:pt>
                <c:pt idx="9">
                  <c:v>2024</c:v>
                </c:pt>
              </c:numCache>
            </c:numRef>
          </c:cat>
          <c:val>
            <c:numRef>
              <c:f>Sheet1!$L$229:$U$229</c:f>
              <c:numCache>
                <c:formatCode>General</c:formatCode>
                <c:ptCount val="10"/>
                <c:pt idx="0">
                  <c:v>0.45</c:v>
                </c:pt>
                <c:pt idx="1">
                  <c:v>0.38</c:v>
                </c:pt>
                <c:pt idx="2">
                  <c:v>0.3</c:v>
                </c:pt>
                <c:pt idx="3">
                  <c:v>0.45</c:v>
                </c:pt>
                <c:pt idx="4">
                  <c:v>0.24</c:v>
                </c:pt>
                <c:pt idx="5">
                  <c:v>0.12</c:v>
                </c:pt>
                <c:pt idx="6">
                  <c:v>0.47</c:v>
                </c:pt>
                <c:pt idx="7">
                  <c:v>0.44</c:v>
                </c:pt>
                <c:pt idx="8">
                  <c:v>0.3</c:v>
                </c:pt>
                <c:pt idx="9">
                  <c:v>7.0000000000000007E-2</c:v>
                </c:pt>
              </c:numCache>
            </c:numRef>
          </c:val>
          <c:smooth val="0"/>
          <c:extLst>
            <c:ext xmlns:c16="http://schemas.microsoft.com/office/drawing/2014/chart" uri="{C3380CC4-5D6E-409C-BE32-E72D297353CC}">
              <c16:uniqueId val="{00000001-017A-44CF-AE66-BB0C44626CDF}"/>
            </c:ext>
          </c:extLst>
        </c:ser>
        <c:dLbls>
          <c:showLegendKey val="0"/>
          <c:showVal val="0"/>
          <c:showCatName val="0"/>
          <c:showSerName val="0"/>
          <c:showPercent val="0"/>
          <c:showBubbleSize val="0"/>
        </c:dLbls>
        <c:smooth val="0"/>
        <c:axId val="1376755375"/>
        <c:axId val="1376750095"/>
      </c:lineChart>
      <c:catAx>
        <c:axId val="1376755375"/>
        <c:scaling>
          <c:orientation val="minMax"/>
        </c:scaling>
        <c:delete val="0"/>
        <c:axPos val="b"/>
        <c:numFmt formatCode="General" sourceLinked="1"/>
        <c:majorTickMark val="none"/>
        <c:minorTickMark val="none"/>
        <c:tickLblPos val="low"/>
        <c:spPr>
          <a:noFill/>
          <a:ln w="9525" cap="flat" cmpd="sng" algn="ctr">
            <a:solidFill>
              <a:schemeClr val="bg1"/>
            </a:solidFill>
            <a:round/>
          </a:ln>
          <a:effectLst/>
        </c:spPr>
        <c:txPr>
          <a:bodyPr rot="-60000000" spcFirstLastPara="1" vertOverflow="ellipsis" vert="horz" wrap="square" anchor="b" anchorCtr="1"/>
          <a:lstStyle/>
          <a:p>
            <a:pPr>
              <a:defRPr sz="900" b="0" i="0" u="none" strike="noStrike" kern="1200" baseline="0">
                <a:solidFill>
                  <a:schemeClr val="tx1"/>
                </a:solidFill>
                <a:latin typeface="+mn-lt"/>
                <a:ea typeface="+mn-ea"/>
                <a:cs typeface="+mn-cs"/>
              </a:defRPr>
            </a:pPr>
            <a:endParaRPr lang="en-US"/>
          </a:p>
        </c:txPr>
        <c:crossAx val="1376750095"/>
        <c:crosses val="autoZero"/>
        <c:auto val="1"/>
        <c:lblAlgn val="ctr"/>
        <c:lblOffset val="100"/>
        <c:noMultiLvlLbl val="0"/>
      </c:catAx>
      <c:valAx>
        <c:axId val="1376750095"/>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76755375"/>
        <c:crosses val="autoZero"/>
        <c:crossBetween val="between"/>
      </c:valAx>
      <c:spPr>
        <a:noFill/>
        <a:ln w="28575">
          <a:solidFill>
            <a:schemeClr val="tx1"/>
          </a:solid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chart>
  <c:spPr>
    <a:solidFill>
      <a:schemeClr val="bg1"/>
    </a:solidFill>
    <a:ln w="28575" cap="flat" cmpd="sng" algn="ctr">
      <a:solidFill>
        <a:schemeClr val="tx1"/>
      </a:solidFill>
      <a:round/>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09571124793975"/>
          <c:y val="7.100518332755601E-2"/>
          <c:w val="0.719059038660256"/>
          <c:h val="0.69247131583735799"/>
        </c:manualLayout>
      </c:layout>
      <c:scatterChart>
        <c:scatterStyle val="lineMarker"/>
        <c:varyColors val="0"/>
        <c:ser>
          <c:idx val="0"/>
          <c:order val="0"/>
          <c:spPr>
            <a:ln w="28575" cap="rnd">
              <a:noFill/>
              <a:round/>
            </a:ln>
            <a:effectLst/>
          </c:spPr>
          <c:marker>
            <c:symbol val="circle"/>
            <c:size val="8"/>
            <c:spPr>
              <a:solidFill>
                <a:schemeClr val="tx1"/>
              </a:solidFill>
              <a:ln w="9525">
                <a:solidFill>
                  <a:schemeClr val="tx1"/>
                </a:solidFill>
              </a:ln>
              <a:effectLst/>
            </c:spPr>
          </c:marker>
          <c:trendline>
            <c:spPr>
              <a:ln w="28575" cap="rnd">
                <a:solidFill>
                  <a:srgbClr val="FFC000"/>
                </a:solidFill>
                <a:prstDash val="solid"/>
              </a:ln>
              <a:effectLst/>
            </c:spPr>
            <c:trendlineType val="linear"/>
            <c:dispRSqr val="1"/>
            <c:dispEq val="1"/>
            <c:trendlineLbl>
              <c:layout>
                <c:manualLayout>
                  <c:x val="0.2035910932816383"/>
                  <c:y val="0.4623520047655304"/>
                </c:manualLayout>
              </c:layout>
              <c:numFmt formatCode="General" sourceLinked="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trendlineLbl>
          </c:trendline>
          <c:xVal>
            <c:numRef>
              <c:f>PercentMaxTarget!$F$6:$F$11</c:f>
              <c:numCache>
                <c:formatCode>0%</c:formatCode>
                <c:ptCount val="6"/>
                <c:pt idx="0">
                  <c:v>4.2023933390044038E-2</c:v>
                </c:pt>
                <c:pt idx="1">
                  <c:v>1</c:v>
                </c:pt>
                <c:pt idx="2">
                  <c:v>0.54616237156529812</c:v>
                </c:pt>
                <c:pt idx="3">
                  <c:v>0.35606060606060608</c:v>
                </c:pt>
                <c:pt idx="4">
                  <c:v>0.61771492247892112</c:v>
                </c:pt>
                <c:pt idx="5">
                  <c:v>-0.16982843142590898</c:v>
                </c:pt>
              </c:numCache>
            </c:numRef>
          </c:xVal>
          <c:yVal>
            <c:numRef>
              <c:f>PercentMaxTarget!$G$6:$G$11</c:f>
              <c:numCache>
                <c:formatCode>0%</c:formatCode>
                <c:ptCount val="6"/>
                <c:pt idx="0">
                  <c:v>0.34782626452779514</c:v>
                </c:pt>
                <c:pt idx="1">
                  <c:v>0.7116100922836317</c:v>
                </c:pt>
                <c:pt idx="2">
                  <c:v>0.92008626153899375</c:v>
                </c:pt>
                <c:pt idx="3">
                  <c:v>0.58782616499539042</c:v>
                </c:pt>
                <c:pt idx="4">
                  <c:v>0.66630078379187019</c:v>
                </c:pt>
                <c:pt idx="5">
                  <c:v>0.56724490222916446</c:v>
                </c:pt>
              </c:numCache>
            </c:numRef>
          </c:yVal>
          <c:smooth val="0"/>
          <c:extLst>
            <c:ext xmlns:c16="http://schemas.microsoft.com/office/drawing/2014/chart" uri="{C3380CC4-5D6E-409C-BE32-E72D297353CC}">
              <c16:uniqueId val="{00000001-9B53-4FA2-8945-DBA79778AD69}"/>
            </c:ext>
          </c:extLst>
        </c:ser>
        <c:ser>
          <c:idx val="1"/>
          <c:order val="1"/>
          <c:tx>
            <c:strRef>
              <c:f>PercentMaxTarget!$A$6</c:f>
              <c:strCache>
                <c:ptCount val="1"/>
                <c:pt idx="0">
                  <c:v>JOUT</c:v>
                </c:pt>
              </c:strCache>
            </c:strRef>
          </c:tx>
          <c:spPr>
            <a:ln w="25400" cap="rnd">
              <a:noFill/>
              <a:round/>
            </a:ln>
            <a:effectLst/>
          </c:spPr>
          <c:marker>
            <c:symbol val="circle"/>
            <c:size val="5"/>
            <c:spPr>
              <a:solidFill>
                <a:srgbClr val="000000"/>
              </a:solidFill>
              <a:ln w="9525">
                <a:solidFill>
                  <a:srgbClr val="F2C755"/>
                </a:solidFill>
              </a:ln>
              <a:effectLst/>
            </c:spPr>
          </c:marker>
          <c:dLbls>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showLegendKey val="0"/>
            <c:showVal val="1"/>
            <c:showCatName val="1"/>
            <c:showSerName val="1"/>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numRef>
              <c:f>PercentMaxTarget!$F$6</c:f>
              <c:numCache>
                <c:formatCode>0%</c:formatCode>
                <c:ptCount val="1"/>
                <c:pt idx="0">
                  <c:v>4.2023933390044038E-2</c:v>
                </c:pt>
              </c:numCache>
            </c:numRef>
          </c:xVal>
          <c:yVal>
            <c:numRef>
              <c:f>PercentMaxTarget!$G$6</c:f>
              <c:numCache>
                <c:formatCode>0%</c:formatCode>
                <c:ptCount val="1"/>
                <c:pt idx="0">
                  <c:v>0.34782626452779514</c:v>
                </c:pt>
              </c:numCache>
            </c:numRef>
          </c:yVal>
          <c:smooth val="0"/>
          <c:extLst>
            <c:ext xmlns:c16="http://schemas.microsoft.com/office/drawing/2014/chart" uri="{C3380CC4-5D6E-409C-BE32-E72D297353CC}">
              <c16:uniqueId val="{00000002-9B53-4FA2-8945-DBA79778AD69}"/>
            </c:ext>
          </c:extLst>
        </c:ser>
        <c:dLbls>
          <c:showLegendKey val="0"/>
          <c:showVal val="0"/>
          <c:showCatName val="0"/>
          <c:showSerName val="0"/>
          <c:showPercent val="0"/>
          <c:showBubbleSize val="0"/>
        </c:dLbls>
        <c:axId val="1695080640"/>
        <c:axId val="1695079680"/>
      </c:scatterChart>
      <c:valAx>
        <c:axId val="169508064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r>
                  <a:rPr lang="en-US"/>
                  <a:t>Fundamentals</a:t>
                </a:r>
              </a:p>
            </c:rich>
          </c:tx>
          <c:overlay val="0"/>
          <c:spPr>
            <a:noFill/>
            <a:ln>
              <a:noFill/>
            </a:ln>
            <a:effectLst/>
          </c:spPr>
          <c:txPr>
            <a:bodyPr rot="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1695079680"/>
        <c:crosses val="autoZero"/>
        <c:crossBetween val="midCat"/>
      </c:valAx>
      <c:valAx>
        <c:axId val="169507968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r>
                  <a:rPr lang="en-US"/>
                  <a:t>Valuation</a:t>
                </a:r>
              </a:p>
            </c:rich>
          </c:tx>
          <c:overlay val="0"/>
          <c:spPr>
            <a:noFill/>
            <a:ln>
              <a:noFill/>
            </a:ln>
            <a:effectLst/>
          </c:spPr>
          <c:txPr>
            <a:bodyPr rot="-54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title>
        <c:numFmt formatCode="0%"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050" b="0" i="0" u="none" strike="noStrike" kern="1200" baseline="0">
                <a:solidFill>
                  <a:schemeClr val="tx1"/>
                </a:solidFill>
                <a:latin typeface="+mn-lt"/>
                <a:ea typeface="+mn-ea"/>
                <a:cs typeface="+mn-cs"/>
              </a:defRPr>
            </a:pPr>
            <a:endParaRPr lang="en-US"/>
          </a:p>
        </c:txPr>
        <c:crossAx val="1695080640"/>
        <c:crosses val="autoZero"/>
        <c:crossBetween val="midCat"/>
      </c:valAx>
      <c:spPr>
        <a:solidFill>
          <a:schemeClr val="bg1">
            <a:lumMod val="95000"/>
          </a:schemeClr>
        </a:solidFill>
        <a:ln w="28575">
          <a:solidFill>
            <a:schemeClr val="tx1"/>
          </a:solid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0000"/>
      </a:solidFill>
    </a:ln>
    <a:effectLst/>
  </c:spPr>
  <c:txPr>
    <a:bodyPr/>
    <a:lstStyle/>
    <a:p>
      <a:pPr>
        <a:defRPr sz="1050">
          <a:solidFill>
            <a:schemeClr val="tx1"/>
          </a:solidFill>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8261695922109394"/>
          <c:y val="0.24469802237287194"/>
          <c:w val="0.70972855166793558"/>
          <c:h val="0.46616082080649018"/>
        </c:manualLayout>
      </c:layout>
      <c:scatterChart>
        <c:scatterStyle val="lineMarker"/>
        <c:varyColors val="0"/>
        <c:ser>
          <c:idx val="0"/>
          <c:order val="0"/>
          <c:tx>
            <c:strRef>
              <c:f>CompChartsTargets!$C$29:$C$34</c:f>
              <c:strCache>
                <c:ptCount val="6"/>
                <c:pt idx="0">
                  <c:v>-2.7%</c:v>
                </c:pt>
                <c:pt idx="1">
                  <c:v>8.0%</c:v>
                </c:pt>
                <c:pt idx="2">
                  <c:v>4.8%</c:v>
                </c:pt>
                <c:pt idx="3">
                  <c:v>4.8%</c:v>
                </c:pt>
                <c:pt idx="4">
                  <c:v>0.0%</c:v>
                </c:pt>
                <c:pt idx="5">
                  <c:v>-8.4%</c:v>
                </c:pt>
              </c:strCache>
            </c:strRef>
          </c:tx>
          <c:spPr>
            <a:ln>
              <a:noFill/>
            </a:ln>
          </c:spPr>
          <c:marker>
            <c:spPr>
              <a:solidFill>
                <a:srgbClr val="F2C755"/>
              </a:solidFill>
              <a:ln>
                <a:noFill/>
              </a:ln>
            </c:spPr>
          </c:marker>
          <c:trendline>
            <c:trendlineType val="linear"/>
            <c:dispRSqr val="1"/>
            <c:dispEq val="1"/>
            <c:trendlineLbl>
              <c:layout>
                <c:manualLayout>
                  <c:x val="0.17559855381053774"/>
                  <c:y val="-0.2446981627296588"/>
                </c:manualLayout>
              </c:layout>
              <c:numFmt formatCode="General" sourceLinked="0"/>
              <c:txPr>
                <a:bodyPr/>
                <a:lstStyle/>
                <a:p>
                  <a:pPr>
                    <a:defRPr sz="800" b="0" i="0" u="none" strike="noStrike" baseline="0">
                      <a:solidFill>
                        <a:srgbClr val="000000"/>
                      </a:solidFill>
                      <a:latin typeface="Calibri"/>
                      <a:ea typeface="Calibri"/>
                      <a:cs typeface="Calibri"/>
                    </a:defRPr>
                  </a:pPr>
                  <a:endParaRPr lang="en-US"/>
                </a:p>
              </c:txPr>
            </c:trendlineLbl>
          </c:trendline>
          <c:xVal>
            <c:numRef>
              <c:f>CompChartsTargets!$C$29:$C$34</c:f>
              <c:numCache>
                <c:formatCode>0.0%</c:formatCode>
                <c:ptCount val="6"/>
                <c:pt idx="0">
                  <c:v>-2.7110624790547641E-2</c:v>
                </c:pt>
                <c:pt idx="1">
                  <c:v>7.9691530025576995E-2</c:v>
                </c:pt>
                <c:pt idx="2">
                  <c:v>4.7912997818491877E-2</c:v>
                </c:pt>
                <c:pt idx="3">
                  <c:v>4.7912997818491877E-2</c:v>
                </c:pt>
                <c:pt idx="4">
                  <c:v>0</c:v>
                </c:pt>
                <c:pt idx="5">
                  <c:v>-8.3817804041956809E-2</c:v>
                </c:pt>
              </c:numCache>
            </c:numRef>
          </c:xVal>
          <c:yVal>
            <c:numRef>
              <c:f>CompChartsTargets!$B$29:$B$34</c:f>
              <c:numCache>
                <c:formatCode>0.00</c:formatCode>
                <c:ptCount val="6"/>
                <c:pt idx="0">
                  <c:v>0.96846442003880684</c:v>
                </c:pt>
                <c:pt idx="1">
                  <c:v>2.844987621913099</c:v>
                </c:pt>
                <c:pt idx="2">
                  <c:v>3.275684544733628</c:v>
                </c:pt>
                <c:pt idx="3">
                  <c:v>3.275684544733628</c:v>
                </c:pt>
                <c:pt idx="4">
                  <c:v>1.6120889107424301</c:v>
                </c:pt>
                <c:pt idx="5">
                  <c:v>1.8417109323504792</c:v>
                </c:pt>
              </c:numCache>
            </c:numRef>
          </c:yVal>
          <c:smooth val="0"/>
          <c:extLst>
            <c:ext xmlns:c16="http://schemas.microsoft.com/office/drawing/2014/chart" uri="{C3380CC4-5D6E-409C-BE32-E72D297353CC}">
              <c16:uniqueId val="{00000001-8A20-4AA2-857E-398417F8D527}"/>
            </c:ext>
          </c:extLst>
        </c:ser>
        <c:dLbls>
          <c:showLegendKey val="0"/>
          <c:showVal val="0"/>
          <c:showCatName val="0"/>
          <c:showSerName val="0"/>
          <c:showPercent val="0"/>
          <c:showBubbleSize val="0"/>
        </c:dLbls>
        <c:axId val="887847320"/>
        <c:axId val="887848104"/>
      </c:scatterChart>
      <c:valAx>
        <c:axId val="887847320"/>
        <c:scaling>
          <c:orientation val="minMax"/>
        </c:scaling>
        <c:delete val="0"/>
        <c:axPos val="b"/>
        <c:title>
          <c:tx>
            <c:rich>
              <a:bodyPr/>
              <a:lstStyle/>
              <a:p>
                <a:pPr>
                  <a:defRPr sz="1000" b="1" i="0" u="none" strike="noStrike" baseline="0">
                    <a:solidFill>
                      <a:srgbClr val="000000"/>
                    </a:solidFill>
                    <a:latin typeface="Calibri"/>
                    <a:ea typeface="Calibri"/>
                    <a:cs typeface="Calibri"/>
                  </a:defRPr>
                </a:pPr>
                <a:r>
                  <a:rPr lang="en-US"/>
                  <a:t>ROE</a:t>
                </a:r>
              </a:p>
            </c:rich>
          </c:tx>
          <c:overlay val="0"/>
        </c:title>
        <c:numFmt formatCode="0%" sourceLinked="0"/>
        <c:majorTickMark val="none"/>
        <c:minorTickMark val="none"/>
        <c:tickLblPos val="low"/>
        <c:txPr>
          <a:bodyPr rot="0" vert="horz"/>
          <a:lstStyle/>
          <a:p>
            <a:pPr>
              <a:defRPr sz="1000" b="0" i="0" u="none" strike="noStrike" baseline="0">
                <a:solidFill>
                  <a:srgbClr val="000000"/>
                </a:solidFill>
                <a:latin typeface="Calibri"/>
                <a:ea typeface="Calibri"/>
                <a:cs typeface="Calibri"/>
              </a:defRPr>
            </a:pPr>
            <a:endParaRPr lang="en-US"/>
          </a:p>
        </c:txPr>
        <c:crossAx val="887848104"/>
        <c:crosses val="autoZero"/>
        <c:crossBetween val="midCat"/>
      </c:valAx>
      <c:valAx>
        <c:axId val="887848104"/>
        <c:scaling>
          <c:orientation val="minMax"/>
        </c:scaling>
        <c:delete val="0"/>
        <c:axPos val="l"/>
        <c:majorGridlines/>
        <c:title>
          <c:tx>
            <c:rich>
              <a:bodyPr/>
              <a:lstStyle/>
              <a:p>
                <a:pPr>
                  <a:defRPr sz="1000" b="1" i="0" u="none" strike="noStrike" baseline="0">
                    <a:solidFill>
                      <a:srgbClr val="000000"/>
                    </a:solidFill>
                    <a:latin typeface="Calibri"/>
                    <a:ea typeface="Calibri"/>
                    <a:cs typeface="Calibri"/>
                  </a:defRPr>
                </a:pPr>
                <a:r>
                  <a:rPr lang="en-US"/>
                  <a:t>P/B</a:t>
                </a:r>
              </a:p>
            </c:rich>
          </c:tx>
          <c:layout>
            <c:manualLayout>
              <c:xMode val="edge"/>
              <c:yMode val="edge"/>
              <c:x val="2.8501103171872211E-2"/>
              <c:y val="0.39962007511495151"/>
            </c:manualLayout>
          </c:layout>
          <c:overlay val="0"/>
        </c:title>
        <c:numFmt formatCode="0.0" sourceLinked="0"/>
        <c:majorTickMark val="out"/>
        <c:minorTickMark val="none"/>
        <c:tickLblPos val="low"/>
        <c:txPr>
          <a:bodyPr rot="0" vert="horz"/>
          <a:lstStyle/>
          <a:p>
            <a:pPr>
              <a:defRPr sz="1000" b="0" i="0" u="none" strike="noStrike" baseline="0">
                <a:solidFill>
                  <a:srgbClr val="000000"/>
                </a:solidFill>
                <a:latin typeface="Calibri"/>
                <a:ea typeface="Calibri"/>
                <a:cs typeface="Calibri"/>
              </a:defRPr>
            </a:pPr>
            <a:endParaRPr lang="en-US"/>
          </a:p>
        </c:txPr>
        <c:crossAx val="887847320"/>
        <c:crosses val="autoZero"/>
        <c:crossBetween val="midCat"/>
      </c:valAx>
      <c:spPr>
        <a:solidFill>
          <a:schemeClr val="bg1"/>
        </a:solidFill>
        <a:ln w="28575">
          <a:solidFill>
            <a:schemeClr val="tx1"/>
          </a:solidFill>
        </a:ln>
      </c:spPr>
    </c:plotArea>
    <c:plotVisOnly val="1"/>
    <c:dispBlanksAs val="gap"/>
    <c:showDLblsOverMax val="0"/>
  </c:chart>
  <c:spPr>
    <a:solidFill>
      <a:schemeClr val="bg1"/>
    </a:solidFill>
    <a:ln w="28575">
      <a:solidFill>
        <a:srgbClr val="000000"/>
      </a:solidFill>
    </a:ln>
  </c:spPr>
  <c:txPr>
    <a:bodyPr/>
    <a:lstStyle/>
    <a:p>
      <a:pPr>
        <a:defRPr sz="1000" b="0" i="0" u="none" strike="noStrike" baseline="0">
          <a:solidFill>
            <a:srgbClr val="000000"/>
          </a:solidFill>
          <a:latin typeface="Calibri"/>
          <a:ea typeface="Calibri"/>
          <a:cs typeface="Calibri"/>
        </a:defRPr>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radarChart>
        <c:radarStyle val="marker"/>
        <c:varyColors val="0"/>
        <c:ser>
          <c:idx val="0"/>
          <c:order val="0"/>
          <c:spPr>
            <a:ln w="28575" cap="rnd">
              <a:solidFill>
                <a:schemeClr val="accent1"/>
              </a:solidFill>
              <a:round/>
            </a:ln>
            <a:effectLst/>
          </c:spPr>
          <c:marker>
            <c:symbol val="circle"/>
            <c:size val="5"/>
            <c:spPr>
              <a:solidFill>
                <a:schemeClr val="accent1"/>
              </a:solidFill>
              <a:ln w="9525">
                <a:solidFill>
                  <a:schemeClr val="accent1"/>
                </a:solidFill>
              </a:ln>
              <a:effectLst/>
              <a:scene3d>
                <a:camera prst="orthographicFront"/>
                <a:lightRig rig="threePt" dir="t"/>
              </a:scene3d>
              <a:sp3d>
                <a:bevelT w="0" h="0"/>
              </a:sp3d>
            </c:spPr>
          </c:marker>
          <c:cat>
            <c:strRef>
              <c:f>Sheet1!$G$169:$G$173</c:f>
              <c:strCache>
                <c:ptCount val="5"/>
                <c:pt idx="0">
                  <c:v>Threat of New Entrants</c:v>
                </c:pt>
                <c:pt idx="1">
                  <c:v>Rivalry Among Existing Competitors</c:v>
                </c:pt>
                <c:pt idx="2">
                  <c:v>Bargaining Power of Suppliers</c:v>
                </c:pt>
                <c:pt idx="3">
                  <c:v>Bargaining Power of Buyers</c:v>
                </c:pt>
                <c:pt idx="4">
                  <c:v>Threat of Substitutes</c:v>
                </c:pt>
              </c:strCache>
            </c:strRef>
          </c:cat>
          <c:val>
            <c:numRef>
              <c:f>Sheet1!$H$169:$H$173</c:f>
              <c:numCache>
                <c:formatCode>General</c:formatCode>
                <c:ptCount val="5"/>
                <c:pt idx="0">
                  <c:v>2</c:v>
                </c:pt>
                <c:pt idx="1">
                  <c:v>4</c:v>
                </c:pt>
                <c:pt idx="2">
                  <c:v>4</c:v>
                </c:pt>
                <c:pt idx="3">
                  <c:v>3</c:v>
                </c:pt>
                <c:pt idx="4">
                  <c:v>2</c:v>
                </c:pt>
              </c:numCache>
            </c:numRef>
          </c:val>
          <c:extLst>
            <c:ext xmlns:c16="http://schemas.microsoft.com/office/drawing/2014/chart" uri="{C3380CC4-5D6E-409C-BE32-E72D297353CC}">
              <c16:uniqueId val="{00000000-4651-438E-BB73-C6E65A668F51}"/>
            </c:ext>
          </c:extLst>
        </c:ser>
        <c:dLbls>
          <c:showLegendKey val="0"/>
          <c:showVal val="0"/>
          <c:showCatName val="0"/>
          <c:showSerName val="0"/>
          <c:showPercent val="0"/>
          <c:showBubbleSize val="0"/>
        </c:dLbls>
        <c:axId val="1431425360"/>
        <c:axId val="1431426800"/>
      </c:radarChart>
      <c:catAx>
        <c:axId val="1431425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crossAx val="1431426800"/>
        <c:crosses val="autoZero"/>
        <c:auto val="1"/>
        <c:lblAlgn val="ctr"/>
        <c:lblOffset val="100"/>
        <c:noMultiLvlLbl val="0"/>
      </c:catAx>
      <c:valAx>
        <c:axId val="1431426800"/>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143142536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rgbClr val="FFFFFF"/>
    </a:solidFill>
    <a:ln w="28575" cap="flat" cmpd="sng" algn="ctr">
      <a:solidFill>
        <a:srgbClr val="000000"/>
      </a:solidFill>
      <a:round/>
    </a:ln>
    <a:effectLst/>
  </c:spPr>
  <c:txPr>
    <a:bodyPr/>
    <a:lstStyle/>
    <a:p>
      <a:pPr>
        <a:defRPr sz="1000">
          <a:solidFill>
            <a:srgbClr val="000000"/>
          </a:solidFill>
          <a:latin typeface="Calibri" panose="020F0502020204030204" pitchFamily="34" charset="0"/>
          <a:ea typeface="Calibri" panose="020F0502020204030204" pitchFamily="34" charset="0"/>
          <a:cs typeface="Calibri" panose="020F0502020204030204" pitchFamily="34"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2.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5.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6.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000">
  <a:srgbClr val="637CEF"/>
  <a:srgbClr val="E3008C"/>
  <a:srgbClr val="2AA0A4"/>
  <a:srgbClr val="9373C0"/>
  <a:srgbClr val="13A10E"/>
  <a:srgbClr val="3A96DD"/>
  <a:srgbClr val="CA5010"/>
  <a:srgbClr val="57811B"/>
  <a:srgbClr val="B146C2"/>
  <a:srgbClr val="AE8C00"/>
  <a:srgbClr val="AE8C00"/>
  <a:srgbClr val="637CEF"/>
  <a:srgbClr val="EE5FB7"/>
  <a:srgbClr val="008B94"/>
  <a:srgbClr val="D77440"/>
  <a:srgbClr val="BA58C9"/>
  <a:srgbClr val="3A96DD"/>
  <a:srgbClr val="E3008C"/>
  <a:srgbClr val="C36BD1"/>
  <a:srgbClr val="D06228"/>
  <a:srgbClr val="57811B"/>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FB_1B8E3723.xml><?xml version="1.0" encoding="utf-8"?>
<p188:cmLst xmlns:a="http://schemas.openxmlformats.org/drawingml/2006/main" xmlns:r="http://schemas.openxmlformats.org/officeDocument/2006/relationships" xmlns:p188="http://schemas.microsoft.com/office/powerpoint/2018/8/main">
  <p188:cm id="{9BA32115-CBA1-4131-A7DF-F94A6FC7C911}" authorId="{58D85C67-8340-4C92-5383-DD69BC0CB1EF}" created="2025-01-14T19:33:16.171">
    <pc:sldMkLst xmlns:pc="http://schemas.microsoft.com/office/powerpoint/2013/main/command">
      <pc:docMk/>
      <pc:sldMk cId="462305059" sldId="507"/>
    </pc:sldMkLst>
    <p188:txBody>
      <a:bodyPr/>
      <a:lstStyle/>
      <a:p>
        <a:r>
          <a:rPr lang="en-US"/>
          <a:t>Add LTG</a:t>
        </a:r>
      </a:p>
    </p188:txBody>
  </p188:cm>
</p188:cmLst>
</file>

<file path=ppt/comments/modernComment_21D_CEF0BB86.xml><?xml version="1.0" encoding="utf-8"?>
<p188:cmLst xmlns:a="http://schemas.openxmlformats.org/drawingml/2006/main" xmlns:r="http://schemas.openxmlformats.org/officeDocument/2006/relationships" xmlns:p188="http://schemas.microsoft.com/office/powerpoint/2018/8/main">
  <p188:cm id="{03576B1F-A0F1-4BB0-B920-D6D3CF9A7BC9}" authorId="{58D85C67-8340-4C92-5383-DD69BC0CB1EF}" created="2025-01-14T19:37:03.732">
    <pc:sldMkLst xmlns:pc="http://schemas.microsoft.com/office/powerpoint/2013/main/command">
      <pc:docMk/>
      <pc:sldMk cId="3471883142" sldId="541"/>
    </pc:sldMkLst>
    <p188:txBody>
      <a:bodyPr/>
      <a:lstStyle/>
      <a:p>
        <a:r>
          <a:rPr lang="en-US"/>
          <a:t>Footnote at the bottom</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BDE341-93C2-0CD7-7353-27FA0A371992}"/>
              </a:ext>
            </a:extLst>
          </p:cNvPr>
          <p:cNvSpPr>
            <a:spLocks noGrp="1"/>
          </p:cNvSpPr>
          <p:nvPr>
            <p:ph type="hdr" sz="quarter"/>
          </p:nvPr>
        </p:nvSpPr>
        <p:spPr>
          <a:xfrm>
            <a:off x="0" y="0"/>
            <a:ext cx="3997325" cy="352425"/>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r>
              <a:rPr lang="en-US"/>
              <a:t>Monsanto Company (MON)</a:t>
            </a:r>
          </a:p>
        </p:txBody>
      </p:sp>
      <p:sp>
        <p:nvSpPr>
          <p:cNvPr id="3" name="Date Placeholder 2">
            <a:extLst>
              <a:ext uri="{FF2B5EF4-FFF2-40B4-BE49-F238E27FC236}">
                <a16:creationId xmlns:a16="http://schemas.microsoft.com/office/drawing/2014/main" id="{A794B06B-08B6-792E-24B7-7963CB53F61A}"/>
              </a:ext>
            </a:extLst>
          </p:cNvPr>
          <p:cNvSpPr>
            <a:spLocks noGrp="1"/>
          </p:cNvSpPr>
          <p:nvPr>
            <p:ph type="dt" idx="1"/>
          </p:nvPr>
        </p:nvSpPr>
        <p:spPr>
          <a:xfrm>
            <a:off x="5224463" y="0"/>
            <a:ext cx="3997325" cy="352425"/>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6511DD67-574E-4602-BC26-EAE9AECC4814}" type="datetimeFigureOut">
              <a:rPr lang="en-US"/>
              <a:pPr>
                <a:defRPr/>
              </a:pPr>
              <a:t>2/28/2026</a:t>
            </a:fld>
            <a:endParaRPr lang="en-US"/>
          </a:p>
        </p:txBody>
      </p:sp>
      <p:sp>
        <p:nvSpPr>
          <p:cNvPr id="4" name="Slide Image Placeholder 3">
            <a:extLst>
              <a:ext uri="{FF2B5EF4-FFF2-40B4-BE49-F238E27FC236}">
                <a16:creationId xmlns:a16="http://schemas.microsoft.com/office/drawing/2014/main" id="{F6F3E848-96A0-E6CD-3458-34A171BD944B}"/>
              </a:ext>
            </a:extLst>
          </p:cNvPr>
          <p:cNvSpPr>
            <a:spLocks noGrp="1" noRot="1" noChangeAspect="1"/>
          </p:cNvSpPr>
          <p:nvPr>
            <p:ph type="sldImg" idx="2"/>
          </p:nvPr>
        </p:nvSpPr>
        <p:spPr>
          <a:xfrm>
            <a:off x="3035300" y="876300"/>
            <a:ext cx="3152775" cy="2365375"/>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E9B7818-521F-7851-EBDE-B37FB8F90047}"/>
              </a:ext>
            </a:extLst>
          </p:cNvPr>
          <p:cNvSpPr>
            <a:spLocks noGrp="1"/>
          </p:cNvSpPr>
          <p:nvPr>
            <p:ph type="body" sz="quarter" idx="3"/>
          </p:nvPr>
        </p:nvSpPr>
        <p:spPr>
          <a:xfrm>
            <a:off x="922338" y="3373438"/>
            <a:ext cx="7378700" cy="2760662"/>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9E28262-8BB4-61AB-CC96-73992F615DA8}"/>
              </a:ext>
            </a:extLst>
          </p:cNvPr>
          <p:cNvSpPr>
            <a:spLocks noGrp="1"/>
          </p:cNvSpPr>
          <p:nvPr>
            <p:ph type="ftr" sz="quarter" idx="4"/>
          </p:nvPr>
        </p:nvSpPr>
        <p:spPr>
          <a:xfrm>
            <a:off x="0" y="6657975"/>
            <a:ext cx="3997325" cy="352425"/>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r>
              <a:rPr lang="en-US"/>
              <a:t>IMCP - Super Stock Pitch Day</a:t>
            </a:r>
          </a:p>
        </p:txBody>
      </p:sp>
      <p:sp>
        <p:nvSpPr>
          <p:cNvPr id="7" name="Slide Number Placeholder 6">
            <a:extLst>
              <a:ext uri="{FF2B5EF4-FFF2-40B4-BE49-F238E27FC236}">
                <a16:creationId xmlns:a16="http://schemas.microsoft.com/office/drawing/2014/main" id="{9BA3C9E5-25BD-60B8-E6D1-40B4EEE64A7A}"/>
              </a:ext>
            </a:extLst>
          </p:cNvPr>
          <p:cNvSpPr>
            <a:spLocks noGrp="1"/>
          </p:cNvSpPr>
          <p:nvPr>
            <p:ph type="sldNum" sz="quarter" idx="5"/>
          </p:nvPr>
        </p:nvSpPr>
        <p:spPr>
          <a:xfrm>
            <a:off x="5224463" y="6657975"/>
            <a:ext cx="3997325" cy="3524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358458C8-3D92-403E-A7D0-38FB75CD5FBE}" type="slidenum">
              <a:rPr lang="en-US" altLang="en-US"/>
              <a:pPr/>
              <a:t>‹#›</a:t>
            </a:fld>
            <a:endParaRPr lang="en-US" altLang="en-US"/>
          </a:p>
        </p:txBody>
      </p:sp>
    </p:spTree>
  </p:cSld>
  <p:clrMap bg1="lt1" tx1="dk1" bg2="lt2" tx2="dk2" accent1="accent1" accent2="accent2" accent3="accent3" accent4="accent4" accent5="accent5" accent6="accent6" hlink="hlink" folHlink="folHlink"/>
  <p:hf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F298672D-A664-6405-7366-53316FEB46B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7821427F-8D31-4382-B734-8622899E602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r>
              <a:rPr lang="en-US" altLang="en-US"/>
              <a:t>All values as of 12.31.2022</a:t>
            </a:r>
          </a:p>
        </p:txBody>
      </p:sp>
      <p:sp>
        <p:nvSpPr>
          <p:cNvPr id="11268" name="Header Placeholder 3">
            <a:extLst>
              <a:ext uri="{FF2B5EF4-FFF2-40B4-BE49-F238E27FC236}">
                <a16:creationId xmlns:a16="http://schemas.microsoft.com/office/drawing/2014/main" id="{66D83A9B-EF83-823D-6548-B6044081E73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1269" name="Footer Placeholder 4">
            <a:extLst>
              <a:ext uri="{FF2B5EF4-FFF2-40B4-BE49-F238E27FC236}">
                <a16:creationId xmlns:a16="http://schemas.microsoft.com/office/drawing/2014/main" id="{DD55DFE6-25DF-D4F4-169D-42CCEA1F6242}"/>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1270" name="Slide Number Placeholder 5">
            <a:extLst>
              <a:ext uri="{FF2B5EF4-FFF2-40B4-BE49-F238E27FC236}">
                <a16:creationId xmlns:a16="http://schemas.microsoft.com/office/drawing/2014/main" id="{7A514866-C6C6-C965-EAF8-EA5B96E1BC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DC4FE15-980B-44C6-9DA0-521F053CF0D1}" type="slidenum">
              <a:rPr lang="en-US" altLang="en-US">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FB33D-A49B-BF36-01CC-77488D5522A8}"/>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4AA9C9D9-7754-5A69-8620-9B83E26C3A22}"/>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7D6E7AFD-4958-0683-0FBE-33A6831476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2406A572-07E5-A599-44DD-2997EB3F36B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437B548F-0A96-5600-AE07-58619989CB26}"/>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6D94B2DE-F2F6-5BF8-9221-D1D9DD6B6A4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2</a:t>
            </a:fld>
            <a:endParaRPr lang="en-US" altLang="en-US">
              <a:latin typeface="Calibri" panose="020F0502020204030204" pitchFamily="34" charset="0"/>
            </a:endParaRPr>
          </a:p>
        </p:txBody>
      </p:sp>
    </p:spTree>
    <p:extLst>
      <p:ext uri="{BB962C8B-B14F-4D97-AF65-F5344CB8AC3E}">
        <p14:creationId xmlns:p14="http://schemas.microsoft.com/office/powerpoint/2010/main" val="3532168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B8111-28B8-8AD8-65E3-D7337D87E7D9}"/>
            </a:ext>
          </a:extLst>
        </p:cNvPr>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07011A32-0A14-DD42-4100-EF4080BAA6E4}"/>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57D58D49-DDF4-B46A-83FB-9D76A3AD3A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5364" name="Header Placeholder 3">
            <a:extLst>
              <a:ext uri="{FF2B5EF4-FFF2-40B4-BE49-F238E27FC236}">
                <a16:creationId xmlns:a16="http://schemas.microsoft.com/office/drawing/2014/main" id="{C3BD8B96-BD07-3BF9-EAA3-F1FC007F286D}"/>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5365" name="Footer Placeholder 4">
            <a:extLst>
              <a:ext uri="{FF2B5EF4-FFF2-40B4-BE49-F238E27FC236}">
                <a16:creationId xmlns:a16="http://schemas.microsoft.com/office/drawing/2014/main" id="{A7732163-E889-D414-F893-0D245EC91BFF}"/>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5366" name="Slide Number Placeholder 5">
            <a:extLst>
              <a:ext uri="{FF2B5EF4-FFF2-40B4-BE49-F238E27FC236}">
                <a16:creationId xmlns:a16="http://schemas.microsoft.com/office/drawing/2014/main" id="{5847D8C5-D0DB-CF7F-7E93-E73CED55077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99EDC6-C712-44CD-AFC9-0E8FB5E822C2}" type="slidenum">
              <a:rPr lang="en-US" altLang="en-US">
                <a:latin typeface="Calibri" panose="020F0502020204030204" pitchFamily="34" charset="0"/>
              </a:rPr>
              <a:pPr/>
              <a:t>3</a:t>
            </a:fld>
            <a:endParaRPr lang="en-US" altLang="en-US">
              <a:latin typeface="Calibri" panose="020F0502020204030204" pitchFamily="34" charset="0"/>
            </a:endParaRPr>
          </a:p>
        </p:txBody>
      </p:sp>
    </p:spTree>
    <p:extLst>
      <p:ext uri="{BB962C8B-B14F-4D97-AF65-F5344CB8AC3E}">
        <p14:creationId xmlns:p14="http://schemas.microsoft.com/office/powerpoint/2010/main" val="2637235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E513A0-2C5A-EB5D-610D-28197D3E70E7}"/>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58E2C7BB-C46A-7179-9D72-AE12E5C239AD}"/>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050A37B1-6304-9127-BB00-7F980561AC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165263FE-852E-C234-421E-14734A9183A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015766CD-5399-0AC8-94C0-A02278472221}"/>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78643D79-031F-6948-754C-A69A56C45CC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4</a:t>
            </a:fld>
            <a:endParaRPr lang="en-US" altLang="en-US">
              <a:latin typeface="Calibri" panose="020F0502020204030204" pitchFamily="34" charset="0"/>
            </a:endParaRPr>
          </a:p>
        </p:txBody>
      </p:sp>
    </p:spTree>
    <p:extLst>
      <p:ext uri="{BB962C8B-B14F-4D97-AF65-F5344CB8AC3E}">
        <p14:creationId xmlns:p14="http://schemas.microsoft.com/office/powerpoint/2010/main" val="31377313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28FE-591B-D4AA-610F-3BCC97412ED3}"/>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6EF427B0-1ABF-5301-24B8-D321F15F78D5}"/>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17AED901-19F8-331F-517C-2DC2E2021D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4B00AB8B-B5A1-A8ED-34C2-B56EAB397F4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9AA2F045-0960-9B8F-EE5A-CA1CBDD500A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A8801C99-4B43-61E9-C084-5DE97CED9A1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5</a:t>
            </a:fld>
            <a:endParaRPr lang="en-US" altLang="en-US">
              <a:latin typeface="Calibri" panose="020F0502020204030204" pitchFamily="34" charset="0"/>
            </a:endParaRPr>
          </a:p>
        </p:txBody>
      </p:sp>
    </p:spTree>
    <p:extLst>
      <p:ext uri="{BB962C8B-B14F-4D97-AF65-F5344CB8AC3E}">
        <p14:creationId xmlns:p14="http://schemas.microsoft.com/office/powerpoint/2010/main" val="19316534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C0990-1028-5EE1-A537-7DABCAB05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DCC34-A129-33E6-858A-F67CE01382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06131-B5BC-251F-869A-6D5FF10911EC}"/>
              </a:ext>
            </a:extLst>
          </p:cNvPr>
          <p:cNvSpPr>
            <a:spLocks noGrp="1"/>
          </p:cNvSpPr>
          <p:nvPr>
            <p:ph type="body" idx="1"/>
          </p:nvPr>
        </p:nvSpPr>
        <p:spPr/>
        <p:txBody>
          <a:bodyPr/>
          <a:lstStyle/>
          <a:p>
            <a:endParaRPr lang="en-US"/>
          </a:p>
        </p:txBody>
      </p:sp>
      <p:sp>
        <p:nvSpPr>
          <p:cNvPr id="4" name="Header Placeholder 3">
            <a:extLst>
              <a:ext uri="{FF2B5EF4-FFF2-40B4-BE49-F238E27FC236}">
                <a16:creationId xmlns:a16="http://schemas.microsoft.com/office/drawing/2014/main" id="{5113B3DD-6507-D5E6-7594-B2C9F81F9F24}"/>
              </a:ext>
            </a:extLst>
          </p:cNvPr>
          <p:cNvSpPr>
            <a:spLocks noGrp="1"/>
          </p:cNvSpPr>
          <p:nvPr>
            <p:ph type="hdr" sz="quarter"/>
          </p:nvPr>
        </p:nvSpPr>
        <p:spPr/>
        <p:txBody>
          <a:bodyPr/>
          <a:lstStyle/>
          <a:p>
            <a:pPr>
              <a:defRPr/>
            </a:pPr>
            <a:r>
              <a:rPr lang="en-US"/>
              <a:t>Monsanto Company (MON)</a:t>
            </a:r>
          </a:p>
        </p:txBody>
      </p:sp>
      <p:sp>
        <p:nvSpPr>
          <p:cNvPr id="5" name="Footer Placeholder 4">
            <a:extLst>
              <a:ext uri="{FF2B5EF4-FFF2-40B4-BE49-F238E27FC236}">
                <a16:creationId xmlns:a16="http://schemas.microsoft.com/office/drawing/2014/main" id="{1B1232DA-AC4B-D383-A653-9F45C96C4044}"/>
              </a:ext>
            </a:extLst>
          </p:cNvPr>
          <p:cNvSpPr>
            <a:spLocks noGrp="1"/>
          </p:cNvSpPr>
          <p:nvPr>
            <p:ph type="ftr" sz="quarter" idx="4"/>
          </p:nvPr>
        </p:nvSpPr>
        <p:spPr/>
        <p:txBody>
          <a:bodyPr/>
          <a:lstStyle/>
          <a:p>
            <a:pPr>
              <a:defRPr/>
            </a:pPr>
            <a:r>
              <a:rPr lang="en-US"/>
              <a:t>IMCP - Super Stock Pitch Day</a:t>
            </a:r>
          </a:p>
        </p:txBody>
      </p:sp>
      <p:sp>
        <p:nvSpPr>
          <p:cNvPr id="6" name="Slide Number Placeholder 5">
            <a:extLst>
              <a:ext uri="{FF2B5EF4-FFF2-40B4-BE49-F238E27FC236}">
                <a16:creationId xmlns:a16="http://schemas.microsoft.com/office/drawing/2014/main" id="{E2701262-F66D-B603-B689-F14895B4DA92}"/>
              </a:ext>
            </a:extLst>
          </p:cNvPr>
          <p:cNvSpPr>
            <a:spLocks noGrp="1"/>
          </p:cNvSpPr>
          <p:nvPr>
            <p:ph type="sldNum" sz="quarter" idx="5"/>
          </p:nvPr>
        </p:nvSpPr>
        <p:spPr/>
        <p:txBody>
          <a:bodyPr/>
          <a:lstStyle/>
          <a:p>
            <a:fld id="{358458C8-3D92-403E-A7D0-38FB75CD5FBE}" type="slidenum">
              <a:rPr lang="en-US" altLang="en-US" smtClean="0"/>
              <a:pPr/>
              <a:t>6</a:t>
            </a:fld>
            <a:endParaRPr lang="en-US" altLang="en-US"/>
          </a:p>
        </p:txBody>
      </p:sp>
    </p:spTree>
    <p:extLst>
      <p:ext uri="{BB962C8B-B14F-4D97-AF65-F5344CB8AC3E}">
        <p14:creationId xmlns:p14="http://schemas.microsoft.com/office/powerpoint/2010/main" val="1185077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56907-633B-645A-CDFC-940014EE4036}"/>
            </a:ext>
          </a:extLst>
        </p:cNvPr>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C619C75B-4B8A-1ADD-20DE-847BC9AC08A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D3C3C6B4-9078-B06E-A7CF-5CB08F7718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25604" name="Header Placeholder 3">
            <a:extLst>
              <a:ext uri="{FF2B5EF4-FFF2-40B4-BE49-F238E27FC236}">
                <a16:creationId xmlns:a16="http://schemas.microsoft.com/office/drawing/2014/main" id="{F76AA5DD-56A2-5346-A38D-D51DFDD31C0B}"/>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25605" name="Footer Placeholder 4">
            <a:extLst>
              <a:ext uri="{FF2B5EF4-FFF2-40B4-BE49-F238E27FC236}">
                <a16:creationId xmlns:a16="http://schemas.microsoft.com/office/drawing/2014/main" id="{36DA629E-B6D0-CDEA-82DD-FBF6C665A1DC}"/>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25606" name="Slide Number Placeholder 5">
            <a:extLst>
              <a:ext uri="{FF2B5EF4-FFF2-40B4-BE49-F238E27FC236}">
                <a16:creationId xmlns:a16="http://schemas.microsoft.com/office/drawing/2014/main" id="{93EEDE66-69E6-1CEF-DC9F-EF4A321719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E9C8E7-A154-41C5-9353-79185DF693C9}" type="slidenum">
              <a:rPr lang="en-US" altLang="en-US">
                <a:latin typeface="Calibri" panose="020F0502020204030204" pitchFamily="34" charset="0"/>
              </a:rPr>
              <a:pPr/>
              <a:t>7</a:t>
            </a:fld>
            <a:endParaRPr lang="en-US" altLang="en-US">
              <a:latin typeface="Calibri" panose="020F0502020204030204" pitchFamily="34" charset="0"/>
            </a:endParaRPr>
          </a:p>
        </p:txBody>
      </p:sp>
    </p:spTree>
    <p:extLst>
      <p:ext uri="{BB962C8B-B14F-4D97-AF65-F5344CB8AC3E}">
        <p14:creationId xmlns:p14="http://schemas.microsoft.com/office/powerpoint/2010/main" val="1375684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29F2F-7BAE-6ED1-2440-6303EE39EFA8}"/>
            </a:ext>
          </a:extLst>
        </p:cNvPr>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CD0E1ED6-2BB9-F0C5-0298-020C41A5C5B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C5A6F462-0F06-BDBE-2ABB-B8C19F72161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25604" name="Header Placeholder 3">
            <a:extLst>
              <a:ext uri="{FF2B5EF4-FFF2-40B4-BE49-F238E27FC236}">
                <a16:creationId xmlns:a16="http://schemas.microsoft.com/office/drawing/2014/main" id="{C4715538-AD36-16B4-BF12-C91A414E5F0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25605" name="Footer Placeholder 4">
            <a:extLst>
              <a:ext uri="{FF2B5EF4-FFF2-40B4-BE49-F238E27FC236}">
                <a16:creationId xmlns:a16="http://schemas.microsoft.com/office/drawing/2014/main" id="{1389D894-C3B3-8874-87CA-9485322B3FD6}"/>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25606" name="Slide Number Placeholder 5">
            <a:extLst>
              <a:ext uri="{FF2B5EF4-FFF2-40B4-BE49-F238E27FC236}">
                <a16:creationId xmlns:a16="http://schemas.microsoft.com/office/drawing/2014/main" id="{0BD5C5A4-2FCF-039C-760C-017F0638E29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E9C8E7-A154-41C5-9353-79185DF693C9}" type="slidenum">
              <a:rPr lang="en-US" altLang="en-US">
                <a:latin typeface="Calibri" panose="020F0502020204030204" pitchFamily="34" charset="0"/>
              </a:rPr>
              <a:pPr/>
              <a:t>8</a:t>
            </a:fld>
            <a:endParaRPr lang="en-US" altLang="en-US">
              <a:latin typeface="Calibri" panose="020F0502020204030204" pitchFamily="34" charset="0"/>
            </a:endParaRPr>
          </a:p>
        </p:txBody>
      </p:sp>
    </p:spTree>
    <p:extLst>
      <p:ext uri="{BB962C8B-B14F-4D97-AF65-F5344CB8AC3E}">
        <p14:creationId xmlns:p14="http://schemas.microsoft.com/office/powerpoint/2010/main" val="29379520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57B42-30F8-539B-E271-FED13D747D6E}"/>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8478A69-A222-A9F8-5F51-0645B36EF3A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56D088C9-2CD1-8DE2-661D-BA0C3EAB66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EAF9087E-23E3-8980-A382-A6F1AEC23C1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2173047F-F4C6-96A7-4D06-4E5E9E10C050}"/>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C5BF9FD8-085D-AF35-A70B-D4FF6ECCE5E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9</a:t>
            </a:fld>
            <a:endParaRPr lang="en-US" altLang="en-US">
              <a:latin typeface="Calibri" panose="020F0502020204030204" pitchFamily="34" charset="0"/>
            </a:endParaRPr>
          </a:p>
        </p:txBody>
      </p:sp>
    </p:spTree>
    <p:extLst>
      <p:ext uri="{BB962C8B-B14F-4D97-AF65-F5344CB8AC3E}">
        <p14:creationId xmlns:p14="http://schemas.microsoft.com/office/powerpoint/2010/main" val="312704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D45D-2B4E-F1C3-6076-726AB84FB06D}"/>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2E829A5A-2C9E-C561-B71F-E3373CC0E05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9FB8F0D0-AEFE-5373-6EBD-096F98E04EC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A2CC91FD-CEF2-81F6-BE0C-E4E7CFC63B70}"/>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E7FC15FF-38BD-8F07-7E6D-15C883CC3594}"/>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5C51BE0A-7F4E-A8E4-F126-929B723F29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10</a:t>
            </a:fld>
            <a:endParaRPr lang="en-US" altLang="en-US">
              <a:latin typeface="Calibri" panose="020F0502020204030204" pitchFamily="34" charset="0"/>
            </a:endParaRPr>
          </a:p>
        </p:txBody>
      </p:sp>
    </p:spTree>
    <p:extLst>
      <p:ext uri="{BB962C8B-B14F-4D97-AF65-F5344CB8AC3E}">
        <p14:creationId xmlns:p14="http://schemas.microsoft.com/office/powerpoint/2010/main" val="609586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DF3E9-6E95-2D5B-1E0B-FE835AD54070}"/>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94093F71-E894-04F1-4599-5D07FE5C4026}"/>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40FE1CDC-76B3-24B3-1D1C-E2E90227A6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1A01D214-FDEF-0BB5-5FC0-B984974D9738}"/>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C3D03A0-73F7-8442-72FD-B510FD28AE6D}"/>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181A5BDD-D9EC-E36C-B15D-C61BED1CC4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11</a:t>
            </a:fld>
            <a:endParaRPr lang="en-US" altLang="en-US">
              <a:latin typeface="Calibri" panose="020F0502020204030204" pitchFamily="34" charset="0"/>
            </a:endParaRPr>
          </a:p>
        </p:txBody>
      </p:sp>
    </p:spTree>
    <p:extLst>
      <p:ext uri="{BB962C8B-B14F-4D97-AF65-F5344CB8AC3E}">
        <p14:creationId xmlns:p14="http://schemas.microsoft.com/office/powerpoint/2010/main" val="1285944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271B-77D7-954D-5E09-821336D0112C}"/>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C8E9187F-088F-F824-3274-D7B1E45E976B}"/>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F9D362A5-B4D3-AEEA-C960-2B36BBDAEC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B603D74E-877A-6A81-817C-F610AFD92F6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17FBA0C8-AD93-00D6-350A-5B5A994ADC21}"/>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63A2F6ED-0A3F-D6BC-0D40-085247F6F3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12</a:t>
            </a:fld>
            <a:endParaRPr lang="en-US" altLang="en-US">
              <a:latin typeface="Calibri" panose="020F0502020204030204" pitchFamily="34" charset="0"/>
            </a:endParaRPr>
          </a:p>
        </p:txBody>
      </p:sp>
    </p:spTree>
    <p:extLst>
      <p:ext uri="{BB962C8B-B14F-4D97-AF65-F5344CB8AC3E}">
        <p14:creationId xmlns:p14="http://schemas.microsoft.com/office/powerpoint/2010/main" val="4175403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CD562-3506-600A-FE46-8E5CA930DBAA}"/>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61AFB435-937E-8F8B-601E-CFCAFF09A0B4}"/>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3D9217ED-6D88-62CE-5712-6CBA54EE55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4CA3CE56-D262-AEC2-2EF7-A9140E687B84}"/>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A3F15392-9986-943D-C7A2-D23F837C94C9}"/>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186684FE-60F8-C423-9C03-1B1EC4C22DD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13</a:t>
            </a:fld>
            <a:endParaRPr lang="en-US" altLang="en-US">
              <a:latin typeface="Calibri" panose="020F0502020204030204" pitchFamily="34" charset="0"/>
            </a:endParaRPr>
          </a:p>
        </p:txBody>
      </p:sp>
    </p:spTree>
    <p:extLst>
      <p:ext uri="{BB962C8B-B14F-4D97-AF65-F5344CB8AC3E}">
        <p14:creationId xmlns:p14="http://schemas.microsoft.com/office/powerpoint/2010/main" val="24277055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1EBD3-EAFA-24AE-98A2-EEFED865EB51}"/>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2BC4DCAB-089A-2F2C-44CE-70E3E06EAC1D}"/>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2DFC5110-4E27-956D-9EFF-BF3EE2A9846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F31D0359-43C5-50F1-9EB1-33071233D64D}"/>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50083D10-F4CC-C998-5DD6-854AD5A66A3B}"/>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269979DE-3EA7-CEBC-C98E-63CA10AC987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14</a:t>
            </a:fld>
            <a:endParaRPr lang="en-US" altLang="en-US">
              <a:latin typeface="Calibri" panose="020F0502020204030204" pitchFamily="34" charset="0"/>
            </a:endParaRPr>
          </a:p>
        </p:txBody>
      </p:sp>
    </p:spTree>
    <p:extLst>
      <p:ext uri="{BB962C8B-B14F-4D97-AF65-F5344CB8AC3E}">
        <p14:creationId xmlns:p14="http://schemas.microsoft.com/office/powerpoint/2010/main" val="2101460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F1E86-B00B-7AF0-3EA0-AA5ED6240EC3}"/>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4F37BDA9-3565-9C30-6B84-5ED618C46221}"/>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A00B883F-39F7-7975-1986-BFDD2CDC1AB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C12AB0A0-DA71-4B1A-2CC2-24454081604A}"/>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CEE69F30-F775-2319-5EFE-2748E3679713}"/>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91629CEB-01F5-334F-5C98-3EC481BBA9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15</a:t>
            </a:fld>
            <a:endParaRPr lang="en-US" altLang="en-US">
              <a:latin typeface="Calibri" panose="020F0502020204030204" pitchFamily="34" charset="0"/>
            </a:endParaRPr>
          </a:p>
        </p:txBody>
      </p:sp>
    </p:spTree>
    <p:extLst>
      <p:ext uri="{BB962C8B-B14F-4D97-AF65-F5344CB8AC3E}">
        <p14:creationId xmlns:p14="http://schemas.microsoft.com/office/powerpoint/2010/main" val="1457729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D8468-A9BF-A787-D905-5F06B42E37FF}"/>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7EBF94F3-655A-DEB8-7415-E2CF48B505B8}"/>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6F71A20-968A-B1D6-5915-D77FDB770E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F8904A41-37CF-C5B7-A8F1-6472D9622CF1}"/>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F8C54349-E326-8E1D-5FED-B7C51C1F4A98}"/>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F04C4132-BD55-362F-B1B5-DD34F29049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16</a:t>
            </a:fld>
            <a:endParaRPr lang="en-US" altLang="en-US">
              <a:latin typeface="Calibri" panose="020F0502020204030204" pitchFamily="34" charset="0"/>
            </a:endParaRPr>
          </a:p>
        </p:txBody>
      </p:sp>
    </p:spTree>
    <p:extLst>
      <p:ext uri="{BB962C8B-B14F-4D97-AF65-F5344CB8AC3E}">
        <p14:creationId xmlns:p14="http://schemas.microsoft.com/office/powerpoint/2010/main" val="28826703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C7FB8-62E8-13B7-CF01-FCBA673909E5}"/>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0D698F80-8635-E5A8-FBA7-3613FC1B5EB3}"/>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DB6447BE-9F49-B0C6-93E2-BE9A8DC082F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D29CB06A-48A1-76A2-91A6-7DD06D86D197}"/>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32071B6-1EE6-4EC6-6934-42AEE2B2BB7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5C35566D-E9A8-39AE-6A48-7C66CA30F9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17</a:t>
            </a:fld>
            <a:endParaRPr lang="en-US" altLang="en-US">
              <a:latin typeface="Calibri" panose="020F0502020204030204" pitchFamily="34" charset="0"/>
            </a:endParaRPr>
          </a:p>
        </p:txBody>
      </p:sp>
    </p:spTree>
    <p:extLst>
      <p:ext uri="{BB962C8B-B14F-4D97-AF65-F5344CB8AC3E}">
        <p14:creationId xmlns:p14="http://schemas.microsoft.com/office/powerpoint/2010/main" val="22048643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2B634-111B-3AE5-1104-9E5D5F06D2F0}"/>
            </a:ext>
          </a:extLst>
        </p:cNvPr>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620650CB-40FE-C9D9-9595-960464589B0E}"/>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70EE047E-7F94-4394-0C26-8AF4AA075F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endParaRPr lang="en-US" altLang="en-US"/>
          </a:p>
        </p:txBody>
      </p:sp>
      <p:sp>
        <p:nvSpPr>
          <p:cNvPr id="17412" name="Header Placeholder 3">
            <a:extLst>
              <a:ext uri="{FF2B5EF4-FFF2-40B4-BE49-F238E27FC236}">
                <a16:creationId xmlns:a16="http://schemas.microsoft.com/office/drawing/2014/main" id="{2543BF55-84E5-187F-35BD-48428D3B855F}"/>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7413" name="Footer Placeholder 4">
            <a:extLst>
              <a:ext uri="{FF2B5EF4-FFF2-40B4-BE49-F238E27FC236}">
                <a16:creationId xmlns:a16="http://schemas.microsoft.com/office/drawing/2014/main" id="{46C433BA-4166-B04D-827C-A99DB0206F97}"/>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7414" name="Slide Number Placeholder 5">
            <a:extLst>
              <a:ext uri="{FF2B5EF4-FFF2-40B4-BE49-F238E27FC236}">
                <a16:creationId xmlns:a16="http://schemas.microsoft.com/office/drawing/2014/main" id="{7B37BA89-3FCC-4A45-583B-DB1B5BFF8DE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A66833-84F5-4CF9-9D4C-F63AFFE1857F}" type="slidenum">
              <a:rPr lang="en-US" altLang="en-US">
                <a:latin typeface="Calibri" panose="020F0502020204030204" pitchFamily="34" charset="0"/>
              </a:rPr>
              <a:pPr/>
              <a:t>18</a:t>
            </a:fld>
            <a:endParaRPr lang="en-US" altLang="en-US">
              <a:latin typeface="Calibri" panose="020F0502020204030204" pitchFamily="34" charset="0"/>
            </a:endParaRPr>
          </a:p>
        </p:txBody>
      </p:sp>
    </p:spTree>
    <p:extLst>
      <p:ext uri="{BB962C8B-B14F-4D97-AF65-F5344CB8AC3E}">
        <p14:creationId xmlns:p14="http://schemas.microsoft.com/office/powerpoint/2010/main" val="3419433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9EB60-A707-D3AE-8858-AAFB36C02B37}"/>
            </a:ext>
          </a:extLst>
        </p:cNvPr>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4315153B-C4D5-C07D-02A4-5F4A870F9922}"/>
              </a:ext>
            </a:extLst>
          </p:cNvPr>
          <p:cNvSpPr>
            <a:spLocks noGrp="1" noRot="1" noChangeAspect="1" noTextEdit="1"/>
          </p:cNvSpPr>
          <p:nvPr>
            <p:ph type="sldImg"/>
          </p:nvPr>
        </p:nvSpPr>
        <p:spPr bwMode="auto">
          <a:xfrm>
            <a:off x="3035300" y="876300"/>
            <a:ext cx="3152775" cy="23653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E9F02545-9F11-98F3-BBD4-D789D13C9E1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316" name="Header Placeholder 3">
            <a:extLst>
              <a:ext uri="{FF2B5EF4-FFF2-40B4-BE49-F238E27FC236}">
                <a16:creationId xmlns:a16="http://schemas.microsoft.com/office/drawing/2014/main" id="{26D09D93-DB98-62B0-881B-1415D622A8FE}"/>
              </a:ext>
            </a:extLst>
          </p:cNvPr>
          <p:cNvSpPr>
            <a:spLocks noGrp="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Monsanto Company (MON)</a:t>
            </a:r>
          </a:p>
        </p:txBody>
      </p:sp>
      <p:sp>
        <p:nvSpPr>
          <p:cNvPr id="13317" name="Footer Placeholder 4">
            <a:extLst>
              <a:ext uri="{FF2B5EF4-FFF2-40B4-BE49-F238E27FC236}">
                <a16:creationId xmlns:a16="http://schemas.microsoft.com/office/drawing/2014/main" id="{5F7AF91D-59CF-49D6-DCEF-102ABC6B514E}"/>
              </a:ext>
            </a:extLst>
          </p:cNvPr>
          <p:cNvSpPr>
            <a:spLocks noGrp="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pPr>
            <a:r>
              <a:rPr lang="en-US" altLang="en-US">
                <a:latin typeface="Calibri" panose="020F0502020204030204" pitchFamily="34" charset="0"/>
              </a:rPr>
              <a:t>IMCP - Super Stock Pitch Day</a:t>
            </a:r>
          </a:p>
        </p:txBody>
      </p:sp>
      <p:sp>
        <p:nvSpPr>
          <p:cNvPr id="13318" name="Slide Number Placeholder 5">
            <a:extLst>
              <a:ext uri="{FF2B5EF4-FFF2-40B4-BE49-F238E27FC236}">
                <a16:creationId xmlns:a16="http://schemas.microsoft.com/office/drawing/2014/main" id="{6642A489-82D7-78CC-9B9B-F7AB6F8B50B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B539FD-C57D-4992-A656-F8592AFCFEE8}" type="slidenum">
              <a:rPr lang="en-US" altLang="en-US">
                <a:latin typeface="Calibri" panose="020F0502020204030204" pitchFamily="34" charset="0"/>
              </a:rPr>
              <a:pPr/>
              <a:t>19</a:t>
            </a:fld>
            <a:endParaRPr lang="en-US" altLang="en-US">
              <a:latin typeface="Calibri" panose="020F0502020204030204" pitchFamily="34" charset="0"/>
            </a:endParaRPr>
          </a:p>
        </p:txBody>
      </p:sp>
    </p:spTree>
    <p:extLst>
      <p:ext uri="{BB962C8B-B14F-4D97-AF65-F5344CB8AC3E}">
        <p14:creationId xmlns:p14="http://schemas.microsoft.com/office/powerpoint/2010/main" val="1675192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385C523-04CB-13A5-A51D-E542C59D2290}"/>
              </a:ext>
            </a:extLst>
          </p:cNvPr>
          <p:cNvCxnSpPr/>
          <p:nvPr/>
        </p:nvCxnSpPr>
        <p:spPr>
          <a:xfrm>
            <a:off x="685800" y="3398843"/>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371606"/>
            <a:ext cx="7848600" cy="1927225"/>
          </a:xfrm>
        </p:spPr>
        <p:txBody>
          <a:bodyPr anchor="b">
            <a:noAutofit/>
          </a:bodyPr>
          <a:lstStyle>
            <a:lvl1pPr>
              <a:defRPr sz="4051" cap="all" baseline="0"/>
            </a:lvl1pPr>
          </a:lstStyle>
          <a:p>
            <a:r>
              <a:rPr lang="en-US"/>
              <a:t>Click to edit Master title style</a:t>
            </a:r>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342891" indent="0" algn="ctr">
              <a:buNone/>
              <a:defRPr>
                <a:solidFill>
                  <a:schemeClr val="tx1">
                    <a:tint val="75000"/>
                  </a:schemeClr>
                </a:solidFill>
              </a:defRPr>
            </a:lvl2pPr>
            <a:lvl3pPr marL="685783" indent="0" algn="ctr">
              <a:buNone/>
              <a:defRPr>
                <a:solidFill>
                  <a:schemeClr val="tx1">
                    <a:tint val="75000"/>
                  </a:schemeClr>
                </a:solidFill>
              </a:defRPr>
            </a:lvl3pPr>
            <a:lvl4pPr marL="1028674" indent="0" algn="ctr">
              <a:buNone/>
              <a:defRPr>
                <a:solidFill>
                  <a:schemeClr val="tx1">
                    <a:tint val="75000"/>
                  </a:schemeClr>
                </a:solidFill>
              </a:defRPr>
            </a:lvl4pPr>
            <a:lvl5pPr marL="1371566" indent="0" algn="ctr">
              <a:buNone/>
              <a:defRPr>
                <a:solidFill>
                  <a:schemeClr val="tx1">
                    <a:tint val="75000"/>
                  </a:schemeClr>
                </a:solidFill>
              </a:defRPr>
            </a:lvl5pPr>
            <a:lvl6pPr marL="1714457" indent="0" algn="ctr">
              <a:buNone/>
              <a:defRPr>
                <a:solidFill>
                  <a:schemeClr val="tx1">
                    <a:tint val="75000"/>
                  </a:schemeClr>
                </a:solidFill>
              </a:defRPr>
            </a:lvl6pPr>
            <a:lvl7pPr marL="2057349" indent="0" algn="ctr">
              <a:buNone/>
              <a:defRPr>
                <a:solidFill>
                  <a:schemeClr val="tx1">
                    <a:tint val="75000"/>
                  </a:schemeClr>
                </a:solidFill>
              </a:defRPr>
            </a:lvl7pPr>
            <a:lvl8pPr marL="2400240" indent="0" algn="ctr">
              <a:buNone/>
              <a:defRPr>
                <a:solidFill>
                  <a:schemeClr val="tx1">
                    <a:tint val="75000"/>
                  </a:schemeClr>
                </a:solidFill>
              </a:defRPr>
            </a:lvl8pPr>
            <a:lvl9pPr marL="2743131" indent="0" algn="ctr">
              <a:buNone/>
              <a:defRPr>
                <a:solidFill>
                  <a:schemeClr val="tx1">
                    <a:tint val="75000"/>
                  </a:schemeClr>
                </a:solidFill>
              </a:defRPr>
            </a:lvl9pPr>
          </a:lstStyle>
          <a:p>
            <a:r>
              <a:rPr lang="en-US"/>
              <a:t>Click to edit Master subtitle style</a:t>
            </a:r>
          </a:p>
        </p:txBody>
      </p:sp>
      <p:sp>
        <p:nvSpPr>
          <p:cNvPr id="5" name="Date Placeholder 3">
            <a:extLst>
              <a:ext uri="{FF2B5EF4-FFF2-40B4-BE49-F238E27FC236}">
                <a16:creationId xmlns:a16="http://schemas.microsoft.com/office/drawing/2014/main" id="{A48C4B43-F2AF-DF60-B852-74E0D4E7907B}"/>
              </a:ext>
            </a:extLst>
          </p:cNvPr>
          <p:cNvSpPr>
            <a:spLocks noGrp="1"/>
          </p:cNvSpPr>
          <p:nvPr>
            <p:ph type="dt" sz="half" idx="10"/>
          </p:nvPr>
        </p:nvSpPr>
        <p:spPr/>
        <p:txBody>
          <a:bodyPr/>
          <a:lstStyle>
            <a:lvl1pPr>
              <a:defRPr/>
            </a:lvl1pPr>
          </a:lstStyle>
          <a:p>
            <a:pPr>
              <a:defRPr/>
            </a:pPr>
            <a:fld id="{73EE98EB-FD61-4CDD-8A73-5C7F924EB5B4}" type="datetime1">
              <a:rPr lang="en-US" smtClean="0"/>
              <a:t>2/28/2026</a:t>
            </a:fld>
            <a:endParaRPr lang="en-US"/>
          </a:p>
        </p:txBody>
      </p:sp>
      <p:sp>
        <p:nvSpPr>
          <p:cNvPr id="6" name="Footer Placeholder 4">
            <a:extLst>
              <a:ext uri="{FF2B5EF4-FFF2-40B4-BE49-F238E27FC236}">
                <a16:creationId xmlns:a16="http://schemas.microsoft.com/office/drawing/2014/main" id="{A4D0BDDC-E50F-26D3-238F-0F5A34047A2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BF59C97-3681-C747-349F-347A998CE62D}"/>
              </a:ext>
            </a:extLst>
          </p:cNvPr>
          <p:cNvSpPr>
            <a:spLocks noGrp="1"/>
          </p:cNvSpPr>
          <p:nvPr>
            <p:ph type="sldNum" sz="quarter" idx="12"/>
          </p:nvPr>
        </p:nvSpPr>
        <p:spPr/>
        <p:txBody>
          <a:bodyPr/>
          <a:lstStyle>
            <a:lvl1pPr>
              <a:defRPr/>
            </a:lvl1pPr>
          </a:lstStyle>
          <a:p>
            <a:fld id="{EF521297-7B03-4E64-B889-AF868BDEDEA2}" type="slidenum">
              <a:rPr lang="en-US" altLang="en-US"/>
              <a:pPr/>
              <a:t>‹#›</a:t>
            </a:fld>
            <a:endParaRPr lang="en-US" altLang="en-US"/>
          </a:p>
        </p:txBody>
      </p:sp>
    </p:spTree>
    <p:extLst>
      <p:ext uri="{BB962C8B-B14F-4D97-AF65-F5344CB8AC3E}">
        <p14:creationId xmlns:p14="http://schemas.microsoft.com/office/powerpoint/2010/main" val="1323675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69F824-7901-A3A4-F80B-9FC775D74E0E}"/>
              </a:ext>
            </a:extLst>
          </p:cNvPr>
          <p:cNvSpPr>
            <a:spLocks noGrp="1"/>
          </p:cNvSpPr>
          <p:nvPr>
            <p:ph type="dt" sz="half" idx="10"/>
          </p:nvPr>
        </p:nvSpPr>
        <p:spPr/>
        <p:txBody>
          <a:bodyPr/>
          <a:lstStyle>
            <a:lvl1pPr>
              <a:defRPr/>
            </a:lvl1pPr>
          </a:lstStyle>
          <a:p>
            <a:pPr>
              <a:defRPr/>
            </a:pPr>
            <a:fld id="{8439B0C7-4A65-4B07-AF27-414EAAFC788E}" type="datetime1">
              <a:rPr lang="en-US" smtClean="0"/>
              <a:t>2/28/2026</a:t>
            </a:fld>
            <a:endParaRPr lang="en-US"/>
          </a:p>
        </p:txBody>
      </p:sp>
      <p:sp>
        <p:nvSpPr>
          <p:cNvPr id="5" name="Footer Placeholder 4">
            <a:extLst>
              <a:ext uri="{FF2B5EF4-FFF2-40B4-BE49-F238E27FC236}">
                <a16:creationId xmlns:a16="http://schemas.microsoft.com/office/drawing/2014/main" id="{159F5DB1-7002-3BFE-4D16-BA7AAFD14F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5E27DC7-F3BD-EDF7-CDD5-5841FE3CE167}"/>
              </a:ext>
            </a:extLst>
          </p:cNvPr>
          <p:cNvSpPr>
            <a:spLocks noGrp="1"/>
          </p:cNvSpPr>
          <p:nvPr>
            <p:ph type="sldNum" sz="quarter" idx="12"/>
          </p:nvPr>
        </p:nvSpPr>
        <p:spPr/>
        <p:txBody>
          <a:bodyPr/>
          <a:lstStyle>
            <a:lvl1pPr>
              <a:defRPr/>
            </a:lvl1pPr>
          </a:lstStyle>
          <a:p>
            <a:fld id="{85C05E47-A9C6-4BBC-A5EB-B97C144431F6}" type="slidenum">
              <a:rPr lang="en-US" altLang="en-US"/>
              <a:pPr/>
              <a:t>‹#›</a:t>
            </a:fld>
            <a:endParaRPr lang="en-US" altLang="en-US"/>
          </a:p>
        </p:txBody>
      </p:sp>
    </p:spTree>
    <p:extLst>
      <p:ext uri="{BB962C8B-B14F-4D97-AF65-F5344CB8AC3E}">
        <p14:creationId xmlns:p14="http://schemas.microsoft.com/office/powerpoint/2010/main" val="4047734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2"/>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D5039A-BD48-74DA-E1E3-414B97475724}"/>
              </a:ext>
            </a:extLst>
          </p:cNvPr>
          <p:cNvCxnSpPr/>
          <p:nvPr/>
        </p:nvCxnSpPr>
        <p:spPr>
          <a:xfrm>
            <a:off x="731044" y="4598993"/>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2362201"/>
            <a:ext cx="7772400" cy="2200275"/>
          </a:xfrm>
        </p:spPr>
        <p:txBody>
          <a:bodyPr anchor="b"/>
          <a:lstStyle>
            <a:lvl1pPr algn="l">
              <a:defRPr sz="3600" b="0" cap="all"/>
            </a:lvl1pPr>
          </a:lstStyle>
          <a:p>
            <a:r>
              <a:rPr lang="en-US"/>
              <a:t>Click to edit Master title style</a:t>
            </a:r>
          </a:p>
        </p:txBody>
      </p:sp>
      <p:sp>
        <p:nvSpPr>
          <p:cNvPr id="3" name="Text Placeholder 2"/>
          <p:cNvSpPr>
            <a:spLocks noGrp="1"/>
          </p:cNvSpPr>
          <p:nvPr>
            <p:ph type="body" idx="1"/>
          </p:nvPr>
        </p:nvSpPr>
        <p:spPr>
          <a:xfrm>
            <a:off x="722313" y="4626870"/>
            <a:ext cx="7772400" cy="1500187"/>
          </a:xfrm>
        </p:spPr>
        <p:txBody>
          <a:bodyPr>
            <a:normAutofit/>
          </a:bodyPr>
          <a:lstStyle>
            <a:lvl1pPr marL="0" indent="0">
              <a:buNone/>
              <a:defRPr sz="1800">
                <a:solidFill>
                  <a:schemeClr val="tx2"/>
                </a:solidFill>
              </a:defRPr>
            </a:lvl1pPr>
            <a:lvl2pPr marL="342891" indent="0">
              <a:buNone/>
              <a:defRPr sz="1351">
                <a:solidFill>
                  <a:schemeClr val="tx1">
                    <a:tint val="75000"/>
                  </a:schemeClr>
                </a:solidFill>
              </a:defRPr>
            </a:lvl2pPr>
            <a:lvl3pPr marL="685783" indent="0">
              <a:buNone/>
              <a:defRPr sz="1200">
                <a:solidFill>
                  <a:schemeClr val="tx1">
                    <a:tint val="75000"/>
                  </a:schemeClr>
                </a:solidFill>
              </a:defRPr>
            </a:lvl3pPr>
            <a:lvl4pPr marL="1028674" indent="0">
              <a:buNone/>
              <a:defRPr sz="1051">
                <a:solidFill>
                  <a:schemeClr val="tx1">
                    <a:tint val="75000"/>
                  </a:schemeClr>
                </a:solidFill>
              </a:defRPr>
            </a:lvl4pPr>
            <a:lvl5pPr marL="1371566" indent="0">
              <a:buNone/>
              <a:defRPr sz="1051">
                <a:solidFill>
                  <a:schemeClr val="tx1">
                    <a:tint val="75000"/>
                  </a:schemeClr>
                </a:solidFill>
              </a:defRPr>
            </a:lvl5pPr>
            <a:lvl6pPr marL="1714457" indent="0">
              <a:buNone/>
              <a:defRPr sz="1051">
                <a:solidFill>
                  <a:schemeClr val="tx1">
                    <a:tint val="75000"/>
                  </a:schemeClr>
                </a:solidFill>
              </a:defRPr>
            </a:lvl6pPr>
            <a:lvl7pPr marL="2057349" indent="0">
              <a:buNone/>
              <a:defRPr sz="1051">
                <a:solidFill>
                  <a:schemeClr val="tx1">
                    <a:tint val="75000"/>
                  </a:schemeClr>
                </a:solidFill>
              </a:defRPr>
            </a:lvl7pPr>
            <a:lvl8pPr marL="2400240" indent="0">
              <a:buNone/>
              <a:defRPr sz="1051">
                <a:solidFill>
                  <a:schemeClr val="tx1">
                    <a:tint val="75000"/>
                  </a:schemeClr>
                </a:solidFill>
              </a:defRPr>
            </a:lvl8pPr>
            <a:lvl9pPr marL="2743131" indent="0">
              <a:buNone/>
              <a:defRPr sz="1051">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A7D14361-0249-07D9-4D4C-ABEE3A83F2FE}"/>
              </a:ext>
            </a:extLst>
          </p:cNvPr>
          <p:cNvSpPr>
            <a:spLocks noGrp="1"/>
          </p:cNvSpPr>
          <p:nvPr>
            <p:ph type="dt" sz="half" idx="10"/>
          </p:nvPr>
        </p:nvSpPr>
        <p:spPr/>
        <p:txBody>
          <a:bodyPr/>
          <a:lstStyle>
            <a:lvl1pPr>
              <a:defRPr/>
            </a:lvl1pPr>
          </a:lstStyle>
          <a:p>
            <a:pPr>
              <a:defRPr/>
            </a:pPr>
            <a:fld id="{391A5789-6BE4-44E9-A9CB-D3517D51DE35}" type="datetime1">
              <a:rPr lang="en-US" smtClean="0"/>
              <a:t>2/28/2026</a:t>
            </a:fld>
            <a:endParaRPr lang="en-US"/>
          </a:p>
        </p:txBody>
      </p:sp>
      <p:sp>
        <p:nvSpPr>
          <p:cNvPr id="6" name="Footer Placeholder 4">
            <a:extLst>
              <a:ext uri="{FF2B5EF4-FFF2-40B4-BE49-F238E27FC236}">
                <a16:creationId xmlns:a16="http://schemas.microsoft.com/office/drawing/2014/main" id="{A8971842-17A0-7022-0DB3-326BB387BD2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9AB91DA-F073-65DD-4E3D-4C0797A7E015}"/>
              </a:ext>
            </a:extLst>
          </p:cNvPr>
          <p:cNvSpPr>
            <a:spLocks noGrp="1"/>
          </p:cNvSpPr>
          <p:nvPr>
            <p:ph type="sldNum" sz="quarter" idx="12"/>
          </p:nvPr>
        </p:nvSpPr>
        <p:spPr/>
        <p:txBody>
          <a:bodyPr/>
          <a:lstStyle>
            <a:lvl1pPr>
              <a:defRPr/>
            </a:lvl1pPr>
          </a:lstStyle>
          <a:p>
            <a:fld id="{55AC91BC-3294-49E4-BD5B-764965544EA6}" type="slidenum">
              <a:rPr lang="en-US" altLang="en-US"/>
              <a:pPr/>
              <a:t>‹#›</a:t>
            </a:fld>
            <a:endParaRPr lang="en-US" altLang="en-US"/>
          </a:p>
        </p:txBody>
      </p:sp>
    </p:spTree>
    <p:extLst>
      <p:ext uri="{BB962C8B-B14F-4D97-AF65-F5344CB8AC3E}">
        <p14:creationId xmlns:p14="http://schemas.microsoft.com/office/powerpoint/2010/main" val="327230593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100"/>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3352"/>
            <a:ext cx="4038600" cy="4718304"/>
          </a:xfrm>
        </p:spPr>
        <p:txBody>
          <a:bodyPr/>
          <a:lstStyle>
            <a:lvl1pPr>
              <a:defRPr sz="2100"/>
            </a:lvl1pPr>
            <a:lvl2pPr>
              <a:defRPr sz="1800"/>
            </a:lvl2pPr>
            <a:lvl3pPr>
              <a:defRPr sz="1500"/>
            </a:lvl3pPr>
            <a:lvl4pPr>
              <a:defRPr sz="1351"/>
            </a:lvl4pPr>
            <a:lvl5pPr>
              <a:defRPr sz="1351"/>
            </a:lvl5pPr>
            <a:lvl6pPr>
              <a:defRPr sz="1351"/>
            </a:lvl6pPr>
            <a:lvl7pPr>
              <a:defRPr sz="1351"/>
            </a:lvl7pPr>
            <a:lvl8pPr>
              <a:defRPr sz="1351"/>
            </a:lvl8pPr>
            <a:lvl9pPr>
              <a:defRPr sz="13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02BC4BB8-2AFF-6B38-5352-A5B04E7963CF}"/>
              </a:ext>
            </a:extLst>
          </p:cNvPr>
          <p:cNvSpPr>
            <a:spLocks noGrp="1"/>
          </p:cNvSpPr>
          <p:nvPr>
            <p:ph type="dt" sz="half" idx="10"/>
          </p:nvPr>
        </p:nvSpPr>
        <p:spPr/>
        <p:txBody>
          <a:bodyPr/>
          <a:lstStyle>
            <a:lvl1pPr>
              <a:defRPr/>
            </a:lvl1pPr>
          </a:lstStyle>
          <a:p>
            <a:pPr>
              <a:defRPr/>
            </a:pPr>
            <a:fld id="{6D5DB4BC-5924-4ED0-A615-55B60C8A8202}" type="datetime1">
              <a:rPr lang="en-US" smtClean="0"/>
              <a:t>2/28/2026</a:t>
            </a:fld>
            <a:endParaRPr lang="en-US"/>
          </a:p>
        </p:txBody>
      </p:sp>
      <p:sp>
        <p:nvSpPr>
          <p:cNvPr id="6" name="Footer Placeholder 4">
            <a:extLst>
              <a:ext uri="{FF2B5EF4-FFF2-40B4-BE49-F238E27FC236}">
                <a16:creationId xmlns:a16="http://schemas.microsoft.com/office/drawing/2014/main" id="{A03A243A-118B-015F-34BA-AE7EE328055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AE930F3-B41A-241C-BE4C-F907E75E775E}"/>
              </a:ext>
            </a:extLst>
          </p:cNvPr>
          <p:cNvSpPr>
            <a:spLocks noGrp="1"/>
          </p:cNvSpPr>
          <p:nvPr>
            <p:ph type="sldNum" sz="quarter" idx="12"/>
          </p:nvPr>
        </p:nvSpPr>
        <p:spPr/>
        <p:txBody>
          <a:bodyPr/>
          <a:lstStyle>
            <a:lvl1pPr>
              <a:defRPr/>
            </a:lvl1pPr>
          </a:lstStyle>
          <a:p>
            <a:fld id="{8FBE0AA0-0A70-4AF2-ACF5-DB631574F992}" type="slidenum">
              <a:rPr lang="en-US" altLang="en-US"/>
              <a:pPr/>
              <a:t>‹#›</a:t>
            </a:fld>
            <a:endParaRPr lang="en-US" altLang="en-US"/>
          </a:p>
        </p:txBody>
      </p:sp>
    </p:spTree>
    <p:extLst>
      <p:ext uri="{BB962C8B-B14F-4D97-AF65-F5344CB8AC3E}">
        <p14:creationId xmlns:p14="http://schemas.microsoft.com/office/powerpoint/2010/main" val="216524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BECF3A8-B140-AD80-00DC-FFBDD5B70091}"/>
              </a:ext>
            </a:extLst>
          </p:cNvPr>
          <p:cNvCxnSpPr/>
          <p:nvPr/>
        </p:nvCxnSpPr>
        <p:spPr>
          <a:xfrm rot="5400000">
            <a:off x="2218335" y="4045945"/>
            <a:ext cx="4708525"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1500" b="0">
                <a:solidFill>
                  <a:schemeClr val="tx2"/>
                </a:solidFill>
              </a:defRPr>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1500" b="0" kern="1200" dirty="0" smtClean="0">
                <a:solidFill>
                  <a:schemeClr val="tx2"/>
                </a:solidFill>
                <a:latin typeface="+mn-lt"/>
                <a:ea typeface="+mn-ea"/>
                <a:cs typeface="+mn-cs"/>
              </a:defRPr>
            </a:lvl1pPr>
            <a:lvl2pPr marL="342891" indent="0">
              <a:buNone/>
              <a:defRPr sz="1500" b="1"/>
            </a:lvl2pPr>
            <a:lvl3pPr marL="685783" indent="0">
              <a:buNone/>
              <a:defRPr sz="1351" b="1"/>
            </a:lvl3pPr>
            <a:lvl4pPr marL="1028674" indent="0">
              <a:buNone/>
              <a:defRPr sz="1200" b="1"/>
            </a:lvl4pPr>
            <a:lvl5pPr marL="1371566" indent="0">
              <a:buNone/>
              <a:defRPr sz="1200" b="1"/>
            </a:lvl5pPr>
            <a:lvl6pPr marL="1714457" indent="0">
              <a:buNone/>
              <a:defRPr sz="1200" b="1"/>
            </a:lvl6pPr>
            <a:lvl7pPr marL="2057349" indent="0">
              <a:buNone/>
              <a:defRPr sz="1200" b="1"/>
            </a:lvl7pPr>
            <a:lvl8pPr marL="2400240" indent="0">
              <a:buNone/>
              <a:defRPr sz="1200" b="1"/>
            </a:lvl8pPr>
            <a:lvl9pPr marL="2743131"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1800"/>
            </a:lvl1pPr>
            <a:lvl2pPr>
              <a:defRPr sz="1500"/>
            </a:lvl2pPr>
            <a:lvl3pPr>
              <a:defRPr sz="1351"/>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a:extLst>
              <a:ext uri="{FF2B5EF4-FFF2-40B4-BE49-F238E27FC236}">
                <a16:creationId xmlns:a16="http://schemas.microsoft.com/office/drawing/2014/main" id="{3704CB35-5A77-BC62-66B2-0D8F94125A27}"/>
              </a:ext>
            </a:extLst>
          </p:cNvPr>
          <p:cNvSpPr>
            <a:spLocks noGrp="1"/>
          </p:cNvSpPr>
          <p:nvPr>
            <p:ph type="dt" sz="half" idx="10"/>
          </p:nvPr>
        </p:nvSpPr>
        <p:spPr/>
        <p:txBody>
          <a:bodyPr/>
          <a:lstStyle>
            <a:lvl1pPr>
              <a:defRPr/>
            </a:lvl1pPr>
          </a:lstStyle>
          <a:p>
            <a:pPr>
              <a:defRPr/>
            </a:pPr>
            <a:fld id="{34F04C66-16DA-45A0-8B5B-049DE2091259}" type="datetime1">
              <a:rPr lang="en-US" smtClean="0"/>
              <a:t>2/28/2026</a:t>
            </a:fld>
            <a:endParaRPr lang="en-US"/>
          </a:p>
        </p:txBody>
      </p:sp>
      <p:sp>
        <p:nvSpPr>
          <p:cNvPr id="9" name="Footer Placeholder 7">
            <a:extLst>
              <a:ext uri="{FF2B5EF4-FFF2-40B4-BE49-F238E27FC236}">
                <a16:creationId xmlns:a16="http://schemas.microsoft.com/office/drawing/2014/main" id="{955E0508-AA92-A349-DF5F-12DC78A81A99}"/>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8">
            <a:extLst>
              <a:ext uri="{FF2B5EF4-FFF2-40B4-BE49-F238E27FC236}">
                <a16:creationId xmlns:a16="http://schemas.microsoft.com/office/drawing/2014/main" id="{CFC7089D-B7CE-F04E-B1B7-D0D7D227244A}"/>
              </a:ext>
            </a:extLst>
          </p:cNvPr>
          <p:cNvSpPr>
            <a:spLocks noGrp="1"/>
          </p:cNvSpPr>
          <p:nvPr>
            <p:ph type="sldNum" sz="quarter" idx="12"/>
          </p:nvPr>
        </p:nvSpPr>
        <p:spPr/>
        <p:txBody>
          <a:bodyPr/>
          <a:lstStyle>
            <a:lvl1pPr>
              <a:defRPr/>
            </a:lvl1pPr>
          </a:lstStyle>
          <a:p>
            <a:fld id="{61ACEC07-1EBF-4291-9730-0A250238CBCD}" type="slidenum">
              <a:rPr lang="en-US" altLang="en-US"/>
              <a:pPr/>
              <a:t>‹#›</a:t>
            </a:fld>
            <a:endParaRPr lang="en-US" altLang="en-US"/>
          </a:p>
        </p:txBody>
      </p:sp>
    </p:spTree>
    <p:extLst>
      <p:ext uri="{BB962C8B-B14F-4D97-AF65-F5344CB8AC3E}">
        <p14:creationId xmlns:p14="http://schemas.microsoft.com/office/powerpoint/2010/main" val="4580058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1DE739C2-CAEE-6402-B514-D772FEC711DE}"/>
              </a:ext>
            </a:extLst>
          </p:cNvPr>
          <p:cNvSpPr>
            <a:spLocks noGrp="1"/>
          </p:cNvSpPr>
          <p:nvPr>
            <p:ph type="dt" sz="half" idx="10"/>
          </p:nvPr>
        </p:nvSpPr>
        <p:spPr/>
        <p:txBody>
          <a:bodyPr/>
          <a:lstStyle>
            <a:lvl1pPr>
              <a:defRPr/>
            </a:lvl1pPr>
          </a:lstStyle>
          <a:p>
            <a:pPr>
              <a:defRPr/>
            </a:pPr>
            <a:fld id="{19BA5E47-AAFB-4B53-B726-8DD30BF9430C}" type="datetime1">
              <a:rPr lang="en-US" smtClean="0"/>
              <a:t>2/28/2026</a:t>
            </a:fld>
            <a:endParaRPr lang="en-US"/>
          </a:p>
        </p:txBody>
      </p:sp>
      <p:sp>
        <p:nvSpPr>
          <p:cNvPr id="4" name="Footer Placeholder 4">
            <a:extLst>
              <a:ext uri="{FF2B5EF4-FFF2-40B4-BE49-F238E27FC236}">
                <a16:creationId xmlns:a16="http://schemas.microsoft.com/office/drawing/2014/main" id="{CF20A610-E679-6A72-5000-6A9D91FA7E02}"/>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456EC2E-6F8A-EF26-38C1-3D05835C8206}"/>
              </a:ext>
            </a:extLst>
          </p:cNvPr>
          <p:cNvSpPr>
            <a:spLocks noGrp="1"/>
          </p:cNvSpPr>
          <p:nvPr>
            <p:ph type="sldNum" sz="quarter" idx="12"/>
          </p:nvPr>
        </p:nvSpPr>
        <p:spPr/>
        <p:txBody>
          <a:bodyPr/>
          <a:lstStyle>
            <a:lvl1pPr>
              <a:defRPr/>
            </a:lvl1pPr>
          </a:lstStyle>
          <a:p>
            <a:fld id="{763E63E3-3972-446C-8D4C-DDC4F18578E9}" type="slidenum">
              <a:rPr lang="en-US" altLang="en-US"/>
              <a:pPr/>
              <a:t>‹#›</a:t>
            </a:fld>
            <a:endParaRPr lang="en-US" altLang="en-US"/>
          </a:p>
        </p:txBody>
      </p:sp>
    </p:spTree>
    <p:extLst>
      <p:ext uri="{BB962C8B-B14F-4D97-AF65-F5344CB8AC3E}">
        <p14:creationId xmlns:p14="http://schemas.microsoft.com/office/powerpoint/2010/main" val="1666690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EF267DE-2D58-C1D7-5F6E-FE8DB3389442}"/>
              </a:ext>
            </a:extLst>
          </p:cNvPr>
          <p:cNvSpPr>
            <a:spLocks noGrp="1"/>
          </p:cNvSpPr>
          <p:nvPr>
            <p:ph type="dt" sz="half" idx="10"/>
          </p:nvPr>
        </p:nvSpPr>
        <p:spPr/>
        <p:txBody>
          <a:bodyPr/>
          <a:lstStyle>
            <a:lvl1pPr>
              <a:defRPr/>
            </a:lvl1pPr>
          </a:lstStyle>
          <a:p>
            <a:pPr>
              <a:defRPr/>
            </a:pPr>
            <a:fld id="{984576D6-85B0-444D-BB48-AAF1C9AE07E3}" type="datetime1">
              <a:rPr lang="en-US" smtClean="0"/>
              <a:t>2/28/2026</a:t>
            </a:fld>
            <a:endParaRPr lang="en-US"/>
          </a:p>
        </p:txBody>
      </p:sp>
      <p:sp>
        <p:nvSpPr>
          <p:cNvPr id="3" name="Footer Placeholder 4">
            <a:extLst>
              <a:ext uri="{FF2B5EF4-FFF2-40B4-BE49-F238E27FC236}">
                <a16:creationId xmlns:a16="http://schemas.microsoft.com/office/drawing/2014/main" id="{4971E0AE-83FD-D1DD-C405-7782FEFBE66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5534D72-7500-44CA-E47C-A3E24418AF42}"/>
              </a:ext>
            </a:extLst>
          </p:cNvPr>
          <p:cNvSpPr>
            <a:spLocks noGrp="1"/>
          </p:cNvSpPr>
          <p:nvPr>
            <p:ph type="sldNum" sz="quarter" idx="12"/>
          </p:nvPr>
        </p:nvSpPr>
        <p:spPr/>
        <p:txBody>
          <a:bodyPr/>
          <a:lstStyle>
            <a:lvl1pPr>
              <a:defRPr/>
            </a:lvl1pPr>
          </a:lstStyle>
          <a:p>
            <a:fld id="{8ACD56A5-2A67-46A3-ABC4-4BCCE8895E6D}" type="slidenum">
              <a:rPr lang="en-US" altLang="en-US"/>
              <a:pPr/>
              <a:t>‹#›</a:t>
            </a:fld>
            <a:endParaRPr lang="en-US" altLang="en-US"/>
          </a:p>
        </p:txBody>
      </p:sp>
    </p:spTree>
    <p:extLst>
      <p:ext uri="{BB962C8B-B14F-4D97-AF65-F5344CB8AC3E}">
        <p14:creationId xmlns:p14="http://schemas.microsoft.com/office/powerpoint/2010/main" val="3249100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8969074-601E-C5F1-8FEA-8AAA7326CE76}"/>
              </a:ext>
            </a:extLst>
          </p:cNvPr>
          <p:cNvCxnSpPr/>
          <p:nvPr/>
        </p:nvCxnSpPr>
        <p:spPr>
          <a:xfrm rot="5400000">
            <a:off x="-13293" y="3580808"/>
            <a:ext cx="5578475" cy="119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792080"/>
            <a:ext cx="2139696" cy="1261872"/>
          </a:xfrm>
        </p:spPr>
        <p:txBody>
          <a:bodyPr anchor="b">
            <a:noAutofit/>
          </a:bodyPr>
          <a:lstStyle>
            <a:lvl1pPr algn="l">
              <a:defRPr sz="1800" b="0"/>
            </a:lvl1pPr>
          </a:lstStyle>
          <a:p>
            <a:r>
              <a:rPr lang="en-US"/>
              <a:t>Click to edit Master title style</a:t>
            </a:r>
          </a:p>
        </p:txBody>
      </p:sp>
      <p:sp>
        <p:nvSpPr>
          <p:cNvPr id="3" name="Content Placeholder 2"/>
          <p:cNvSpPr>
            <a:spLocks noGrp="1"/>
          </p:cNvSpPr>
          <p:nvPr>
            <p:ph idx="1"/>
          </p:nvPr>
        </p:nvSpPr>
        <p:spPr>
          <a:xfrm>
            <a:off x="2971800" y="792080"/>
            <a:ext cx="5715000" cy="55778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2130558"/>
            <a:ext cx="2139696" cy="4243615"/>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6" name="Date Placeholder 4">
            <a:extLst>
              <a:ext uri="{FF2B5EF4-FFF2-40B4-BE49-F238E27FC236}">
                <a16:creationId xmlns:a16="http://schemas.microsoft.com/office/drawing/2014/main" id="{19196D0A-E72B-4BA9-F6C1-7F1082F93828}"/>
              </a:ext>
            </a:extLst>
          </p:cNvPr>
          <p:cNvSpPr>
            <a:spLocks noGrp="1"/>
          </p:cNvSpPr>
          <p:nvPr>
            <p:ph type="dt" sz="half" idx="10"/>
          </p:nvPr>
        </p:nvSpPr>
        <p:spPr/>
        <p:txBody>
          <a:bodyPr/>
          <a:lstStyle>
            <a:lvl1pPr>
              <a:defRPr/>
            </a:lvl1pPr>
          </a:lstStyle>
          <a:p>
            <a:pPr>
              <a:defRPr/>
            </a:pPr>
            <a:fld id="{B6DEF2E5-2840-45BD-A50F-107C81A3656F}" type="datetime1">
              <a:rPr lang="en-US" smtClean="0"/>
              <a:t>2/28/2026</a:t>
            </a:fld>
            <a:endParaRPr lang="en-US"/>
          </a:p>
        </p:txBody>
      </p:sp>
      <p:sp>
        <p:nvSpPr>
          <p:cNvPr id="7" name="Footer Placeholder 5">
            <a:extLst>
              <a:ext uri="{FF2B5EF4-FFF2-40B4-BE49-F238E27FC236}">
                <a16:creationId xmlns:a16="http://schemas.microsoft.com/office/drawing/2014/main" id="{5204B3F0-68A8-FB39-83AA-0DBE08E385DE}"/>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77F02B52-1525-2151-9F9A-BFD21797F172}"/>
              </a:ext>
            </a:extLst>
          </p:cNvPr>
          <p:cNvSpPr>
            <a:spLocks noGrp="1"/>
          </p:cNvSpPr>
          <p:nvPr>
            <p:ph type="sldNum" sz="quarter" idx="12"/>
          </p:nvPr>
        </p:nvSpPr>
        <p:spPr/>
        <p:txBody>
          <a:bodyPr/>
          <a:lstStyle>
            <a:lvl1pPr>
              <a:defRPr/>
            </a:lvl1pPr>
          </a:lstStyle>
          <a:p>
            <a:fld id="{C0A431CF-545B-479B-89CA-2A8F97D39A62}" type="slidenum">
              <a:rPr lang="en-US" altLang="en-US"/>
              <a:pPr/>
              <a:t>‹#›</a:t>
            </a:fld>
            <a:endParaRPr lang="en-US" altLang="en-US"/>
          </a:p>
        </p:txBody>
      </p:sp>
    </p:spTree>
    <p:extLst>
      <p:ext uri="{BB962C8B-B14F-4D97-AF65-F5344CB8AC3E}">
        <p14:creationId xmlns:p14="http://schemas.microsoft.com/office/powerpoint/2010/main" val="8859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792480"/>
            <a:ext cx="2142680" cy="1264920"/>
          </a:xfrm>
        </p:spPr>
        <p:txBody>
          <a:bodyPr anchor="b"/>
          <a:lstStyle>
            <a:lvl1pPr algn="l">
              <a:defRPr sz="1800" b="0"/>
            </a:lvl1pPr>
          </a:lstStyle>
          <a:p>
            <a:r>
              <a:rPr lang="en-US"/>
              <a:t>Click to edit Master title style</a:t>
            </a:r>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2400"/>
            </a:lvl1pPr>
            <a:lvl2pPr marL="342891" indent="0">
              <a:buNone/>
              <a:defRPr sz="2100"/>
            </a:lvl2pPr>
            <a:lvl3pPr marL="685783" indent="0">
              <a:buNone/>
              <a:defRPr sz="1800"/>
            </a:lvl3pPr>
            <a:lvl4pPr marL="1028674" indent="0">
              <a:buNone/>
              <a:defRPr sz="1500"/>
            </a:lvl4pPr>
            <a:lvl5pPr marL="1371566" indent="0">
              <a:buNone/>
              <a:defRPr sz="1500"/>
            </a:lvl5pPr>
            <a:lvl6pPr marL="1714457" indent="0">
              <a:buNone/>
              <a:defRPr sz="1500"/>
            </a:lvl6pPr>
            <a:lvl7pPr marL="2057349" indent="0">
              <a:buNone/>
              <a:defRPr sz="1500"/>
            </a:lvl7pPr>
            <a:lvl8pPr marL="2400240" indent="0">
              <a:buNone/>
              <a:defRPr sz="1500"/>
            </a:lvl8pPr>
            <a:lvl9pPr marL="2743131" indent="0">
              <a:buNone/>
              <a:defRPr sz="1500"/>
            </a:lvl9pPr>
          </a:lstStyle>
          <a:p>
            <a:pPr lvl="0"/>
            <a:r>
              <a:rPr lang="en-US" noProof="0"/>
              <a:t>Click icon to add picture</a:t>
            </a:r>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051"/>
            </a:lvl1pPr>
            <a:lvl2pPr marL="342891" indent="0">
              <a:buNone/>
              <a:defRPr sz="900"/>
            </a:lvl2pPr>
            <a:lvl3pPr marL="685783" indent="0">
              <a:buNone/>
              <a:defRPr sz="751"/>
            </a:lvl3pPr>
            <a:lvl4pPr marL="1028674" indent="0">
              <a:buNone/>
              <a:defRPr sz="675"/>
            </a:lvl4pPr>
            <a:lvl5pPr marL="1371566" indent="0">
              <a:buNone/>
              <a:defRPr sz="675"/>
            </a:lvl5pPr>
            <a:lvl6pPr marL="1714457" indent="0">
              <a:buNone/>
              <a:defRPr sz="675"/>
            </a:lvl6pPr>
            <a:lvl7pPr marL="2057349" indent="0">
              <a:buNone/>
              <a:defRPr sz="675"/>
            </a:lvl7pPr>
            <a:lvl8pPr marL="2400240" indent="0">
              <a:buNone/>
              <a:defRPr sz="675"/>
            </a:lvl8pPr>
            <a:lvl9pPr marL="2743131" indent="0">
              <a:buNone/>
              <a:defRPr sz="675"/>
            </a:lvl9pPr>
          </a:lstStyle>
          <a:p>
            <a:pPr lvl="0"/>
            <a:r>
              <a:rPr lang="en-US"/>
              <a:t>Click to edit Master text styles</a:t>
            </a:r>
          </a:p>
        </p:txBody>
      </p:sp>
      <p:sp>
        <p:nvSpPr>
          <p:cNvPr id="5" name="Date Placeholder 3">
            <a:extLst>
              <a:ext uri="{FF2B5EF4-FFF2-40B4-BE49-F238E27FC236}">
                <a16:creationId xmlns:a16="http://schemas.microsoft.com/office/drawing/2014/main" id="{670AAF80-B944-DFD0-5055-01066AD466C6}"/>
              </a:ext>
            </a:extLst>
          </p:cNvPr>
          <p:cNvSpPr>
            <a:spLocks noGrp="1"/>
          </p:cNvSpPr>
          <p:nvPr>
            <p:ph type="dt" sz="half" idx="10"/>
          </p:nvPr>
        </p:nvSpPr>
        <p:spPr/>
        <p:txBody>
          <a:bodyPr/>
          <a:lstStyle>
            <a:lvl1pPr>
              <a:defRPr/>
            </a:lvl1pPr>
          </a:lstStyle>
          <a:p>
            <a:pPr>
              <a:defRPr/>
            </a:pPr>
            <a:fld id="{94E242E5-BD59-49AF-82CA-7F537FB007D2}" type="datetime1">
              <a:rPr lang="en-US" smtClean="0"/>
              <a:t>2/28/2026</a:t>
            </a:fld>
            <a:endParaRPr lang="en-US"/>
          </a:p>
        </p:txBody>
      </p:sp>
      <p:sp>
        <p:nvSpPr>
          <p:cNvPr id="6" name="Footer Placeholder 4">
            <a:extLst>
              <a:ext uri="{FF2B5EF4-FFF2-40B4-BE49-F238E27FC236}">
                <a16:creationId xmlns:a16="http://schemas.microsoft.com/office/drawing/2014/main" id="{4A425B0F-568F-A744-ACFB-4D1F1E35904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0915748-09CB-12B2-4785-C7698467C016}"/>
              </a:ext>
            </a:extLst>
          </p:cNvPr>
          <p:cNvSpPr>
            <a:spLocks noGrp="1"/>
          </p:cNvSpPr>
          <p:nvPr>
            <p:ph type="sldNum" sz="quarter" idx="12"/>
          </p:nvPr>
        </p:nvSpPr>
        <p:spPr/>
        <p:txBody>
          <a:bodyPr/>
          <a:lstStyle>
            <a:lvl1pPr>
              <a:defRPr/>
            </a:lvl1pPr>
          </a:lstStyle>
          <a:p>
            <a:fld id="{145AFB29-16F1-4845-B745-03C2B5838E4C}" type="slidenum">
              <a:rPr lang="en-US" altLang="en-US"/>
              <a:pPr/>
              <a:t>‹#›</a:t>
            </a:fld>
            <a:endParaRPr lang="en-US" altLang="en-US"/>
          </a:p>
        </p:txBody>
      </p:sp>
    </p:spTree>
    <p:extLst>
      <p:ext uri="{BB962C8B-B14F-4D97-AF65-F5344CB8AC3E}">
        <p14:creationId xmlns:p14="http://schemas.microsoft.com/office/powerpoint/2010/main" val="370678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26E532-12A2-6501-3240-67F608E6A407}"/>
              </a:ext>
            </a:extLst>
          </p:cNvPr>
          <p:cNvSpPr>
            <a:spLocks noGrp="1"/>
          </p:cNvSpPr>
          <p:nvPr>
            <p:ph type="dt" sz="half" idx="10"/>
          </p:nvPr>
        </p:nvSpPr>
        <p:spPr/>
        <p:txBody>
          <a:bodyPr/>
          <a:lstStyle>
            <a:lvl1pPr>
              <a:defRPr/>
            </a:lvl1pPr>
          </a:lstStyle>
          <a:p>
            <a:pPr>
              <a:defRPr/>
            </a:pPr>
            <a:fld id="{A7A9C591-C993-4AC3-96E2-2A846C855263}" type="datetime1">
              <a:rPr lang="en-US" smtClean="0"/>
              <a:t>2/28/2026</a:t>
            </a:fld>
            <a:endParaRPr lang="en-US"/>
          </a:p>
        </p:txBody>
      </p:sp>
      <p:sp>
        <p:nvSpPr>
          <p:cNvPr id="5" name="Footer Placeholder 4">
            <a:extLst>
              <a:ext uri="{FF2B5EF4-FFF2-40B4-BE49-F238E27FC236}">
                <a16:creationId xmlns:a16="http://schemas.microsoft.com/office/drawing/2014/main" id="{C3555A8B-43BE-F363-A688-D089F5C83A6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A5A2EF8-292B-EF5F-B329-FCCBAECDC508}"/>
              </a:ext>
            </a:extLst>
          </p:cNvPr>
          <p:cNvSpPr>
            <a:spLocks noGrp="1"/>
          </p:cNvSpPr>
          <p:nvPr>
            <p:ph type="sldNum" sz="quarter" idx="12"/>
          </p:nvPr>
        </p:nvSpPr>
        <p:spPr/>
        <p:txBody>
          <a:bodyPr/>
          <a:lstStyle>
            <a:lvl1pPr>
              <a:defRPr/>
            </a:lvl1pPr>
          </a:lstStyle>
          <a:p>
            <a:fld id="{B2654A5B-D4DF-4CA0-9EAD-B33B7D7AD1AC}" type="slidenum">
              <a:rPr lang="en-US" altLang="en-US"/>
              <a:pPr/>
              <a:t>‹#›</a:t>
            </a:fld>
            <a:endParaRPr lang="en-US" altLang="en-US"/>
          </a:p>
        </p:txBody>
      </p:sp>
    </p:spTree>
    <p:extLst>
      <p:ext uri="{BB962C8B-B14F-4D97-AF65-F5344CB8AC3E}">
        <p14:creationId xmlns:p14="http://schemas.microsoft.com/office/powerpoint/2010/main" val="3127483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E41F87-A4C2-E3AE-656B-B314B134A06D}"/>
              </a:ext>
            </a:extLst>
          </p:cNvPr>
          <p:cNvSpPr>
            <a:spLocks noGrp="1"/>
          </p:cNvSpPr>
          <p:nvPr>
            <p:ph type="dt" sz="half" idx="10"/>
          </p:nvPr>
        </p:nvSpPr>
        <p:spPr/>
        <p:txBody>
          <a:bodyPr/>
          <a:lstStyle>
            <a:lvl1pPr>
              <a:defRPr/>
            </a:lvl1pPr>
          </a:lstStyle>
          <a:p>
            <a:pPr>
              <a:defRPr/>
            </a:pPr>
            <a:fld id="{6A26B610-AB7C-4498-95D4-26EB683F38A1}" type="datetime1">
              <a:rPr lang="en-US" smtClean="0"/>
              <a:t>2/28/2026</a:t>
            </a:fld>
            <a:endParaRPr lang="en-US"/>
          </a:p>
        </p:txBody>
      </p:sp>
      <p:sp>
        <p:nvSpPr>
          <p:cNvPr id="5" name="Footer Placeholder 4">
            <a:extLst>
              <a:ext uri="{FF2B5EF4-FFF2-40B4-BE49-F238E27FC236}">
                <a16:creationId xmlns:a16="http://schemas.microsoft.com/office/drawing/2014/main" id="{51ECF570-697B-3A02-04F1-84970171C39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36060E5-3D89-AE1B-E3D1-38EBBA29F8AA}"/>
              </a:ext>
            </a:extLst>
          </p:cNvPr>
          <p:cNvSpPr>
            <a:spLocks noGrp="1"/>
          </p:cNvSpPr>
          <p:nvPr>
            <p:ph type="sldNum" sz="quarter" idx="12"/>
          </p:nvPr>
        </p:nvSpPr>
        <p:spPr/>
        <p:txBody>
          <a:bodyPr/>
          <a:lstStyle>
            <a:lvl1pPr>
              <a:defRPr/>
            </a:lvl1pPr>
          </a:lstStyle>
          <a:p>
            <a:fld id="{CDC008E5-9BA7-4C22-A04E-A1CA47A2A8E2}" type="slidenum">
              <a:rPr lang="en-US" altLang="en-US"/>
              <a:pPr/>
              <a:t>‹#›</a:t>
            </a:fld>
            <a:endParaRPr lang="en-US" altLang="en-US"/>
          </a:p>
        </p:txBody>
      </p:sp>
    </p:spTree>
    <p:extLst>
      <p:ext uri="{BB962C8B-B14F-4D97-AF65-F5344CB8AC3E}">
        <p14:creationId xmlns:p14="http://schemas.microsoft.com/office/powerpoint/2010/main" val="32416031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D7E5665-848A-081D-9D35-116CB05AAB71}"/>
              </a:ext>
            </a:extLst>
          </p:cNvPr>
          <p:cNvSpPr/>
          <p:nvPr/>
        </p:nvSpPr>
        <p:spPr>
          <a:xfrm>
            <a:off x="0" y="220663"/>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Placeholder 1">
            <a:extLst>
              <a:ext uri="{FF2B5EF4-FFF2-40B4-BE49-F238E27FC236}">
                <a16:creationId xmlns:a16="http://schemas.microsoft.com/office/drawing/2014/main" id="{19824863-2C7F-F310-A792-F4B7FB109CD3}"/>
              </a:ext>
            </a:extLst>
          </p:cNvPr>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p>
        </p:txBody>
      </p:sp>
      <p:sp>
        <p:nvSpPr>
          <p:cNvPr id="1028" name="Text Placeholder 2">
            <a:extLst>
              <a:ext uri="{FF2B5EF4-FFF2-40B4-BE49-F238E27FC236}">
                <a16:creationId xmlns:a16="http://schemas.microsoft.com/office/drawing/2014/main" id="{BF4B07C3-926F-F9B1-D157-59DE28D47347}"/>
              </a:ext>
            </a:extLst>
          </p:cNvPr>
          <p:cNvSpPr>
            <a:spLocks noGrp="1"/>
          </p:cNvSpPr>
          <p:nvPr>
            <p:ph type="body" idx="1"/>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 name="Rectangle 6">
            <a:extLst>
              <a:ext uri="{FF2B5EF4-FFF2-40B4-BE49-F238E27FC236}">
                <a16:creationId xmlns:a16="http://schemas.microsoft.com/office/drawing/2014/main" id="{FE5D6275-C03A-5EA1-6086-E5B39C8DD8FB}"/>
              </a:ext>
            </a:extLst>
          </p:cNvPr>
          <p:cNvSpPr/>
          <p:nvPr/>
        </p:nvSpPr>
        <p:spPr>
          <a:xfrm>
            <a:off x="0" y="5"/>
            <a:ext cx="9144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Date Placeholder 3">
            <a:extLst>
              <a:ext uri="{FF2B5EF4-FFF2-40B4-BE49-F238E27FC236}">
                <a16:creationId xmlns:a16="http://schemas.microsoft.com/office/drawing/2014/main" id="{A87709CF-24C6-F093-7968-6D590F4FF96C}"/>
              </a:ext>
            </a:extLst>
          </p:cNvPr>
          <p:cNvSpPr>
            <a:spLocks noGrp="1"/>
          </p:cNvSpPr>
          <p:nvPr>
            <p:ph type="dt" sz="half" idx="2"/>
          </p:nvPr>
        </p:nvSpPr>
        <p:spPr>
          <a:xfrm>
            <a:off x="457200" y="19055"/>
            <a:ext cx="2895600" cy="328613"/>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defRPr>
            </a:lvl1pPr>
          </a:lstStyle>
          <a:p>
            <a:pPr>
              <a:defRPr/>
            </a:pPr>
            <a:fld id="{A604F315-EE5C-48AC-8968-EFED53881723}" type="datetime1">
              <a:rPr lang="en-US" smtClean="0"/>
              <a:t>2/28/2026</a:t>
            </a:fld>
            <a:endParaRPr lang="en-US"/>
          </a:p>
        </p:txBody>
      </p:sp>
      <p:sp>
        <p:nvSpPr>
          <p:cNvPr id="5" name="Footer Placeholder 4">
            <a:extLst>
              <a:ext uri="{FF2B5EF4-FFF2-40B4-BE49-F238E27FC236}">
                <a16:creationId xmlns:a16="http://schemas.microsoft.com/office/drawing/2014/main" id="{14BA0608-11C2-EC1F-BC10-378483018CA0}"/>
              </a:ext>
            </a:extLst>
          </p:cNvPr>
          <p:cNvSpPr>
            <a:spLocks noGrp="1"/>
          </p:cNvSpPr>
          <p:nvPr>
            <p:ph type="ftr" sz="quarter" idx="3"/>
          </p:nvPr>
        </p:nvSpPr>
        <p:spPr>
          <a:xfrm>
            <a:off x="3429000" y="19055"/>
            <a:ext cx="4114800" cy="328613"/>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rgbClr val="FFFFFF"/>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3CD4FA3-6FEB-8B64-678B-4EDA76B28A63}"/>
              </a:ext>
            </a:extLst>
          </p:cNvPr>
          <p:cNvSpPr>
            <a:spLocks noGrp="1"/>
          </p:cNvSpPr>
          <p:nvPr>
            <p:ph type="sldNum" sz="quarter" idx="4"/>
          </p:nvPr>
        </p:nvSpPr>
        <p:spPr>
          <a:xfrm>
            <a:off x="7620000" y="19055"/>
            <a:ext cx="1066800" cy="328613"/>
          </a:xfrm>
          <a:prstGeom prst="rect">
            <a:avLst/>
          </a:prstGeom>
        </p:spPr>
        <p:txBody>
          <a:bodyPr vert="horz" wrap="square" lIns="91440" tIns="45720" rIns="91440" bIns="45720" numCol="1" anchor="ctr" anchorCtr="0" compatLnSpc="1">
            <a:prstTxWarp prst="textNoShape">
              <a:avLst/>
            </a:prstTxWarp>
          </a:bodyPr>
          <a:lstStyle>
            <a:lvl1pPr eaLnBrk="1" hangingPunct="1">
              <a:defRPr sz="1051" b="1">
                <a:solidFill>
                  <a:srgbClr val="FFFFFF"/>
                </a:solidFill>
              </a:defRPr>
            </a:lvl1pPr>
          </a:lstStyle>
          <a:p>
            <a:fld id="{D354761A-B58F-4E8D-A420-5D645B2EB7E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4004" r:id="rId1"/>
    <p:sldLayoutId id="2147483997" r:id="rId2"/>
    <p:sldLayoutId id="2147484005" r:id="rId3"/>
    <p:sldLayoutId id="2147483998" r:id="rId4"/>
    <p:sldLayoutId id="2147484006" r:id="rId5"/>
    <p:sldLayoutId id="2147483999" r:id="rId6"/>
    <p:sldLayoutId id="2147484000" r:id="rId7"/>
    <p:sldLayoutId id="2147484007" r:id="rId8"/>
    <p:sldLayoutId id="2147484001" r:id="rId9"/>
    <p:sldLayoutId id="2147484002" r:id="rId10"/>
    <p:sldLayoutId id="2147484003" r:id="rId11"/>
  </p:sldLayoutIdLst>
  <p:hf sldNum="0" hdr="0" ftr="0" dt="0"/>
  <p:txStyles>
    <p:titleStyle>
      <a:lvl1pPr algn="l" rtl="0" eaLnBrk="0" fontAlgn="base" hangingPunct="0">
        <a:spcBef>
          <a:spcPct val="0"/>
        </a:spcBef>
        <a:spcAft>
          <a:spcPct val="0"/>
        </a:spcAft>
        <a:defRPr sz="3000" kern="1200" spc="-75">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Arial" panose="020B0604020202020204" pitchFamily="34" charset="0"/>
        </a:defRPr>
      </a:lvl2pPr>
      <a:lvl3pPr algn="l" rtl="0" eaLnBrk="0" fontAlgn="base" hangingPunct="0">
        <a:spcBef>
          <a:spcPct val="0"/>
        </a:spcBef>
        <a:spcAft>
          <a:spcPct val="0"/>
        </a:spcAft>
        <a:defRPr sz="3000">
          <a:solidFill>
            <a:schemeClr val="tx2"/>
          </a:solidFill>
          <a:latin typeface="Arial" panose="020B0604020202020204" pitchFamily="34" charset="0"/>
        </a:defRPr>
      </a:lvl3pPr>
      <a:lvl4pPr algn="l" rtl="0" eaLnBrk="0" fontAlgn="base" hangingPunct="0">
        <a:spcBef>
          <a:spcPct val="0"/>
        </a:spcBef>
        <a:spcAft>
          <a:spcPct val="0"/>
        </a:spcAft>
        <a:defRPr sz="3000">
          <a:solidFill>
            <a:schemeClr val="tx2"/>
          </a:solidFill>
          <a:latin typeface="Arial" panose="020B0604020202020204" pitchFamily="34" charset="0"/>
        </a:defRPr>
      </a:lvl4pPr>
      <a:lvl5pPr algn="l" rtl="0" eaLnBrk="0" fontAlgn="base" hangingPunct="0">
        <a:spcBef>
          <a:spcPct val="0"/>
        </a:spcBef>
        <a:spcAft>
          <a:spcPct val="0"/>
        </a:spcAft>
        <a:defRPr sz="3000">
          <a:solidFill>
            <a:schemeClr val="tx2"/>
          </a:solidFill>
          <a:latin typeface="Arial" panose="020B0604020202020204" pitchFamily="34" charset="0"/>
        </a:defRPr>
      </a:lvl5pPr>
      <a:lvl6pPr marL="342891" algn="l" rtl="0" fontAlgn="base">
        <a:spcBef>
          <a:spcPct val="0"/>
        </a:spcBef>
        <a:spcAft>
          <a:spcPct val="0"/>
        </a:spcAft>
        <a:defRPr sz="3000">
          <a:solidFill>
            <a:schemeClr val="tx2"/>
          </a:solidFill>
          <a:latin typeface="Arial" panose="020B0604020202020204" pitchFamily="34" charset="0"/>
        </a:defRPr>
      </a:lvl6pPr>
      <a:lvl7pPr marL="685783" algn="l" rtl="0" fontAlgn="base">
        <a:spcBef>
          <a:spcPct val="0"/>
        </a:spcBef>
        <a:spcAft>
          <a:spcPct val="0"/>
        </a:spcAft>
        <a:defRPr sz="3000">
          <a:solidFill>
            <a:schemeClr val="tx2"/>
          </a:solidFill>
          <a:latin typeface="Arial" panose="020B0604020202020204" pitchFamily="34" charset="0"/>
        </a:defRPr>
      </a:lvl7pPr>
      <a:lvl8pPr marL="1028674" algn="l" rtl="0" fontAlgn="base">
        <a:spcBef>
          <a:spcPct val="0"/>
        </a:spcBef>
        <a:spcAft>
          <a:spcPct val="0"/>
        </a:spcAft>
        <a:defRPr sz="3000">
          <a:solidFill>
            <a:schemeClr val="tx2"/>
          </a:solidFill>
          <a:latin typeface="Arial" panose="020B0604020202020204" pitchFamily="34" charset="0"/>
        </a:defRPr>
      </a:lvl8pPr>
      <a:lvl9pPr marL="1371566" algn="l" rtl="0" fontAlgn="base">
        <a:spcBef>
          <a:spcPct val="0"/>
        </a:spcBef>
        <a:spcAft>
          <a:spcPct val="0"/>
        </a:spcAft>
        <a:defRPr sz="3000">
          <a:solidFill>
            <a:schemeClr val="tx2"/>
          </a:solidFill>
          <a:latin typeface="Arial" panose="020B0604020202020204" pitchFamily="34" charset="0"/>
        </a:defRPr>
      </a:lvl9pPr>
    </p:titleStyle>
    <p:bodyStyle>
      <a:lvl1pPr marL="136919" indent="-136919" algn="l" rtl="0" eaLnBrk="0" fontAlgn="base" hangingPunct="0">
        <a:spcBef>
          <a:spcPct val="20000"/>
        </a:spcBef>
        <a:spcAft>
          <a:spcPct val="0"/>
        </a:spcAft>
        <a:buClr>
          <a:schemeClr val="accent1"/>
        </a:buClr>
        <a:buSzPct val="85000"/>
        <a:buFont typeface="Arial" panose="020B0604020202020204" pitchFamily="34" charset="0"/>
        <a:buChar char="•"/>
        <a:defRPr sz="1800" kern="1200">
          <a:solidFill>
            <a:schemeClr val="tx1"/>
          </a:solidFill>
          <a:latin typeface="+mn-lt"/>
          <a:ea typeface="+mn-ea"/>
          <a:cs typeface="+mn-cs"/>
        </a:defRPr>
      </a:lvl1pPr>
      <a:lvl2pPr marL="342891" indent="-136919" algn="l" rtl="0" eaLnBrk="0" fontAlgn="base" hangingPunct="0">
        <a:spcBef>
          <a:spcPct val="20000"/>
        </a:spcBef>
        <a:spcAft>
          <a:spcPct val="0"/>
        </a:spcAft>
        <a:buClr>
          <a:schemeClr val="accent1"/>
        </a:buClr>
        <a:buSzPct val="85000"/>
        <a:buFont typeface="Arial" panose="020B0604020202020204" pitchFamily="34" charset="0"/>
        <a:buChar char="•"/>
        <a:defRPr sz="1500" kern="1200">
          <a:solidFill>
            <a:schemeClr val="tx1"/>
          </a:solidFill>
          <a:latin typeface="+mn-lt"/>
          <a:ea typeface="+mn-ea"/>
          <a:cs typeface="+mn-cs"/>
        </a:defRPr>
      </a:lvl2pPr>
      <a:lvl3pPr marL="547674" indent="-136919"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mn-ea"/>
          <a:cs typeface="+mn-cs"/>
        </a:defRPr>
      </a:lvl3pPr>
      <a:lvl4pPr marL="753648" indent="-136919" algn="l" rtl="0" eaLnBrk="0" fontAlgn="base" hangingPunct="0">
        <a:spcBef>
          <a:spcPct val="20000"/>
        </a:spcBef>
        <a:spcAft>
          <a:spcPct val="0"/>
        </a:spcAft>
        <a:buClr>
          <a:schemeClr val="accent1"/>
        </a:buClr>
        <a:buFont typeface="Arial" panose="020B0604020202020204" pitchFamily="34" charset="0"/>
        <a:buChar char="•"/>
        <a:defRPr sz="1200" kern="1200">
          <a:solidFill>
            <a:schemeClr val="tx1"/>
          </a:solidFill>
          <a:latin typeface="+mn-lt"/>
          <a:ea typeface="+mn-ea"/>
          <a:cs typeface="+mn-cs"/>
        </a:defRPr>
      </a:lvl4pPr>
      <a:lvl5pPr marL="890566" indent="-102392" algn="l" rtl="0" eaLnBrk="0" fontAlgn="base" hangingPunct="0">
        <a:spcBef>
          <a:spcPct val="20000"/>
        </a:spcBef>
        <a:spcAft>
          <a:spcPct val="0"/>
        </a:spcAft>
        <a:buClr>
          <a:schemeClr val="accent1"/>
        </a:buClr>
        <a:buSzPct val="100000"/>
        <a:buFont typeface="Arial" panose="020B0604020202020204" pitchFamily="34" charset="0"/>
        <a:buChar char="•"/>
        <a:defRPr sz="1051" kern="1200">
          <a:solidFill>
            <a:schemeClr val="tx1"/>
          </a:solidFill>
          <a:latin typeface="+mn-lt"/>
          <a:ea typeface="+mn-ea"/>
          <a:cs typeface="+mn-cs"/>
        </a:defRPr>
      </a:lvl5pPr>
      <a:lvl6pPr marL="1028674"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6pPr>
      <a:lvl7pPr marL="1165831"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7pPr>
      <a:lvl8pPr marL="1302987"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8pPr>
      <a:lvl9pPr marL="1440144" indent="-137157" algn="l" defTabSz="685783" rtl="0" eaLnBrk="1" latinLnBrk="0" hangingPunct="1">
        <a:spcBef>
          <a:spcPct val="20000"/>
        </a:spcBef>
        <a:buClr>
          <a:schemeClr val="accent1"/>
        </a:buClr>
        <a:buFont typeface="Arial" pitchFamily="34" charset="0"/>
        <a:buChar char="•"/>
        <a:defRPr sz="975"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3.xml"/><Relationship Id="rId7" Type="http://schemas.openxmlformats.org/officeDocument/2006/relationships/oleObject" Target="../embeddings/oleObject1.bin"/><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notesSlide" Target="../notesSlides/notesSlide1.xml"/><Relationship Id="rId4"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chart" Target="../charts/chart2.xml"/></Relationships>
</file>

<file path=ppt/slides/_rels/slide4.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svg"/><Relationship Id="rId11" Type="http://schemas.openxmlformats.org/officeDocument/2006/relationships/chart" Target="../charts/chart6.xml"/><Relationship Id="rId5" Type="http://schemas.openxmlformats.org/officeDocument/2006/relationships/image" Target="../media/image5.png"/><Relationship Id="rId10" Type="http://schemas.openxmlformats.org/officeDocument/2006/relationships/chart" Target="../charts/chart5.xml"/><Relationship Id="rId4" Type="http://schemas.openxmlformats.org/officeDocument/2006/relationships/image" Target="../media/image8.png"/><Relationship Id="rId9"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6.xml"/><Relationship Id="rId7" Type="http://schemas.openxmlformats.org/officeDocument/2006/relationships/image" Target="../media/image6.svg"/><Relationship Id="rId2" Type="http://schemas.openxmlformats.org/officeDocument/2006/relationships/slideLayout" Target="../slideLayouts/slideLayout6.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chart" Target="../charts/chart7.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7.xml"/><Relationship Id="rId7" Type="http://schemas.openxmlformats.org/officeDocument/2006/relationships/image" Target="../media/image6.svg"/><Relationship Id="rId2" Type="http://schemas.openxmlformats.org/officeDocument/2006/relationships/slideLayout" Target="../slideLayouts/slideLayout6.xml"/><Relationship Id="rId1" Type="http://schemas.openxmlformats.org/officeDocument/2006/relationships/tags" Target="../tags/tag5.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chart" Target="../charts/chart8.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9.xml"/><Relationship Id="rId7" Type="http://schemas.openxmlformats.org/officeDocument/2006/relationships/image" Target="../media/image6.svg"/><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chart" Target="../charts/chart9.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11.xml"/><Relationship Id="rId7" Type="http://schemas.openxmlformats.org/officeDocument/2006/relationships/image" Target="../media/image6.svg"/><Relationship Id="rId12" Type="http://schemas.openxmlformats.org/officeDocument/2006/relationships/chart" Target="../charts/chart13.xml"/><Relationship Id="rId2" Type="http://schemas.openxmlformats.org/officeDocument/2006/relationships/slideLayout" Target="../slideLayouts/slideLayout6.xml"/><Relationship Id="rId1" Type="http://schemas.openxmlformats.org/officeDocument/2006/relationships/tags" Target="../tags/tag7.xml"/><Relationship Id="rId6" Type="http://schemas.openxmlformats.org/officeDocument/2006/relationships/image" Target="../media/image5.png"/><Relationship Id="rId11" Type="http://schemas.openxmlformats.org/officeDocument/2006/relationships/chart" Target="../charts/chart12.xml"/><Relationship Id="rId5" Type="http://schemas.openxmlformats.org/officeDocument/2006/relationships/image" Target="../media/image8.png"/><Relationship Id="rId10" Type="http://schemas.openxmlformats.org/officeDocument/2006/relationships/chart" Target="../charts/chart11.xml"/><Relationship Id="rId4" Type="http://schemas.openxmlformats.org/officeDocument/2006/relationships/image" Target="../media/image7.png"/><Relationship Id="rId9" Type="http://schemas.openxmlformats.org/officeDocument/2006/relationships/chart" Target="../charts/chart10.xml"/></Relationships>
</file>

<file path=ppt/slides/_rels/slide12.xml.rels><?xml version="1.0" encoding="UTF-8" standalone="yes"?>
<Relationships xmlns="http://schemas.openxmlformats.org/package/2006/relationships"><Relationship Id="rId8" Type="http://schemas.openxmlformats.org/officeDocument/2006/relationships/chart" Target="../charts/chart15.xml"/><Relationship Id="rId3" Type="http://schemas.openxmlformats.org/officeDocument/2006/relationships/image" Target="../media/image7.png"/><Relationship Id="rId7" Type="http://schemas.openxmlformats.org/officeDocument/2006/relationships/chart" Target="../charts/chart14.xml"/><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6.svg"/><Relationship Id="rId11" Type="http://schemas.openxmlformats.org/officeDocument/2006/relationships/image" Target="../media/image10.emf"/><Relationship Id="rId5" Type="http://schemas.openxmlformats.org/officeDocument/2006/relationships/image" Target="../media/image5.png"/><Relationship Id="rId10" Type="http://schemas.openxmlformats.org/officeDocument/2006/relationships/image" Target="../media/image9.emf"/><Relationship Id="rId4" Type="http://schemas.openxmlformats.org/officeDocument/2006/relationships/image" Target="../media/image8.png"/><Relationship Id="rId9" Type="http://schemas.openxmlformats.org/officeDocument/2006/relationships/image" Target="../media/image2.png"/></Relationships>
</file>

<file path=ppt/slides/_rels/slide1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notesSlide" Target="../notesSlides/notesSlide13.xml"/><Relationship Id="rId7" Type="http://schemas.openxmlformats.org/officeDocument/2006/relationships/image" Target="../media/image8.png"/><Relationship Id="rId2" Type="http://schemas.openxmlformats.org/officeDocument/2006/relationships/slideLayout" Target="../slideLayouts/slideLayout6.xml"/><Relationship Id="rId1" Type="http://schemas.openxmlformats.org/officeDocument/2006/relationships/tags" Target="../tags/tag8.xml"/><Relationship Id="rId6" Type="http://schemas.openxmlformats.org/officeDocument/2006/relationships/image" Target="../media/image7.png"/><Relationship Id="rId5" Type="http://schemas.openxmlformats.org/officeDocument/2006/relationships/image" Target="../media/image6.svg"/><Relationship Id="rId10" Type="http://schemas.openxmlformats.org/officeDocument/2006/relationships/chart" Target="../charts/chart17.xml"/><Relationship Id="rId4" Type="http://schemas.openxmlformats.org/officeDocument/2006/relationships/image" Target="../media/image5.png"/><Relationship Id="rId9" Type="http://schemas.openxmlformats.org/officeDocument/2006/relationships/chart" Target="../charts/chart1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15.xml"/><Relationship Id="rId7" Type="http://schemas.openxmlformats.org/officeDocument/2006/relationships/image" Target="../media/image5.png"/><Relationship Id="rId2" Type="http://schemas.openxmlformats.org/officeDocument/2006/relationships/slideLayout" Target="../slideLayouts/slideLayout6.xml"/><Relationship Id="rId1" Type="http://schemas.openxmlformats.org/officeDocument/2006/relationships/tags" Target="../tags/tag9.xml"/><Relationship Id="rId6" Type="http://schemas.openxmlformats.org/officeDocument/2006/relationships/image" Target="../media/image8.png"/><Relationship Id="rId5" Type="http://schemas.openxmlformats.org/officeDocument/2006/relationships/image" Target="../media/image7.png"/><Relationship Id="rId4" Type="http://schemas.microsoft.com/office/2018/10/relationships/comments" Target="../comments/modernComment_1FB_1B8E3723.xml"/><Relationship Id="rId9" Type="http://schemas.openxmlformats.org/officeDocument/2006/relationships/image" Target="../media/image2.png"/></Relationships>
</file>

<file path=ppt/slides/_rels/slide1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notesSlide" Target="../notesSlides/notesSlide16.xml"/><Relationship Id="rId7" Type="http://schemas.openxmlformats.org/officeDocument/2006/relationships/image" Target="../media/image5.png"/><Relationship Id="rId2" Type="http://schemas.openxmlformats.org/officeDocument/2006/relationships/slideLayout" Target="../slideLayouts/slideLayout6.xml"/><Relationship Id="rId1" Type="http://schemas.openxmlformats.org/officeDocument/2006/relationships/tags" Target="../tags/tag10.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chart" Target="../charts/chart18.xml"/><Relationship Id="rId4" Type="http://schemas.microsoft.com/office/2018/10/relationships/comments" Target="../comments/modernComment_21D_CEF0BB86.xml"/><Relationship Id="rId9" Type="http://schemas.openxmlformats.org/officeDocument/2006/relationships/image" Target="../media/image2.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6.xml"/><Relationship Id="rId13" Type="http://schemas.openxmlformats.org/officeDocument/2006/relationships/image" Target="../media/image6.sv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5.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image" Target="../media/image8.png"/><Relationship Id="rId5" Type="http://schemas.openxmlformats.org/officeDocument/2006/relationships/tags" Target="../tags/tag15.xml"/><Relationship Id="rId10" Type="http://schemas.openxmlformats.org/officeDocument/2006/relationships/image" Target="../media/image7.png"/><Relationship Id="rId4" Type="http://schemas.openxmlformats.org/officeDocument/2006/relationships/tags" Target="../tags/tag14.xml"/><Relationship Id="rId9" Type="http://schemas.openxmlformats.org/officeDocument/2006/relationships/notesSlide" Target="../notesSlides/notesSlide17.xml"/><Relationship Id="rId1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slideLayout" Target="../slideLayouts/slideLayout6.xml"/><Relationship Id="rId7" Type="http://schemas.openxmlformats.org/officeDocument/2006/relationships/image" Target="../media/image5.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chart" Target="../charts/chart19.xml"/><Relationship Id="rId4" Type="http://schemas.openxmlformats.org/officeDocument/2006/relationships/notesSlide" Target="../notesSlides/notesSlide18.xml"/><Relationship Id="rId9"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6.sv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8" Type="http://schemas.openxmlformats.org/officeDocument/2006/relationships/chart" Target="../charts/chart20.xml"/><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tags" Target="../tags/tag20.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image" Target="../media/image7.png"/><Relationship Id="rId7" Type="http://schemas.openxmlformats.org/officeDocument/2006/relationships/image" Target="../media/image2.png"/><Relationship Id="rId2" Type="http://schemas.openxmlformats.org/officeDocument/2006/relationships/slideLayout" Target="../slideLayouts/slideLayout6.xml"/><Relationship Id="rId1" Type="http://schemas.openxmlformats.org/officeDocument/2006/relationships/tags" Target="../tags/tag2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8.png"/><Relationship Id="rId9"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ounded Rectangle 19">
            <a:extLst>
              <a:ext uri="{FF2B5EF4-FFF2-40B4-BE49-F238E27FC236}">
                <a16:creationId xmlns:a16="http://schemas.microsoft.com/office/drawing/2014/main" id="{73BE8B27-F14E-073F-00DE-12A312D627A3}"/>
              </a:ext>
            </a:extLst>
          </p:cNvPr>
          <p:cNvSpPr/>
          <p:nvPr/>
        </p:nvSpPr>
        <p:spPr>
          <a:xfrm>
            <a:off x="103029" y="950515"/>
            <a:ext cx="3457586" cy="378619"/>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100" b="1" dirty="0">
                <a:solidFill>
                  <a:srgbClr val="000000"/>
                </a:solidFill>
                <a:latin typeface="Calibri"/>
                <a:ea typeface="Calibri"/>
                <a:cs typeface="Calibri"/>
              </a:rPr>
              <a:t>RECOMMENDATION: HOLD</a:t>
            </a:r>
            <a:endPar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B9ACBDD-1411-07AA-E462-4F4F08289884}"/>
              </a:ext>
            </a:extLst>
          </p:cNvPr>
          <p:cNvSpPr txBox="1"/>
          <p:nvPr/>
        </p:nvSpPr>
        <p:spPr>
          <a:xfrm>
            <a:off x="52628" y="6057780"/>
            <a:ext cx="3204896" cy="600164"/>
          </a:xfrm>
          <a:prstGeom prst="rect">
            <a:avLst/>
          </a:prstGeom>
          <a:noFill/>
        </p:spPr>
        <p:txBody>
          <a:bodyPr wrap="square" lIns="91440" tIns="45720" rIns="91440" bIns="45720" rtlCol="0" anchor="t">
            <a:spAutoFit/>
          </a:bodyPr>
          <a:lstStyle/>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100" b="1" dirty="0">
                <a:latin typeface="Calibri" panose="020F0502020204030204" pitchFamily="34" charset="0"/>
                <a:ea typeface="Calibri" panose="020F0502020204030204" pitchFamily="34" charset="0"/>
                <a:cs typeface="Calibri" panose="020F0502020204030204" pitchFamily="34" charset="0"/>
              </a:rPr>
              <a:t>Ticker</a:t>
            </a:r>
            <a:r>
              <a:rPr lang="en-US" sz="1100" dirty="0">
                <a:latin typeface="Calibri" panose="020F0502020204030204" pitchFamily="34" charset="0"/>
                <a:ea typeface="Calibri" panose="020F0502020204030204" pitchFamily="34" charset="0"/>
                <a:cs typeface="Calibri" panose="020F0502020204030204" pitchFamily="34" charset="0"/>
              </a:rPr>
              <a:t>: JOUT</a:t>
            </a:r>
          </a:p>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100" b="1" dirty="0">
                <a:latin typeface="Calibri" panose="020F0502020204030204" pitchFamily="34" charset="0"/>
                <a:ea typeface="Calibri" panose="020F0502020204030204" pitchFamily="34" charset="0"/>
                <a:cs typeface="Calibri" panose="020F0502020204030204" pitchFamily="34" charset="0"/>
              </a:rPr>
              <a:t>Analyst</a:t>
            </a:r>
            <a:r>
              <a:rPr lang="en-US" sz="1100" dirty="0">
                <a:latin typeface="Calibri" panose="020F0502020204030204" pitchFamily="34" charset="0"/>
                <a:ea typeface="Calibri" panose="020F0502020204030204" pitchFamily="34" charset="0"/>
                <a:cs typeface="Calibri" panose="020F0502020204030204" pitchFamily="34" charset="0"/>
              </a:rPr>
              <a:t>: Rex Robe</a:t>
            </a:r>
          </a:p>
          <a:p>
            <a:pPr>
              <a:defRPr lang="en-US" sz="1200" b="0" i="0" u="none" strike="noStrike" kern="1200" baseline="0">
                <a:solidFill>
                  <a:schemeClr val="tx1"/>
                </a:solidFill>
                <a:latin typeface="Calibri" panose="020F0502020204030204" pitchFamily="34" charset="0"/>
                <a:ea typeface="Calibri" panose="020F0502020204030204" pitchFamily="34" charset="0"/>
                <a:cs typeface="Calibri" panose="020F0502020204030204" pitchFamily="34" charset="0"/>
              </a:defRPr>
            </a:pPr>
            <a:r>
              <a:rPr lang="en-US" sz="1100" dirty="0">
                <a:latin typeface="Calibri" panose="020F0502020204030204" pitchFamily="34" charset="0"/>
                <a:ea typeface="Calibri" panose="020F0502020204030204" pitchFamily="34" charset="0"/>
                <a:cs typeface="Calibri" panose="020F0502020204030204" pitchFamily="34" charset="0"/>
              </a:rPr>
              <a:t>Contact at 262-470-3765 | RexJRobe@uwm.edu</a:t>
            </a:r>
          </a:p>
        </p:txBody>
      </p:sp>
      <p:grpSp>
        <p:nvGrpSpPr>
          <p:cNvPr id="35" name="Group 34">
            <a:extLst>
              <a:ext uri="{FF2B5EF4-FFF2-40B4-BE49-F238E27FC236}">
                <a16:creationId xmlns:a16="http://schemas.microsoft.com/office/drawing/2014/main" id="{8C05FA5D-8E76-ECA8-7784-39C4FC8D3D5D}"/>
              </a:ext>
            </a:extLst>
          </p:cNvPr>
          <p:cNvGrpSpPr/>
          <p:nvPr/>
        </p:nvGrpSpPr>
        <p:grpSpPr>
          <a:xfrm>
            <a:off x="3885505" y="1015902"/>
            <a:ext cx="5132358" cy="700576"/>
            <a:chOff x="2890909" y="974408"/>
            <a:chExt cx="4699934" cy="520911"/>
          </a:xfrm>
        </p:grpSpPr>
        <p:sp>
          <p:nvSpPr>
            <p:cNvPr id="36" name="Rectangle 35">
              <a:extLst>
                <a:ext uri="{FF2B5EF4-FFF2-40B4-BE49-F238E27FC236}">
                  <a16:creationId xmlns:a16="http://schemas.microsoft.com/office/drawing/2014/main" id="{37D462EE-5E5F-70A1-D4B6-EEE56884F9B3}"/>
                </a:ext>
              </a:extLst>
            </p:cNvPr>
            <p:cNvSpPr/>
            <p:nvPr/>
          </p:nvSpPr>
          <p:spPr bwMode="auto">
            <a:xfrm>
              <a:off x="3426457" y="1178286"/>
              <a:ext cx="3887429" cy="13463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0255" name="Group 3">
              <a:extLst>
                <a:ext uri="{FF2B5EF4-FFF2-40B4-BE49-F238E27FC236}">
                  <a16:creationId xmlns:a16="http://schemas.microsoft.com/office/drawing/2014/main" id="{7D9A2093-28CF-EC4B-2E88-52671B1CFB1B}"/>
                </a:ext>
              </a:extLst>
            </p:cNvPr>
            <p:cNvGrpSpPr>
              <a:grpSpLocks/>
            </p:cNvGrpSpPr>
            <p:nvPr/>
          </p:nvGrpSpPr>
          <p:grpSpPr bwMode="auto">
            <a:xfrm>
              <a:off x="2890909" y="978155"/>
              <a:ext cx="2281332" cy="517164"/>
              <a:chOff x="3850320" y="1773184"/>
              <a:chExt cx="5229631" cy="617683"/>
            </a:xfrm>
          </p:grpSpPr>
          <p:sp>
            <p:nvSpPr>
              <p:cNvPr id="18" name="Rounded Rectangle 17">
                <a:extLst>
                  <a:ext uri="{FF2B5EF4-FFF2-40B4-BE49-F238E27FC236}">
                    <a16:creationId xmlns:a16="http://schemas.microsoft.com/office/drawing/2014/main" id="{FAB3564D-E876-03A6-5CEB-D16792D1E901}"/>
                  </a:ext>
                </a:extLst>
              </p:cNvPr>
              <p:cNvSpPr/>
              <p:nvPr/>
            </p:nvSpPr>
            <p:spPr>
              <a:xfrm>
                <a:off x="3850320" y="1773184"/>
                <a:ext cx="2505391" cy="61482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100" b="1" dirty="0">
                    <a:solidFill>
                      <a:srgbClr val="000000"/>
                    </a:solidFill>
                    <a:latin typeface="Calibri"/>
                    <a:ea typeface="Calibri"/>
                    <a:cs typeface="Calibri"/>
                  </a:rPr>
                  <a:t>Demand Reset Today, Margin Recovery Ahead</a:t>
                </a:r>
                <a:endPar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Rounded Rectangle 18">
                <a:extLst>
                  <a:ext uri="{FF2B5EF4-FFF2-40B4-BE49-F238E27FC236}">
                    <a16:creationId xmlns:a16="http://schemas.microsoft.com/office/drawing/2014/main" id="{7343957F-ACD4-1725-93C5-196D6FC19BAC}"/>
                  </a:ext>
                </a:extLst>
              </p:cNvPr>
              <p:cNvSpPr/>
              <p:nvPr/>
            </p:nvSpPr>
            <p:spPr>
              <a:xfrm>
                <a:off x="6574560" y="1776047"/>
                <a:ext cx="2505391" cy="61482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Lack of Demand</a:t>
                </a:r>
              </a:p>
            </p:txBody>
          </p:sp>
        </p:grpSp>
        <p:sp>
          <p:nvSpPr>
            <p:cNvPr id="34" name="Rounded Rectangle 20">
              <a:extLst>
                <a:ext uri="{FF2B5EF4-FFF2-40B4-BE49-F238E27FC236}">
                  <a16:creationId xmlns:a16="http://schemas.microsoft.com/office/drawing/2014/main" id="{7567923E-695B-7495-A9C5-C1045C6ADBA3}"/>
                </a:ext>
              </a:extLst>
            </p:cNvPr>
            <p:cNvSpPr/>
            <p:nvPr/>
          </p:nvSpPr>
          <p:spPr bwMode="auto">
            <a:xfrm>
              <a:off x="6497914" y="974408"/>
              <a:ext cx="1092929" cy="514767"/>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nchorCtr="0"/>
            <a:lstStyle/>
            <a:p>
              <a:pPr algn="ctr">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Inventory and Channel Normalization</a:t>
              </a:r>
              <a:endParaRPr lang="en-US" sz="1100" dirty="0">
                <a:latin typeface="Calibri" panose="020F0502020204030204" pitchFamily="34" charset="0"/>
                <a:ea typeface="Calibri" panose="020F0502020204030204" pitchFamily="34" charset="0"/>
                <a:cs typeface="Calibri" panose="020F0502020204030204" pitchFamily="34" charset="0"/>
              </a:endParaRPr>
            </a:p>
            <a:p>
              <a:pPr algn="ctr">
                <a:spcBef>
                  <a:spcPts val="0"/>
                </a:spcBef>
                <a:spcAft>
                  <a:spcPts val="0"/>
                </a:spcAft>
                <a:defRPr/>
              </a:pPr>
              <a:endParaRPr lang="en-US" sz="1100" b="1" dirty="0">
                <a:solidFill>
                  <a:srgbClr val="000000"/>
                </a:solidFill>
                <a:latin typeface="Calibri"/>
                <a:ea typeface="Calibri"/>
                <a:cs typeface="Calibri"/>
              </a:endParaRPr>
            </a:p>
          </p:txBody>
        </p:sp>
      </p:grpSp>
      <p:sp>
        <p:nvSpPr>
          <p:cNvPr id="7" name="TextBox 6">
            <a:extLst>
              <a:ext uri="{FF2B5EF4-FFF2-40B4-BE49-F238E27FC236}">
                <a16:creationId xmlns:a16="http://schemas.microsoft.com/office/drawing/2014/main" id="{D44D5FE0-8D81-9172-5B3D-6FE6629A1F77}"/>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a:t>
            </a:fld>
            <a:endParaRPr lang="en-US" sz="1400">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776EF71-607F-F855-56CA-F38F55ABE739}"/>
              </a:ext>
            </a:extLst>
          </p:cNvPr>
          <p:cNvGraphicFramePr>
            <a:graphicFrameLocks noGrp="1"/>
          </p:cNvGraphicFramePr>
          <p:nvPr>
            <p:custDataLst>
              <p:tags r:id="rId1"/>
            </p:custDataLst>
            <p:extLst>
              <p:ext uri="{D42A27DB-BD31-4B8C-83A1-F6EECF244321}">
                <p14:modId xmlns:p14="http://schemas.microsoft.com/office/powerpoint/2010/main" val="3091895785"/>
              </p:ext>
            </p:extLst>
          </p:nvPr>
        </p:nvGraphicFramePr>
        <p:xfrm>
          <a:off x="126138" y="1454040"/>
          <a:ext cx="3463959" cy="2389728"/>
        </p:xfrm>
        <a:graphic>
          <a:graphicData uri="http://schemas.openxmlformats.org/drawingml/2006/table">
            <a:tbl>
              <a:tblPr/>
              <a:tblGrid>
                <a:gridCol w="1917107">
                  <a:extLst>
                    <a:ext uri="{9D8B030D-6E8A-4147-A177-3AD203B41FA5}">
                      <a16:colId xmlns:a16="http://schemas.microsoft.com/office/drawing/2014/main" val="896875415"/>
                    </a:ext>
                  </a:extLst>
                </a:gridCol>
                <a:gridCol w="1546852">
                  <a:extLst>
                    <a:ext uri="{9D8B030D-6E8A-4147-A177-3AD203B41FA5}">
                      <a16:colId xmlns:a16="http://schemas.microsoft.com/office/drawing/2014/main" val="1268898054"/>
                    </a:ext>
                  </a:extLst>
                </a:gridCol>
              </a:tblGrid>
              <a:tr h="199144">
                <a:tc gridSpan="2">
                  <a:txBody>
                    <a:bodyPr/>
                    <a:lstStyle/>
                    <a:p>
                      <a:pPr algn="ctr" fontAlgn="b"/>
                      <a:r>
                        <a:rPr lang="en-US" sz="1100" b="1" i="0" u="none" strike="noStrike">
                          <a:solidFill>
                            <a:srgbClr val="000000"/>
                          </a:solidFill>
                          <a:effectLst/>
                          <a:latin typeface="Calibri"/>
                        </a:rPr>
                        <a:t>Market Profile</a:t>
                      </a:r>
                    </a:p>
                  </a:txBody>
                  <a:tcPr marL="0" marR="0" marT="0" marB="0" anchor="b">
                    <a:lnL>
                      <a:noFill/>
                    </a:lnL>
                    <a:lnR>
                      <a:noFill/>
                    </a:lnR>
                    <a:lnT>
                      <a:noFill/>
                    </a:lnT>
                    <a:lnB>
                      <a:noFill/>
                    </a:lnB>
                    <a:solidFill>
                      <a:srgbClr val="F2C755"/>
                    </a:solidFill>
                  </a:tcPr>
                </a:tc>
                <a:tc hMerge="1">
                  <a:txBody>
                    <a:bodyPr/>
                    <a:lstStyle/>
                    <a:p>
                      <a:endParaRPr lang="en-US"/>
                    </a:p>
                  </a:txBody>
                  <a:tcPr/>
                </a:tc>
                <a:extLst>
                  <a:ext uri="{0D108BD9-81ED-4DB2-BD59-A6C34878D82A}">
                    <a16:rowId xmlns:a16="http://schemas.microsoft.com/office/drawing/2014/main" val="1258083743"/>
                  </a:ext>
                </a:extLst>
              </a:tr>
              <a:tr h="199144">
                <a:tc>
                  <a:txBody>
                    <a:bodyPr/>
                    <a:lstStyle/>
                    <a:p>
                      <a:pPr algn="l" fontAlgn="b"/>
                      <a:r>
                        <a:rPr lang="en-US" sz="1100" b="0" i="0" u="none" strike="noStrike">
                          <a:solidFill>
                            <a:srgbClr val="000000"/>
                          </a:solidFill>
                          <a:effectLst/>
                          <a:latin typeface="Calibri"/>
                        </a:rPr>
                        <a:t>Closing Price</a:t>
                      </a:r>
                    </a:p>
                  </a:txBody>
                  <a:tcPr marL="0" marR="0" marT="0" marB="0" anchor="b">
                    <a:lnL>
                      <a:noFill/>
                    </a:lnL>
                    <a:lnR>
                      <a:noFill/>
                    </a:lnR>
                    <a:lnT>
                      <a:noFill/>
                    </a:lnT>
                    <a:lnB>
                      <a:noFill/>
                    </a:lnB>
                    <a:solidFill>
                      <a:srgbClr val="FFFFFF"/>
                    </a:solidFill>
                  </a:tcPr>
                </a:tc>
                <a:tc>
                  <a:txBody>
                    <a:bodyPr/>
                    <a:lstStyle/>
                    <a:p>
                      <a:pPr algn="r" fontAlgn="b"/>
                      <a:r>
                        <a:rPr lang="en-US" sz="1100" b="0" i="0" u="none" strike="noStrike" dirty="0">
                          <a:solidFill>
                            <a:srgbClr val="000000"/>
                          </a:solidFill>
                          <a:effectLst/>
                          <a:latin typeface="Calibri"/>
                        </a:rPr>
                        <a:t>$40.96</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56948883"/>
                  </a:ext>
                </a:extLst>
              </a:tr>
              <a:tr h="199144">
                <a:tc>
                  <a:txBody>
                    <a:bodyPr/>
                    <a:lstStyle/>
                    <a:p>
                      <a:pPr algn="l" fontAlgn="b"/>
                      <a:r>
                        <a:rPr lang="en-US" sz="1100" b="0" i="0" u="none" strike="noStrike" dirty="0">
                          <a:solidFill>
                            <a:srgbClr val="000000"/>
                          </a:solidFill>
                          <a:effectLst/>
                          <a:latin typeface="Calibri"/>
                        </a:rPr>
                        <a:t>52-Week High / Low</a:t>
                      </a:r>
                    </a:p>
                  </a:txBody>
                  <a:tcPr marL="0" marR="0" marT="0" marB="0" anchor="b">
                    <a:lnL>
                      <a:noFill/>
                    </a:lnL>
                    <a:lnR>
                      <a:noFill/>
                    </a:lnR>
                    <a:lnT>
                      <a:noFill/>
                    </a:lnT>
                    <a:lnB>
                      <a:noFill/>
                    </a:lnB>
                    <a:solidFill>
                      <a:schemeClr val="accent1">
                        <a:lumMod val="85000"/>
                      </a:schemeClr>
                    </a:solidFill>
                  </a:tcPr>
                </a:tc>
                <a:tc>
                  <a:txBody>
                    <a:bodyPr/>
                    <a:lstStyle/>
                    <a:p>
                      <a:pPr lvl="0" algn="r">
                        <a:buNone/>
                      </a:pPr>
                      <a:r>
                        <a:rPr lang="en-US" sz="1100" b="0" i="0" u="none" strike="noStrike" kern="1200" noProof="0" dirty="0">
                          <a:solidFill>
                            <a:srgbClr val="000000"/>
                          </a:solidFill>
                          <a:effectLst/>
                          <a:latin typeface="Calibri"/>
                          <a:ea typeface="+mn-ea"/>
                          <a:cs typeface="+mn-cs"/>
                        </a:rPr>
                        <a:t>$21.33 / $42.88</a:t>
                      </a:r>
                      <a:endParaRPr lang="en-US" sz="1100" b="0" i="0" u="none" strike="noStrike" kern="1200" dirty="0">
                        <a:solidFill>
                          <a:srgbClr val="000000"/>
                        </a:solidFill>
                        <a:effectLst/>
                        <a:latin typeface="Calibri"/>
                        <a:ea typeface="+mn-ea"/>
                        <a:cs typeface="+mn-cs"/>
                      </a:endParaRPr>
                    </a:p>
                  </a:txBody>
                  <a:tcPr marL="0" marR="0" marT="0" marB="0" anchor="b">
                    <a:lnL>
                      <a:noFill/>
                    </a:lnL>
                    <a:lnR>
                      <a:noFill/>
                    </a:lnR>
                    <a:lnT>
                      <a:noFill/>
                    </a:lnT>
                    <a:lnB>
                      <a:noFill/>
                    </a:lnB>
                    <a:solidFill>
                      <a:schemeClr val="accent1">
                        <a:lumMod val="85000"/>
                      </a:schemeClr>
                    </a:solidFill>
                  </a:tcPr>
                </a:tc>
                <a:extLst>
                  <a:ext uri="{0D108BD9-81ED-4DB2-BD59-A6C34878D82A}">
                    <a16:rowId xmlns:a16="http://schemas.microsoft.com/office/drawing/2014/main" val="870374520"/>
                  </a:ext>
                </a:extLst>
              </a:tr>
              <a:tr h="199144">
                <a:tc>
                  <a:txBody>
                    <a:bodyPr/>
                    <a:lstStyle/>
                    <a:p>
                      <a:pPr algn="l" fontAlgn="b"/>
                      <a:r>
                        <a:rPr lang="en-US" sz="1100" b="0" i="0" u="none" strike="noStrike" kern="1200" dirty="0">
                          <a:solidFill>
                            <a:srgbClr val="000000"/>
                          </a:solidFill>
                          <a:effectLst/>
                          <a:latin typeface="Calibri"/>
                          <a:ea typeface="+mn-ea"/>
                          <a:cs typeface="+mn-cs"/>
                        </a:rPr>
                        <a:t>Average</a:t>
                      </a:r>
                      <a:r>
                        <a:rPr lang="en-US" sz="1100" b="0" i="0" u="none" strike="noStrike" dirty="0">
                          <a:solidFill>
                            <a:srgbClr val="000000"/>
                          </a:solidFill>
                          <a:effectLst/>
                          <a:latin typeface="Calibri"/>
                        </a:rPr>
                        <a:t> Daily Volume (K)</a:t>
                      </a:r>
                    </a:p>
                  </a:txBody>
                  <a:tcPr marL="0" marR="0" marT="0" marB="0" anchor="b">
                    <a:lnL>
                      <a:noFill/>
                    </a:lnL>
                    <a:lnR>
                      <a:noFill/>
                    </a:lnR>
                    <a:lnT>
                      <a:noFill/>
                    </a:lnT>
                    <a:lnB>
                      <a:noFill/>
                    </a:lnB>
                    <a:solidFill>
                      <a:srgbClr val="FFFFFF"/>
                    </a:solidFill>
                  </a:tcPr>
                </a:tc>
                <a:tc>
                  <a:txBody>
                    <a:bodyPr/>
                    <a:lstStyle/>
                    <a:p>
                      <a:pPr algn="r" fontAlgn="b"/>
                      <a:r>
                        <a:rPr lang="en-US" sz="1100" b="0" i="0" u="none" strike="noStrike" dirty="0">
                          <a:solidFill>
                            <a:srgbClr val="000000"/>
                          </a:solidFill>
                          <a:effectLst/>
                          <a:latin typeface="Calibri"/>
                        </a:rPr>
                        <a:t>43.2</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186787926"/>
                  </a:ext>
                </a:extLst>
              </a:tr>
              <a:tr h="199144">
                <a:tc>
                  <a:txBody>
                    <a:bodyPr/>
                    <a:lstStyle/>
                    <a:p>
                      <a:pPr algn="l" fontAlgn="b"/>
                      <a:r>
                        <a:rPr lang="en-US" sz="1100" b="0" i="0" u="none" strike="noStrike" dirty="0">
                          <a:solidFill>
                            <a:srgbClr val="000000"/>
                          </a:solidFill>
                          <a:effectLst/>
                          <a:latin typeface="Calibri"/>
                        </a:rPr>
                        <a:t>Shares Outstanding (M)</a:t>
                      </a:r>
                    </a:p>
                  </a:txBody>
                  <a:tcPr marL="0" marR="0" marT="0" marB="0" anchor="b">
                    <a:lnL>
                      <a:noFill/>
                    </a:lnL>
                    <a:lnR>
                      <a:noFill/>
                    </a:lnR>
                    <a:lnT>
                      <a:noFill/>
                    </a:lnT>
                    <a:lnB>
                      <a:noFill/>
                    </a:lnB>
                    <a:solidFill>
                      <a:schemeClr val="accent1">
                        <a:lumMod val="85000"/>
                      </a:schemeClr>
                    </a:solidFill>
                  </a:tcPr>
                </a:tc>
                <a:tc>
                  <a:txBody>
                    <a:bodyPr/>
                    <a:lstStyle/>
                    <a:p>
                      <a:pPr algn="r" fontAlgn="b"/>
                      <a:r>
                        <a:rPr lang="en-US" sz="1100" b="0" i="0" u="none" strike="noStrike" dirty="0">
                          <a:solidFill>
                            <a:srgbClr val="000000"/>
                          </a:solidFill>
                          <a:effectLst/>
                          <a:latin typeface="Calibri"/>
                        </a:rPr>
                        <a:t>10.3</a:t>
                      </a:r>
                    </a:p>
                  </a:txBody>
                  <a:tcPr marL="0" marR="0" marT="0" marB="0" anchor="b">
                    <a:lnL>
                      <a:noFill/>
                    </a:lnL>
                    <a:lnR>
                      <a:noFill/>
                    </a:lnR>
                    <a:lnT>
                      <a:noFill/>
                    </a:lnT>
                    <a:lnB>
                      <a:noFill/>
                    </a:lnB>
                    <a:solidFill>
                      <a:schemeClr val="accent1">
                        <a:lumMod val="85000"/>
                      </a:schemeClr>
                    </a:solidFill>
                  </a:tcPr>
                </a:tc>
                <a:extLst>
                  <a:ext uri="{0D108BD9-81ED-4DB2-BD59-A6C34878D82A}">
                    <a16:rowId xmlns:a16="http://schemas.microsoft.com/office/drawing/2014/main" val="3146997787"/>
                  </a:ext>
                </a:extLst>
              </a:tr>
              <a:tr h="199144">
                <a:tc>
                  <a:txBody>
                    <a:bodyPr/>
                    <a:lstStyle/>
                    <a:p>
                      <a:pPr algn="l" fontAlgn="b"/>
                      <a:r>
                        <a:rPr lang="en-US" sz="1100" b="0" i="0" u="none" strike="noStrike" dirty="0">
                          <a:solidFill>
                            <a:srgbClr val="000000"/>
                          </a:solidFill>
                          <a:effectLst/>
                          <a:latin typeface="Calibri"/>
                        </a:rPr>
                        <a:t>Dividend Yield</a:t>
                      </a:r>
                    </a:p>
                  </a:txBody>
                  <a:tcPr marL="0" marR="0" marT="0" marB="0" anchor="b">
                    <a:lnL>
                      <a:noFill/>
                    </a:lnL>
                    <a:lnR>
                      <a:noFill/>
                    </a:lnR>
                    <a:lnT>
                      <a:noFill/>
                    </a:lnT>
                    <a:lnB>
                      <a:noFill/>
                    </a:lnB>
                    <a:solidFill>
                      <a:srgbClr val="FFFFFF"/>
                    </a:solidFill>
                  </a:tcPr>
                </a:tc>
                <a:tc>
                  <a:txBody>
                    <a:bodyPr/>
                    <a:lstStyle/>
                    <a:p>
                      <a:pPr algn="r" fontAlgn="b"/>
                      <a:r>
                        <a:rPr lang="en-US" sz="1100" b="0" i="0" u="none" strike="noStrike" dirty="0">
                          <a:solidFill>
                            <a:srgbClr val="000000"/>
                          </a:solidFill>
                          <a:effectLst/>
                          <a:latin typeface="Calibri"/>
                        </a:rPr>
                        <a:t>3.3%</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23947492"/>
                  </a:ext>
                </a:extLst>
              </a:tr>
              <a:tr h="199144">
                <a:tc>
                  <a:txBody>
                    <a:bodyPr/>
                    <a:lstStyle/>
                    <a:p>
                      <a:pPr algn="l" fontAlgn="b"/>
                      <a:r>
                        <a:rPr lang="en-US" sz="1100" b="0" i="0" u="none" strike="noStrike" dirty="0">
                          <a:solidFill>
                            <a:srgbClr val="000000"/>
                          </a:solidFill>
                          <a:effectLst/>
                          <a:latin typeface="Calibri"/>
                        </a:rPr>
                        <a:t>Institutional Ownership</a:t>
                      </a:r>
                    </a:p>
                  </a:txBody>
                  <a:tcPr marL="0" marR="0" marT="0" marB="0" anchor="b">
                    <a:lnL>
                      <a:noFill/>
                    </a:lnL>
                    <a:lnR>
                      <a:noFill/>
                    </a:lnR>
                    <a:lnT>
                      <a:noFill/>
                    </a:lnT>
                    <a:lnB>
                      <a:noFill/>
                    </a:lnB>
                    <a:solidFill>
                      <a:schemeClr val="accent1">
                        <a:lumMod val="85000"/>
                      </a:schemeClr>
                    </a:solidFill>
                  </a:tcPr>
                </a:tc>
                <a:tc>
                  <a:txBody>
                    <a:bodyPr/>
                    <a:lstStyle/>
                    <a:p>
                      <a:pPr algn="r" fontAlgn="b"/>
                      <a:r>
                        <a:rPr lang="en-US" sz="1100" b="0" i="0" u="none" strike="noStrike" dirty="0">
                          <a:solidFill>
                            <a:srgbClr val="000000"/>
                          </a:solidFill>
                          <a:effectLst/>
                          <a:latin typeface="Calibri"/>
                        </a:rPr>
                        <a:t>81.3%</a:t>
                      </a:r>
                    </a:p>
                  </a:txBody>
                  <a:tcPr marL="0" marR="0" marT="0" marB="0" anchor="b">
                    <a:lnL>
                      <a:noFill/>
                    </a:lnL>
                    <a:lnR>
                      <a:noFill/>
                    </a:lnR>
                    <a:lnT>
                      <a:noFill/>
                    </a:lnT>
                    <a:lnB>
                      <a:noFill/>
                    </a:lnB>
                    <a:solidFill>
                      <a:schemeClr val="accent1">
                        <a:lumMod val="85000"/>
                      </a:schemeClr>
                    </a:solidFill>
                  </a:tcPr>
                </a:tc>
                <a:extLst>
                  <a:ext uri="{0D108BD9-81ED-4DB2-BD59-A6C34878D82A}">
                    <a16:rowId xmlns:a16="http://schemas.microsoft.com/office/drawing/2014/main" val="1578010006"/>
                  </a:ext>
                </a:extLst>
              </a:tr>
              <a:tr h="199144">
                <a:tc>
                  <a:txBody>
                    <a:bodyPr/>
                    <a:lstStyle/>
                    <a:p>
                      <a:pPr algn="l" fontAlgn="b"/>
                      <a:r>
                        <a:rPr lang="en-US" sz="1100" b="0" i="0" u="none" strike="noStrike" dirty="0">
                          <a:solidFill>
                            <a:srgbClr val="000000"/>
                          </a:solidFill>
                          <a:effectLst/>
                          <a:latin typeface="Calibri"/>
                        </a:rPr>
                        <a:t>Insider Ownership</a:t>
                      </a:r>
                    </a:p>
                  </a:txBody>
                  <a:tcPr marL="0" marR="0" marT="0" marB="0" anchor="b">
                    <a:lnL>
                      <a:noFill/>
                    </a:lnL>
                    <a:lnR>
                      <a:noFill/>
                    </a:lnR>
                    <a:lnT>
                      <a:noFill/>
                    </a:lnT>
                    <a:lnB>
                      <a:noFill/>
                    </a:lnB>
                    <a:solidFill>
                      <a:srgbClr val="FFFFFF"/>
                    </a:solidFill>
                  </a:tcPr>
                </a:tc>
                <a:tc>
                  <a:txBody>
                    <a:bodyPr/>
                    <a:lstStyle/>
                    <a:p>
                      <a:pPr algn="r" fontAlgn="b"/>
                      <a:r>
                        <a:rPr lang="en-US" sz="1100" b="0" i="0" u="none" strike="noStrike" dirty="0">
                          <a:solidFill>
                            <a:srgbClr val="000000"/>
                          </a:solidFill>
                          <a:effectLst/>
                          <a:latin typeface="Calibri"/>
                        </a:rPr>
                        <a:t>8.7%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143143438"/>
                  </a:ext>
                </a:extLst>
              </a:tr>
              <a:tr h="199144">
                <a:tc>
                  <a:txBody>
                    <a:bodyPr/>
                    <a:lstStyle/>
                    <a:p>
                      <a:pPr algn="l" fontAlgn="b"/>
                      <a:r>
                        <a:rPr lang="en-US" sz="1100" b="0" i="0" u="none" strike="noStrike" dirty="0">
                          <a:solidFill>
                            <a:srgbClr val="000000"/>
                          </a:solidFill>
                          <a:effectLst/>
                          <a:latin typeface="Calibri"/>
                        </a:rPr>
                        <a:t>Market Capitalization (M)</a:t>
                      </a:r>
                    </a:p>
                  </a:txBody>
                  <a:tcPr marL="0" marR="0" marT="0" marB="0" anchor="b">
                    <a:lnL>
                      <a:noFill/>
                    </a:lnL>
                    <a:lnR>
                      <a:noFill/>
                    </a:lnR>
                    <a:lnT>
                      <a:noFill/>
                    </a:lnT>
                    <a:lnB>
                      <a:noFill/>
                    </a:lnB>
                    <a:solidFill>
                      <a:schemeClr val="accent1">
                        <a:lumMod val="85000"/>
                      </a:schemeClr>
                    </a:solidFill>
                  </a:tcPr>
                </a:tc>
                <a:tc>
                  <a:txBody>
                    <a:bodyPr/>
                    <a:lstStyle/>
                    <a:p>
                      <a:pPr algn="r" fontAlgn="b"/>
                      <a:r>
                        <a:rPr lang="en-US" sz="1100" b="0" i="0" u="none" strike="noStrike" dirty="0">
                          <a:solidFill>
                            <a:srgbClr val="000000"/>
                          </a:solidFill>
                          <a:effectLst/>
                          <a:latin typeface="Calibri"/>
                        </a:rPr>
                        <a:t>441.4</a:t>
                      </a:r>
                    </a:p>
                  </a:txBody>
                  <a:tcPr marL="0" marR="0" marT="0" marB="0" anchor="b">
                    <a:lnL>
                      <a:noFill/>
                    </a:lnL>
                    <a:lnR>
                      <a:noFill/>
                    </a:lnR>
                    <a:lnT>
                      <a:noFill/>
                    </a:lnT>
                    <a:lnB>
                      <a:noFill/>
                    </a:lnB>
                    <a:solidFill>
                      <a:schemeClr val="accent1">
                        <a:lumMod val="85000"/>
                      </a:schemeClr>
                    </a:solidFill>
                  </a:tcPr>
                </a:tc>
                <a:extLst>
                  <a:ext uri="{0D108BD9-81ED-4DB2-BD59-A6C34878D82A}">
                    <a16:rowId xmlns:a16="http://schemas.microsoft.com/office/drawing/2014/main" val="3217659247"/>
                  </a:ext>
                </a:extLst>
              </a:tr>
              <a:tr h="199144">
                <a:tc>
                  <a:txBody>
                    <a:bodyPr/>
                    <a:lstStyle/>
                    <a:p>
                      <a:pPr algn="l" fontAlgn="b"/>
                      <a:r>
                        <a:rPr lang="en-US" sz="1100" b="0" i="0" u="none" strike="noStrike" dirty="0">
                          <a:solidFill>
                            <a:srgbClr val="000000"/>
                          </a:solidFill>
                          <a:effectLst/>
                          <a:latin typeface="Calibri"/>
                        </a:rPr>
                        <a:t>Enterprise Value (M)</a:t>
                      </a:r>
                    </a:p>
                  </a:txBody>
                  <a:tcPr marL="0" marR="0" marT="0" marB="0" anchor="b">
                    <a:lnL>
                      <a:noFill/>
                    </a:lnL>
                    <a:lnR>
                      <a:noFill/>
                    </a:lnR>
                    <a:lnT>
                      <a:noFill/>
                    </a:lnT>
                    <a:lnB>
                      <a:noFill/>
                    </a:lnB>
                    <a:solidFill>
                      <a:srgbClr val="FFFFFF"/>
                    </a:solidFill>
                  </a:tcPr>
                </a:tc>
                <a:tc>
                  <a:txBody>
                    <a:bodyPr/>
                    <a:lstStyle/>
                    <a:p>
                      <a:pPr algn="r" fontAlgn="b"/>
                      <a:r>
                        <a:rPr lang="en-US" sz="1100" b="0" i="0" u="none" strike="noStrike" dirty="0">
                          <a:solidFill>
                            <a:srgbClr val="000000"/>
                          </a:solidFill>
                          <a:effectLst/>
                          <a:latin typeface="Calibri"/>
                        </a:rPr>
                        <a:t>257.3</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733735783"/>
                  </a:ext>
                </a:extLst>
              </a:tr>
              <a:tr h="199144">
                <a:tc>
                  <a:txBody>
                    <a:bodyPr/>
                    <a:lstStyle/>
                    <a:p>
                      <a:pPr algn="l" fontAlgn="b"/>
                      <a:r>
                        <a:rPr lang="en-US" sz="1100" b="0" i="0" u="none" strike="noStrike" dirty="0">
                          <a:solidFill>
                            <a:srgbClr val="000000"/>
                          </a:solidFill>
                          <a:effectLst/>
                          <a:latin typeface="Calibri"/>
                        </a:rPr>
                        <a:t>P/E (TTM)</a:t>
                      </a:r>
                    </a:p>
                  </a:txBody>
                  <a:tcPr marL="0" marR="0" marT="0" marB="0" anchor="b">
                    <a:lnL>
                      <a:noFill/>
                    </a:lnL>
                    <a:lnR>
                      <a:noFill/>
                    </a:lnR>
                    <a:lnT>
                      <a:noFill/>
                    </a:lnT>
                    <a:lnB>
                      <a:noFill/>
                    </a:lnB>
                    <a:solidFill>
                      <a:schemeClr val="accent1">
                        <a:lumMod val="85000"/>
                      </a:schemeClr>
                    </a:solidFill>
                  </a:tcPr>
                </a:tc>
                <a:tc>
                  <a:txBody>
                    <a:bodyPr/>
                    <a:lstStyle/>
                    <a:p>
                      <a:pPr algn="r" fontAlgn="b"/>
                      <a:r>
                        <a:rPr lang="en-US" sz="1100" b="0" i="0" u="none" strike="noStrike" dirty="0">
                          <a:solidFill>
                            <a:srgbClr val="000000"/>
                          </a:solidFill>
                          <a:effectLst/>
                          <a:latin typeface="Calibri"/>
                        </a:rPr>
                        <a:t>(13.9)</a:t>
                      </a:r>
                    </a:p>
                  </a:txBody>
                  <a:tcPr marL="0" marR="0" marT="0" marB="0" anchor="b">
                    <a:lnL>
                      <a:noFill/>
                    </a:lnL>
                    <a:lnR>
                      <a:noFill/>
                    </a:lnR>
                    <a:lnT>
                      <a:noFill/>
                    </a:lnT>
                    <a:lnB>
                      <a:noFill/>
                    </a:lnB>
                    <a:solidFill>
                      <a:schemeClr val="accent1">
                        <a:lumMod val="85000"/>
                      </a:schemeClr>
                    </a:solidFill>
                  </a:tcPr>
                </a:tc>
                <a:extLst>
                  <a:ext uri="{0D108BD9-81ED-4DB2-BD59-A6C34878D82A}">
                    <a16:rowId xmlns:a16="http://schemas.microsoft.com/office/drawing/2014/main" val="2429623004"/>
                  </a:ext>
                </a:extLst>
              </a:tr>
              <a:tr h="199144">
                <a:tc>
                  <a:txBody>
                    <a:bodyPr/>
                    <a:lstStyle/>
                    <a:p>
                      <a:pPr algn="l" fontAlgn="b"/>
                      <a:r>
                        <a:rPr lang="en-US" sz="1100" b="0" i="0" u="none" strike="noStrike">
                          <a:solidFill>
                            <a:srgbClr val="000000"/>
                          </a:solidFill>
                          <a:effectLst/>
                          <a:latin typeface="Calibri"/>
                        </a:rPr>
                        <a:t>EV/EBITDA</a:t>
                      </a:r>
                    </a:p>
                  </a:txBody>
                  <a:tcPr marL="0" marR="0" marT="0" marB="0" anchor="b">
                    <a:lnL>
                      <a:noFill/>
                    </a:lnL>
                    <a:lnR>
                      <a:noFill/>
                    </a:lnR>
                    <a:lnT>
                      <a:noFill/>
                    </a:lnT>
                    <a:lnB>
                      <a:noFill/>
                    </a:lnB>
                    <a:solidFill>
                      <a:srgbClr val="FFFFFF"/>
                    </a:solidFill>
                  </a:tcPr>
                </a:tc>
                <a:tc>
                  <a:txBody>
                    <a:bodyPr/>
                    <a:lstStyle/>
                    <a:p>
                      <a:pPr algn="r" fontAlgn="b"/>
                      <a:r>
                        <a:rPr lang="en-US" sz="1100" b="0" i="0" u="none" strike="noStrike" dirty="0">
                          <a:solidFill>
                            <a:srgbClr val="000000"/>
                          </a:solidFill>
                          <a:effectLst/>
                          <a:latin typeface="Calibri"/>
                        </a:rPr>
                        <a:t>(20.6)</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250785373"/>
                  </a:ext>
                </a:extLst>
              </a:tr>
            </a:tbl>
          </a:graphicData>
        </a:graphic>
      </p:graphicFrame>
      <p:pic>
        <p:nvPicPr>
          <p:cNvPr id="3" name="Picture 2" descr="Outdoor Industry Jobs">
            <a:extLst>
              <a:ext uri="{FF2B5EF4-FFF2-40B4-BE49-F238E27FC236}">
                <a16:creationId xmlns:a16="http://schemas.microsoft.com/office/drawing/2014/main" id="{DE686DD3-9855-D21C-CB20-59DE511E22BA}"/>
              </a:ext>
            </a:extLst>
          </p:cNvPr>
          <p:cNvPicPr>
            <a:picLocks noChangeAspect="1"/>
          </p:cNvPicPr>
          <p:nvPr/>
        </p:nvPicPr>
        <p:blipFill>
          <a:blip r:embed="rId6"/>
          <a:stretch>
            <a:fillRect/>
          </a:stretch>
        </p:blipFill>
        <p:spPr>
          <a:xfrm>
            <a:off x="2430379" y="-3953"/>
            <a:ext cx="4332191" cy="823264"/>
          </a:xfrm>
          <a:prstGeom prst="rect">
            <a:avLst/>
          </a:prstGeom>
        </p:spPr>
      </p:pic>
      <p:graphicFrame>
        <p:nvGraphicFramePr>
          <p:cNvPr id="9" name="Table 8">
            <a:extLst>
              <a:ext uri="{FF2B5EF4-FFF2-40B4-BE49-F238E27FC236}">
                <a16:creationId xmlns:a16="http://schemas.microsoft.com/office/drawing/2014/main" id="{E7DD964E-CC77-CD1D-4C26-8B8874688176}"/>
              </a:ext>
            </a:extLst>
          </p:cNvPr>
          <p:cNvGraphicFramePr>
            <a:graphicFrameLocks noGrp="1"/>
          </p:cNvGraphicFramePr>
          <p:nvPr>
            <p:custDataLst>
              <p:tags r:id="rId2"/>
            </p:custDataLst>
            <p:extLst>
              <p:ext uri="{D42A27DB-BD31-4B8C-83A1-F6EECF244321}">
                <p14:modId xmlns:p14="http://schemas.microsoft.com/office/powerpoint/2010/main" val="1781987431"/>
              </p:ext>
            </p:extLst>
          </p:nvPr>
        </p:nvGraphicFramePr>
        <p:xfrm>
          <a:off x="132511" y="3843761"/>
          <a:ext cx="3463958" cy="1727835"/>
        </p:xfrm>
        <a:graphic>
          <a:graphicData uri="http://schemas.openxmlformats.org/drawingml/2006/table">
            <a:tbl>
              <a:tblPr bandRow="1">
                <a:tableStyleId>{5C22544A-7EE6-4342-B048-85BDC9FD1C3A}</a:tableStyleId>
              </a:tblPr>
              <a:tblGrid>
                <a:gridCol w="772232">
                  <a:extLst>
                    <a:ext uri="{9D8B030D-6E8A-4147-A177-3AD203B41FA5}">
                      <a16:colId xmlns:a16="http://schemas.microsoft.com/office/drawing/2014/main" val="2174826742"/>
                    </a:ext>
                  </a:extLst>
                </a:gridCol>
                <a:gridCol w="386189">
                  <a:extLst>
                    <a:ext uri="{9D8B030D-6E8A-4147-A177-3AD203B41FA5}">
                      <a16:colId xmlns:a16="http://schemas.microsoft.com/office/drawing/2014/main" val="1708533085"/>
                    </a:ext>
                  </a:extLst>
                </a:gridCol>
                <a:gridCol w="375461">
                  <a:extLst>
                    <a:ext uri="{9D8B030D-6E8A-4147-A177-3AD203B41FA5}">
                      <a16:colId xmlns:a16="http://schemas.microsoft.com/office/drawing/2014/main" val="4086354766"/>
                    </a:ext>
                  </a:extLst>
                </a:gridCol>
                <a:gridCol w="375461">
                  <a:extLst>
                    <a:ext uri="{9D8B030D-6E8A-4147-A177-3AD203B41FA5}">
                      <a16:colId xmlns:a16="http://schemas.microsoft.com/office/drawing/2014/main" val="2475723050"/>
                    </a:ext>
                  </a:extLst>
                </a:gridCol>
                <a:gridCol w="396917">
                  <a:extLst>
                    <a:ext uri="{9D8B030D-6E8A-4147-A177-3AD203B41FA5}">
                      <a16:colId xmlns:a16="http://schemas.microsoft.com/office/drawing/2014/main" val="58898225"/>
                    </a:ext>
                  </a:extLst>
                </a:gridCol>
                <a:gridCol w="364733">
                  <a:extLst>
                    <a:ext uri="{9D8B030D-6E8A-4147-A177-3AD203B41FA5}">
                      <a16:colId xmlns:a16="http://schemas.microsoft.com/office/drawing/2014/main" val="3161293569"/>
                    </a:ext>
                  </a:extLst>
                </a:gridCol>
                <a:gridCol w="396917">
                  <a:extLst>
                    <a:ext uri="{9D8B030D-6E8A-4147-A177-3AD203B41FA5}">
                      <a16:colId xmlns:a16="http://schemas.microsoft.com/office/drawing/2014/main" val="871745643"/>
                    </a:ext>
                  </a:extLst>
                </a:gridCol>
                <a:gridCol w="396048">
                  <a:extLst>
                    <a:ext uri="{9D8B030D-6E8A-4147-A177-3AD203B41FA5}">
                      <a16:colId xmlns:a16="http://schemas.microsoft.com/office/drawing/2014/main" val="3633557626"/>
                    </a:ext>
                  </a:extLst>
                </a:gridCol>
              </a:tblGrid>
              <a:tr h="179141">
                <a:tc>
                  <a:txBody>
                    <a:bodyPr/>
                    <a:lstStyle/>
                    <a:p>
                      <a:pPr fontAlgn="b">
                        <a:buNone/>
                      </a:pPr>
                      <a:r>
                        <a:rPr lang="en-US" sz="1100" b="1" dirty="0">
                          <a:solidFill>
                            <a:srgbClr val="000000"/>
                          </a:solidFill>
                          <a:effectLst/>
                          <a:latin typeface="Calibri"/>
                        </a:rPr>
                        <a:t>Financial Data</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r" fontAlgn="b">
                        <a:buNone/>
                      </a:pPr>
                      <a:r>
                        <a:rPr lang="en-US" sz="1100" b="1" dirty="0">
                          <a:solidFill>
                            <a:srgbClr val="000000"/>
                          </a:solidFill>
                          <a:effectLst/>
                          <a:latin typeface="Calibri"/>
                        </a:rPr>
                        <a:t>2020</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r" fontAlgn="b">
                        <a:buNone/>
                      </a:pPr>
                      <a:r>
                        <a:rPr lang="en-US" sz="1100" b="1" dirty="0">
                          <a:solidFill>
                            <a:srgbClr val="000000"/>
                          </a:solidFill>
                          <a:effectLst/>
                          <a:latin typeface="Calibri"/>
                        </a:rPr>
                        <a:t>2021</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r" fontAlgn="b">
                        <a:buNone/>
                      </a:pPr>
                      <a:r>
                        <a:rPr lang="en-US" sz="1100" b="1" dirty="0">
                          <a:solidFill>
                            <a:srgbClr val="000000"/>
                          </a:solidFill>
                          <a:effectLst/>
                          <a:latin typeface="Calibri"/>
                        </a:rPr>
                        <a:t>2022</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r" fontAlgn="b">
                        <a:buNone/>
                      </a:pPr>
                      <a:r>
                        <a:rPr lang="en-US" sz="1100" b="1" dirty="0">
                          <a:solidFill>
                            <a:srgbClr val="000000"/>
                          </a:solidFill>
                          <a:effectLst/>
                          <a:latin typeface="Calibri"/>
                        </a:rPr>
                        <a:t>2023</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r" fontAlgn="b">
                        <a:buNone/>
                      </a:pPr>
                      <a:r>
                        <a:rPr lang="en-US" sz="1100" b="1" dirty="0">
                          <a:solidFill>
                            <a:srgbClr val="000000"/>
                          </a:solidFill>
                          <a:effectLst/>
                          <a:latin typeface="Calibri"/>
                        </a:rPr>
                        <a:t>2024</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r" fontAlgn="b">
                        <a:buNone/>
                      </a:pPr>
                      <a:r>
                        <a:rPr lang="en-US" sz="1100" b="1" dirty="0">
                          <a:solidFill>
                            <a:srgbClr val="000000"/>
                          </a:solidFill>
                          <a:effectLst/>
                          <a:latin typeface="Calibri"/>
                        </a:rPr>
                        <a:t>2025E</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r" fontAlgn="b">
                        <a:buNone/>
                      </a:pPr>
                      <a:r>
                        <a:rPr lang="en-US" sz="1100" b="1" dirty="0">
                          <a:solidFill>
                            <a:srgbClr val="000000"/>
                          </a:solidFill>
                          <a:effectLst/>
                          <a:latin typeface="Calibri"/>
                        </a:rPr>
                        <a:t>2026E</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extLst>
                  <a:ext uri="{0D108BD9-81ED-4DB2-BD59-A6C34878D82A}">
                    <a16:rowId xmlns:a16="http://schemas.microsoft.com/office/drawing/2014/main" val="4160529770"/>
                  </a:ext>
                </a:extLst>
              </a:tr>
              <a:tr h="179141">
                <a:tc>
                  <a:txBody>
                    <a:bodyPr/>
                    <a:lstStyle/>
                    <a:p>
                      <a:pPr fontAlgn="b">
                        <a:buNone/>
                      </a:pPr>
                      <a:r>
                        <a:rPr lang="en-US" sz="1100" dirty="0">
                          <a:solidFill>
                            <a:srgbClr val="000000"/>
                          </a:solidFill>
                          <a:effectLst/>
                          <a:latin typeface="Calibri"/>
                        </a:rPr>
                        <a:t>Sales (M) ($)</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594.8</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751.7</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743.4</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663.8</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592.8</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574.1</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616.3</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extLst>
                  <a:ext uri="{0D108BD9-81ED-4DB2-BD59-A6C34878D82A}">
                    <a16:rowId xmlns:a16="http://schemas.microsoft.com/office/drawing/2014/main" val="283402520"/>
                  </a:ext>
                </a:extLst>
              </a:tr>
              <a:tr h="179141">
                <a:tc>
                  <a:txBody>
                    <a:bodyPr/>
                    <a:lstStyle/>
                    <a:p>
                      <a:pPr fontAlgn="b">
                        <a:buNone/>
                      </a:pPr>
                      <a:r>
                        <a:rPr lang="en-US" sz="1100" dirty="0">
                          <a:solidFill>
                            <a:srgbClr val="000000"/>
                          </a:solidFill>
                          <a:effectLst/>
                          <a:latin typeface="Calibri"/>
                        </a:rPr>
                        <a:t>Sales Growth</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5.6</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26.4</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26.5</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-10.7</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-10.7</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-3.2</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7.4</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639005446"/>
                  </a:ext>
                </a:extLst>
              </a:tr>
              <a:tr h="179141">
                <a:tc>
                  <a:txBody>
                    <a:bodyPr/>
                    <a:lstStyle/>
                    <a:p>
                      <a:pPr fontAlgn="b">
                        <a:buNone/>
                      </a:pPr>
                      <a:r>
                        <a:rPr lang="en-US" sz="1100" dirty="0">
                          <a:solidFill>
                            <a:srgbClr val="000000"/>
                          </a:solidFill>
                          <a:effectLst/>
                          <a:latin typeface="Calibri"/>
                        </a:rPr>
                        <a:t>EBIT Margin</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10.1</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13.5</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14.81</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1.8</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-3.4</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1.2</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3.9</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extLst>
                  <a:ext uri="{0D108BD9-81ED-4DB2-BD59-A6C34878D82A}">
                    <a16:rowId xmlns:a16="http://schemas.microsoft.com/office/drawing/2014/main" val="946893239"/>
                  </a:ext>
                </a:extLst>
              </a:tr>
              <a:tr h="179141">
                <a:tc>
                  <a:txBody>
                    <a:bodyPr/>
                    <a:lstStyle/>
                    <a:p>
                      <a:pPr fontAlgn="b">
                        <a:buNone/>
                      </a:pPr>
                      <a:r>
                        <a:rPr lang="en-US" sz="1100" dirty="0">
                          <a:solidFill>
                            <a:srgbClr val="000000"/>
                          </a:solidFill>
                          <a:effectLst/>
                          <a:latin typeface="Calibri"/>
                        </a:rPr>
                        <a:t>EPS (Diluted)</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5.5</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8.2</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6.2</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1.9</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-2.0</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0.9</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1.2</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4053371018"/>
                  </a:ext>
                </a:extLst>
              </a:tr>
              <a:tr h="179141">
                <a:tc>
                  <a:txBody>
                    <a:bodyPr/>
                    <a:lstStyle/>
                    <a:p>
                      <a:pPr fontAlgn="b">
                        <a:buNone/>
                      </a:pPr>
                      <a:r>
                        <a:rPr lang="en-US" sz="1100" dirty="0">
                          <a:solidFill>
                            <a:srgbClr val="000000"/>
                          </a:solidFill>
                          <a:effectLst/>
                          <a:latin typeface="Calibri"/>
                        </a:rPr>
                        <a:t>ROE</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12.0</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15.4</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13.6</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6.2</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-9.0</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8.1</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6.5</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9D9D9"/>
                    </a:solidFill>
                  </a:tcPr>
                </a:tc>
                <a:extLst>
                  <a:ext uri="{0D108BD9-81ED-4DB2-BD59-A6C34878D82A}">
                    <a16:rowId xmlns:a16="http://schemas.microsoft.com/office/drawing/2014/main" val="3507841073"/>
                  </a:ext>
                </a:extLst>
              </a:tr>
              <a:tr h="179141">
                <a:tc>
                  <a:txBody>
                    <a:bodyPr/>
                    <a:lstStyle/>
                    <a:p>
                      <a:pPr fontAlgn="b">
                        <a:buNone/>
                      </a:pPr>
                      <a:r>
                        <a:rPr lang="en-US" sz="1100" dirty="0">
                          <a:solidFill>
                            <a:srgbClr val="000000"/>
                          </a:solidFill>
                          <a:effectLst/>
                          <a:latin typeface="Calibri"/>
                        </a:rPr>
                        <a:t>ROA</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9.1</a:t>
                      </a:r>
                    </a:p>
                  </a:txBody>
                  <a:tcPr marL="9525" marR="9525" marT="95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11.1</a:t>
                      </a:r>
                    </a:p>
                  </a:txBody>
                  <a:tcPr marL="9525" marR="9525" marT="95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7.8</a:t>
                      </a:r>
                    </a:p>
                  </a:txBody>
                  <a:tcPr marL="9525" marR="9525" marT="95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3.9</a:t>
                      </a:r>
                    </a:p>
                  </a:txBody>
                  <a:tcPr marL="9525" marR="9525" marT="9525">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-5.1</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4.6</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marL="0" algn="r" defTabSz="685783" rtl="0" eaLnBrk="1" fontAlgn="b" latinLnBrk="0" hangingPunct="1">
                        <a:buNone/>
                      </a:pPr>
                      <a:r>
                        <a:rPr lang="en-US" sz="1100" kern="1200" dirty="0">
                          <a:solidFill>
                            <a:srgbClr val="000000"/>
                          </a:solidFill>
                          <a:effectLst/>
                          <a:latin typeface="Calibri"/>
                          <a:ea typeface="+mn-ea"/>
                          <a:cs typeface="+mn-cs"/>
                        </a:rPr>
                        <a:t>3.7</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599027123"/>
                  </a:ext>
                </a:extLst>
              </a:tr>
            </a:tbl>
          </a:graphicData>
        </a:graphic>
      </p:graphicFrame>
      <p:grpSp>
        <p:nvGrpSpPr>
          <p:cNvPr id="4" name="Group 2056">
            <a:extLst>
              <a:ext uri="{FF2B5EF4-FFF2-40B4-BE49-F238E27FC236}">
                <a16:creationId xmlns:a16="http://schemas.microsoft.com/office/drawing/2014/main" id="{BB2B0F58-7039-7B27-E6DB-0723975C05A8}"/>
              </a:ext>
            </a:extLst>
          </p:cNvPr>
          <p:cNvGrpSpPr>
            <a:grpSpLocks/>
          </p:cNvGrpSpPr>
          <p:nvPr/>
        </p:nvGrpSpPr>
        <p:grpSpPr bwMode="auto">
          <a:xfrm>
            <a:off x="3827138" y="5474332"/>
            <a:ext cx="5187265" cy="378620"/>
            <a:chOff x="5404032" y="5832695"/>
            <a:chExt cx="6336921" cy="505124"/>
          </a:xfrm>
        </p:grpSpPr>
        <p:sp>
          <p:nvSpPr>
            <p:cNvPr id="8" name="Rounded Rectangle 36">
              <a:extLst>
                <a:ext uri="{FF2B5EF4-FFF2-40B4-BE49-F238E27FC236}">
                  <a16:creationId xmlns:a16="http://schemas.microsoft.com/office/drawing/2014/main" id="{4669264B-1707-FF31-1036-F9C459DC73BF}"/>
                </a:ext>
              </a:extLst>
            </p:cNvPr>
            <p:cNvSpPr/>
            <p:nvPr/>
          </p:nvSpPr>
          <p:spPr>
            <a:xfrm>
              <a:off x="5404032" y="5832696"/>
              <a:ext cx="2407109" cy="505123"/>
            </a:xfrm>
            <a:prstGeom prst="roundRect">
              <a:avLst/>
            </a:prstGeom>
            <a:solidFill>
              <a:srgbClr val="F2C755"/>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ts val="0"/>
                </a:spcBef>
                <a:spcAft>
                  <a:spcPts val="0"/>
                </a:spcAft>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Current Price: $40.96</a:t>
              </a:r>
            </a:p>
          </p:txBody>
        </p:sp>
        <p:sp>
          <p:nvSpPr>
            <p:cNvPr id="10" name="Down Arrow 38">
              <a:extLst>
                <a:ext uri="{FF2B5EF4-FFF2-40B4-BE49-F238E27FC236}">
                  <a16:creationId xmlns:a16="http://schemas.microsoft.com/office/drawing/2014/main" id="{C215A036-5C77-014D-1E3A-4FE6EC5A54E2}"/>
                </a:ext>
              </a:extLst>
            </p:cNvPr>
            <p:cNvSpPr/>
            <p:nvPr/>
          </p:nvSpPr>
          <p:spPr>
            <a:xfrm rot="16200000">
              <a:off x="8364584" y="5681955"/>
              <a:ext cx="505123" cy="806604"/>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ounded Rectangle 28">
              <a:extLst>
                <a:ext uri="{FF2B5EF4-FFF2-40B4-BE49-F238E27FC236}">
                  <a16:creationId xmlns:a16="http://schemas.microsoft.com/office/drawing/2014/main" id="{A5F8EFE8-5643-F914-8F3E-F03BA0EAF9D4}"/>
                </a:ext>
              </a:extLst>
            </p:cNvPr>
            <p:cNvSpPr/>
            <p:nvPr/>
          </p:nvSpPr>
          <p:spPr>
            <a:xfrm>
              <a:off x="9333844" y="5832696"/>
              <a:ext cx="2407109" cy="505123"/>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spcBef>
                  <a:spcPts val="0"/>
                </a:spcBef>
                <a:spcAft>
                  <a:spcPts val="0"/>
                </a:spcAft>
                <a:defRPr/>
              </a:pPr>
              <a:r>
                <a:rPr lang="en-US" sz="1100" b="1" dirty="0">
                  <a:solidFill>
                    <a:srgbClr val="000000"/>
                  </a:solidFill>
                  <a:latin typeface="Calibri"/>
                  <a:ea typeface="Calibri"/>
                  <a:cs typeface="Calibri"/>
                </a:rPr>
                <a:t>Target Price: $46</a:t>
              </a:r>
              <a:endPar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graphicFrame>
        <p:nvGraphicFramePr>
          <p:cNvPr id="12" name="Object 11">
            <a:extLst>
              <a:ext uri="{FF2B5EF4-FFF2-40B4-BE49-F238E27FC236}">
                <a16:creationId xmlns:a16="http://schemas.microsoft.com/office/drawing/2014/main" id="{E3D70886-5CF4-6F2E-2908-177F4FA930ED}"/>
              </a:ext>
            </a:extLst>
          </p:cNvPr>
          <p:cNvGraphicFramePr>
            <a:graphicFrameLocks noChangeAspect="1"/>
          </p:cNvGraphicFramePr>
          <p:nvPr>
            <p:extLst>
              <p:ext uri="{D42A27DB-BD31-4B8C-83A1-F6EECF244321}">
                <p14:modId xmlns:p14="http://schemas.microsoft.com/office/powerpoint/2010/main" val="1926445532"/>
              </p:ext>
            </p:extLst>
          </p:nvPr>
        </p:nvGraphicFramePr>
        <p:xfrm>
          <a:off x="3885504" y="1831300"/>
          <a:ext cx="5125985" cy="3484244"/>
        </p:xfrm>
        <a:graphic>
          <a:graphicData uri="http://schemas.openxmlformats.org/presentationml/2006/ole">
            <mc:AlternateContent xmlns:mc="http://schemas.openxmlformats.org/markup-compatibility/2006">
              <mc:Choice xmlns:v="urn:schemas-microsoft-com:vml" Requires="v">
                <p:oleObj name="ActiveGraph" r:id="rId7" imgW="4943615" imgH="2905131" progId="FDSCHART.FDSChartCtrl.1">
                  <p:embed/>
                </p:oleObj>
              </mc:Choice>
              <mc:Fallback>
                <p:oleObj name="ActiveGraph" r:id="rId7" imgW="4943615" imgH="2905131" progId="FDSCHART.FDSChartCtrl.1">
                  <p:embed/>
                  <p:pic>
                    <p:nvPicPr>
                      <p:cNvPr id="12" name="Object 11">
                        <a:extLst>
                          <a:ext uri="{FF2B5EF4-FFF2-40B4-BE49-F238E27FC236}">
                            <a16:creationId xmlns:a16="http://schemas.microsoft.com/office/drawing/2014/main" id="{E3D70886-5CF4-6F2E-2908-177F4FA930ED}"/>
                          </a:ext>
                        </a:extLst>
                      </p:cNvPr>
                      <p:cNvPicPr>
                        <a:picLocks noChangeAspect="1" noChangeArrowheads="1"/>
                      </p:cNvPicPr>
                      <p:nvPr/>
                    </p:nvPicPr>
                    <p:blipFill>
                      <a:blip r:embed="rId8"/>
                      <a:srcRect/>
                      <a:stretch>
                        <a:fillRect/>
                      </a:stretch>
                    </p:blipFill>
                    <p:spPr bwMode="auto">
                      <a:xfrm>
                        <a:off x="3885504" y="1831300"/>
                        <a:ext cx="5125985" cy="3484244"/>
                      </a:xfrm>
                      <a:prstGeom prst="rect">
                        <a:avLst/>
                      </a:prstGeom>
                      <a:solidFill>
                        <a:srgbClr val="FFFFFF"/>
                      </a:solidFill>
                      <a:ln w="28575">
                        <a:solidFill>
                          <a:srgbClr val="000000"/>
                        </a:solidFill>
                        <a:miter lim="800000"/>
                        <a:headEnd/>
                        <a:tailEnd/>
                      </a:ln>
                    </p:spPr>
                  </p:pic>
                </p:oleObj>
              </mc:Fallback>
            </mc:AlternateContent>
          </a:graphicData>
        </a:graphic>
      </p:graphicFrame>
      <p:graphicFrame>
        <p:nvGraphicFramePr>
          <p:cNvPr id="14" name="Table 13">
            <a:extLst>
              <a:ext uri="{FF2B5EF4-FFF2-40B4-BE49-F238E27FC236}">
                <a16:creationId xmlns:a16="http://schemas.microsoft.com/office/drawing/2014/main" id="{E0B448BC-44E8-072A-D08B-B13F9CDE4A16}"/>
              </a:ext>
            </a:extLst>
          </p:cNvPr>
          <p:cNvGraphicFramePr>
            <a:graphicFrameLocks noGrp="1"/>
          </p:cNvGraphicFramePr>
          <p:nvPr>
            <p:custDataLst>
              <p:tags r:id="rId3"/>
            </p:custDataLst>
            <p:extLst>
              <p:ext uri="{D42A27DB-BD31-4B8C-83A1-F6EECF244321}">
                <p14:modId xmlns:p14="http://schemas.microsoft.com/office/powerpoint/2010/main" val="981506856"/>
              </p:ext>
            </p:extLst>
          </p:nvPr>
        </p:nvGraphicFramePr>
        <p:xfrm>
          <a:off x="3885504" y="6122680"/>
          <a:ext cx="5137992" cy="381000"/>
        </p:xfrm>
        <a:graphic>
          <a:graphicData uri="http://schemas.openxmlformats.org/drawingml/2006/table">
            <a:tbl>
              <a:tblPr>
                <a:tableStyleId>{5C22544A-7EE6-4342-B048-85BDC9FD1C3A}</a:tableStyleId>
              </a:tblPr>
              <a:tblGrid>
                <a:gridCol w="856332">
                  <a:extLst>
                    <a:ext uri="{9D8B030D-6E8A-4147-A177-3AD203B41FA5}">
                      <a16:colId xmlns:a16="http://schemas.microsoft.com/office/drawing/2014/main" val="2189064002"/>
                    </a:ext>
                  </a:extLst>
                </a:gridCol>
                <a:gridCol w="856332">
                  <a:extLst>
                    <a:ext uri="{9D8B030D-6E8A-4147-A177-3AD203B41FA5}">
                      <a16:colId xmlns:a16="http://schemas.microsoft.com/office/drawing/2014/main" val="773995404"/>
                    </a:ext>
                  </a:extLst>
                </a:gridCol>
                <a:gridCol w="856332">
                  <a:extLst>
                    <a:ext uri="{9D8B030D-6E8A-4147-A177-3AD203B41FA5}">
                      <a16:colId xmlns:a16="http://schemas.microsoft.com/office/drawing/2014/main" val="4204993976"/>
                    </a:ext>
                  </a:extLst>
                </a:gridCol>
                <a:gridCol w="856332">
                  <a:extLst>
                    <a:ext uri="{9D8B030D-6E8A-4147-A177-3AD203B41FA5}">
                      <a16:colId xmlns:a16="http://schemas.microsoft.com/office/drawing/2014/main" val="2474181595"/>
                    </a:ext>
                  </a:extLst>
                </a:gridCol>
                <a:gridCol w="856332">
                  <a:extLst>
                    <a:ext uri="{9D8B030D-6E8A-4147-A177-3AD203B41FA5}">
                      <a16:colId xmlns:a16="http://schemas.microsoft.com/office/drawing/2014/main" val="2662116374"/>
                    </a:ext>
                  </a:extLst>
                </a:gridCol>
                <a:gridCol w="856332">
                  <a:extLst>
                    <a:ext uri="{9D8B030D-6E8A-4147-A177-3AD203B41FA5}">
                      <a16:colId xmlns:a16="http://schemas.microsoft.com/office/drawing/2014/main" val="634815594"/>
                    </a:ext>
                  </a:extLst>
                </a:gridCol>
              </a:tblGrid>
              <a:tr h="190500">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3Y</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2Y</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LTM</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YTD</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3M</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1M</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extLst>
                  <a:ext uri="{0D108BD9-81ED-4DB2-BD59-A6C34878D82A}">
                    <a16:rowId xmlns:a16="http://schemas.microsoft.com/office/drawing/2014/main" val="2920624579"/>
                  </a:ext>
                </a:extLst>
              </a:tr>
              <a:tr h="190500">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-37.5%</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-13.4%</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23.4%</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28.8%</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2.2%</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9.1%</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617838365"/>
                  </a:ext>
                </a:extLst>
              </a:tr>
            </a:tbl>
          </a:graphicData>
        </a:graphic>
      </p:graphicFrame>
      <p:sp>
        <p:nvSpPr>
          <p:cNvPr id="5" name="Rounded Rectangle 18">
            <a:extLst>
              <a:ext uri="{FF2B5EF4-FFF2-40B4-BE49-F238E27FC236}">
                <a16:creationId xmlns:a16="http://schemas.microsoft.com/office/drawing/2014/main" id="{D7D6FE28-333A-0689-D4EB-E8810BBC3888}"/>
              </a:ext>
            </a:extLst>
          </p:cNvPr>
          <p:cNvSpPr/>
          <p:nvPr/>
        </p:nvSpPr>
        <p:spPr bwMode="auto">
          <a:xfrm>
            <a:off x="6509828" y="1020924"/>
            <a:ext cx="1193487" cy="695554"/>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Financial Strength to Get Through Tariffs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CBB53-38EC-360D-9875-EC636BE1C5E4}"/>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7AFE7498-6207-3544-5C30-37558B192701}"/>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226613F5-4D8F-4E1C-969C-3491492EE6E5}"/>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2</a:t>
            </a:fld>
            <a:endParaRPr lang="en-US" altLang="en-US" sz="140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27E9787F-6ABD-3ACA-9289-ED94F72647A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a:t>
            </a:fld>
            <a:endParaRPr 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36BA07C9-CC36-32A3-12DD-D01781B1117C}"/>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549B7205-4036-6547-45D3-D99331E5C17F}"/>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6770A084-93B7-0135-B9B5-3A8E9261665F}"/>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0961D6F1-72C0-9413-7D4B-308630AC48E7}"/>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1625AF89-9F3D-F924-9AEB-C2CF425B3136}"/>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7CE2DB62-A458-4608-9262-6C5148304D39}"/>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464677B4-503D-1EC7-A9FA-B3E456F0D1FA}"/>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A3C70D54-9D09-3ACF-2323-FA013BBAC3B4}"/>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7771516E-A61F-7115-44D4-B2071D763247}"/>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BF0485FF-925D-C9D0-14F5-4EECE2999AC7}"/>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7BD25989-A6F4-9557-3379-DC25A5188A9D}"/>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3A7E037D-3D82-01CD-BE5E-25E629FD1610}"/>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DB3EC25B-C005-A39D-923C-08AA42E78827}"/>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F7E36278-C4F8-FE97-F808-D7F7273C8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CD04F3D6-F5C2-401B-9807-329FF297D22C}"/>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EC452906-001C-10E7-A193-AC564C6210F0}"/>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303522B2-88D9-54D4-B75D-74143DAFD91D}"/>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857AFF55-B240-228C-1CB6-45D25D680DB7}"/>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18EEC29B-C28A-1078-5FE6-2989BB78E30B}"/>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899CB4BB-91D8-2506-F5B6-691AAF5FCBF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762450AB-6914-114A-BC6C-FCA3DCDDA5C5}"/>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4BC6EDFD-55BE-02E0-E551-849A5BA6D7FB}"/>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44CA24E7-E668-83FA-6DEF-624B08E3E932}"/>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9D6B6219-3923-B83D-4F65-C36004F47D33}"/>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AA114163-ED93-2AD3-FC0C-CC361D5A5C21}"/>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8F3E18F4-DB24-C6BE-269D-D44397F6640D}"/>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0C70C5B7-FC33-5F08-AF84-935401BCE217}"/>
                </a:ext>
              </a:extLst>
            </p:cNvPr>
            <p:cNvSpPr/>
            <p:nvPr/>
          </p:nvSpPr>
          <p:spPr bwMode="auto">
            <a:xfrm>
              <a:off x="704167"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BFD6F976-9557-B0DC-A4F8-1466E77C5EF0}"/>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AAA40122-2CC6-F07B-95AC-AB8BC534EA56}"/>
                  </a:ext>
                </a:extLst>
              </p:cNvPr>
              <p:cNvSpPr/>
              <p:nvPr/>
            </p:nvSpPr>
            <p:spPr bwMode="auto">
              <a:xfrm>
                <a:off x="676875" y="701139"/>
                <a:ext cx="1435608" cy="164592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538BE63C-00A5-3FFE-6CCF-B5EFAE393ECF}"/>
                  </a:ext>
                </a:extLst>
              </p:cNvPr>
              <p:cNvSpPr/>
              <p:nvPr/>
            </p:nvSpPr>
            <p:spPr bwMode="auto">
              <a:xfrm>
                <a:off x="744824" y="895586"/>
                <a:ext cx="1299710" cy="1257027"/>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E62DE44E-4767-E1D1-17FF-622363099B4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940" y="984359"/>
                <a:ext cx="1117478" cy="1091784"/>
              </a:xfrm>
              <a:prstGeom prst="rect">
                <a:avLst/>
              </a:prstGeom>
            </p:spPr>
          </p:pic>
        </p:grpSp>
      </p:grpSp>
      <p:grpSp>
        <p:nvGrpSpPr>
          <p:cNvPr id="17" name="Group 16">
            <a:extLst>
              <a:ext uri="{FF2B5EF4-FFF2-40B4-BE49-F238E27FC236}">
                <a16:creationId xmlns:a16="http://schemas.microsoft.com/office/drawing/2014/main" id="{832602B2-4732-D746-62D1-D0E6E023BE96}"/>
              </a:ext>
            </a:extLst>
          </p:cNvPr>
          <p:cNvGrpSpPr/>
          <p:nvPr/>
        </p:nvGrpSpPr>
        <p:grpSpPr>
          <a:xfrm>
            <a:off x="2094961" y="5136265"/>
            <a:ext cx="5002972" cy="882926"/>
            <a:chOff x="-160039" y="5179526"/>
            <a:chExt cx="4867584" cy="882926"/>
          </a:xfrm>
        </p:grpSpPr>
        <p:sp>
          <p:nvSpPr>
            <p:cNvPr id="121" name="Rectangle 120">
              <a:extLst>
                <a:ext uri="{FF2B5EF4-FFF2-40B4-BE49-F238E27FC236}">
                  <a16:creationId xmlns:a16="http://schemas.microsoft.com/office/drawing/2014/main" id="{9FE65065-D88A-3CCA-1926-F1D96A7C36CD}"/>
                </a:ext>
              </a:extLst>
            </p:cNvPr>
            <p:cNvSpPr/>
            <p:nvPr/>
          </p:nvSpPr>
          <p:spPr bwMode="auto">
            <a:xfrm>
              <a:off x="2489704" y="5179526"/>
              <a:ext cx="2217841"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Revenue Segments</a:t>
              </a:r>
            </a:p>
          </p:txBody>
        </p:sp>
        <p:sp>
          <p:nvSpPr>
            <p:cNvPr id="16" name="Rectangle 15">
              <a:extLst>
                <a:ext uri="{FF2B5EF4-FFF2-40B4-BE49-F238E27FC236}">
                  <a16:creationId xmlns:a16="http://schemas.microsoft.com/office/drawing/2014/main" id="{DF5EC4CB-C523-36F4-CFEC-0881E6DAAA4B}"/>
                </a:ext>
              </a:extLst>
            </p:cNvPr>
            <p:cNvSpPr/>
            <p:nvPr/>
          </p:nvSpPr>
          <p:spPr bwMode="auto">
            <a:xfrm>
              <a:off x="-160039" y="5179529"/>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dirty="0">
                  <a:solidFill>
                    <a:schemeClr val="tx1"/>
                  </a:solidFill>
                  <a:latin typeface="Calibri" panose="020F0502020204030204" pitchFamily="34" charset="0"/>
                  <a:cs typeface="Calibri" panose="020F0502020204030204" pitchFamily="34" charset="0"/>
                </a:rPr>
                <a:t>Business Description</a:t>
              </a:r>
            </a:p>
          </p:txBody>
        </p:sp>
      </p:grpSp>
    </p:spTree>
    <p:extLst>
      <p:ext uri="{BB962C8B-B14F-4D97-AF65-F5344CB8AC3E}">
        <p14:creationId xmlns:p14="http://schemas.microsoft.com/office/powerpoint/2010/main" val="156491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34B6F-88CF-473F-B615-DDE156432146}"/>
            </a:ext>
          </a:extLst>
        </p:cNvPr>
        <p:cNvGrpSpPr/>
        <p:nvPr/>
      </p:nvGrpSpPr>
      <p:grpSpPr>
        <a:xfrm>
          <a:off x="0" y="0"/>
          <a:ext cx="0" cy="0"/>
          <a:chOff x="0" y="0"/>
          <a:chExt cx="0" cy="0"/>
        </a:xfrm>
      </p:grpSpPr>
      <p:grpSp>
        <p:nvGrpSpPr>
          <p:cNvPr id="14349" name="Group 77">
            <a:extLst>
              <a:ext uri="{FF2B5EF4-FFF2-40B4-BE49-F238E27FC236}">
                <a16:creationId xmlns:a16="http://schemas.microsoft.com/office/drawing/2014/main" id="{54B0F873-5E73-9A56-8A8E-77E881DC622C}"/>
              </a:ext>
            </a:extLst>
          </p:cNvPr>
          <p:cNvGrpSpPr>
            <a:grpSpLocks/>
          </p:cNvGrpSpPr>
          <p:nvPr/>
        </p:nvGrpSpPr>
        <p:grpSpPr bwMode="auto">
          <a:xfrm>
            <a:off x="43132" y="97166"/>
            <a:ext cx="9144000" cy="559595"/>
            <a:chOff x="-2" y="5152"/>
            <a:chExt cx="12192002" cy="746347"/>
          </a:xfrm>
        </p:grpSpPr>
        <p:sp>
          <p:nvSpPr>
            <p:cNvPr id="80" name="Title 1">
              <a:extLst>
                <a:ext uri="{FF2B5EF4-FFF2-40B4-BE49-F238E27FC236}">
                  <a16:creationId xmlns:a16="http://schemas.microsoft.com/office/drawing/2014/main" id="{56F95F65-24F3-339C-D15E-393F58678C8F}"/>
                </a:ext>
              </a:extLst>
            </p:cNvPr>
            <p:cNvSpPr txBox="1">
              <a:spLocks/>
            </p:cNvSpPr>
            <p:nvPr/>
          </p:nvSpPr>
          <p:spPr>
            <a:xfrm>
              <a:off x="-2" y="5152"/>
              <a:ext cx="10309227"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panose="020F0502020204030204" pitchFamily="34" charset="0"/>
                  <a:ea typeface="Calibri" panose="020F0502020204030204" pitchFamily="34" charset="0"/>
                  <a:cs typeface="Calibri" panose="020F0502020204030204" pitchFamily="34" charset="0"/>
                </a:rPr>
                <a:t>Business Description</a:t>
              </a:r>
            </a:p>
          </p:txBody>
        </p:sp>
        <p:grpSp>
          <p:nvGrpSpPr>
            <p:cNvPr id="14362" name="Group 80">
              <a:extLst>
                <a:ext uri="{FF2B5EF4-FFF2-40B4-BE49-F238E27FC236}">
                  <a16:creationId xmlns:a16="http://schemas.microsoft.com/office/drawing/2014/main" id="{5F5EF419-C895-FB16-0F2F-B0A232986A88}"/>
                </a:ext>
              </a:extLst>
            </p:cNvPr>
            <p:cNvGrpSpPr>
              <a:grpSpLocks/>
            </p:cNvGrpSpPr>
            <p:nvPr/>
          </p:nvGrpSpPr>
          <p:grpSpPr bwMode="auto">
            <a:xfrm>
              <a:off x="-2" y="645614"/>
              <a:ext cx="12192002" cy="105885"/>
              <a:chOff x="2373524" y="569416"/>
              <a:chExt cx="6496168" cy="87055"/>
            </a:xfrm>
          </p:grpSpPr>
          <p:sp>
            <p:nvSpPr>
              <p:cNvPr id="83" name="Rectangle 82">
                <a:extLst>
                  <a:ext uri="{FF2B5EF4-FFF2-40B4-BE49-F238E27FC236}">
                    <a16:creationId xmlns:a16="http://schemas.microsoft.com/office/drawing/2014/main" id="{842A87E8-F637-D015-1C9C-142084D61C6B}"/>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84" name="Rectangle 83">
                <a:extLst>
                  <a:ext uri="{FF2B5EF4-FFF2-40B4-BE49-F238E27FC236}">
                    <a16:creationId xmlns:a16="http://schemas.microsoft.com/office/drawing/2014/main" id="{0990C694-2C01-587B-29C2-8BA02922AB2D}"/>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61" name="Group 60">
            <a:extLst>
              <a:ext uri="{FF2B5EF4-FFF2-40B4-BE49-F238E27FC236}">
                <a16:creationId xmlns:a16="http://schemas.microsoft.com/office/drawing/2014/main" id="{DE1735E2-356A-C646-D12C-CD733E0680C0}"/>
              </a:ext>
            </a:extLst>
          </p:cNvPr>
          <p:cNvGrpSpPr/>
          <p:nvPr/>
        </p:nvGrpSpPr>
        <p:grpSpPr>
          <a:xfrm>
            <a:off x="0" y="6263508"/>
            <a:ext cx="9144000" cy="457200"/>
            <a:chOff x="0" y="2732884"/>
            <a:chExt cx="9144000" cy="457200"/>
          </a:xfrm>
        </p:grpSpPr>
        <p:sp>
          <p:nvSpPr>
            <p:cNvPr id="62" name="Rectangle 61">
              <a:extLst>
                <a:ext uri="{FF2B5EF4-FFF2-40B4-BE49-F238E27FC236}">
                  <a16:creationId xmlns:a16="http://schemas.microsoft.com/office/drawing/2014/main" id="{C501001A-4B3E-5BF4-121D-14493E7626B6}"/>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63" name="Group 62">
              <a:extLst>
                <a:ext uri="{FF2B5EF4-FFF2-40B4-BE49-F238E27FC236}">
                  <a16:creationId xmlns:a16="http://schemas.microsoft.com/office/drawing/2014/main" id="{B192E3B9-2447-B0C7-DFB4-27A84DEAE466}"/>
                </a:ext>
              </a:extLst>
            </p:cNvPr>
            <p:cNvGrpSpPr/>
            <p:nvPr/>
          </p:nvGrpSpPr>
          <p:grpSpPr>
            <a:xfrm>
              <a:off x="5021579" y="2732884"/>
              <a:ext cx="545306" cy="457200"/>
              <a:chOff x="4981575" y="2712036"/>
              <a:chExt cx="545306" cy="457200"/>
            </a:xfrm>
          </p:grpSpPr>
          <p:sp>
            <p:nvSpPr>
              <p:cNvPr id="14369" name="Oval 14368">
                <a:extLst>
                  <a:ext uri="{FF2B5EF4-FFF2-40B4-BE49-F238E27FC236}">
                    <a16:creationId xmlns:a16="http://schemas.microsoft.com/office/drawing/2014/main" id="{E43AD8C9-5A81-F23C-48C1-48E46A154EC1}"/>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4370" name="Picture 14369" descr="Related image">
                <a:extLst>
                  <a:ext uri="{FF2B5EF4-FFF2-40B4-BE49-F238E27FC236}">
                    <a16:creationId xmlns:a16="http://schemas.microsoft.com/office/drawing/2014/main" id="{E9063B02-AE6D-4DE6-C0B4-58F484569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4341" name="Group 14340">
              <a:extLst>
                <a:ext uri="{FF2B5EF4-FFF2-40B4-BE49-F238E27FC236}">
                  <a16:creationId xmlns:a16="http://schemas.microsoft.com/office/drawing/2014/main" id="{C33EDC2A-95A5-F73C-2C83-5352F79603B9}"/>
                </a:ext>
              </a:extLst>
            </p:cNvPr>
            <p:cNvGrpSpPr/>
            <p:nvPr/>
          </p:nvGrpSpPr>
          <p:grpSpPr>
            <a:xfrm>
              <a:off x="7910513" y="2732884"/>
              <a:ext cx="545306" cy="457200"/>
              <a:chOff x="7731919" y="2712036"/>
              <a:chExt cx="545306" cy="457200"/>
            </a:xfrm>
          </p:grpSpPr>
          <p:sp>
            <p:nvSpPr>
              <p:cNvPr id="14367" name="Oval 14366">
                <a:extLst>
                  <a:ext uri="{FF2B5EF4-FFF2-40B4-BE49-F238E27FC236}">
                    <a16:creationId xmlns:a16="http://schemas.microsoft.com/office/drawing/2014/main" id="{023CCDD8-25E7-9B89-1C35-568B25E847FA}"/>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4368" name="Picture 14367" descr="Related image">
                <a:extLst>
                  <a:ext uri="{FF2B5EF4-FFF2-40B4-BE49-F238E27FC236}">
                    <a16:creationId xmlns:a16="http://schemas.microsoft.com/office/drawing/2014/main" id="{C41E232F-4B7F-57B5-BE17-2AFEEBD35C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4363" name="Oval 14362">
              <a:extLst>
                <a:ext uri="{FF2B5EF4-FFF2-40B4-BE49-F238E27FC236}">
                  <a16:creationId xmlns:a16="http://schemas.microsoft.com/office/drawing/2014/main" id="{990648CC-392F-5168-D08B-E87F6930FF36}"/>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4347" name="Group 14346">
              <a:extLst>
                <a:ext uri="{FF2B5EF4-FFF2-40B4-BE49-F238E27FC236}">
                  <a16:creationId xmlns:a16="http://schemas.microsoft.com/office/drawing/2014/main" id="{5E3F5EB9-3B01-D7C3-F86D-B438BE7503D6}"/>
                </a:ext>
              </a:extLst>
            </p:cNvPr>
            <p:cNvGrpSpPr/>
            <p:nvPr/>
          </p:nvGrpSpPr>
          <p:grpSpPr>
            <a:xfrm>
              <a:off x="6466045" y="2732884"/>
              <a:ext cx="545306" cy="457200"/>
              <a:chOff x="6353175" y="2712036"/>
              <a:chExt cx="545306" cy="457200"/>
            </a:xfrm>
          </p:grpSpPr>
          <p:sp>
            <p:nvSpPr>
              <p:cNvPr id="14360" name="Oval 14359">
                <a:extLst>
                  <a:ext uri="{FF2B5EF4-FFF2-40B4-BE49-F238E27FC236}">
                    <a16:creationId xmlns:a16="http://schemas.microsoft.com/office/drawing/2014/main" id="{57009DFE-5D7C-1645-9041-C0C8A0E31CF9}"/>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4361" name="Graphic 14379" descr="Dollar with solid fill">
                <a:extLst>
                  <a:ext uri="{FF2B5EF4-FFF2-40B4-BE49-F238E27FC236}">
                    <a16:creationId xmlns:a16="http://schemas.microsoft.com/office/drawing/2014/main" id="{142791D2-2203-919E-446C-240014CD6E3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4351" name="Group 14350">
              <a:extLst>
                <a:ext uri="{FF2B5EF4-FFF2-40B4-BE49-F238E27FC236}">
                  <a16:creationId xmlns:a16="http://schemas.microsoft.com/office/drawing/2014/main" id="{C5AD63AB-E599-149D-D742-634D2DA925A0}"/>
                </a:ext>
              </a:extLst>
            </p:cNvPr>
            <p:cNvGrpSpPr/>
            <p:nvPr/>
          </p:nvGrpSpPr>
          <p:grpSpPr>
            <a:xfrm>
              <a:off x="3577113" y="2732884"/>
              <a:ext cx="545306" cy="457200"/>
              <a:chOff x="3609974" y="2715607"/>
              <a:chExt cx="545306" cy="457200"/>
            </a:xfrm>
          </p:grpSpPr>
          <p:sp>
            <p:nvSpPr>
              <p:cNvPr id="14355" name="Oval 14354">
                <a:extLst>
                  <a:ext uri="{FF2B5EF4-FFF2-40B4-BE49-F238E27FC236}">
                    <a16:creationId xmlns:a16="http://schemas.microsoft.com/office/drawing/2014/main" id="{DDF4D2C5-EE94-8ED2-9FF7-B46C2CFDB271}"/>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4356" name="Group 14355">
                <a:extLst>
                  <a:ext uri="{FF2B5EF4-FFF2-40B4-BE49-F238E27FC236}">
                    <a16:creationId xmlns:a16="http://schemas.microsoft.com/office/drawing/2014/main" id="{994018D7-7377-194C-6C19-92B2FE81FC8F}"/>
                  </a:ext>
                </a:extLst>
              </p:cNvPr>
              <p:cNvGrpSpPr/>
              <p:nvPr/>
            </p:nvGrpSpPr>
            <p:grpSpPr>
              <a:xfrm>
                <a:off x="3769049" y="2811218"/>
                <a:ext cx="227157" cy="265979"/>
                <a:chOff x="3771206" y="2761936"/>
                <a:chExt cx="227157" cy="265979"/>
              </a:xfrm>
            </p:grpSpPr>
            <p:sp>
              <p:nvSpPr>
                <p:cNvPr id="14357" name="Freeform: Shape 14356">
                  <a:extLst>
                    <a:ext uri="{FF2B5EF4-FFF2-40B4-BE49-F238E27FC236}">
                      <a16:creationId xmlns:a16="http://schemas.microsoft.com/office/drawing/2014/main" id="{08A55B61-ACDE-707A-1CC9-96C08040CB25}"/>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4359" name="Freeform: Shape 14358">
                  <a:extLst>
                    <a:ext uri="{FF2B5EF4-FFF2-40B4-BE49-F238E27FC236}">
                      <a16:creationId xmlns:a16="http://schemas.microsoft.com/office/drawing/2014/main" id="{3616D6ED-AEAE-C8C0-AC06-E3CEEB5B814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4352" name="Group 14351">
              <a:extLst>
                <a:ext uri="{FF2B5EF4-FFF2-40B4-BE49-F238E27FC236}">
                  <a16:creationId xmlns:a16="http://schemas.microsoft.com/office/drawing/2014/main" id="{D7701F38-00BA-9F68-1189-5F1C8A6B3B7F}"/>
                </a:ext>
              </a:extLst>
            </p:cNvPr>
            <p:cNvGrpSpPr/>
            <p:nvPr/>
          </p:nvGrpSpPr>
          <p:grpSpPr>
            <a:xfrm>
              <a:off x="2132647" y="2732884"/>
              <a:ext cx="545306" cy="457200"/>
              <a:chOff x="2238375" y="2712635"/>
              <a:chExt cx="545306" cy="457200"/>
            </a:xfrm>
          </p:grpSpPr>
          <p:sp>
            <p:nvSpPr>
              <p:cNvPr id="14353" name="Oval 14352">
                <a:extLst>
                  <a:ext uri="{FF2B5EF4-FFF2-40B4-BE49-F238E27FC236}">
                    <a16:creationId xmlns:a16="http://schemas.microsoft.com/office/drawing/2014/main" id="{1302D7A4-45D0-6B08-9513-F8BFC2C96923}"/>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4354" name="Graphic 14377" descr="Board Of Directors with solid fill">
                <a:extLst>
                  <a:ext uri="{FF2B5EF4-FFF2-40B4-BE49-F238E27FC236}">
                    <a16:creationId xmlns:a16="http://schemas.microsoft.com/office/drawing/2014/main" id="{B8CB88AE-FAEA-D402-60CA-4EB577E8E31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4395" name="Graphic 14394" descr="Lights On with solid fill">
            <a:extLst>
              <a:ext uri="{FF2B5EF4-FFF2-40B4-BE49-F238E27FC236}">
                <a16:creationId xmlns:a16="http://schemas.microsoft.com/office/drawing/2014/main" id="{70D3F84E-6E63-27D4-194E-EE9BC552BF9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4979" y="6263508"/>
            <a:ext cx="461513" cy="461513"/>
          </a:xfrm>
          <a:prstGeom prst="rect">
            <a:avLst/>
          </a:prstGeom>
        </p:spPr>
      </p:pic>
      <p:sp>
        <p:nvSpPr>
          <p:cNvPr id="8" name="Rectangle 7">
            <a:extLst>
              <a:ext uri="{FF2B5EF4-FFF2-40B4-BE49-F238E27FC236}">
                <a16:creationId xmlns:a16="http://schemas.microsoft.com/office/drawing/2014/main" id="{13F2225D-E1F1-6FB0-9564-34D088B22FE8}"/>
              </a:ext>
            </a:extLst>
          </p:cNvPr>
          <p:cNvSpPr/>
          <p:nvPr/>
        </p:nvSpPr>
        <p:spPr>
          <a:xfrm>
            <a:off x="334819" y="1113459"/>
            <a:ext cx="3906988" cy="133581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dirty="0">
                <a:solidFill>
                  <a:srgbClr val="232629"/>
                </a:solidFill>
                <a:latin typeface="Calibri"/>
                <a:ea typeface="Calibri"/>
                <a:cs typeface="Calibri"/>
              </a:rPr>
              <a:t> </a:t>
            </a:r>
            <a:r>
              <a:rPr lang="en-US" sz="1200" b="1" dirty="0">
                <a:solidFill>
                  <a:schemeClr val="tx1"/>
                </a:solidFill>
                <a:latin typeface="Calibri"/>
                <a:ea typeface="Calibri"/>
                <a:cs typeface="Calibri"/>
              </a:rPr>
              <a:t>J</a:t>
            </a:r>
            <a:r>
              <a:rPr lang="en-US" sz="1200" dirty="0">
                <a:solidFill>
                  <a:srgbClr val="000000"/>
                </a:solidFill>
                <a:latin typeface="Calibri"/>
                <a:ea typeface="Calibri"/>
                <a:cs typeface="Calibri"/>
              </a:rPr>
              <a:t>ohnson Outdoors Inc.</a:t>
            </a:r>
            <a:r>
              <a:rPr lang="en-US" sz="1200" b="1" dirty="0">
                <a:solidFill>
                  <a:srgbClr val="000000"/>
                </a:solidFill>
                <a:latin typeface="Calibri"/>
                <a:ea typeface="Calibri"/>
                <a:cs typeface="Calibri"/>
              </a:rPr>
              <a:t> (JOUT),</a:t>
            </a:r>
            <a:r>
              <a:rPr lang="en-US" sz="1200" dirty="0">
                <a:solidFill>
                  <a:srgbClr val="000000"/>
                </a:solidFill>
                <a:latin typeface="Calibri"/>
                <a:ea typeface="Calibri"/>
                <a:cs typeface="Calibri"/>
              </a:rPr>
              <a:t> founded in 1970 and headquartered in Racine, Wisconsin, is a diversified outdoor recreation company that</a:t>
            </a:r>
            <a:r>
              <a:rPr lang="en-US" sz="1200" b="1" dirty="0">
                <a:solidFill>
                  <a:srgbClr val="000000"/>
                </a:solidFill>
                <a:latin typeface="Calibri"/>
                <a:ea typeface="Calibri"/>
                <a:cs typeface="Calibri"/>
              </a:rPr>
              <a:t> specializes in innovative, high-quality gear and technologies</a:t>
            </a:r>
            <a:r>
              <a:rPr lang="en-US" sz="1200" dirty="0">
                <a:solidFill>
                  <a:srgbClr val="000000"/>
                </a:solidFill>
                <a:latin typeface="Calibri"/>
                <a:ea typeface="Calibri"/>
                <a:cs typeface="Calibri"/>
              </a:rPr>
              <a:t> across a range of outdoor activities, including watercraft, fishing, diving, and camping</a:t>
            </a:r>
          </a:p>
        </p:txBody>
      </p:sp>
      <p:sp>
        <p:nvSpPr>
          <p:cNvPr id="9" name="Rectangle 8">
            <a:extLst>
              <a:ext uri="{FF2B5EF4-FFF2-40B4-BE49-F238E27FC236}">
                <a16:creationId xmlns:a16="http://schemas.microsoft.com/office/drawing/2014/main" id="{D89739D7-909D-62C5-2A4B-23D47A129EF3}"/>
              </a:ext>
            </a:extLst>
          </p:cNvPr>
          <p:cNvSpPr/>
          <p:nvPr/>
        </p:nvSpPr>
        <p:spPr>
          <a:xfrm>
            <a:off x="309466" y="2801581"/>
            <a:ext cx="3911653" cy="133581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US" sz="1200" dirty="0">
                <a:solidFill>
                  <a:srgbClr val="000000"/>
                </a:solidFill>
                <a:latin typeface="Calibri"/>
                <a:ea typeface="Calibri"/>
                <a:cs typeface="Calibri"/>
              </a:rPr>
              <a:t>Johnson Outdoors operates across Wisconsin, Illinois, Minnesota, and Upper Michigan through four primary divisions: Watercraft, Camping, Fishing, and Diving. Key brands include Old Town, Jetboil, Eureka!, Minn Kota, Cannon, and SCUBAPRO</a:t>
            </a:r>
          </a:p>
          <a:p>
            <a:pPr>
              <a:spcBef>
                <a:spcPts val="0"/>
              </a:spcBef>
              <a:spcAft>
                <a:spcPts val="0"/>
              </a:spcAft>
              <a:defRPr/>
            </a:pPr>
            <a:endParaRPr lang="en-US" sz="1200" i="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5F88EE82-A7A6-0D90-5BE9-81AD86F15376}"/>
              </a:ext>
            </a:extLst>
          </p:cNvPr>
          <p:cNvSpPr/>
          <p:nvPr/>
        </p:nvSpPr>
        <p:spPr>
          <a:xfrm>
            <a:off x="309466" y="4487358"/>
            <a:ext cx="3911653" cy="1476405"/>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dirty="0">
                <a:solidFill>
                  <a:srgbClr val="000000"/>
                </a:solidFill>
                <a:latin typeface="Calibri"/>
                <a:ea typeface="Calibri"/>
                <a:cs typeface="Calibri"/>
              </a:rPr>
              <a:t>Johnson Outdoors ranks among the top players in the outdoor recreation industry, recognized for its innovation and leading market positions: the company serves a global customer base through strong brands and a robust distribution network, supported by decades of expertise across watercraft, fishing, diving, and camping categories</a:t>
            </a:r>
          </a:p>
        </p:txBody>
      </p:sp>
      <p:sp>
        <p:nvSpPr>
          <p:cNvPr id="3" name="TextBox 2">
            <a:extLst>
              <a:ext uri="{FF2B5EF4-FFF2-40B4-BE49-F238E27FC236}">
                <a16:creationId xmlns:a16="http://schemas.microsoft.com/office/drawing/2014/main" id="{B9847F38-9A7B-E8CF-1615-66F796B1322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3</a:t>
            </a:fld>
            <a:endParaRPr lang="en-US" sz="1400">
              <a:latin typeface="Calibri" panose="020F0502020204030204" pitchFamily="34" charset="0"/>
              <a:cs typeface="Calibri" panose="020F0502020204030204" pitchFamily="34" charset="0"/>
            </a:endParaRPr>
          </a:p>
        </p:txBody>
      </p:sp>
      <p:sp>
        <p:nvSpPr>
          <p:cNvPr id="13" name="Text Box 2">
            <a:extLst>
              <a:ext uri="{FF2B5EF4-FFF2-40B4-BE49-F238E27FC236}">
                <a16:creationId xmlns:a16="http://schemas.microsoft.com/office/drawing/2014/main" id="{FD8E3876-63CE-4EF7-BDB4-754B34CEC12B}"/>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2" name="Text Box 2">
            <a:extLst>
              <a:ext uri="{FF2B5EF4-FFF2-40B4-BE49-F238E27FC236}">
                <a16:creationId xmlns:a16="http://schemas.microsoft.com/office/drawing/2014/main" id="{DA12DC25-E07F-AA4F-6CED-BDD931665279}"/>
              </a:ext>
            </a:extLst>
          </p:cNvPr>
          <p:cNvSpPr txBox="1">
            <a:spLocks noChangeArrowheads="1"/>
          </p:cNvSpPr>
          <p:nvPr/>
        </p:nvSpPr>
        <p:spPr bwMode="auto">
          <a:xfrm>
            <a:off x="4500425" y="842000"/>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292934"/>
                </a:solidFill>
                <a:latin typeface="Calibri"/>
                <a:ea typeface="Calibri"/>
                <a:cs typeface="Calibri"/>
              </a:rPr>
              <a:t>Figure 1: Revenue by Segment</a:t>
            </a:r>
          </a:p>
          <a:p>
            <a:pPr eaLnBrk="1" hangingPunct="1">
              <a:lnSpc>
                <a:spcPct val="115000"/>
              </a:lnSpc>
              <a:spcAft>
                <a:spcPts val="751"/>
              </a:spcAft>
            </a:pPr>
            <a:endParaRPr lang="en-US" altLang="en-US" sz="1200" dirty="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1200" dirty="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ext Box 2">
            <a:extLst>
              <a:ext uri="{FF2B5EF4-FFF2-40B4-BE49-F238E27FC236}">
                <a16:creationId xmlns:a16="http://schemas.microsoft.com/office/drawing/2014/main" id="{E383EE2F-AC2A-9DF7-47DC-7FDF4DB55F47}"/>
              </a:ext>
            </a:extLst>
          </p:cNvPr>
          <p:cNvSpPr txBox="1">
            <a:spLocks noChangeArrowheads="1"/>
          </p:cNvSpPr>
          <p:nvPr/>
        </p:nvSpPr>
        <p:spPr bwMode="auto">
          <a:xfrm>
            <a:off x="4500425" y="3297303"/>
            <a:ext cx="3682741" cy="219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292934"/>
                </a:solidFill>
                <a:latin typeface="Calibri"/>
                <a:ea typeface="Calibri"/>
                <a:cs typeface="Calibri"/>
              </a:rPr>
              <a:t>Figure 2: Total Revenue (L) and YoY Growth Rate (R) </a:t>
            </a:r>
          </a:p>
          <a:p>
            <a:pPr eaLnBrk="1" hangingPunct="1">
              <a:lnSpc>
                <a:spcPct val="115000"/>
              </a:lnSpc>
              <a:spcAft>
                <a:spcPts val="751"/>
              </a:spcAft>
            </a:pPr>
            <a:endParaRPr lang="en-US" altLang="en-US" sz="1200" dirty="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1200" dirty="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pic>
        <p:nvPicPr>
          <p:cNvPr id="15" name="Picture 14" descr="Outdoor Industry Jobs">
            <a:extLst>
              <a:ext uri="{FF2B5EF4-FFF2-40B4-BE49-F238E27FC236}">
                <a16:creationId xmlns:a16="http://schemas.microsoft.com/office/drawing/2014/main" id="{1AD33EC6-FC6A-2927-7556-723195C476A5}"/>
              </a:ext>
            </a:extLst>
          </p:cNvPr>
          <p:cNvPicPr>
            <a:picLocks noChangeAspect="1"/>
          </p:cNvPicPr>
          <p:nvPr/>
        </p:nvPicPr>
        <p:blipFill>
          <a:blip r:embed="rId7"/>
          <a:stretch>
            <a:fillRect/>
          </a:stretch>
        </p:blipFill>
        <p:spPr>
          <a:xfrm>
            <a:off x="6737770" y="96688"/>
            <a:ext cx="2310800" cy="453606"/>
          </a:xfrm>
          <a:prstGeom prst="rect">
            <a:avLst/>
          </a:prstGeom>
        </p:spPr>
      </p:pic>
      <p:graphicFrame>
        <p:nvGraphicFramePr>
          <p:cNvPr id="4" name="Chart 3">
            <a:extLst>
              <a:ext uri="{FF2B5EF4-FFF2-40B4-BE49-F238E27FC236}">
                <a16:creationId xmlns:a16="http://schemas.microsoft.com/office/drawing/2014/main" id="{40B5011F-FD2F-F509-82C0-9846966E2BDF}"/>
              </a:ext>
            </a:extLst>
          </p:cNvPr>
          <p:cNvGraphicFramePr>
            <a:graphicFrameLocks/>
          </p:cNvGraphicFramePr>
          <p:nvPr>
            <p:extLst>
              <p:ext uri="{D42A27DB-BD31-4B8C-83A1-F6EECF244321}">
                <p14:modId xmlns:p14="http://schemas.microsoft.com/office/powerpoint/2010/main" val="2886264901"/>
              </p:ext>
            </p:extLst>
          </p:nvPr>
        </p:nvGraphicFramePr>
        <p:xfrm>
          <a:off x="4572000" y="1096433"/>
          <a:ext cx="4476570" cy="222461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1" name="Chart 10">
            <a:extLst>
              <a:ext uri="{FF2B5EF4-FFF2-40B4-BE49-F238E27FC236}">
                <a16:creationId xmlns:a16="http://schemas.microsoft.com/office/drawing/2014/main" id="{4C230D16-161D-E287-CE9B-0E68411091B6}"/>
              </a:ext>
              <a:ext uri="{147F2762-F138-4A5C-976F-8EAC2B608ADB}">
                <a16:predDERef xmlns:a16="http://schemas.microsoft.com/office/drawing/2014/main" pred="{781BE5A9-183A-F64F-CAC8-CA790FC40FCD}"/>
              </a:ext>
            </a:extLst>
          </p:cNvPr>
          <p:cNvGraphicFramePr>
            <a:graphicFrameLocks/>
          </p:cNvGraphicFramePr>
          <p:nvPr>
            <p:extLst>
              <p:ext uri="{D42A27DB-BD31-4B8C-83A1-F6EECF244321}">
                <p14:modId xmlns:p14="http://schemas.microsoft.com/office/powerpoint/2010/main" val="3422556124"/>
              </p:ext>
            </p:extLst>
          </p:nvPr>
        </p:nvGraphicFramePr>
        <p:xfrm>
          <a:off x="4572001" y="3554840"/>
          <a:ext cx="4476570" cy="2430704"/>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696126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0CCDA-2006-28F6-1EB7-A55F93CED269}"/>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084BFECD-8EC4-E1FB-0F17-2ECA2133649C}"/>
              </a:ext>
            </a:extLst>
          </p:cNvPr>
          <p:cNvGrpSpPr>
            <a:grpSpLocks/>
          </p:cNvGrpSpPr>
          <p:nvPr/>
        </p:nvGrpSpPr>
        <p:grpSpPr bwMode="auto">
          <a:xfrm>
            <a:off x="0" y="82151"/>
            <a:ext cx="9144000" cy="576857"/>
            <a:chOff x="-2" y="-17873"/>
            <a:chExt cx="12192002" cy="769372"/>
          </a:xfrm>
        </p:grpSpPr>
        <p:sp>
          <p:nvSpPr>
            <p:cNvPr id="39" name="Title 1">
              <a:extLst>
                <a:ext uri="{FF2B5EF4-FFF2-40B4-BE49-F238E27FC236}">
                  <a16:creationId xmlns:a16="http://schemas.microsoft.com/office/drawing/2014/main" id="{A401EAA8-605A-4E16-5A1A-4877A8A162C4}"/>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panose="020F0502020204030204" pitchFamily="34" charset="0"/>
                </a:rPr>
                <a:t>Revenue Segments</a:t>
              </a:r>
            </a:p>
          </p:txBody>
        </p:sp>
        <p:grpSp>
          <p:nvGrpSpPr>
            <p:cNvPr id="16397" name="Group 39">
              <a:extLst>
                <a:ext uri="{FF2B5EF4-FFF2-40B4-BE49-F238E27FC236}">
                  <a16:creationId xmlns:a16="http://schemas.microsoft.com/office/drawing/2014/main" id="{50E8D51C-89A5-D099-6A5C-43489F8D69E7}"/>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4B61CC1-C77C-BF04-C668-CAD34D4696DE}"/>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BB10AC8-5C2D-4189-266F-F7061C00C0D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6418" name="Group 16417">
            <a:extLst>
              <a:ext uri="{FF2B5EF4-FFF2-40B4-BE49-F238E27FC236}">
                <a16:creationId xmlns:a16="http://schemas.microsoft.com/office/drawing/2014/main" id="{F58C3366-F67D-B0E0-453E-98E7B53DF570}"/>
              </a:ext>
            </a:extLst>
          </p:cNvPr>
          <p:cNvGrpSpPr/>
          <p:nvPr/>
        </p:nvGrpSpPr>
        <p:grpSpPr>
          <a:xfrm>
            <a:off x="0" y="6263508"/>
            <a:ext cx="9144000" cy="457200"/>
            <a:chOff x="0" y="2732884"/>
            <a:chExt cx="9144000" cy="457200"/>
          </a:xfrm>
        </p:grpSpPr>
        <p:sp>
          <p:nvSpPr>
            <p:cNvPr id="16419" name="Rectangle 16418">
              <a:extLst>
                <a:ext uri="{FF2B5EF4-FFF2-40B4-BE49-F238E27FC236}">
                  <a16:creationId xmlns:a16="http://schemas.microsoft.com/office/drawing/2014/main" id="{44BEF93F-FBCE-E32C-E66A-9E36EECD0D9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6420" name="Group 16419">
              <a:extLst>
                <a:ext uri="{FF2B5EF4-FFF2-40B4-BE49-F238E27FC236}">
                  <a16:creationId xmlns:a16="http://schemas.microsoft.com/office/drawing/2014/main" id="{BE0EEBF4-E87F-E337-250A-A2AAA03E2F37}"/>
                </a:ext>
              </a:extLst>
            </p:cNvPr>
            <p:cNvGrpSpPr/>
            <p:nvPr/>
          </p:nvGrpSpPr>
          <p:grpSpPr>
            <a:xfrm>
              <a:off x="5021579" y="2732884"/>
              <a:ext cx="545306" cy="457200"/>
              <a:chOff x="4981575" y="2712036"/>
              <a:chExt cx="545306" cy="457200"/>
            </a:xfrm>
          </p:grpSpPr>
          <p:sp>
            <p:nvSpPr>
              <p:cNvPr id="16436" name="Oval 16435">
                <a:extLst>
                  <a:ext uri="{FF2B5EF4-FFF2-40B4-BE49-F238E27FC236}">
                    <a16:creationId xmlns:a16="http://schemas.microsoft.com/office/drawing/2014/main" id="{91398BD5-31F8-4F0D-05B6-D9F86C0C369D}"/>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7" name="Picture 16436" descr="Related image">
                <a:extLst>
                  <a:ext uri="{FF2B5EF4-FFF2-40B4-BE49-F238E27FC236}">
                    <a16:creationId xmlns:a16="http://schemas.microsoft.com/office/drawing/2014/main" id="{1453C660-AFAA-5278-3214-485BC8F019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6421" name="Group 16420">
              <a:extLst>
                <a:ext uri="{FF2B5EF4-FFF2-40B4-BE49-F238E27FC236}">
                  <a16:creationId xmlns:a16="http://schemas.microsoft.com/office/drawing/2014/main" id="{089D0FD1-6DCB-DE90-FABB-4A6C1F631C69}"/>
                </a:ext>
              </a:extLst>
            </p:cNvPr>
            <p:cNvGrpSpPr/>
            <p:nvPr/>
          </p:nvGrpSpPr>
          <p:grpSpPr>
            <a:xfrm>
              <a:off x="7910513" y="2732884"/>
              <a:ext cx="545306" cy="457200"/>
              <a:chOff x="7731919" y="2712036"/>
              <a:chExt cx="545306" cy="457200"/>
            </a:xfrm>
          </p:grpSpPr>
          <p:sp>
            <p:nvSpPr>
              <p:cNvPr id="16434" name="Oval 16433">
                <a:extLst>
                  <a:ext uri="{FF2B5EF4-FFF2-40B4-BE49-F238E27FC236}">
                    <a16:creationId xmlns:a16="http://schemas.microsoft.com/office/drawing/2014/main" id="{F34C1D3F-F2B6-4EF3-957F-8974B87EDE3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35" name="Picture 16434" descr="Related image">
                <a:extLst>
                  <a:ext uri="{FF2B5EF4-FFF2-40B4-BE49-F238E27FC236}">
                    <a16:creationId xmlns:a16="http://schemas.microsoft.com/office/drawing/2014/main" id="{B4959D99-9D2C-8264-228C-F908EC3031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6422" name="Oval 16421">
              <a:extLst>
                <a:ext uri="{FF2B5EF4-FFF2-40B4-BE49-F238E27FC236}">
                  <a16:creationId xmlns:a16="http://schemas.microsoft.com/office/drawing/2014/main" id="{069B92E7-84BA-3873-9BC0-4C640F9C36DB}"/>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3" name="Group 16422">
              <a:extLst>
                <a:ext uri="{FF2B5EF4-FFF2-40B4-BE49-F238E27FC236}">
                  <a16:creationId xmlns:a16="http://schemas.microsoft.com/office/drawing/2014/main" id="{72FA3F31-EDCE-8104-D945-22D8A10A8DD2}"/>
                </a:ext>
              </a:extLst>
            </p:cNvPr>
            <p:cNvGrpSpPr/>
            <p:nvPr/>
          </p:nvGrpSpPr>
          <p:grpSpPr>
            <a:xfrm>
              <a:off x="6466045" y="2732884"/>
              <a:ext cx="545306" cy="457200"/>
              <a:chOff x="6353175" y="2712036"/>
              <a:chExt cx="545306" cy="457200"/>
            </a:xfrm>
          </p:grpSpPr>
          <p:sp>
            <p:nvSpPr>
              <p:cNvPr id="16432" name="Oval 16431">
                <a:extLst>
                  <a:ext uri="{FF2B5EF4-FFF2-40B4-BE49-F238E27FC236}">
                    <a16:creationId xmlns:a16="http://schemas.microsoft.com/office/drawing/2014/main" id="{75A1BB7E-DC95-7C18-7E55-30B45480304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433" name="Graphic 14379" descr="Dollar with solid fill">
                <a:extLst>
                  <a:ext uri="{FF2B5EF4-FFF2-40B4-BE49-F238E27FC236}">
                    <a16:creationId xmlns:a16="http://schemas.microsoft.com/office/drawing/2014/main" id="{47C24EFE-325D-6331-D314-7A33D17EA6E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6424" name="Group 16423">
              <a:extLst>
                <a:ext uri="{FF2B5EF4-FFF2-40B4-BE49-F238E27FC236}">
                  <a16:creationId xmlns:a16="http://schemas.microsoft.com/office/drawing/2014/main" id="{45920620-2C47-41D3-A713-316106D837C1}"/>
                </a:ext>
              </a:extLst>
            </p:cNvPr>
            <p:cNvGrpSpPr/>
            <p:nvPr/>
          </p:nvGrpSpPr>
          <p:grpSpPr>
            <a:xfrm>
              <a:off x="3577113" y="2732884"/>
              <a:ext cx="545306" cy="457200"/>
              <a:chOff x="3609974" y="2715607"/>
              <a:chExt cx="545306" cy="457200"/>
            </a:xfrm>
          </p:grpSpPr>
          <p:sp>
            <p:nvSpPr>
              <p:cNvPr id="16428" name="Oval 16427">
                <a:extLst>
                  <a:ext uri="{FF2B5EF4-FFF2-40B4-BE49-F238E27FC236}">
                    <a16:creationId xmlns:a16="http://schemas.microsoft.com/office/drawing/2014/main" id="{1D3F960E-8B31-25A4-6A46-256455273696}"/>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429" name="Group 16428">
                <a:extLst>
                  <a:ext uri="{FF2B5EF4-FFF2-40B4-BE49-F238E27FC236}">
                    <a16:creationId xmlns:a16="http://schemas.microsoft.com/office/drawing/2014/main" id="{12815669-2DBB-D4B4-CBBC-17AD0C392D2E}"/>
                  </a:ext>
                </a:extLst>
              </p:cNvPr>
              <p:cNvGrpSpPr/>
              <p:nvPr/>
            </p:nvGrpSpPr>
            <p:grpSpPr>
              <a:xfrm>
                <a:off x="3769049" y="2811218"/>
                <a:ext cx="227157" cy="265979"/>
                <a:chOff x="3771206" y="2761936"/>
                <a:chExt cx="227157" cy="265979"/>
              </a:xfrm>
            </p:grpSpPr>
            <p:sp>
              <p:nvSpPr>
                <p:cNvPr id="16430" name="Freeform: Shape 16429">
                  <a:extLst>
                    <a:ext uri="{FF2B5EF4-FFF2-40B4-BE49-F238E27FC236}">
                      <a16:creationId xmlns:a16="http://schemas.microsoft.com/office/drawing/2014/main" id="{AE27DB1E-F326-DA3C-5B12-02A726849CC3}"/>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431" name="Freeform: Shape 16430">
                  <a:extLst>
                    <a:ext uri="{FF2B5EF4-FFF2-40B4-BE49-F238E27FC236}">
                      <a16:creationId xmlns:a16="http://schemas.microsoft.com/office/drawing/2014/main" id="{B887416D-E330-D3B1-F129-9E20AC2C61E5}"/>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6425" name="Group 16424">
              <a:extLst>
                <a:ext uri="{FF2B5EF4-FFF2-40B4-BE49-F238E27FC236}">
                  <a16:creationId xmlns:a16="http://schemas.microsoft.com/office/drawing/2014/main" id="{A892CEC2-E62C-35DB-BE1A-C453F2B5CC46}"/>
                </a:ext>
              </a:extLst>
            </p:cNvPr>
            <p:cNvGrpSpPr/>
            <p:nvPr/>
          </p:nvGrpSpPr>
          <p:grpSpPr>
            <a:xfrm>
              <a:off x="2132647" y="2732884"/>
              <a:ext cx="545306" cy="457200"/>
              <a:chOff x="2238375" y="2712635"/>
              <a:chExt cx="545306" cy="457200"/>
            </a:xfrm>
          </p:grpSpPr>
          <p:sp>
            <p:nvSpPr>
              <p:cNvPr id="16426" name="Oval 16425">
                <a:extLst>
                  <a:ext uri="{FF2B5EF4-FFF2-40B4-BE49-F238E27FC236}">
                    <a16:creationId xmlns:a16="http://schemas.microsoft.com/office/drawing/2014/main" id="{8FFF3BE6-2061-9F4C-2943-14BC23F6A108}"/>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427" name="Graphic 14377" descr="Board Of Directors with solid fill">
                <a:extLst>
                  <a:ext uri="{FF2B5EF4-FFF2-40B4-BE49-F238E27FC236}">
                    <a16:creationId xmlns:a16="http://schemas.microsoft.com/office/drawing/2014/main" id="{6B891CED-C189-48FC-D84E-4A95F1ED3739}"/>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38" name="Graphic 16437" descr="Lights On with solid fill">
            <a:extLst>
              <a:ext uri="{FF2B5EF4-FFF2-40B4-BE49-F238E27FC236}">
                <a16:creationId xmlns:a16="http://schemas.microsoft.com/office/drawing/2014/main" id="{039B3336-06B5-ADBB-AF6B-2B633954BBA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4979" y="6263508"/>
            <a:ext cx="461513" cy="461513"/>
          </a:xfrm>
          <a:prstGeom prst="rect">
            <a:avLst/>
          </a:prstGeom>
        </p:spPr>
      </p:pic>
      <p:sp>
        <p:nvSpPr>
          <p:cNvPr id="19" name="Rectangle 18">
            <a:extLst>
              <a:ext uri="{FF2B5EF4-FFF2-40B4-BE49-F238E27FC236}">
                <a16:creationId xmlns:a16="http://schemas.microsoft.com/office/drawing/2014/main" id="{43884FC5-E4BC-179C-BA93-2E583F857E26}"/>
              </a:ext>
            </a:extLst>
          </p:cNvPr>
          <p:cNvSpPr/>
          <p:nvPr/>
        </p:nvSpPr>
        <p:spPr bwMode="auto">
          <a:xfrm>
            <a:off x="2771293" y="870089"/>
            <a:ext cx="1508338"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200" dirty="0">
                <a:solidFill>
                  <a:srgbClr val="000000"/>
                </a:solidFill>
                <a:latin typeface="Calibri" panose="020F0502020204030204" pitchFamily="34" charset="0"/>
                <a:ea typeface="Calibri"/>
                <a:cs typeface="Calibri" panose="020F0502020204030204" pitchFamily="34" charset="0"/>
              </a:rPr>
              <a:t>Diving</a:t>
            </a:r>
          </a:p>
        </p:txBody>
      </p:sp>
      <p:sp>
        <p:nvSpPr>
          <p:cNvPr id="16" name="Rectangle 15">
            <a:extLst>
              <a:ext uri="{FF2B5EF4-FFF2-40B4-BE49-F238E27FC236}">
                <a16:creationId xmlns:a16="http://schemas.microsoft.com/office/drawing/2014/main" id="{A166E40A-B382-24E6-1761-322E33094BB5}"/>
              </a:ext>
            </a:extLst>
          </p:cNvPr>
          <p:cNvSpPr/>
          <p:nvPr/>
        </p:nvSpPr>
        <p:spPr bwMode="auto">
          <a:xfrm>
            <a:off x="578295" y="870089"/>
            <a:ext cx="1508338"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200">
                <a:solidFill>
                  <a:srgbClr val="000000"/>
                </a:solidFill>
                <a:latin typeface="Calibri"/>
                <a:ea typeface="Calibri"/>
                <a:cs typeface="Calibri"/>
              </a:rPr>
              <a:t>Fishing</a:t>
            </a:r>
            <a:endParaRPr lang="en-US" sz="1200">
              <a:solidFill>
                <a:srgbClr val="000000"/>
              </a:solidFill>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E9E47C58-B146-028C-F1C8-17907D7A02FA}"/>
              </a:ext>
            </a:extLst>
          </p:cNvPr>
          <p:cNvSpPr/>
          <p:nvPr/>
        </p:nvSpPr>
        <p:spPr bwMode="auto">
          <a:xfrm>
            <a:off x="292981" y="3494374"/>
            <a:ext cx="2068509" cy="134171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sz="1200" dirty="0">
                <a:solidFill>
                  <a:srgbClr val="000000"/>
                </a:solidFill>
                <a:latin typeface="Calibri" panose="020F0502020204030204" pitchFamily="34" charset="0"/>
                <a:ea typeface="Calibri"/>
                <a:cs typeface="Calibri" panose="020F0502020204030204" pitchFamily="34" charset="0"/>
              </a:rPr>
              <a:t>Fishing is JOUT’s largest segment, led by Minn Kota motors and </a:t>
            </a:r>
            <a:r>
              <a:rPr lang="en-US" sz="1200" dirty="0" err="1">
                <a:solidFill>
                  <a:srgbClr val="000000"/>
                </a:solidFill>
                <a:latin typeface="Calibri" panose="020F0502020204030204" pitchFamily="34" charset="0"/>
                <a:ea typeface="Calibri"/>
                <a:cs typeface="Calibri" panose="020F0502020204030204" pitchFamily="34" charset="0"/>
              </a:rPr>
              <a:t>Humminbird</a:t>
            </a:r>
            <a:r>
              <a:rPr lang="en-US" sz="1200" dirty="0">
                <a:solidFill>
                  <a:srgbClr val="000000"/>
                </a:solidFill>
                <a:latin typeface="Calibri" panose="020F0502020204030204" pitchFamily="34" charset="0"/>
                <a:ea typeface="Calibri"/>
                <a:cs typeface="Calibri" panose="020F0502020204030204" pitchFamily="34" charset="0"/>
              </a:rPr>
              <a:t> electronics, and accounts for the majority of total revenue</a:t>
            </a:r>
          </a:p>
        </p:txBody>
      </p:sp>
      <p:sp>
        <p:nvSpPr>
          <p:cNvPr id="37" name="TextBox 36">
            <a:extLst>
              <a:ext uri="{FF2B5EF4-FFF2-40B4-BE49-F238E27FC236}">
                <a16:creationId xmlns:a16="http://schemas.microsoft.com/office/drawing/2014/main" id="{83F4EE91-229E-0EBB-AE62-6B623670A30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4</a:t>
            </a:fld>
            <a:endParaRPr lang="en-US" sz="1400">
              <a:latin typeface="Calibri" panose="020F0502020204030204" pitchFamily="34" charset="0"/>
              <a:cs typeface="Calibri" panose="020F0502020204030204" pitchFamily="34" charset="0"/>
            </a:endParaRPr>
          </a:p>
        </p:txBody>
      </p:sp>
      <p:sp>
        <p:nvSpPr>
          <p:cNvPr id="38" name="Text Box 2">
            <a:extLst>
              <a:ext uri="{FF2B5EF4-FFF2-40B4-BE49-F238E27FC236}">
                <a16:creationId xmlns:a16="http://schemas.microsoft.com/office/drawing/2014/main" id="{A07FF91B-42B0-A6EC-494D-A05F4E97967F}"/>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Outdoor Industry Jobs">
            <a:extLst>
              <a:ext uri="{FF2B5EF4-FFF2-40B4-BE49-F238E27FC236}">
                <a16:creationId xmlns:a16="http://schemas.microsoft.com/office/drawing/2014/main" id="{86F74474-00E5-954C-30EA-D71C901932D1}"/>
              </a:ext>
            </a:extLst>
          </p:cNvPr>
          <p:cNvPicPr>
            <a:picLocks noChangeAspect="1"/>
          </p:cNvPicPr>
          <p:nvPr/>
        </p:nvPicPr>
        <p:blipFill>
          <a:blip r:embed="rId7"/>
          <a:stretch>
            <a:fillRect/>
          </a:stretch>
        </p:blipFill>
        <p:spPr>
          <a:xfrm>
            <a:off x="6737770" y="96688"/>
            <a:ext cx="2310800" cy="453606"/>
          </a:xfrm>
          <a:prstGeom prst="rect">
            <a:avLst/>
          </a:prstGeom>
        </p:spPr>
      </p:pic>
      <p:sp>
        <p:nvSpPr>
          <p:cNvPr id="2" name="Rectangle 1">
            <a:extLst>
              <a:ext uri="{FF2B5EF4-FFF2-40B4-BE49-F238E27FC236}">
                <a16:creationId xmlns:a16="http://schemas.microsoft.com/office/drawing/2014/main" id="{A4206FCA-066B-66B9-5262-E342C3B7B4D9}"/>
              </a:ext>
            </a:extLst>
          </p:cNvPr>
          <p:cNvSpPr/>
          <p:nvPr/>
        </p:nvSpPr>
        <p:spPr bwMode="auto">
          <a:xfrm>
            <a:off x="7113838" y="870089"/>
            <a:ext cx="1508338"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spcBef>
                <a:spcPts val="0"/>
              </a:spcBef>
              <a:spcAft>
                <a:spcPts val="0"/>
              </a:spcAft>
              <a:defRPr/>
            </a:pPr>
            <a:r>
              <a:rPr lang="en-US" sz="1200" dirty="0">
                <a:solidFill>
                  <a:srgbClr val="000000"/>
                </a:solidFill>
                <a:latin typeface="Calibri"/>
                <a:ea typeface="Calibri"/>
                <a:cs typeface="Calibri"/>
              </a:rPr>
              <a:t>Camping</a:t>
            </a:r>
            <a:endParaRPr lang="en-US" dirty="0"/>
          </a:p>
        </p:txBody>
      </p:sp>
      <p:sp>
        <p:nvSpPr>
          <p:cNvPr id="6" name="Rectangle 5">
            <a:extLst>
              <a:ext uri="{FF2B5EF4-FFF2-40B4-BE49-F238E27FC236}">
                <a16:creationId xmlns:a16="http://schemas.microsoft.com/office/drawing/2014/main" id="{1181E2AE-0A52-F323-5F42-0D8B551C8F74}"/>
              </a:ext>
            </a:extLst>
          </p:cNvPr>
          <p:cNvSpPr/>
          <p:nvPr/>
        </p:nvSpPr>
        <p:spPr bwMode="auto">
          <a:xfrm>
            <a:off x="4963346" y="870089"/>
            <a:ext cx="1508338" cy="282031"/>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200">
                <a:solidFill>
                  <a:srgbClr val="000000"/>
                </a:solidFill>
                <a:latin typeface="Calibri"/>
                <a:ea typeface="Calibri"/>
                <a:cs typeface="Calibri"/>
              </a:rPr>
              <a:t>Watercrafts</a:t>
            </a:r>
            <a:endParaRPr lang="en-US" sz="1200">
              <a:solidFill>
                <a:srgbClr val="000000"/>
              </a:solidFill>
              <a:latin typeface="Calibri" panose="020F0502020204030204" pitchFamily="34" charset="0"/>
              <a:ea typeface="Calibri"/>
              <a:cs typeface="Calibri" panose="020F0502020204030204" pitchFamily="34" charset="0"/>
            </a:endParaRPr>
          </a:p>
        </p:txBody>
      </p:sp>
      <p:graphicFrame>
        <p:nvGraphicFramePr>
          <p:cNvPr id="10" name="Chart 9" descr="Chart type: Clustered Column. 'Watercraft Recreation'&#10;&#10;Description automatically generated">
            <a:extLst>
              <a:ext uri="{FF2B5EF4-FFF2-40B4-BE49-F238E27FC236}">
                <a16:creationId xmlns:a16="http://schemas.microsoft.com/office/drawing/2014/main" id="{06A413F0-8609-D46F-5058-2065740A32F7}"/>
              </a:ext>
              <a:ext uri="{147F2762-F138-4A5C-976F-8EAC2B608ADB}">
                <a16:predDERef xmlns:a16="http://schemas.microsoft.com/office/drawing/2014/main" pred="{ADA48B5D-965B-C112-0243-FA618FC5467A}"/>
              </a:ext>
            </a:extLst>
          </p:cNvPr>
          <p:cNvGraphicFramePr>
            <a:graphicFrameLocks/>
          </p:cNvGraphicFramePr>
          <p:nvPr>
            <p:extLst>
              <p:ext uri="{D42A27DB-BD31-4B8C-83A1-F6EECF244321}">
                <p14:modId xmlns:p14="http://schemas.microsoft.com/office/powerpoint/2010/main" val="2713302091"/>
              </p:ext>
            </p:extLst>
          </p:nvPr>
        </p:nvGraphicFramePr>
        <p:xfrm>
          <a:off x="4689949" y="1417178"/>
          <a:ext cx="2020378" cy="1837428"/>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1" name="Chart 10">
            <a:extLst>
              <a:ext uri="{FF2B5EF4-FFF2-40B4-BE49-F238E27FC236}">
                <a16:creationId xmlns:a16="http://schemas.microsoft.com/office/drawing/2014/main" id="{679E95B7-CB9C-E9DC-C8C1-5C1CEC8CD3AC}"/>
              </a:ext>
              <a:ext uri="{147F2762-F138-4A5C-976F-8EAC2B608ADB}">
                <a16:predDERef xmlns:a16="http://schemas.microsoft.com/office/drawing/2014/main" pred="{4C230D16-161D-E287-CE9B-0E68411091B6}"/>
              </a:ext>
            </a:extLst>
          </p:cNvPr>
          <p:cNvGraphicFramePr>
            <a:graphicFrameLocks/>
          </p:cNvGraphicFramePr>
          <p:nvPr>
            <p:extLst>
              <p:ext uri="{D42A27DB-BD31-4B8C-83A1-F6EECF244321}">
                <p14:modId xmlns:p14="http://schemas.microsoft.com/office/powerpoint/2010/main" val="2983348404"/>
              </p:ext>
            </p:extLst>
          </p:nvPr>
        </p:nvGraphicFramePr>
        <p:xfrm>
          <a:off x="292981" y="1417178"/>
          <a:ext cx="2078966" cy="1837427"/>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4" name="Chart 13">
            <a:extLst>
              <a:ext uri="{FF2B5EF4-FFF2-40B4-BE49-F238E27FC236}">
                <a16:creationId xmlns:a16="http://schemas.microsoft.com/office/drawing/2014/main" id="{5625F320-DCA6-8783-DFAA-EE42B347E8EB}"/>
              </a:ext>
              <a:ext uri="{147F2762-F138-4A5C-976F-8EAC2B608ADB}">
                <a16:predDERef xmlns:a16="http://schemas.microsoft.com/office/drawing/2014/main" pred="{679E95B7-CB9C-E9DC-C8C1-5C1CEC8CD3AC}"/>
              </a:ext>
            </a:extLst>
          </p:cNvPr>
          <p:cNvGraphicFramePr>
            <a:graphicFrameLocks/>
          </p:cNvGraphicFramePr>
          <p:nvPr>
            <p:extLst>
              <p:ext uri="{D42A27DB-BD31-4B8C-83A1-F6EECF244321}">
                <p14:modId xmlns:p14="http://schemas.microsoft.com/office/powerpoint/2010/main" val="2412070490"/>
              </p:ext>
            </p:extLst>
          </p:nvPr>
        </p:nvGraphicFramePr>
        <p:xfrm>
          <a:off x="2459835" y="1417179"/>
          <a:ext cx="2142226" cy="1837426"/>
        </p:xfrm>
        <a:graphic>
          <a:graphicData uri="http://schemas.openxmlformats.org/drawingml/2006/chart">
            <c:chart xmlns:c="http://schemas.openxmlformats.org/drawingml/2006/chart" xmlns:r="http://schemas.openxmlformats.org/officeDocument/2006/relationships" r:id="rId10"/>
          </a:graphicData>
        </a:graphic>
      </p:graphicFrame>
      <p:sp>
        <p:nvSpPr>
          <p:cNvPr id="15" name="Rectangle 14">
            <a:extLst>
              <a:ext uri="{FF2B5EF4-FFF2-40B4-BE49-F238E27FC236}">
                <a16:creationId xmlns:a16="http://schemas.microsoft.com/office/drawing/2014/main" id="{3CB3AF2E-DD96-A540-99A3-0B73938DCD20}"/>
              </a:ext>
            </a:extLst>
          </p:cNvPr>
          <p:cNvSpPr/>
          <p:nvPr/>
        </p:nvSpPr>
        <p:spPr bwMode="auto">
          <a:xfrm>
            <a:off x="2459835" y="3486794"/>
            <a:ext cx="2140396" cy="134929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sz="1200" dirty="0">
                <a:solidFill>
                  <a:srgbClr val="000000"/>
                </a:solidFill>
                <a:latin typeface="Calibri" panose="020F0502020204030204" pitchFamily="34" charset="0"/>
                <a:ea typeface="Calibri"/>
                <a:cs typeface="Calibri" panose="020F0502020204030204" pitchFamily="34" charset="0"/>
              </a:rPr>
              <a:t>Diving revenue comes from the SCUBAPRO brand and is driven by global recreational and professional diving activity</a:t>
            </a:r>
          </a:p>
          <a:p>
            <a:pPr algn="ctr">
              <a:spcBef>
                <a:spcPts val="0"/>
              </a:spcBef>
              <a:spcAft>
                <a:spcPts val="0"/>
              </a:spcAft>
              <a:defRPr/>
            </a:pPr>
            <a:r>
              <a:rPr lang="en-US" sz="1200" dirty="0">
                <a:solidFill>
                  <a:srgbClr val="F2C755"/>
                </a:solidFill>
                <a:ea typeface="+mn-lt"/>
                <a:cs typeface="+mn-lt"/>
              </a:rPr>
              <a:t>.</a:t>
            </a:r>
            <a:endParaRPr lang="en-US" dirty="0">
              <a:solidFill>
                <a:srgbClr val="F2C755"/>
              </a:solidFill>
              <a:cs typeface="Arial"/>
            </a:endParaRPr>
          </a:p>
        </p:txBody>
      </p:sp>
      <p:sp>
        <p:nvSpPr>
          <p:cNvPr id="17" name="Rectangle 16">
            <a:extLst>
              <a:ext uri="{FF2B5EF4-FFF2-40B4-BE49-F238E27FC236}">
                <a16:creationId xmlns:a16="http://schemas.microsoft.com/office/drawing/2014/main" id="{0CA7443B-5CBA-B2F3-9414-FA87C750920D}"/>
              </a:ext>
            </a:extLst>
          </p:cNvPr>
          <p:cNvSpPr/>
          <p:nvPr/>
        </p:nvSpPr>
        <p:spPr bwMode="auto">
          <a:xfrm>
            <a:off x="4684948" y="3486794"/>
            <a:ext cx="2025379" cy="134929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b" anchorCtr="1"/>
          <a:lstStyle/>
          <a:p>
            <a:pPr algn="ctr">
              <a:defRPr/>
            </a:pPr>
            <a:r>
              <a:rPr lang="en-US" sz="1200" dirty="0">
                <a:solidFill>
                  <a:srgbClr val="000000"/>
                </a:solidFill>
                <a:latin typeface="Calibri" panose="020F0502020204030204" pitchFamily="34" charset="0"/>
                <a:ea typeface="Calibri"/>
                <a:cs typeface="Calibri" panose="020F0502020204030204" pitchFamily="34" charset="0"/>
              </a:rPr>
              <a:t>Watercraft revenue comes from canoes, kayaks, and accessories, dependent on paddle-sports participation and retailer inventory levels</a:t>
            </a:r>
          </a:p>
          <a:p>
            <a:pPr algn="ctr">
              <a:defRPr/>
            </a:pPr>
            <a:endParaRPr lang="en-US" sz="1200" dirty="0">
              <a:solidFill>
                <a:srgbClr val="000000"/>
              </a:solidFill>
              <a:cs typeface="Arial"/>
            </a:endParaRPr>
          </a:p>
        </p:txBody>
      </p:sp>
      <p:sp>
        <p:nvSpPr>
          <p:cNvPr id="18" name="Rectangle 17">
            <a:extLst>
              <a:ext uri="{FF2B5EF4-FFF2-40B4-BE49-F238E27FC236}">
                <a16:creationId xmlns:a16="http://schemas.microsoft.com/office/drawing/2014/main" id="{7BA305A5-88C2-2E75-B8A7-CD2D654B541C}"/>
              </a:ext>
            </a:extLst>
          </p:cNvPr>
          <p:cNvSpPr/>
          <p:nvPr/>
        </p:nvSpPr>
        <p:spPr bwMode="auto">
          <a:xfrm>
            <a:off x="6795044" y="3492028"/>
            <a:ext cx="2111642" cy="1341710"/>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nchorCtr="0"/>
          <a:lstStyle/>
          <a:p>
            <a:pPr algn="ctr">
              <a:defRPr/>
            </a:pPr>
            <a:r>
              <a:rPr lang="en-US" sz="1200" dirty="0">
                <a:solidFill>
                  <a:srgbClr val="000000"/>
                </a:solidFill>
                <a:latin typeface="Calibri" panose="020F0502020204030204" pitchFamily="34" charset="0"/>
                <a:ea typeface="Calibri"/>
                <a:cs typeface="Calibri" panose="020F0502020204030204" pitchFamily="34" charset="0"/>
              </a:rPr>
              <a:t>Camping revenue includes Eureka! tents and Jetboil stoves, with sales tied to seasonal outdoor participation</a:t>
            </a:r>
          </a:p>
          <a:p>
            <a:pPr algn="ctr">
              <a:spcBef>
                <a:spcPts val="0"/>
              </a:spcBef>
              <a:spcAft>
                <a:spcPts val="0"/>
              </a:spcAft>
              <a:defRPr/>
            </a:pPr>
            <a:endParaRPr lang="en-US" sz="1200" dirty="0">
              <a:solidFill>
                <a:srgbClr val="000000"/>
              </a:solidFill>
              <a:cs typeface="Arial"/>
            </a:endParaRPr>
          </a:p>
        </p:txBody>
      </p:sp>
      <p:graphicFrame>
        <p:nvGraphicFramePr>
          <p:cNvPr id="4" name="Chart 3">
            <a:extLst>
              <a:ext uri="{FF2B5EF4-FFF2-40B4-BE49-F238E27FC236}">
                <a16:creationId xmlns:a16="http://schemas.microsoft.com/office/drawing/2014/main" id="{F8BAA2D1-E591-ACF2-5D25-B356C4517464}"/>
              </a:ext>
              <a:ext uri="{147F2762-F138-4A5C-976F-8EAC2B608ADB}">
                <a16:predDERef xmlns:a16="http://schemas.microsoft.com/office/drawing/2014/main" pred="{5625F320-DCA6-8783-DFAA-EE42B347E8EB}"/>
              </a:ext>
            </a:extLst>
          </p:cNvPr>
          <p:cNvGraphicFramePr>
            <a:graphicFrameLocks/>
          </p:cNvGraphicFramePr>
          <p:nvPr>
            <p:extLst>
              <p:ext uri="{D42A27DB-BD31-4B8C-83A1-F6EECF244321}">
                <p14:modId xmlns:p14="http://schemas.microsoft.com/office/powerpoint/2010/main" val="1309115957"/>
              </p:ext>
            </p:extLst>
          </p:nvPr>
        </p:nvGraphicFramePr>
        <p:xfrm>
          <a:off x="6798215" y="1411247"/>
          <a:ext cx="2105565" cy="1843358"/>
        </p:xfrm>
        <a:graphic>
          <a:graphicData uri="http://schemas.openxmlformats.org/drawingml/2006/chart">
            <c:chart xmlns:c="http://schemas.openxmlformats.org/drawingml/2006/chart" xmlns:r="http://schemas.openxmlformats.org/officeDocument/2006/relationships" r:id="rId11"/>
          </a:graphicData>
        </a:graphic>
      </p:graphicFrame>
      <p:sp>
        <p:nvSpPr>
          <p:cNvPr id="8" name="Rectangle 7">
            <a:extLst>
              <a:ext uri="{FF2B5EF4-FFF2-40B4-BE49-F238E27FC236}">
                <a16:creationId xmlns:a16="http://schemas.microsoft.com/office/drawing/2014/main" id="{9280E63B-767C-6DF7-B88E-6FB841026544}"/>
              </a:ext>
            </a:extLst>
          </p:cNvPr>
          <p:cNvSpPr/>
          <p:nvPr/>
        </p:nvSpPr>
        <p:spPr bwMode="auto">
          <a:xfrm>
            <a:off x="292981" y="4952833"/>
            <a:ext cx="8599328" cy="1035077"/>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nchorCtr="0"/>
          <a:lstStyle/>
          <a:p>
            <a:pPr algn="ctr">
              <a:spcBef>
                <a:spcPts val="0"/>
              </a:spcBef>
              <a:spcAft>
                <a:spcPts val="0"/>
              </a:spcAft>
              <a:defRPr/>
            </a:pPr>
            <a:r>
              <a:rPr lang="en-US" sz="1200" dirty="0">
                <a:solidFill>
                  <a:srgbClr val="000000"/>
                </a:solidFill>
                <a:latin typeface="Calibri" panose="020F0502020204030204" pitchFamily="34" charset="0"/>
                <a:ea typeface="Calibri"/>
                <a:cs typeface="Calibri" panose="020F0502020204030204" pitchFamily="34" charset="0"/>
              </a:rPr>
              <a:t>Growth rates across all four segments have cooled meaningfully since 2021, reflecting a full reset from the temporary pandemic demand surge. Fishing’s contraction and the slower, inconsistent growth in Diving and Watercraft highlight a consumer environment that has normalized rather than collapsed. Camping continues to show smaller, variable growth tied to seasonal behavior. These patterns signal that demand has largely stabilized at new baseline levels. Looking forward, the setup points less to a rebound in top-line growth and more toward margin recovery as costs normalize, inventories clear, and JOUT returns to a healthier profitability foundation</a:t>
            </a:r>
          </a:p>
        </p:txBody>
      </p:sp>
    </p:spTree>
    <p:extLst>
      <p:ext uri="{BB962C8B-B14F-4D97-AF65-F5344CB8AC3E}">
        <p14:creationId xmlns:p14="http://schemas.microsoft.com/office/powerpoint/2010/main" val="419991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61935-90ED-5E9B-E978-6CBD58F7E21A}"/>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F708BFC9-E78D-4E1E-F0C6-CA18C0AE96CF}"/>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B178D255-51A3-EFE8-C616-D3DB4312291D}"/>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5</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D8ECB18E-3CD7-443F-7104-C518E52BB155}"/>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F9D36D42-3526-F0AD-8362-C3B4052FB075}"/>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1A4F5711-6498-0222-B1A8-6A66AE592319}"/>
                </a:ext>
              </a:extLst>
            </p:cNvPr>
            <p:cNvSpPr/>
            <p:nvPr/>
          </p:nvSpPr>
          <p:spPr bwMode="auto">
            <a:xfrm>
              <a:off x="2280317"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D541A12-EEB9-7C1F-33E4-00D746D2242F}"/>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843BF9FA-56DD-2707-9130-AD25C786A4FD}"/>
                  </a:ext>
                </a:extLst>
              </p:cNvPr>
              <p:cNvSpPr/>
              <p:nvPr/>
            </p:nvSpPr>
            <p:spPr bwMode="auto">
              <a:xfrm>
                <a:off x="1780524" y="1001320"/>
                <a:ext cx="1261872" cy="149661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6E54976-9A6B-D918-9B66-3A6D3565CD95}"/>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7E1986BE-B095-0067-0FA8-9C09C43A2E9C}"/>
                    </a:ext>
                  </a:extLst>
                </p:cNvPr>
                <p:cNvSpPr/>
                <p:nvPr/>
              </p:nvSpPr>
              <p:spPr bwMode="auto">
                <a:xfrm>
                  <a:off x="1839668" y="1142389"/>
                  <a:ext cx="1143584"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B8157159-A1BA-C4F6-4D8A-537CFFF35900}"/>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D8B4FAAF-6D92-DC29-9F3A-9E0164DFC291}"/>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0D18500C-562B-706A-18EC-941CE23E8835}"/>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524D0064-F1A8-BB83-3EC3-960E96CBEBCF}"/>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DAB81A6E-D3C7-7085-16BF-D63C6AE3A4D9}"/>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4BB22598-6A68-9CB7-12E1-97D1CDA95EBD}"/>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C63EE5BB-B745-88AA-91D8-1020F85A7B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48E0EEE1-4144-A08B-B7EB-3DFB7D943B3D}"/>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4396D4D6-8C5D-DC13-8F6E-69DDC4C08D80}"/>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629248BE-D80A-3B10-A378-BA94AF4307D2}"/>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6FF901A3-B255-5C25-2EF6-D189FF00F5C9}"/>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A99D1A02-4F28-E454-FDB9-DC405A1EFD90}"/>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3AD9FF26-0D04-3B98-7FEA-86B794BE010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7AAA3AD1-ABDB-9C2E-F348-662A946A451F}"/>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128D1461-817E-CCEE-8C62-4B9372791E75}"/>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AC5C47E9-0884-EEF6-E181-33095BB8DA60}"/>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7E3B7F82-F878-C4C3-1880-B65630C89473}"/>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0ED2E7AC-3DBD-9A52-8FDC-A63E99E0892E}"/>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5BFC74A4-B736-CFF4-33C9-4277CA19EC5F}"/>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b="1">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71A9F01F-E3E2-23DE-D9C0-2AC25217E407}"/>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CF71CD38-EC46-D61D-9885-43B0B00219A7}"/>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E49183A4-7C53-062F-BF18-A7FAFA78FB59}"/>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31731CB2-1AC2-15AB-B6EA-04158ABA59EA}"/>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b="1">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174722EB-8846-FDB6-C5A1-20E03A8027F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940" y="984359"/>
                <a:ext cx="1117478" cy="1091784"/>
              </a:xfrm>
              <a:prstGeom prst="rect">
                <a:avLst/>
              </a:prstGeom>
            </p:spPr>
          </p:pic>
        </p:grpSp>
      </p:grpSp>
      <p:grpSp>
        <p:nvGrpSpPr>
          <p:cNvPr id="123" name="Group 122">
            <a:extLst>
              <a:ext uri="{FF2B5EF4-FFF2-40B4-BE49-F238E27FC236}">
                <a16:creationId xmlns:a16="http://schemas.microsoft.com/office/drawing/2014/main" id="{BAD3955A-D240-4CDD-930A-D659A4981032}"/>
              </a:ext>
            </a:extLst>
          </p:cNvPr>
          <p:cNvGrpSpPr/>
          <p:nvPr/>
        </p:nvGrpSpPr>
        <p:grpSpPr>
          <a:xfrm>
            <a:off x="597316" y="5097164"/>
            <a:ext cx="7913021" cy="882922"/>
            <a:chOff x="-1322626" y="4599864"/>
            <a:chExt cx="8123854" cy="1072146"/>
          </a:xfrm>
        </p:grpSpPr>
        <p:sp>
          <p:nvSpPr>
            <p:cNvPr id="84" name="Rectangle 83">
              <a:extLst>
                <a:ext uri="{FF2B5EF4-FFF2-40B4-BE49-F238E27FC236}">
                  <a16:creationId xmlns:a16="http://schemas.microsoft.com/office/drawing/2014/main" id="{45CED9AC-885A-04D0-F204-78C0840D3E44}"/>
                </a:ext>
              </a:extLst>
            </p:cNvPr>
            <p:cNvSpPr/>
            <p:nvPr/>
          </p:nvSpPr>
          <p:spPr bwMode="auto">
            <a:xfrm>
              <a:off x="722946" y="4599864"/>
              <a:ext cx="1957547"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400" b="1" dirty="0">
                  <a:solidFill>
                    <a:srgbClr val="000000"/>
                  </a:solidFill>
                  <a:latin typeface="Calibri"/>
                  <a:ea typeface="Calibri"/>
                  <a:cs typeface="Calibri"/>
                </a:rPr>
                <a:t>Lack of Demand</a:t>
              </a:r>
              <a:endParaRPr lang="en-US" sz="1400" b="1" dirty="0">
                <a:solidFill>
                  <a:srgbClr val="000000"/>
                </a:solidFill>
                <a:latin typeface="Calibri" panose="020F0502020204030204" pitchFamily="34" charset="0"/>
                <a:ea typeface="Calibri"/>
                <a:cs typeface="Calibri" panose="020F0502020204030204" pitchFamily="34" charset="0"/>
              </a:endParaRPr>
            </a:p>
          </p:txBody>
        </p:sp>
        <p:sp>
          <p:nvSpPr>
            <p:cNvPr id="121" name="Rectangle 120">
              <a:extLst>
                <a:ext uri="{FF2B5EF4-FFF2-40B4-BE49-F238E27FC236}">
                  <a16:creationId xmlns:a16="http://schemas.microsoft.com/office/drawing/2014/main" id="{271C1863-18F7-2B97-3705-E2BD9A47A51E}"/>
                </a:ext>
              </a:extLst>
            </p:cNvPr>
            <p:cNvSpPr/>
            <p:nvPr/>
          </p:nvSpPr>
          <p:spPr bwMode="auto">
            <a:xfrm>
              <a:off x="-1322626" y="4599864"/>
              <a:ext cx="1957547"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400" b="1" dirty="0">
                  <a:solidFill>
                    <a:srgbClr val="000000"/>
                  </a:solidFill>
                  <a:latin typeface="Calibri"/>
                  <a:ea typeface="Calibri"/>
                  <a:cs typeface="Calibri"/>
                </a:rPr>
                <a:t>Demand Reset Today, Margin Recovery Ahead</a:t>
              </a:r>
              <a:endParaRPr lang="en-US" sz="1400" b="1" dirty="0">
                <a:solidFill>
                  <a:schemeClr val="tx1"/>
                </a:solidFill>
                <a:latin typeface="Calibri" panose="020F0502020204030204" pitchFamily="34" charset="0"/>
                <a:ea typeface="Calibri"/>
                <a:cs typeface="Calibri" panose="020F0502020204030204" pitchFamily="34" charset="0"/>
              </a:endParaRPr>
            </a:p>
          </p:txBody>
        </p:sp>
        <p:sp>
          <p:nvSpPr>
            <p:cNvPr id="122" name="Rectangle 121">
              <a:extLst>
                <a:ext uri="{FF2B5EF4-FFF2-40B4-BE49-F238E27FC236}">
                  <a16:creationId xmlns:a16="http://schemas.microsoft.com/office/drawing/2014/main" id="{784E1F9E-D1B4-1C49-9860-5625225BC7B0}"/>
                </a:ext>
              </a:extLst>
            </p:cNvPr>
            <p:cNvSpPr/>
            <p:nvPr/>
          </p:nvSpPr>
          <p:spPr bwMode="auto">
            <a:xfrm>
              <a:off x="4843679" y="4599864"/>
              <a:ext cx="1957549"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spcBef>
                  <a:spcPts val="0"/>
                </a:spcBef>
                <a:spcAft>
                  <a:spcPts val="0"/>
                </a:spcAft>
                <a:defRPr/>
              </a:pPr>
              <a:r>
                <a:rPr lang="en-US" sz="1400" b="1" dirty="0">
                  <a:solidFill>
                    <a:srgbClr val="000000"/>
                  </a:solidFill>
                  <a:latin typeface="Calibri"/>
                  <a:ea typeface="Calibri"/>
                  <a:cs typeface="Calibri"/>
                </a:rPr>
                <a:t>Inventory and Channel Normalization</a:t>
              </a:r>
              <a:endParaRPr lang="en-US" dirty="0">
                <a:solidFill>
                  <a:srgbClr val="000000"/>
                </a:solidFill>
              </a:endParaRPr>
            </a:p>
          </p:txBody>
        </p:sp>
      </p:grpSp>
      <p:sp>
        <p:nvSpPr>
          <p:cNvPr id="9" name="TextBox 8">
            <a:extLst>
              <a:ext uri="{FF2B5EF4-FFF2-40B4-BE49-F238E27FC236}">
                <a16:creationId xmlns:a16="http://schemas.microsoft.com/office/drawing/2014/main" id="{A0D11993-10C3-F340-EB63-A9D0C5B050B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5</a:t>
            </a:fld>
            <a:endParaRPr lang="en-US" sz="140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E4D86285-721A-18DD-4D00-C20FB8CE1B16}"/>
              </a:ext>
            </a:extLst>
          </p:cNvPr>
          <p:cNvSpPr/>
          <p:nvPr/>
        </p:nvSpPr>
        <p:spPr bwMode="auto">
          <a:xfrm>
            <a:off x="4597329" y="5097164"/>
            <a:ext cx="1906745" cy="882922"/>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400" b="1" dirty="0">
                <a:solidFill>
                  <a:srgbClr val="000000"/>
                </a:solidFill>
                <a:latin typeface="Calibri"/>
                <a:ea typeface="Calibri"/>
                <a:cs typeface="Calibri"/>
              </a:rPr>
              <a:t>Financial Strength to Get Through Tariffs</a:t>
            </a:r>
            <a:endParaRPr lang="en-US" sz="1400" b="1" dirty="0">
              <a:solidFill>
                <a:srgbClr val="000000"/>
              </a:solidFill>
              <a:latin typeface="Calibri" panose="020F0502020204030204" pitchFamily="34" charset="0"/>
              <a:ea typeface="Calibri"/>
              <a:cs typeface="Calibri" panose="020F0502020204030204" pitchFamily="34" charset="0"/>
            </a:endParaRPr>
          </a:p>
        </p:txBody>
      </p:sp>
    </p:spTree>
    <p:extLst>
      <p:ext uri="{BB962C8B-B14F-4D97-AF65-F5344CB8AC3E}">
        <p14:creationId xmlns:p14="http://schemas.microsoft.com/office/powerpoint/2010/main" val="3885571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C7AF-EC41-D7DE-BD0B-985211BE7216}"/>
            </a:ext>
          </a:extLst>
        </p:cNvPr>
        <p:cNvGrpSpPr/>
        <p:nvPr/>
      </p:nvGrpSpPr>
      <p:grpSpPr>
        <a:xfrm>
          <a:off x="0" y="0"/>
          <a:ext cx="0" cy="0"/>
          <a:chOff x="0" y="0"/>
          <a:chExt cx="0" cy="0"/>
        </a:xfrm>
      </p:grpSpPr>
      <p:grpSp>
        <p:nvGrpSpPr>
          <p:cNvPr id="56" name="Group 37">
            <a:extLst>
              <a:ext uri="{FF2B5EF4-FFF2-40B4-BE49-F238E27FC236}">
                <a16:creationId xmlns:a16="http://schemas.microsoft.com/office/drawing/2014/main" id="{8CB08CB4-90D0-A3BE-F809-B6741AB61CB3}"/>
              </a:ext>
            </a:extLst>
          </p:cNvPr>
          <p:cNvGrpSpPr>
            <a:grpSpLocks/>
          </p:cNvGrpSpPr>
          <p:nvPr/>
        </p:nvGrpSpPr>
        <p:grpSpPr bwMode="auto">
          <a:xfrm>
            <a:off x="2179" y="77082"/>
            <a:ext cx="9144000" cy="576857"/>
            <a:chOff x="-2" y="-17873"/>
            <a:chExt cx="12192002" cy="769372"/>
          </a:xfrm>
        </p:grpSpPr>
        <p:sp>
          <p:nvSpPr>
            <p:cNvPr id="57" name="Title 1">
              <a:extLst>
                <a:ext uri="{FF2B5EF4-FFF2-40B4-BE49-F238E27FC236}">
                  <a16:creationId xmlns:a16="http://schemas.microsoft.com/office/drawing/2014/main" id="{35777718-2642-926D-D934-D7AE1017C3C8}"/>
                </a:ext>
              </a:extLst>
            </p:cNvPr>
            <p:cNvSpPr txBox="1">
              <a:spLocks/>
            </p:cNvSpPr>
            <p:nvPr/>
          </p:nvSpPr>
          <p:spPr>
            <a:xfrm>
              <a:off x="-2" y="-17873"/>
              <a:ext cx="11270514" cy="733643"/>
            </a:xfrm>
            <a:prstGeom prst="rect">
              <a:avLst/>
            </a:prstGeom>
            <a:noFill/>
            <a:ln>
              <a:noFill/>
            </a:ln>
          </p:spPr>
          <p:txBody>
            <a:bodyPr lIns="91440" tIns="45720" rIns="91440" bIns="4572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a:ea typeface="Calibri"/>
                  <a:cs typeface="Calibri"/>
                </a:rPr>
                <a:t>Driver: Demand Reset Today, Margin Recovery Ahead</a:t>
              </a:r>
            </a:p>
          </p:txBody>
        </p:sp>
        <p:grpSp>
          <p:nvGrpSpPr>
            <p:cNvPr id="58" name="Group 39">
              <a:extLst>
                <a:ext uri="{FF2B5EF4-FFF2-40B4-BE49-F238E27FC236}">
                  <a16:creationId xmlns:a16="http://schemas.microsoft.com/office/drawing/2014/main" id="{1D14C929-A765-C41D-9DC2-C827184D5319}"/>
                </a:ext>
              </a:extLst>
            </p:cNvPr>
            <p:cNvGrpSpPr>
              <a:grpSpLocks/>
            </p:cNvGrpSpPr>
            <p:nvPr/>
          </p:nvGrpSpPr>
          <p:grpSpPr bwMode="auto">
            <a:xfrm>
              <a:off x="-2" y="645614"/>
              <a:ext cx="12192002" cy="105885"/>
              <a:chOff x="2373524" y="569416"/>
              <a:chExt cx="6496168" cy="87055"/>
            </a:xfrm>
          </p:grpSpPr>
          <p:sp>
            <p:nvSpPr>
              <p:cNvPr id="59" name="Rectangle 58">
                <a:extLst>
                  <a:ext uri="{FF2B5EF4-FFF2-40B4-BE49-F238E27FC236}">
                    <a16:creationId xmlns:a16="http://schemas.microsoft.com/office/drawing/2014/main" id="{47ADB45F-5DD3-7F56-52DB-9B9422FC696A}"/>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61" name="Rectangle 60">
                <a:extLst>
                  <a:ext uri="{FF2B5EF4-FFF2-40B4-BE49-F238E27FC236}">
                    <a16:creationId xmlns:a16="http://schemas.microsoft.com/office/drawing/2014/main" id="{7F3B88D1-87E8-196A-9003-FCD3AB17442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187" name="Group 186">
            <a:extLst>
              <a:ext uri="{FF2B5EF4-FFF2-40B4-BE49-F238E27FC236}">
                <a16:creationId xmlns:a16="http://schemas.microsoft.com/office/drawing/2014/main" id="{FC4F5F29-35EE-7378-719D-2248D0784982}"/>
              </a:ext>
            </a:extLst>
          </p:cNvPr>
          <p:cNvGrpSpPr/>
          <p:nvPr/>
        </p:nvGrpSpPr>
        <p:grpSpPr>
          <a:xfrm>
            <a:off x="0" y="6265664"/>
            <a:ext cx="9144000" cy="457200"/>
            <a:chOff x="0" y="2732884"/>
            <a:chExt cx="9144000" cy="457200"/>
          </a:xfrm>
        </p:grpSpPr>
        <p:sp>
          <p:nvSpPr>
            <p:cNvPr id="188" name="Rectangle 187">
              <a:extLst>
                <a:ext uri="{FF2B5EF4-FFF2-40B4-BE49-F238E27FC236}">
                  <a16:creationId xmlns:a16="http://schemas.microsoft.com/office/drawing/2014/main" id="{E9BBC8B1-78C7-2EF0-7E46-921946816C6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89" name="Group 188">
              <a:extLst>
                <a:ext uri="{FF2B5EF4-FFF2-40B4-BE49-F238E27FC236}">
                  <a16:creationId xmlns:a16="http://schemas.microsoft.com/office/drawing/2014/main" id="{BE536046-7DBD-FFB2-8436-C8738A196F05}"/>
                </a:ext>
              </a:extLst>
            </p:cNvPr>
            <p:cNvGrpSpPr/>
            <p:nvPr/>
          </p:nvGrpSpPr>
          <p:grpSpPr>
            <a:xfrm>
              <a:off x="5021579" y="2732884"/>
              <a:ext cx="545306" cy="457200"/>
              <a:chOff x="4981575" y="2712036"/>
              <a:chExt cx="545306" cy="457200"/>
            </a:xfrm>
          </p:grpSpPr>
          <p:sp>
            <p:nvSpPr>
              <p:cNvPr id="205" name="Oval 204">
                <a:extLst>
                  <a:ext uri="{FF2B5EF4-FFF2-40B4-BE49-F238E27FC236}">
                    <a16:creationId xmlns:a16="http://schemas.microsoft.com/office/drawing/2014/main" id="{A4FC277E-7376-CD3B-154F-AE4F807120DC}"/>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6" name="Picture 205" descr="Related image">
                <a:extLst>
                  <a:ext uri="{FF2B5EF4-FFF2-40B4-BE49-F238E27FC236}">
                    <a16:creationId xmlns:a16="http://schemas.microsoft.com/office/drawing/2014/main" id="{0C79CC27-9B4C-05CC-F2BD-90BDA4E75B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190" name="Group 189">
              <a:extLst>
                <a:ext uri="{FF2B5EF4-FFF2-40B4-BE49-F238E27FC236}">
                  <a16:creationId xmlns:a16="http://schemas.microsoft.com/office/drawing/2014/main" id="{CA157549-155E-94B7-3E52-0073E77F5CC5}"/>
                </a:ext>
              </a:extLst>
            </p:cNvPr>
            <p:cNvGrpSpPr/>
            <p:nvPr/>
          </p:nvGrpSpPr>
          <p:grpSpPr>
            <a:xfrm>
              <a:off x="7910513" y="2732884"/>
              <a:ext cx="545306" cy="457200"/>
              <a:chOff x="7731919" y="2712036"/>
              <a:chExt cx="545306" cy="457200"/>
            </a:xfrm>
          </p:grpSpPr>
          <p:sp>
            <p:nvSpPr>
              <p:cNvPr id="203" name="Oval 202">
                <a:extLst>
                  <a:ext uri="{FF2B5EF4-FFF2-40B4-BE49-F238E27FC236}">
                    <a16:creationId xmlns:a16="http://schemas.microsoft.com/office/drawing/2014/main" id="{1F98D0C8-99D4-BB43-263C-7340637FEDD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04" name="Picture 203" descr="Related image">
                <a:extLst>
                  <a:ext uri="{FF2B5EF4-FFF2-40B4-BE49-F238E27FC236}">
                    <a16:creationId xmlns:a16="http://schemas.microsoft.com/office/drawing/2014/main" id="{BE5FE0D4-D272-9865-F068-791680FF6F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91" name="Oval 190">
              <a:extLst>
                <a:ext uri="{FF2B5EF4-FFF2-40B4-BE49-F238E27FC236}">
                  <a16:creationId xmlns:a16="http://schemas.microsoft.com/office/drawing/2014/main" id="{2116ED7B-119F-10FB-D991-2333C423CBF8}"/>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2" name="Group 191">
              <a:extLst>
                <a:ext uri="{FF2B5EF4-FFF2-40B4-BE49-F238E27FC236}">
                  <a16:creationId xmlns:a16="http://schemas.microsoft.com/office/drawing/2014/main" id="{389A8809-9DFF-3C1F-CD3A-47F9A3709E2E}"/>
                </a:ext>
              </a:extLst>
            </p:cNvPr>
            <p:cNvGrpSpPr/>
            <p:nvPr/>
          </p:nvGrpSpPr>
          <p:grpSpPr>
            <a:xfrm>
              <a:off x="6466045" y="2732884"/>
              <a:ext cx="545306" cy="457200"/>
              <a:chOff x="6353175" y="2712036"/>
              <a:chExt cx="545306" cy="457200"/>
            </a:xfrm>
          </p:grpSpPr>
          <p:sp>
            <p:nvSpPr>
              <p:cNvPr id="201" name="Oval 200">
                <a:extLst>
                  <a:ext uri="{FF2B5EF4-FFF2-40B4-BE49-F238E27FC236}">
                    <a16:creationId xmlns:a16="http://schemas.microsoft.com/office/drawing/2014/main" id="{5CF4E5A6-131C-3C8F-50BC-AFD7B91A0AE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202" name="Graphic 14379" descr="Dollar with solid fill">
                <a:extLst>
                  <a:ext uri="{FF2B5EF4-FFF2-40B4-BE49-F238E27FC236}">
                    <a16:creationId xmlns:a16="http://schemas.microsoft.com/office/drawing/2014/main" id="{A87715E6-306C-4E17-1068-0729F70992BF}"/>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193" name="Group 192">
              <a:extLst>
                <a:ext uri="{FF2B5EF4-FFF2-40B4-BE49-F238E27FC236}">
                  <a16:creationId xmlns:a16="http://schemas.microsoft.com/office/drawing/2014/main" id="{C51C8787-CC0D-4AEE-951F-7907466C79C8}"/>
                </a:ext>
              </a:extLst>
            </p:cNvPr>
            <p:cNvGrpSpPr/>
            <p:nvPr/>
          </p:nvGrpSpPr>
          <p:grpSpPr>
            <a:xfrm>
              <a:off x="3577113" y="2732884"/>
              <a:ext cx="545306" cy="457200"/>
              <a:chOff x="3609974" y="2715607"/>
              <a:chExt cx="545306" cy="457200"/>
            </a:xfrm>
          </p:grpSpPr>
          <p:sp>
            <p:nvSpPr>
              <p:cNvPr id="197" name="Oval 196">
                <a:extLst>
                  <a:ext uri="{FF2B5EF4-FFF2-40B4-BE49-F238E27FC236}">
                    <a16:creationId xmlns:a16="http://schemas.microsoft.com/office/drawing/2014/main" id="{304713AD-81DB-595D-886C-CA887F29574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98" name="Group 197">
                <a:extLst>
                  <a:ext uri="{FF2B5EF4-FFF2-40B4-BE49-F238E27FC236}">
                    <a16:creationId xmlns:a16="http://schemas.microsoft.com/office/drawing/2014/main" id="{9350E86C-44D7-E822-CE57-23885D1BD0C1}"/>
                  </a:ext>
                </a:extLst>
              </p:cNvPr>
              <p:cNvGrpSpPr/>
              <p:nvPr/>
            </p:nvGrpSpPr>
            <p:grpSpPr>
              <a:xfrm>
                <a:off x="3769049" y="2811218"/>
                <a:ext cx="227157" cy="265979"/>
                <a:chOff x="3771206" y="2761936"/>
                <a:chExt cx="227157" cy="265979"/>
              </a:xfrm>
            </p:grpSpPr>
            <p:sp>
              <p:nvSpPr>
                <p:cNvPr id="199" name="Freeform: Shape 198">
                  <a:extLst>
                    <a:ext uri="{FF2B5EF4-FFF2-40B4-BE49-F238E27FC236}">
                      <a16:creationId xmlns:a16="http://schemas.microsoft.com/office/drawing/2014/main" id="{D68FD7D4-3DB0-0196-AB8E-B542D4E105F1}"/>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200" name="Freeform: Shape 199">
                  <a:extLst>
                    <a:ext uri="{FF2B5EF4-FFF2-40B4-BE49-F238E27FC236}">
                      <a16:creationId xmlns:a16="http://schemas.microsoft.com/office/drawing/2014/main" id="{13186C15-9784-8278-EF4A-BF15698307BE}"/>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94" name="Group 193">
              <a:extLst>
                <a:ext uri="{FF2B5EF4-FFF2-40B4-BE49-F238E27FC236}">
                  <a16:creationId xmlns:a16="http://schemas.microsoft.com/office/drawing/2014/main" id="{1E2C087E-632A-688F-1222-8E1E772ED2D5}"/>
                </a:ext>
              </a:extLst>
            </p:cNvPr>
            <p:cNvGrpSpPr/>
            <p:nvPr/>
          </p:nvGrpSpPr>
          <p:grpSpPr>
            <a:xfrm>
              <a:off x="2132647" y="2732884"/>
              <a:ext cx="545306" cy="457200"/>
              <a:chOff x="2238375" y="2712635"/>
              <a:chExt cx="545306" cy="457200"/>
            </a:xfrm>
          </p:grpSpPr>
          <p:sp>
            <p:nvSpPr>
              <p:cNvPr id="195" name="Oval 194">
                <a:extLst>
                  <a:ext uri="{FF2B5EF4-FFF2-40B4-BE49-F238E27FC236}">
                    <a16:creationId xmlns:a16="http://schemas.microsoft.com/office/drawing/2014/main" id="{5C269F49-1170-A8E9-52C6-DDAD7F824454}"/>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96" name="Graphic 14377" descr="Board Of Directors with solid fill">
                <a:extLst>
                  <a:ext uri="{FF2B5EF4-FFF2-40B4-BE49-F238E27FC236}">
                    <a16:creationId xmlns:a16="http://schemas.microsoft.com/office/drawing/2014/main" id="{39D33158-5515-9F37-25F1-B20DAEB8A68D}"/>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207" name="Graphic 206" descr="Lights On with solid fill">
            <a:extLst>
              <a:ext uri="{FF2B5EF4-FFF2-40B4-BE49-F238E27FC236}">
                <a16:creationId xmlns:a16="http://schemas.microsoft.com/office/drawing/2014/main" id="{3F6A74E1-E76F-188F-4EC4-EDAB4891FF7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4979" y="6263507"/>
            <a:ext cx="461513" cy="461513"/>
          </a:xfrm>
          <a:prstGeom prst="rect">
            <a:avLst/>
          </a:prstGeom>
        </p:spPr>
      </p:pic>
      <p:sp>
        <p:nvSpPr>
          <p:cNvPr id="9" name="Rectangle 8">
            <a:extLst>
              <a:ext uri="{FF2B5EF4-FFF2-40B4-BE49-F238E27FC236}">
                <a16:creationId xmlns:a16="http://schemas.microsoft.com/office/drawing/2014/main" id="{38C8E108-AF28-EEAA-D84F-7AA5ED7AF916}"/>
              </a:ext>
            </a:extLst>
          </p:cNvPr>
          <p:cNvSpPr/>
          <p:nvPr/>
        </p:nvSpPr>
        <p:spPr>
          <a:xfrm>
            <a:off x="97089" y="4699471"/>
            <a:ext cx="4193867" cy="144709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b="1" dirty="0">
                <a:solidFill>
                  <a:srgbClr val="000000"/>
                </a:solidFill>
                <a:latin typeface="Calibri"/>
                <a:ea typeface="+mn-lt"/>
                <a:cs typeface="+mn-lt"/>
              </a:rPr>
              <a:t>Temporary Margin Pressure, Stronger Baseline Ahead</a:t>
            </a:r>
          </a:p>
          <a:p>
            <a:pPr>
              <a:spcBef>
                <a:spcPts val="0"/>
              </a:spcBef>
              <a:spcAft>
                <a:spcPts val="0"/>
              </a:spcAft>
              <a:defRPr/>
            </a:pPr>
            <a:endParaRPr lang="en-US" sz="1200" b="1" dirty="0">
              <a:solidFill>
                <a:srgbClr val="000000"/>
              </a:solidFill>
              <a:latin typeface="Calibri"/>
              <a:ea typeface="+mn-lt"/>
              <a:cs typeface="+mn-lt"/>
            </a:endParaRPr>
          </a:p>
          <a:p>
            <a:pPr marL="171450" indent="-171450">
              <a:spcBef>
                <a:spcPts val="0"/>
              </a:spcBef>
              <a:spcAft>
                <a:spcPts val="0"/>
              </a:spcAft>
              <a:buFont typeface="Arial" panose="020B0604020202020204" pitchFamily="34" charset="0"/>
              <a:buChar char="•"/>
              <a:defRPr/>
            </a:pPr>
            <a:r>
              <a:rPr lang="en-US" sz="1200" dirty="0">
                <a:solidFill>
                  <a:srgbClr val="000000"/>
                </a:solidFill>
                <a:latin typeface="Calibri"/>
                <a:ea typeface="+mn-lt"/>
                <a:cs typeface="+mn-lt"/>
              </a:rPr>
              <a:t>The drop in net sales versus relatively steady COGS reflects a short-term demand reset not structural cost issues</a:t>
            </a:r>
          </a:p>
          <a:p>
            <a:pPr marL="171450" indent="-171450">
              <a:spcBef>
                <a:spcPts val="0"/>
              </a:spcBef>
              <a:spcAft>
                <a:spcPts val="0"/>
              </a:spcAft>
              <a:buFont typeface="Arial" panose="020B0604020202020204" pitchFamily="34" charset="0"/>
              <a:buChar char="•"/>
              <a:defRPr/>
            </a:pPr>
            <a:endParaRPr lang="en-US" sz="1200" dirty="0">
              <a:solidFill>
                <a:srgbClr val="000000"/>
              </a:solidFill>
              <a:latin typeface="Calibri"/>
              <a:ea typeface="+mn-lt"/>
              <a:cs typeface="+mn-lt"/>
            </a:endParaRPr>
          </a:p>
          <a:p>
            <a:pPr marL="171450" indent="-171450">
              <a:spcBef>
                <a:spcPts val="0"/>
              </a:spcBef>
              <a:spcAft>
                <a:spcPts val="0"/>
              </a:spcAft>
              <a:buFont typeface="Arial" panose="020B0604020202020204" pitchFamily="34" charset="0"/>
              <a:buChar char="•"/>
              <a:defRPr/>
            </a:pPr>
            <a:r>
              <a:rPr lang="en-US" sz="1200" dirty="0">
                <a:solidFill>
                  <a:srgbClr val="000000"/>
                </a:solidFill>
                <a:latin typeface="Calibri"/>
                <a:ea typeface="+mn-lt"/>
                <a:cs typeface="+mn-lt"/>
              </a:rPr>
              <a:t>As volumes stabilize and discounting fades, gross margins should naturally recover off this lower baseline</a:t>
            </a:r>
          </a:p>
        </p:txBody>
      </p:sp>
      <p:sp>
        <p:nvSpPr>
          <p:cNvPr id="7" name="Text Box 2">
            <a:extLst>
              <a:ext uri="{FF2B5EF4-FFF2-40B4-BE49-F238E27FC236}">
                <a16:creationId xmlns:a16="http://schemas.microsoft.com/office/drawing/2014/main" id="{3F01565B-2DDD-8062-AE80-31D5F89FDE08}"/>
              </a:ext>
            </a:extLst>
          </p:cNvPr>
          <p:cNvSpPr txBox="1">
            <a:spLocks noChangeArrowheads="1"/>
          </p:cNvSpPr>
          <p:nvPr/>
        </p:nvSpPr>
        <p:spPr bwMode="auto">
          <a:xfrm>
            <a:off x="24064" y="2879708"/>
            <a:ext cx="4118074"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000000"/>
                </a:solidFill>
                <a:latin typeface="Calibri"/>
                <a:ea typeface="Calibri"/>
                <a:cs typeface="Calibri"/>
              </a:rPr>
              <a:t>Figure 3:  </a:t>
            </a:r>
            <a:r>
              <a:rPr lang="en-US" sz="1200" dirty="0">
                <a:solidFill>
                  <a:srgbClr val="292934"/>
                </a:solidFill>
                <a:latin typeface="Calibri"/>
                <a:ea typeface="Calibri"/>
                <a:cs typeface="Helvetica"/>
              </a:rPr>
              <a:t>Consolidated Balance Sheet Comparison</a:t>
            </a:r>
            <a:endParaRPr lang="en-US" altLang="en-US" sz="1200" dirty="0">
              <a:solidFill>
                <a:srgbClr val="000000"/>
              </a:solidFill>
              <a:latin typeface="Calibri"/>
              <a:ea typeface="Calibri"/>
              <a:cs typeface="Calibri"/>
            </a:endParaRPr>
          </a:p>
        </p:txBody>
      </p:sp>
      <p:sp>
        <p:nvSpPr>
          <p:cNvPr id="10" name="Rectangle 9">
            <a:extLst>
              <a:ext uri="{FF2B5EF4-FFF2-40B4-BE49-F238E27FC236}">
                <a16:creationId xmlns:a16="http://schemas.microsoft.com/office/drawing/2014/main" id="{B94D3A63-7601-B5E9-FCDB-520C4EA74689}"/>
              </a:ext>
            </a:extLst>
          </p:cNvPr>
          <p:cNvSpPr/>
          <p:nvPr/>
        </p:nvSpPr>
        <p:spPr>
          <a:xfrm>
            <a:off x="4483743" y="713000"/>
            <a:ext cx="4544430" cy="166689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b="1" dirty="0">
                <a:solidFill>
                  <a:srgbClr val="000000"/>
                </a:solidFill>
                <a:latin typeface="Calibri"/>
                <a:ea typeface="+mn-lt"/>
                <a:cs typeface="+mn-lt"/>
              </a:rPr>
              <a:t>Margin Weakness in 2024–2025 Is Temporary and Reversible</a:t>
            </a:r>
          </a:p>
          <a:p>
            <a:pPr>
              <a:spcBef>
                <a:spcPts val="0"/>
              </a:spcBef>
              <a:spcAft>
                <a:spcPts val="0"/>
              </a:spcAft>
              <a:defRPr/>
            </a:pPr>
            <a:endParaRPr lang="en-US" sz="700" b="1" dirty="0">
              <a:solidFill>
                <a:srgbClr val="000000"/>
              </a:solidFill>
              <a:latin typeface="Calibri"/>
              <a:ea typeface="+mn-lt"/>
              <a:cs typeface="+mn-lt"/>
            </a:endParaRPr>
          </a:p>
          <a:p>
            <a:pPr marL="171450" indent="-171450">
              <a:spcBef>
                <a:spcPts val="0"/>
              </a:spcBef>
              <a:spcAft>
                <a:spcPts val="0"/>
              </a:spcAft>
              <a:buFont typeface="Arial" panose="020B0604020202020204" pitchFamily="34" charset="0"/>
              <a:buChar char="•"/>
              <a:defRPr/>
            </a:pPr>
            <a:r>
              <a:rPr lang="en-US" sz="1200" dirty="0">
                <a:solidFill>
                  <a:srgbClr val="000000"/>
                </a:solidFill>
                <a:latin typeface="Calibri"/>
                <a:ea typeface="+mn-lt"/>
                <a:cs typeface="+mn-lt"/>
              </a:rPr>
              <a:t>As consumers shift toward value options, JOUT is positioned to benefit once macro conditions stabilize and pricing elasticity relaxes</a:t>
            </a:r>
          </a:p>
          <a:p>
            <a:pPr marL="171450" indent="-171450">
              <a:spcBef>
                <a:spcPts val="0"/>
              </a:spcBef>
              <a:spcAft>
                <a:spcPts val="0"/>
              </a:spcAft>
              <a:buFont typeface="Arial" panose="020B0604020202020204" pitchFamily="34" charset="0"/>
              <a:buChar char="•"/>
              <a:defRPr/>
            </a:pPr>
            <a:endParaRPr lang="en-US" sz="700" dirty="0">
              <a:solidFill>
                <a:srgbClr val="000000"/>
              </a:solidFill>
              <a:latin typeface="Calibri"/>
              <a:ea typeface="+mn-lt"/>
              <a:cs typeface="+mn-lt"/>
            </a:endParaRPr>
          </a:p>
          <a:p>
            <a:pPr>
              <a:spcBef>
                <a:spcPts val="0"/>
              </a:spcBef>
              <a:spcAft>
                <a:spcPts val="0"/>
              </a:spcAft>
              <a:defRPr/>
            </a:pPr>
            <a:r>
              <a:rPr lang="en-US" sz="1200" b="1" dirty="0">
                <a:solidFill>
                  <a:srgbClr val="000000"/>
                </a:solidFill>
                <a:latin typeface="Calibri"/>
                <a:ea typeface="+mn-lt"/>
                <a:cs typeface="+mn-lt"/>
              </a:rPr>
              <a:t>Result</a:t>
            </a:r>
            <a:r>
              <a:rPr lang="en-US" sz="1200" dirty="0">
                <a:solidFill>
                  <a:srgbClr val="000000"/>
                </a:solidFill>
                <a:latin typeface="Calibri"/>
                <a:ea typeface="+mn-lt"/>
                <a:cs typeface="+mn-lt"/>
              </a:rPr>
              <a:t>: Gross margin is expected to stabilize in the mid-30s (34-35%) through FY25E, with signs a base is forming for gradual expansion beyond FY25E. </a:t>
            </a:r>
          </a:p>
        </p:txBody>
      </p:sp>
      <p:sp>
        <p:nvSpPr>
          <p:cNvPr id="13" name="Text Box 2">
            <a:extLst>
              <a:ext uri="{FF2B5EF4-FFF2-40B4-BE49-F238E27FC236}">
                <a16:creationId xmlns:a16="http://schemas.microsoft.com/office/drawing/2014/main" id="{4925998E-D908-7503-1B83-F77177592E2D}"/>
              </a:ext>
            </a:extLst>
          </p:cNvPr>
          <p:cNvSpPr txBox="1">
            <a:spLocks noChangeArrowheads="1"/>
          </p:cNvSpPr>
          <p:nvPr/>
        </p:nvSpPr>
        <p:spPr bwMode="auto">
          <a:xfrm>
            <a:off x="4400898" y="2496035"/>
            <a:ext cx="4622830" cy="528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000000"/>
                </a:solidFill>
                <a:latin typeface="Calibri"/>
                <a:ea typeface="Calibri"/>
                <a:cs typeface="Calibri"/>
              </a:rPr>
              <a:t>Figure 4: COGS in Comparison to Sales</a:t>
            </a:r>
          </a:p>
        </p:txBody>
      </p:sp>
      <p:sp>
        <p:nvSpPr>
          <p:cNvPr id="5" name="Arrow: Right 4">
            <a:extLst>
              <a:ext uri="{FF2B5EF4-FFF2-40B4-BE49-F238E27FC236}">
                <a16:creationId xmlns:a16="http://schemas.microsoft.com/office/drawing/2014/main" id="{D74227DA-EC8A-C349-EF1F-CF030AFCE9DA}"/>
              </a:ext>
            </a:extLst>
          </p:cNvPr>
          <p:cNvSpPr/>
          <p:nvPr/>
        </p:nvSpPr>
        <p:spPr>
          <a:xfrm>
            <a:off x="3602807" y="5983486"/>
            <a:ext cx="519612" cy="107156"/>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5B606D99-9E72-B0BC-AA01-213112AB2DCB}"/>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6</a:t>
            </a:fld>
            <a:endParaRPr lang="en-US" sz="1400">
              <a:latin typeface="Calibri" panose="020F0502020204030204" pitchFamily="34" charset="0"/>
              <a:cs typeface="Calibri" panose="020F0502020204030204" pitchFamily="34" charset="0"/>
            </a:endParaRPr>
          </a:p>
        </p:txBody>
      </p:sp>
      <p:sp>
        <p:nvSpPr>
          <p:cNvPr id="18" name="Text Box 2">
            <a:extLst>
              <a:ext uri="{FF2B5EF4-FFF2-40B4-BE49-F238E27FC236}">
                <a16:creationId xmlns:a16="http://schemas.microsoft.com/office/drawing/2014/main" id="{59468557-A74D-6201-0853-BA56C80C49B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EAI</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31" name="Table 30">
            <a:extLst>
              <a:ext uri="{FF2B5EF4-FFF2-40B4-BE49-F238E27FC236}">
                <a16:creationId xmlns:a16="http://schemas.microsoft.com/office/drawing/2014/main" id="{108BAAB7-0977-472D-BB23-3EFABBEB910E}"/>
              </a:ext>
            </a:extLst>
          </p:cNvPr>
          <p:cNvGraphicFramePr>
            <a:graphicFrameLocks noGrp="1"/>
          </p:cNvGraphicFramePr>
          <p:nvPr>
            <p:custDataLst>
              <p:tags r:id="rId1"/>
            </p:custDataLst>
            <p:extLst>
              <p:ext uri="{D42A27DB-BD31-4B8C-83A1-F6EECF244321}">
                <p14:modId xmlns:p14="http://schemas.microsoft.com/office/powerpoint/2010/main" val="3600359942"/>
              </p:ext>
            </p:extLst>
          </p:nvPr>
        </p:nvGraphicFramePr>
        <p:xfrm>
          <a:off x="110545" y="3119016"/>
          <a:ext cx="4180409" cy="1568922"/>
        </p:xfrm>
        <a:graphic>
          <a:graphicData uri="http://schemas.openxmlformats.org/drawingml/2006/table">
            <a:tbl>
              <a:tblPr bandRow="1">
                <a:tableStyleId>{5C22544A-7EE6-4342-B048-85BDC9FD1C3A}</a:tableStyleId>
              </a:tblPr>
              <a:tblGrid>
                <a:gridCol w="1934822">
                  <a:extLst>
                    <a:ext uri="{9D8B030D-6E8A-4147-A177-3AD203B41FA5}">
                      <a16:colId xmlns:a16="http://schemas.microsoft.com/office/drawing/2014/main" val="2844895469"/>
                    </a:ext>
                  </a:extLst>
                </a:gridCol>
                <a:gridCol w="565485">
                  <a:extLst>
                    <a:ext uri="{9D8B030D-6E8A-4147-A177-3AD203B41FA5}">
                      <a16:colId xmlns:a16="http://schemas.microsoft.com/office/drawing/2014/main" val="2456615481"/>
                    </a:ext>
                  </a:extLst>
                </a:gridCol>
                <a:gridCol w="553452">
                  <a:extLst>
                    <a:ext uri="{9D8B030D-6E8A-4147-A177-3AD203B41FA5}">
                      <a16:colId xmlns:a16="http://schemas.microsoft.com/office/drawing/2014/main" val="387556920"/>
                    </a:ext>
                  </a:extLst>
                </a:gridCol>
                <a:gridCol w="577516">
                  <a:extLst>
                    <a:ext uri="{9D8B030D-6E8A-4147-A177-3AD203B41FA5}">
                      <a16:colId xmlns:a16="http://schemas.microsoft.com/office/drawing/2014/main" val="1957722726"/>
                    </a:ext>
                  </a:extLst>
                </a:gridCol>
                <a:gridCol w="549134">
                  <a:extLst>
                    <a:ext uri="{9D8B030D-6E8A-4147-A177-3AD203B41FA5}">
                      <a16:colId xmlns:a16="http://schemas.microsoft.com/office/drawing/2014/main" val="4195700056"/>
                    </a:ext>
                  </a:extLst>
                </a:gridCol>
              </a:tblGrid>
              <a:tr h="549688">
                <a:tc>
                  <a:txBody>
                    <a:bodyPr/>
                    <a:lstStyle/>
                    <a:p>
                      <a:pP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CONSOLIDATED BALANCE SHEETS - USD </a:t>
                      </a:r>
                      <a:br>
                        <a:rPr lang="en-US" sz="1200" b="1" dirty="0">
                          <a:effectLst/>
                          <a:latin typeface="Calibri" panose="020F0502020204030204" pitchFamily="34" charset="0"/>
                          <a:ea typeface="Calibri" panose="020F0502020204030204" pitchFamily="34" charset="0"/>
                          <a:cs typeface="Calibri" panose="020F0502020204030204" pitchFamily="34" charset="0"/>
                        </a:rPr>
                      </a:br>
                      <a:r>
                        <a:rPr lang="en-US" sz="1200" b="1" dirty="0">
                          <a:effectLst/>
                          <a:latin typeface="Calibri" panose="020F0502020204030204" pitchFamily="34" charset="0"/>
                          <a:ea typeface="Calibri" panose="020F0502020204030204" pitchFamily="34" charset="0"/>
                          <a:cs typeface="Calibri" panose="020F0502020204030204" pitchFamily="34" charset="0"/>
                        </a:rPr>
                        <a:t>$ in Millions</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ct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2025 Q2</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ct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2025 Q1</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ct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2024 Q2</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tc>
                  <a:txBody>
                    <a:bodyPr/>
                    <a:lstStyle/>
                    <a:p>
                      <a:pPr algn="ct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2024 Q1</a:t>
                      </a:r>
                    </a:p>
                  </a:txBody>
                  <a:tcPr marL="9525" marR="9525" marT="9525"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2C755"/>
                    </a:solidFill>
                  </a:tcPr>
                </a:tc>
                <a:extLst>
                  <a:ext uri="{0D108BD9-81ED-4DB2-BD59-A6C34878D82A}">
                    <a16:rowId xmlns:a16="http://schemas.microsoft.com/office/drawing/2014/main" val="2717754923"/>
                  </a:ext>
                </a:extLst>
              </a:tr>
              <a:tr h="242304">
                <a:tc>
                  <a:txBody>
                    <a:bodyPr/>
                    <a:lstStyle/>
                    <a:p>
                      <a:pP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Sales</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tc>
                  <a:txBody>
                    <a:bodyPr/>
                    <a:lstStyle/>
                    <a:p>
                      <a:pPr lvl="0" algn="r">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180.7</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tc>
                  <a:txBody>
                    <a:bodyPr/>
                    <a:lstStyle/>
                    <a:p>
                      <a:pPr lvl="0" algn="r">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168.4</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tc>
                  <a:txBody>
                    <a:bodyPr/>
                    <a:lstStyle/>
                    <a:p>
                      <a:pPr lvl="0" algn="r">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172.5</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tc>
                  <a:txBody>
                    <a:bodyPr/>
                    <a:lstStyle/>
                    <a:p>
                      <a:pPr lvl="0" algn="r">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175.9</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extLst>
                  <a:ext uri="{0D108BD9-81ED-4DB2-BD59-A6C34878D82A}">
                    <a16:rowId xmlns:a16="http://schemas.microsoft.com/office/drawing/2014/main" val="3827848501"/>
                  </a:ext>
                </a:extLst>
              </a:tr>
              <a:tr h="242304">
                <a:tc>
                  <a:txBody>
                    <a:bodyPr/>
                    <a:lstStyle/>
                    <a:p>
                      <a:pP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Inventory/Sales</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1.0</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1.2</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1.3</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1.4</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940173315"/>
                  </a:ext>
                </a:extLst>
              </a:tr>
              <a:tr h="100730">
                <a:tc>
                  <a:txBody>
                    <a:bodyPr/>
                    <a:lstStyle/>
                    <a:p>
                      <a:pP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Inventory/Current Assets </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43.3%</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49.5%</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48.4%</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52.2%</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D0D0D0"/>
                    </a:solidFill>
                  </a:tcPr>
                </a:tc>
                <a:extLst>
                  <a:ext uri="{0D108BD9-81ED-4DB2-BD59-A6C34878D82A}">
                    <a16:rowId xmlns:a16="http://schemas.microsoft.com/office/drawing/2014/main" val="162433430"/>
                  </a:ext>
                </a:extLst>
              </a:tr>
              <a:tr h="242304">
                <a:tc>
                  <a:txBody>
                    <a:bodyPr/>
                    <a:lstStyle/>
                    <a:p>
                      <a:pPr fontAlgn="b">
                        <a:buNone/>
                      </a:pPr>
                      <a:r>
                        <a:rPr lang="en-US" sz="1200" b="1" dirty="0">
                          <a:effectLst/>
                          <a:latin typeface="Calibri" panose="020F0502020204030204" pitchFamily="34" charset="0"/>
                          <a:ea typeface="Calibri" panose="020F0502020204030204" pitchFamily="34" charset="0"/>
                          <a:cs typeface="Calibri" panose="020F0502020204030204" pitchFamily="34" charset="0"/>
                        </a:rPr>
                        <a:t>Inventories</a:t>
                      </a:r>
                    </a:p>
                  </a:txBody>
                  <a:tcPr marL="9525" marR="9525" marT="9525"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182.3</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201.6</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223.2</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249.2</a:t>
                      </a:r>
                    </a:p>
                  </a:txBody>
                  <a:tcPr marL="9525" marR="9525" marT="9525" anchorCtr="1">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2928448499"/>
                  </a:ext>
                </a:extLst>
              </a:tr>
            </a:tbl>
          </a:graphicData>
        </a:graphic>
      </p:graphicFrame>
      <p:pic>
        <p:nvPicPr>
          <p:cNvPr id="6" name="Picture 5" descr="Outdoor Industry Jobs">
            <a:extLst>
              <a:ext uri="{FF2B5EF4-FFF2-40B4-BE49-F238E27FC236}">
                <a16:creationId xmlns:a16="http://schemas.microsoft.com/office/drawing/2014/main" id="{465BF125-509D-510D-842E-C22B1A1443D0}"/>
              </a:ext>
            </a:extLst>
          </p:cNvPr>
          <p:cNvPicPr>
            <a:picLocks noChangeAspect="1"/>
          </p:cNvPicPr>
          <p:nvPr/>
        </p:nvPicPr>
        <p:blipFill>
          <a:blip r:embed="rId8"/>
          <a:stretch>
            <a:fillRect/>
          </a:stretch>
        </p:blipFill>
        <p:spPr>
          <a:xfrm>
            <a:off x="6737770" y="96688"/>
            <a:ext cx="2310800" cy="453606"/>
          </a:xfrm>
          <a:prstGeom prst="rect">
            <a:avLst/>
          </a:prstGeom>
        </p:spPr>
      </p:pic>
      <p:sp>
        <p:nvSpPr>
          <p:cNvPr id="16" name="Rectangle 15">
            <a:extLst>
              <a:ext uri="{FF2B5EF4-FFF2-40B4-BE49-F238E27FC236}">
                <a16:creationId xmlns:a16="http://schemas.microsoft.com/office/drawing/2014/main" id="{4BD070E8-6720-02BF-CFF5-9E370723CFF4}"/>
              </a:ext>
            </a:extLst>
          </p:cNvPr>
          <p:cNvSpPr/>
          <p:nvPr/>
        </p:nvSpPr>
        <p:spPr>
          <a:xfrm>
            <a:off x="110545" y="706561"/>
            <a:ext cx="4180409" cy="205405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endParaRPr lang="en-US" sz="1150" b="1" dirty="0">
              <a:solidFill>
                <a:srgbClr val="000000"/>
              </a:solidFill>
              <a:latin typeface="Calibri"/>
              <a:ea typeface="+mn-lt"/>
              <a:cs typeface="+mn-lt"/>
            </a:endParaRPr>
          </a:p>
          <a:p>
            <a:pPr>
              <a:spcBef>
                <a:spcPts val="0"/>
              </a:spcBef>
              <a:spcAft>
                <a:spcPts val="0"/>
              </a:spcAft>
              <a:defRPr/>
            </a:pPr>
            <a:r>
              <a:rPr lang="en-US" sz="1150" b="1" dirty="0">
                <a:solidFill>
                  <a:srgbClr val="000000"/>
                </a:solidFill>
                <a:latin typeface="Calibri"/>
                <a:ea typeface="+mn-lt"/>
                <a:cs typeface="+mn-lt"/>
              </a:rPr>
              <a:t>Short-Term Earnings Pressure Creates Long-Term Rebound Setup</a:t>
            </a:r>
          </a:p>
          <a:p>
            <a:pPr>
              <a:spcBef>
                <a:spcPts val="0"/>
              </a:spcBef>
              <a:spcAft>
                <a:spcPts val="0"/>
              </a:spcAft>
              <a:defRPr/>
            </a:pPr>
            <a:endParaRPr lang="en-US" sz="300" dirty="0">
              <a:solidFill>
                <a:srgbClr val="000000"/>
              </a:solidFill>
              <a:latin typeface="Calibri"/>
              <a:ea typeface="+mn-lt"/>
              <a:cs typeface="+mn-lt"/>
            </a:endParaRPr>
          </a:p>
          <a:p>
            <a:pPr marL="171450" indent="-171450">
              <a:spcBef>
                <a:spcPts val="0"/>
              </a:spcBef>
              <a:spcAft>
                <a:spcPts val="0"/>
              </a:spcAft>
              <a:buFont typeface="Arial" panose="020B0604020202020204" pitchFamily="34" charset="0"/>
              <a:buChar char="•"/>
              <a:defRPr/>
            </a:pPr>
            <a:r>
              <a:rPr lang="en-US" sz="1200" b="1" dirty="0">
                <a:solidFill>
                  <a:srgbClr val="000000"/>
                </a:solidFill>
                <a:latin typeface="Calibri"/>
                <a:ea typeface="+mn-lt"/>
                <a:cs typeface="+mn-lt"/>
              </a:rPr>
              <a:t>Post-stimulus demand normalization has reduced pricing power for now</a:t>
            </a:r>
            <a:r>
              <a:rPr lang="en-US" sz="1200" dirty="0">
                <a:solidFill>
                  <a:srgbClr val="000000"/>
                </a:solidFill>
                <a:latin typeface="Calibri"/>
                <a:ea typeface="+mn-lt"/>
                <a:cs typeface="+mn-lt"/>
              </a:rPr>
              <a:t>, but this resets the revenue base to pre-covid behavior, making future growth more stable and predictable</a:t>
            </a:r>
          </a:p>
          <a:p>
            <a:pPr marL="171450" indent="-171450">
              <a:spcBef>
                <a:spcPts val="0"/>
              </a:spcBef>
              <a:spcAft>
                <a:spcPts val="0"/>
              </a:spcAft>
              <a:buFont typeface="Arial" panose="020B0604020202020204" pitchFamily="34" charset="0"/>
              <a:buChar char="•"/>
              <a:defRPr/>
            </a:pPr>
            <a:endParaRPr lang="en-US" sz="300" dirty="0">
              <a:solidFill>
                <a:srgbClr val="000000"/>
              </a:solidFill>
              <a:latin typeface="Calibri"/>
              <a:ea typeface="+mn-lt"/>
              <a:cs typeface="+mn-lt"/>
            </a:endParaRPr>
          </a:p>
          <a:p>
            <a:pPr marL="171450" indent="-171450">
              <a:spcBef>
                <a:spcPts val="0"/>
              </a:spcBef>
              <a:spcAft>
                <a:spcPts val="0"/>
              </a:spcAft>
              <a:buFont typeface="Arial" panose="020B0604020202020204" pitchFamily="34" charset="0"/>
              <a:buChar char="•"/>
              <a:defRPr/>
            </a:pPr>
            <a:r>
              <a:rPr lang="en-US" sz="1200" b="1" dirty="0">
                <a:solidFill>
                  <a:srgbClr val="000000"/>
                </a:solidFill>
                <a:latin typeface="Calibri"/>
                <a:ea typeface="+mn-lt"/>
                <a:cs typeface="+mn-lt"/>
              </a:rPr>
              <a:t>Near-term GM pressure moves earnings lower into FY25E</a:t>
            </a:r>
            <a:r>
              <a:rPr lang="en-US" sz="1200" dirty="0">
                <a:solidFill>
                  <a:srgbClr val="000000"/>
                </a:solidFill>
                <a:latin typeface="Calibri"/>
                <a:ea typeface="+mn-lt"/>
                <a:cs typeface="+mn-lt"/>
              </a:rPr>
              <a:t>, but this creates an easier comp and stronger operating leverage when demand recovers</a:t>
            </a:r>
          </a:p>
          <a:p>
            <a:pPr marL="171450" indent="-171450">
              <a:spcBef>
                <a:spcPts val="0"/>
              </a:spcBef>
              <a:spcAft>
                <a:spcPts val="0"/>
              </a:spcAft>
              <a:buFont typeface="Arial" panose="020B0604020202020204" pitchFamily="34" charset="0"/>
              <a:buChar char="•"/>
              <a:defRPr/>
            </a:pPr>
            <a:endParaRPr lang="en-US" sz="300" dirty="0">
              <a:solidFill>
                <a:srgbClr val="000000"/>
              </a:solidFill>
              <a:latin typeface="Calibri"/>
              <a:ea typeface="+mn-lt"/>
              <a:cs typeface="+mn-lt"/>
            </a:endParaRPr>
          </a:p>
          <a:p>
            <a:pPr marL="171450" indent="-171450">
              <a:spcBef>
                <a:spcPts val="0"/>
              </a:spcBef>
              <a:spcAft>
                <a:spcPts val="0"/>
              </a:spcAft>
              <a:buFont typeface="Arial" panose="020B0604020202020204" pitchFamily="34" charset="0"/>
              <a:buChar char="•"/>
              <a:defRPr/>
            </a:pPr>
            <a:r>
              <a:rPr lang="en-US" sz="1200" b="1" dirty="0">
                <a:solidFill>
                  <a:srgbClr val="000000"/>
                </a:solidFill>
                <a:latin typeface="Calibri"/>
                <a:ea typeface="+mn-lt"/>
                <a:cs typeface="+mn-lt"/>
              </a:rPr>
              <a:t>EPS Sensitivity: 1-point change in GM impacts EPS by $0.60</a:t>
            </a:r>
            <a:r>
              <a:rPr lang="en-US" sz="1200" dirty="0">
                <a:solidFill>
                  <a:srgbClr val="000000"/>
                </a:solidFill>
                <a:latin typeface="Calibri"/>
                <a:ea typeface="+mn-lt"/>
                <a:cs typeface="+mn-lt"/>
              </a:rPr>
              <a:t>, meaning modest improvements in margin efficiency will quickly expand earnings once volumes stabilize</a:t>
            </a:r>
          </a:p>
          <a:p>
            <a:pPr>
              <a:spcBef>
                <a:spcPts val="0"/>
              </a:spcBef>
              <a:spcAft>
                <a:spcPts val="0"/>
              </a:spcAft>
              <a:defRPr/>
            </a:pPr>
            <a:endParaRPr lang="en-US" sz="1200" dirty="0">
              <a:solidFill>
                <a:srgbClr val="000000"/>
              </a:solidFill>
              <a:latin typeface="Calibri"/>
              <a:ea typeface="Calibri"/>
              <a:cs typeface="Calibri"/>
            </a:endParaRPr>
          </a:p>
        </p:txBody>
      </p:sp>
      <p:graphicFrame>
        <p:nvGraphicFramePr>
          <p:cNvPr id="3" name="Chart 2">
            <a:extLst>
              <a:ext uri="{FF2B5EF4-FFF2-40B4-BE49-F238E27FC236}">
                <a16:creationId xmlns:a16="http://schemas.microsoft.com/office/drawing/2014/main" id="{1435DE6A-5577-29D8-5340-06C004A8BCF2}"/>
              </a:ext>
            </a:extLst>
          </p:cNvPr>
          <p:cNvGraphicFramePr>
            <a:graphicFrameLocks/>
          </p:cNvGraphicFramePr>
          <p:nvPr>
            <p:extLst>
              <p:ext uri="{D42A27DB-BD31-4B8C-83A1-F6EECF244321}">
                <p14:modId xmlns:p14="http://schemas.microsoft.com/office/powerpoint/2010/main" val="4275389118"/>
              </p:ext>
            </p:extLst>
          </p:nvPr>
        </p:nvGraphicFramePr>
        <p:xfrm>
          <a:off x="4479298" y="2760613"/>
          <a:ext cx="4544430" cy="3383885"/>
        </p:xfrm>
        <a:graphic>
          <a:graphicData uri="http://schemas.openxmlformats.org/drawingml/2006/chart">
            <c:chart xmlns:c="http://schemas.openxmlformats.org/drawingml/2006/chart" xmlns:r="http://schemas.openxmlformats.org/officeDocument/2006/relationships" r:id="rId9"/>
          </a:graphicData>
        </a:graphic>
      </p:graphicFrame>
    </p:spTree>
    <p:extLst>
      <p:ext uri="{BB962C8B-B14F-4D97-AF65-F5344CB8AC3E}">
        <p14:creationId xmlns:p14="http://schemas.microsoft.com/office/powerpoint/2010/main" val="680398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71692-2CED-F1E7-7020-85131813A425}"/>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A2550CD9-F770-0C75-00C6-C948CAEEEDB6}"/>
              </a:ext>
            </a:extLst>
          </p:cNvPr>
          <p:cNvGrpSpPr>
            <a:grpSpLocks/>
          </p:cNvGrpSpPr>
          <p:nvPr/>
        </p:nvGrpSpPr>
        <p:grpSpPr bwMode="auto">
          <a:xfrm>
            <a:off x="0" y="73105"/>
            <a:ext cx="9144000" cy="576857"/>
            <a:chOff x="-2" y="-17873"/>
            <a:chExt cx="12192002" cy="769372"/>
          </a:xfrm>
        </p:grpSpPr>
        <p:sp>
          <p:nvSpPr>
            <p:cNvPr id="40" name="Title 1">
              <a:extLst>
                <a:ext uri="{FF2B5EF4-FFF2-40B4-BE49-F238E27FC236}">
                  <a16:creationId xmlns:a16="http://schemas.microsoft.com/office/drawing/2014/main" id="{1001B2CB-C820-12D2-E2A7-04CFE5898FD6}"/>
                </a:ext>
              </a:extLst>
            </p:cNvPr>
            <p:cNvSpPr txBox="1">
              <a:spLocks/>
            </p:cNvSpPr>
            <p:nvPr/>
          </p:nvSpPr>
          <p:spPr>
            <a:xfrm>
              <a:off x="-2" y="-17873"/>
              <a:ext cx="11270514" cy="733643"/>
            </a:xfrm>
            <a:prstGeom prst="rect">
              <a:avLst/>
            </a:prstGeom>
            <a:noFill/>
            <a:ln>
              <a:noFill/>
            </a:ln>
          </p:spPr>
          <p:txBody>
            <a:bodyPr lIns="91440" tIns="45720" rIns="91440" bIns="4572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a:ea typeface="Calibri"/>
                  <a:cs typeface="Calibri"/>
                </a:rPr>
                <a:t>Driver: Lack of Demand</a:t>
              </a:r>
              <a:endParaRPr lang="en-US" sz="2400" b="1" dirty="0">
                <a:solidFill>
                  <a:srgbClr val="000000"/>
                </a:solidFill>
                <a:latin typeface="Calibri" panose="020F0502020204030204" pitchFamily="34" charset="0"/>
              </a:endParaRPr>
            </a:p>
          </p:txBody>
        </p:sp>
        <p:grpSp>
          <p:nvGrpSpPr>
            <p:cNvPr id="41" name="Group 39">
              <a:extLst>
                <a:ext uri="{FF2B5EF4-FFF2-40B4-BE49-F238E27FC236}">
                  <a16:creationId xmlns:a16="http://schemas.microsoft.com/office/drawing/2014/main" id="{CDF26D7E-DEB2-E25C-674E-CA7DE6C59521}"/>
                </a:ext>
              </a:extLst>
            </p:cNvPr>
            <p:cNvGrpSpPr>
              <a:grpSpLocks/>
            </p:cNvGrpSpPr>
            <p:nvPr/>
          </p:nvGrpSpPr>
          <p:grpSpPr bwMode="auto">
            <a:xfrm>
              <a:off x="-2" y="645614"/>
              <a:ext cx="12192002" cy="105885"/>
              <a:chOff x="2373524" y="569416"/>
              <a:chExt cx="6496168" cy="87055"/>
            </a:xfrm>
          </p:grpSpPr>
          <p:sp>
            <p:nvSpPr>
              <p:cNvPr id="44" name="Rectangle 43">
                <a:extLst>
                  <a:ext uri="{FF2B5EF4-FFF2-40B4-BE49-F238E27FC236}">
                    <a16:creationId xmlns:a16="http://schemas.microsoft.com/office/drawing/2014/main" id="{A13ACC97-9D48-D72D-36B9-DFA2E0805A2D}"/>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endParaRPr>
              </a:p>
            </p:txBody>
          </p:sp>
          <p:sp>
            <p:nvSpPr>
              <p:cNvPr id="45" name="Rectangle 44">
                <a:extLst>
                  <a:ext uri="{FF2B5EF4-FFF2-40B4-BE49-F238E27FC236}">
                    <a16:creationId xmlns:a16="http://schemas.microsoft.com/office/drawing/2014/main" id="{6E3BEC71-9BD1-49F8-748E-4DB9FE689AEE}"/>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endParaRPr>
              </a:p>
            </p:txBody>
          </p:sp>
        </p:grpSp>
      </p:grpSp>
      <p:sp>
        <p:nvSpPr>
          <p:cNvPr id="9" name="Rectangle 8">
            <a:extLst>
              <a:ext uri="{FF2B5EF4-FFF2-40B4-BE49-F238E27FC236}">
                <a16:creationId xmlns:a16="http://schemas.microsoft.com/office/drawing/2014/main" id="{B89B3901-76AD-54C5-18CC-AC262971A5BE}"/>
              </a:ext>
            </a:extLst>
          </p:cNvPr>
          <p:cNvSpPr/>
          <p:nvPr/>
        </p:nvSpPr>
        <p:spPr>
          <a:xfrm>
            <a:off x="3963345" y="994084"/>
            <a:ext cx="4761292" cy="193141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US" sz="1200" dirty="0">
                <a:solidFill>
                  <a:srgbClr val="000000"/>
                </a:solidFill>
                <a:latin typeface="Calibri"/>
                <a:ea typeface="+mn-lt"/>
                <a:cs typeface="+mn-lt"/>
              </a:rPr>
              <a:t>Fishing Revenue dropped from $525.6 million in 2022 to $451.8 million in 2024.</a:t>
            </a:r>
            <a:r>
              <a:rPr lang="en-US" sz="1200" b="1" dirty="0">
                <a:solidFill>
                  <a:srgbClr val="000000"/>
                </a:solidFill>
                <a:latin typeface="Calibri"/>
                <a:ea typeface="+mn-lt"/>
                <a:cs typeface="+mn-lt"/>
              </a:rPr>
              <a:t> Operating Margin went from a healthy 12.5% to a negative −1.5%. This means the segment lost the temporary covid-era demand boost that came from stimulus checks and restricted travel. </a:t>
            </a:r>
            <a:r>
              <a:rPr lang="en-US" sz="1200" dirty="0">
                <a:solidFill>
                  <a:srgbClr val="000000"/>
                </a:solidFill>
                <a:latin typeface="Calibri"/>
                <a:ea typeface="+mn-lt"/>
                <a:cs typeface="+mn-lt"/>
              </a:rPr>
              <a:t>As stimulus support faded and people returned to normal travel patterns, </a:t>
            </a:r>
            <a:r>
              <a:rPr lang="en-US" sz="1200" b="1" dirty="0">
                <a:solidFill>
                  <a:srgbClr val="000000"/>
                </a:solidFill>
                <a:latin typeface="Calibri"/>
                <a:ea typeface="+mn-lt"/>
                <a:cs typeface="+mn-lt"/>
              </a:rPr>
              <a:t>demand normalized, leaving dealers overstocked and forcing JOUT to discount product, driving margins negative</a:t>
            </a:r>
          </a:p>
        </p:txBody>
      </p:sp>
      <p:grpSp>
        <p:nvGrpSpPr>
          <p:cNvPr id="17" name="Group 16">
            <a:extLst>
              <a:ext uri="{FF2B5EF4-FFF2-40B4-BE49-F238E27FC236}">
                <a16:creationId xmlns:a16="http://schemas.microsoft.com/office/drawing/2014/main" id="{5BBD0E9F-26D2-30A4-837C-7B44D79AAC39}"/>
              </a:ext>
            </a:extLst>
          </p:cNvPr>
          <p:cNvGrpSpPr/>
          <p:nvPr/>
        </p:nvGrpSpPr>
        <p:grpSpPr>
          <a:xfrm>
            <a:off x="0" y="6263508"/>
            <a:ext cx="9144000" cy="457200"/>
            <a:chOff x="0" y="2732884"/>
            <a:chExt cx="9144000" cy="457200"/>
          </a:xfrm>
        </p:grpSpPr>
        <p:sp>
          <p:nvSpPr>
            <p:cNvPr id="18" name="Rectangle 17">
              <a:extLst>
                <a:ext uri="{FF2B5EF4-FFF2-40B4-BE49-F238E27FC236}">
                  <a16:creationId xmlns:a16="http://schemas.microsoft.com/office/drawing/2014/main" id="{305E601D-BB64-87CD-F1F1-9D5519CC730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9" name="Group 18">
              <a:extLst>
                <a:ext uri="{FF2B5EF4-FFF2-40B4-BE49-F238E27FC236}">
                  <a16:creationId xmlns:a16="http://schemas.microsoft.com/office/drawing/2014/main" id="{71E491DD-8B17-5E78-A95E-C2B857ECA335}"/>
                </a:ext>
              </a:extLst>
            </p:cNvPr>
            <p:cNvGrpSpPr/>
            <p:nvPr/>
          </p:nvGrpSpPr>
          <p:grpSpPr>
            <a:xfrm>
              <a:off x="5021579" y="2732884"/>
              <a:ext cx="545306" cy="457200"/>
              <a:chOff x="4981575" y="2712036"/>
              <a:chExt cx="545306" cy="457200"/>
            </a:xfrm>
          </p:grpSpPr>
          <p:sp>
            <p:nvSpPr>
              <p:cNvPr id="55" name="Oval 54">
                <a:extLst>
                  <a:ext uri="{FF2B5EF4-FFF2-40B4-BE49-F238E27FC236}">
                    <a16:creationId xmlns:a16="http://schemas.microsoft.com/office/drawing/2014/main" id="{889159DB-A32E-2FA3-90AD-42096DB66448}"/>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56" name="Picture 55" descr="Related image">
                <a:extLst>
                  <a:ext uri="{FF2B5EF4-FFF2-40B4-BE49-F238E27FC236}">
                    <a16:creationId xmlns:a16="http://schemas.microsoft.com/office/drawing/2014/main" id="{28237F61-9C4B-1E71-432C-D80B522949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0" name="Group 19">
              <a:extLst>
                <a:ext uri="{FF2B5EF4-FFF2-40B4-BE49-F238E27FC236}">
                  <a16:creationId xmlns:a16="http://schemas.microsoft.com/office/drawing/2014/main" id="{744D7D8C-F309-D61D-9D07-12CCB85DFF3E}"/>
                </a:ext>
              </a:extLst>
            </p:cNvPr>
            <p:cNvGrpSpPr/>
            <p:nvPr/>
          </p:nvGrpSpPr>
          <p:grpSpPr>
            <a:xfrm>
              <a:off x="7910513" y="2732884"/>
              <a:ext cx="545306" cy="457200"/>
              <a:chOff x="7731919" y="2712036"/>
              <a:chExt cx="545306" cy="457200"/>
            </a:xfrm>
          </p:grpSpPr>
          <p:sp>
            <p:nvSpPr>
              <p:cNvPr id="53" name="Oval 52">
                <a:extLst>
                  <a:ext uri="{FF2B5EF4-FFF2-40B4-BE49-F238E27FC236}">
                    <a16:creationId xmlns:a16="http://schemas.microsoft.com/office/drawing/2014/main" id="{23C04CFC-2B86-BAB6-6F14-56C3BB784A66}"/>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54" name="Picture 53" descr="Related image">
                <a:extLst>
                  <a:ext uri="{FF2B5EF4-FFF2-40B4-BE49-F238E27FC236}">
                    <a16:creationId xmlns:a16="http://schemas.microsoft.com/office/drawing/2014/main" id="{3AAFCD40-B204-161A-0951-019E1F451B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22" name="Oval 21">
              <a:extLst>
                <a:ext uri="{FF2B5EF4-FFF2-40B4-BE49-F238E27FC236}">
                  <a16:creationId xmlns:a16="http://schemas.microsoft.com/office/drawing/2014/main" id="{1F3822C3-7BCA-E633-B97E-12196CB0D3C3}"/>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3" name="Group 22">
              <a:extLst>
                <a:ext uri="{FF2B5EF4-FFF2-40B4-BE49-F238E27FC236}">
                  <a16:creationId xmlns:a16="http://schemas.microsoft.com/office/drawing/2014/main" id="{4D1E84A1-99F6-4E63-9BDA-65C3136FD729}"/>
                </a:ext>
              </a:extLst>
            </p:cNvPr>
            <p:cNvGrpSpPr/>
            <p:nvPr/>
          </p:nvGrpSpPr>
          <p:grpSpPr>
            <a:xfrm>
              <a:off x="6466045" y="2732884"/>
              <a:ext cx="545306" cy="457200"/>
              <a:chOff x="6353175" y="2712036"/>
              <a:chExt cx="545306" cy="457200"/>
            </a:xfrm>
          </p:grpSpPr>
          <p:sp>
            <p:nvSpPr>
              <p:cNvPr id="51" name="Oval 50">
                <a:extLst>
                  <a:ext uri="{FF2B5EF4-FFF2-40B4-BE49-F238E27FC236}">
                    <a16:creationId xmlns:a16="http://schemas.microsoft.com/office/drawing/2014/main" id="{781B6C4E-A649-337F-1177-3E1D4F302CBF}"/>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52" name="Graphic 14379" descr="Dollar with solid fill">
                <a:extLst>
                  <a:ext uri="{FF2B5EF4-FFF2-40B4-BE49-F238E27FC236}">
                    <a16:creationId xmlns:a16="http://schemas.microsoft.com/office/drawing/2014/main" id="{F9BF4FB5-CD15-62ED-6D14-E66DE196F544}"/>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24" name="Group 23">
              <a:extLst>
                <a:ext uri="{FF2B5EF4-FFF2-40B4-BE49-F238E27FC236}">
                  <a16:creationId xmlns:a16="http://schemas.microsoft.com/office/drawing/2014/main" id="{3A8070B8-E622-17C5-1FD8-6440DF85C337}"/>
                </a:ext>
              </a:extLst>
            </p:cNvPr>
            <p:cNvGrpSpPr/>
            <p:nvPr/>
          </p:nvGrpSpPr>
          <p:grpSpPr>
            <a:xfrm>
              <a:off x="3577113" y="2732884"/>
              <a:ext cx="545306" cy="457200"/>
              <a:chOff x="3609974" y="2715607"/>
              <a:chExt cx="545306" cy="457200"/>
            </a:xfrm>
          </p:grpSpPr>
          <p:sp>
            <p:nvSpPr>
              <p:cNvPr id="34" name="Oval 33">
                <a:extLst>
                  <a:ext uri="{FF2B5EF4-FFF2-40B4-BE49-F238E27FC236}">
                    <a16:creationId xmlns:a16="http://schemas.microsoft.com/office/drawing/2014/main" id="{1ABAF349-C115-3988-F9B5-6594281558A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37" name="Group 36">
                <a:extLst>
                  <a:ext uri="{FF2B5EF4-FFF2-40B4-BE49-F238E27FC236}">
                    <a16:creationId xmlns:a16="http://schemas.microsoft.com/office/drawing/2014/main" id="{15127F28-5CD3-670D-48D7-32BCD73923EA}"/>
                  </a:ext>
                </a:extLst>
              </p:cNvPr>
              <p:cNvGrpSpPr/>
              <p:nvPr/>
            </p:nvGrpSpPr>
            <p:grpSpPr>
              <a:xfrm>
                <a:off x="3769049" y="2811218"/>
                <a:ext cx="227157" cy="265979"/>
                <a:chOff x="3771206" y="2761936"/>
                <a:chExt cx="227157" cy="265979"/>
              </a:xfrm>
            </p:grpSpPr>
            <p:sp>
              <p:nvSpPr>
                <p:cNvPr id="47" name="Freeform: Shape 46">
                  <a:extLst>
                    <a:ext uri="{FF2B5EF4-FFF2-40B4-BE49-F238E27FC236}">
                      <a16:creationId xmlns:a16="http://schemas.microsoft.com/office/drawing/2014/main" id="{8697C448-C9B6-6A54-8C95-FCF6B324B409}"/>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48" name="Freeform: Shape 47">
                  <a:extLst>
                    <a:ext uri="{FF2B5EF4-FFF2-40B4-BE49-F238E27FC236}">
                      <a16:creationId xmlns:a16="http://schemas.microsoft.com/office/drawing/2014/main" id="{D6767A6D-1FAC-D69F-3BAE-CF0D0816C69C}"/>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29" name="Group 28">
              <a:extLst>
                <a:ext uri="{FF2B5EF4-FFF2-40B4-BE49-F238E27FC236}">
                  <a16:creationId xmlns:a16="http://schemas.microsoft.com/office/drawing/2014/main" id="{C424F6E5-6ABA-9876-C6B5-E2A905415137}"/>
                </a:ext>
              </a:extLst>
            </p:cNvPr>
            <p:cNvGrpSpPr/>
            <p:nvPr/>
          </p:nvGrpSpPr>
          <p:grpSpPr>
            <a:xfrm>
              <a:off x="2132647" y="2732884"/>
              <a:ext cx="545306" cy="457200"/>
              <a:chOff x="2238375" y="2712635"/>
              <a:chExt cx="545306" cy="457200"/>
            </a:xfrm>
          </p:grpSpPr>
          <p:sp>
            <p:nvSpPr>
              <p:cNvPr id="31" name="Oval 30">
                <a:extLst>
                  <a:ext uri="{FF2B5EF4-FFF2-40B4-BE49-F238E27FC236}">
                    <a16:creationId xmlns:a16="http://schemas.microsoft.com/office/drawing/2014/main" id="{C35D0045-6DE8-7727-15D6-0B842656ED7D}"/>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32" name="Graphic 14377" descr="Board Of Directors with solid fill">
                <a:extLst>
                  <a:ext uri="{FF2B5EF4-FFF2-40B4-BE49-F238E27FC236}">
                    <a16:creationId xmlns:a16="http://schemas.microsoft.com/office/drawing/2014/main" id="{8C033EDF-9C53-5E67-8F1A-0313285ED43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57" name="Graphic 56" descr="Lights On with solid fill">
            <a:extLst>
              <a:ext uri="{FF2B5EF4-FFF2-40B4-BE49-F238E27FC236}">
                <a16:creationId xmlns:a16="http://schemas.microsoft.com/office/drawing/2014/main" id="{574DF7B0-1EB5-A989-3A8C-25FA2F0A498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4979" y="6263508"/>
            <a:ext cx="461513" cy="461513"/>
          </a:xfrm>
          <a:prstGeom prst="rect">
            <a:avLst/>
          </a:prstGeom>
        </p:spPr>
      </p:pic>
      <p:grpSp>
        <p:nvGrpSpPr>
          <p:cNvPr id="63" name="Group 62">
            <a:extLst>
              <a:ext uri="{FF2B5EF4-FFF2-40B4-BE49-F238E27FC236}">
                <a16:creationId xmlns:a16="http://schemas.microsoft.com/office/drawing/2014/main" id="{F3EF7951-593E-1B51-3F70-49013631EA2E}"/>
              </a:ext>
            </a:extLst>
          </p:cNvPr>
          <p:cNvGrpSpPr/>
          <p:nvPr/>
        </p:nvGrpSpPr>
        <p:grpSpPr>
          <a:xfrm>
            <a:off x="0" y="6265664"/>
            <a:ext cx="9144000" cy="457200"/>
            <a:chOff x="0" y="2732884"/>
            <a:chExt cx="9144000" cy="457200"/>
          </a:xfrm>
        </p:grpSpPr>
        <p:sp>
          <p:nvSpPr>
            <p:cNvPr id="24576" name="Rectangle 24575">
              <a:extLst>
                <a:ext uri="{FF2B5EF4-FFF2-40B4-BE49-F238E27FC236}">
                  <a16:creationId xmlns:a16="http://schemas.microsoft.com/office/drawing/2014/main" id="{926D9DA1-5E9D-90C6-E2C8-9E1E837FE795}"/>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24577" name="Group 24576">
              <a:extLst>
                <a:ext uri="{FF2B5EF4-FFF2-40B4-BE49-F238E27FC236}">
                  <a16:creationId xmlns:a16="http://schemas.microsoft.com/office/drawing/2014/main" id="{391D565F-8479-DB73-49FA-A51A69A34485}"/>
                </a:ext>
              </a:extLst>
            </p:cNvPr>
            <p:cNvGrpSpPr/>
            <p:nvPr/>
          </p:nvGrpSpPr>
          <p:grpSpPr>
            <a:xfrm>
              <a:off x="5021579" y="2732884"/>
              <a:ext cx="545306" cy="457200"/>
              <a:chOff x="4981575" y="2712036"/>
              <a:chExt cx="545306" cy="457200"/>
            </a:xfrm>
          </p:grpSpPr>
          <p:sp>
            <p:nvSpPr>
              <p:cNvPr id="24598" name="Oval 24597">
                <a:extLst>
                  <a:ext uri="{FF2B5EF4-FFF2-40B4-BE49-F238E27FC236}">
                    <a16:creationId xmlns:a16="http://schemas.microsoft.com/office/drawing/2014/main" id="{CC24DE72-52F9-D42F-ECB1-968ECF9DC7A5}"/>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4599" name="Picture 24598" descr="Related image">
                <a:extLst>
                  <a:ext uri="{FF2B5EF4-FFF2-40B4-BE49-F238E27FC236}">
                    <a16:creationId xmlns:a16="http://schemas.microsoft.com/office/drawing/2014/main" id="{A70F3219-7DA2-EFDF-FD0B-CB02671EEA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4578" name="Group 24577">
              <a:extLst>
                <a:ext uri="{FF2B5EF4-FFF2-40B4-BE49-F238E27FC236}">
                  <a16:creationId xmlns:a16="http://schemas.microsoft.com/office/drawing/2014/main" id="{AF33A404-BD18-A06A-B28F-984B324C323C}"/>
                </a:ext>
              </a:extLst>
            </p:cNvPr>
            <p:cNvGrpSpPr/>
            <p:nvPr/>
          </p:nvGrpSpPr>
          <p:grpSpPr>
            <a:xfrm>
              <a:off x="7910513" y="2732884"/>
              <a:ext cx="545306" cy="457200"/>
              <a:chOff x="7731919" y="2712036"/>
              <a:chExt cx="545306" cy="457200"/>
            </a:xfrm>
          </p:grpSpPr>
          <p:sp>
            <p:nvSpPr>
              <p:cNvPr id="24596" name="Oval 24595">
                <a:extLst>
                  <a:ext uri="{FF2B5EF4-FFF2-40B4-BE49-F238E27FC236}">
                    <a16:creationId xmlns:a16="http://schemas.microsoft.com/office/drawing/2014/main" id="{F8B6B8CD-5457-6807-597E-1763BF445096}"/>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4597" name="Picture 24596" descr="Related image">
                <a:extLst>
                  <a:ext uri="{FF2B5EF4-FFF2-40B4-BE49-F238E27FC236}">
                    <a16:creationId xmlns:a16="http://schemas.microsoft.com/office/drawing/2014/main" id="{D066968E-2BB4-1CA4-B975-C81701D415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24592" name="Oval 24591">
              <a:extLst>
                <a:ext uri="{FF2B5EF4-FFF2-40B4-BE49-F238E27FC236}">
                  <a16:creationId xmlns:a16="http://schemas.microsoft.com/office/drawing/2014/main" id="{87AC7D5B-F55E-6EFD-5D62-B666F6F938A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4580" name="Group 24579">
              <a:extLst>
                <a:ext uri="{FF2B5EF4-FFF2-40B4-BE49-F238E27FC236}">
                  <a16:creationId xmlns:a16="http://schemas.microsoft.com/office/drawing/2014/main" id="{65543D7E-59D0-8535-6EAB-807C08846CAE}"/>
                </a:ext>
              </a:extLst>
            </p:cNvPr>
            <p:cNvGrpSpPr/>
            <p:nvPr/>
          </p:nvGrpSpPr>
          <p:grpSpPr>
            <a:xfrm>
              <a:off x="6466045" y="2732884"/>
              <a:ext cx="545306" cy="457200"/>
              <a:chOff x="6353175" y="2712036"/>
              <a:chExt cx="545306" cy="457200"/>
            </a:xfrm>
          </p:grpSpPr>
          <p:sp>
            <p:nvSpPr>
              <p:cNvPr id="24590" name="Oval 24589">
                <a:extLst>
                  <a:ext uri="{FF2B5EF4-FFF2-40B4-BE49-F238E27FC236}">
                    <a16:creationId xmlns:a16="http://schemas.microsoft.com/office/drawing/2014/main" id="{8123C6F7-25AE-9866-A37F-641CB3C45643}"/>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24591" name="Graphic 14379" descr="Dollar with solid fill">
                <a:extLst>
                  <a:ext uri="{FF2B5EF4-FFF2-40B4-BE49-F238E27FC236}">
                    <a16:creationId xmlns:a16="http://schemas.microsoft.com/office/drawing/2014/main" id="{96903D15-514E-E872-78BE-11560B828404}"/>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24581" name="Group 24580">
              <a:extLst>
                <a:ext uri="{FF2B5EF4-FFF2-40B4-BE49-F238E27FC236}">
                  <a16:creationId xmlns:a16="http://schemas.microsoft.com/office/drawing/2014/main" id="{87FCCCDE-B887-C249-621A-317A732A14D6}"/>
                </a:ext>
              </a:extLst>
            </p:cNvPr>
            <p:cNvGrpSpPr/>
            <p:nvPr/>
          </p:nvGrpSpPr>
          <p:grpSpPr>
            <a:xfrm>
              <a:off x="3577113" y="2732884"/>
              <a:ext cx="545306" cy="457200"/>
              <a:chOff x="3609974" y="2715607"/>
              <a:chExt cx="545306" cy="457200"/>
            </a:xfrm>
          </p:grpSpPr>
          <p:sp>
            <p:nvSpPr>
              <p:cNvPr id="24585" name="Oval 24584">
                <a:extLst>
                  <a:ext uri="{FF2B5EF4-FFF2-40B4-BE49-F238E27FC236}">
                    <a16:creationId xmlns:a16="http://schemas.microsoft.com/office/drawing/2014/main" id="{0FED0783-6A3B-C3F4-F809-A90F817C1C26}"/>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4587" name="Group 24586">
                <a:extLst>
                  <a:ext uri="{FF2B5EF4-FFF2-40B4-BE49-F238E27FC236}">
                    <a16:creationId xmlns:a16="http://schemas.microsoft.com/office/drawing/2014/main" id="{11D1DC42-57F3-3058-0B96-FAB715C9B7B7}"/>
                  </a:ext>
                </a:extLst>
              </p:cNvPr>
              <p:cNvGrpSpPr/>
              <p:nvPr/>
            </p:nvGrpSpPr>
            <p:grpSpPr>
              <a:xfrm>
                <a:off x="3769049" y="2811218"/>
                <a:ext cx="227157" cy="265979"/>
                <a:chOff x="3771206" y="2761936"/>
                <a:chExt cx="227157" cy="265979"/>
              </a:xfrm>
            </p:grpSpPr>
            <p:sp>
              <p:nvSpPr>
                <p:cNvPr id="24588" name="Freeform: Shape 24587">
                  <a:extLst>
                    <a:ext uri="{FF2B5EF4-FFF2-40B4-BE49-F238E27FC236}">
                      <a16:creationId xmlns:a16="http://schemas.microsoft.com/office/drawing/2014/main" id="{3C3CF50C-C37A-D142-7CAA-2915F2C3D561}"/>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24589" name="Freeform: Shape 24588">
                  <a:extLst>
                    <a:ext uri="{FF2B5EF4-FFF2-40B4-BE49-F238E27FC236}">
                      <a16:creationId xmlns:a16="http://schemas.microsoft.com/office/drawing/2014/main" id="{80DE3D2C-97C6-9BA5-690B-A2E1AC3FD74C}"/>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24582" name="Group 24581">
              <a:extLst>
                <a:ext uri="{FF2B5EF4-FFF2-40B4-BE49-F238E27FC236}">
                  <a16:creationId xmlns:a16="http://schemas.microsoft.com/office/drawing/2014/main" id="{FC43A7A9-852A-94C7-0E52-97EA080155C4}"/>
                </a:ext>
              </a:extLst>
            </p:cNvPr>
            <p:cNvGrpSpPr/>
            <p:nvPr/>
          </p:nvGrpSpPr>
          <p:grpSpPr>
            <a:xfrm>
              <a:off x="2132647" y="2732884"/>
              <a:ext cx="545306" cy="457200"/>
              <a:chOff x="2238375" y="2712635"/>
              <a:chExt cx="545306" cy="457200"/>
            </a:xfrm>
          </p:grpSpPr>
          <p:sp>
            <p:nvSpPr>
              <p:cNvPr id="24583" name="Oval 24582">
                <a:extLst>
                  <a:ext uri="{FF2B5EF4-FFF2-40B4-BE49-F238E27FC236}">
                    <a16:creationId xmlns:a16="http://schemas.microsoft.com/office/drawing/2014/main" id="{F00A40E5-CEF3-9E22-CB54-155543E80DB6}"/>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24584" name="Graphic 14377" descr="Board Of Directors with solid fill">
                <a:extLst>
                  <a:ext uri="{FF2B5EF4-FFF2-40B4-BE49-F238E27FC236}">
                    <a16:creationId xmlns:a16="http://schemas.microsoft.com/office/drawing/2014/main" id="{DB318E67-180C-7671-3238-2211A9524D1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24601" name="Graphic 24600" descr="Lights On with solid fill">
            <a:extLst>
              <a:ext uri="{FF2B5EF4-FFF2-40B4-BE49-F238E27FC236}">
                <a16:creationId xmlns:a16="http://schemas.microsoft.com/office/drawing/2014/main" id="{FD9698BB-4CB7-1239-1BBF-6CC8150FE54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4979" y="6263507"/>
            <a:ext cx="461513" cy="461513"/>
          </a:xfrm>
          <a:prstGeom prst="rect">
            <a:avLst/>
          </a:prstGeom>
        </p:spPr>
      </p:pic>
      <p:sp>
        <p:nvSpPr>
          <p:cNvPr id="10" name="Text Box 2">
            <a:extLst>
              <a:ext uri="{FF2B5EF4-FFF2-40B4-BE49-F238E27FC236}">
                <a16:creationId xmlns:a16="http://schemas.microsoft.com/office/drawing/2014/main" id="{DAEAA86D-E851-3FA4-4E06-DEB712627C1A}"/>
              </a:ext>
            </a:extLst>
          </p:cNvPr>
          <p:cNvSpPr txBox="1">
            <a:spLocks noChangeArrowheads="1"/>
          </p:cNvSpPr>
          <p:nvPr/>
        </p:nvSpPr>
        <p:spPr bwMode="auto">
          <a:xfrm>
            <a:off x="46946" y="711291"/>
            <a:ext cx="5134755" cy="252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000000"/>
                </a:solidFill>
                <a:latin typeface="Calibri"/>
                <a:ea typeface="Calibri"/>
                <a:cs typeface="Times New Roman"/>
              </a:rPr>
              <a:t>Figure 5: Revenue Contraction and Margin Collapse</a:t>
            </a:r>
          </a:p>
          <a:p>
            <a:pPr eaLnBrk="1" hangingPunct="1">
              <a:lnSpc>
                <a:spcPct val="115000"/>
              </a:lnSpc>
              <a:spcAft>
                <a:spcPts val="751"/>
              </a:spcAft>
            </a:pPr>
            <a:endParaRPr lang="en-US" altLang="en-US" sz="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2">
            <a:extLst>
              <a:ext uri="{FF2B5EF4-FFF2-40B4-BE49-F238E27FC236}">
                <a16:creationId xmlns:a16="http://schemas.microsoft.com/office/drawing/2014/main" id="{33A9B518-C954-62F9-F0F2-697DA83B11A3}"/>
              </a:ext>
            </a:extLst>
          </p:cNvPr>
          <p:cNvSpPr txBox="1">
            <a:spLocks noChangeArrowheads="1"/>
          </p:cNvSpPr>
          <p:nvPr/>
        </p:nvSpPr>
        <p:spPr bwMode="auto">
          <a:xfrm>
            <a:off x="3880685" y="2948853"/>
            <a:ext cx="4774657" cy="354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000000"/>
                </a:solidFill>
                <a:latin typeface="Calibri"/>
                <a:ea typeface="Calibri"/>
                <a:cs typeface="Times New Roman"/>
              </a:rPr>
              <a:t>Figure 6: JOUT DIO (Last 7 years): Fishing Revenue (Last 7 Years): Operating Margin (Last 7 years): Calculated trends </a:t>
            </a:r>
          </a:p>
          <a:p>
            <a:pPr eaLnBrk="1" hangingPunct="1">
              <a:lnSpc>
                <a:spcPct val="115000"/>
              </a:lnSpc>
              <a:spcAft>
                <a:spcPts val="751"/>
              </a:spcAft>
            </a:pPr>
            <a:endParaRPr lang="en-US" altLang="en-US" sz="12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1B21E52B-225D-22C9-B5D8-F889B4EAAC4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7</a:t>
            </a:fld>
            <a:endParaRPr lang="en-US" sz="1400">
              <a:latin typeface="Calibri" panose="020F0502020204030204" pitchFamily="34" charset="0"/>
              <a:cs typeface="Calibri" panose="020F0502020204030204" pitchFamily="34" charset="0"/>
            </a:endParaRPr>
          </a:p>
        </p:txBody>
      </p:sp>
      <p:sp>
        <p:nvSpPr>
          <p:cNvPr id="16" name="Text Box 2">
            <a:extLst>
              <a:ext uri="{FF2B5EF4-FFF2-40B4-BE49-F238E27FC236}">
                <a16:creationId xmlns:a16="http://schemas.microsoft.com/office/drawing/2014/main" id="{86B165D3-C162-B29F-B919-07D4664F10F2}"/>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7" name="Table 6">
            <a:extLst>
              <a:ext uri="{FF2B5EF4-FFF2-40B4-BE49-F238E27FC236}">
                <a16:creationId xmlns:a16="http://schemas.microsoft.com/office/drawing/2014/main" id="{64280518-CB26-622C-CC6E-A2228C1EFF66}"/>
              </a:ext>
            </a:extLst>
          </p:cNvPr>
          <p:cNvGraphicFramePr>
            <a:graphicFrameLocks noGrp="1"/>
          </p:cNvGraphicFramePr>
          <p:nvPr>
            <p:custDataLst>
              <p:tags r:id="rId1"/>
            </p:custDataLst>
            <p:extLst>
              <p:ext uri="{D42A27DB-BD31-4B8C-83A1-F6EECF244321}">
                <p14:modId xmlns:p14="http://schemas.microsoft.com/office/powerpoint/2010/main" val="1530457432"/>
              </p:ext>
            </p:extLst>
          </p:nvPr>
        </p:nvGraphicFramePr>
        <p:xfrm>
          <a:off x="3963345" y="3440918"/>
          <a:ext cx="4761284" cy="2646279"/>
        </p:xfrm>
        <a:graphic>
          <a:graphicData uri="http://schemas.openxmlformats.org/drawingml/2006/table">
            <a:tbl>
              <a:tblPr bandRow="1">
                <a:tableStyleId>{5C22544A-7EE6-4342-B048-85BDC9FD1C3A}</a:tableStyleId>
              </a:tblPr>
              <a:tblGrid>
                <a:gridCol w="1117092">
                  <a:extLst>
                    <a:ext uri="{9D8B030D-6E8A-4147-A177-3AD203B41FA5}">
                      <a16:colId xmlns:a16="http://schemas.microsoft.com/office/drawing/2014/main" val="1417924333"/>
                    </a:ext>
                  </a:extLst>
                </a:gridCol>
                <a:gridCol w="1160614">
                  <a:extLst>
                    <a:ext uri="{9D8B030D-6E8A-4147-A177-3AD203B41FA5}">
                      <a16:colId xmlns:a16="http://schemas.microsoft.com/office/drawing/2014/main" val="3357465961"/>
                    </a:ext>
                  </a:extLst>
                </a:gridCol>
                <a:gridCol w="1247662">
                  <a:extLst>
                    <a:ext uri="{9D8B030D-6E8A-4147-A177-3AD203B41FA5}">
                      <a16:colId xmlns:a16="http://schemas.microsoft.com/office/drawing/2014/main" val="721364647"/>
                    </a:ext>
                  </a:extLst>
                </a:gridCol>
                <a:gridCol w="1235916">
                  <a:extLst>
                    <a:ext uri="{9D8B030D-6E8A-4147-A177-3AD203B41FA5}">
                      <a16:colId xmlns:a16="http://schemas.microsoft.com/office/drawing/2014/main" val="1282695923"/>
                    </a:ext>
                  </a:extLst>
                </a:gridCol>
              </a:tblGrid>
              <a:tr h="421210">
                <a:tc>
                  <a:txBody>
                    <a:bodyPr/>
                    <a:lstStyle/>
                    <a:p>
                      <a:pPr marL="0" algn="ctr" defTabSz="685783" rtl="0" eaLnBrk="1" fontAlgn="b" latinLnBrk="0" hangingPunct="1">
                        <a:buNone/>
                      </a:pPr>
                      <a:r>
                        <a:rPr lang="en-US" sz="1200" b="1" kern="1200" dirty="0">
                          <a:solidFill>
                            <a:srgbClr val="000000"/>
                          </a:solidFill>
                          <a:latin typeface="Calibri"/>
                          <a:ea typeface="+mn-lt"/>
                          <a:cs typeface="+mn-lt"/>
                        </a:rPr>
                        <a:t>Year</a:t>
                      </a:r>
                    </a:p>
                  </a:txBody>
                  <a:tcPr marL="9525" marR="9525" marT="9525" anchor="ctr">
                    <a:lnL w="0" cap="flat" cmpd="sng" algn="ctr">
                      <a:noFill/>
                      <a:prstDash val="solid"/>
                      <a:round/>
                      <a:headEnd type="none" w="med" len="med"/>
                      <a:tailEnd type="none" w="med" len="med"/>
                    </a:lnL>
                    <a:lnR w="0">
                      <a:noFill/>
                    </a:lnR>
                    <a:lnT w="0" cap="flat" cmpd="sng" algn="ctr">
                      <a:noFill/>
                      <a:prstDash val="solid"/>
                      <a:round/>
                      <a:headEnd type="none" w="med" len="med"/>
                      <a:tailEnd type="none" w="med" len="med"/>
                    </a:lnT>
                    <a:lnB w="0">
                      <a:noFill/>
                    </a:lnB>
                    <a:solidFill>
                      <a:srgbClr val="F2C755"/>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Fishing Revenue ($M)</a:t>
                      </a:r>
                    </a:p>
                  </a:txBody>
                  <a:tcPr marL="9525" marR="9525" marT="9525" anchor="b">
                    <a:lnL w="0">
                      <a:noFill/>
                    </a:lnL>
                    <a:lnR w="0">
                      <a:noFill/>
                    </a:lnR>
                    <a:lnT w="0" cap="flat" cmpd="sng" algn="ctr">
                      <a:noFill/>
                      <a:prstDash val="solid"/>
                      <a:round/>
                      <a:headEnd type="none" w="med" len="med"/>
                      <a:tailEnd type="none" w="med" len="med"/>
                    </a:lnT>
                    <a:lnB w="0">
                      <a:noFill/>
                    </a:lnB>
                    <a:solidFill>
                      <a:srgbClr val="F2C755"/>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Operating Margin (%)</a:t>
                      </a:r>
                    </a:p>
                  </a:txBody>
                  <a:tcPr marL="9525" marR="9525" marT="9525" anchor="b">
                    <a:lnL w="0">
                      <a:noFill/>
                    </a:lnL>
                    <a:lnR w="0">
                      <a:noFill/>
                    </a:lnR>
                    <a:lnT w="0" cap="flat" cmpd="sng" algn="ctr">
                      <a:noFill/>
                      <a:prstDash val="solid"/>
                      <a:round/>
                      <a:headEnd type="none" w="med" len="med"/>
                      <a:tailEnd type="none" w="med" len="med"/>
                    </a:lnT>
                    <a:lnB w="0">
                      <a:noFill/>
                    </a:lnB>
                    <a:solidFill>
                      <a:srgbClr val="F2C755"/>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Calculated DIO (Days)</a:t>
                      </a:r>
                    </a:p>
                  </a:txBody>
                  <a:tcPr marL="9525" marR="9525" marT="9525" anchor="b">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rgbClr val="F2C755"/>
                    </a:solidFill>
                  </a:tcPr>
                </a:tc>
                <a:extLst>
                  <a:ext uri="{0D108BD9-81ED-4DB2-BD59-A6C34878D82A}">
                    <a16:rowId xmlns:a16="http://schemas.microsoft.com/office/drawing/2014/main" val="3002865621"/>
                  </a:ext>
                </a:extLst>
              </a:tr>
              <a:tr h="317867">
                <a:tc>
                  <a:txBody>
                    <a:bodyPr/>
                    <a:lstStyle/>
                    <a:p>
                      <a:pPr algn="ctr" fontAlgn="b">
                        <a:buNone/>
                      </a:pPr>
                      <a:r>
                        <a:rPr lang="en-US" sz="1200" kern="1200" dirty="0">
                          <a:solidFill>
                            <a:srgbClr val="000000"/>
                          </a:solidFill>
                          <a:latin typeface="Calibri"/>
                          <a:ea typeface="+mn-lt"/>
                          <a:cs typeface="+mn-lt"/>
                        </a:rPr>
                        <a:t>2018</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85000"/>
                      </a:schemeClr>
                    </a:solidFill>
                  </a:tcPr>
                </a:tc>
                <a:tc>
                  <a:txBody>
                    <a:bodyPr/>
                    <a:lstStyle/>
                    <a:p>
                      <a:pPr algn="ctr" fontAlgn="b">
                        <a:buNone/>
                      </a:pPr>
                      <a:r>
                        <a:rPr lang="en-US" sz="1200" kern="1200" dirty="0">
                          <a:solidFill>
                            <a:srgbClr val="000000"/>
                          </a:solidFill>
                          <a:latin typeface="Calibri"/>
                          <a:ea typeface="+mn-lt"/>
                          <a:cs typeface="+mn-lt"/>
                        </a:rPr>
                        <a:t>391.3</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85000"/>
                      </a:schemeClr>
                    </a:solidFill>
                  </a:tcPr>
                </a:tc>
                <a:tc>
                  <a:txBody>
                    <a:bodyPr/>
                    <a:lstStyle/>
                    <a:p>
                      <a:pPr algn="ctr" fontAlgn="b">
                        <a:buNone/>
                      </a:pPr>
                      <a:r>
                        <a:rPr lang="en-US" sz="1200" kern="1200" dirty="0">
                          <a:solidFill>
                            <a:srgbClr val="000000"/>
                          </a:solidFill>
                          <a:latin typeface="Calibri"/>
                          <a:ea typeface="+mn-lt"/>
                          <a:cs typeface="+mn-lt"/>
                        </a:rPr>
                        <a:t>11.6</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85000"/>
                      </a:schemeClr>
                    </a:solidFill>
                  </a:tcPr>
                </a:tc>
                <a:tc>
                  <a:txBody>
                    <a:bodyPr/>
                    <a:lstStyle/>
                    <a:p>
                      <a:pPr algn="ctr" fontAlgn="b">
                        <a:buNone/>
                      </a:pPr>
                      <a:r>
                        <a:rPr lang="en-US" sz="1200" kern="1200" dirty="0">
                          <a:solidFill>
                            <a:srgbClr val="000000"/>
                          </a:solidFill>
                          <a:latin typeface="Calibri"/>
                          <a:ea typeface="+mn-lt"/>
                          <a:cs typeface="+mn-lt"/>
                        </a:rPr>
                        <a:t>107.3</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85000"/>
                      </a:schemeClr>
                    </a:solidFill>
                  </a:tcPr>
                </a:tc>
                <a:extLst>
                  <a:ext uri="{0D108BD9-81ED-4DB2-BD59-A6C34878D82A}">
                    <a16:rowId xmlns:a16="http://schemas.microsoft.com/office/drawing/2014/main" val="2908421145"/>
                  </a:ext>
                </a:extLst>
              </a:tr>
              <a:tr h="317867">
                <a:tc>
                  <a:txBody>
                    <a:bodyPr/>
                    <a:lstStyle/>
                    <a:p>
                      <a:pPr algn="ctr" fontAlgn="b">
                        <a:buNone/>
                      </a:pPr>
                      <a:r>
                        <a:rPr lang="en-US" sz="1200" kern="1200" dirty="0">
                          <a:solidFill>
                            <a:srgbClr val="000000"/>
                          </a:solidFill>
                          <a:latin typeface="Calibri"/>
                          <a:ea typeface="+mn-lt"/>
                          <a:cs typeface="+mn-lt"/>
                        </a:rPr>
                        <a:t>2019</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tc>
                  <a:txBody>
                    <a:bodyPr/>
                    <a:lstStyle/>
                    <a:p>
                      <a:pPr algn="ctr" fontAlgn="b">
                        <a:buNone/>
                      </a:pPr>
                      <a:r>
                        <a:rPr lang="en-US" sz="1200" kern="1200" dirty="0">
                          <a:solidFill>
                            <a:srgbClr val="000000"/>
                          </a:solidFill>
                          <a:latin typeface="Calibri"/>
                          <a:ea typeface="+mn-lt"/>
                          <a:cs typeface="+mn-lt"/>
                        </a:rPr>
                        <a:t>412.7</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tc>
                  <a:txBody>
                    <a:bodyPr/>
                    <a:lstStyle/>
                    <a:p>
                      <a:pPr algn="ctr" fontAlgn="b">
                        <a:buNone/>
                      </a:pPr>
                      <a:r>
                        <a:rPr lang="en-US" sz="1200" kern="1200" dirty="0">
                          <a:solidFill>
                            <a:srgbClr val="000000"/>
                          </a:solidFill>
                          <a:latin typeface="Calibri"/>
                          <a:ea typeface="+mn-lt"/>
                          <a:cs typeface="+mn-lt"/>
                        </a:rPr>
                        <a:t>11.3</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tc>
                  <a:txBody>
                    <a:bodyPr/>
                    <a:lstStyle/>
                    <a:p>
                      <a:pPr algn="ctr" fontAlgn="b">
                        <a:buNone/>
                      </a:pPr>
                      <a:r>
                        <a:rPr lang="en-US" sz="1200" kern="1200" dirty="0">
                          <a:solidFill>
                            <a:srgbClr val="000000"/>
                          </a:solidFill>
                          <a:latin typeface="Calibri"/>
                          <a:ea typeface="+mn-lt"/>
                          <a:cs typeface="+mn-lt"/>
                        </a:rPr>
                        <a:t>108.7</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130740722"/>
                  </a:ext>
                </a:extLst>
              </a:tr>
              <a:tr h="317867">
                <a:tc>
                  <a:txBody>
                    <a:bodyPr/>
                    <a:lstStyle/>
                    <a:p>
                      <a:pPr marL="0" algn="ctr" defTabSz="685783" rtl="0" eaLnBrk="1" fontAlgn="b" latinLnBrk="0" hangingPunct="1">
                        <a:buNone/>
                      </a:pPr>
                      <a:r>
                        <a:rPr lang="en-US" sz="1200" kern="1200" dirty="0">
                          <a:solidFill>
                            <a:srgbClr val="000000"/>
                          </a:solidFill>
                          <a:latin typeface="Calibri"/>
                          <a:ea typeface="+mn-lt"/>
                          <a:cs typeface="+mn-lt"/>
                        </a:rPr>
                        <a:t>2020</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85000"/>
                      </a:schemeClr>
                    </a:solidFill>
                  </a:tcPr>
                </a:tc>
                <a:tc>
                  <a:txBody>
                    <a:bodyPr/>
                    <a:lstStyle/>
                    <a:p>
                      <a:pPr marL="0" algn="ctr" defTabSz="685783" rtl="0" eaLnBrk="1" fontAlgn="b" latinLnBrk="0" hangingPunct="1">
                        <a:buNone/>
                      </a:pPr>
                      <a:r>
                        <a:rPr lang="en-US" sz="1200" kern="1200" dirty="0">
                          <a:solidFill>
                            <a:srgbClr val="000000"/>
                          </a:solidFill>
                          <a:latin typeface="Calibri"/>
                          <a:ea typeface="+mn-lt"/>
                          <a:cs typeface="+mn-lt"/>
                        </a:rPr>
                        <a:t>449.3</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85000"/>
                      </a:schemeClr>
                    </a:solidFill>
                  </a:tcPr>
                </a:tc>
                <a:tc>
                  <a:txBody>
                    <a:bodyPr/>
                    <a:lstStyle/>
                    <a:p>
                      <a:pPr marL="0" algn="ctr" defTabSz="685783" rtl="0" eaLnBrk="1" fontAlgn="b" latinLnBrk="0" hangingPunct="1">
                        <a:buNone/>
                      </a:pPr>
                      <a:r>
                        <a:rPr lang="en-US" sz="1200" kern="1200" dirty="0">
                          <a:solidFill>
                            <a:srgbClr val="000000"/>
                          </a:solidFill>
                          <a:latin typeface="Calibri"/>
                          <a:ea typeface="+mn-lt"/>
                          <a:cs typeface="+mn-lt"/>
                        </a:rPr>
                        <a:t>12.0</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85000"/>
                      </a:schemeClr>
                    </a:solidFill>
                  </a:tcPr>
                </a:tc>
                <a:tc>
                  <a:txBody>
                    <a:bodyPr/>
                    <a:lstStyle/>
                    <a:p>
                      <a:pPr marL="0" algn="ctr" defTabSz="685783" rtl="0" eaLnBrk="1" fontAlgn="b" latinLnBrk="0" hangingPunct="1">
                        <a:buNone/>
                      </a:pPr>
                      <a:r>
                        <a:rPr lang="en-US" sz="1200" kern="1200" dirty="0">
                          <a:solidFill>
                            <a:srgbClr val="000000"/>
                          </a:solidFill>
                          <a:latin typeface="Calibri"/>
                          <a:ea typeface="+mn-lt"/>
                          <a:cs typeface="+mn-lt"/>
                        </a:rPr>
                        <a:t>106.8</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85000"/>
                      </a:schemeClr>
                    </a:solidFill>
                  </a:tcPr>
                </a:tc>
                <a:extLst>
                  <a:ext uri="{0D108BD9-81ED-4DB2-BD59-A6C34878D82A}">
                    <a16:rowId xmlns:a16="http://schemas.microsoft.com/office/drawing/2014/main" val="1757898942"/>
                  </a:ext>
                </a:extLst>
              </a:tr>
              <a:tr h="317867">
                <a:tc>
                  <a:txBody>
                    <a:bodyPr/>
                    <a:lstStyle/>
                    <a:p>
                      <a:pPr algn="ctr" fontAlgn="b">
                        <a:buNone/>
                      </a:pPr>
                      <a:r>
                        <a:rPr lang="en-US" sz="1200" kern="1200" dirty="0">
                          <a:solidFill>
                            <a:srgbClr val="000000"/>
                          </a:solidFill>
                          <a:latin typeface="Calibri"/>
                          <a:ea typeface="+mn-lt"/>
                          <a:cs typeface="+mn-lt"/>
                        </a:rPr>
                        <a:t>2021</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tc>
                  <a:txBody>
                    <a:bodyPr/>
                    <a:lstStyle/>
                    <a:p>
                      <a:pPr algn="ctr" fontAlgn="b">
                        <a:buNone/>
                      </a:pPr>
                      <a:r>
                        <a:rPr lang="en-US" sz="1200" kern="1200" dirty="0">
                          <a:solidFill>
                            <a:srgbClr val="000000"/>
                          </a:solidFill>
                          <a:latin typeface="Calibri"/>
                          <a:ea typeface="+mn-lt"/>
                          <a:cs typeface="+mn-lt"/>
                        </a:rPr>
                        <a:t>552.5</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tc>
                  <a:txBody>
                    <a:bodyPr/>
                    <a:lstStyle/>
                    <a:p>
                      <a:pPr algn="ctr" fontAlgn="b">
                        <a:buNone/>
                      </a:pPr>
                      <a:r>
                        <a:rPr lang="en-US" sz="1200" kern="1200" dirty="0">
                          <a:solidFill>
                            <a:srgbClr val="000000"/>
                          </a:solidFill>
                          <a:latin typeface="Calibri"/>
                          <a:ea typeface="+mn-lt"/>
                          <a:cs typeface="+mn-lt"/>
                        </a:rPr>
                        <a:t>14.8</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tc>
                  <a:txBody>
                    <a:bodyPr/>
                    <a:lstStyle/>
                    <a:p>
                      <a:pPr algn="ctr" fontAlgn="b">
                        <a:buNone/>
                      </a:pPr>
                      <a:r>
                        <a:rPr lang="en-US" sz="1200" kern="1200" dirty="0">
                          <a:solidFill>
                            <a:srgbClr val="000000"/>
                          </a:solidFill>
                          <a:latin typeface="Calibri"/>
                          <a:ea typeface="+mn-lt"/>
                          <a:cs typeface="+mn-lt"/>
                        </a:rPr>
                        <a:t>144.4</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326251730"/>
                  </a:ext>
                </a:extLst>
              </a:tr>
              <a:tr h="317867">
                <a:tc>
                  <a:txBody>
                    <a:bodyPr/>
                    <a:lstStyle/>
                    <a:p>
                      <a:pPr algn="ctr" fontAlgn="b">
                        <a:buNone/>
                      </a:pPr>
                      <a:r>
                        <a:rPr lang="en-US" sz="1200" kern="1200" dirty="0">
                          <a:solidFill>
                            <a:srgbClr val="000000"/>
                          </a:solidFill>
                          <a:latin typeface="Calibri"/>
                          <a:ea typeface="+mn-lt"/>
                          <a:cs typeface="+mn-lt"/>
                        </a:rPr>
                        <a:t>2022</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accent1">
                        <a:lumMod val="85000"/>
                      </a:schemeClr>
                    </a:solidFill>
                  </a:tcPr>
                </a:tc>
                <a:tc>
                  <a:txBody>
                    <a:bodyPr/>
                    <a:lstStyle/>
                    <a:p>
                      <a:pPr algn="ctr" fontAlgn="b">
                        <a:buNone/>
                      </a:pPr>
                      <a:r>
                        <a:rPr lang="en-US" sz="1200" kern="1200" dirty="0">
                          <a:solidFill>
                            <a:srgbClr val="000000"/>
                          </a:solidFill>
                          <a:latin typeface="Calibri"/>
                          <a:ea typeface="+mn-lt"/>
                          <a:cs typeface="+mn-lt"/>
                        </a:rPr>
                        <a:t>525.6</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accent1">
                        <a:lumMod val="85000"/>
                      </a:schemeClr>
                    </a:solidFill>
                  </a:tcPr>
                </a:tc>
                <a:tc>
                  <a:txBody>
                    <a:bodyPr/>
                    <a:lstStyle/>
                    <a:p>
                      <a:pPr algn="ctr" fontAlgn="b">
                        <a:buNone/>
                      </a:pPr>
                      <a:r>
                        <a:rPr lang="en-US" sz="1200" kern="1200" dirty="0">
                          <a:solidFill>
                            <a:srgbClr val="000000"/>
                          </a:solidFill>
                          <a:latin typeface="Calibri"/>
                          <a:ea typeface="+mn-lt"/>
                          <a:cs typeface="+mn-lt"/>
                        </a:rPr>
                        <a:t>12.5</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accent1">
                        <a:lumMod val="85000"/>
                      </a:schemeClr>
                    </a:solidFill>
                  </a:tcPr>
                </a:tc>
                <a:tc>
                  <a:txBody>
                    <a:bodyPr/>
                    <a:lstStyle/>
                    <a:p>
                      <a:pPr algn="ctr" fontAlgn="b">
                        <a:buNone/>
                      </a:pPr>
                      <a:r>
                        <a:rPr lang="en-US" sz="1200" kern="1200" dirty="0">
                          <a:solidFill>
                            <a:srgbClr val="000000"/>
                          </a:solidFill>
                          <a:latin typeface="Calibri"/>
                          <a:ea typeface="+mn-lt"/>
                          <a:cs typeface="+mn-lt"/>
                        </a:rPr>
                        <a:t>252.7</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accent1">
                        <a:lumMod val="85000"/>
                      </a:schemeClr>
                    </a:solidFill>
                  </a:tcPr>
                </a:tc>
                <a:extLst>
                  <a:ext uri="{0D108BD9-81ED-4DB2-BD59-A6C34878D82A}">
                    <a16:rowId xmlns:a16="http://schemas.microsoft.com/office/drawing/2014/main" val="21847942"/>
                  </a:ext>
                </a:extLst>
              </a:tr>
              <a:tr h="317867">
                <a:tc>
                  <a:txBody>
                    <a:bodyPr/>
                    <a:lstStyle/>
                    <a:p>
                      <a:pPr algn="ctr" fontAlgn="b">
                        <a:buNone/>
                      </a:pPr>
                      <a:r>
                        <a:rPr lang="en-US" sz="1200" kern="1200" dirty="0">
                          <a:solidFill>
                            <a:srgbClr val="000000"/>
                          </a:solidFill>
                          <a:latin typeface="Calibri"/>
                          <a:ea typeface="+mn-lt"/>
                          <a:cs typeface="+mn-lt"/>
                        </a:rPr>
                        <a:t>2023</a:t>
                      </a:r>
                    </a:p>
                  </a:txBody>
                  <a:tcPr marL="9525" marR="9525" marT="9525" anchor="b">
                    <a:lnL w="0" cap="flat" cmpd="sng" algn="ctr">
                      <a:noFill/>
                      <a:prstDash val="solid"/>
                      <a:round/>
                      <a:headEnd type="none" w="med" len="med"/>
                      <a:tailEnd type="none" w="med" len="med"/>
                    </a:lnL>
                    <a:lnR w="0">
                      <a:noFill/>
                    </a:lnR>
                    <a:lnT w="0">
                      <a:noFill/>
                    </a:lnT>
                    <a:lnB w="0">
                      <a:noFill/>
                    </a:lnB>
                    <a:noFill/>
                  </a:tcPr>
                </a:tc>
                <a:tc>
                  <a:txBody>
                    <a:bodyPr/>
                    <a:lstStyle/>
                    <a:p>
                      <a:pPr algn="ctr" fontAlgn="b">
                        <a:buNone/>
                      </a:pPr>
                      <a:r>
                        <a:rPr lang="en-US" sz="1200" kern="1200" dirty="0">
                          <a:solidFill>
                            <a:srgbClr val="000000"/>
                          </a:solidFill>
                          <a:latin typeface="Calibri"/>
                          <a:ea typeface="+mn-lt"/>
                          <a:cs typeface="+mn-lt"/>
                        </a:rPr>
                        <a:t>491.9</a:t>
                      </a:r>
                    </a:p>
                  </a:txBody>
                  <a:tcPr marL="9525" marR="9525" marT="9525" anchor="b">
                    <a:lnL w="0">
                      <a:noFill/>
                    </a:lnL>
                    <a:lnR w="0">
                      <a:noFill/>
                    </a:lnR>
                    <a:lnT w="0">
                      <a:noFill/>
                    </a:lnT>
                    <a:lnB w="0">
                      <a:noFill/>
                    </a:lnB>
                    <a:noFill/>
                  </a:tcPr>
                </a:tc>
                <a:tc>
                  <a:txBody>
                    <a:bodyPr/>
                    <a:lstStyle/>
                    <a:p>
                      <a:pPr algn="ctr" fontAlgn="b">
                        <a:buNone/>
                      </a:pPr>
                      <a:r>
                        <a:rPr lang="en-US" sz="1200" kern="1200" dirty="0">
                          <a:solidFill>
                            <a:srgbClr val="000000"/>
                          </a:solidFill>
                          <a:latin typeface="Calibri"/>
                          <a:ea typeface="+mn-lt"/>
                          <a:cs typeface="+mn-lt"/>
                        </a:rPr>
                        <a:t>8.4</a:t>
                      </a:r>
                    </a:p>
                  </a:txBody>
                  <a:tcPr marL="9525" marR="9525" marT="9525" anchor="b">
                    <a:lnL w="0">
                      <a:noFill/>
                    </a:lnL>
                    <a:lnR w="0">
                      <a:noFill/>
                    </a:lnR>
                    <a:lnT w="0">
                      <a:noFill/>
                    </a:lnT>
                    <a:lnB w="0">
                      <a:noFill/>
                    </a:lnB>
                    <a:noFill/>
                  </a:tcPr>
                </a:tc>
                <a:tc>
                  <a:txBody>
                    <a:bodyPr/>
                    <a:lstStyle/>
                    <a:p>
                      <a:pPr algn="ctr" fontAlgn="b">
                        <a:buNone/>
                      </a:pPr>
                      <a:r>
                        <a:rPr lang="en-US" sz="1200" kern="1200" dirty="0">
                          <a:solidFill>
                            <a:srgbClr val="000000"/>
                          </a:solidFill>
                          <a:latin typeface="Calibri"/>
                          <a:ea typeface="+mn-lt"/>
                          <a:cs typeface="+mn-lt"/>
                        </a:rPr>
                        <a:t>217.5</a:t>
                      </a:r>
                    </a:p>
                  </a:txBody>
                  <a:tcPr marL="9525" marR="9525" marT="9525" anchor="b">
                    <a:lnL w="0">
                      <a:noFill/>
                    </a:lnL>
                    <a:lnR w="0" cap="flat" cmpd="sng" algn="ctr">
                      <a:noFill/>
                      <a:prstDash val="solid"/>
                      <a:round/>
                      <a:headEnd type="none" w="med" len="med"/>
                      <a:tailEnd type="none" w="med" len="med"/>
                    </a:lnR>
                    <a:lnT w="0">
                      <a:noFill/>
                    </a:lnT>
                    <a:lnB w="0">
                      <a:noFill/>
                    </a:lnB>
                    <a:noFill/>
                  </a:tcPr>
                </a:tc>
                <a:extLst>
                  <a:ext uri="{0D108BD9-81ED-4DB2-BD59-A6C34878D82A}">
                    <a16:rowId xmlns:a16="http://schemas.microsoft.com/office/drawing/2014/main" val="1936356520"/>
                  </a:ext>
                </a:extLst>
              </a:tr>
              <a:tr h="317867">
                <a:tc>
                  <a:txBody>
                    <a:bodyPr/>
                    <a:lstStyle/>
                    <a:p>
                      <a:pPr marL="0" algn="ctr" defTabSz="685783" rtl="0" eaLnBrk="1" fontAlgn="b" latinLnBrk="0" hangingPunct="1">
                        <a:buNone/>
                      </a:pPr>
                      <a:r>
                        <a:rPr lang="en-US" sz="1200" kern="1200" dirty="0">
                          <a:solidFill>
                            <a:srgbClr val="000000"/>
                          </a:solidFill>
                          <a:latin typeface="Calibri"/>
                          <a:ea typeface="+mn-lt"/>
                          <a:cs typeface="+mn-lt"/>
                        </a:rPr>
                        <a:t>2024</a:t>
                      </a:r>
                    </a:p>
                  </a:txBody>
                  <a:tcPr marL="9525" marR="9525" marT="9525" anchor="b">
                    <a:lnL w="0" cap="flat" cmpd="sng" algn="ctr">
                      <a:noFill/>
                      <a:prstDash val="solid"/>
                      <a:round/>
                      <a:headEnd type="none" w="med" len="med"/>
                      <a:tailEnd type="none" w="med" len="med"/>
                    </a:lnL>
                    <a:lnR w="0">
                      <a:noFill/>
                    </a:lnR>
                    <a:lnT w="0">
                      <a:noFill/>
                    </a:lnT>
                    <a:lnB w="0" cap="flat" cmpd="sng" algn="ctr">
                      <a:noFill/>
                      <a:prstDash val="solid"/>
                      <a:round/>
                      <a:headEnd type="none" w="med" len="med"/>
                      <a:tailEnd type="none" w="med" len="med"/>
                    </a:lnB>
                    <a:solidFill>
                      <a:schemeClr val="accent1">
                        <a:lumMod val="85000"/>
                      </a:schemeClr>
                    </a:solidFill>
                  </a:tcPr>
                </a:tc>
                <a:tc>
                  <a:txBody>
                    <a:bodyPr/>
                    <a:lstStyle/>
                    <a:p>
                      <a:pPr marL="0" algn="ctr" defTabSz="685783" rtl="0" eaLnBrk="1" fontAlgn="b" latinLnBrk="0" hangingPunct="1">
                        <a:buNone/>
                      </a:pPr>
                      <a:r>
                        <a:rPr lang="en-US" sz="1200" kern="1200" dirty="0">
                          <a:solidFill>
                            <a:srgbClr val="000000"/>
                          </a:solidFill>
                          <a:latin typeface="Calibri"/>
                          <a:ea typeface="+mn-lt"/>
                          <a:cs typeface="+mn-lt"/>
                        </a:rPr>
                        <a:t>451.8</a:t>
                      </a:r>
                    </a:p>
                  </a:txBody>
                  <a:tcPr marL="9525" marR="9525" marT="9525" anchor="b">
                    <a:lnL w="0">
                      <a:noFill/>
                    </a:lnL>
                    <a:lnR w="0">
                      <a:noFill/>
                    </a:lnR>
                    <a:lnT w="0">
                      <a:noFill/>
                    </a:lnT>
                    <a:lnB w="0" cap="flat" cmpd="sng" algn="ctr">
                      <a:noFill/>
                      <a:prstDash val="solid"/>
                      <a:round/>
                      <a:headEnd type="none" w="med" len="med"/>
                      <a:tailEnd type="none" w="med" len="med"/>
                    </a:lnB>
                    <a:solidFill>
                      <a:schemeClr val="accent1">
                        <a:lumMod val="85000"/>
                      </a:schemeClr>
                    </a:solidFill>
                  </a:tcPr>
                </a:tc>
                <a:tc>
                  <a:txBody>
                    <a:bodyPr/>
                    <a:lstStyle/>
                    <a:p>
                      <a:pPr marL="0" algn="ctr" defTabSz="685783" rtl="0" eaLnBrk="1" fontAlgn="b" latinLnBrk="0" hangingPunct="1">
                        <a:buNone/>
                      </a:pPr>
                      <a:r>
                        <a:rPr lang="en-US" sz="1200" kern="1200" dirty="0">
                          <a:solidFill>
                            <a:srgbClr val="000000"/>
                          </a:solidFill>
                          <a:latin typeface="Calibri"/>
                          <a:ea typeface="+mn-lt"/>
                          <a:cs typeface="+mn-lt"/>
                        </a:rPr>
                        <a:t>-1.5</a:t>
                      </a:r>
                    </a:p>
                  </a:txBody>
                  <a:tcPr marL="9525" marR="9525" marT="9525" anchor="b">
                    <a:lnL w="0">
                      <a:noFill/>
                    </a:lnL>
                    <a:lnR w="0">
                      <a:noFill/>
                    </a:lnR>
                    <a:lnT w="0">
                      <a:noFill/>
                    </a:lnT>
                    <a:lnB w="0" cap="flat" cmpd="sng" algn="ctr">
                      <a:noFill/>
                      <a:prstDash val="solid"/>
                      <a:round/>
                      <a:headEnd type="none" w="med" len="med"/>
                      <a:tailEnd type="none" w="med" len="med"/>
                    </a:lnB>
                    <a:solidFill>
                      <a:schemeClr val="accent1">
                        <a:lumMod val="85000"/>
                      </a:schemeClr>
                    </a:solidFill>
                  </a:tcPr>
                </a:tc>
                <a:tc>
                  <a:txBody>
                    <a:bodyPr/>
                    <a:lstStyle/>
                    <a:p>
                      <a:pPr marL="0" algn="ctr" defTabSz="685783" rtl="0" eaLnBrk="1" fontAlgn="b" latinLnBrk="0" hangingPunct="1">
                        <a:buNone/>
                      </a:pPr>
                      <a:r>
                        <a:rPr lang="en-US" sz="1200" kern="1200" dirty="0">
                          <a:solidFill>
                            <a:srgbClr val="000000"/>
                          </a:solidFill>
                          <a:latin typeface="Calibri"/>
                          <a:ea typeface="+mn-lt"/>
                          <a:cs typeface="+mn-lt"/>
                        </a:rPr>
                        <a:t>195.0</a:t>
                      </a:r>
                    </a:p>
                  </a:txBody>
                  <a:tcPr marL="9525" marR="9525" marT="9525" anchor="b">
                    <a:lnL w="0">
                      <a:noFill/>
                    </a:lnL>
                    <a:lnR w="0" cap="flat" cmpd="sng" algn="ctr">
                      <a:noFill/>
                      <a:prstDash val="solid"/>
                      <a:round/>
                      <a:headEnd type="none" w="med" len="med"/>
                      <a:tailEnd type="none" w="med" len="med"/>
                    </a:lnR>
                    <a:lnT w="0">
                      <a:noFill/>
                    </a:lnT>
                    <a:lnB w="0" cap="flat" cmpd="sng" algn="ctr">
                      <a:noFill/>
                      <a:prstDash val="solid"/>
                      <a:round/>
                      <a:headEnd type="none" w="med" len="med"/>
                      <a:tailEnd type="none" w="med" len="med"/>
                    </a:lnB>
                    <a:solidFill>
                      <a:schemeClr val="accent1">
                        <a:lumMod val="85000"/>
                      </a:schemeClr>
                    </a:solidFill>
                  </a:tcPr>
                </a:tc>
                <a:extLst>
                  <a:ext uri="{0D108BD9-81ED-4DB2-BD59-A6C34878D82A}">
                    <a16:rowId xmlns:a16="http://schemas.microsoft.com/office/drawing/2014/main" val="2258713725"/>
                  </a:ext>
                </a:extLst>
              </a:tr>
            </a:tbl>
          </a:graphicData>
        </a:graphic>
      </p:graphicFrame>
      <p:pic>
        <p:nvPicPr>
          <p:cNvPr id="4" name="Picture 3" descr="Outdoor Industry Jobs">
            <a:extLst>
              <a:ext uri="{FF2B5EF4-FFF2-40B4-BE49-F238E27FC236}">
                <a16:creationId xmlns:a16="http://schemas.microsoft.com/office/drawing/2014/main" id="{114B727D-D19C-CEA1-A44D-DECAECE46AB5}"/>
              </a:ext>
            </a:extLst>
          </p:cNvPr>
          <p:cNvPicPr>
            <a:picLocks noChangeAspect="1"/>
          </p:cNvPicPr>
          <p:nvPr/>
        </p:nvPicPr>
        <p:blipFill>
          <a:blip r:embed="rId8"/>
          <a:stretch>
            <a:fillRect/>
          </a:stretch>
        </p:blipFill>
        <p:spPr>
          <a:xfrm>
            <a:off x="6673081" y="-3953"/>
            <a:ext cx="2332359" cy="539870"/>
          </a:xfrm>
          <a:prstGeom prst="rect">
            <a:avLst/>
          </a:prstGeom>
        </p:spPr>
      </p:pic>
      <p:graphicFrame>
        <p:nvGraphicFramePr>
          <p:cNvPr id="2" name="Chart 1">
            <a:extLst>
              <a:ext uri="{FF2B5EF4-FFF2-40B4-BE49-F238E27FC236}">
                <a16:creationId xmlns:a16="http://schemas.microsoft.com/office/drawing/2014/main" id="{8E871168-1F66-E73D-E6ED-D875B8CEA5C7}"/>
              </a:ext>
              <a:ext uri="{147F2762-F138-4A5C-976F-8EAC2B608ADB}">
                <a16:predDERef xmlns:a16="http://schemas.microsoft.com/office/drawing/2014/main" pred="{14042B19-7410-AF74-B913-FFED33B54CF4}"/>
              </a:ext>
            </a:extLst>
          </p:cNvPr>
          <p:cNvGraphicFramePr>
            <a:graphicFrameLocks/>
          </p:cNvGraphicFramePr>
          <p:nvPr>
            <p:extLst>
              <p:ext uri="{D42A27DB-BD31-4B8C-83A1-F6EECF244321}">
                <p14:modId xmlns:p14="http://schemas.microsoft.com/office/powerpoint/2010/main" val="126550512"/>
              </p:ext>
            </p:extLst>
          </p:nvPr>
        </p:nvGraphicFramePr>
        <p:xfrm>
          <a:off x="96469" y="990514"/>
          <a:ext cx="3639719" cy="2766314"/>
        </p:xfrm>
        <a:graphic>
          <a:graphicData uri="http://schemas.openxmlformats.org/drawingml/2006/chart">
            <c:chart xmlns:c="http://schemas.openxmlformats.org/drawingml/2006/chart" xmlns:r="http://schemas.openxmlformats.org/officeDocument/2006/relationships" r:id="rId9"/>
          </a:graphicData>
        </a:graphic>
      </p:graphicFrame>
      <p:sp>
        <p:nvSpPr>
          <p:cNvPr id="5" name="Rectangle 4">
            <a:extLst>
              <a:ext uri="{FF2B5EF4-FFF2-40B4-BE49-F238E27FC236}">
                <a16:creationId xmlns:a16="http://schemas.microsoft.com/office/drawing/2014/main" id="{5A60F93F-A342-BC57-6073-117EB6A19E7A}"/>
              </a:ext>
            </a:extLst>
          </p:cNvPr>
          <p:cNvSpPr/>
          <p:nvPr/>
        </p:nvSpPr>
        <p:spPr>
          <a:xfrm>
            <a:off x="98385" y="3972870"/>
            <a:ext cx="3637802" cy="100671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sz="1200" b="1" dirty="0">
                <a:solidFill>
                  <a:srgbClr val="000000"/>
                </a:solidFill>
                <a:latin typeface="Calibri"/>
                <a:ea typeface="+mn-lt"/>
                <a:cs typeface="+mn-lt"/>
              </a:rPr>
              <a:t>Consumer Outdoor Spend Trend:</a:t>
            </a:r>
          </a:p>
          <a:p>
            <a:pPr algn="ctr">
              <a:defRPr/>
            </a:pPr>
            <a:r>
              <a:rPr lang="en-US" sz="1200" b="1" dirty="0">
                <a:solidFill>
                  <a:srgbClr val="000000"/>
                </a:solidFill>
                <a:latin typeface="Calibri"/>
                <a:ea typeface="+mn-lt"/>
                <a:cs typeface="+mn-lt"/>
              </a:rPr>
              <a:t>• 2020–2021: Stimulus-driven spike</a:t>
            </a:r>
          </a:p>
          <a:p>
            <a:pPr algn="ctr">
              <a:defRPr/>
            </a:pPr>
            <a:r>
              <a:rPr lang="en-US" sz="1200" b="1" dirty="0">
                <a:solidFill>
                  <a:srgbClr val="000000"/>
                </a:solidFill>
                <a:latin typeface="Calibri"/>
                <a:ea typeface="+mn-lt"/>
                <a:cs typeface="+mn-lt"/>
              </a:rPr>
              <a:t>• 2022–2024: Normalization period</a:t>
            </a:r>
          </a:p>
          <a:p>
            <a:pPr algn="ctr">
              <a:defRPr/>
            </a:pPr>
            <a:r>
              <a:rPr lang="en-US" sz="1200" b="1" dirty="0">
                <a:solidFill>
                  <a:srgbClr val="000000"/>
                </a:solidFill>
                <a:latin typeface="Calibri"/>
                <a:ea typeface="+mn-lt"/>
                <a:cs typeface="+mn-lt"/>
              </a:rPr>
              <a:t>• Shift toward lower-cost recreation</a:t>
            </a:r>
          </a:p>
        </p:txBody>
      </p:sp>
      <p:sp>
        <p:nvSpPr>
          <p:cNvPr id="8" name="Rectangle 7">
            <a:extLst>
              <a:ext uri="{FF2B5EF4-FFF2-40B4-BE49-F238E27FC236}">
                <a16:creationId xmlns:a16="http://schemas.microsoft.com/office/drawing/2014/main" id="{F588808A-938A-0DD4-1604-E512967AF4A3}"/>
              </a:ext>
            </a:extLst>
          </p:cNvPr>
          <p:cNvSpPr/>
          <p:nvPr/>
        </p:nvSpPr>
        <p:spPr>
          <a:xfrm>
            <a:off x="109168" y="5182924"/>
            <a:ext cx="3627019" cy="91526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sz="1200" b="1" dirty="0">
                <a:solidFill>
                  <a:srgbClr val="000000"/>
                </a:solidFill>
                <a:latin typeface="Calibri"/>
                <a:ea typeface="+mn-lt"/>
                <a:cs typeface="+mn-lt"/>
              </a:rPr>
              <a:t>Dealer Feedback (Channel Check):</a:t>
            </a:r>
          </a:p>
          <a:p>
            <a:pPr algn="ctr">
              <a:defRPr/>
            </a:pPr>
            <a:r>
              <a:rPr lang="en-US" sz="1200" b="1" dirty="0">
                <a:solidFill>
                  <a:srgbClr val="000000"/>
                </a:solidFill>
                <a:latin typeface="Calibri"/>
                <a:ea typeface="+mn-lt"/>
                <a:cs typeface="+mn-lt"/>
              </a:rPr>
              <a:t>“Customers are leaning budget-sensitive and delaying purchases.”</a:t>
            </a:r>
          </a:p>
          <a:p>
            <a:pPr>
              <a:defRPr/>
            </a:pPr>
            <a:endParaRPr lang="en-US" sz="1200" b="1" dirty="0">
              <a:solidFill>
                <a:srgbClr val="000000"/>
              </a:solidFill>
              <a:latin typeface="Calibri"/>
              <a:ea typeface="+mn-lt"/>
              <a:cs typeface="+mn-lt"/>
            </a:endParaRPr>
          </a:p>
        </p:txBody>
      </p:sp>
    </p:spTree>
    <p:extLst>
      <p:ext uri="{BB962C8B-B14F-4D97-AF65-F5344CB8AC3E}">
        <p14:creationId xmlns:p14="http://schemas.microsoft.com/office/powerpoint/2010/main" val="1330872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07AAC-F4A9-D078-95AA-9429E00E8EC5}"/>
            </a:ext>
          </a:extLst>
        </p:cNvPr>
        <p:cNvGrpSpPr/>
        <p:nvPr/>
      </p:nvGrpSpPr>
      <p:grpSpPr>
        <a:xfrm>
          <a:off x="0" y="0"/>
          <a:ext cx="0" cy="0"/>
          <a:chOff x="0" y="0"/>
          <a:chExt cx="0" cy="0"/>
        </a:xfrm>
      </p:grpSpPr>
      <p:grpSp>
        <p:nvGrpSpPr>
          <p:cNvPr id="38" name="Group 37">
            <a:extLst>
              <a:ext uri="{FF2B5EF4-FFF2-40B4-BE49-F238E27FC236}">
                <a16:creationId xmlns:a16="http://schemas.microsoft.com/office/drawing/2014/main" id="{D841D0EB-5C5F-2D49-27C1-BFF39CBD2495}"/>
              </a:ext>
            </a:extLst>
          </p:cNvPr>
          <p:cNvGrpSpPr>
            <a:grpSpLocks/>
          </p:cNvGrpSpPr>
          <p:nvPr/>
        </p:nvGrpSpPr>
        <p:grpSpPr bwMode="auto">
          <a:xfrm>
            <a:off x="0" y="73105"/>
            <a:ext cx="9144000" cy="576857"/>
            <a:chOff x="-2" y="-17873"/>
            <a:chExt cx="12192002" cy="769372"/>
          </a:xfrm>
        </p:grpSpPr>
        <p:sp>
          <p:nvSpPr>
            <p:cNvPr id="40" name="Title 1">
              <a:extLst>
                <a:ext uri="{FF2B5EF4-FFF2-40B4-BE49-F238E27FC236}">
                  <a16:creationId xmlns:a16="http://schemas.microsoft.com/office/drawing/2014/main" id="{6F0C4781-EB93-5CF9-6356-0D049ACA210E}"/>
                </a:ext>
              </a:extLst>
            </p:cNvPr>
            <p:cNvSpPr txBox="1">
              <a:spLocks/>
            </p:cNvSpPr>
            <p:nvPr/>
          </p:nvSpPr>
          <p:spPr>
            <a:xfrm>
              <a:off x="-2" y="-17873"/>
              <a:ext cx="11270514" cy="733643"/>
            </a:xfrm>
            <a:prstGeom prst="rect">
              <a:avLst/>
            </a:prstGeom>
            <a:noFill/>
            <a:ln>
              <a:noFill/>
            </a:ln>
          </p:spPr>
          <p:txBody>
            <a:bodyPr lIns="91440" tIns="45720" rIns="91440" bIns="45720" anchor="ctr">
              <a:no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a:ea typeface="Calibri"/>
                  <a:cs typeface="Calibri"/>
                </a:rPr>
                <a:t>Driver: Financial Strength Amid Tariff Pressure</a:t>
              </a:r>
            </a:p>
          </p:txBody>
        </p:sp>
        <p:grpSp>
          <p:nvGrpSpPr>
            <p:cNvPr id="41" name="Group 39">
              <a:extLst>
                <a:ext uri="{FF2B5EF4-FFF2-40B4-BE49-F238E27FC236}">
                  <a16:creationId xmlns:a16="http://schemas.microsoft.com/office/drawing/2014/main" id="{DAA80CB8-3969-1726-1DFE-2351CD92D6EC}"/>
                </a:ext>
              </a:extLst>
            </p:cNvPr>
            <p:cNvGrpSpPr>
              <a:grpSpLocks/>
            </p:cNvGrpSpPr>
            <p:nvPr/>
          </p:nvGrpSpPr>
          <p:grpSpPr bwMode="auto">
            <a:xfrm>
              <a:off x="-2" y="645614"/>
              <a:ext cx="12192002" cy="105885"/>
              <a:chOff x="2373524" y="569416"/>
              <a:chExt cx="6496168" cy="87055"/>
            </a:xfrm>
          </p:grpSpPr>
          <p:sp>
            <p:nvSpPr>
              <p:cNvPr id="44" name="Rectangle 43">
                <a:extLst>
                  <a:ext uri="{FF2B5EF4-FFF2-40B4-BE49-F238E27FC236}">
                    <a16:creationId xmlns:a16="http://schemas.microsoft.com/office/drawing/2014/main" id="{4A490AD0-84B8-015A-1E3A-B2EF55426E37}"/>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endParaRPr>
              </a:p>
            </p:txBody>
          </p:sp>
          <p:sp>
            <p:nvSpPr>
              <p:cNvPr id="45" name="Rectangle 44">
                <a:extLst>
                  <a:ext uri="{FF2B5EF4-FFF2-40B4-BE49-F238E27FC236}">
                    <a16:creationId xmlns:a16="http://schemas.microsoft.com/office/drawing/2014/main" id="{D41E8196-1A79-AB77-8CD8-9735E68DCF4A}"/>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endParaRPr>
              </a:p>
            </p:txBody>
          </p:sp>
        </p:grpSp>
      </p:grpSp>
      <p:grpSp>
        <p:nvGrpSpPr>
          <p:cNvPr id="17" name="Group 16">
            <a:extLst>
              <a:ext uri="{FF2B5EF4-FFF2-40B4-BE49-F238E27FC236}">
                <a16:creationId xmlns:a16="http://schemas.microsoft.com/office/drawing/2014/main" id="{F0EBF11B-9D97-D2F2-0E64-BD5E3E679486}"/>
              </a:ext>
            </a:extLst>
          </p:cNvPr>
          <p:cNvGrpSpPr/>
          <p:nvPr/>
        </p:nvGrpSpPr>
        <p:grpSpPr>
          <a:xfrm>
            <a:off x="0" y="6263508"/>
            <a:ext cx="9144000" cy="457200"/>
            <a:chOff x="0" y="2732884"/>
            <a:chExt cx="9144000" cy="457200"/>
          </a:xfrm>
        </p:grpSpPr>
        <p:sp>
          <p:nvSpPr>
            <p:cNvPr id="18" name="Rectangle 17">
              <a:extLst>
                <a:ext uri="{FF2B5EF4-FFF2-40B4-BE49-F238E27FC236}">
                  <a16:creationId xmlns:a16="http://schemas.microsoft.com/office/drawing/2014/main" id="{148B210E-10D6-12C2-3CE5-2CA990CE53CB}"/>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19" name="Group 18">
              <a:extLst>
                <a:ext uri="{FF2B5EF4-FFF2-40B4-BE49-F238E27FC236}">
                  <a16:creationId xmlns:a16="http://schemas.microsoft.com/office/drawing/2014/main" id="{4B4A8696-8B4A-4D40-85A5-1FC509694836}"/>
                </a:ext>
              </a:extLst>
            </p:cNvPr>
            <p:cNvGrpSpPr/>
            <p:nvPr/>
          </p:nvGrpSpPr>
          <p:grpSpPr>
            <a:xfrm>
              <a:off x="5021579" y="2732884"/>
              <a:ext cx="545306" cy="457200"/>
              <a:chOff x="4981575" y="2712036"/>
              <a:chExt cx="545306" cy="457200"/>
            </a:xfrm>
          </p:grpSpPr>
          <p:sp>
            <p:nvSpPr>
              <p:cNvPr id="55" name="Oval 54">
                <a:extLst>
                  <a:ext uri="{FF2B5EF4-FFF2-40B4-BE49-F238E27FC236}">
                    <a16:creationId xmlns:a16="http://schemas.microsoft.com/office/drawing/2014/main" id="{D353BA0F-3282-7938-A264-075B92B1B3C2}"/>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56" name="Picture 55" descr="Related image">
                <a:extLst>
                  <a:ext uri="{FF2B5EF4-FFF2-40B4-BE49-F238E27FC236}">
                    <a16:creationId xmlns:a16="http://schemas.microsoft.com/office/drawing/2014/main" id="{DFA6FF18-1B0C-1E0A-9375-E263310DC1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0" name="Group 19">
              <a:extLst>
                <a:ext uri="{FF2B5EF4-FFF2-40B4-BE49-F238E27FC236}">
                  <a16:creationId xmlns:a16="http://schemas.microsoft.com/office/drawing/2014/main" id="{1F779423-A206-E0DF-CFF1-E4D4321ECB99}"/>
                </a:ext>
              </a:extLst>
            </p:cNvPr>
            <p:cNvGrpSpPr/>
            <p:nvPr/>
          </p:nvGrpSpPr>
          <p:grpSpPr>
            <a:xfrm>
              <a:off x="7910513" y="2732884"/>
              <a:ext cx="545306" cy="457200"/>
              <a:chOff x="7731919" y="2712036"/>
              <a:chExt cx="545306" cy="457200"/>
            </a:xfrm>
          </p:grpSpPr>
          <p:sp>
            <p:nvSpPr>
              <p:cNvPr id="53" name="Oval 52">
                <a:extLst>
                  <a:ext uri="{FF2B5EF4-FFF2-40B4-BE49-F238E27FC236}">
                    <a16:creationId xmlns:a16="http://schemas.microsoft.com/office/drawing/2014/main" id="{EACAD22E-548F-2F8F-D0BE-36AF814A74F6}"/>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54" name="Picture 53" descr="Related image">
                <a:extLst>
                  <a:ext uri="{FF2B5EF4-FFF2-40B4-BE49-F238E27FC236}">
                    <a16:creationId xmlns:a16="http://schemas.microsoft.com/office/drawing/2014/main" id="{89A3CAB3-063F-9454-0BE9-E524A2DD68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22" name="Oval 21">
              <a:extLst>
                <a:ext uri="{FF2B5EF4-FFF2-40B4-BE49-F238E27FC236}">
                  <a16:creationId xmlns:a16="http://schemas.microsoft.com/office/drawing/2014/main" id="{672FEE39-56BC-102D-8422-05FD72C7B210}"/>
                </a:ext>
              </a:extLst>
            </p:cNvPr>
            <p:cNvSpPr/>
            <p:nvPr/>
          </p:nvSpPr>
          <p:spPr bwMode="auto">
            <a:xfrm>
              <a:off x="688181"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3" name="Group 22">
              <a:extLst>
                <a:ext uri="{FF2B5EF4-FFF2-40B4-BE49-F238E27FC236}">
                  <a16:creationId xmlns:a16="http://schemas.microsoft.com/office/drawing/2014/main" id="{9A13A363-ACC2-332B-378E-D8A996FE5875}"/>
                </a:ext>
              </a:extLst>
            </p:cNvPr>
            <p:cNvGrpSpPr/>
            <p:nvPr/>
          </p:nvGrpSpPr>
          <p:grpSpPr>
            <a:xfrm>
              <a:off x="6466045" y="2732884"/>
              <a:ext cx="545306" cy="457200"/>
              <a:chOff x="6353175" y="2712036"/>
              <a:chExt cx="545306" cy="457200"/>
            </a:xfrm>
          </p:grpSpPr>
          <p:sp>
            <p:nvSpPr>
              <p:cNvPr id="51" name="Oval 50">
                <a:extLst>
                  <a:ext uri="{FF2B5EF4-FFF2-40B4-BE49-F238E27FC236}">
                    <a16:creationId xmlns:a16="http://schemas.microsoft.com/office/drawing/2014/main" id="{60ACC02C-10AB-E2DD-7BCC-98796A80AD36}"/>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52" name="Graphic 14379" descr="Dollar with solid fill">
                <a:extLst>
                  <a:ext uri="{FF2B5EF4-FFF2-40B4-BE49-F238E27FC236}">
                    <a16:creationId xmlns:a16="http://schemas.microsoft.com/office/drawing/2014/main" id="{6E814848-03CA-533B-2671-B54EB9709A27}"/>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24" name="Group 23">
              <a:extLst>
                <a:ext uri="{FF2B5EF4-FFF2-40B4-BE49-F238E27FC236}">
                  <a16:creationId xmlns:a16="http://schemas.microsoft.com/office/drawing/2014/main" id="{EA47345E-1603-08DB-8D96-CB5237C315C1}"/>
                </a:ext>
              </a:extLst>
            </p:cNvPr>
            <p:cNvGrpSpPr/>
            <p:nvPr/>
          </p:nvGrpSpPr>
          <p:grpSpPr>
            <a:xfrm>
              <a:off x="3577113" y="2732884"/>
              <a:ext cx="545306" cy="457200"/>
              <a:chOff x="3609974" y="2715607"/>
              <a:chExt cx="545306" cy="457200"/>
            </a:xfrm>
          </p:grpSpPr>
          <p:sp>
            <p:nvSpPr>
              <p:cNvPr id="34" name="Oval 33">
                <a:extLst>
                  <a:ext uri="{FF2B5EF4-FFF2-40B4-BE49-F238E27FC236}">
                    <a16:creationId xmlns:a16="http://schemas.microsoft.com/office/drawing/2014/main" id="{ED2557F2-1A64-069E-0714-5EE70B81699F}"/>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37" name="Group 36">
                <a:extLst>
                  <a:ext uri="{FF2B5EF4-FFF2-40B4-BE49-F238E27FC236}">
                    <a16:creationId xmlns:a16="http://schemas.microsoft.com/office/drawing/2014/main" id="{CA1178F6-4AB1-330C-1E07-EAA5B01CA7DB}"/>
                  </a:ext>
                </a:extLst>
              </p:cNvPr>
              <p:cNvGrpSpPr/>
              <p:nvPr/>
            </p:nvGrpSpPr>
            <p:grpSpPr>
              <a:xfrm>
                <a:off x="3769049" y="2811218"/>
                <a:ext cx="227157" cy="265979"/>
                <a:chOff x="3771206" y="2761936"/>
                <a:chExt cx="227157" cy="265979"/>
              </a:xfrm>
            </p:grpSpPr>
            <p:sp>
              <p:nvSpPr>
                <p:cNvPr id="47" name="Freeform: Shape 46">
                  <a:extLst>
                    <a:ext uri="{FF2B5EF4-FFF2-40B4-BE49-F238E27FC236}">
                      <a16:creationId xmlns:a16="http://schemas.microsoft.com/office/drawing/2014/main" id="{6C627555-F1E9-D2B1-B099-A7B01F0BA735}"/>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48" name="Freeform: Shape 47">
                  <a:extLst>
                    <a:ext uri="{FF2B5EF4-FFF2-40B4-BE49-F238E27FC236}">
                      <a16:creationId xmlns:a16="http://schemas.microsoft.com/office/drawing/2014/main" id="{A46E19E4-4C83-C03C-2E1C-7C6FBC6B9D62}"/>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29" name="Group 28">
              <a:extLst>
                <a:ext uri="{FF2B5EF4-FFF2-40B4-BE49-F238E27FC236}">
                  <a16:creationId xmlns:a16="http://schemas.microsoft.com/office/drawing/2014/main" id="{FB9CBF8E-F0E6-9434-C381-6F4F4CCAC2BD}"/>
                </a:ext>
              </a:extLst>
            </p:cNvPr>
            <p:cNvGrpSpPr/>
            <p:nvPr/>
          </p:nvGrpSpPr>
          <p:grpSpPr>
            <a:xfrm>
              <a:off x="2132647" y="2732884"/>
              <a:ext cx="545306" cy="457200"/>
              <a:chOff x="2238375" y="2712635"/>
              <a:chExt cx="545306" cy="457200"/>
            </a:xfrm>
          </p:grpSpPr>
          <p:sp>
            <p:nvSpPr>
              <p:cNvPr id="31" name="Oval 30">
                <a:extLst>
                  <a:ext uri="{FF2B5EF4-FFF2-40B4-BE49-F238E27FC236}">
                    <a16:creationId xmlns:a16="http://schemas.microsoft.com/office/drawing/2014/main" id="{D04B18FB-F766-253D-3CA5-3A473048B0AA}"/>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32" name="Graphic 14377" descr="Board Of Directors with solid fill">
                <a:extLst>
                  <a:ext uri="{FF2B5EF4-FFF2-40B4-BE49-F238E27FC236}">
                    <a16:creationId xmlns:a16="http://schemas.microsoft.com/office/drawing/2014/main" id="{268ED422-A152-0CF4-B112-230166E0D7DA}"/>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57" name="Graphic 56" descr="Lights On with solid fill">
            <a:extLst>
              <a:ext uri="{FF2B5EF4-FFF2-40B4-BE49-F238E27FC236}">
                <a16:creationId xmlns:a16="http://schemas.microsoft.com/office/drawing/2014/main" id="{52978A6C-4C8C-7235-8A00-F2594BAF78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4979" y="6263508"/>
            <a:ext cx="461513" cy="461513"/>
          </a:xfrm>
          <a:prstGeom prst="rect">
            <a:avLst/>
          </a:prstGeom>
        </p:spPr>
      </p:pic>
      <p:grpSp>
        <p:nvGrpSpPr>
          <p:cNvPr id="63" name="Group 62">
            <a:extLst>
              <a:ext uri="{FF2B5EF4-FFF2-40B4-BE49-F238E27FC236}">
                <a16:creationId xmlns:a16="http://schemas.microsoft.com/office/drawing/2014/main" id="{C31C3976-3865-529E-8027-388C7D960897}"/>
              </a:ext>
            </a:extLst>
          </p:cNvPr>
          <p:cNvGrpSpPr/>
          <p:nvPr/>
        </p:nvGrpSpPr>
        <p:grpSpPr>
          <a:xfrm>
            <a:off x="0" y="6265664"/>
            <a:ext cx="9144000" cy="457200"/>
            <a:chOff x="0" y="2732884"/>
            <a:chExt cx="9144000" cy="457200"/>
          </a:xfrm>
        </p:grpSpPr>
        <p:sp>
          <p:nvSpPr>
            <p:cNvPr id="24576" name="Rectangle 24575">
              <a:extLst>
                <a:ext uri="{FF2B5EF4-FFF2-40B4-BE49-F238E27FC236}">
                  <a16:creationId xmlns:a16="http://schemas.microsoft.com/office/drawing/2014/main" id="{DCDB5F51-72B8-43A2-1360-338CF37273C9}"/>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24577" name="Group 24576">
              <a:extLst>
                <a:ext uri="{FF2B5EF4-FFF2-40B4-BE49-F238E27FC236}">
                  <a16:creationId xmlns:a16="http://schemas.microsoft.com/office/drawing/2014/main" id="{345FCDDB-D08A-C150-0A32-973F817D1394}"/>
                </a:ext>
              </a:extLst>
            </p:cNvPr>
            <p:cNvGrpSpPr/>
            <p:nvPr/>
          </p:nvGrpSpPr>
          <p:grpSpPr>
            <a:xfrm>
              <a:off x="5021579" y="2732884"/>
              <a:ext cx="545306" cy="457200"/>
              <a:chOff x="4981575" y="2712036"/>
              <a:chExt cx="545306" cy="457200"/>
            </a:xfrm>
          </p:grpSpPr>
          <p:sp>
            <p:nvSpPr>
              <p:cNvPr id="24598" name="Oval 24597">
                <a:extLst>
                  <a:ext uri="{FF2B5EF4-FFF2-40B4-BE49-F238E27FC236}">
                    <a16:creationId xmlns:a16="http://schemas.microsoft.com/office/drawing/2014/main" id="{D347A824-C09D-9B62-5A89-D64BAD3C59D5}"/>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4599" name="Picture 24598" descr="Related image">
                <a:extLst>
                  <a:ext uri="{FF2B5EF4-FFF2-40B4-BE49-F238E27FC236}">
                    <a16:creationId xmlns:a16="http://schemas.microsoft.com/office/drawing/2014/main" id="{8F6EAC90-D073-594B-7B37-21C91FDB46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4578" name="Group 24577">
              <a:extLst>
                <a:ext uri="{FF2B5EF4-FFF2-40B4-BE49-F238E27FC236}">
                  <a16:creationId xmlns:a16="http://schemas.microsoft.com/office/drawing/2014/main" id="{5B418870-7AA8-1321-0599-99BCF08AF845}"/>
                </a:ext>
              </a:extLst>
            </p:cNvPr>
            <p:cNvGrpSpPr/>
            <p:nvPr/>
          </p:nvGrpSpPr>
          <p:grpSpPr>
            <a:xfrm>
              <a:off x="7910513" y="2732884"/>
              <a:ext cx="545306" cy="457200"/>
              <a:chOff x="7731919" y="2712036"/>
              <a:chExt cx="545306" cy="457200"/>
            </a:xfrm>
          </p:grpSpPr>
          <p:sp>
            <p:nvSpPr>
              <p:cNvPr id="24596" name="Oval 24595">
                <a:extLst>
                  <a:ext uri="{FF2B5EF4-FFF2-40B4-BE49-F238E27FC236}">
                    <a16:creationId xmlns:a16="http://schemas.microsoft.com/office/drawing/2014/main" id="{6EEDAA42-CCB1-4960-CF52-48D303E832A1}"/>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24597" name="Picture 24596" descr="Related image">
                <a:extLst>
                  <a:ext uri="{FF2B5EF4-FFF2-40B4-BE49-F238E27FC236}">
                    <a16:creationId xmlns:a16="http://schemas.microsoft.com/office/drawing/2014/main" id="{84D931CA-D99B-58BF-3EF9-9E87C799B8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24592" name="Oval 24591">
              <a:extLst>
                <a:ext uri="{FF2B5EF4-FFF2-40B4-BE49-F238E27FC236}">
                  <a16:creationId xmlns:a16="http://schemas.microsoft.com/office/drawing/2014/main" id="{D89E1462-5C38-AEBF-6C53-B28BA054AC44}"/>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4580" name="Group 24579">
              <a:extLst>
                <a:ext uri="{FF2B5EF4-FFF2-40B4-BE49-F238E27FC236}">
                  <a16:creationId xmlns:a16="http://schemas.microsoft.com/office/drawing/2014/main" id="{B423A59B-5596-2E34-C84C-387A051D38EA}"/>
                </a:ext>
              </a:extLst>
            </p:cNvPr>
            <p:cNvGrpSpPr/>
            <p:nvPr/>
          </p:nvGrpSpPr>
          <p:grpSpPr>
            <a:xfrm>
              <a:off x="6466045" y="2732884"/>
              <a:ext cx="545306" cy="457200"/>
              <a:chOff x="6353175" y="2712036"/>
              <a:chExt cx="545306" cy="457200"/>
            </a:xfrm>
          </p:grpSpPr>
          <p:sp>
            <p:nvSpPr>
              <p:cNvPr id="24590" name="Oval 24589">
                <a:extLst>
                  <a:ext uri="{FF2B5EF4-FFF2-40B4-BE49-F238E27FC236}">
                    <a16:creationId xmlns:a16="http://schemas.microsoft.com/office/drawing/2014/main" id="{D96821CD-ECEA-85C7-2232-1EC91330048A}"/>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24591" name="Graphic 14379" descr="Dollar with solid fill">
                <a:extLst>
                  <a:ext uri="{FF2B5EF4-FFF2-40B4-BE49-F238E27FC236}">
                    <a16:creationId xmlns:a16="http://schemas.microsoft.com/office/drawing/2014/main" id="{B32568E0-1005-D8D9-E9BD-0627AC236855}"/>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24581" name="Group 24580">
              <a:extLst>
                <a:ext uri="{FF2B5EF4-FFF2-40B4-BE49-F238E27FC236}">
                  <a16:creationId xmlns:a16="http://schemas.microsoft.com/office/drawing/2014/main" id="{69B4262D-34DD-0BAF-20FC-344D0E99C6C4}"/>
                </a:ext>
              </a:extLst>
            </p:cNvPr>
            <p:cNvGrpSpPr/>
            <p:nvPr/>
          </p:nvGrpSpPr>
          <p:grpSpPr>
            <a:xfrm>
              <a:off x="3577113" y="2732884"/>
              <a:ext cx="545306" cy="457200"/>
              <a:chOff x="3609974" y="2715607"/>
              <a:chExt cx="545306" cy="457200"/>
            </a:xfrm>
          </p:grpSpPr>
          <p:sp>
            <p:nvSpPr>
              <p:cNvPr id="24585" name="Oval 24584">
                <a:extLst>
                  <a:ext uri="{FF2B5EF4-FFF2-40B4-BE49-F238E27FC236}">
                    <a16:creationId xmlns:a16="http://schemas.microsoft.com/office/drawing/2014/main" id="{F3F0456B-22D2-005D-7510-90D1DC18F8E1}"/>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4587" name="Group 24586">
                <a:extLst>
                  <a:ext uri="{FF2B5EF4-FFF2-40B4-BE49-F238E27FC236}">
                    <a16:creationId xmlns:a16="http://schemas.microsoft.com/office/drawing/2014/main" id="{E3096E6B-915B-191A-C4E8-0E82C6FC62AF}"/>
                  </a:ext>
                </a:extLst>
              </p:cNvPr>
              <p:cNvGrpSpPr/>
              <p:nvPr/>
            </p:nvGrpSpPr>
            <p:grpSpPr>
              <a:xfrm>
                <a:off x="3769049" y="2811218"/>
                <a:ext cx="227157" cy="265979"/>
                <a:chOff x="3771206" y="2761936"/>
                <a:chExt cx="227157" cy="265979"/>
              </a:xfrm>
            </p:grpSpPr>
            <p:sp>
              <p:nvSpPr>
                <p:cNvPr id="24588" name="Freeform: Shape 24587">
                  <a:extLst>
                    <a:ext uri="{FF2B5EF4-FFF2-40B4-BE49-F238E27FC236}">
                      <a16:creationId xmlns:a16="http://schemas.microsoft.com/office/drawing/2014/main" id="{4816E775-0536-E2D2-D3D0-AC2042089A63}"/>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24589" name="Freeform: Shape 24588">
                  <a:extLst>
                    <a:ext uri="{FF2B5EF4-FFF2-40B4-BE49-F238E27FC236}">
                      <a16:creationId xmlns:a16="http://schemas.microsoft.com/office/drawing/2014/main" id="{C8A03F1C-4202-E509-7B03-1BCA0B51B7D9}"/>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24582" name="Group 24581">
              <a:extLst>
                <a:ext uri="{FF2B5EF4-FFF2-40B4-BE49-F238E27FC236}">
                  <a16:creationId xmlns:a16="http://schemas.microsoft.com/office/drawing/2014/main" id="{FB9766EA-725F-82B2-6960-08DF4A5E3F3C}"/>
                </a:ext>
              </a:extLst>
            </p:cNvPr>
            <p:cNvGrpSpPr/>
            <p:nvPr/>
          </p:nvGrpSpPr>
          <p:grpSpPr>
            <a:xfrm>
              <a:off x="2132647" y="2732884"/>
              <a:ext cx="545306" cy="457200"/>
              <a:chOff x="2238375" y="2712635"/>
              <a:chExt cx="545306" cy="457200"/>
            </a:xfrm>
          </p:grpSpPr>
          <p:sp>
            <p:nvSpPr>
              <p:cNvPr id="24583" name="Oval 24582">
                <a:extLst>
                  <a:ext uri="{FF2B5EF4-FFF2-40B4-BE49-F238E27FC236}">
                    <a16:creationId xmlns:a16="http://schemas.microsoft.com/office/drawing/2014/main" id="{9E9F766D-FC8D-107F-E214-6E37E15D4BA9}"/>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24584" name="Graphic 14377" descr="Board Of Directors with solid fill">
                <a:extLst>
                  <a:ext uri="{FF2B5EF4-FFF2-40B4-BE49-F238E27FC236}">
                    <a16:creationId xmlns:a16="http://schemas.microsoft.com/office/drawing/2014/main" id="{FD8CDFB0-3F77-0626-7E45-552AB6803E2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24601" name="Graphic 24600" descr="Lights On with solid fill">
            <a:extLst>
              <a:ext uri="{FF2B5EF4-FFF2-40B4-BE49-F238E27FC236}">
                <a16:creationId xmlns:a16="http://schemas.microsoft.com/office/drawing/2014/main" id="{378151CF-6C0D-F5F5-3042-524F3A94569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10" name="Text Box 2">
            <a:extLst>
              <a:ext uri="{FF2B5EF4-FFF2-40B4-BE49-F238E27FC236}">
                <a16:creationId xmlns:a16="http://schemas.microsoft.com/office/drawing/2014/main" id="{A9362CFF-1490-A819-D857-D7B7BB5B34E2}"/>
              </a:ext>
            </a:extLst>
          </p:cNvPr>
          <p:cNvSpPr txBox="1">
            <a:spLocks noChangeArrowheads="1"/>
          </p:cNvSpPr>
          <p:nvPr/>
        </p:nvSpPr>
        <p:spPr bwMode="auto">
          <a:xfrm>
            <a:off x="4768111" y="1033150"/>
            <a:ext cx="5134755" cy="252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000000"/>
                </a:solidFill>
                <a:latin typeface="Calibri"/>
                <a:ea typeface="Calibri"/>
                <a:cs typeface="Times New Roman"/>
              </a:rPr>
              <a:t>Figure 7: </a:t>
            </a:r>
            <a:r>
              <a:rPr lang="en-US" sz="1200" dirty="0">
                <a:solidFill>
                  <a:srgbClr val="000000"/>
                </a:solidFill>
                <a:latin typeface="Calibri"/>
                <a:ea typeface="Calibri"/>
                <a:cs typeface="Times New Roman"/>
              </a:rPr>
              <a:t>Financial Position During Tariff Pressure</a:t>
            </a:r>
            <a:endParaRPr lang="en-US" altLang="en-US" sz="1200" dirty="0">
              <a:solidFill>
                <a:srgbClr val="000000"/>
              </a:solidFill>
              <a:latin typeface="Calibri"/>
              <a:ea typeface="Calibri"/>
              <a:cs typeface="Times New Roman"/>
            </a:endParaRPr>
          </a:p>
          <a:p>
            <a:pPr eaLnBrk="1" hangingPunct="1">
              <a:lnSpc>
                <a:spcPct val="115000"/>
              </a:lnSpc>
              <a:spcAft>
                <a:spcPts val="751"/>
              </a:spcAft>
            </a:pPr>
            <a:endParaRPr lang="en-US" altLang="en-US" sz="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6DAC3B7A-FCD6-FA77-02F0-B87AC0CBC23D}"/>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8</a:t>
            </a:fld>
            <a:endParaRPr lang="en-US" sz="1400">
              <a:latin typeface="Calibri" panose="020F0502020204030204" pitchFamily="34" charset="0"/>
              <a:cs typeface="Calibri" panose="020F0502020204030204" pitchFamily="34" charset="0"/>
            </a:endParaRPr>
          </a:p>
        </p:txBody>
      </p:sp>
      <p:sp>
        <p:nvSpPr>
          <p:cNvPr id="16" name="Text Box 2">
            <a:extLst>
              <a:ext uri="{FF2B5EF4-FFF2-40B4-BE49-F238E27FC236}">
                <a16:creationId xmlns:a16="http://schemas.microsoft.com/office/drawing/2014/main" id="{D2540E42-60AD-CBDE-2800-DF01EB07FD56}"/>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descr="Outdoor Industry Jobs">
            <a:extLst>
              <a:ext uri="{FF2B5EF4-FFF2-40B4-BE49-F238E27FC236}">
                <a16:creationId xmlns:a16="http://schemas.microsoft.com/office/drawing/2014/main" id="{113E9F9C-5F5D-3A63-E9BC-47C43255238C}"/>
              </a:ext>
            </a:extLst>
          </p:cNvPr>
          <p:cNvPicPr>
            <a:picLocks noChangeAspect="1"/>
          </p:cNvPicPr>
          <p:nvPr/>
        </p:nvPicPr>
        <p:blipFill>
          <a:blip r:embed="rId7"/>
          <a:stretch>
            <a:fillRect/>
          </a:stretch>
        </p:blipFill>
        <p:spPr>
          <a:xfrm>
            <a:off x="6673081" y="-3953"/>
            <a:ext cx="2332359" cy="539870"/>
          </a:xfrm>
          <a:prstGeom prst="rect">
            <a:avLst/>
          </a:prstGeom>
        </p:spPr>
      </p:pic>
      <p:sp>
        <p:nvSpPr>
          <p:cNvPr id="5" name="Rectangle 4">
            <a:extLst>
              <a:ext uri="{FF2B5EF4-FFF2-40B4-BE49-F238E27FC236}">
                <a16:creationId xmlns:a16="http://schemas.microsoft.com/office/drawing/2014/main" id="{C22E69CE-36D5-A6A4-6DE0-01C77514B28B}"/>
              </a:ext>
            </a:extLst>
          </p:cNvPr>
          <p:cNvSpPr/>
          <p:nvPr/>
        </p:nvSpPr>
        <p:spPr>
          <a:xfrm>
            <a:off x="354586" y="1301608"/>
            <a:ext cx="4012600" cy="1135566"/>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200" b="1" dirty="0">
                <a:solidFill>
                  <a:srgbClr val="000000"/>
                </a:solidFill>
                <a:latin typeface="Calibri"/>
                <a:ea typeface="+mn-lt"/>
                <a:cs typeface="+mn-lt"/>
              </a:rPr>
              <a:t>Balance Sheet Resilience</a:t>
            </a:r>
          </a:p>
          <a:p>
            <a:endParaRPr lang="en-US" sz="500" dirty="0">
              <a:solidFill>
                <a:srgbClr val="000000"/>
              </a:solidFill>
              <a:latin typeface="Calibri"/>
              <a:ea typeface="+mn-lt"/>
              <a:cs typeface="+mn-lt"/>
            </a:endParaRPr>
          </a:p>
          <a:p>
            <a:pPr marL="171450" indent="-171450">
              <a:buFont typeface="Arial" panose="020B0604020202020204" pitchFamily="34" charset="0"/>
              <a:buChar char="•"/>
            </a:pPr>
            <a:r>
              <a:rPr lang="en-US" sz="1200" dirty="0">
                <a:solidFill>
                  <a:srgbClr val="000000"/>
                </a:solidFill>
                <a:latin typeface="Calibri"/>
                <a:ea typeface="+mn-lt"/>
                <a:cs typeface="+mn-lt"/>
              </a:rPr>
              <a:t>Leverage declining: Debt/IC 11.7% → 7.6%</a:t>
            </a:r>
          </a:p>
          <a:p>
            <a:pPr marL="171450" indent="-171450">
              <a:buFont typeface="Arial" panose="020B0604020202020204" pitchFamily="34" charset="0"/>
              <a:buChar char="•"/>
            </a:pPr>
            <a:endParaRPr lang="en-US" sz="300" dirty="0">
              <a:solidFill>
                <a:srgbClr val="000000"/>
              </a:solidFill>
              <a:latin typeface="Calibri"/>
              <a:ea typeface="+mn-lt"/>
              <a:cs typeface="+mn-lt"/>
            </a:endParaRPr>
          </a:p>
          <a:p>
            <a:pPr marL="171450" indent="-171450">
              <a:buFont typeface="Arial" panose="020B0604020202020204" pitchFamily="34" charset="0"/>
              <a:buChar char="•"/>
            </a:pPr>
            <a:r>
              <a:rPr lang="en-US" sz="1200" dirty="0">
                <a:solidFill>
                  <a:srgbClr val="000000"/>
                </a:solidFill>
                <a:latin typeface="Calibri"/>
                <a:ea typeface="+mn-lt"/>
                <a:cs typeface="+mn-lt"/>
              </a:rPr>
              <a:t>Equity multiplier roughly flat (1.7x)</a:t>
            </a:r>
          </a:p>
          <a:p>
            <a:pPr marL="171450" indent="-171450">
              <a:buFont typeface="Arial" panose="020B0604020202020204" pitchFamily="34" charset="0"/>
              <a:buChar char="•"/>
            </a:pPr>
            <a:endParaRPr lang="en-US" sz="300" dirty="0">
              <a:solidFill>
                <a:srgbClr val="000000"/>
              </a:solidFill>
              <a:latin typeface="Calibri"/>
              <a:ea typeface="+mn-lt"/>
              <a:cs typeface="+mn-lt"/>
            </a:endParaRPr>
          </a:p>
          <a:p>
            <a:pPr marL="171450" indent="-171450">
              <a:buFont typeface="Arial" panose="020B0604020202020204" pitchFamily="34" charset="0"/>
              <a:buChar char="•"/>
            </a:pPr>
            <a:r>
              <a:rPr lang="en-US" sz="1200" dirty="0">
                <a:solidFill>
                  <a:srgbClr val="000000"/>
                </a:solidFill>
                <a:latin typeface="Calibri"/>
                <a:ea typeface="+mn-lt"/>
                <a:cs typeface="+mn-lt"/>
              </a:rPr>
              <a:t>Recovery not driven by leverage or buybacks</a:t>
            </a:r>
          </a:p>
        </p:txBody>
      </p:sp>
      <p:sp>
        <p:nvSpPr>
          <p:cNvPr id="8" name="Rectangle 7">
            <a:extLst>
              <a:ext uri="{FF2B5EF4-FFF2-40B4-BE49-F238E27FC236}">
                <a16:creationId xmlns:a16="http://schemas.microsoft.com/office/drawing/2014/main" id="{829E2936-888C-1FC8-4A66-7C9F66BD475E}"/>
              </a:ext>
            </a:extLst>
          </p:cNvPr>
          <p:cNvSpPr/>
          <p:nvPr/>
        </p:nvSpPr>
        <p:spPr>
          <a:xfrm>
            <a:off x="354586" y="2867774"/>
            <a:ext cx="3968112" cy="1778907"/>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200" b="1" dirty="0">
                <a:solidFill>
                  <a:srgbClr val="000000"/>
                </a:solidFill>
                <a:latin typeface="Calibri"/>
                <a:ea typeface="+mn-lt"/>
                <a:cs typeface="+mn-lt"/>
              </a:rPr>
              <a:t>Tariff &amp; Margin Pressure</a:t>
            </a:r>
          </a:p>
          <a:p>
            <a:endParaRPr lang="en-US" sz="500" dirty="0">
              <a:solidFill>
                <a:srgbClr val="000000"/>
              </a:solidFill>
              <a:latin typeface="Calibri"/>
              <a:ea typeface="+mn-lt"/>
              <a:cs typeface="+mn-lt"/>
            </a:endParaRPr>
          </a:p>
          <a:p>
            <a:pPr marL="171450" indent="-171450">
              <a:buFont typeface="Arial" panose="020B0604020202020204" pitchFamily="34" charset="0"/>
              <a:buChar char="•"/>
            </a:pPr>
            <a:r>
              <a:rPr lang="en-US" sz="1200" dirty="0">
                <a:solidFill>
                  <a:srgbClr val="000000"/>
                </a:solidFill>
                <a:latin typeface="Calibri"/>
                <a:ea typeface="+mn-lt"/>
                <a:cs typeface="+mn-lt"/>
              </a:rPr>
              <a:t>EBIT margin compressed 8.9% → -5.5% (Sep-22 → Sep-24)</a:t>
            </a:r>
          </a:p>
          <a:p>
            <a:pPr marL="171450" indent="-171450">
              <a:buFont typeface="Arial" panose="020B0604020202020204" pitchFamily="34" charset="0"/>
              <a:buChar char="•"/>
            </a:pPr>
            <a:endParaRPr lang="en-US" sz="400" dirty="0">
              <a:solidFill>
                <a:srgbClr val="000000"/>
              </a:solidFill>
              <a:latin typeface="Calibri"/>
              <a:ea typeface="+mn-lt"/>
              <a:cs typeface="+mn-lt"/>
            </a:endParaRPr>
          </a:p>
          <a:p>
            <a:pPr marL="171450" indent="-171450">
              <a:buFont typeface="Arial" panose="020B0604020202020204" pitchFamily="34" charset="0"/>
              <a:buChar char="•"/>
            </a:pPr>
            <a:r>
              <a:rPr lang="en-US" sz="1200" dirty="0">
                <a:solidFill>
                  <a:srgbClr val="000000"/>
                </a:solidFill>
                <a:latin typeface="Calibri"/>
                <a:ea typeface="+mn-lt"/>
                <a:cs typeface="+mn-lt"/>
              </a:rPr>
              <a:t>Gross margin settling around ~34% near-term</a:t>
            </a:r>
          </a:p>
          <a:p>
            <a:pPr marL="171450" indent="-171450">
              <a:buFont typeface="Arial" panose="020B0604020202020204" pitchFamily="34" charset="0"/>
              <a:buChar char="•"/>
            </a:pPr>
            <a:endParaRPr lang="en-US" sz="400" dirty="0">
              <a:solidFill>
                <a:srgbClr val="000000"/>
              </a:solidFill>
              <a:latin typeface="Calibri"/>
              <a:ea typeface="+mn-lt"/>
              <a:cs typeface="+mn-lt"/>
            </a:endParaRPr>
          </a:p>
          <a:p>
            <a:pPr marL="171450" indent="-171450">
              <a:buFont typeface="Arial" panose="020B0604020202020204" pitchFamily="34" charset="0"/>
              <a:buChar char="•"/>
            </a:pPr>
            <a:r>
              <a:rPr lang="en-US" sz="1200" dirty="0">
                <a:solidFill>
                  <a:srgbClr val="000000"/>
                </a:solidFill>
                <a:latin typeface="Calibri"/>
                <a:ea typeface="+mn-lt"/>
                <a:cs typeface="+mn-lt"/>
              </a:rPr>
              <a:t>Limited pricing on existing inventory</a:t>
            </a:r>
          </a:p>
          <a:p>
            <a:pPr marL="171450" indent="-171450">
              <a:buFont typeface="Arial" panose="020B0604020202020204" pitchFamily="34" charset="0"/>
              <a:buChar char="•"/>
            </a:pPr>
            <a:endParaRPr lang="en-US" sz="400" dirty="0">
              <a:solidFill>
                <a:srgbClr val="000000"/>
              </a:solidFill>
              <a:latin typeface="Calibri"/>
              <a:ea typeface="+mn-lt"/>
              <a:cs typeface="+mn-lt"/>
            </a:endParaRPr>
          </a:p>
          <a:p>
            <a:pPr marL="171450" indent="-171450">
              <a:buFont typeface="Arial" panose="020B0604020202020204" pitchFamily="34" charset="0"/>
              <a:buChar char="•"/>
            </a:pPr>
            <a:r>
              <a:rPr lang="en-US" sz="1200" dirty="0">
                <a:solidFill>
                  <a:srgbClr val="000000"/>
                </a:solidFill>
                <a:latin typeface="Calibri"/>
                <a:ea typeface="+mn-lt"/>
                <a:cs typeface="+mn-lt"/>
              </a:rPr>
              <a:t>Margin recovery is driven by operational normalization, not capital structure changes</a:t>
            </a:r>
          </a:p>
        </p:txBody>
      </p:sp>
      <p:graphicFrame>
        <p:nvGraphicFramePr>
          <p:cNvPr id="3" name="Table 2">
            <a:extLst>
              <a:ext uri="{FF2B5EF4-FFF2-40B4-BE49-F238E27FC236}">
                <a16:creationId xmlns:a16="http://schemas.microsoft.com/office/drawing/2014/main" id="{36F818CC-9028-2462-E0D1-69601F7460B1}"/>
              </a:ext>
            </a:extLst>
          </p:cNvPr>
          <p:cNvGraphicFramePr>
            <a:graphicFrameLocks noGrp="1"/>
          </p:cNvGraphicFramePr>
          <p:nvPr>
            <p:extLst>
              <p:ext uri="{D42A27DB-BD31-4B8C-83A1-F6EECF244321}">
                <p14:modId xmlns:p14="http://schemas.microsoft.com/office/powerpoint/2010/main" val="303092984"/>
              </p:ext>
            </p:extLst>
          </p:nvPr>
        </p:nvGraphicFramePr>
        <p:xfrm>
          <a:off x="4824944" y="1287097"/>
          <a:ext cx="3915299" cy="1182829"/>
        </p:xfrm>
        <a:graphic>
          <a:graphicData uri="http://schemas.openxmlformats.org/drawingml/2006/table">
            <a:tbl>
              <a:tblPr>
                <a:tableStyleId>{5C22544A-7EE6-4342-B048-85BDC9FD1C3A}</a:tableStyleId>
              </a:tblPr>
              <a:tblGrid>
                <a:gridCol w="1764395">
                  <a:extLst>
                    <a:ext uri="{9D8B030D-6E8A-4147-A177-3AD203B41FA5}">
                      <a16:colId xmlns:a16="http://schemas.microsoft.com/office/drawing/2014/main" val="128003060"/>
                    </a:ext>
                  </a:extLst>
                </a:gridCol>
                <a:gridCol w="1158180">
                  <a:extLst>
                    <a:ext uri="{9D8B030D-6E8A-4147-A177-3AD203B41FA5}">
                      <a16:colId xmlns:a16="http://schemas.microsoft.com/office/drawing/2014/main" val="596312715"/>
                    </a:ext>
                  </a:extLst>
                </a:gridCol>
                <a:gridCol w="992724">
                  <a:extLst>
                    <a:ext uri="{9D8B030D-6E8A-4147-A177-3AD203B41FA5}">
                      <a16:colId xmlns:a16="http://schemas.microsoft.com/office/drawing/2014/main" val="1350530885"/>
                    </a:ext>
                  </a:extLst>
                </a:gridCol>
              </a:tblGrid>
              <a:tr h="280202">
                <a:tc>
                  <a:txBody>
                    <a:bodyPr/>
                    <a:lstStyle/>
                    <a:p>
                      <a:pPr marL="0" algn="ctr" defTabSz="685783" rtl="0" eaLnBrk="1" fontAlgn="b" latinLnBrk="0" hangingPunct="1">
                        <a:buNone/>
                      </a:pPr>
                      <a:r>
                        <a:rPr lang="en-US" sz="1200" b="1" kern="1200" dirty="0">
                          <a:solidFill>
                            <a:srgbClr val="000000"/>
                          </a:solidFill>
                          <a:latin typeface="Calibri"/>
                          <a:ea typeface="+mn-lt"/>
                          <a:cs typeface="+mn-lt"/>
                        </a:rPr>
                        <a:t>Metric</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C000"/>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24-Sep</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C000"/>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Sep-31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4763292"/>
                  </a:ext>
                </a:extLst>
              </a:tr>
              <a:tr h="280202">
                <a:tc>
                  <a:txBody>
                    <a:bodyPr/>
                    <a:lstStyle/>
                    <a:p>
                      <a:pPr marL="0" algn="ctr" defTabSz="685783" rtl="0" eaLnBrk="1" fontAlgn="b" latinLnBrk="0" hangingPunct="1">
                        <a:buNone/>
                      </a:pPr>
                      <a:r>
                        <a:rPr lang="en-US" sz="1200" b="1" kern="1200" dirty="0">
                          <a:solidFill>
                            <a:srgbClr val="000000"/>
                          </a:solidFill>
                          <a:latin typeface="Calibri"/>
                          <a:ea typeface="+mn-lt"/>
                          <a:cs typeface="+mn-lt"/>
                        </a:rPr>
                        <a:t>Debt ($M)</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95000"/>
                      </a:schemeClr>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49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95000"/>
                      </a:schemeClr>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49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95000"/>
                      </a:schemeClr>
                    </a:solidFill>
                  </a:tcPr>
                </a:tc>
                <a:extLst>
                  <a:ext uri="{0D108BD9-81ED-4DB2-BD59-A6C34878D82A}">
                    <a16:rowId xmlns:a16="http://schemas.microsoft.com/office/drawing/2014/main" val="2970052896"/>
                  </a:ext>
                </a:extLst>
              </a:tr>
              <a:tr h="342223">
                <a:tc>
                  <a:txBody>
                    <a:bodyPr/>
                    <a:lstStyle/>
                    <a:p>
                      <a:pPr marL="0" algn="ctr" defTabSz="685783" rtl="0" eaLnBrk="1" fontAlgn="b" latinLnBrk="0" hangingPunct="1">
                        <a:buNone/>
                      </a:pPr>
                      <a:r>
                        <a:rPr lang="en-US" sz="1200" b="1" kern="1200" dirty="0">
                          <a:solidFill>
                            <a:srgbClr val="000000"/>
                          </a:solidFill>
                          <a:latin typeface="Calibri"/>
                          <a:ea typeface="+mn-lt"/>
                          <a:cs typeface="+mn-lt"/>
                        </a:rPr>
                        <a:t>Debt / Invested Cap</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11.7%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7.6%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09141814"/>
                  </a:ext>
                </a:extLst>
              </a:tr>
              <a:tr h="280202">
                <a:tc>
                  <a:txBody>
                    <a:bodyPr/>
                    <a:lstStyle/>
                    <a:p>
                      <a:pPr marL="0" algn="ctr" defTabSz="685783" rtl="0" eaLnBrk="1" fontAlgn="b" latinLnBrk="0" hangingPunct="1">
                        <a:buNone/>
                      </a:pPr>
                      <a:r>
                        <a:rPr lang="en-US" sz="1200" b="1" kern="1200" dirty="0">
                          <a:solidFill>
                            <a:srgbClr val="000000"/>
                          </a:solidFill>
                          <a:latin typeface="Calibri"/>
                          <a:ea typeface="+mn-lt"/>
                          <a:cs typeface="+mn-lt"/>
                        </a:rPr>
                        <a:t>EBIT Margin</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95000"/>
                      </a:schemeClr>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-5.5%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95000"/>
                      </a:schemeClr>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3.5%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95000"/>
                      </a:schemeClr>
                    </a:solidFill>
                  </a:tcPr>
                </a:tc>
                <a:extLst>
                  <a:ext uri="{0D108BD9-81ED-4DB2-BD59-A6C34878D82A}">
                    <a16:rowId xmlns:a16="http://schemas.microsoft.com/office/drawing/2014/main" val="2312049249"/>
                  </a:ext>
                </a:extLst>
              </a:tr>
            </a:tbl>
          </a:graphicData>
        </a:graphic>
      </p:graphicFrame>
      <p:sp>
        <p:nvSpPr>
          <p:cNvPr id="6" name="Rectangle 5">
            <a:extLst>
              <a:ext uri="{FF2B5EF4-FFF2-40B4-BE49-F238E27FC236}">
                <a16:creationId xmlns:a16="http://schemas.microsoft.com/office/drawing/2014/main" id="{CCA75A7D-9A79-5DFE-4D76-EF8AA69520AB}"/>
              </a:ext>
            </a:extLst>
          </p:cNvPr>
          <p:cNvSpPr/>
          <p:nvPr/>
        </p:nvSpPr>
        <p:spPr>
          <a:xfrm>
            <a:off x="4815419" y="3941039"/>
            <a:ext cx="3926828" cy="70564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200" b="1" dirty="0">
                <a:solidFill>
                  <a:srgbClr val="000000"/>
                </a:solidFill>
                <a:latin typeface="Calibri"/>
                <a:ea typeface="+mn-lt"/>
                <a:cs typeface="+mn-lt"/>
              </a:rPr>
              <a:t>Takeaway</a:t>
            </a:r>
            <a:endParaRPr lang="en-US" sz="1200" dirty="0">
              <a:solidFill>
                <a:srgbClr val="000000"/>
              </a:solidFill>
              <a:latin typeface="Calibri"/>
              <a:ea typeface="+mn-lt"/>
              <a:cs typeface="+mn-lt"/>
            </a:endParaRPr>
          </a:p>
          <a:p>
            <a:endParaRPr lang="en-US" sz="500" dirty="0">
              <a:solidFill>
                <a:srgbClr val="000000"/>
              </a:solidFill>
              <a:latin typeface="Calibri"/>
              <a:ea typeface="+mn-lt"/>
              <a:cs typeface="+mn-lt"/>
            </a:endParaRPr>
          </a:p>
          <a:p>
            <a:r>
              <a:rPr lang="en-US" sz="1200" dirty="0">
                <a:solidFill>
                  <a:srgbClr val="000000"/>
                </a:solidFill>
                <a:latin typeface="Calibri"/>
                <a:ea typeface="+mn-lt"/>
                <a:cs typeface="+mn-lt"/>
              </a:rPr>
              <a:t>Strong liquidity and low leverage allow JOUT to absorb tariff-driven margin pressure without financial distress.</a:t>
            </a:r>
          </a:p>
        </p:txBody>
      </p:sp>
      <p:sp>
        <p:nvSpPr>
          <p:cNvPr id="11" name="Rectangle 10">
            <a:extLst>
              <a:ext uri="{FF2B5EF4-FFF2-40B4-BE49-F238E27FC236}">
                <a16:creationId xmlns:a16="http://schemas.microsoft.com/office/drawing/2014/main" id="{759ABDB6-160F-ED02-88BE-D1C0EE213BB9}"/>
              </a:ext>
            </a:extLst>
          </p:cNvPr>
          <p:cNvSpPr/>
          <p:nvPr/>
        </p:nvSpPr>
        <p:spPr>
          <a:xfrm>
            <a:off x="4815419" y="2882043"/>
            <a:ext cx="3915300" cy="96929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200" b="1" dirty="0">
                <a:solidFill>
                  <a:srgbClr val="000000"/>
                </a:solidFill>
                <a:latin typeface="Calibri"/>
                <a:ea typeface="+mn-lt"/>
                <a:cs typeface="+mn-lt"/>
              </a:rPr>
              <a:t>Cash Flow Impact</a:t>
            </a:r>
            <a:endParaRPr lang="en-US" sz="1200" dirty="0">
              <a:solidFill>
                <a:srgbClr val="000000"/>
              </a:solidFill>
              <a:latin typeface="Calibri"/>
              <a:ea typeface="+mn-lt"/>
              <a:cs typeface="+mn-lt"/>
            </a:endParaRPr>
          </a:p>
          <a:p>
            <a:endParaRPr lang="en-US" sz="500" dirty="0">
              <a:solidFill>
                <a:srgbClr val="000000"/>
              </a:solidFill>
              <a:latin typeface="Calibri"/>
              <a:ea typeface="+mn-lt"/>
              <a:cs typeface="+mn-lt"/>
            </a:endParaRPr>
          </a:p>
          <a:p>
            <a:r>
              <a:rPr lang="en-US" sz="1200" dirty="0">
                <a:solidFill>
                  <a:srgbClr val="000000"/>
                </a:solidFill>
                <a:latin typeface="Calibri"/>
                <a:ea typeface="+mn-lt"/>
                <a:cs typeface="+mn-lt"/>
              </a:rPr>
              <a:t>• NOPAT turned negative in Sep-24</a:t>
            </a:r>
          </a:p>
          <a:p>
            <a:br>
              <a:rPr lang="en-US" sz="300" dirty="0">
                <a:solidFill>
                  <a:srgbClr val="000000"/>
                </a:solidFill>
                <a:latin typeface="Calibri"/>
                <a:ea typeface="+mn-lt"/>
                <a:cs typeface="+mn-lt"/>
              </a:rPr>
            </a:br>
            <a:r>
              <a:rPr lang="en-US" sz="1200" dirty="0">
                <a:solidFill>
                  <a:srgbClr val="000000"/>
                </a:solidFill>
                <a:latin typeface="Calibri"/>
                <a:ea typeface="+mn-lt"/>
                <a:cs typeface="+mn-lt"/>
              </a:rPr>
              <a:t>• FCFE temporarily negative during margin compression</a:t>
            </a:r>
          </a:p>
          <a:p>
            <a:r>
              <a:rPr lang="en-US" sz="300" dirty="0">
                <a:solidFill>
                  <a:srgbClr val="000000"/>
                </a:solidFill>
                <a:latin typeface="Calibri"/>
                <a:ea typeface="+mn-lt"/>
                <a:cs typeface="+mn-lt"/>
              </a:rPr>
              <a:t> </a:t>
            </a:r>
            <a:br>
              <a:rPr lang="en-US" sz="1200" dirty="0">
                <a:solidFill>
                  <a:srgbClr val="000000"/>
                </a:solidFill>
                <a:latin typeface="Calibri"/>
                <a:ea typeface="+mn-lt"/>
                <a:cs typeface="+mn-lt"/>
              </a:rPr>
            </a:br>
            <a:r>
              <a:rPr lang="en-US" sz="1200" dirty="0">
                <a:solidFill>
                  <a:srgbClr val="000000"/>
                </a:solidFill>
                <a:latin typeface="Calibri"/>
                <a:ea typeface="+mn-lt"/>
                <a:cs typeface="+mn-lt"/>
              </a:rPr>
              <a:t>• Cash flow recovery expected as EBIT normalizes</a:t>
            </a:r>
          </a:p>
          <a:p>
            <a:r>
              <a:rPr lang="en-US" sz="300" dirty="0">
                <a:solidFill>
                  <a:srgbClr val="000000"/>
                </a:solidFill>
                <a:latin typeface="Calibri"/>
                <a:ea typeface="+mn-lt"/>
                <a:cs typeface="+mn-lt"/>
              </a:rPr>
              <a:t>  </a:t>
            </a:r>
          </a:p>
        </p:txBody>
      </p:sp>
      <p:sp>
        <p:nvSpPr>
          <p:cNvPr id="14" name="Rounded Rectangle 17">
            <a:extLst>
              <a:ext uri="{FF2B5EF4-FFF2-40B4-BE49-F238E27FC236}">
                <a16:creationId xmlns:a16="http://schemas.microsoft.com/office/drawing/2014/main" id="{DBAF6EDA-7FF2-F45C-44FB-88D9C44118E2}"/>
              </a:ext>
            </a:extLst>
          </p:cNvPr>
          <p:cNvSpPr/>
          <p:nvPr/>
        </p:nvSpPr>
        <p:spPr bwMode="auto">
          <a:xfrm>
            <a:off x="867985" y="5151768"/>
            <a:ext cx="1319598" cy="692313"/>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Tariffs</a:t>
            </a:r>
            <a:r>
              <a:rPr lang="en-US" sz="1100" dirty="0"/>
              <a:t> </a:t>
            </a:r>
            <a:endPar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21" name="Rounded Rectangle 17">
            <a:extLst>
              <a:ext uri="{FF2B5EF4-FFF2-40B4-BE49-F238E27FC236}">
                <a16:creationId xmlns:a16="http://schemas.microsoft.com/office/drawing/2014/main" id="{37ED5C5A-9CA5-F391-C6E2-F5FFFE0C6DCC}"/>
              </a:ext>
            </a:extLst>
          </p:cNvPr>
          <p:cNvSpPr/>
          <p:nvPr/>
        </p:nvSpPr>
        <p:spPr bwMode="auto">
          <a:xfrm>
            <a:off x="2759172" y="5160533"/>
            <a:ext cx="1367373" cy="692313"/>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Margin Compression</a:t>
            </a:r>
          </a:p>
        </p:txBody>
      </p:sp>
      <p:sp>
        <p:nvSpPr>
          <p:cNvPr id="25" name="Rounded Rectangle 17">
            <a:extLst>
              <a:ext uri="{FF2B5EF4-FFF2-40B4-BE49-F238E27FC236}">
                <a16:creationId xmlns:a16="http://schemas.microsoft.com/office/drawing/2014/main" id="{FD34C7C4-8EEE-2C2D-0D5C-9C805D4E46C5}"/>
              </a:ext>
            </a:extLst>
          </p:cNvPr>
          <p:cNvSpPr/>
          <p:nvPr/>
        </p:nvSpPr>
        <p:spPr bwMode="auto">
          <a:xfrm>
            <a:off x="4746262" y="5168248"/>
            <a:ext cx="1462030" cy="675834"/>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Lower NOPAT / FCFE</a:t>
            </a:r>
          </a:p>
        </p:txBody>
      </p:sp>
      <p:sp>
        <p:nvSpPr>
          <p:cNvPr id="26" name="Rounded Rectangle 17">
            <a:extLst>
              <a:ext uri="{FF2B5EF4-FFF2-40B4-BE49-F238E27FC236}">
                <a16:creationId xmlns:a16="http://schemas.microsoft.com/office/drawing/2014/main" id="{B6049034-79FC-6672-F271-4C0D972E371E}"/>
              </a:ext>
            </a:extLst>
          </p:cNvPr>
          <p:cNvSpPr/>
          <p:nvPr/>
        </p:nvSpPr>
        <p:spPr bwMode="auto">
          <a:xfrm>
            <a:off x="6798902" y="5171732"/>
            <a:ext cx="1477113" cy="672349"/>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Strong Balance Sheet Limits Downside</a:t>
            </a:r>
          </a:p>
        </p:txBody>
      </p:sp>
      <p:sp>
        <p:nvSpPr>
          <p:cNvPr id="30" name="Down Arrow 38">
            <a:extLst>
              <a:ext uri="{FF2B5EF4-FFF2-40B4-BE49-F238E27FC236}">
                <a16:creationId xmlns:a16="http://schemas.microsoft.com/office/drawing/2014/main" id="{6839E1E8-1A53-4075-CC58-67A766DA1241}"/>
              </a:ext>
            </a:extLst>
          </p:cNvPr>
          <p:cNvSpPr/>
          <p:nvPr/>
        </p:nvSpPr>
        <p:spPr bwMode="auto">
          <a:xfrm rot="16200000">
            <a:off x="6397987" y="5373945"/>
            <a:ext cx="216890" cy="321410"/>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Down Arrow 38">
            <a:extLst>
              <a:ext uri="{FF2B5EF4-FFF2-40B4-BE49-F238E27FC236}">
                <a16:creationId xmlns:a16="http://schemas.microsoft.com/office/drawing/2014/main" id="{632A1AED-F180-203C-B91A-065C23AB9822}"/>
              </a:ext>
            </a:extLst>
          </p:cNvPr>
          <p:cNvSpPr/>
          <p:nvPr/>
        </p:nvSpPr>
        <p:spPr bwMode="auto">
          <a:xfrm rot="16200000">
            <a:off x="2364932" y="5345460"/>
            <a:ext cx="216890" cy="321410"/>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5" name="Down Arrow 38">
            <a:extLst>
              <a:ext uri="{FF2B5EF4-FFF2-40B4-BE49-F238E27FC236}">
                <a16:creationId xmlns:a16="http://schemas.microsoft.com/office/drawing/2014/main" id="{CD907C7E-E211-EBA6-AC49-0E6C24F759DA}"/>
              </a:ext>
            </a:extLst>
          </p:cNvPr>
          <p:cNvSpPr/>
          <p:nvPr/>
        </p:nvSpPr>
        <p:spPr bwMode="auto">
          <a:xfrm rot="16200000">
            <a:off x="4339677" y="5373944"/>
            <a:ext cx="216890" cy="321410"/>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46378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7F32E-C536-9FA3-C425-1D1371A856F7}"/>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6CA1A4FD-66D0-09ED-67AE-400B9875280F}"/>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BCE51678-2D50-E220-E139-CB39FB4C7447}"/>
                </a:ext>
              </a:extLst>
            </p:cNvPr>
            <p:cNvSpPr txBox="1">
              <a:spLocks/>
            </p:cNvSpPr>
            <p:nvPr/>
          </p:nvSpPr>
          <p:spPr>
            <a:xfrm>
              <a:off x="-2" y="-17873"/>
              <a:ext cx="11270514" cy="733643"/>
            </a:xfrm>
            <a:prstGeom prst="rect">
              <a:avLst/>
            </a:prstGeom>
            <a:noFill/>
            <a:ln>
              <a:noFill/>
            </a:ln>
          </p:spPr>
          <p:txBody>
            <a:bodyPr lIns="91440" tIns="45720" rIns="91440" bIns="45720"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a:ea typeface="Calibri"/>
                  <a:cs typeface="Calibri"/>
                </a:rPr>
                <a:t>Driver: Inventory and Channel Normalization</a:t>
              </a:r>
            </a:p>
          </p:txBody>
        </p:sp>
        <p:grpSp>
          <p:nvGrpSpPr>
            <p:cNvPr id="16397" name="Group 39">
              <a:extLst>
                <a:ext uri="{FF2B5EF4-FFF2-40B4-BE49-F238E27FC236}">
                  <a16:creationId xmlns:a16="http://schemas.microsoft.com/office/drawing/2014/main" id="{7F30312D-534D-1E5B-47E6-F76B97C85453}"/>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E0BB0F1D-9965-4E54-1388-84DEEA40A3D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71223EF-A604-EBEA-541E-301079BEA1C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6" name="Group 55">
            <a:extLst>
              <a:ext uri="{FF2B5EF4-FFF2-40B4-BE49-F238E27FC236}">
                <a16:creationId xmlns:a16="http://schemas.microsoft.com/office/drawing/2014/main" id="{B09C99EF-83C8-C371-DB2E-BA9059E5F12A}"/>
              </a:ext>
            </a:extLst>
          </p:cNvPr>
          <p:cNvGrpSpPr/>
          <p:nvPr/>
        </p:nvGrpSpPr>
        <p:grpSpPr>
          <a:xfrm>
            <a:off x="0" y="6265664"/>
            <a:ext cx="9144000" cy="457200"/>
            <a:chOff x="0" y="2732884"/>
            <a:chExt cx="9144000" cy="457200"/>
          </a:xfrm>
        </p:grpSpPr>
        <p:sp>
          <p:nvSpPr>
            <p:cNvPr id="57" name="Rectangle 56">
              <a:extLst>
                <a:ext uri="{FF2B5EF4-FFF2-40B4-BE49-F238E27FC236}">
                  <a16:creationId xmlns:a16="http://schemas.microsoft.com/office/drawing/2014/main" id="{E575D052-EA5D-FE13-C199-23F57B75C6F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8" name="Group 57">
              <a:extLst>
                <a:ext uri="{FF2B5EF4-FFF2-40B4-BE49-F238E27FC236}">
                  <a16:creationId xmlns:a16="http://schemas.microsoft.com/office/drawing/2014/main" id="{2F457211-4CEE-9CD4-AC6C-44C07899C326}"/>
                </a:ext>
              </a:extLst>
            </p:cNvPr>
            <p:cNvGrpSpPr/>
            <p:nvPr/>
          </p:nvGrpSpPr>
          <p:grpSpPr>
            <a:xfrm>
              <a:off x="5021579" y="2732884"/>
              <a:ext cx="545306" cy="457200"/>
              <a:chOff x="4981575" y="2712036"/>
              <a:chExt cx="545306" cy="457200"/>
            </a:xfrm>
          </p:grpSpPr>
          <p:sp>
            <p:nvSpPr>
              <p:cNvPr id="16395" name="Oval 16394">
                <a:extLst>
                  <a:ext uri="{FF2B5EF4-FFF2-40B4-BE49-F238E27FC236}">
                    <a16:creationId xmlns:a16="http://schemas.microsoft.com/office/drawing/2014/main" id="{E593139C-F619-B56B-230B-CF89F8C7ACC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6" name="Picture 16395" descr="Related image">
                <a:extLst>
                  <a:ext uri="{FF2B5EF4-FFF2-40B4-BE49-F238E27FC236}">
                    <a16:creationId xmlns:a16="http://schemas.microsoft.com/office/drawing/2014/main" id="{BC7D5FB9-249C-FD23-A744-BEEAB6961C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9" name="Group 58">
              <a:extLst>
                <a:ext uri="{FF2B5EF4-FFF2-40B4-BE49-F238E27FC236}">
                  <a16:creationId xmlns:a16="http://schemas.microsoft.com/office/drawing/2014/main" id="{1B414238-D192-876A-EDB8-12137B58E590}"/>
                </a:ext>
              </a:extLst>
            </p:cNvPr>
            <p:cNvGrpSpPr/>
            <p:nvPr/>
          </p:nvGrpSpPr>
          <p:grpSpPr>
            <a:xfrm>
              <a:off x="7910513" y="2732884"/>
              <a:ext cx="545306" cy="457200"/>
              <a:chOff x="7731919" y="2712036"/>
              <a:chExt cx="545306" cy="457200"/>
            </a:xfrm>
          </p:grpSpPr>
          <p:sp>
            <p:nvSpPr>
              <p:cNvPr id="16393" name="Oval 16392">
                <a:extLst>
                  <a:ext uri="{FF2B5EF4-FFF2-40B4-BE49-F238E27FC236}">
                    <a16:creationId xmlns:a16="http://schemas.microsoft.com/office/drawing/2014/main" id="{8057E57F-8437-A540-F334-1E7C5AF9E00D}"/>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94" name="Picture 16393" descr="Related image">
                <a:extLst>
                  <a:ext uri="{FF2B5EF4-FFF2-40B4-BE49-F238E27FC236}">
                    <a16:creationId xmlns:a16="http://schemas.microsoft.com/office/drawing/2014/main" id="{C4A05EC6-CAE9-6567-69A3-4DD2B92485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60" name="Oval 59">
              <a:extLst>
                <a:ext uri="{FF2B5EF4-FFF2-40B4-BE49-F238E27FC236}">
                  <a16:creationId xmlns:a16="http://schemas.microsoft.com/office/drawing/2014/main" id="{9F2B5506-2DB7-A3A9-6B81-F21C15AC17B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1" name="Group 60">
              <a:extLst>
                <a:ext uri="{FF2B5EF4-FFF2-40B4-BE49-F238E27FC236}">
                  <a16:creationId xmlns:a16="http://schemas.microsoft.com/office/drawing/2014/main" id="{739BF995-621F-0D6A-6081-C7948C194ABA}"/>
                </a:ext>
              </a:extLst>
            </p:cNvPr>
            <p:cNvGrpSpPr/>
            <p:nvPr/>
          </p:nvGrpSpPr>
          <p:grpSpPr>
            <a:xfrm>
              <a:off x="6466045" y="2732884"/>
              <a:ext cx="545306" cy="457200"/>
              <a:chOff x="6353175" y="2712036"/>
              <a:chExt cx="545306" cy="457200"/>
            </a:xfrm>
          </p:grpSpPr>
          <p:sp>
            <p:nvSpPr>
              <p:cNvPr id="16390" name="Oval 16389">
                <a:extLst>
                  <a:ext uri="{FF2B5EF4-FFF2-40B4-BE49-F238E27FC236}">
                    <a16:creationId xmlns:a16="http://schemas.microsoft.com/office/drawing/2014/main" id="{06D4BBC8-9432-3023-21C9-4DE5BCD7A6E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1" name="Graphic 14379" descr="Dollar with solid fill">
                <a:extLst>
                  <a:ext uri="{FF2B5EF4-FFF2-40B4-BE49-F238E27FC236}">
                    <a16:creationId xmlns:a16="http://schemas.microsoft.com/office/drawing/2014/main" id="{2A4554BC-6AD9-AD01-64D0-D316EFEB57DD}"/>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2" name="Group 61">
              <a:extLst>
                <a:ext uri="{FF2B5EF4-FFF2-40B4-BE49-F238E27FC236}">
                  <a16:creationId xmlns:a16="http://schemas.microsoft.com/office/drawing/2014/main" id="{ECDD9C61-0553-06E9-392A-32324545C078}"/>
                </a:ext>
              </a:extLst>
            </p:cNvPr>
            <p:cNvGrpSpPr/>
            <p:nvPr/>
          </p:nvGrpSpPr>
          <p:grpSpPr>
            <a:xfrm>
              <a:off x="3577113" y="2732884"/>
              <a:ext cx="545306" cy="457200"/>
              <a:chOff x="3609974" y="2715607"/>
              <a:chExt cx="545306" cy="457200"/>
            </a:xfrm>
          </p:grpSpPr>
          <p:sp>
            <p:nvSpPr>
              <p:cNvPr id="16386" name="Oval 16385">
                <a:extLst>
                  <a:ext uri="{FF2B5EF4-FFF2-40B4-BE49-F238E27FC236}">
                    <a16:creationId xmlns:a16="http://schemas.microsoft.com/office/drawing/2014/main" id="{1766B49C-04C8-4A02-2A54-B1882BD5538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87" name="Group 16386">
                <a:extLst>
                  <a:ext uri="{FF2B5EF4-FFF2-40B4-BE49-F238E27FC236}">
                    <a16:creationId xmlns:a16="http://schemas.microsoft.com/office/drawing/2014/main" id="{E75D2F76-2141-8B2E-8185-6D3BE6008442}"/>
                  </a:ext>
                </a:extLst>
              </p:cNvPr>
              <p:cNvGrpSpPr/>
              <p:nvPr/>
            </p:nvGrpSpPr>
            <p:grpSpPr>
              <a:xfrm>
                <a:off x="3769049" y="2811218"/>
                <a:ext cx="227157" cy="265979"/>
                <a:chOff x="3771206" y="2761936"/>
                <a:chExt cx="227157" cy="265979"/>
              </a:xfrm>
            </p:grpSpPr>
            <p:sp>
              <p:nvSpPr>
                <p:cNvPr id="16388" name="Freeform: Shape 16387">
                  <a:extLst>
                    <a:ext uri="{FF2B5EF4-FFF2-40B4-BE49-F238E27FC236}">
                      <a16:creationId xmlns:a16="http://schemas.microsoft.com/office/drawing/2014/main" id="{93141F59-80CB-65F5-753F-F4AD06545ED6}"/>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89" name="Freeform: Shape 16388">
                  <a:extLst>
                    <a:ext uri="{FF2B5EF4-FFF2-40B4-BE49-F238E27FC236}">
                      <a16:creationId xmlns:a16="http://schemas.microsoft.com/office/drawing/2014/main" id="{8EB232DF-D121-60E2-1DBC-12461FD80D86}"/>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3" name="Group 62">
              <a:extLst>
                <a:ext uri="{FF2B5EF4-FFF2-40B4-BE49-F238E27FC236}">
                  <a16:creationId xmlns:a16="http://schemas.microsoft.com/office/drawing/2014/main" id="{E6F6F7F1-4B34-6509-1DEA-63AAAE15B423}"/>
                </a:ext>
              </a:extLst>
            </p:cNvPr>
            <p:cNvGrpSpPr/>
            <p:nvPr/>
          </p:nvGrpSpPr>
          <p:grpSpPr>
            <a:xfrm>
              <a:off x="2132647" y="2732884"/>
              <a:ext cx="545306" cy="457200"/>
              <a:chOff x="2238375" y="2712635"/>
              <a:chExt cx="545306" cy="457200"/>
            </a:xfrm>
          </p:grpSpPr>
          <p:sp>
            <p:nvSpPr>
              <p:cNvPr id="16384" name="Oval 16383">
                <a:extLst>
                  <a:ext uri="{FF2B5EF4-FFF2-40B4-BE49-F238E27FC236}">
                    <a16:creationId xmlns:a16="http://schemas.microsoft.com/office/drawing/2014/main" id="{6AB6B121-7A0B-2279-7217-CF0FDDCD01D6}"/>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85" name="Graphic 14377" descr="Board Of Directors with solid fill">
                <a:extLst>
                  <a:ext uri="{FF2B5EF4-FFF2-40B4-BE49-F238E27FC236}">
                    <a16:creationId xmlns:a16="http://schemas.microsoft.com/office/drawing/2014/main" id="{6741A2B6-0A89-BC59-F629-09A003626187}"/>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398" name="Graphic 16397" descr="Lights On with solid fill">
            <a:extLst>
              <a:ext uri="{FF2B5EF4-FFF2-40B4-BE49-F238E27FC236}">
                <a16:creationId xmlns:a16="http://schemas.microsoft.com/office/drawing/2014/main" id="{1F9B7A4B-2F66-72EB-17AF-165EA7F5DA5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4979" y="6263507"/>
            <a:ext cx="461513" cy="461513"/>
          </a:xfrm>
          <a:prstGeom prst="rect">
            <a:avLst/>
          </a:prstGeom>
        </p:spPr>
      </p:pic>
      <p:sp>
        <p:nvSpPr>
          <p:cNvPr id="18" name="Text Box 2">
            <a:extLst>
              <a:ext uri="{FF2B5EF4-FFF2-40B4-BE49-F238E27FC236}">
                <a16:creationId xmlns:a16="http://schemas.microsoft.com/office/drawing/2014/main" id="{92EA2256-D13F-DA54-2BBB-75D4C1D1487F}"/>
              </a:ext>
            </a:extLst>
          </p:cNvPr>
          <p:cNvSpPr txBox="1">
            <a:spLocks noChangeArrowheads="1"/>
          </p:cNvSpPr>
          <p:nvPr/>
        </p:nvSpPr>
        <p:spPr bwMode="auto">
          <a:xfrm>
            <a:off x="4143506" y="739790"/>
            <a:ext cx="2917824" cy="474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000000"/>
                </a:solidFill>
                <a:latin typeface="Calibri"/>
                <a:ea typeface="Calibri"/>
                <a:cs typeface="Times New Roman"/>
              </a:rPr>
              <a:t>Figure 8:  Calculated DIO Over 7 Years</a:t>
            </a:r>
          </a:p>
          <a:p>
            <a:pPr eaLnBrk="1" hangingPunct="1">
              <a:lnSpc>
                <a:spcPct val="115000"/>
              </a:lnSpc>
              <a:spcAft>
                <a:spcPts val="751"/>
              </a:spcAft>
            </a:pPr>
            <a:endParaRPr lang="en-US" altLang="en-US" sz="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BD752FCB-131C-A4E9-A5CA-B7BA74E158A6}"/>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9</a:t>
            </a:fld>
            <a:endParaRPr lang="en-US" sz="1400">
              <a:latin typeface="Calibri" panose="020F0502020204030204" pitchFamily="34" charset="0"/>
              <a:cs typeface="Calibri" panose="020F0502020204030204" pitchFamily="34" charset="0"/>
            </a:endParaRPr>
          </a:p>
        </p:txBody>
      </p:sp>
      <p:sp>
        <p:nvSpPr>
          <p:cNvPr id="6" name="Text Box 2">
            <a:extLst>
              <a:ext uri="{FF2B5EF4-FFF2-40B4-BE49-F238E27FC236}">
                <a16:creationId xmlns:a16="http://schemas.microsoft.com/office/drawing/2014/main" id="{8DAC0FB7-7E98-7476-08DC-7B4265191534}"/>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 EAI</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8B6D7BA9-5397-26E5-9DC4-AB50B19C5063}"/>
              </a:ext>
            </a:extLst>
          </p:cNvPr>
          <p:cNvSpPr/>
          <p:nvPr/>
        </p:nvSpPr>
        <p:spPr>
          <a:xfrm>
            <a:off x="126356" y="992016"/>
            <a:ext cx="3836989" cy="1492105"/>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dirty="0">
                <a:solidFill>
                  <a:srgbClr val="000000"/>
                </a:solidFill>
                <a:latin typeface="Calibri"/>
                <a:ea typeface="+mn-lt"/>
                <a:cs typeface="+mn-lt"/>
              </a:rPr>
              <a:t>Over the past two years, many of Johnson Outdoors’ retail partners have been </a:t>
            </a:r>
            <a:r>
              <a:rPr lang="en-US" sz="1200" b="1" dirty="0">
                <a:solidFill>
                  <a:srgbClr val="000000"/>
                </a:solidFill>
                <a:latin typeface="Calibri"/>
                <a:ea typeface="+mn-lt"/>
                <a:cs typeface="+mn-lt"/>
              </a:rPr>
              <a:t>ordering less than actual consumer demand</a:t>
            </a:r>
            <a:r>
              <a:rPr lang="en-US" sz="1200" dirty="0">
                <a:solidFill>
                  <a:srgbClr val="000000"/>
                </a:solidFill>
                <a:latin typeface="Calibri"/>
                <a:ea typeface="+mn-lt"/>
                <a:cs typeface="+mn-lt"/>
              </a:rPr>
              <a:t> to rebalance inventory levels, especially in the Marine Electronics and Watercraft segments. This destocking is driving lower </a:t>
            </a:r>
            <a:r>
              <a:rPr lang="en-US" sz="1200" b="1" dirty="0">
                <a:solidFill>
                  <a:srgbClr val="000000"/>
                </a:solidFill>
                <a:latin typeface="Calibri"/>
                <a:ea typeface="+mn-lt"/>
                <a:cs typeface="+mn-lt"/>
              </a:rPr>
              <a:t>reported sales</a:t>
            </a:r>
            <a:endParaRPr lang="en-US" sz="1200" dirty="0">
              <a:solidFill>
                <a:srgbClr val="000000"/>
              </a:solidFill>
              <a:latin typeface="Calibri"/>
              <a:ea typeface="Calibri"/>
              <a:cs typeface="Arial"/>
            </a:endParaRPr>
          </a:p>
        </p:txBody>
      </p:sp>
      <p:graphicFrame>
        <p:nvGraphicFramePr>
          <p:cNvPr id="16800" name="Table 16799">
            <a:extLst>
              <a:ext uri="{FF2B5EF4-FFF2-40B4-BE49-F238E27FC236}">
                <a16:creationId xmlns:a16="http://schemas.microsoft.com/office/drawing/2014/main" id="{68A75EF2-026C-D000-63B9-164563875201}"/>
              </a:ext>
            </a:extLst>
          </p:cNvPr>
          <p:cNvGraphicFramePr>
            <a:graphicFrameLocks noGrp="1"/>
          </p:cNvGraphicFramePr>
          <p:nvPr>
            <p:custDataLst>
              <p:tags r:id="rId1"/>
            </p:custDataLst>
            <p:extLst>
              <p:ext uri="{D42A27DB-BD31-4B8C-83A1-F6EECF244321}">
                <p14:modId xmlns:p14="http://schemas.microsoft.com/office/powerpoint/2010/main" val="1038637900"/>
              </p:ext>
            </p:extLst>
          </p:nvPr>
        </p:nvGraphicFramePr>
        <p:xfrm>
          <a:off x="4227754" y="3807036"/>
          <a:ext cx="4670827" cy="2277125"/>
        </p:xfrm>
        <a:graphic>
          <a:graphicData uri="http://schemas.openxmlformats.org/drawingml/2006/table">
            <a:tbl>
              <a:tblPr bandRow="1">
                <a:tableStyleId>{5C22544A-7EE6-4342-B048-85BDC9FD1C3A}</a:tableStyleId>
              </a:tblPr>
              <a:tblGrid>
                <a:gridCol w="1527481">
                  <a:extLst>
                    <a:ext uri="{9D8B030D-6E8A-4147-A177-3AD203B41FA5}">
                      <a16:colId xmlns:a16="http://schemas.microsoft.com/office/drawing/2014/main" val="977328074"/>
                    </a:ext>
                  </a:extLst>
                </a:gridCol>
                <a:gridCol w="1579263">
                  <a:extLst>
                    <a:ext uri="{9D8B030D-6E8A-4147-A177-3AD203B41FA5}">
                      <a16:colId xmlns:a16="http://schemas.microsoft.com/office/drawing/2014/main" val="3328602722"/>
                    </a:ext>
                  </a:extLst>
                </a:gridCol>
                <a:gridCol w="1564083">
                  <a:extLst>
                    <a:ext uri="{9D8B030D-6E8A-4147-A177-3AD203B41FA5}">
                      <a16:colId xmlns:a16="http://schemas.microsoft.com/office/drawing/2014/main" val="637728622"/>
                    </a:ext>
                  </a:extLst>
                </a:gridCol>
              </a:tblGrid>
              <a:tr h="461311">
                <a:tc>
                  <a:txBody>
                    <a:bodyPr/>
                    <a:lstStyle/>
                    <a:p>
                      <a:pPr marL="0" algn="ctr" defTabSz="685783" rtl="0" eaLnBrk="1" fontAlgn="b" latinLnBrk="0" hangingPunct="1">
                        <a:buNone/>
                      </a:pPr>
                      <a:r>
                        <a:rPr lang="en-US" sz="1200" b="1" kern="1200" dirty="0">
                          <a:solidFill>
                            <a:srgbClr val="000000"/>
                          </a:solidFill>
                          <a:latin typeface="Calibri"/>
                          <a:ea typeface="+mn-lt"/>
                          <a:cs typeface="+mn-lt"/>
                        </a:rPr>
                        <a:t>Year</a:t>
                      </a:r>
                    </a:p>
                  </a:txBody>
                  <a:tcPr marL="9525" marR="9525" marT="9525" anchor="ctr">
                    <a:lnL w="0" cap="flat" cmpd="sng" algn="ctr">
                      <a:noFill/>
                      <a:prstDash val="solid"/>
                      <a:round/>
                      <a:headEnd type="none" w="med" len="med"/>
                      <a:tailEnd type="none" w="med" len="med"/>
                    </a:lnL>
                    <a:lnR w="0">
                      <a:noFill/>
                    </a:lnR>
                    <a:lnT w="0" cap="flat" cmpd="sng" algn="ctr">
                      <a:noFill/>
                      <a:prstDash val="solid"/>
                      <a:round/>
                      <a:headEnd type="none" w="med" len="med"/>
                      <a:tailEnd type="none" w="med" len="med"/>
                    </a:lnT>
                    <a:lnB w="0">
                      <a:noFill/>
                    </a:lnB>
                    <a:solidFill>
                      <a:srgbClr val="F2C755"/>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JOUT-DIO (Days)</a:t>
                      </a:r>
                    </a:p>
                  </a:txBody>
                  <a:tcPr marL="9525" marR="9525" marT="9525" anchor="ctr">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F2C755"/>
                    </a:solidFill>
                  </a:tcPr>
                </a:tc>
                <a:tc>
                  <a:txBody>
                    <a:bodyPr/>
                    <a:lstStyle/>
                    <a:p>
                      <a:pPr marL="0" algn="ctr" defTabSz="685783" rtl="0" eaLnBrk="1" fontAlgn="b" latinLnBrk="0" hangingPunct="1">
                        <a:buNone/>
                      </a:pPr>
                      <a:r>
                        <a:rPr lang="en-US" sz="1200" b="1" kern="1200" dirty="0">
                          <a:solidFill>
                            <a:srgbClr val="000000"/>
                          </a:solidFill>
                          <a:latin typeface="Calibri"/>
                          <a:ea typeface="+mn-lt"/>
                          <a:cs typeface="+mn-lt"/>
                        </a:rPr>
                        <a:t>GRMN-Outdoors Segment Sales (M)</a:t>
                      </a:r>
                    </a:p>
                  </a:txBody>
                  <a:tcPr marL="9525" marR="9525" marT="9525" anchor="b">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rgbClr val="F2C755"/>
                    </a:solidFill>
                  </a:tcPr>
                </a:tc>
                <a:extLst>
                  <a:ext uri="{0D108BD9-81ED-4DB2-BD59-A6C34878D82A}">
                    <a16:rowId xmlns:a16="http://schemas.microsoft.com/office/drawing/2014/main" val="3013046052"/>
                  </a:ext>
                </a:extLst>
              </a:tr>
              <a:tr h="259402">
                <a:tc>
                  <a:txBody>
                    <a:bodyPr/>
                    <a:lstStyle/>
                    <a:p>
                      <a:pPr algn="ct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2018</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bg1">
                        <a:lumMod val="95000"/>
                      </a:schemeClr>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107.3</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bg1">
                        <a:lumMod val="95000"/>
                      </a:schemeClr>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810.1</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72034957"/>
                  </a:ext>
                </a:extLst>
              </a:tr>
              <a:tr h="259402">
                <a:tc>
                  <a:txBody>
                    <a:bodyPr/>
                    <a:lstStyle/>
                    <a:p>
                      <a:pPr algn="ct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2019</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bg1"/>
                    </a:solidFill>
                  </a:tcPr>
                </a:tc>
                <a:tc>
                  <a:txBody>
                    <a:bodyPr/>
                    <a:lstStyle/>
                    <a:p>
                      <a:pPr algn="ctr" fontAlgn="b">
                        <a:buNone/>
                      </a:pPr>
                      <a:r>
                        <a:rPr lang="en-US" sz="1200" b="0" i="0" u="none" strike="noStrike" dirty="0">
                          <a:solidFill>
                            <a:srgbClr val="000000"/>
                          </a:solidFill>
                          <a:effectLst/>
                          <a:latin typeface="Calibri"/>
                          <a:ea typeface="Calibri"/>
                          <a:cs typeface="Calibri"/>
                        </a:rPr>
                        <a:t>108.7</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bg1"/>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918.4</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1847913843"/>
                  </a:ext>
                </a:extLst>
              </a:tr>
              <a:tr h="259402">
                <a:tc>
                  <a:txBody>
                    <a:bodyPr/>
                    <a:lstStyle/>
                    <a:p>
                      <a:pPr algn="ctr" fontAlgn="b">
                        <a:buNone/>
                      </a:pPr>
                      <a:r>
                        <a:rPr lang="en-US" sz="1200" b="0" dirty="0">
                          <a:effectLst/>
                          <a:latin typeface="Calibri" panose="020F0502020204030204" pitchFamily="34" charset="0"/>
                          <a:ea typeface="Calibri" panose="020F0502020204030204" pitchFamily="34" charset="0"/>
                          <a:cs typeface="Calibri" panose="020F0502020204030204" pitchFamily="34" charset="0"/>
                        </a:rPr>
                        <a:t>2020</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106.8</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1128.3</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44110449"/>
                  </a:ext>
                </a:extLst>
              </a:tr>
              <a:tr h="259402">
                <a:tc>
                  <a:txBody>
                    <a:bodyPr/>
                    <a:lstStyle/>
                    <a:p>
                      <a:pPr algn="ctr" fontAlgn="b">
                        <a:buNone/>
                      </a:pPr>
                      <a:r>
                        <a:rPr lang="en-US" sz="1200" b="0" dirty="0">
                          <a:effectLst/>
                          <a:latin typeface="Calibri"/>
                          <a:ea typeface="Calibri"/>
                          <a:cs typeface="Calibri"/>
                        </a:rPr>
                        <a:t>2021</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bg1"/>
                    </a:solidFill>
                  </a:tcPr>
                </a:tc>
                <a:tc>
                  <a:txBody>
                    <a:bodyPr/>
                    <a:lstStyle/>
                    <a:p>
                      <a:pPr algn="ctr" fontAlgn="b">
                        <a:buNone/>
                      </a:pPr>
                      <a:r>
                        <a:rPr lang="en-US" sz="1200" b="0" i="0" u="none" strike="noStrike" dirty="0">
                          <a:solidFill>
                            <a:srgbClr val="000000"/>
                          </a:solidFill>
                          <a:effectLst/>
                          <a:latin typeface="Calibri"/>
                          <a:ea typeface="Calibri"/>
                          <a:cs typeface="Calibri"/>
                        </a:rPr>
                        <a:t>144.4</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a:noFill/>
                    </a:lnB>
                    <a:solidFill>
                      <a:schemeClr val="bg1"/>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1282.3</a:t>
                      </a:r>
                    </a:p>
                  </a:txBody>
                  <a:tcPr marL="9525" marR="9525" marT="9525" marB="0" anchor="b">
                    <a:lnL w="0" cap="flat" cmpd="sng" algn="ctr">
                      <a:noFill/>
                      <a:prstDash val="solid"/>
                      <a:round/>
                      <a:headEnd type="none" w="med" len="med"/>
                      <a:tailEnd type="none" w="med" len="med"/>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bg1"/>
                    </a:solidFill>
                  </a:tcPr>
                </a:tc>
                <a:extLst>
                  <a:ext uri="{0D108BD9-81ED-4DB2-BD59-A6C34878D82A}">
                    <a16:rowId xmlns:a16="http://schemas.microsoft.com/office/drawing/2014/main" val="3814341354"/>
                  </a:ext>
                </a:extLst>
              </a:tr>
              <a:tr h="259402">
                <a:tc>
                  <a:txBody>
                    <a:bodyPr/>
                    <a:lstStyle/>
                    <a:p>
                      <a:pPr algn="ctr" fontAlgn="b">
                        <a:buNone/>
                      </a:pPr>
                      <a:r>
                        <a:rPr lang="en-US" sz="1200" dirty="0">
                          <a:effectLst/>
                          <a:latin typeface="Calibri"/>
                          <a:ea typeface="Calibri"/>
                          <a:cs typeface="Calibri"/>
                        </a:rPr>
                        <a:t>2022</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a:noFill/>
                    </a:lnT>
                    <a:lnB w="0">
                      <a:noFill/>
                    </a:lnB>
                    <a:solidFill>
                      <a:schemeClr val="accent1">
                        <a:lumMod val="95000"/>
                      </a:schemeClr>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252.7</a:t>
                      </a:r>
                    </a:p>
                  </a:txBody>
                  <a:tcPr marL="9525" marR="9525" marT="9525" marB="0" anchor="b">
                    <a:lnL w="0">
                      <a:noFill/>
                    </a:lnL>
                    <a:lnR w="0" cap="flat" cmpd="sng" algn="ctr">
                      <a:noFill/>
                      <a:prstDash val="solid"/>
                      <a:round/>
                      <a:headEnd type="none" w="med" len="med"/>
                      <a:tailEnd type="none" w="med" len="med"/>
                    </a:lnR>
                    <a:lnT w="0">
                      <a:noFill/>
                    </a:lnT>
                    <a:lnB w="0">
                      <a:noFill/>
                    </a:lnB>
                    <a:solidFill>
                      <a:schemeClr val="accent1">
                        <a:lumMod val="95000"/>
                      </a:schemeClr>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1495.1</a:t>
                      </a:r>
                    </a:p>
                  </a:txBody>
                  <a:tcPr marL="9525" marR="9525" marT="9525" marB="0" anchor="b">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95000"/>
                      </a:schemeClr>
                    </a:solidFill>
                  </a:tcPr>
                </a:tc>
                <a:extLst>
                  <a:ext uri="{0D108BD9-81ED-4DB2-BD59-A6C34878D82A}">
                    <a16:rowId xmlns:a16="http://schemas.microsoft.com/office/drawing/2014/main" val="2309484396"/>
                  </a:ext>
                </a:extLst>
              </a:tr>
              <a:tr h="259402">
                <a:tc>
                  <a:txBody>
                    <a:bodyPr/>
                    <a:lstStyle/>
                    <a:p>
                      <a:pPr algn="ctr" fontAlgn="b">
                        <a:buNone/>
                      </a:pPr>
                      <a:r>
                        <a:rPr lang="en-US" sz="1200" dirty="0">
                          <a:effectLst/>
                          <a:latin typeface="Calibri"/>
                          <a:ea typeface="Calibri"/>
                          <a:cs typeface="Calibri"/>
                        </a:rPr>
                        <a:t>2023</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a:noFill/>
                    </a:lnT>
                    <a:lnB w="0">
                      <a:noFill/>
                    </a:lnB>
                    <a:no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217.5</a:t>
                      </a:r>
                    </a:p>
                  </a:txBody>
                  <a:tcPr marL="9525" marR="9525" marT="9525" marB="0" anchor="b">
                    <a:lnL w="0">
                      <a:noFill/>
                    </a:lnL>
                    <a:lnR w="0" cap="flat" cmpd="sng" algn="ctr">
                      <a:noFill/>
                      <a:prstDash val="solid"/>
                      <a:round/>
                      <a:headEnd type="none" w="med" len="med"/>
                      <a:tailEnd type="none" w="med" len="med"/>
                    </a:lnR>
                    <a:lnT w="0">
                      <a:noFill/>
                    </a:lnT>
                    <a:lnB w="0">
                      <a:noFill/>
                    </a:lnB>
                    <a:no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1697.4</a:t>
                      </a:r>
                    </a:p>
                  </a:txBody>
                  <a:tcPr marL="9525" marR="9525" marT="9525" marB="0" anchor="b">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noFill/>
                  </a:tcPr>
                </a:tc>
                <a:extLst>
                  <a:ext uri="{0D108BD9-81ED-4DB2-BD59-A6C34878D82A}">
                    <a16:rowId xmlns:a16="http://schemas.microsoft.com/office/drawing/2014/main" val="2180765422"/>
                  </a:ext>
                </a:extLst>
              </a:tr>
              <a:tr h="259402">
                <a:tc>
                  <a:txBody>
                    <a:bodyPr/>
                    <a:lstStyle/>
                    <a:p>
                      <a:pPr algn="ctr" fontAlgn="b">
                        <a:buNone/>
                      </a:pPr>
                      <a:r>
                        <a:rPr lang="en-US" sz="1200" dirty="0">
                          <a:effectLst/>
                          <a:latin typeface="Calibri"/>
                          <a:ea typeface="Calibri"/>
                          <a:cs typeface="Calibri"/>
                        </a:rPr>
                        <a:t>2024</a:t>
                      </a:r>
                    </a:p>
                  </a:txBody>
                  <a:tcPr marL="9525" marR="9525" marT="9525" anchor="b">
                    <a:lnL w="0" cap="flat" cmpd="sng" algn="ctr">
                      <a:noFill/>
                      <a:prstDash val="solid"/>
                      <a:round/>
                      <a:headEnd type="none" w="med" len="med"/>
                      <a:tailEnd type="none" w="med" len="med"/>
                    </a:lnL>
                    <a:lnR w="0" cap="flat" cmpd="sng" algn="ctr">
                      <a:noFill/>
                      <a:prstDash val="solid"/>
                      <a:round/>
                      <a:headEnd type="none" w="med" len="med"/>
                      <a:tailEnd type="none" w="med" len="med"/>
                    </a:lnR>
                    <a:lnT w="0">
                      <a:noFill/>
                    </a:lnT>
                    <a:lnB w="0" cap="flat" cmpd="sng" algn="ctr">
                      <a:noFill/>
                      <a:prstDash val="solid"/>
                      <a:round/>
                      <a:headEnd type="none" w="med" len="med"/>
                      <a:tailEnd type="none" w="med" len="med"/>
                    </a:lnB>
                    <a:solidFill>
                      <a:schemeClr val="accent1">
                        <a:lumMod val="95000"/>
                      </a:schemeClr>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195.0</a:t>
                      </a:r>
                    </a:p>
                  </a:txBody>
                  <a:tcPr marL="9525" marR="9525" marT="9525" marB="0" anchor="b">
                    <a:lnL w="0">
                      <a:noFill/>
                    </a:lnL>
                    <a:lnR w="0" cap="flat" cmpd="sng" algn="ctr">
                      <a:noFill/>
                      <a:prstDash val="solid"/>
                      <a:round/>
                      <a:headEnd type="none" w="med" len="med"/>
                      <a:tailEnd type="none" w="med" len="med"/>
                    </a:lnR>
                    <a:lnT w="0">
                      <a:noFill/>
                    </a:lnT>
                    <a:lnB w="0" cap="flat" cmpd="sng" algn="ctr">
                      <a:noFill/>
                      <a:prstDash val="solid"/>
                      <a:round/>
                      <a:headEnd type="none" w="med" len="med"/>
                      <a:tailEnd type="none" w="med" len="med"/>
                    </a:lnB>
                    <a:solidFill>
                      <a:schemeClr val="accent1">
                        <a:lumMod val="95000"/>
                      </a:schemeClr>
                    </a:solidFill>
                  </a:tcPr>
                </a:tc>
                <a:tc>
                  <a:txBody>
                    <a:bodyPr/>
                    <a:lstStyle/>
                    <a:p>
                      <a:pPr algn="ctr" fontAlgn="b">
                        <a:buNone/>
                      </a:pP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1962.1</a:t>
                      </a:r>
                    </a:p>
                  </a:txBody>
                  <a:tcPr marL="9525" marR="9525" marT="9525" marB="0" anchor="b">
                    <a:lnL w="0">
                      <a:noFill/>
                    </a:lnL>
                    <a:lnR w="0" cap="flat" cmpd="sng" algn="ctr">
                      <a:noFill/>
                      <a:prstDash val="solid"/>
                      <a:round/>
                      <a:headEnd type="none" w="med" len="med"/>
                      <a:tailEnd type="none" w="med" len="med"/>
                    </a:lnR>
                    <a:lnT w="0" cap="flat" cmpd="sng" algn="ctr">
                      <a:noFill/>
                      <a:prstDash val="solid"/>
                      <a:round/>
                      <a:headEnd type="none" w="med" len="med"/>
                      <a:tailEnd type="none" w="med" len="med"/>
                    </a:lnT>
                    <a:lnB w="0" cap="flat" cmpd="sng" algn="ctr">
                      <a:noFill/>
                      <a:prstDash val="solid"/>
                      <a:round/>
                      <a:headEnd type="none" w="med" len="med"/>
                      <a:tailEnd type="none" w="med" len="med"/>
                    </a:lnB>
                    <a:solidFill>
                      <a:schemeClr val="accent1">
                        <a:lumMod val="95000"/>
                      </a:schemeClr>
                    </a:solidFill>
                  </a:tcPr>
                </a:tc>
                <a:extLst>
                  <a:ext uri="{0D108BD9-81ED-4DB2-BD59-A6C34878D82A}">
                    <a16:rowId xmlns:a16="http://schemas.microsoft.com/office/drawing/2014/main" val="714303159"/>
                  </a:ext>
                </a:extLst>
              </a:tr>
            </a:tbl>
          </a:graphicData>
        </a:graphic>
      </p:graphicFrame>
      <p:pic>
        <p:nvPicPr>
          <p:cNvPr id="13" name="Picture 12" descr="Outdoor Industry Jobs">
            <a:extLst>
              <a:ext uri="{FF2B5EF4-FFF2-40B4-BE49-F238E27FC236}">
                <a16:creationId xmlns:a16="http://schemas.microsoft.com/office/drawing/2014/main" id="{D78A53AA-C10E-3455-BE68-7251DDC500FA}"/>
              </a:ext>
            </a:extLst>
          </p:cNvPr>
          <p:cNvPicPr>
            <a:picLocks noChangeAspect="1"/>
          </p:cNvPicPr>
          <p:nvPr/>
        </p:nvPicPr>
        <p:blipFill>
          <a:blip r:embed="rId8"/>
          <a:stretch>
            <a:fillRect/>
          </a:stretch>
        </p:blipFill>
        <p:spPr>
          <a:xfrm>
            <a:off x="6737770" y="96688"/>
            <a:ext cx="2310800" cy="453606"/>
          </a:xfrm>
          <a:prstGeom prst="rect">
            <a:avLst/>
          </a:prstGeom>
        </p:spPr>
      </p:pic>
      <p:sp>
        <p:nvSpPr>
          <p:cNvPr id="3" name="Rectangle 2">
            <a:extLst>
              <a:ext uri="{FF2B5EF4-FFF2-40B4-BE49-F238E27FC236}">
                <a16:creationId xmlns:a16="http://schemas.microsoft.com/office/drawing/2014/main" id="{A7E5AF50-61BE-A2B5-DF78-D638A3B124D7}"/>
              </a:ext>
            </a:extLst>
          </p:cNvPr>
          <p:cNvSpPr/>
          <p:nvPr/>
        </p:nvSpPr>
        <p:spPr>
          <a:xfrm>
            <a:off x="126356" y="3807036"/>
            <a:ext cx="3836989" cy="2283606"/>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Key Takeaways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solidFill>
                  <a:srgbClr val="000000"/>
                </a:solidFill>
                <a:latin typeface="Calibri"/>
                <a:ea typeface="Calibri"/>
                <a:cs typeface="Calibri"/>
              </a:rPr>
              <a:t>JOUT’s Days Inventory Outstanding fell sharply as </a:t>
            </a:r>
            <a:r>
              <a:rPr lang="en-US" sz="1200" dirty="0">
                <a:solidFill>
                  <a:schemeClr val="dk1"/>
                </a:solidFill>
                <a:latin typeface="Calibri"/>
                <a:ea typeface="Calibri"/>
                <a:cs typeface="Calibri"/>
              </a:rPr>
              <a:t>management</a:t>
            </a:r>
            <a:r>
              <a:rPr lang="en-US" sz="1200" dirty="0">
                <a:solidFill>
                  <a:srgbClr val="000000"/>
                </a:solidFill>
                <a:latin typeface="Calibri"/>
                <a:ea typeface="Calibri"/>
                <a:cs typeface="Calibri"/>
              </a:rPr>
              <a:t> slowed production and cleared excess stock</a:t>
            </a:r>
          </a:p>
          <a:p>
            <a:pPr marL="171450" indent="-171450">
              <a:buFont typeface="Arial" panose="020B0604020202020204" pitchFamily="34" charset="0"/>
              <a:buChar char="•"/>
            </a:pPr>
            <a:r>
              <a:rPr lang="en-US" sz="1200" dirty="0">
                <a:solidFill>
                  <a:srgbClr val="000000"/>
                </a:solidFill>
                <a:latin typeface="Calibri"/>
                <a:ea typeface="Calibri"/>
                <a:cs typeface="Calibri"/>
              </a:rPr>
              <a:t>Garmin’s Outdoor segment continued to grow over the same period, confirming end-market demand remains healthy</a:t>
            </a:r>
          </a:p>
          <a:p>
            <a:pPr marL="171450" indent="-171450">
              <a:buFont typeface="Arial" panose="020B0604020202020204" pitchFamily="34" charset="0"/>
              <a:buChar char="•"/>
            </a:pPr>
            <a:r>
              <a:rPr lang="en-US" sz="1200" dirty="0">
                <a:solidFill>
                  <a:srgbClr val="000000"/>
                </a:solidFill>
                <a:latin typeface="Calibri"/>
                <a:ea typeface="Calibri"/>
                <a:cs typeface="Calibri"/>
              </a:rPr>
              <a:t>This indicates JOUT’s pressure is driven by channel inventory normalization, not industry-wide weakness</a:t>
            </a:r>
          </a:p>
          <a:p>
            <a:pPr marL="171450" indent="-171450">
              <a:buFont typeface="Arial" panose="020B0604020202020204" pitchFamily="34" charset="0"/>
              <a:buChar char="•"/>
            </a:pPr>
            <a:r>
              <a:rPr lang="en-US" sz="1200" dirty="0">
                <a:solidFill>
                  <a:srgbClr val="000000"/>
                </a:solidFill>
                <a:latin typeface="Calibri"/>
                <a:ea typeface="Calibri"/>
                <a:cs typeface="Calibri"/>
              </a:rPr>
              <a:t>As inventory levels reset, margin pressure should moderate over time</a:t>
            </a:r>
          </a:p>
        </p:txBody>
      </p:sp>
      <p:graphicFrame>
        <p:nvGraphicFramePr>
          <p:cNvPr id="8" name="Chart 7">
            <a:extLst>
              <a:ext uri="{FF2B5EF4-FFF2-40B4-BE49-F238E27FC236}">
                <a16:creationId xmlns:a16="http://schemas.microsoft.com/office/drawing/2014/main" id="{8D153992-DB1C-6E61-96DC-034CBF21A175}"/>
              </a:ext>
            </a:extLst>
          </p:cNvPr>
          <p:cNvGraphicFramePr>
            <a:graphicFrameLocks/>
          </p:cNvGraphicFramePr>
          <p:nvPr>
            <p:extLst>
              <p:ext uri="{D42A27DB-BD31-4B8C-83A1-F6EECF244321}">
                <p14:modId xmlns:p14="http://schemas.microsoft.com/office/powerpoint/2010/main" val="684696462"/>
              </p:ext>
            </p:extLst>
          </p:nvPr>
        </p:nvGraphicFramePr>
        <p:xfrm>
          <a:off x="4227755" y="992016"/>
          <a:ext cx="4670827" cy="2555296"/>
        </p:xfrm>
        <a:graphic>
          <a:graphicData uri="http://schemas.openxmlformats.org/drawingml/2006/chart">
            <c:chart xmlns:c="http://schemas.openxmlformats.org/drawingml/2006/chart" xmlns:r="http://schemas.openxmlformats.org/officeDocument/2006/relationships" r:id="rId9"/>
          </a:graphicData>
        </a:graphic>
      </p:graphicFrame>
      <p:sp>
        <p:nvSpPr>
          <p:cNvPr id="12" name="Text Box 2">
            <a:extLst>
              <a:ext uri="{FF2B5EF4-FFF2-40B4-BE49-F238E27FC236}">
                <a16:creationId xmlns:a16="http://schemas.microsoft.com/office/drawing/2014/main" id="{E851987A-CAFE-902F-48A8-950C2B05DBA9}"/>
              </a:ext>
            </a:extLst>
          </p:cNvPr>
          <p:cNvSpPr txBox="1">
            <a:spLocks noChangeArrowheads="1"/>
          </p:cNvSpPr>
          <p:nvPr/>
        </p:nvSpPr>
        <p:spPr bwMode="auto">
          <a:xfrm>
            <a:off x="4179928" y="3535124"/>
            <a:ext cx="3736855" cy="474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000000"/>
                </a:solidFill>
                <a:latin typeface="Calibri"/>
                <a:ea typeface="Calibri"/>
                <a:cs typeface="Times New Roman"/>
              </a:rPr>
              <a:t>Figure 9:  JOUT-DIO GRMN Segment Sales Comparison</a:t>
            </a:r>
          </a:p>
          <a:p>
            <a:pPr algn="ctr" defTabSz="685783" eaLnBrk="1" fontAlgn="b" hangingPunct="1">
              <a:lnSpc>
                <a:spcPct val="115000"/>
              </a:lnSpc>
              <a:spcAft>
                <a:spcPts val="751"/>
              </a:spcAft>
            </a:pPr>
            <a:endParaRPr lang="en-US" altLang="en-US" sz="1200" b="1" dirty="0">
              <a:solidFill>
                <a:srgbClr val="000000"/>
              </a:solidFill>
              <a:latin typeface="Calibri"/>
              <a:ea typeface="+mn-lt"/>
              <a:cs typeface="+mn-lt"/>
            </a:endParaRPr>
          </a:p>
        </p:txBody>
      </p:sp>
      <p:sp>
        <p:nvSpPr>
          <p:cNvPr id="14" name="Rectangle 13">
            <a:extLst>
              <a:ext uri="{FF2B5EF4-FFF2-40B4-BE49-F238E27FC236}">
                <a16:creationId xmlns:a16="http://schemas.microsoft.com/office/drawing/2014/main" id="{090AACEA-BEFE-4B23-00A1-E2B619E71710}"/>
              </a:ext>
            </a:extLst>
          </p:cNvPr>
          <p:cNvSpPr/>
          <p:nvPr/>
        </p:nvSpPr>
        <p:spPr>
          <a:xfrm>
            <a:off x="126357" y="2635316"/>
            <a:ext cx="3836988" cy="916727"/>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DIO Improvement</a:t>
            </a:r>
          </a:p>
          <a:p>
            <a:pPr>
              <a:spcBef>
                <a:spcPts val="0"/>
              </a:spcBef>
              <a:spcAft>
                <a:spcPts val="0"/>
              </a:spcAf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FY22 → FY24:</a:t>
            </a:r>
          </a:p>
          <a:p>
            <a:pPr>
              <a:spcBef>
                <a:spcPts val="0"/>
              </a:spcBef>
              <a:spcAft>
                <a:spcPts val="0"/>
              </a:spcAf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253 days → 195 days</a:t>
            </a:r>
          </a:p>
          <a:p>
            <a:pPr>
              <a:spcBef>
                <a:spcPts val="0"/>
              </a:spcBef>
              <a:spcAft>
                <a:spcPts val="0"/>
              </a:spcAf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 -57 days</a:t>
            </a:r>
          </a:p>
          <a:p>
            <a:pPr>
              <a:spcBef>
                <a:spcPts val="0"/>
              </a:spcBef>
              <a:spcAft>
                <a:spcPts val="0"/>
              </a:spcAf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(23% reduction)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25885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4B5EC-742C-F838-1EC0-12CBCC537C3A}"/>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FF1DF42F-69A2-DC54-2EC6-2C8D6116FE96}"/>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53724412-3420-6062-A176-2B58903A21EA}"/>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10</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8763F090-031F-44F8-0889-D6BC7C538321}"/>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C06F448F-20FE-9848-1E08-34CFF47854E0}"/>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D156FAF5-D5AD-8797-2B4E-5FCAE09C0852}"/>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79F3A04-956C-79B0-80EF-088C5EB17415}"/>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3C6AEEA9-4805-E509-A371-60E75FDCE54C}"/>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9503D0E3-68E6-7C71-7497-74C14C24E528}"/>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9102C99A-1B11-1775-BABE-2FD10954F02F}"/>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8986F2C8-AD14-7711-17CC-700817D655C4}"/>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4DAF9212-9634-6782-15AE-D838B7E6C73E}"/>
                </a:ext>
              </a:extLst>
            </p:cNvPr>
            <p:cNvSpPr/>
            <p:nvPr/>
          </p:nvSpPr>
          <p:spPr bwMode="auto">
            <a:xfrm>
              <a:off x="3854196" y="2474885"/>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4615F57C-9E70-B39F-0144-1607799EC5EE}"/>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755EF454-49E7-C579-5025-823CC4463E60}"/>
                  </a:ext>
                </a:extLst>
              </p:cNvPr>
              <p:cNvSpPr/>
              <p:nvPr/>
            </p:nvSpPr>
            <p:spPr bwMode="auto">
              <a:xfrm>
                <a:off x="4614673" y="998939"/>
                <a:ext cx="1261872" cy="1497294"/>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1B7BD45E-EE7F-D44D-E161-EDDCBB516DE6}"/>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86F54CAD-9BDC-71C2-D49B-A00E1C6112A8}"/>
                    </a:ext>
                  </a:extLst>
                </p:cNvPr>
                <p:cNvSpPr/>
                <p:nvPr/>
              </p:nvSpPr>
              <p:spPr bwMode="auto">
                <a:xfrm>
                  <a:off x="4674035" y="1142389"/>
                  <a:ext cx="1143149"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FF746F24-93E8-1242-9F05-1A88F002C6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1E207831-4B63-AB4A-5E5F-ECBA0EECB5B5}"/>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9AE79651-2392-53FB-DDA1-E1D724024E24}"/>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295A6564-C23F-EE3D-18E3-391B7AD70B8B}"/>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5172EF4D-9E1C-A4CC-C66E-EC8057C28997}"/>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8800BF5A-327E-C724-8AA9-BA4F77CA3645}"/>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CF31E3F3-FE17-40B0-9A55-FD92F13E45EB}"/>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DFDC8F32-3324-6742-E060-3D604D6C6E30}"/>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627339E5-B67D-5725-C176-F23E10C3C720}"/>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86BEBD46-602D-73EE-639E-BD6D3AD5190F}"/>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F9034589-2378-2308-8F21-2693CC6A4C68}"/>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F2388114-356A-9EA4-1D1D-6837A18A453C}"/>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6D10A00F-D1D9-38FF-AB10-830C7C2CFF65}"/>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07E5E5E9-C87B-8950-BA34-CF1BF77D51FD}"/>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B88F4F1F-EA1B-B371-0C27-181FA22FE78D}"/>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81FBE964-4AA7-3729-4B21-780818EAE360}"/>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2CC2771E-452F-DE45-DFF8-AEDF6DDB1FEE}"/>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3DD7AD32-C73C-3478-D6A2-0C5A610F71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940" y="984359"/>
                <a:ext cx="1117478" cy="1091784"/>
              </a:xfrm>
              <a:prstGeom prst="rect">
                <a:avLst/>
              </a:prstGeom>
            </p:spPr>
          </p:pic>
        </p:grpSp>
      </p:grpSp>
      <p:grpSp>
        <p:nvGrpSpPr>
          <p:cNvPr id="8" name="Group 7">
            <a:extLst>
              <a:ext uri="{FF2B5EF4-FFF2-40B4-BE49-F238E27FC236}">
                <a16:creationId xmlns:a16="http://schemas.microsoft.com/office/drawing/2014/main" id="{1048CDAB-3CBD-A6C1-5089-3E40909C62DD}"/>
              </a:ext>
            </a:extLst>
          </p:cNvPr>
          <p:cNvGrpSpPr/>
          <p:nvPr/>
        </p:nvGrpSpPr>
        <p:grpSpPr>
          <a:xfrm>
            <a:off x="703108" y="5169051"/>
            <a:ext cx="7748594" cy="882922"/>
            <a:chOff x="711751" y="4599865"/>
            <a:chExt cx="8312737" cy="1072146"/>
          </a:xfrm>
        </p:grpSpPr>
        <p:grpSp>
          <p:nvGrpSpPr>
            <p:cNvPr id="123" name="Group 122">
              <a:extLst>
                <a:ext uri="{FF2B5EF4-FFF2-40B4-BE49-F238E27FC236}">
                  <a16:creationId xmlns:a16="http://schemas.microsoft.com/office/drawing/2014/main" id="{732326DC-382A-EEC9-06DC-954030EB1F43}"/>
                </a:ext>
              </a:extLst>
            </p:cNvPr>
            <p:cNvGrpSpPr/>
            <p:nvPr/>
          </p:nvGrpSpPr>
          <p:grpSpPr>
            <a:xfrm>
              <a:off x="711751" y="4599865"/>
              <a:ext cx="5387572" cy="1072146"/>
              <a:chOff x="-290443" y="4599864"/>
              <a:chExt cx="6793428" cy="1072146"/>
            </a:xfrm>
          </p:grpSpPr>
          <p:sp>
            <p:nvSpPr>
              <p:cNvPr id="85" name="Rectangle 84">
                <a:extLst>
                  <a:ext uri="{FF2B5EF4-FFF2-40B4-BE49-F238E27FC236}">
                    <a16:creationId xmlns:a16="http://schemas.microsoft.com/office/drawing/2014/main" id="{A549D411-167A-4682-4DFB-3CCFDEA92597}"/>
                  </a:ext>
                </a:extLst>
              </p:cNvPr>
              <p:cNvSpPr/>
              <p:nvPr/>
            </p:nvSpPr>
            <p:spPr bwMode="auto">
              <a:xfrm>
                <a:off x="3355384" y="4599864"/>
                <a:ext cx="3147601"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Free Cash Flow</a:t>
                </a:r>
              </a:p>
            </p:txBody>
          </p:sp>
          <p:sp>
            <p:nvSpPr>
              <p:cNvPr id="122" name="Rectangle 121">
                <a:extLst>
                  <a:ext uri="{FF2B5EF4-FFF2-40B4-BE49-F238E27FC236}">
                    <a16:creationId xmlns:a16="http://schemas.microsoft.com/office/drawing/2014/main" id="{127D4110-D51A-DDA0-6853-AE06E03F7984}"/>
                  </a:ext>
                </a:extLst>
              </p:cNvPr>
              <p:cNvSpPr/>
              <p:nvPr/>
            </p:nvSpPr>
            <p:spPr bwMode="auto">
              <a:xfrm>
                <a:off x="-290443" y="4599864"/>
                <a:ext cx="3147600"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EPS and Margins</a:t>
                </a:r>
              </a:p>
            </p:txBody>
          </p:sp>
        </p:grpSp>
        <p:sp>
          <p:nvSpPr>
            <p:cNvPr id="6" name="Rectangle 5">
              <a:extLst>
                <a:ext uri="{FF2B5EF4-FFF2-40B4-BE49-F238E27FC236}">
                  <a16:creationId xmlns:a16="http://schemas.microsoft.com/office/drawing/2014/main" id="{36C6FE81-7385-C78C-11C8-E256664C8D44}"/>
                </a:ext>
              </a:extLst>
            </p:cNvPr>
            <p:cNvSpPr/>
            <p:nvPr/>
          </p:nvSpPr>
          <p:spPr bwMode="auto">
            <a:xfrm>
              <a:off x="6528262" y="4599865"/>
              <a:ext cx="2496226" cy="107214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ROE, Leverage, and Profitability</a:t>
              </a:r>
            </a:p>
          </p:txBody>
        </p:sp>
      </p:grpSp>
      <p:sp>
        <p:nvSpPr>
          <p:cNvPr id="9" name="TextBox 8">
            <a:extLst>
              <a:ext uri="{FF2B5EF4-FFF2-40B4-BE49-F238E27FC236}">
                <a16:creationId xmlns:a16="http://schemas.microsoft.com/office/drawing/2014/main" id="{075287B3-2E0C-65A8-7731-8D2683F6E49A}"/>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10</a:t>
            </a:fld>
            <a:endParaRPr 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14900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CE7E0-D7F9-BD72-B5A4-55FABFEE2BB4}"/>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D6272CD-2197-B558-2708-ACEFE42D5467}"/>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7F10C017-43F7-46C8-A84F-D4F1C4DCD167}"/>
                </a:ext>
              </a:extLst>
            </p:cNvPr>
            <p:cNvSpPr txBox="1">
              <a:spLocks/>
            </p:cNvSpPr>
            <p:nvPr/>
          </p:nvSpPr>
          <p:spPr>
            <a:xfrm>
              <a:off x="-2" y="-17873"/>
              <a:ext cx="11270514" cy="733643"/>
            </a:xfrm>
            <a:prstGeom prst="rect">
              <a:avLst/>
            </a:prstGeom>
            <a:noFill/>
            <a:ln>
              <a:noFill/>
            </a:ln>
          </p:spPr>
          <p:txBody>
            <a:bodyPr anchor="ctr">
              <a:normAutofit lnSpcReduction="10000"/>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200" b="1" dirty="0">
                  <a:solidFill>
                    <a:srgbClr val="000000"/>
                  </a:solidFill>
                  <a:latin typeface="Calibri" panose="020F0502020204030204" pitchFamily="34" charset="0"/>
                </a:rPr>
                <a:t>EPS Declining and Margins Compressing</a:t>
              </a:r>
              <a:endParaRPr lang="en-US" sz="3000" b="1" dirty="0">
                <a:solidFill>
                  <a:srgbClr val="000000"/>
                </a:solidFill>
                <a:latin typeface="Calibri" panose="020F0502020204030204" pitchFamily="34" charset="0"/>
              </a:endParaRPr>
            </a:p>
          </p:txBody>
        </p:sp>
        <p:grpSp>
          <p:nvGrpSpPr>
            <p:cNvPr id="16397" name="Group 39">
              <a:extLst>
                <a:ext uri="{FF2B5EF4-FFF2-40B4-BE49-F238E27FC236}">
                  <a16:creationId xmlns:a16="http://schemas.microsoft.com/office/drawing/2014/main" id="{AC99058E-0BCE-5A24-188C-6D34756ED25A}"/>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EEA198C5-B07F-9E2A-5267-CD38C3B53C49}"/>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sp>
            <p:nvSpPr>
              <p:cNvPr id="43" name="Rectangle 42">
                <a:extLst>
                  <a:ext uri="{FF2B5EF4-FFF2-40B4-BE49-F238E27FC236}">
                    <a16:creationId xmlns:a16="http://schemas.microsoft.com/office/drawing/2014/main" id="{D6839812-289E-B019-8FFE-1E0D99E45011}"/>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grpSp>
      </p:grpSp>
      <p:grpSp>
        <p:nvGrpSpPr>
          <p:cNvPr id="55" name="Group 54">
            <a:extLst>
              <a:ext uri="{FF2B5EF4-FFF2-40B4-BE49-F238E27FC236}">
                <a16:creationId xmlns:a16="http://schemas.microsoft.com/office/drawing/2014/main" id="{931CEDF0-4FE3-5251-1EBB-2EA4190A3149}"/>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8731CD97-7784-C06E-3318-3E699ED7351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DACD95AD-7228-56DE-E20C-0F42722DFABA}"/>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7F658F3C-B967-5744-62EF-D58EFB6319A4}"/>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B4C4FB01-622B-4BE4-6167-0114748A64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21462035-A46B-139C-19A6-F800947AF70C}"/>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9D4B3684-D04E-FA28-26ED-13D56D608BA2}"/>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9498CE67-4A1D-17F2-B928-AC99965208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AA8CAA83-3928-DDD5-93C3-257F6B5383A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25F5DC5-057C-1F3F-2D05-17B0A2F1B575}"/>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22719D70-21B1-EE62-75D3-E309B9D09F61}"/>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3279FC4E-0467-7322-A239-B46FB681ADFF}"/>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C095F5B6-9604-498E-0335-0DDF5AE16908}"/>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1B5C8352-10F3-E25E-0028-3451D01E8D6E}"/>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F14DFEDF-7B81-2598-2900-C7F9419345B8}"/>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9AA2DBAC-E8A4-CBF2-6239-57874B2C18A7}"/>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E706692D-8A98-F79F-2271-AF0FF98E4EB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21689EE3-2BD5-6E54-70DB-69BE0391CDE2}"/>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CC4430CA-D216-4757-F313-F0AC21AB86BE}"/>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5D8B4BC2-1B5C-1350-83C4-EA072978F52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D78B1DBF-EABB-26D1-EDB9-2FFF4CF8085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24979" y="6263507"/>
            <a:ext cx="461513" cy="461513"/>
          </a:xfrm>
          <a:prstGeom prst="rect">
            <a:avLst/>
          </a:prstGeom>
        </p:spPr>
      </p:pic>
      <p:grpSp>
        <p:nvGrpSpPr>
          <p:cNvPr id="11" name="Group 10">
            <a:extLst>
              <a:ext uri="{FF2B5EF4-FFF2-40B4-BE49-F238E27FC236}">
                <a16:creationId xmlns:a16="http://schemas.microsoft.com/office/drawing/2014/main" id="{503573CF-A83A-CEC7-A4B3-0C3423A5DCCB}"/>
              </a:ext>
            </a:extLst>
          </p:cNvPr>
          <p:cNvGrpSpPr/>
          <p:nvPr/>
        </p:nvGrpSpPr>
        <p:grpSpPr>
          <a:xfrm>
            <a:off x="174164" y="756121"/>
            <a:ext cx="8724818" cy="910950"/>
            <a:chOff x="540784" y="1152942"/>
            <a:chExt cx="8301365" cy="938553"/>
          </a:xfrm>
        </p:grpSpPr>
        <p:sp>
          <p:nvSpPr>
            <p:cNvPr id="12" name="Rectangle 11">
              <a:extLst>
                <a:ext uri="{FF2B5EF4-FFF2-40B4-BE49-F238E27FC236}">
                  <a16:creationId xmlns:a16="http://schemas.microsoft.com/office/drawing/2014/main" id="{5B40C6F6-60A6-DE39-D2BA-68E0D097FB27}"/>
                </a:ext>
              </a:extLst>
            </p:cNvPr>
            <p:cNvSpPr/>
            <p:nvPr/>
          </p:nvSpPr>
          <p:spPr>
            <a:xfrm>
              <a:off x="540784" y="1163301"/>
              <a:ext cx="1733105" cy="928193"/>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783" eaLnBrk="1" fontAlgn="b" hangingPunct="1">
                <a:spcBef>
                  <a:spcPts val="0"/>
                </a:spcBef>
                <a:spcAft>
                  <a:spcPts val="0"/>
                </a:spcAft>
                <a:defRPr sz="1000" b="0" i="0" u="none" strike="noStrike" kern="1200" baseline="0">
                  <a:solidFill>
                    <a:schemeClr val="tx1"/>
                  </a:solidFill>
                  <a:latin typeface="+mn-lt"/>
                  <a:ea typeface="+mn-ea"/>
                  <a:cs typeface="+mn-cs"/>
                </a:defRPr>
              </a:pP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Dealer destocking forced JOUT to clear excess Covid-era inventory at lower margins, dragging EPS down</a:t>
              </a:r>
            </a:p>
          </p:txBody>
        </p:sp>
        <p:sp>
          <p:nvSpPr>
            <p:cNvPr id="13" name="Rectangle 12">
              <a:extLst>
                <a:ext uri="{FF2B5EF4-FFF2-40B4-BE49-F238E27FC236}">
                  <a16:creationId xmlns:a16="http://schemas.microsoft.com/office/drawing/2014/main" id="{55902FD6-B2FC-B831-5363-67AEE3365985}"/>
                </a:ext>
              </a:extLst>
            </p:cNvPr>
            <p:cNvSpPr/>
            <p:nvPr/>
          </p:nvSpPr>
          <p:spPr>
            <a:xfrm>
              <a:off x="2583334" y="1161645"/>
              <a:ext cx="1916501" cy="929850"/>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Post-stimulus demand weakened and JOUT had to discount products more aggressively, limiting pricing power and earnings</a:t>
              </a:r>
            </a:p>
          </p:txBody>
        </p:sp>
        <p:sp>
          <p:nvSpPr>
            <p:cNvPr id="14" name="Plus Sign 13">
              <a:extLst>
                <a:ext uri="{FF2B5EF4-FFF2-40B4-BE49-F238E27FC236}">
                  <a16:creationId xmlns:a16="http://schemas.microsoft.com/office/drawing/2014/main" id="{451556E6-ACD4-5324-2ED2-AF96798634E0}"/>
                </a:ext>
              </a:extLst>
            </p:cNvPr>
            <p:cNvSpPr/>
            <p:nvPr/>
          </p:nvSpPr>
          <p:spPr>
            <a:xfrm>
              <a:off x="2286349" y="1424759"/>
              <a:ext cx="275402" cy="336319"/>
            </a:xfrm>
            <a:prstGeom prst="mathPlus">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93FE68FF-771C-E57D-6875-2A999DFE8236}"/>
                </a:ext>
              </a:extLst>
            </p:cNvPr>
            <p:cNvSpPr/>
            <p:nvPr/>
          </p:nvSpPr>
          <p:spPr>
            <a:xfrm>
              <a:off x="4863278" y="1152943"/>
              <a:ext cx="2040299" cy="938552"/>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Tariff-exposed components keep unit costs elevated, and existing inventory cannot be repriced to protect margins</a:t>
              </a:r>
            </a:p>
          </p:txBody>
        </p:sp>
        <p:sp>
          <p:nvSpPr>
            <p:cNvPr id="16" name="Plus Sign 15">
              <a:extLst>
                <a:ext uri="{FF2B5EF4-FFF2-40B4-BE49-F238E27FC236}">
                  <a16:creationId xmlns:a16="http://schemas.microsoft.com/office/drawing/2014/main" id="{FEF92B81-50E4-1F69-5B31-E2630644A70D}"/>
                </a:ext>
              </a:extLst>
            </p:cNvPr>
            <p:cNvSpPr/>
            <p:nvPr/>
          </p:nvSpPr>
          <p:spPr>
            <a:xfrm>
              <a:off x="4525574" y="1438172"/>
              <a:ext cx="311966" cy="348513"/>
            </a:xfrm>
            <a:prstGeom prst="mathPlus">
              <a:avLst/>
            </a:prstGeom>
            <a:solidFill>
              <a:srgbClr val="000000"/>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AAF922DD-6F89-5024-32DF-28DE6554EC20}"/>
                </a:ext>
              </a:extLst>
            </p:cNvPr>
            <p:cNvSpPr/>
            <p:nvPr/>
          </p:nvSpPr>
          <p:spPr>
            <a:xfrm>
              <a:off x="7267020" y="1152942"/>
              <a:ext cx="1575129" cy="938552"/>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000" dirty="0">
                  <a:solidFill>
                    <a:schemeClr val="tx1"/>
                  </a:solidFill>
                  <a:latin typeface="Calibri" panose="020F0502020204030204" pitchFamily="34" charset="0"/>
                  <a:ea typeface="Calibri" panose="020F0502020204030204" pitchFamily="34" charset="0"/>
                  <a:cs typeface="Calibri" panose="020F0502020204030204" pitchFamily="34" charset="0"/>
                </a:rPr>
                <a:t>These combined pressures pushed JOUT’s EPS negative in FY24 with only gradual improvement expected</a:t>
              </a:r>
              <a:endParaRPr lang="en-US" sz="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0136CAC5-1D98-AD55-CD8E-7BCBB58393CC}"/>
                </a:ext>
              </a:extLst>
            </p:cNvPr>
            <p:cNvGrpSpPr/>
            <p:nvPr/>
          </p:nvGrpSpPr>
          <p:grpSpPr>
            <a:xfrm>
              <a:off x="6949500" y="1480091"/>
              <a:ext cx="260827" cy="237378"/>
              <a:chOff x="6792018" y="3121511"/>
              <a:chExt cx="260827" cy="237378"/>
            </a:xfrm>
          </p:grpSpPr>
          <p:sp>
            <p:nvSpPr>
              <p:cNvPr id="20" name="Rectangle 19">
                <a:extLst>
                  <a:ext uri="{FF2B5EF4-FFF2-40B4-BE49-F238E27FC236}">
                    <a16:creationId xmlns:a16="http://schemas.microsoft.com/office/drawing/2014/main" id="{3E14130F-61DB-8EDB-A0B6-05D08430559F}"/>
                  </a:ext>
                </a:extLst>
              </p:cNvPr>
              <p:cNvSpPr/>
              <p:nvPr/>
            </p:nvSpPr>
            <p:spPr>
              <a:xfrm>
                <a:off x="6792018" y="3121511"/>
                <a:ext cx="260826" cy="9525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sp>
            <p:nvSpPr>
              <p:cNvPr id="21" name="Rectangle 20">
                <a:extLst>
                  <a:ext uri="{FF2B5EF4-FFF2-40B4-BE49-F238E27FC236}">
                    <a16:creationId xmlns:a16="http://schemas.microsoft.com/office/drawing/2014/main" id="{B249FBF6-7327-2FA6-DCF8-BAC8ABE928F0}"/>
                  </a:ext>
                </a:extLst>
              </p:cNvPr>
              <p:cNvSpPr/>
              <p:nvPr/>
            </p:nvSpPr>
            <p:spPr>
              <a:xfrm>
                <a:off x="6792018" y="3263639"/>
                <a:ext cx="260827" cy="95250"/>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a typeface="Calibri" panose="020F0502020204030204" pitchFamily="34" charset="0"/>
                  <a:cs typeface="Calibri" panose="020F0502020204030204" pitchFamily="34" charset="0"/>
                </a:endParaRPr>
              </a:p>
            </p:txBody>
          </p:sp>
        </p:grpSp>
      </p:grpSp>
      <p:sp>
        <p:nvSpPr>
          <p:cNvPr id="9" name="Text Box 2">
            <a:extLst>
              <a:ext uri="{FF2B5EF4-FFF2-40B4-BE49-F238E27FC236}">
                <a16:creationId xmlns:a16="http://schemas.microsoft.com/office/drawing/2014/main" id="{31652EF7-07B6-FF5A-74F1-A7B0175DDC2E}"/>
              </a:ext>
            </a:extLst>
          </p:cNvPr>
          <p:cNvSpPr txBox="1">
            <a:spLocks noChangeArrowheads="1"/>
          </p:cNvSpPr>
          <p:nvPr/>
        </p:nvSpPr>
        <p:spPr bwMode="auto">
          <a:xfrm>
            <a:off x="2916006" y="1697430"/>
            <a:ext cx="3374625"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000000"/>
                </a:solidFill>
                <a:latin typeface="Calibri"/>
                <a:ea typeface="Calibri" panose="020F0502020204030204" pitchFamily="34" charset="0"/>
                <a:cs typeface="Times New Roman"/>
              </a:rPr>
              <a:t>Figure 11:  2022 – 2026 EPS Impact</a:t>
            </a:r>
            <a:endParaRPr lang="en-US" altLang="en-US" sz="1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2">
            <a:extLst>
              <a:ext uri="{FF2B5EF4-FFF2-40B4-BE49-F238E27FC236}">
                <a16:creationId xmlns:a16="http://schemas.microsoft.com/office/drawing/2014/main" id="{FCC8EB1E-F9DF-4296-4700-6B0A0F2A583D}"/>
              </a:ext>
            </a:extLst>
          </p:cNvPr>
          <p:cNvSpPr txBox="1">
            <a:spLocks noChangeArrowheads="1"/>
          </p:cNvSpPr>
          <p:nvPr/>
        </p:nvSpPr>
        <p:spPr bwMode="auto">
          <a:xfrm>
            <a:off x="5666659" y="3792851"/>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defPPr>
              <a:defRPr lang="en-US"/>
            </a:defPPr>
            <a:lvl1pPr eaLnBrk="1" hangingPunct="1">
              <a:lnSpc>
                <a:spcPct val="115000"/>
              </a:lnSpc>
              <a:spcAft>
                <a:spcPts val="751"/>
              </a:spcAft>
              <a:defRPr sz="1000">
                <a:latin typeface="Calibri" panose="020F0502020204030204" pitchFamily="34" charset="0"/>
                <a:ea typeface="Calibri" panose="020F0502020204030204" pitchFamily="34" charset="0"/>
                <a:cs typeface="Calibri" panose="020F0502020204030204" pitchFamily="34" charset="0"/>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en-US" altLang="en-US" dirty="0"/>
              <a:t>Figure 14:  2025 – 2026 EPS Justification</a:t>
            </a:r>
          </a:p>
        </p:txBody>
      </p:sp>
      <p:sp>
        <p:nvSpPr>
          <p:cNvPr id="27" name="Text Box 2">
            <a:extLst>
              <a:ext uri="{FF2B5EF4-FFF2-40B4-BE49-F238E27FC236}">
                <a16:creationId xmlns:a16="http://schemas.microsoft.com/office/drawing/2014/main" id="{517EF8FA-9DFB-0631-6A2A-34998CC26309}"/>
              </a:ext>
            </a:extLst>
          </p:cNvPr>
          <p:cNvSpPr txBox="1">
            <a:spLocks noChangeArrowheads="1"/>
          </p:cNvSpPr>
          <p:nvPr/>
        </p:nvSpPr>
        <p:spPr bwMode="auto">
          <a:xfrm>
            <a:off x="108853" y="3777466"/>
            <a:ext cx="5607367" cy="239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Figure 13: Estimates </a:t>
            </a:r>
            <a:endParaRPr lang="en-US" alt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9" name="Text Box 2">
            <a:extLst>
              <a:ext uri="{FF2B5EF4-FFF2-40B4-BE49-F238E27FC236}">
                <a16:creationId xmlns:a16="http://schemas.microsoft.com/office/drawing/2014/main" id="{57E40A5A-1DEE-F0EF-100C-56F2A47A907B}"/>
              </a:ext>
            </a:extLst>
          </p:cNvPr>
          <p:cNvSpPr txBox="1">
            <a:spLocks noChangeArrowheads="1"/>
          </p:cNvSpPr>
          <p:nvPr/>
        </p:nvSpPr>
        <p:spPr bwMode="auto">
          <a:xfrm>
            <a:off x="5716220" y="1713164"/>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292934"/>
                </a:solidFill>
                <a:latin typeface="Calibri"/>
                <a:ea typeface="Calibri" panose="020F0502020204030204" pitchFamily="34" charset="0"/>
                <a:cs typeface="Times New Roman"/>
              </a:rPr>
              <a:t>Figure 12:  2024 – 2025 </a:t>
            </a:r>
            <a:r>
              <a:rPr lang="en-US" altLang="en-US" sz="1000" dirty="0">
                <a:latin typeface="Calibri" panose="020F0502020204030204" pitchFamily="34" charset="0"/>
                <a:ea typeface="Calibri" panose="020F0502020204030204" pitchFamily="34" charset="0"/>
                <a:cs typeface="Calibri" panose="020F0502020204030204" pitchFamily="34" charset="0"/>
              </a:rPr>
              <a:t>EPS Justification</a:t>
            </a:r>
          </a:p>
        </p:txBody>
      </p:sp>
      <p:sp>
        <p:nvSpPr>
          <p:cNvPr id="5" name="Text Box 2">
            <a:extLst>
              <a:ext uri="{FF2B5EF4-FFF2-40B4-BE49-F238E27FC236}">
                <a16:creationId xmlns:a16="http://schemas.microsoft.com/office/drawing/2014/main" id="{18F48D9A-47E5-4595-B11F-CC52A62EB2BA}"/>
              </a:ext>
            </a:extLst>
          </p:cNvPr>
          <p:cNvSpPr txBox="1">
            <a:spLocks noChangeArrowheads="1"/>
          </p:cNvSpPr>
          <p:nvPr/>
        </p:nvSpPr>
        <p:spPr bwMode="auto">
          <a:xfrm>
            <a:off x="113104" y="1704207"/>
            <a:ext cx="340978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latin typeface="Calibri"/>
                <a:ea typeface="Calibri"/>
                <a:cs typeface="Calibri"/>
              </a:rPr>
              <a:t>Figure 10:  Margins Compressing</a:t>
            </a:r>
          </a:p>
        </p:txBody>
      </p:sp>
      <p:sp>
        <p:nvSpPr>
          <p:cNvPr id="26" name="TextBox 25">
            <a:extLst>
              <a:ext uri="{FF2B5EF4-FFF2-40B4-BE49-F238E27FC236}">
                <a16:creationId xmlns:a16="http://schemas.microsoft.com/office/drawing/2014/main" id="{111EA68D-1EEF-C313-A770-81DA8F0FBA89}"/>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11</a:t>
            </a:fld>
            <a:endParaRPr lang="en-US" sz="1400">
              <a:latin typeface="Calibri" panose="020F0502020204030204" pitchFamily="34" charset="0"/>
              <a:cs typeface="Calibri" panose="020F0502020204030204" pitchFamily="34" charset="0"/>
            </a:endParaRPr>
          </a:p>
        </p:txBody>
      </p:sp>
      <p:sp>
        <p:nvSpPr>
          <p:cNvPr id="28" name="Text Box 2">
            <a:extLst>
              <a:ext uri="{FF2B5EF4-FFF2-40B4-BE49-F238E27FC236}">
                <a16:creationId xmlns:a16="http://schemas.microsoft.com/office/drawing/2014/main" id="{11563B24-51B3-48BC-C9F0-6B0A569A7466}"/>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 EAI</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40" name="Table 39">
            <a:extLst>
              <a:ext uri="{FF2B5EF4-FFF2-40B4-BE49-F238E27FC236}">
                <a16:creationId xmlns:a16="http://schemas.microsoft.com/office/drawing/2014/main" id="{7FC5F630-AB5B-D878-66C4-148C8D5CD37E}"/>
              </a:ext>
            </a:extLst>
          </p:cNvPr>
          <p:cNvGraphicFramePr>
            <a:graphicFrameLocks noGrp="1"/>
          </p:cNvGraphicFramePr>
          <p:nvPr>
            <p:custDataLst>
              <p:tags r:id="rId1"/>
            </p:custDataLst>
            <p:extLst>
              <p:ext uri="{D42A27DB-BD31-4B8C-83A1-F6EECF244321}">
                <p14:modId xmlns:p14="http://schemas.microsoft.com/office/powerpoint/2010/main" val="3009053995"/>
              </p:ext>
            </p:extLst>
          </p:nvPr>
        </p:nvGraphicFramePr>
        <p:xfrm>
          <a:off x="156579" y="4025738"/>
          <a:ext cx="4560570" cy="1820460"/>
        </p:xfrm>
        <a:graphic>
          <a:graphicData uri="http://schemas.openxmlformats.org/drawingml/2006/table">
            <a:tbl>
              <a:tblPr/>
              <a:tblGrid>
                <a:gridCol w="1171295">
                  <a:extLst>
                    <a:ext uri="{9D8B030D-6E8A-4147-A177-3AD203B41FA5}">
                      <a16:colId xmlns:a16="http://schemas.microsoft.com/office/drawing/2014/main" val="1385822324"/>
                    </a:ext>
                  </a:extLst>
                </a:gridCol>
                <a:gridCol w="1059149">
                  <a:extLst>
                    <a:ext uri="{9D8B030D-6E8A-4147-A177-3AD203B41FA5}">
                      <a16:colId xmlns:a16="http://schemas.microsoft.com/office/drawing/2014/main" val="165655921"/>
                    </a:ext>
                  </a:extLst>
                </a:gridCol>
                <a:gridCol w="1146373">
                  <a:extLst>
                    <a:ext uri="{9D8B030D-6E8A-4147-A177-3AD203B41FA5}">
                      <a16:colId xmlns:a16="http://schemas.microsoft.com/office/drawing/2014/main" val="4208314038"/>
                    </a:ext>
                  </a:extLst>
                </a:gridCol>
                <a:gridCol w="1183753">
                  <a:extLst>
                    <a:ext uri="{9D8B030D-6E8A-4147-A177-3AD203B41FA5}">
                      <a16:colId xmlns:a16="http://schemas.microsoft.com/office/drawing/2014/main" val="1260765811"/>
                    </a:ext>
                  </a:extLst>
                </a:gridCol>
              </a:tblGrid>
              <a:tr h="143477">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 </a:t>
                      </a:r>
                    </a:p>
                  </a:txBody>
                  <a:tcPr marL="6925" marR="6925" marT="6925" marB="0" anchor="b">
                    <a:lnL>
                      <a:noFill/>
                    </a:lnL>
                    <a:lnR>
                      <a:noFill/>
                    </a:lnR>
                    <a:lnT>
                      <a:noFill/>
                    </a:lnT>
                    <a:lnB>
                      <a:noFill/>
                    </a:lnB>
                    <a:solidFill>
                      <a:srgbClr val="F2C755"/>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1" kern="1200" dirty="0">
                          <a:solidFill>
                            <a:schemeClr val="tx1"/>
                          </a:solidFill>
                          <a:latin typeface="Calibri"/>
                          <a:ea typeface="Calibri"/>
                          <a:cs typeface="Calibri"/>
                        </a:rPr>
                        <a:t>2024</a:t>
                      </a:r>
                    </a:p>
                  </a:txBody>
                  <a:tcPr marL="6925" marR="6925" marT="6925" marB="0" anchor="b">
                    <a:lnL>
                      <a:noFill/>
                    </a:lnL>
                    <a:lnR>
                      <a:noFill/>
                    </a:lnR>
                    <a:lnT>
                      <a:noFill/>
                    </a:lnT>
                    <a:lnB>
                      <a:noFill/>
                    </a:lnB>
                    <a:solidFill>
                      <a:srgbClr val="F2C755"/>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2025E</a:t>
                      </a:r>
                    </a:p>
                  </a:txBody>
                  <a:tcPr marL="6925" marR="6925" marT="6925" marB="0" anchor="b">
                    <a:lnL>
                      <a:noFill/>
                    </a:lnL>
                    <a:lnR>
                      <a:noFill/>
                    </a:lnR>
                    <a:lnT>
                      <a:noFill/>
                    </a:lnT>
                    <a:lnB>
                      <a:noFill/>
                    </a:lnB>
                    <a:solidFill>
                      <a:srgbClr val="F2C755"/>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2026E</a:t>
                      </a:r>
                    </a:p>
                  </a:txBody>
                  <a:tcPr marL="6925" marR="6925" marT="6925" marB="0" anchor="b">
                    <a:lnL>
                      <a:noFill/>
                    </a:lnL>
                    <a:lnR>
                      <a:noFill/>
                    </a:lnR>
                    <a:lnT>
                      <a:noFill/>
                    </a:lnT>
                    <a:lnB>
                      <a:noFill/>
                    </a:lnB>
                    <a:solidFill>
                      <a:srgbClr val="F2C755"/>
                    </a:solidFill>
                  </a:tcPr>
                </a:tc>
                <a:extLst>
                  <a:ext uri="{0D108BD9-81ED-4DB2-BD59-A6C34878D82A}">
                    <a16:rowId xmlns:a16="http://schemas.microsoft.com/office/drawing/2014/main" val="952331086"/>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endParaRPr lang="en-US" sz="950" b="1" i="0" u="none" strike="noStrike" kern="1200" baseline="0" dirty="0">
                        <a:solidFill>
                          <a:schemeClr val="tx1"/>
                        </a:solidFill>
                        <a:latin typeface="Calibri"/>
                        <a:ea typeface="Calibri"/>
                        <a:cs typeface="Calibri"/>
                      </a:endParaRPr>
                    </a:p>
                  </a:txBody>
                  <a:tcPr marL="6925" marR="6925" marT="6925" marB="0" anchor="b">
                    <a:lnL>
                      <a:noFill/>
                    </a:lnL>
                    <a:lnR>
                      <a:noFill/>
                    </a:lnR>
                    <a:lnT>
                      <a:noFill/>
                    </a:lnT>
                    <a:lnB>
                      <a:noFill/>
                    </a:lnB>
                    <a:solidFill>
                      <a:srgbClr val="F2C755"/>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Estimate</a:t>
                      </a:r>
                    </a:p>
                  </a:txBody>
                  <a:tcPr marL="6925" marR="6925" marT="6925" marB="0" anchor="b">
                    <a:lnL>
                      <a:noFill/>
                    </a:lnL>
                    <a:lnR>
                      <a:noFill/>
                    </a:lnR>
                    <a:lnT>
                      <a:noFill/>
                    </a:lnT>
                    <a:lnB>
                      <a:noFill/>
                    </a:lnB>
                    <a:solidFill>
                      <a:srgbClr val="F2C755"/>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Estimate</a:t>
                      </a:r>
                    </a:p>
                  </a:txBody>
                  <a:tcPr marL="6925" marR="6925" marT="6925" marB="0" anchor="b">
                    <a:lnL>
                      <a:noFill/>
                    </a:lnL>
                    <a:lnR>
                      <a:noFill/>
                    </a:lnR>
                    <a:lnT>
                      <a:noFill/>
                    </a:lnT>
                    <a:lnB>
                      <a:noFill/>
                    </a:lnB>
                    <a:solidFill>
                      <a:srgbClr val="F2C755"/>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Estimate</a:t>
                      </a:r>
                    </a:p>
                  </a:txBody>
                  <a:tcPr marL="6925" marR="6925" marT="6925" marB="0" anchor="b">
                    <a:lnL>
                      <a:noFill/>
                    </a:lnL>
                    <a:lnR>
                      <a:noFill/>
                    </a:lnR>
                    <a:lnT>
                      <a:noFill/>
                    </a:lnT>
                    <a:lnB>
                      <a:noFill/>
                    </a:lnB>
                    <a:solidFill>
                      <a:srgbClr val="F2C755"/>
                    </a:solidFill>
                  </a:tcPr>
                </a:tc>
                <a:extLst>
                  <a:ext uri="{0D108BD9-81ED-4DB2-BD59-A6C34878D82A}">
                    <a16:rowId xmlns:a16="http://schemas.microsoft.com/office/drawing/2014/main" val="3190658772"/>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 Sales</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$592.8</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$574.1</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$616.3</a:t>
                      </a:r>
                    </a:p>
                  </a:txBody>
                  <a:tcPr marL="6925" marR="6925" marT="6925" marB="0" anchor="b">
                    <a:lnL>
                      <a:noFill/>
                    </a:lnL>
                    <a:lnR>
                      <a:noFill/>
                    </a:lnR>
                    <a:lnT>
                      <a:noFill/>
                    </a:lnT>
                    <a:lnB>
                      <a:noFill/>
                    </a:lnB>
                    <a:solidFill>
                      <a:srgbClr val="FFFFFF"/>
                    </a:solidFill>
                  </a:tcPr>
                </a:tc>
                <a:extLst>
                  <a:ext uri="{0D108BD9-81ED-4DB2-BD59-A6C34878D82A}">
                    <a16:rowId xmlns:a16="http://schemas.microsoft.com/office/drawing/2014/main" val="2789985682"/>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 Change</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-10.7%</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2.1%</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1.9%</a:t>
                      </a:r>
                    </a:p>
                  </a:txBody>
                  <a:tcPr marL="6925" marR="6925" marT="6925" marB="0" anchor="b">
                    <a:lnL>
                      <a:noFill/>
                    </a:lnL>
                    <a:lnR>
                      <a:noFill/>
                    </a:lnR>
                    <a:lnT>
                      <a:noFill/>
                    </a:lnT>
                    <a:lnB>
                      <a:noFill/>
                    </a:lnB>
                    <a:solidFill>
                      <a:srgbClr val="F2F2F2"/>
                    </a:solidFill>
                  </a:tcPr>
                </a:tc>
                <a:extLst>
                  <a:ext uri="{0D108BD9-81ED-4DB2-BD59-A6C34878D82A}">
                    <a16:rowId xmlns:a16="http://schemas.microsoft.com/office/drawing/2014/main" val="842674494"/>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 Gross Profit</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$201</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$207</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$211</a:t>
                      </a:r>
                    </a:p>
                  </a:txBody>
                  <a:tcPr marL="6925" marR="6925" marT="6925" marB="0" anchor="b">
                    <a:lnL>
                      <a:noFill/>
                    </a:lnL>
                    <a:lnR>
                      <a:noFill/>
                    </a:lnR>
                    <a:lnT>
                      <a:noFill/>
                    </a:lnT>
                    <a:lnB>
                      <a:noFill/>
                    </a:lnB>
                    <a:solidFill>
                      <a:srgbClr val="FFFFFF"/>
                    </a:solidFill>
                  </a:tcPr>
                </a:tc>
                <a:extLst>
                  <a:ext uri="{0D108BD9-81ED-4DB2-BD59-A6C34878D82A}">
                    <a16:rowId xmlns:a16="http://schemas.microsoft.com/office/drawing/2014/main" val="520578192"/>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 Change</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-17.6%</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3.0%</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1.9%</a:t>
                      </a:r>
                    </a:p>
                  </a:txBody>
                  <a:tcPr marL="6925" marR="6925" marT="6925" marB="0" anchor="b">
                    <a:lnL>
                      <a:noFill/>
                    </a:lnL>
                    <a:lnR>
                      <a:noFill/>
                    </a:lnR>
                    <a:lnT>
                      <a:noFill/>
                    </a:lnT>
                    <a:lnB>
                      <a:noFill/>
                    </a:lnB>
                    <a:solidFill>
                      <a:srgbClr val="F2F2F2"/>
                    </a:solidFill>
                  </a:tcPr>
                </a:tc>
                <a:extLst>
                  <a:ext uri="{0D108BD9-81ED-4DB2-BD59-A6C34878D82A}">
                    <a16:rowId xmlns:a16="http://schemas.microsoft.com/office/drawing/2014/main" val="3111293827"/>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Gross Margin %</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33.9%</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34.2%</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34.2%</a:t>
                      </a:r>
                    </a:p>
                  </a:txBody>
                  <a:tcPr marL="6925" marR="6925" marT="6925" marB="0" anchor="b">
                    <a:lnL>
                      <a:noFill/>
                    </a:lnL>
                    <a:lnR>
                      <a:noFill/>
                    </a:lnR>
                    <a:lnT>
                      <a:noFill/>
                    </a:lnT>
                    <a:lnB>
                      <a:noFill/>
                    </a:lnB>
                    <a:solidFill>
                      <a:srgbClr val="FFFFFF"/>
                    </a:solidFill>
                  </a:tcPr>
                </a:tc>
                <a:extLst>
                  <a:ext uri="{0D108BD9-81ED-4DB2-BD59-A6C34878D82A}">
                    <a16:rowId xmlns:a16="http://schemas.microsoft.com/office/drawing/2014/main" val="1160868754"/>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 Net Income</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$(27)</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$8</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$12</a:t>
                      </a:r>
                    </a:p>
                  </a:txBody>
                  <a:tcPr marL="6925" marR="6925" marT="6925" marB="0" anchor="b">
                    <a:lnL>
                      <a:noFill/>
                    </a:lnL>
                    <a:lnR>
                      <a:noFill/>
                    </a:lnR>
                    <a:lnT>
                      <a:noFill/>
                    </a:lnT>
                    <a:lnB>
                      <a:noFill/>
                    </a:lnB>
                    <a:solidFill>
                      <a:srgbClr val="F2F2F2"/>
                    </a:solidFill>
                  </a:tcPr>
                </a:tc>
                <a:extLst>
                  <a:ext uri="{0D108BD9-81ED-4DB2-BD59-A6C34878D82A}">
                    <a16:rowId xmlns:a16="http://schemas.microsoft.com/office/drawing/2014/main" val="1626147192"/>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 Change</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-235.0%</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130%</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50%</a:t>
                      </a:r>
                    </a:p>
                  </a:txBody>
                  <a:tcPr marL="6925" marR="6925" marT="6925" marB="0" anchor="b">
                    <a:lnL>
                      <a:noFill/>
                    </a:lnL>
                    <a:lnR>
                      <a:noFill/>
                    </a:lnR>
                    <a:lnT>
                      <a:noFill/>
                    </a:lnT>
                    <a:lnB>
                      <a:noFill/>
                    </a:lnB>
                    <a:solidFill>
                      <a:srgbClr val="FFFFFF"/>
                    </a:solidFill>
                  </a:tcPr>
                </a:tc>
                <a:extLst>
                  <a:ext uri="{0D108BD9-81ED-4DB2-BD59-A6C34878D82A}">
                    <a16:rowId xmlns:a16="http://schemas.microsoft.com/office/drawing/2014/main" val="1639304315"/>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Net Margin %</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-4.5%</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1.4%</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1.9%</a:t>
                      </a:r>
                    </a:p>
                  </a:txBody>
                  <a:tcPr marL="6925" marR="6925" marT="6925" marB="0" anchor="b">
                    <a:lnL>
                      <a:noFill/>
                    </a:lnL>
                    <a:lnR>
                      <a:noFill/>
                    </a:lnR>
                    <a:lnT>
                      <a:noFill/>
                    </a:lnT>
                    <a:lnB>
                      <a:noFill/>
                    </a:lnB>
                    <a:solidFill>
                      <a:srgbClr val="F2F2F2"/>
                    </a:solidFill>
                  </a:tcPr>
                </a:tc>
                <a:extLst>
                  <a:ext uri="{0D108BD9-81ED-4DB2-BD59-A6C34878D82A}">
                    <a16:rowId xmlns:a16="http://schemas.microsoft.com/office/drawing/2014/main" val="590755851"/>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 EPS - Diluted</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$(2.0)</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$0.9</a:t>
                      </a:r>
                    </a:p>
                  </a:txBody>
                  <a:tcPr marL="6925" marR="6925" marT="6925" marB="0" anchor="b">
                    <a:lnL>
                      <a:noFill/>
                    </a:lnL>
                    <a:lnR>
                      <a:noFill/>
                    </a:lnR>
                    <a:lnT>
                      <a:noFill/>
                    </a:lnT>
                    <a:lnB>
                      <a:noFill/>
                    </a:lnB>
                    <a:solidFill>
                      <a:srgbClr val="FFFFFF"/>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$1.2</a:t>
                      </a:r>
                    </a:p>
                  </a:txBody>
                  <a:tcPr marL="6925" marR="6925" marT="6925" marB="0" anchor="b">
                    <a:lnL>
                      <a:noFill/>
                    </a:lnL>
                    <a:lnR>
                      <a:noFill/>
                    </a:lnR>
                    <a:lnT>
                      <a:noFill/>
                    </a:lnT>
                    <a:lnB>
                      <a:noFill/>
                    </a:lnB>
                    <a:solidFill>
                      <a:srgbClr val="FFFFFF"/>
                    </a:solidFill>
                  </a:tcPr>
                </a:tc>
                <a:extLst>
                  <a:ext uri="{0D108BD9-81ED-4DB2-BD59-A6C34878D82A}">
                    <a16:rowId xmlns:a16="http://schemas.microsoft.com/office/drawing/2014/main" val="3412610431"/>
                  </a:ext>
                </a:extLst>
              </a:tr>
              <a:tr h="143477">
                <a:tc>
                  <a:txBody>
                    <a:bodyPr/>
                    <a:lstStyle/>
                    <a:p>
                      <a:pPr marL="0" algn="l" defTabSz="685783" rtl="0" eaLnBrk="1" fontAlgn="b" latinLnBrk="0" hangingPunct="1">
                        <a:defRPr sz="1000" b="0" i="0" u="none" strike="noStrike" kern="1200" baseline="0">
                          <a:solidFill>
                            <a:schemeClr val="tx1"/>
                          </a:solidFill>
                          <a:latin typeface="+mn-lt"/>
                          <a:ea typeface="+mn-ea"/>
                          <a:cs typeface="+mn-cs"/>
                        </a:defRPr>
                      </a:pPr>
                      <a:r>
                        <a:rPr lang="en-US" sz="950" b="1" i="0" u="none" strike="noStrike" kern="1200" baseline="0" dirty="0">
                          <a:solidFill>
                            <a:schemeClr val="tx1"/>
                          </a:solidFill>
                          <a:latin typeface="Calibri"/>
                          <a:ea typeface="Calibri"/>
                          <a:cs typeface="Calibri"/>
                        </a:rPr>
                        <a:t>% Change</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-236.0%</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131.0%</a:t>
                      </a:r>
                    </a:p>
                  </a:txBody>
                  <a:tcPr marL="6925" marR="6925" marT="6925" marB="0" anchor="b">
                    <a:lnL>
                      <a:noFill/>
                    </a:lnL>
                    <a:lnR>
                      <a:noFill/>
                    </a:lnR>
                    <a:lnT>
                      <a:noFill/>
                    </a:lnT>
                    <a:lnB>
                      <a:noFill/>
                    </a:lnB>
                    <a:solidFill>
                      <a:srgbClr val="F2F2F2"/>
                    </a:solidFill>
                  </a:tcPr>
                </a:tc>
                <a:tc>
                  <a:txBody>
                    <a:bodyPr/>
                    <a:lstStyle/>
                    <a:p>
                      <a:pPr marL="0" algn="r" defTabSz="685783" rtl="0" eaLnBrk="1" fontAlgn="b" latinLnBrk="0" hangingPunct="1">
                        <a:defRPr sz="1000" b="0" i="0" u="none" strike="noStrike" kern="1200" baseline="0">
                          <a:solidFill>
                            <a:schemeClr val="tx1"/>
                          </a:solidFill>
                          <a:latin typeface="+mn-lt"/>
                          <a:ea typeface="+mn-ea"/>
                          <a:cs typeface="+mn-cs"/>
                        </a:defRPr>
                      </a:pPr>
                      <a:r>
                        <a:rPr lang="en-US" sz="95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43.0%</a:t>
                      </a:r>
                    </a:p>
                  </a:txBody>
                  <a:tcPr marL="6925" marR="6925" marT="6925" marB="0" anchor="b">
                    <a:lnL>
                      <a:noFill/>
                    </a:lnL>
                    <a:lnR>
                      <a:noFill/>
                    </a:lnR>
                    <a:lnT>
                      <a:noFill/>
                    </a:lnT>
                    <a:lnB>
                      <a:noFill/>
                    </a:lnB>
                    <a:solidFill>
                      <a:srgbClr val="F2F2F2"/>
                    </a:solidFill>
                  </a:tcPr>
                </a:tc>
                <a:extLst>
                  <a:ext uri="{0D108BD9-81ED-4DB2-BD59-A6C34878D82A}">
                    <a16:rowId xmlns:a16="http://schemas.microsoft.com/office/drawing/2014/main" val="411684766"/>
                  </a:ext>
                </a:extLst>
              </a:tr>
            </a:tbl>
          </a:graphicData>
        </a:graphic>
      </p:graphicFrame>
      <p:pic>
        <p:nvPicPr>
          <p:cNvPr id="2" name="Picture 1" descr="Outdoor Industry Jobs">
            <a:extLst>
              <a:ext uri="{FF2B5EF4-FFF2-40B4-BE49-F238E27FC236}">
                <a16:creationId xmlns:a16="http://schemas.microsoft.com/office/drawing/2014/main" id="{E5362F0D-AC68-D2C8-C70B-555AF70789D7}"/>
              </a:ext>
            </a:extLst>
          </p:cNvPr>
          <p:cNvPicPr>
            <a:picLocks noChangeAspect="1"/>
          </p:cNvPicPr>
          <p:nvPr/>
        </p:nvPicPr>
        <p:blipFill>
          <a:blip r:embed="rId8"/>
          <a:stretch>
            <a:fillRect/>
          </a:stretch>
        </p:blipFill>
        <p:spPr>
          <a:xfrm>
            <a:off x="6737770" y="96688"/>
            <a:ext cx="2310800" cy="453606"/>
          </a:xfrm>
          <a:prstGeom prst="rect">
            <a:avLst/>
          </a:prstGeom>
        </p:spPr>
      </p:pic>
      <p:graphicFrame>
        <p:nvGraphicFramePr>
          <p:cNvPr id="7" name="Chart 6">
            <a:extLst>
              <a:ext uri="{FF2B5EF4-FFF2-40B4-BE49-F238E27FC236}">
                <a16:creationId xmlns:a16="http://schemas.microsoft.com/office/drawing/2014/main" id="{00000000-0008-0000-1200-000006000000}"/>
              </a:ext>
            </a:extLst>
          </p:cNvPr>
          <p:cNvGraphicFramePr>
            <a:graphicFrameLocks/>
          </p:cNvGraphicFramePr>
          <p:nvPr>
            <p:extLst>
              <p:ext uri="{D42A27DB-BD31-4B8C-83A1-F6EECF244321}">
                <p14:modId xmlns:p14="http://schemas.microsoft.com/office/powerpoint/2010/main" val="3192304465"/>
              </p:ext>
            </p:extLst>
          </p:nvPr>
        </p:nvGraphicFramePr>
        <p:xfrm>
          <a:off x="174164" y="1938122"/>
          <a:ext cx="2583601" cy="1729544"/>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4" name="Chart 3">
            <a:extLst>
              <a:ext uri="{FF2B5EF4-FFF2-40B4-BE49-F238E27FC236}">
                <a16:creationId xmlns:a16="http://schemas.microsoft.com/office/drawing/2014/main" id="{00000000-0008-0000-1400-000009000000}"/>
              </a:ext>
            </a:extLst>
          </p:cNvPr>
          <p:cNvGraphicFramePr>
            <a:graphicFrameLocks/>
          </p:cNvGraphicFramePr>
          <p:nvPr>
            <p:extLst>
              <p:ext uri="{D42A27DB-BD31-4B8C-83A1-F6EECF244321}">
                <p14:modId xmlns:p14="http://schemas.microsoft.com/office/powerpoint/2010/main" val="416507225"/>
              </p:ext>
            </p:extLst>
          </p:nvPr>
        </p:nvGraphicFramePr>
        <p:xfrm>
          <a:off x="5742091" y="1938122"/>
          <a:ext cx="3156892" cy="1729544"/>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6" name="Chart 5">
            <a:extLst>
              <a:ext uri="{FF2B5EF4-FFF2-40B4-BE49-F238E27FC236}">
                <a16:creationId xmlns:a16="http://schemas.microsoft.com/office/drawing/2014/main" id="{00000000-0008-0000-1400-000004000000}"/>
              </a:ext>
            </a:extLst>
          </p:cNvPr>
          <p:cNvGraphicFramePr>
            <a:graphicFrameLocks/>
          </p:cNvGraphicFramePr>
          <p:nvPr>
            <p:extLst>
              <p:ext uri="{D42A27DB-BD31-4B8C-83A1-F6EECF244321}">
                <p14:modId xmlns:p14="http://schemas.microsoft.com/office/powerpoint/2010/main" val="2625948962"/>
              </p:ext>
            </p:extLst>
          </p:nvPr>
        </p:nvGraphicFramePr>
        <p:xfrm>
          <a:off x="5742091" y="4073504"/>
          <a:ext cx="3156891" cy="1729544"/>
        </p:xfrm>
        <a:graphic>
          <a:graphicData uri="http://schemas.openxmlformats.org/drawingml/2006/chart">
            <c:chart xmlns:c="http://schemas.openxmlformats.org/drawingml/2006/chart" xmlns:r="http://schemas.openxmlformats.org/officeDocument/2006/relationships" r:id="rId11"/>
          </a:graphicData>
        </a:graphic>
      </p:graphicFrame>
      <p:graphicFrame>
        <p:nvGraphicFramePr>
          <p:cNvPr id="8" name="Chart 7">
            <a:extLst>
              <a:ext uri="{FF2B5EF4-FFF2-40B4-BE49-F238E27FC236}">
                <a16:creationId xmlns:a16="http://schemas.microsoft.com/office/drawing/2014/main" id="{00000000-0008-0000-1400-000007000000}"/>
              </a:ext>
            </a:extLst>
          </p:cNvPr>
          <p:cNvGraphicFramePr>
            <a:graphicFrameLocks/>
          </p:cNvGraphicFramePr>
          <p:nvPr>
            <p:extLst>
              <p:ext uri="{D42A27DB-BD31-4B8C-83A1-F6EECF244321}">
                <p14:modId xmlns:p14="http://schemas.microsoft.com/office/powerpoint/2010/main" val="2857297976"/>
              </p:ext>
            </p:extLst>
          </p:nvPr>
        </p:nvGraphicFramePr>
        <p:xfrm>
          <a:off x="2958164" y="1935858"/>
          <a:ext cx="2687143" cy="1736136"/>
        </p:xfrm>
        <a:graphic>
          <a:graphicData uri="http://schemas.openxmlformats.org/drawingml/2006/chart">
            <c:chart xmlns:c="http://schemas.openxmlformats.org/drawingml/2006/chart" xmlns:r="http://schemas.openxmlformats.org/officeDocument/2006/relationships" r:id="rId12"/>
          </a:graphicData>
        </a:graphic>
      </p:graphicFrame>
    </p:spTree>
    <p:extLst>
      <p:ext uri="{BB962C8B-B14F-4D97-AF65-F5344CB8AC3E}">
        <p14:creationId xmlns:p14="http://schemas.microsoft.com/office/powerpoint/2010/main" val="1527212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B43DE-77E4-5FEE-A26C-67431356B116}"/>
            </a:ext>
          </a:extLst>
        </p:cNvPr>
        <p:cNvGrpSpPr/>
        <p:nvPr/>
      </p:nvGrpSpPr>
      <p:grpSpPr>
        <a:xfrm>
          <a:off x="0" y="0"/>
          <a:ext cx="0" cy="0"/>
          <a:chOff x="0" y="0"/>
          <a:chExt cx="0" cy="0"/>
        </a:xfrm>
      </p:grpSpPr>
      <p:sp>
        <p:nvSpPr>
          <p:cNvPr id="10" name="Arrow: Right 9">
            <a:extLst>
              <a:ext uri="{FF2B5EF4-FFF2-40B4-BE49-F238E27FC236}">
                <a16:creationId xmlns:a16="http://schemas.microsoft.com/office/drawing/2014/main" id="{D6A170D4-66B0-6AC9-7359-2BAEFA6D42A9}"/>
              </a:ext>
            </a:extLst>
          </p:cNvPr>
          <p:cNvSpPr/>
          <p:nvPr/>
        </p:nvSpPr>
        <p:spPr>
          <a:xfrm rot="16200000">
            <a:off x="7923341" y="5371526"/>
            <a:ext cx="886580" cy="343855"/>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nvGrpSpPr>
          <p:cNvPr id="37" name="Group 36">
            <a:extLst>
              <a:ext uri="{FF2B5EF4-FFF2-40B4-BE49-F238E27FC236}">
                <a16:creationId xmlns:a16="http://schemas.microsoft.com/office/drawing/2014/main" id="{2FE2E43B-E3B6-5F74-40EC-BC533C89606C}"/>
              </a:ext>
            </a:extLst>
          </p:cNvPr>
          <p:cNvGrpSpPr/>
          <p:nvPr/>
        </p:nvGrpSpPr>
        <p:grpSpPr>
          <a:xfrm>
            <a:off x="0" y="6265664"/>
            <a:ext cx="9144000" cy="457200"/>
            <a:chOff x="0" y="2732884"/>
            <a:chExt cx="9144000" cy="457200"/>
          </a:xfrm>
        </p:grpSpPr>
        <p:sp>
          <p:nvSpPr>
            <p:cNvPr id="38" name="Rectangle 37">
              <a:extLst>
                <a:ext uri="{FF2B5EF4-FFF2-40B4-BE49-F238E27FC236}">
                  <a16:creationId xmlns:a16="http://schemas.microsoft.com/office/drawing/2014/main" id="{84108413-21C6-0178-0654-FB2AC5BDCA0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40" name="Group 39">
              <a:extLst>
                <a:ext uri="{FF2B5EF4-FFF2-40B4-BE49-F238E27FC236}">
                  <a16:creationId xmlns:a16="http://schemas.microsoft.com/office/drawing/2014/main" id="{E225E1A1-F186-7010-6E05-C8D9D323D72D}"/>
                </a:ext>
              </a:extLst>
            </p:cNvPr>
            <p:cNvGrpSpPr/>
            <p:nvPr/>
          </p:nvGrpSpPr>
          <p:grpSpPr>
            <a:xfrm>
              <a:off x="5021579" y="2732884"/>
              <a:ext cx="545306" cy="457200"/>
              <a:chOff x="4981575" y="2712036"/>
              <a:chExt cx="545306" cy="457200"/>
            </a:xfrm>
          </p:grpSpPr>
          <p:sp>
            <p:nvSpPr>
              <p:cNvPr id="16387" name="Oval 16386">
                <a:extLst>
                  <a:ext uri="{FF2B5EF4-FFF2-40B4-BE49-F238E27FC236}">
                    <a16:creationId xmlns:a16="http://schemas.microsoft.com/office/drawing/2014/main" id="{F271CDDE-8FB6-0EFB-ABCC-FABC531A2EF5}"/>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88" name="Picture 16387" descr="Related image">
                <a:extLst>
                  <a:ext uri="{FF2B5EF4-FFF2-40B4-BE49-F238E27FC236}">
                    <a16:creationId xmlns:a16="http://schemas.microsoft.com/office/drawing/2014/main" id="{B1CD9010-D747-B093-91D8-074FB038C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41" name="Group 40">
              <a:extLst>
                <a:ext uri="{FF2B5EF4-FFF2-40B4-BE49-F238E27FC236}">
                  <a16:creationId xmlns:a16="http://schemas.microsoft.com/office/drawing/2014/main" id="{92EE47EC-FBF9-5501-A445-940BA5D7B1E8}"/>
                </a:ext>
              </a:extLst>
            </p:cNvPr>
            <p:cNvGrpSpPr/>
            <p:nvPr/>
          </p:nvGrpSpPr>
          <p:grpSpPr>
            <a:xfrm>
              <a:off x="7910513" y="2732884"/>
              <a:ext cx="545306" cy="457200"/>
              <a:chOff x="7731919" y="2712036"/>
              <a:chExt cx="545306" cy="457200"/>
            </a:xfrm>
          </p:grpSpPr>
          <p:sp>
            <p:nvSpPr>
              <p:cNvPr id="16385" name="Oval 16384">
                <a:extLst>
                  <a:ext uri="{FF2B5EF4-FFF2-40B4-BE49-F238E27FC236}">
                    <a16:creationId xmlns:a16="http://schemas.microsoft.com/office/drawing/2014/main" id="{65520DC1-92FA-4E77-BB52-6228E88A60B5}"/>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386" name="Picture 16385" descr="Related image">
                <a:extLst>
                  <a:ext uri="{FF2B5EF4-FFF2-40B4-BE49-F238E27FC236}">
                    <a16:creationId xmlns:a16="http://schemas.microsoft.com/office/drawing/2014/main" id="{9EA0A078-8B5C-1948-D582-344F937843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44" name="Oval 43">
              <a:extLst>
                <a:ext uri="{FF2B5EF4-FFF2-40B4-BE49-F238E27FC236}">
                  <a16:creationId xmlns:a16="http://schemas.microsoft.com/office/drawing/2014/main" id="{6548F505-659E-258C-6F3D-C93762F6A06A}"/>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45" name="Group 44">
              <a:extLst>
                <a:ext uri="{FF2B5EF4-FFF2-40B4-BE49-F238E27FC236}">
                  <a16:creationId xmlns:a16="http://schemas.microsoft.com/office/drawing/2014/main" id="{EB9B8A60-ED2D-9C58-9F97-E3470EAFA4A2}"/>
                </a:ext>
              </a:extLst>
            </p:cNvPr>
            <p:cNvGrpSpPr/>
            <p:nvPr/>
          </p:nvGrpSpPr>
          <p:grpSpPr>
            <a:xfrm>
              <a:off x="6466045" y="2732884"/>
              <a:ext cx="545306" cy="457200"/>
              <a:chOff x="6353175" y="2712036"/>
              <a:chExt cx="545306" cy="457200"/>
            </a:xfrm>
          </p:grpSpPr>
          <p:sp>
            <p:nvSpPr>
              <p:cNvPr id="54" name="Oval 53">
                <a:extLst>
                  <a:ext uri="{FF2B5EF4-FFF2-40B4-BE49-F238E27FC236}">
                    <a16:creationId xmlns:a16="http://schemas.microsoft.com/office/drawing/2014/main" id="{2BE4C60D-7200-F2E0-A450-C9AC02AE121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84" name="Graphic 14379" descr="Dollar with solid fill">
                <a:extLst>
                  <a:ext uri="{FF2B5EF4-FFF2-40B4-BE49-F238E27FC236}">
                    <a16:creationId xmlns:a16="http://schemas.microsoft.com/office/drawing/2014/main" id="{A9803D8A-9F35-62D5-5844-99DBACB001F4}"/>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46" name="Group 45">
              <a:extLst>
                <a:ext uri="{FF2B5EF4-FFF2-40B4-BE49-F238E27FC236}">
                  <a16:creationId xmlns:a16="http://schemas.microsoft.com/office/drawing/2014/main" id="{EB3BFE4A-9960-130F-0548-A4ACCDF01024}"/>
                </a:ext>
              </a:extLst>
            </p:cNvPr>
            <p:cNvGrpSpPr/>
            <p:nvPr/>
          </p:nvGrpSpPr>
          <p:grpSpPr>
            <a:xfrm>
              <a:off x="3577113" y="2732884"/>
              <a:ext cx="545306" cy="457200"/>
              <a:chOff x="3609974" y="2715607"/>
              <a:chExt cx="545306" cy="457200"/>
            </a:xfrm>
          </p:grpSpPr>
          <p:sp>
            <p:nvSpPr>
              <p:cNvPr id="50" name="Oval 49">
                <a:extLst>
                  <a:ext uri="{FF2B5EF4-FFF2-40B4-BE49-F238E27FC236}">
                    <a16:creationId xmlns:a16="http://schemas.microsoft.com/office/drawing/2014/main" id="{945A1417-6E57-EEC9-E989-78457D3A565F}"/>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51" name="Group 50">
                <a:extLst>
                  <a:ext uri="{FF2B5EF4-FFF2-40B4-BE49-F238E27FC236}">
                    <a16:creationId xmlns:a16="http://schemas.microsoft.com/office/drawing/2014/main" id="{F7E88807-7953-4625-B15E-34C713F28616}"/>
                  </a:ext>
                </a:extLst>
              </p:cNvPr>
              <p:cNvGrpSpPr/>
              <p:nvPr/>
            </p:nvGrpSpPr>
            <p:grpSpPr>
              <a:xfrm>
                <a:off x="3769049" y="2811218"/>
                <a:ext cx="227157" cy="265979"/>
                <a:chOff x="3771206" y="2761936"/>
                <a:chExt cx="227157" cy="265979"/>
              </a:xfrm>
            </p:grpSpPr>
            <p:sp>
              <p:nvSpPr>
                <p:cNvPr id="52" name="Freeform: Shape 51">
                  <a:extLst>
                    <a:ext uri="{FF2B5EF4-FFF2-40B4-BE49-F238E27FC236}">
                      <a16:creationId xmlns:a16="http://schemas.microsoft.com/office/drawing/2014/main" id="{A75991F1-CBDE-0302-EF41-9E5B76DF93D1}"/>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53" name="Freeform: Shape 52">
                  <a:extLst>
                    <a:ext uri="{FF2B5EF4-FFF2-40B4-BE49-F238E27FC236}">
                      <a16:creationId xmlns:a16="http://schemas.microsoft.com/office/drawing/2014/main" id="{D1DB5E96-CB46-F060-E571-472614307899}"/>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47" name="Group 46">
              <a:extLst>
                <a:ext uri="{FF2B5EF4-FFF2-40B4-BE49-F238E27FC236}">
                  <a16:creationId xmlns:a16="http://schemas.microsoft.com/office/drawing/2014/main" id="{E2F88179-5325-BFF2-7707-3706BD7B9823}"/>
                </a:ext>
              </a:extLst>
            </p:cNvPr>
            <p:cNvGrpSpPr/>
            <p:nvPr/>
          </p:nvGrpSpPr>
          <p:grpSpPr>
            <a:xfrm>
              <a:off x="2132647" y="2732884"/>
              <a:ext cx="545306" cy="457200"/>
              <a:chOff x="2238375" y="2712635"/>
              <a:chExt cx="545306" cy="457200"/>
            </a:xfrm>
          </p:grpSpPr>
          <p:sp>
            <p:nvSpPr>
              <p:cNvPr id="48" name="Oval 47">
                <a:extLst>
                  <a:ext uri="{FF2B5EF4-FFF2-40B4-BE49-F238E27FC236}">
                    <a16:creationId xmlns:a16="http://schemas.microsoft.com/office/drawing/2014/main" id="{709E1315-FD77-B2E8-18BA-16EB2AD5B398}"/>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49" name="Graphic 14377" descr="Board Of Directors with solid fill">
                <a:extLst>
                  <a:ext uri="{FF2B5EF4-FFF2-40B4-BE49-F238E27FC236}">
                    <a16:creationId xmlns:a16="http://schemas.microsoft.com/office/drawing/2014/main" id="{CF9F9F6A-5D63-FCA1-5387-5735538F8D3A}"/>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16392" name="Group 37">
            <a:extLst>
              <a:ext uri="{FF2B5EF4-FFF2-40B4-BE49-F238E27FC236}">
                <a16:creationId xmlns:a16="http://schemas.microsoft.com/office/drawing/2014/main" id="{881E33D9-4005-94EF-54C7-FF6EE40B6E7F}"/>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34BA7C5A-F90C-9D30-029F-D18C72D7801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panose="020F0502020204030204" pitchFamily="34" charset="0"/>
                </a:rPr>
                <a:t>Free Cash Flow Volatile, Now Trending Higher</a:t>
              </a:r>
            </a:p>
          </p:txBody>
        </p:sp>
        <p:grpSp>
          <p:nvGrpSpPr>
            <p:cNvPr id="16397" name="Group 39">
              <a:extLst>
                <a:ext uri="{FF2B5EF4-FFF2-40B4-BE49-F238E27FC236}">
                  <a16:creationId xmlns:a16="http://schemas.microsoft.com/office/drawing/2014/main" id="{E18898A6-AD8E-ABB9-72FF-74DBAD88C22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59B48EDD-CB35-034B-5E09-8A8FDE5D1E23}"/>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sp>
            <p:nvSpPr>
              <p:cNvPr id="43" name="Rectangle 42">
                <a:extLst>
                  <a:ext uri="{FF2B5EF4-FFF2-40B4-BE49-F238E27FC236}">
                    <a16:creationId xmlns:a16="http://schemas.microsoft.com/office/drawing/2014/main" id="{D4A51B44-EAD4-3D89-709D-05AE9225CFA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endParaRPr>
              </a:p>
            </p:txBody>
          </p:sp>
        </p:grpSp>
      </p:grpSp>
      <p:sp>
        <p:nvSpPr>
          <p:cNvPr id="19" name="Rectangle 18">
            <a:extLst>
              <a:ext uri="{FF2B5EF4-FFF2-40B4-BE49-F238E27FC236}">
                <a16:creationId xmlns:a16="http://schemas.microsoft.com/office/drawing/2014/main" id="{08EBCFA6-019C-84F5-BFE7-166D72A204A2}"/>
              </a:ext>
            </a:extLst>
          </p:cNvPr>
          <p:cNvSpPr/>
          <p:nvPr/>
        </p:nvSpPr>
        <p:spPr>
          <a:xfrm>
            <a:off x="6231400" y="4773168"/>
            <a:ext cx="2583543" cy="79051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nchorCtr="0"/>
          <a:lstStyle/>
          <a:p>
            <a:pPr>
              <a:lnSpc>
                <a:spcPct val="150000"/>
              </a:lnSpc>
              <a:spcBef>
                <a:spcPts val="0"/>
              </a:spcBef>
              <a:spcAft>
                <a:spcPts val="0"/>
              </a:spcAft>
              <a:defRPr/>
            </a:pPr>
            <a:r>
              <a:rPr lang="en-US" sz="900" dirty="0">
                <a:solidFill>
                  <a:srgbClr val="000000"/>
                </a:solidFill>
                <a:latin typeface="Calibri" panose="020F0502020204030204" pitchFamily="34" charset="0"/>
              </a:rPr>
              <a:t>Despite negative FCFE during the inventory reset, free cash flow inflects positive again as working capital normalizes and NOPAT returns to growth</a:t>
            </a:r>
          </a:p>
        </p:txBody>
      </p:sp>
      <p:sp>
        <p:nvSpPr>
          <p:cNvPr id="11" name="Text Box 2">
            <a:extLst>
              <a:ext uri="{FF2B5EF4-FFF2-40B4-BE49-F238E27FC236}">
                <a16:creationId xmlns:a16="http://schemas.microsoft.com/office/drawing/2014/main" id="{14687E6B-B774-A514-0ADD-9A78B8EE6CBA}"/>
              </a:ext>
            </a:extLst>
          </p:cNvPr>
          <p:cNvSpPr txBox="1">
            <a:spLocks noChangeArrowheads="1"/>
          </p:cNvSpPr>
          <p:nvPr/>
        </p:nvSpPr>
        <p:spPr bwMode="auto">
          <a:xfrm>
            <a:off x="74643" y="644755"/>
            <a:ext cx="3527094"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000000"/>
                </a:solidFill>
                <a:latin typeface="Calibri"/>
                <a:ea typeface="Calibri" panose="020F0502020204030204" pitchFamily="34" charset="0"/>
                <a:cs typeface="Times New Roman"/>
              </a:rPr>
              <a:t>Figure 15: Free Cash Flow Per Share</a:t>
            </a:r>
            <a:endParaRPr lang="en-US" altLang="en-US" sz="1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2">
            <a:extLst>
              <a:ext uri="{FF2B5EF4-FFF2-40B4-BE49-F238E27FC236}">
                <a16:creationId xmlns:a16="http://schemas.microsoft.com/office/drawing/2014/main" id="{7E99B8BF-563A-8054-F2F5-8884318315F7}"/>
              </a:ext>
            </a:extLst>
          </p:cNvPr>
          <p:cNvSpPr txBox="1">
            <a:spLocks noChangeArrowheads="1"/>
          </p:cNvSpPr>
          <p:nvPr/>
        </p:nvSpPr>
        <p:spPr bwMode="auto">
          <a:xfrm>
            <a:off x="4521268" y="642397"/>
            <a:ext cx="276834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000000"/>
                </a:solidFill>
                <a:latin typeface="Calibri"/>
                <a:ea typeface="Calibri" panose="020F0502020204030204" pitchFamily="34" charset="0"/>
                <a:cs typeface="Times New Roman"/>
              </a:rPr>
              <a:t>Figure 16:  Use of FCFE</a:t>
            </a:r>
            <a:endParaRPr lang="en-US" altLang="en-US" sz="1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A0BA488D-752A-EDFC-71F8-FAAAFB47D8D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12</a:t>
            </a:fld>
            <a:endParaRPr lang="en-US" sz="1400">
              <a:latin typeface="Calibri" panose="020F0502020204030204" pitchFamily="34" charset="0"/>
              <a:cs typeface="Calibri" panose="020F0502020204030204" pitchFamily="34" charset="0"/>
            </a:endParaRPr>
          </a:p>
        </p:txBody>
      </p:sp>
      <p:sp>
        <p:nvSpPr>
          <p:cNvPr id="15" name="Text Box 2">
            <a:extLst>
              <a:ext uri="{FF2B5EF4-FFF2-40B4-BE49-F238E27FC236}">
                <a16:creationId xmlns:a16="http://schemas.microsoft.com/office/drawing/2014/main" id="{CAFCB60A-EC0B-7B09-4BC0-AAF5426544C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 EAI</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pic>
        <p:nvPicPr>
          <p:cNvPr id="16404" name="Graphic 16403" descr="Lights On with solid fill">
            <a:extLst>
              <a:ext uri="{FF2B5EF4-FFF2-40B4-BE49-F238E27FC236}">
                <a16:creationId xmlns:a16="http://schemas.microsoft.com/office/drawing/2014/main" id="{E6D5FC10-A4CB-85F6-DD98-D5A181A2F76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4979" y="6263507"/>
            <a:ext cx="461513" cy="461513"/>
          </a:xfrm>
          <a:prstGeom prst="rect">
            <a:avLst/>
          </a:prstGeom>
        </p:spPr>
      </p:pic>
      <p:sp>
        <p:nvSpPr>
          <p:cNvPr id="6" name="Text Box 2">
            <a:extLst>
              <a:ext uri="{FF2B5EF4-FFF2-40B4-BE49-F238E27FC236}">
                <a16:creationId xmlns:a16="http://schemas.microsoft.com/office/drawing/2014/main" id="{AC68F4D7-82AC-A170-8EBA-1A3568DAE90C}"/>
              </a:ext>
            </a:extLst>
          </p:cNvPr>
          <p:cNvSpPr txBox="1">
            <a:spLocks noChangeArrowheads="1"/>
          </p:cNvSpPr>
          <p:nvPr/>
        </p:nvSpPr>
        <p:spPr bwMode="auto">
          <a:xfrm>
            <a:off x="11812" y="3025534"/>
            <a:ext cx="3735158"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000000"/>
                </a:solidFill>
                <a:latin typeface="Calibri"/>
                <a:ea typeface="Calibri" panose="020F0502020204030204" pitchFamily="34" charset="0"/>
                <a:cs typeface="Times New Roman"/>
              </a:rPr>
              <a:t>Figure 17: FCFE</a:t>
            </a:r>
            <a:endParaRPr lang="en-US" altLang="en-US" sz="10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1200-000010000000}"/>
              </a:ext>
            </a:extLst>
          </p:cNvPr>
          <p:cNvGraphicFramePr>
            <a:graphicFrameLocks/>
          </p:cNvGraphicFramePr>
          <p:nvPr>
            <p:extLst>
              <p:ext uri="{D42A27DB-BD31-4B8C-83A1-F6EECF244321}">
                <p14:modId xmlns:p14="http://schemas.microsoft.com/office/powerpoint/2010/main" val="3759049925"/>
              </p:ext>
            </p:extLst>
          </p:nvPr>
        </p:nvGraphicFramePr>
        <p:xfrm>
          <a:off x="100033" y="877736"/>
          <a:ext cx="3858621" cy="2176576"/>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 name="Chart 6">
            <a:extLst>
              <a:ext uri="{FF2B5EF4-FFF2-40B4-BE49-F238E27FC236}">
                <a16:creationId xmlns:a16="http://schemas.microsoft.com/office/drawing/2014/main" id="{00000000-0008-0000-1200-00000C000000}"/>
              </a:ext>
            </a:extLst>
          </p:cNvPr>
          <p:cNvGraphicFramePr>
            <a:graphicFrameLocks/>
          </p:cNvGraphicFramePr>
          <p:nvPr>
            <p:extLst>
              <p:ext uri="{D42A27DB-BD31-4B8C-83A1-F6EECF244321}">
                <p14:modId xmlns:p14="http://schemas.microsoft.com/office/powerpoint/2010/main" val="1429135797"/>
              </p:ext>
            </p:extLst>
          </p:nvPr>
        </p:nvGraphicFramePr>
        <p:xfrm>
          <a:off x="4521268" y="865544"/>
          <a:ext cx="4293676" cy="2192530"/>
        </p:xfrm>
        <a:graphic>
          <a:graphicData uri="http://schemas.openxmlformats.org/drawingml/2006/chart">
            <c:chart xmlns:c="http://schemas.openxmlformats.org/drawingml/2006/chart" xmlns:r="http://schemas.openxmlformats.org/officeDocument/2006/relationships" r:id="rId8"/>
          </a:graphicData>
        </a:graphic>
      </p:graphicFrame>
      <p:pic>
        <p:nvPicPr>
          <p:cNvPr id="9" name="Picture 8" descr="Outdoor Industry Jobs">
            <a:extLst>
              <a:ext uri="{FF2B5EF4-FFF2-40B4-BE49-F238E27FC236}">
                <a16:creationId xmlns:a16="http://schemas.microsoft.com/office/drawing/2014/main" id="{46F76B16-C413-0A86-559C-56F0CD553924}"/>
              </a:ext>
            </a:extLst>
          </p:cNvPr>
          <p:cNvPicPr>
            <a:picLocks noChangeAspect="1"/>
          </p:cNvPicPr>
          <p:nvPr/>
        </p:nvPicPr>
        <p:blipFill>
          <a:blip r:embed="rId9"/>
          <a:stretch>
            <a:fillRect/>
          </a:stretch>
        </p:blipFill>
        <p:spPr>
          <a:xfrm>
            <a:off x="6737770" y="96688"/>
            <a:ext cx="2310800" cy="453606"/>
          </a:xfrm>
          <a:prstGeom prst="rect">
            <a:avLst/>
          </a:prstGeom>
        </p:spPr>
      </p:pic>
      <p:pic>
        <p:nvPicPr>
          <p:cNvPr id="3" name="Picture 2">
            <a:extLst>
              <a:ext uri="{FF2B5EF4-FFF2-40B4-BE49-F238E27FC236}">
                <a16:creationId xmlns:a16="http://schemas.microsoft.com/office/drawing/2014/main" id="{F44C27F9-56E1-9E5E-3751-F8C959D2382E}"/>
              </a:ext>
            </a:extLst>
          </p:cNvPr>
          <p:cNvPicPr>
            <a:picLocks noChangeAspect="1"/>
          </p:cNvPicPr>
          <p:nvPr/>
        </p:nvPicPr>
        <p:blipFill>
          <a:blip r:embed="rId10"/>
          <a:stretch>
            <a:fillRect/>
          </a:stretch>
        </p:blipFill>
        <p:spPr>
          <a:xfrm>
            <a:off x="85656" y="3373987"/>
            <a:ext cx="6035045" cy="2803611"/>
          </a:xfrm>
          <a:prstGeom prst="rect">
            <a:avLst/>
          </a:prstGeom>
        </p:spPr>
      </p:pic>
      <p:pic>
        <p:nvPicPr>
          <p:cNvPr id="4" name="Picture 3">
            <a:extLst>
              <a:ext uri="{FF2B5EF4-FFF2-40B4-BE49-F238E27FC236}">
                <a16:creationId xmlns:a16="http://schemas.microsoft.com/office/drawing/2014/main" id="{1D9E91E9-B109-53EB-3C40-CAF4FACC0F9E}"/>
              </a:ext>
            </a:extLst>
          </p:cNvPr>
          <p:cNvPicPr>
            <a:picLocks noChangeAspect="1"/>
          </p:cNvPicPr>
          <p:nvPr/>
        </p:nvPicPr>
        <p:blipFill>
          <a:blip r:embed="rId11"/>
          <a:stretch>
            <a:fillRect/>
          </a:stretch>
        </p:blipFill>
        <p:spPr>
          <a:xfrm>
            <a:off x="85657" y="3229334"/>
            <a:ext cx="6035045" cy="172950"/>
          </a:xfrm>
          <a:prstGeom prst="rect">
            <a:avLst/>
          </a:prstGeom>
        </p:spPr>
      </p:pic>
      <p:sp>
        <p:nvSpPr>
          <p:cNvPr id="5" name="Arrow: Right 4">
            <a:extLst>
              <a:ext uri="{FF2B5EF4-FFF2-40B4-BE49-F238E27FC236}">
                <a16:creationId xmlns:a16="http://schemas.microsoft.com/office/drawing/2014/main" id="{02E66E52-BA2F-5F96-415B-016F4C9A38DC}"/>
              </a:ext>
            </a:extLst>
          </p:cNvPr>
          <p:cNvSpPr/>
          <p:nvPr/>
        </p:nvSpPr>
        <p:spPr>
          <a:xfrm rot="10800000">
            <a:off x="6222255" y="5718476"/>
            <a:ext cx="2223663" cy="380533"/>
          </a:xfrm>
          <a:prstGeom prst="rightArrow">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5877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BB5B4-8DF2-4E62-0D1F-BF7755F34081}"/>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101BC782-6BA7-452A-AE37-802A076E5548}"/>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42175532-9429-9B98-AF20-7595FD88E65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chemeClr val="tx1"/>
                  </a:solidFill>
                  <a:latin typeface="Calibri" panose="020F0502020204030204" pitchFamily="34" charset="0"/>
                </a:rPr>
                <a:t>ROE, Leverage, and Profitability Analysis</a:t>
              </a:r>
            </a:p>
          </p:txBody>
        </p:sp>
        <p:grpSp>
          <p:nvGrpSpPr>
            <p:cNvPr id="16397" name="Group 39">
              <a:extLst>
                <a:ext uri="{FF2B5EF4-FFF2-40B4-BE49-F238E27FC236}">
                  <a16:creationId xmlns:a16="http://schemas.microsoft.com/office/drawing/2014/main" id="{90ABFD58-8859-6BF4-1400-6480F3BA1B0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2D2E6310-E665-2988-91F8-CBEB4D113ADE}"/>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6CD7F468-2A09-E3BD-277D-F3655D5354D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pic>
        <p:nvPicPr>
          <p:cNvPr id="16404" name="Graphic 16403" descr="Lights On with solid fill">
            <a:extLst>
              <a:ext uri="{FF2B5EF4-FFF2-40B4-BE49-F238E27FC236}">
                <a16:creationId xmlns:a16="http://schemas.microsoft.com/office/drawing/2014/main" id="{A2C714B2-E2E6-18F0-16E1-2FE2D4B83A4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24979" y="6263507"/>
            <a:ext cx="461513" cy="461513"/>
          </a:xfrm>
          <a:prstGeom prst="rect">
            <a:avLst/>
          </a:prstGeom>
        </p:spPr>
      </p:pic>
      <p:sp>
        <p:nvSpPr>
          <p:cNvPr id="19" name="Rectangle 18">
            <a:extLst>
              <a:ext uri="{FF2B5EF4-FFF2-40B4-BE49-F238E27FC236}">
                <a16:creationId xmlns:a16="http://schemas.microsoft.com/office/drawing/2014/main" id="{764EFFD3-222D-237F-7672-7D30F4870CAE}"/>
              </a:ext>
            </a:extLst>
          </p:cNvPr>
          <p:cNvSpPr/>
          <p:nvPr/>
        </p:nvSpPr>
        <p:spPr>
          <a:xfrm>
            <a:off x="5399278" y="1095941"/>
            <a:ext cx="3619303" cy="203011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rPr>
              <a:t>JOUT’s ROE collapsed as margins turned negative in FY24 but begins to recover into FY25-FY26 as profitability normalizes</a:t>
            </a:r>
          </a:p>
          <a:p>
            <a:endPar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Margin recovery, not additional leverage, is the primary driver of ROE improvement</a:t>
            </a:r>
          </a:p>
          <a:p>
            <a:pPr marL="171450" indent="-171450">
              <a:buFont typeface="Arial" panose="020B0604020202020204" pitchFamily="34" charset="0"/>
              <a:buChar char="•"/>
            </a:pPr>
            <a:endParaRPr lang="en-US" sz="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Leverage remains modest and mostly flat, so higher ROE mainly reflects better operating performance rather than taking on more debt</a:t>
            </a:r>
          </a:p>
          <a:p>
            <a:pPr marL="171450" indent="-171450">
              <a:buFont typeface="Arial" panose="020B0604020202020204" pitchFamily="34" charset="0"/>
              <a:buChar char="•"/>
            </a:pPr>
            <a:endParaRPr lang="en-US" sz="4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ROE is still expected to remain below pre-COVID levels given structurally lower gross and operating margins</a:t>
            </a:r>
          </a:p>
        </p:txBody>
      </p:sp>
      <p:sp>
        <p:nvSpPr>
          <p:cNvPr id="10" name="Text Box 2">
            <a:extLst>
              <a:ext uri="{FF2B5EF4-FFF2-40B4-BE49-F238E27FC236}">
                <a16:creationId xmlns:a16="http://schemas.microsoft.com/office/drawing/2014/main" id="{F0BCD3E3-BFFC-3F02-4AEB-A3458CC51F4F}"/>
              </a:ext>
            </a:extLst>
          </p:cNvPr>
          <p:cNvSpPr txBox="1">
            <a:spLocks noChangeArrowheads="1"/>
          </p:cNvSpPr>
          <p:nvPr/>
        </p:nvSpPr>
        <p:spPr bwMode="auto">
          <a:xfrm>
            <a:off x="43043" y="853511"/>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292934"/>
                </a:solidFill>
                <a:latin typeface="Calibri"/>
                <a:ea typeface="Calibri" panose="020F0502020204030204" pitchFamily="34" charset="0"/>
                <a:cs typeface="Times New Roman"/>
              </a:rPr>
              <a:t>Figure 18: 7 Stage DuPont Analysis</a:t>
            </a:r>
            <a:endParaRPr lang="en-US" altLang="en-US" sz="10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2">
            <a:extLst>
              <a:ext uri="{FF2B5EF4-FFF2-40B4-BE49-F238E27FC236}">
                <a16:creationId xmlns:a16="http://schemas.microsoft.com/office/drawing/2014/main" id="{C981DF11-CA8A-0A51-2B02-020D74652796}"/>
              </a:ext>
            </a:extLst>
          </p:cNvPr>
          <p:cNvSpPr txBox="1">
            <a:spLocks noChangeArrowheads="1"/>
          </p:cNvSpPr>
          <p:nvPr/>
        </p:nvSpPr>
        <p:spPr bwMode="auto">
          <a:xfrm>
            <a:off x="73778" y="3296518"/>
            <a:ext cx="4024162" cy="2696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292934"/>
                </a:solidFill>
                <a:latin typeface="Calibri"/>
                <a:ea typeface="Calibri"/>
                <a:cs typeface="Times New Roman"/>
              </a:rPr>
              <a:t>Figure 19:  JOUT ROE vs Comps</a:t>
            </a:r>
          </a:p>
        </p:txBody>
      </p:sp>
      <p:sp>
        <p:nvSpPr>
          <p:cNvPr id="3" name="Text Box 2">
            <a:extLst>
              <a:ext uri="{FF2B5EF4-FFF2-40B4-BE49-F238E27FC236}">
                <a16:creationId xmlns:a16="http://schemas.microsoft.com/office/drawing/2014/main" id="{11EE0F8A-7640-3FAA-C94F-CB151C798E51}"/>
              </a:ext>
            </a:extLst>
          </p:cNvPr>
          <p:cNvSpPr txBox="1">
            <a:spLocks noChangeArrowheads="1"/>
          </p:cNvSpPr>
          <p:nvPr/>
        </p:nvSpPr>
        <p:spPr bwMode="auto">
          <a:xfrm>
            <a:off x="4170132" y="3272251"/>
            <a:ext cx="2960557" cy="283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292934"/>
                </a:solidFill>
                <a:latin typeface="Calibri"/>
                <a:ea typeface="Calibri" panose="020F0502020204030204" pitchFamily="34" charset="0"/>
                <a:cs typeface="Times New Roman"/>
              </a:rPr>
              <a:t>Figure 20: </a:t>
            </a:r>
            <a:r>
              <a:rPr lang="en-US" altLang="en-US" sz="1000" dirty="0">
                <a:solidFill>
                  <a:srgbClr val="292934"/>
                </a:solidFill>
                <a:latin typeface="Calibri" panose="020F0502020204030204" pitchFamily="34" charset="0"/>
                <a:ea typeface="Calibri" panose="020F0502020204030204" pitchFamily="34" charset="0"/>
                <a:cs typeface="Calibri" panose="020F0502020204030204" pitchFamily="34" charset="0"/>
              </a:rPr>
              <a:t>Leverage and Profitability Metrics</a:t>
            </a:r>
            <a:endParaRPr lang="en-US" altLang="en-US" sz="10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Box 11">
            <a:extLst>
              <a:ext uri="{FF2B5EF4-FFF2-40B4-BE49-F238E27FC236}">
                <a16:creationId xmlns:a16="http://schemas.microsoft.com/office/drawing/2014/main" id="{6C40635D-8D72-0017-DDF0-8BE18B6DEED2}"/>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13</a:t>
            </a:fld>
            <a:endParaRPr lang="en-US" sz="1400">
              <a:latin typeface="Calibri" panose="020F0502020204030204" pitchFamily="34" charset="0"/>
              <a:cs typeface="Calibri" panose="020F0502020204030204" pitchFamily="34" charset="0"/>
            </a:endParaRPr>
          </a:p>
        </p:txBody>
      </p:sp>
      <p:sp>
        <p:nvSpPr>
          <p:cNvPr id="13" name="Text Box 2">
            <a:extLst>
              <a:ext uri="{FF2B5EF4-FFF2-40B4-BE49-F238E27FC236}">
                <a16:creationId xmlns:a16="http://schemas.microsoft.com/office/drawing/2014/main" id="{A38A09B2-8A93-C040-87ED-A4BB5941B90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 EAI</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pSp>
        <p:nvGrpSpPr>
          <p:cNvPr id="18" name="Group 17">
            <a:extLst>
              <a:ext uri="{FF2B5EF4-FFF2-40B4-BE49-F238E27FC236}">
                <a16:creationId xmlns:a16="http://schemas.microsoft.com/office/drawing/2014/main" id="{6FE170B9-7454-E7F9-8D5B-006EAB94931E}"/>
              </a:ext>
            </a:extLst>
          </p:cNvPr>
          <p:cNvGrpSpPr/>
          <p:nvPr/>
        </p:nvGrpSpPr>
        <p:grpSpPr>
          <a:xfrm>
            <a:off x="0" y="6265664"/>
            <a:ext cx="9144000" cy="457200"/>
            <a:chOff x="0" y="2732884"/>
            <a:chExt cx="9144000" cy="457200"/>
          </a:xfrm>
        </p:grpSpPr>
        <p:sp>
          <p:nvSpPr>
            <p:cNvPr id="20" name="Rectangle 19">
              <a:extLst>
                <a:ext uri="{FF2B5EF4-FFF2-40B4-BE49-F238E27FC236}">
                  <a16:creationId xmlns:a16="http://schemas.microsoft.com/office/drawing/2014/main" id="{63FF9765-ECDC-2C5C-C8AE-8830BF837063}"/>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4E5E157C-F2A1-0AF8-E97B-EBDFC144690B}"/>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21" name="Group 20">
              <a:extLst>
                <a:ext uri="{FF2B5EF4-FFF2-40B4-BE49-F238E27FC236}">
                  <a16:creationId xmlns:a16="http://schemas.microsoft.com/office/drawing/2014/main" id="{812ED905-2720-3988-9FF3-33B456507EFC}"/>
                </a:ext>
              </a:extLst>
            </p:cNvPr>
            <p:cNvGrpSpPr/>
            <p:nvPr/>
          </p:nvGrpSpPr>
          <p:grpSpPr>
            <a:xfrm>
              <a:off x="5021579" y="2732884"/>
              <a:ext cx="545306" cy="457200"/>
              <a:chOff x="4981575" y="2712036"/>
              <a:chExt cx="545306" cy="457200"/>
            </a:xfrm>
          </p:grpSpPr>
          <p:sp>
            <p:nvSpPr>
              <p:cNvPr id="37" name="Oval 36">
                <a:extLst>
                  <a:ext uri="{FF2B5EF4-FFF2-40B4-BE49-F238E27FC236}">
                    <a16:creationId xmlns:a16="http://schemas.microsoft.com/office/drawing/2014/main" id="{2EC243AF-AB30-65D7-2C3D-595D9039D9CE}"/>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38" name="Picture 37" descr="Related image">
                <a:extLst>
                  <a:ext uri="{FF2B5EF4-FFF2-40B4-BE49-F238E27FC236}">
                    <a16:creationId xmlns:a16="http://schemas.microsoft.com/office/drawing/2014/main" id="{5764BBA7-DBDE-8B2E-0EAA-E5FD07DDEC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2" name="Group 21">
              <a:extLst>
                <a:ext uri="{FF2B5EF4-FFF2-40B4-BE49-F238E27FC236}">
                  <a16:creationId xmlns:a16="http://schemas.microsoft.com/office/drawing/2014/main" id="{B27F85D8-E07E-DE8E-EEFF-9351C7C90156}"/>
                </a:ext>
              </a:extLst>
            </p:cNvPr>
            <p:cNvGrpSpPr/>
            <p:nvPr/>
          </p:nvGrpSpPr>
          <p:grpSpPr>
            <a:xfrm>
              <a:off x="7910513" y="2732884"/>
              <a:ext cx="545306" cy="457200"/>
              <a:chOff x="7731919" y="2712036"/>
              <a:chExt cx="545306" cy="457200"/>
            </a:xfrm>
          </p:grpSpPr>
          <p:sp>
            <p:nvSpPr>
              <p:cNvPr id="35" name="Oval 34">
                <a:extLst>
                  <a:ext uri="{FF2B5EF4-FFF2-40B4-BE49-F238E27FC236}">
                    <a16:creationId xmlns:a16="http://schemas.microsoft.com/office/drawing/2014/main" id="{911BB70E-4530-120D-42FE-EDC099624D33}"/>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36" name="Picture 35" descr="Related image">
                <a:extLst>
                  <a:ext uri="{FF2B5EF4-FFF2-40B4-BE49-F238E27FC236}">
                    <a16:creationId xmlns:a16="http://schemas.microsoft.com/office/drawing/2014/main" id="{A32B88A0-7C03-A158-E072-4ED0A71EB6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24" name="Group 23">
              <a:extLst>
                <a:ext uri="{FF2B5EF4-FFF2-40B4-BE49-F238E27FC236}">
                  <a16:creationId xmlns:a16="http://schemas.microsoft.com/office/drawing/2014/main" id="{C3B133F7-8149-B20E-B358-794BE45D0BF2}"/>
                </a:ext>
              </a:extLst>
            </p:cNvPr>
            <p:cNvGrpSpPr/>
            <p:nvPr/>
          </p:nvGrpSpPr>
          <p:grpSpPr>
            <a:xfrm>
              <a:off x="6466045" y="2732884"/>
              <a:ext cx="545306" cy="457200"/>
              <a:chOff x="6353175" y="2712036"/>
              <a:chExt cx="545306" cy="457200"/>
            </a:xfrm>
          </p:grpSpPr>
          <p:sp>
            <p:nvSpPr>
              <p:cNvPr id="33" name="Oval 32">
                <a:extLst>
                  <a:ext uri="{FF2B5EF4-FFF2-40B4-BE49-F238E27FC236}">
                    <a16:creationId xmlns:a16="http://schemas.microsoft.com/office/drawing/2014/main" id="{2018B679-C9FE-F870-CD48-1E9B4CDB9D02}"/>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34" name="Graphic 14379" descr="Dollar with solid fill">
                <a:extLst>
                  <a:ext uri="{FF2B5EF4-FFF2-40B4-BE49-F238E27FC236}">
                    <a16:creationId xmlns:a16="http://schemas.microsoft.com/office/drawing/2014/main" id="{34877A1A-FA59-99F6-FD3D-AC75DF9F40BB}"/>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25" name="Group 24">
              <a:extLst>
                <a:ext uri="{FF2B5EF4-FFF2-40B4-BE49-F238E27FC236}">
                  <a16:creationId xmlns:a16="http://schemas.microsoft.com/office/drawing/2014/main" id="{A5F50531-A0FF-AB94-1990-A258B0CA104E}"/>
                </a:ext>
              </a:extLst>
            </p:cNvPr>
            <p:cNvGrpSpPr/>
            <p:nvPr/>
          </p:nvGrpSpPr>
          <p:grpSpPr>
            <a:xfrm>
              <a:off x="3577113" y="2732884"/>
              <a:ext cx="545306" cy="457200"/>
              <a:chOff x="3609974" y="2715607"/>
              <a:chExt cx="545306" cy="457200"/>
            </a:xfrm>
          </p:grpSpPr>
          <p:sp>
            <p:nvSpPr>
              <p:cNvPr id="29" name="Oval 28">
                <a:extLst>
                  <a:ext uri="{FF2B5EF4-FFF2-40B4-BE49-F238E27FC236}">
                    <a16:creationId xmlns:a16="http://schemas.microsoft.com/office/drawing/2014/main" id="{1C7EF9A1-2E12-6069-35A0-3607303F985A}"/>
                  </a:ext>
                </a:extLst>
              </p:cNvPr>
              <p:cNvSpPr/>
              <p:nvPr/>
            </p:nvSpPr>
            <p:spPr bwMode="auto">
              <a:xfrm>
                <a:off x="3609974" y="2715607"/>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30" name="Group 29">
                <a:extLst>
                  <a:ext uri="{FF2B5EF4-FFF2-40B4-BE49-F238E27FC236}">
                    <a16:creationId xmlns:a16="http://schemas.microsoft.com/office/drawing/2014/main" id="{5ABE0650-DBA5-AB5F-DF51-22AA19E23895}"/>
                  </a:ext>
                </a:extLst>
              </p:cNvPr>
              <p:cNvGrpSpPr/>
              <p:nvPr/>
            </p:nvGrpSpPr>
            <p:grpSpPr>
              <a:xfrm>
                <a:off x="3769049" y="2811218"/>
                <a:ext cx="227157" cy="265979"/>
                <a:chOff x="3771206" y="2761936"/>
                <a:chExt cx="227157" cy="265979"/>
              </a:xfrm>
            </p:grpSpPr>
            <p:sp>
              <p:nvSpPr>
                <p:cNvPr id="31" name="Freeform: Shape 30">
                  <a:extLst>
                    <a:ext uri="{FF2B5EF4-FFF2-40B4-BE49-F238E27FC236}">
                      <a16:creationId xmlns:a16="http://schemas.microsoft.com/office/drawing/2014/main" id="{D3F06338-0014-0996-4A0E-00958EC4AE9F}"/>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32" name="Freeform: Shape 31">
                  <a:extLst>
                    <a:ext uri="{FF2B5EF4-FFF2-40B4-BE49-F238E27FC236}">
                      <a16:creationId xmlns:a16="http://schemas.microsoft.com/office/drawing/2014/main" id="{E6EC078C-727C-6C64-DC38-C11666C5E603}"/>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26" name="Group 25">
              <a:extLst>
                <a:ext uri="{FF2B5EF4-FFF2-40B4-BE49-F238E27FC236}">
                  <a16:creationId xmlns:a16="http://schemas.microsoft.com/office/drawing/2014/main" id="{6B3EB8B2-3B29-DB57-3787-19A4F227D52B}"/>
                </a:ext>
              </a:extLst>
            </p:cNvPr>
            <p:cNvGrpSpPr/>
            <p:nvPr/>
          </p:nvGrpSpPr>
          <p:grpSpPr>
            <a:xfrm>
              <a:off x="2132647" y="2732884"/>
              <a:ext cx="545306" cy="457200"/>
              <a:chOff x="2238375" y="2712635"/>
              <a:chExt cx="545306" cy="457200"/>
            </a:xfrm>
          </p:grpSpPr>
          <p:sp>
            <p:nvSpPr>
              <p:cNvPr id="27" name="Oval 26">
                <a:extLst>
                  <a:ext uri="{FF2B5EF4-FFF2-40B4-BE49-F238E27FC236}">
                    <a16:creationId xmlns:a16="http://schemas.microsoft.com/office/drawing/2014/main" id="{0A936640-3C98-BAD3-6389-8F15C7CC89BD}"/>
                  </a:ext>
                </a:extLst>
              </p:cNvPr>
              <p:cNvSpPr/>
              <p:nvPr/>
            </p:nvSpPr>
            <p:spPr bwMode="auto">
              <a:xfrm>
                <a:off x="2238375" y="2712635"/>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28" name="Graphic 14377" descr="Board Of Directors with solid fill">
                <a:extLst>
                  <a:ext uri="{FF2B5EF4-FFF2-40B4-BE49-F238E27FC236}">
                    <a16:creationId xmlns:a16="http://schemas.microsoft.com/office/drawing/2014/main" id="{81C8AD49-516E-093D-5CB5-81E012367ED7}"/>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40" name="Graphic 39" descr="Lights On with solid fill">
            <a:extLst>
              <a:ext uri="{FF2B5EF4-FFF2-40B4-BE49-F238E27FC236}">
                <a16:creationId xmlns:a16="http://schemas.microsoft.com/office/drawing/2014/main" id="{0ADCA4DB-6D4E-C124-F147-23F8E1D2B1C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14140" y="6266931"/>
            <a:ext cx="461513" cy="461513"/>
          </a:xfrm>
          <a:prstGeom prst="rect">
            <a:avLst/>
          </a:prstGeom>
        </p:spPr>
      </p:pic>
      <p:graphicFrame>
        <p:nvGraphicFramePr>
          <p:cNvPr id="47" name="Table 46">
            <a:extLst>
              <a:ext uri="{FF2B5EF4-FFF2-40B4-BE49-F238E27FC236}">
                <a16:creationId xmlns:a16="http://schemas.microsoft.com/office/drawing/2014/main" id="{77F35B49-2CA0-D89B-F541-4E9AA458F1E4}"/>
              </a:ext>
            </a:extLst>
          </p:cNvPr>
          <p:cNvGraphicFramePr>
            <a:graphicFrameLocks noGrp="1"/>
          </p:cNvGraphicFramePr>
          <p:nvPr>
            <p:custDataLst>
              <p:tags r:id="rId1"/>
            </p:custDataLst>
            <p:extLst>
              <p:ext uri="{D42A27DB-BD31-4B8C-83A1-F6EECF244321}">
                <p14:modId xmlns:p14="http://schemas.microsoft.com/office/powerpoint/2010/main" val="2039708644"/>
              </p:ext>
            </p:extLst>
          </p:nvPr>
        </p:nvGraphicFramePr>
        <p:xfrm>
          <a:off x="125419" y="1085493"/>
          <a:ext cx="5040701" cy="2040560"/>
        </p:xfrm>
        <a:graphic>
          <a:graphicData uri="http://schemas.openxmlformats.org/drawingml/2006/table">
            <a:tbl>
              <a:tblPr/>
              <a:tblGrid>
                <a:gridCol w="1667443">
                  <a:extLst>
                    <a:ext uri="{9D8B030D-6E8A-4147-A177-3AD203B41FA5}">
                      <a16:colId xmlns:a16="http://schemas.microsoft.com/office/drawing/2014/main" val="160615856"/>
                    </a:ext>
                  </a:extLst>
                </a:gridCol>
                <a:gridCol w="669954">
                  <a:extLst>
                    <a:ext uri="{9D8B030D-6E8A-4147-A177-3AD203B41FA5}">
                      <a16:colId xmlns:a16="http://schemas.microsoft.com/office/drawing/2014/main" val="1359435461"/>
                    </a:ext>
                  </a:extLst>
                </a:gridCol>
                <a:gridCol w="669954">
                  <a:extLst>
                    <a:ext uri="{9D8B030D-6E8A-4147-A177-3AD203B41FA5}">
                      <a16:colId xmlns:a16="http://schemas.microsoft.com/office/drawing/2014/main" val="97246235"/>
                    </a:ext>
                  </a:extLst>
                </a:gridCol>
                <a:gridCol w="669954">
                  <a:extLst>
                    <a:ext uri="{9D8B030D-6E8A-4147-A177-3AD203B41FA5}">
                      <a16:colId xmlns:a16="http://schemas.microsoft.com/office/drawing/2014/main" val="1041184948"/>
                    </a:ext>
                  </a:extLst>
                </a:gridCol>
                <a:gridCol w="669954">
                  <a:extLst>
                    <a:ext uri="{9D8B030D-6E8A-4147-A177-3AD203B41FA5}">
                      <a16:colId xmlns:a16="http://schemas.microsoft.com/office/drawing/2014/main" val="3863318451"/>
                    </a:ext>
                  </a:extLst>
                </a:gridCol>
                <a:gridCol w="693442">
                  <a:extLst>
                    <a:ext uri="{9D8B030D-6E8A-4147-A177-3AD203B41FA5}">
                      <a16:colId xmlns:a16="http://schemas.microsoft.com/office/drawing/2014/main" val="463209000"/>
                    </a:ext>
                  </a:extLst>
                </a:gridCol>
              </a:tblGrid>
              <a:tr h="255070">
                <a:tc>
                  <a:txBody>
                    <a:bodyPr/>
                    <a:lstStyle/>
                    <a:p>
                      <a:pPr marL="0" algn="l" defTabSz="685783" rtl="0" eaLnBrk="1" fontAlgn="base" latinLnBrk="0"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7 Stage DuPont Analysis</a:t>
                      </a:r>
                    </a:p>
                  </a:txBody>
                  <a:tcPr marL="0" marR="0" marT="0" marB="0" anchor="b">
                    <a:lnL>
                      <a:noFill/>
                    </a:lnL>
                    <a:lnR>
                      <a:noFill/>
                    </a:lnR>
                    <a:lnT>
                      <a:noFill/>
                    </a:lnT>
                    <a:lnB>
                      <a:noFill/>
                    </a:lnB>
                    <a:solidFill>
                      <a:srgbClr val="F2C755"/>
                    </a:solidFill>
                  </a:tcPr>
                </a:tc>
                <a:tc>
                  <a:txBody>
                    <a:bodyPr/>
                    <a:lstStyle/>
                    <a:p>
                      <a:pPr algn="r" rtl="0" eaLnBrk="1" fontAlgn="base"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2022</a:t>
                      </a:r>
                    </a:p>
                  </a:txBody>
                  <a:tcPr marL="0" marR="0" marT="0" marB="0" anchor="b">
                    <a:lnL>
                      <a:noFill/>
                    </a:lnL>
                    <a:lnR>
                      <a:noFill/>
                    </a:lnR>
                    <a:lnT>
                      <a:noFill/>
                    </a:lnT>
                    <a:lnB>
                      <a:noFill/>
                    </a:lnB>
                    <a:solidFill>
                      <a:srgbClr val="F2C755"/>
                    </a:solidFill>
                  </a:tcPr>
                </a:tc>
                <a:tc>
                  <a:txBody>
                    <a:bodyPr/>
                    <a:lstStyle/>
                    <a:p>
                      <a:pPr algn="r" rtl="0" eaLnBrk="1" fontAlgn="base"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2023</a:t>
                      </a:r>
                    </a:p>
                  </a:txBody>
                  <a:tcPr marL="0" marR="0" marT="0" marB="0" anchor="b">
                    <a:lnL>
                      <a:noFill/>
                    </a:lnL>
                    <a:lnR>
                      <a:noFill/>
                    </a:lnR>
                    <a:lnT>
                      <a:noFill/>
                    </a:lnT>
                    <a:lnB>
                      <a:noFill/>
                    </a:lnB>
                    <a:solidFill>
                      <a:srgbClr val="F2C755"/>
                    </a:solidFill>
                  </a:tcPr>
                </a:tc>
                <a:tc>
                  <a:txBody>
                    <a:bodyPr/>
                    <a:lstStyle/>
                    <a:p>
                      <a:pPr algn="r" rtl="0" eaLnBrk="1" fontAlgn="base"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2024</a:t>
                      </a:r>
                    </a:p>
                  </a:txBody>
                  <a:tcPr marL="0" marR="0" marT="0" marB="0" anchor="b">
                    <a:lnL>
                      <a:noFill/>
                    </a:lnL>
                    <a:lnR>
                      <a:noFill/>
                    </a:lnR>
                    <a:lnT>
                      <a:noFill/>
                    </a:lnT>
                    <a:lnB>
                      <a:noFill/>
                    </a:lnB>
                    <a:solidFill>
                      <a:srgbClr val="F2C755"/>
                    </a:solidFill>
                  </a:tcPr>
                </a:tc>
                <a:tc>
                  <a:txBody>
                    <a:bodyPr/>
                    <a:lstStyle/>
                    <a:p>
                      <a:pPr algn="r" rtl="0" eaLnBrk="1" fontAlgn="base"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2025E</a:t>
                      </a:r>
                    </a:p>
                  </a:txBody>
                  <a:tcPr marL="0" marR="0" marT="0" marB="0" anchor="b">
                    <a:lnL>
                      <a:noFill/>
                    </a:lnL>
                    <a:lnR>
                      <a:noFill/>
                    </a:lnR>
                    <a:lnT>
                      <a:noFill/>
                    </a:lnT>
                    <a:lnB>
                      <a:noFill/>
                    </a:lnB>
                    <a:solidFill>
                      <a:srgbClr val="F2C755"/>
                    </a:solidFill>
                  </a:tcPr>
                </a:tc>
                <a:tc>
                  <a:txBody>
                    <a:bodyPr/>
                    <a:lstStyle/>
                    <a:p>
                      <a:pPr algn="r" rtl="0" eaLnBrk="1" fontAlgn="base"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2026E</a:t>
                      </a:r>
                    </a:p>
                  </a:txBody>
                  <a:tcPr marL="0" marR="0" marT="0" marB="0" anchor="b">
                    <a:lnL>
                      <a:noFill/>
                    </a:lnL>
                    <a:lnR>
                      <a:noFill/>
                    </a:lnR>
                    <a:lnT>
                      <a:noFill/>
                    </a:lnT>
                    <a:lnB>
                      <a:noFill/>
                    </a:lnB>
                    <a:solidFill>
                      <a:srgbClr val="F2C755"/>
                    </a:solidFill>
                  </a:tcPr>
                </a:tc>
                <a:extLst>
                  <a:ext uri="{0D108BD9-81ED-4DB2-BD59-A6C34878D82A}">
                    <a16:rowId xmlns:a16="http://schemas.microsoft.com/office/drawing/2014/main" val="2109403565"/>
                  </a:ext>
                </a:extLst>
              </a:tr>
              <a:tr h="255070">
                <a:tc>
                  <a:txBody>
                    <a:bodyPr/>
                    <a:lstStyle/>
                    <a:p>
                      <a:pPr marL="0" algn="l" defTabSz="685783" rtl="0" eaLnBrk="1" fontAlgn="base" latinLnBrk="0"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    EBIT / sales</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8.9%</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1.8%</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-7.4%</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6.0%</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5.0%</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473791535"/>
                  </a:ext>
                </a:extLst>
              </a:tr>
              <a:tr h="255070">
                <a:tc>
                  <a:txBody>
                    <a:bodyPr/>
                    <a:lstStyle/>
                    <a:p>
                      <a:pPr marL="0" algn="l" defTabSz="685783" rtl="0" eaLnBrk="1" fontAlgn="base" latinLnBrk="0"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    Sales / avg assets</a:t>
                      </a:r>
                    </a:p>
                  </a:txBody>
                  <a:tcPr marL="0" marR="0" marT="0" marB="0" anchor="b">
                    <a:lnL>
                      <a:noFill/>
                    </a:lnL>
                    <a:lnR>
                      <a:noFill/>
                    </a:lnR>
                    <a:lnT>
                      <a:noFill/>
                    </a:lnT>
                    <a:lnB>
                      <a:noFill/>
                    </a:lnB>
                    <a:solidFill>
                      <a:schemeClr val="accent1">
                        <a:lumMod val="85000"/>
                      </a:schemeClr>
                    </a:solidFill>
                  </a:tcPr>
                </a:tc>
                <a:tc>
                  <a:txBody>
                    <a:bodyPr/>
                    <a:lstStyle/>
                    <a:p>
                      <a:pPr algn="r" fontAlgn="b">
                        <a:buNone/>
                      </a:pPr>
                      <a:r>
                        <a:rPr lang="en-US" sz="1000" b="0" i="0" u="none" strike="noStrike" dirty="0">
                          <a:solidFill>
                            <a:srgbClr val="141414"/>
                          </a:solidFill>
                          <a:effectLst/>
                          <a:latin typeface="Calibri" panose="020F0502020204030204" pitchFamily="34" charset="0"/>
                        </a:rPr>
                        <a:t>         1.31 </a:t>
                      </a:r>
                    </a:p>
                  </a:txBody>
                  <a:tcPr marL="0" marR="0" marT="0" marB="0" anchor="b">
                    <a:lnL>
                      <a:noFill/>
                    </a:lnL>
                    <a:lnR>
                      <a:noFill/>
                    </a:lnR>
                    <a:lnT>
                      <a:noFill/>
                    </a:lnT>
                    <a:lnB>
                      <a:noFill/>
                    </a:lnB>
                    <a:solidFill>
                      <a:schemeClr val="accent1">
                        <a:lumMod val="85000"/>
                      </a:schemeClr>
                    </a:solidFill>
                  </a:tcPr>
                </a:tc>
                <a:tc>
                  <a:txBody>
                    <a:bodyPr/>
                    <a:lstStyle/>
                    <a:p>
                      <a:pPr algn="r" fontAlgn="b">
                        <a:buNone/>
                      </a:pPr>
                      <a:r>
                        <a:rPr lang="en-US" sz="1000" b="0" i="0" u="none" strike="noStrike" dirty="0">
                          <a:solidFill>
                            <a:srgbClr val="141414"/>
                          </a:solidFill>
                          <a:effectLst/>
                          <a:latin typeface="Calibri" panose="020F0502020204030204" pitchFamily="34" charset="0"/>
                        </a:rPr>
                        <a:t>         1.21 </a:t>
                      </a:r>
                    </a:p>
                  </a:txBody>
                  <a:tcPr marL="0" marR="0" marT="0" marB="0" anchor="b">
                    <a:lnL>
                      <a:noFill/>
                    </a:lnL>
                    <a:lnR>
                      <a:noFill/>
                    </a:lnR>
                    <a:lnT>
                      <a:noFill/>
                    </a:lnT>
                    <a:lnB>
                      <a:noFill/>
                    </a:lnB>
                    <a:solidFill>
                      <a:schemeClr val="accent1">
                        <a:lumMod val="85000"/>
                      </a:schemeClr>
                    </a:solidFill>
                  </a:tcPr>
                </a:tc>
                <a:tc>
                  <a:txBody>
                    <a:bodyPr/>
                    <a:lstStyle/>
                    <a:p>
                      <a:pPr algn="r" fontAlgn="b">
                        <a:buNone/>
                      </a:pPr>
                      <a:r>
                        <a:rPr lang="en-US" sz="1000" b="0" i="0" u="none" strike="noStrike" dirty="0">
                          <a:solidFill>
                            <a:srgbClr val="141414"/>
                          </a:solidFill>
                          <a:effectLst/>
                          <a:latin typeface="Calibri" panose="020F0502020204030204" pitchFamily="34" charset="0"/>
                        </a:rPr>
                        <a:t>         1.15 </a:t>
                      </a:r>
                    </a:p>
                  </a:txBody>
                  <a:tcPr marL="0" marR="0" marT="0" marB="0" anchor="b">
                    <a:lnL>
                      <a:noFill/>
                    </a:lnL>
                    <a:lnR>
                      <a:noFill/>
                    </a:lnR>
                    <a:lnT>
                      <a:noFill/>
                    </a:lnT>
                    <a:lnB>
                      <a:noFill/>
                    </a:lnB>
                    <a:solidFill>
                      <a:schemeClr val="accent1">
                        <a:lumMod val="85000"/>
                      </a:schemeClr>
                    </a:solidFill>
                  </a:tcPr>
                </a:tc>
                <a:tc>
                  <a:txBody>
                    <a:bodyPr/>
                    <a:lstStyle/>
                    <a:p>
                      <a:pPr algn="r" fontAlgn="b">
                        <a:buNone/>
                      </a:pPr>
                      <a:r>
                        <a:rPr lang="en-US" sz="1000" b="0" i="0" u="none" strike="noStrike" dirty="0">
                          <a:solidFill>
                            <a:srgbClr val="141414"/>
                          </a:solidFill>
                          <a:effectLst/>
                          <a:latin typeface="Calibri" panose="020F0502020204030204" pitchFamily="34" charset="0"/>
                        </a:rPr>
                        <a:t>          1.17 </a:t>
                      </a:r>
                    </a:p>
                  </a:txBody>
                  <a:tcPr marL="0" marR="0" marT="0" marB="0" anchor="b">
                    <a:lnL>
                      <a:noFill/>
                    </a:lnL>
                    <a:lnR>
                      <a:noFill/>
                    </a:lnR>
                    <a:lnT>
                      <a:noFill/>
                    </a:lnT>
                    <a:lnB>
                      <a:noFill/>
                    </a:lnB>
                    <a:solidFill>
                      <a:schemeClr val="accent1">
                        <a:lumMod val="85000"/>
                      </a:schemeClr>
                    </a:solidFill>
                  </a:tcPr>
                </a:tc>
                <a:tc>
                  <a:txBody>
                    <a:bodyPr/>
                    <a:lstStyle/>
                    <a:p>
                      <a:pPr algn="r" fontAlgn="b">
                        <a:buNone/>
                      </a:pPr>
                      <a:r>
                        <a:rPr lang="en-US" sz="1000" b="0" i="0" u="none" strike="noStrike" dirty="0">
                          <a:solidFill>
                            <a:srgbClr val="141414"/>
                          </a:solidFill>
                          <a:effectLst/>
                          <a:latin typeface="Calibri" panose="020F0502020204030204" pitchFamily="34" charset="0"/>
                        </a:rPr>
                        <a:t>          1.15 </a:t>
                      </a:r>
                    </a:p>
                  </a:txBody>
                  <a:tcPr marL="0" marR="0" marT="0" marB="0" anchor="b">
                    <a:lnL>
                      <a:noFill/>
                    </a:lnL>
                    <a:lnR>
                      <a:noFill/>
                    </a:lnR>
                    <a:lnT>
                      <a:noFill/>
                    </a:lnT>
                    <a:lnB>
                      <a:noFill/>
                    </a:lnB>
                    <a:solidFill>
                      <a:schemeClr val="accent1">
                        <a:lumMod val="85000"/>
                      </a:schemeClr>
                    </a:solidFill>
                  </a:tcPr>
                </a:tc>
                <a:extLst>
                  <a:ext uri="{0D108BD9-81ED-4DB2-BD59-A6C34878D82A}">
                    <a16:rowId xmlns:a16="http://schemas.microsoft.com/office/drawing/2014/main" val="2735965910"/>
                  </a:ext>
                </a:extLst>
              </a:tr>
              <a:tr h="255070">
                <a:tc>
                  <a:txBody>
                    <a:bodyPr/>
                    <a:lstStyle/>
                    <a:p>
                      <a:pPr marL="0" algn="l" defTabSz="685783" rtl="0" eaLnBrk="1" fontAlgn="base" latinLnBrk="0"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    EBT / EBIT</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110.6%</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25.0%</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131.8%</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95.7%</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94.9%</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74314517"/>
                  </a:ext>
                </a:extLst>
              </a:tr>
              <a:tr h="255070">
                <a:tc>
                  <a:txBody>
                    <a:bodyPr/>
                    <a:lstStyle/>
                    <a:p>
                      <a:pPr marL="0" algn="l" defTabSz="685783" rtl="0" eaLnBrk="1" fontAlgn="base" latinLnBrk="0"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    Net income /EBT</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60.3%</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651.0%</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45.7%</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68.9%</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67.2%</a:t>
                      </a:r>
                    </a:p>
                  </a:txBody>
                  <a:tcPr marL="0" marR="0" marT="0" marB="0" anchor="b">
                    <a:lnL>
                      <a:noFill/>
                    </a:lnL>
                    <a:lnR>
                      <a:noFill/>
                    </a:lnR>
                    <a:lnT>
                      <a:noFill/>
                    </a:lnT>
                    <a:lnB>
                      <a:noFill/>
                    </a:lnB>
                    <a:solidFill>
                      <a:schemeClr val="accent1">
                        <a:lumMod val="85000"/>
                      </a:schemeClr>
                    </a:solidFill>
                  </a:tcPr>
                </a:tc>
                <a:extLst>
                  <a:ext uri="{0D108BD9-81ED-4DB2-BD59-A6C34878D82A}">
                    <a16:rowId xmlns:a16="http://schemas.microsoft.com/office/drawing/2014/main" val="2543314443"/>
                  </a:ext>
                </a:extLst>
              </a:tr>
              <a:tr h="255070">
                <a:tc>
                  <a:txBody>
                    <a:bodyPr/>
                    <a:lstStyle/>
                    <a:p>
                      <a:pPr marL="0" algn="l" defTabSz="685783" rtl="0" eaLnBrk="1" fontAlgn="base" latinLnBrk="0"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    ROA</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7.8%</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3.6%</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-5.1%</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4.6%</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3.7%</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2559492970"/>
                  </a:ext>
                </a:extLst>
              </a:tr>
              <a:tr h="255070">
                <a:tc>
                  <a:txBody>
                    <a:bodyPr/>
                    <a:lstStyle/>
                    <a:p>
                      <a:pPr marL="0" algn="l" defTabSz="685783" rtl="0" eaLnBrk="1" fontAlgn="base" latinLnBrk="0"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    Avg assets / avg equity</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         1.75 </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         1.73 </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         1.75 </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          1.76 </a:t>
                      </a:r>
                    </a:p>
                  </a:txBody>
                  <a:tcPr marL="0" marR="0" marT="0" marB="0" anchor="b">
                    <a:lnL>
                      <a:noFill/>
                    </a:lnL>
                    <a:lnR>
                      <a:noFill/>
                    </a:lnR>
                    <a:lnT>
                      <a:noFill/>
                    </a:lnT>
                    <a:lnB>
                      <a:noFill/>
                    </a:lnB>
                    <a:solidFill>
                      <a:schemeClr val="accent1">
                        <a:lumMod val="85000"/>
                      </a:schemeClr>
                    </a:solidFill>
                  </a:tcPr>
                </a:tc>
                <a:tc>
                  <a:txBody>
                    <a:bodyPr/>
                    <a:lstStyle/>
                    <a:p>
                      <a:pPr marL="0" algn="r" defTabSz="685783" rtl="0" eaLnBrk="1" fontAlgn="base" latinLnBrk="0" hangingPunct="1">
                        <a:lnSpc>
                          <a:spcPct val="115000"/>
                        </a:lnSpc>
                        <a:spcBef>
                          <a:spcPct val="0"/>
                        </a:spcBef>
                        <a:spcAft>
                          <a:spcPts val="751"/>
                        </a:spcAft>
                        <a:buNone/>
                      </a:pPr>
                      <a:r>
                        <a:rPr lang="en-US" sz="1000" kern="1200" dirty="0">
                          <a:solidFill>
                            <a:srgbClr val="292934"/>
                          </a:solidFill>
                          <a:latin typeface="Calibri"/>
                          <a:ea typeface="Calibri" panose="020F0502020204030204" pitchFamily="34" charset="0"/>
                          <a:cs typeface="Times New Roman"/>
                        </a:rPr>
                        <a:t>          1.76 </a:t>
                      </a:r>
                    </a:p>
                  </a:txBody>
                  <a:tcPr marL="0" marR="0" marT="0" marB="0" anchor="b">
                    <a:lnL>
                      <a:noFill/>
                    </a:lnL>
                    <a:lnR>
                      <a:noFill/>
                    </a:lnR>
                    <a:lnT>
                      <a:noFill/>
                    </a:lnT>
                    <a:lnB>
                      <a:noFill/>
                    </a:lnB>
                    <a:solidFill>
                      <a:schemeClr val="accent1">
                        <a:lumMod val="85000"/>
                      </a:schemeClr>
                    </a:solidFill>
                  </a:tcPr>
                </a:tc>
                <a:extLst>
                  <a:ext uri="{0D108BD9-81ED-4DB2-BD59-A6C34878D82A}">
                    <a16:rowId xmlns:a16="http://schemas.microsoft.com/office/drawing/2014/main" val="4031817497"/>
                  </a:ext>
                </a:extLst>
              </a:tr>
              <a:tr h="255070">
                <a:tc>
                  <a:txBody>
                    <a:bodyPr/>
                    <a:lstStyle/>
                    <a:p>
                      <a:pPr marL="0" algn="l" defTabSz="685783" rtl="0" eaLnBrk="1" fontAlgn="base" latinLnBrk="0" hangingPunct="1">
                        <a:lnSpc>
                          <a:spcPct val="115000"/>
                        </a:lnSpc>
                        <a:spcBef>
                          <a:spcPct val="0"/>
                        </a:spcBef>
                        <a:spcAft>
                          <a:spcPts val="751"/>
                        </a:spcAft>
                      </a:pPr>
                      <a:r>
                        <a:rPr lang="en-US" sz="1000" b="1" kern="1200" dirty="0">
                          <a:solidFill>
                            <a:srgbClr val="292934"/>
                          </a:solidFill>
                          <a:latin typeface="Calibri"/>
                          <a:ea typeface="Calibri" panose="020F0502020204030204" pitchFamily="34" charset="0"/>
                          <a:cs typeface="Times New Roman"/>
                        </a:rPr>
                        <a:t>    ROE</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13.6%</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6.2%</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-9.0%</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a:solidFill>
                            <a:srgbClr val="141414"/>
                          </a:solidFill>
                          <a:effectLst/>
                          <a:latin typeface="Calibri" panose="020F0502020204030204" pitchFamily="34" charset="0"/>
                        </a:rPr>
                        <a:t>8.1%</a:t>
                      </a:r>
                    </a:p>
                  </a:txBody>
                  <a:tcPr marL="0" marR="0" marT="0" marB="0" anchor="b">
                    <a:lnL>
                      <a:noFill/>
                    </a:lnL>
                    <a:lnR>
                      <a:noFill/>
                    </a:lnR>
                    <a:lnT>
                      <a:noFill/>
                    </a:lnT>
                    <a:lnB>
                      <a:noFill/>
                    </a:lnB>
                    <a:solidFill>
                      <a:srgbClr val="FFFFFF"/>
                    </a:solidFill>
                  </a:tcPr>
                </a:tc>
                <a:tc>
                  <a:txBody>
                    <a:bodyPr/>
                    <a:lstStyle/>
                    <a:p>
                      <a:pPr algn="r" fontAlgn="b">
                        <a:buNone/>
                      </a:pPr>
                      <a:r>
                        <a:rPr lang="en-US" sz="1000" b="0" i="0" u="none" strike="noStrike" dirty="0">
                          <a:solidFill>
                            <a:srgbClr val="141414"/>
                          </a:solidFill>
                          <a:effectLst/>
                          <a:latin typeface="Calibri" panose="020F0502020204030204" pitchFamily="34" charset="0"/>
                        </a:rPr>
                        <a:t>6.5%</a:t>
                      </a:r>
                    </a:p>
                  </a:txBody>
                  <a:tcPr marL="0" marR="0" marT="0" marB="0" anchor="b">
                    <a:lnL>
                      <a:noFill/>
                    </a:lnL>
                    <a:lnR>
                      <a:noFill/>
                    </a:lnR>
                    <a:lnT>
                      <a:noFill/>
                    </a:lnT>
                    <a:lnB>
                      <a:noFill/>
                    </a:lnB>
                    <a:solidFill>
                      <a:srgbClr val="FFFFFF"/>
                    </a:solidFill>
                  </a:tcPr>
                </a:tc>
                <a:extLst>
                  <a:ext uri="{0D108BD9-81ED-4DB2-BD59-A6C34878D82A}">
                    <a16:rowId xmlns:a16="http://schemas.microsoft.com/office/drawing/2014/main" val="3999146630"/>
                  </a:ext>
                </a:extLst>
              </a:tr>
            </a:tbl>
          </a:graphicData>
        </a:graphic>
      </p:graphicFrame>
      <p:pic>
        <p:nvPicPr>
          <p:cNvPr id="4" name="Picture 3" descr="Outdoor Industry Jobs">
            <a:extLst>
              <a:ext uri="{FF2B5EF4-FFF2-40B4-BE49-F238E27FC236}">
                <a16:creationId xmlns:a16="http://schemas.microsoft.com/office/drawing/2014/main" id="{DD899D32-9CA6-0809-13EE-D29FAD0ABCBD}"/>
              </a:ext>
            </a:extLst>
          </p:cNvPr>
          <p:cNvPicPr>
            <a:picLocks noChangeAspect="1"/>
          </p:cNvPicPr>
          <p:nvPr/>
        </p:nvPicPr>
        <p:blipFill>
          <a:blip r:embed="rId8"/>
          <a:stretch>
            <a:fillRect/>
          </a:stretch>
        </p:blipFill>
        <p:spPr>
          <a:xfrm>
            <a:off x="6737770" y="96688"/>
            <a:ext cx="2310800" cy="453606"/>
          </a:xfrm>
          <a:prstGeom prst="rect">
            <a:avLst/>
          </a:prstGeom>
        </p:spPr>
      </p:pic>
      <p:graphicFrame>
        <p:nvGraphicFramePr>
          <p:cNvPr id="6" name="Chart 5">
            <a:extLst>
              <a:ext uri="{FF2B5EF4-FFF2-40B4-BE49-F238E27FC236}">
                <a16:creationId xmlns:a16="http://schemas.microsoft.com/office/drawing/2014/main" id="{00000000-0008-0000-1200-000005000000}"/>
              </a:ext>
            </a:extLst>
          </p:cNvPr>
          <p:cNvGraphicFramePr>
            <a:graphicFrameLocks/>
          </p:cNvGraphicFramePr>
          <p:nvPr>
            <p:extLst>
              <p:ext uri="{D42A27DB-BD31-4B8C-83A1-F6EECF244321}">
                <p14:modId xmlns:p14="http://schemas.microsoft.com/office/powerpoint/2010/main" val="777731091"/>
              </p:ext>
            </p:extLst>
          </p:nvPr>
        </p:nvGraphicFramePr>
        <p:xfrm>
          <a:off x="4235488" y="3516950"/>
          <a:ext cx="4776531" cy="2571536"/>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2" name="Chart 1">
            <a:extLst>
              <a:ext uri="{FF2B5EF4-FFF2-40B4-BE49-F238E27FC236}">
                <a16:creationId xmlns:a16="http://schemas.microsoft.com/office/drawing/2014/main" id="{F65C30FD-228C-8C7C-C171-328ADFF4520E}"/>
              </a:ext>
            </a:extLst>
          </p:cNvPr>
          <p:cNvGraphicFramePr>
            <a:graphicFrameLocks/>
          </p:cNvGraphicFramePr>
          <p:nvPr>
            <p:extLst>
              <p:ext uri="{D42A27DB-BD31-4B8C-83A1-F6EECF244321}">
                <p14:modId xmlns:p14="http://schemas.microsoft.com/office/powerpoint/2010/main" val="2069180273"/>
              </p:ext>
            </p:extLst>
          </p:nvPr>
        </p:nvGraphicFramePr>
        <p:xfrm>
          <a:off x="158002" y="3523097"/>
          <a:ext cx="3817375" cy="2565387"/>
        </p:xfrm>
        <a:graphic>
          <a:graphicData uri="http://schemas.openxmlformats.org/drawingml/2006/chart">
            <c:chart xmlns:c="http://schemas.openxmlformats.org/drawingml/2006/chart" xmlns:r="http://schemas.openxmlformats.org/officeDocument/2006/relationships" r:id="rId10"/>
          </a:graphicData>
        </a:graphic>
      </p:graphicFrame>
    </p:spTree>
    <p:extLst>
      <p:ext uri="{BB962C8B-B14F-4D97-AF65-F5344CB8AC3E}">
        <p14:creationId xmlns:p14="http://schemas.microsoft.com/office/powerpoint/2010/main" val="10335540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81162-0A22-CC05-B75A-878E38D5EADE}"/>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9C8767F2-96A1-E68E-A608-D422ABA173A1}"/>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38C321DE-9A41-6AFD-2549-8A214850AAB3}"/>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14</a:t>
            </a:fld>
            <a:endParaRPr lang="en-US" altLang="en-US" sz="140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BBC46B2-EC79-B53C-FDBE-BA3060ECDA46}"/>
              </a:ext>
            </a:extLst>
          </p:cNvPr>
          <p:cNvSpPr txBox="1"/>
          <p:nvPr/>
        </p:nvSpPr>
        <p:spPr>
          <a:xfrm>
            <a:off x="8775510" y="6550223"/>
            <a:ext cx="368490"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14</a:t>
            </a:fld>
            <a:endParaRPr 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0443C4F5-FD23-C08B-0DE9-84179F7B85F8}"/>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499A879B-DE80-73B6-3B9A-B9744D9BF753}"/>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0D340751-37A2-37D2-AC8A-001A3C5F7DE8}"/>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B9C55F6D-3385-86B3-27F0-40DFE677E6DB}"/>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59DC5041-AF66-50A9-5094-13EE61EE27FC}"/>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933922D-9278-C906-1FE2-066349353E0F}"/>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06F72974-9BB5-DE93-CC1A-89D6EADA9958}"/>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F93C51C5-D9EC-1D03-806E-C93537774ABE}"/>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B51B64B1-EE9F-E578-0840-012D87BFC50E}"/>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78ECC053-E0FE-1C7B-A1D3-B56F98636B4F}"/>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BE34B168-0BDB-CCB7-C8A9-1319C1CC4000}"/>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004296BE-CFDD-2354-8EE3-10DA901C3677}"/>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C7564F56-6502-861B-7A39-77CD4C2CA536}"/>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A9B54AA6-0D52-7268-7C6A-0125B9C501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9E4276C4-DB46-6C33-FA7C-9F81C505DA54}"/>
                </a:ext>
              </a:extLst>
            </p:cNvPr>
            <p:cNvSpPr/>
            <p:nvPr/>
          </p:nvSpPr>
          <p:spPr bwMode="auto">
            <a:xfrm>
              <a:off x="5433880"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6CB57112-6113-4FFC-3F9B-865BEED2BED2}"/>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61F62661-66AF-C489-7A8A-53C138CE6596}"/>
                  </a:ext>
                </a:extLst>
              </p:cNvPr>
              <p:cNvSpPr/>
              <p:nvPr/>
            </p:nvSpPr>
            <p:spPr bwMode="auto">
              <a:xfrm>
                <a:off x="6031705" y="998939"/>
                <a:ext cx="1261872" cy="1497294"/>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914E4067-B199-81C5-1C43-44BB5170C7C4}"/>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AE7BB434-CCAB-6F98-8E9F-E0439EC6B29B}"/>
                    </a:ext>
                  </a:extLst>
                </p:cNvPr>
                <p:cNvSpPr/>
                <p:nvPr/>
              </p:nvSpPr>
              <p:spPr bwMode="auto">
                <a:xfrm>
                  <a:off x="6091067" y="1176086"/>
                  <a:ext cx="1143149"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2423B490-0799-3CB0-86F4-1207E659CF82}"/>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A24273D9-4C29-C4F2-6D73-3DA5A2CBEF3D}"/>
                </a:ext>
              </a:extLst>
            </p:cNvPr>
            <p:cNvSpPr/>
            <p:nvPr/>
          </p:nvSpPr>
          <p:spPr bwMode="auto">
            <a:xfrm>
              <a:off x="7013564"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BD706722-550E-C319-3061-4F4E281607B1}"/>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3DAEBF19-DC5D-2CAC-FF3F-85D3303E1E3D}"/>
                  </a:ext>
                </a:extLst>
              </p:cNvPr>
              <p:cNvSpPr/>
              <p:nvPr/>
            </p:nvSpPr>
            <p:spPr bwMode="auto">
              <a:xfrm>
                <a:off x="7417254" y="998937"/>
                <a:ext cx="1264787" cy="1497293"/>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AE3DBCEF-56E1-EB48-8699-D97889D060B5}"/>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691AF8DD-4E61-E7B8-DED4-261B34601D38}"/>
                    </a:ext>
                  </a:extLst>
                </p:cNvPr>
                <p:cNvSpPr/>
                <p:nvPr/>
              </p:nvSpPr>
              <p:spPr bwMode="auto">
                <a:xfrm>
                  <a:off x="7474569" y="1120998"/>
                  <a:ext cx="1143000"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C6B8C098-8DD4-508C-6A0B-B59CC20E733B}"/>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AA659ABC-409A-2D98-884F-3083B7BFA274}"/>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623AAAF0-3E65-0F2A-0A31-4F99E2A68BFC}"/>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CBD056DB-8FE8-0522-4010-185B7D37942F}"/>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A399D1E2-2F39-CD05-AC69-ABBE330855B2}"/>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F83EE324-CA44-6D5E-B23F-8992012F146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940" y="984359"/>
                <a:ext cx="1117478" cy="1091784"/>
              </a:xfrm>
              <a:prstGeom prst="rect">
                <a:avLst/>
              </a:prstGeom>
            </p:spPr>
          </p:pic>
        </p:grpSp>
      </p:grpSp>
      <p:grpSp>
        <p:nvGrpSpPr>
          <p:cNvPr id="16" name="Group 15">
            <a:extLst>
              <a:ext uri="{FF2B5EF4-FFF2-40B4-BE49-F238E27FC236}">
                <a16:creationId xmlns:a16="http://schemas.microsoft.com/office/drawing/2014/main" id="{71F59F57-D193-11F0-7641-2B1273AE2608}"/>
              </a:ext>
            </a:extLst>
          </p:cNvPr>
          <p:cNvGrpSpPr/>
          <p:nvPr/>
        </p:nvGrpSpPr>
        <p:grpSpPr>
          <a:xfrm>
            <a:off x="715915" y="5163690"/>
            <a:ext cx="7726417" cy="882926"/>
            <a:chOff x="-160039" y="5179526"/>
            <a:chExt cx="7517329" cy="882926"/>
          </a:xfrm>
        </p:grpSpPr>
        <p:grpSp>
          <p:nvGrpSpPr>
            <p:cNvPr id="17" name="Group 16">
              <a:extLst>
                <a:ext uri="{FF2B5EF4-FFF2-40B4-BE49-F238E27FC236}">
                  <a16:creationId xmlns:a16="http://schemas.microsoft.com/office/drawing/2014/main" id="{BD672217-D336-4C1C-6AFF-D48652DFCA83}"/>
                </a:ext>
              </a:extLst>
            </p:cNvPr>
            <p:cNvGrpSpPr/>
            <p:nvPr/>
          </p:nvGrpSpPr>
          <p:grpSpPr>
            <a:xfrm>
              <a:off x="2489704" y="5179526"/>
              <a:ext cx="4867586" cy="882924"/>
              <a:chOff x="2579522" y="5179526"/>
              <a:chExt cx="4867586" cy="882924"/>
            </a:xfrm>
          </p:grpSpPr>
          <p:sp>
            <p:nvSpPr>
              <p:cNvPr id="19" name="Rectangle 18">
                <a:extLst>
                  <a:ext uri="{FF2B5EF4-FFF2-40B4-BE49-F238E27FC236}">
                    <a16:creationId xmlns:a16="http://schemas.microsoft.com/office/drawing/2014/main" id="{9E6DF484-1FC5-D0DD-8340-882412D348F0}"/>
                  </a:ext>
                </a:extLst>
              </p:cNvPr>
              <p:cNvSpPr/>
              <p:nvPr/>
            </p:nvSpPr>
            <p:spPr bwMode="auto">
              <a:xfrm>
                <a:off x="2579522" y="5179526"/>
                <a:ext cx="2217841"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Relative Valuation</a:t>
                </a:r>
              </a:p>
            </p:txBody>
          </p:sp>
          <p:sp>
            <p:nvSpPr>
              <p:cNvPr id="20" name="Rectangle 19">
                <a:extLst>
                  <a:ext uri="{FF2B5EF4-FFF2-40B4-BE49-F238E27FC236}">
                    <a16:creationId xmlns:a16="http://schemas.microsoft.com/office/drawing/2014/main" id="{FB85DCD9-CBB1-41B1-8D7D-992826DC9DD0}"/>
                  </a:ext>
                </a:extLst>
              </p:cNvPr>
              <p:cNvSpPr/>
              <p:nvPr/>
            </p:nvSpPr>
            <p:spPr bwMode="auto">
              <a:xfrm>
                <a:off x="5229268" y="5179527"/>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DCF and Terminal Justification</a:t>
                </a:r>
              </a:p>
            </p:txBody>
          </p:sp>
        </p:grpSp>
        <p:sp>
          <p:nvSpPr>
            <p:cNvPr id="18" name="Rectangle 17">
              <a:extLst>
                <a:ext uri="{FF2B5EF4-FFF2-40B4-BE49-F238E27FC236}">
                  <a16:creationId xmlns:a16="http://schemas.microsoft.com/office/drawing/2014/main" id="{7436DA68-B9F4-2F43-A0A5-098C96F5250C}"/>
                </a:ext>
              </a:extLst>
            </p:cNvPr>
            <p:cNvSpPr/>
            <p:nvPr/>
          </p:nvSpPr>
          <p:spPr bwMode="auto">
            <a:xfrm>
              <a:off x="-160039" y="5179529"/>
              <a:ext cx="2217840" cy="88292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Comps Analysis</a:t>
              </a:r>
            </a:p>
          </p:txBody>
        </p:sp>
      </p:grpSp>
    </p:spTree>
    <p:extLst>
      <p:ext uri="{BB962C8B-B14F-4D97-AF65-F5344CB8AC3E}">
        <p14:creationId xmlns:p14="http://schemas.microsoft.com/office/powerpoint/2010/main" val="8170841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A6410-1ED8-B227-2D47-09214A747776}"/>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AE3C58F5-8B3D-7678-C1A7-E33BFE4163AD}"/>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8D88592F-B90A-810F-FEEC-E946E3DC597B}"/>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panose="020F0502020204030204" pitchFamily="34" charset="0"/>
                  <a:ea typeface="Calibri" panose="020F0502020204030204" pitchFamily="34" charset="0"/>
                  <a:cs typeface="Calibri" panose="020F0502020204030204" pitchFamily="34" charset="0"/>
                </a:rPr>
                <a:t>JOUT Discounted vs. Competitors</a:t>
              </a:r>
            </a:p>
          </p:txBody>
        </p:sp>
        <p:grpSp>
          <p:nvGrpSpPr>
            <p:cNvPr id="16397" name="Group 39">
              <a:extLst>
                <a:ext uri="{FF2B5EF4-FFF2-40B4-BE49-F238E27FC236}">
                  <a16:creationId xmlns:a16="http://schemas.microsoft.com/office/drawing/2014/main" id="{5699067B-DB86-F08D-D11C-2EDA00535806}"/>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4D88BE81-74EB-91D0-C1F0-7DBDE7AD200A}"/>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5EA8AF6C-7E92-8CB0-BA55-44812885A83B}"/>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347D35E5-5B19-1693-7807-4860DD15D05A}"/>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5F5247B8-43D5-38CA-4476-B7B81A02097E}"/>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F4F4D785-76B9-B3E7-F8DC-ABC19D4D2770}"/>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DD9BE1EA-9E97-CD66-6080-59917A88BBD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955D3E85-0C3F-8F9D-9A41-F641256828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FB64800-6881-DB9D-AAEB-67719A9458A4}"/>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0B51D07D-38D3-1E9C-A826-BC9FE80FF1FA}"/>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1F6D2AF6-6E7F-C1FD-20E2-3236D3007BF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DE8D8A64-DCC5-71FC-BF82-C7C2148BBCCD}"/>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F9A558F7-59BC-3A7C-114B-31B82FC7EE4F}"/>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4FD95F2D-1729-E54F-7606-A7D19AC2198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B19C3EDD-5249-733C-DBEE-FCC30E3DAE8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10AA6DA2-6FB1-DEBA-FA4C-12922C43D0F2}"/>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9A8A0183-37ED-5D7D-2153-34893EA49DB4}"/>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2948EFEC-8123-4B1D-DAEC-32E0AE254FD2}"/>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60EAB548-5CCB-9496-D2E2-AEAFD9280A2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B5F8B8F1-FD82-413D-D5E9-16DF1056FB6F}"/>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4A00484D-77DE-40E6-4FFF-23365D3D22FD}"/>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505B24FE-B19B-1718-BA7D-7220511DEBD2}"/>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23C47C6-7A22-7225-283D-7DF5F929A482}"/>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61C49F27-9A2C-B014-C55F-EBD45C7E319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4979" y="6263507"/>
            <a:ext cx="461513" cy="461513"/>
          </a:xfrm>
          <a:prstGeom prst="rect">
            <a:avLst/>
          </a:prstGeom>
        </p:spPr>
      </p:pic>
      <p:sp>
        <p:nvSpPr>
          <p:cNvPr id="6" name="Text Box 2">
            <a:extLst>
              <a:ext uri="{FF2B5EF4-FFF2-40B4-BE49-F238E27FC236}">
                <a16:creationId xmlns:a16="http://schemas.microsoft.com/office/drawing/2014/main" id="{18225EE4-5950-4FE9-DA1B-48D97632A059}"/>
              </a:ext>
            </a:extLst>
          </p:cNvPr>
          <p:cNvSpPr txBox="1">
            <a:spLocks noChangeArrowheads="1"/>
          </p:cNvSpPr>
          <p:nvPr/>
        </p:nvSpPr>
        <p:spPr bwMode="auto">
          <a:xfrm>
            <a:off x="9414" y="3242540"/>
            <a:ext cx="5567503"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000" dirty="0">
                <a:solidFill>
                  <a:srgbClr val="292934"/>
                </a:solidFill>
                <a:latin typeface="Calibri"/>
                <a:ea typeface="Calibri" panose="020F0502020204030204" pitchFamily="34" charset="0"/>
                <a:cs typeface="Times New Roman"/>
              </a:rPr>
              <a:t>Figure 21: Comps Table</a:t>
            </a:r>
            <a:endParaRPr lang="en-US" altLang="en-US" sz="10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109D08B4-E532-D9A6-E63C-01F7B81595E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15</a:t>
            </a:fld>
            <a:endParaRPr lang="en-US" sz="1400">
              <a:latin typeface="Calibri" panose="020F0502020204030204" pitchFamily="34" charset="0"/>
              <a:cs typeface="Calibri" panose="020F0502020204030204" pitchFamily="34" charset="0"/>
            </a:endParaRPr>
          </a:p>
        </p:txBody>
      </p:sp>
      <p:sp>
        <p:nvSpPr>
          <p:cNvPr id="21" name="Text Box 2">
            <a:extLst>
              <a:ext uri="{FF2B5EF4-FFF2-40B4-BE49-F238E27FC236}">
                <a16:creationId xmlns:a16="http://schemas.microsoft.com/office/drawing/2014/main" id="{6D653B6B-0953-305C-0567-E4C36751BF52}"/>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grpSp>
        <p:nvGrpSpPr>
          <p:cNvPr id="5" name="Group 4">
            <a:extLst>
              <a:ext uri="{FF2B5EF4-FFF2-40B4-BE49-F238E27FC236}">
                <a16:creationId xmlns:a16="http://schemas.microsoft.com/office/drawing/2014/main" id="{68E79B64-B8D2-A6B3-2EC4-5E435B07C91F}"/>
              </a:ext>
            </a:extLst>
          </p:cNvPr>
          <p:cNvGrpSpPr/>
          <p:nvPr/>
        </p:nvGrpSpPr>
        <p:grpSpPr>
          <a:xfrm>
            <a:off x="81605" y="782910"/>
            <a:ext cx="8980789" cy="2061353"/>
            <a:chOff x="244500" y="938282"/>
            <a:chExt cx="8512777" cy="4436147"/>
          </a:xfrm>
        </p:grpSpPr>
        <p:sp>
          <p:nvSpPr>
            <p:cNvPr id="7" name="Rectangle 6">
              <a:extLst>
                <a:ext uri="{FF2B5EF4-FFF2-40B4-BE49-F238E27FC236}">
                  <a16:creationId xmlns:a16="http://schemas.microsoft.com/office/drawing/2014/main" id="{2EEB78C5-91A0-A98B-7807-FBD81609A501}"/>
                </a:ext>
              </a:extLst>
            </p:cNvPr>
            <p:cNvSpPr/>
            <p:nvPr/>
          </p:nvSpPr>
          <p:spPr>
            <a:xfrm>
              <a:off x="244500" y="938282"/>
              <a:ext cx="2627128" cy="4436147"/>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rPr>
                <a:t>JOUT trades at a discount on P/B despite adequate long-term growth expectations</a:t>
              </a:r>
            </a:p>
            <a:p>
              <a:endParaRPr lang="en-US" sz="6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JOUT’s P/B of 0.87× is materially below peer levels (1.63× - 2.65×)</a:t>
              </a:r>
            </a:p>
            <a:p>
              <a:pPr marL="171450" indent="-171450">
                <a:buFont typeface="Arial" panose="020B0604020202020204" pitchFamily="34" charset="0"/>
                <a:buChar char="•"/>
              </a:pPr>
              <a:endParaRPr lang="en-US" sz="6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The discount reflects temporary margin pressure but offers upside if ROE rebounds toward peer medians</a:t>
              </a:r>
            </a:p>
          </p:txBody>
        </p:sp>
        <p:sp>
          <p:nvSpPr>
            <p:cNvPr id="8" name="Rectangle 7">
              <a:extLst>
                <a:ext uri="{FF2B5EF4-FFF2-40B4-BE49-F238E27FC236}">
                  <a16:creationId xmlns:a16="http://schemas.microsoft.com/office/drawing/2014/main" id="{D634D399-A184-F9D0-BF8F-CDB83AA55C54}"/>
                </a:ext>
              </a:extLst>
            </p:cNvPr>
            <p:cNvSpPr/>
            <p:nvPr/>
          </p:nvSpPr>
          <p:spPr>
            <a:xfrm>
              <a:off x="3214551" y="968157"/>
              <a:ext cx="2578963" cy="4406270"/>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rPr>
                <a:t>Peers show higher ROE, ROA, and net margins, helping justify their higher valuation multiples</a:t>
              </a:r>
            </a:p>
            <a:p>
              <a:endPar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rPr>
                <a:t>Median ROE </a:t>
              </a: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 19.6% vs JOUT at -5.5%</a:t>
              </a:r>
            </a:p>
            <a:p>
              <a:pPr marL="171450" indent="-171450">
                <a:buFont typeface="Arial" panose="020B0604020202020204" pitchFamily="34" charset="0"/>
                <a:buChar char="•"/>
              </a:pPr>
              <a:endPar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rPr>
                <a:t>Median ROA </a:t>
              </a: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 3.0% vs JOUT at -4.0%</a:t>
              </a:r>
            </a:p>
            <a:p>
              <a:endPar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rPr>
                <a:t>Median NM = </a:t>
              </a: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2.3% vs JOUT at -4.5%</a:t>
              </a:r>
            </a:p>
          </p:txBody>
        </p:sp>
        <p:sp>
          <p:nvSpPr>
            <p:cNvPr id="9" name="Rectangle 8">
              <a:extLst>
                <a:ext uri="{FF2B5EF4-FFF2-40B4-BE49-F238E27FC236}">
                  <a16:creationId xmlns:a16="http://schemas.microsoft.com/office/drawing/2014/main" id="{3DA364F2-7A4A-86E4-486A-FDFA18E172C7}"/>
                </a:ext>
              </a:extLst>
            </p:cNvPr>
            <p:cNvSpPr/>
            <p:nvPr/>
          </p:nvSpPr>
          <p:spPr>
            <a:xfrm>
              <a:off x="6136437" y="968157"/>
              <a:ext cx="2620840" cy="440626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r>
                <a:rPr lang="en-US" sz="1000" b="1" dirty="0">
                  <a:solidFill>
                    <a:srgbClr val="000000"/>
                  </a:solidFill>
                  <a:latin typeface="Calibri" panose="020F0502020204030204" pitchFamily="34" charset="0"/>
                  <a:ea typeface="Calibri" panose="020F0502020204030204" pitchFamily="34" charset="0"/>
                  <a:cs typeface="Calibri" panose="020F0502020204030204" pitchFamily="34" charset="0"/>
                </a:rPr>
                <a:t>Across comps, performance metrics support higher multiples: strong ROE, stable net margins, and positive ROIC</a:t>
              </a:r>
            </a:p>
            <a:p>
              <a:endParaRPr lang="en-US" sz="5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Some peers exhibit unusually strong ROE due to segment-specific tailwinds, but overall profitability across the group exceeds JOUT’s</a:t>
              </a:r>
            </a:p>
            <a:p>
              <a:pPr marL="171450" indent="-171450">
                <a:buFont typeface="Arial" panose="020B0604020202020204" pitchFamily="34" charset="0"/>
                <a:buChar char="•"/>
              </a:pPr>
              <a:endParaRPr lang="en-US" sz="5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EV/EBITDA and P/B premiums reflect stronger operational efficiency and more stable returns on assets.</a:t>
              </a:r>
            </a:p>
            <a:p>
              <a:pPr marL="171450" indent="-171450">
                <a:buFont typeface="Arial" panose="020B0604020202020204" pitchFamily="34" charset="0"/>
                <a:buChar char="•"/>
              </a:pPr>
              <a:endParaRPr lang="en-US" sz="5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000" dirty="0">
                  <a:solidFill>
                    <a:srgbClr val="000000"/>
                  </a:solidFill>
                  <a:latin typeface="Calibri" panose="020F0502020204030204" pitchFamily="34" charset="0"/>
                  <a:ea typeface="Calibri" panose="020F0502020204030204" pitchFamily="34" charset="0"/>
                  <a:cs typeface="Calibri" panose="020F0502020204030204" pitchFamily="34" charset="0"/>
                </a:rPr>
                <a:t>JOUT’s negative ROA and negative net margin support the current valuation discount.</a:t>
              </a:r>
            </a:p>
          </p:txBody>
        </p:sp>
      </p:grpSp>
      <p:graphicFrame>
        <p:nvGraphicFramePr>
          <p:cNvPr id="19" name="Table 18">
            <a:extLst>
              <a:ext uri="{FF2B5EF4-FFF2-40B4-BE49-F238E27FC236}">
                <a16:creationId xmlns:a16="http://schemas.microsoft.com/office/drawing/2014/main" id="{9F396CD8-2CBB-7182-FC67-266B8435F075}"/>
              </a:ext>
            </a:extLst>
          </p:cNvPr>
          <p:cNvGraphicFramePr>
            <a:graphicFrameLocks noGrp="1"/>
          </p:cNvGraphicFramePr>
          <p:nvPr>
            <p:custDataLst>
              <p:tags r:id="rId1"/>
            </p:custDataLst>
            <p:extLst>
              <p:ext uri="{D42A27DB-BD31-4B8C-83A1-F6EECF244321}">
                <p14:modId xmlns:p14="http://schemas.microsoft.com/office/powerpoint/2010/main" val="2448033262"/>
              </p:ext>
            </p:extLst>
          </p:nvPr>
        </p:nvGraphicFramePr>
        <p:xfrm>
          <a:off x="81605" y="3459754"/>
          <a:ext cx="8980790" cy="2047470"/>
        </p:xfrm>
        <a:graphic>
          <a:graphicData uri="http://schemas.openxmlformats.org/drawingml/2006/table">
            <a:tbl>
              <a:tblPr/>
              <a:tblGrid>
                <a:gridCol w="662107">
                  <a:extLst>
                    <a:ext uri="{9D8B030D-6E8A-4147-A177-3AD203B41FA5}">
                      <a16:colId xmlns:a16="http://schemas.microsoft.com/office/drawing/2014/main" val="3016660293"/>
                    </a:ext>
                  </a:extLst>
                </a:gridCol>
                <a:gridCol w="774777">
                  <a:extLst>
                    <a:ext uri="{9D8B030D-6E8A-4147-A177-3AD203B41FA5}">
                      <a16:colId xmlns:a16="http://schemas.microsoft.com/office/drawing/2014/main" val="616497033"/>
                    </a:ext>
                  </a:extLst>
                </a:gridCol>
                <a:gridCol w="778071">
                  <a:extLst>
                    <a:ext uri="{9D8B030D-6E8A-4147-A177-3AD203B41FA5}">
                      <a16:colId xmlns:a16="http://schemas.microsoft.com/office/drawing/2014/main" val="1880346445"/>
                    </a:ext>
                  </a:extLst>
                </a:gridCol>
                <a:gridCol w="778071">
                  <a:extLst>
                    <a:ext uri="{9D8B030D-6E8A-4147-A177-3AD203B41FA5}">
                      <a16:colId xmlns:a16="http://schemas.microsoft.com/office/drawing/2014/main" val="394695102"/>
                    </a:ext>
                  </a:extLst>
                </a:gridCol>
                <a:gridCol w="778071">
                  <a:extLst>
                    <a:ext uri="{9D8B030D-6E8A-4147-A177-3AD203B41FA5}">
                      <a16:colId xmlns:a16="http://schemas.microsoft.com/office/drawing/2014/main" val="1980641309"/>
                    </a:ext>
                  </a:extLst>
                </a:gridCol>
                <a:gridCol w="778071">
                  <a:extLst>
                    <a:ext uri="{9D8B030D-6E8A-4147-A177-3AD203B41FA5}">
                      <a16:colId xmlns:a16="http://schemas.microsoft.com/office/drawing/2014/main" val="3576874342"/>
                    </a:ext>
                  </a:extLst>
                </a:gridCol>
                <a:gridCol w="778071">
                  <a:extLst>
                    <a:ext uri="{9D8B030D-6E8A-4147-A177-3AD203B41FA5}">
                      <a16:colId xmlns:a16="http://schemas.microsoft.com/office/drawing/2014/main" val="3033351402"/>
                    </a:ext>
                  </a:extLst>
                </a:gridCol>
                <a:gridCol w="778071">
                  <a:extLst>
                    <a:ext uri="{9D8B030D-6E8A-4147-A177-3AD203B41FA5}">
                      <a16:colId xmlns:a16="http://schemas.microsoft.com/office/drawing/2014/main" val="551972862"/>
                    </a:ext>
                  </a:extLst>
                </a:gridCol>
                <a:gridCol w="778071">
                  <a:extLst>
                    <a:ext uri="{9D8B030D-6E8A-4147-A177-3AD203B41FA5}">
                      <a16:colId xmlns:a16="http://schemas.microsoft.com/office/drawing/2014/main" val="3148993252"/>
                    </a:ext>
                  </a:extLst>
                </a:gridCol>
                <a:gridCol w="778071">
                  <a:extLst>
                    <a:ext uri="{9D8B030D-6E8A-4147-A177-3AD203B41FA5}">
                      <a16:colId xmlns:a16="http://schemas.microsoft.com/office/drawing/2014/main" val="3793204209"/>
                    </a:ext>
                  </a:extLst>
                </a:gridCol>
                <a:gridCol w="778071">
                  <a:extLst>
                    <a:ext uri="{9D8B030D-6E8A-4147-A177-3AD203B41FA5}">
                      <a16:colId xmlns:a16="http://schemas.microsoft.com/office/drawing/2014/main" val="2387602739"/>
                    </a:ext>
                  </a:extLst>
                </a:gridCol>
                <a:gridCol w="541267">
                  <a:extLst>
                    <a:ext uri="{9D8B030D-6E8A-4147-A177-3AD203B41FA5}">
                      <a16:colId xmlns:a16="http://schemas.microsoft.com/office/drawing/2014/main" val="1537141135"/>
                    </a:ext>
                  </a:extLst>
                </a:gridCol>
              </a:tblGrid>
              <a:tr h="165441">
                <a:tc>
                  <a:txBody>
                    <a:bodyPr/>
                    <a:lstStyle/>
                    <a:p>
                      <a:pPr algn="l" fontAlgn="b"/>
                      <a:r>
                        <a:rPr lang="en-US" sz="1000" b="1" i="0" u="none" strike="noStrike" dirty="0">
                          <a:solidFill>
                            <a:srgbClr val="000000"/>
                          </a:solidFill>
                          <a:effectLst/>
                          <a:latin typeface="Calibri" panose="020F0502020204030204" pitchFamily="34" charset="0"/>
                        </a:rPr>
                        <a:t>Ticker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panose="020F0502020204030204" pitchFamily="34" charset="0"/>
                        </a:rPr>
                        <a:t>Price</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panose="020F0502020204030204" pitchFamily="34" charset="0"/>
                        </a:rPr>
                        <a:t>Market Value</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panose="020F0502020204030204" pitchFamily="34" charset="0"/>
                        </a:rPr>
                        <a:t>EV/EBIT</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a:rPr>
                        <a:t>P/E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a:rPr>
                        <a:t>P/B</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a:rPr>
                        <a:t>ROE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a:rPr>
                        <a:t>ROA</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panose="020F0502020204030204" pitchFamily="34" charset="0"/>
                        </a:rPr>
                        <a:t>D/E</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panose="020F0502020204030204" pitchFamily="34" charset="0"/>
                        </a:rPr>
                        <a:t>NPM</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panose="020F0502020204030204" pitchFamily="34" charset="0"/>
                        </a:rPr>
                        <a:t>ROIC</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000" b="1" i="0" u="none" strike="noStrike" dirty="0">
                          <a:solidFill>
                            <a:srgbClr val="000000"/>
                          </a:solidFill>
                          <a:effectLst/>
                          <a:latin typeface="Calibri" panose="020F0502020204030204" pitchFamily="34" charset="0"/>
                        </a:rPr>
                        <a:t>LT G</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extLst>
                  <a:ext uri="{0D108BD9-81ED-4DB2-BD59-A6C34878D82A}">
                    <a16:rowId xmlns:a16="http://schemas.microsoft.com/office/drawing/2014/main" val="505498891"/>
                  </a:ext>
                </a:extLst>
              </a:tr>
              <a:tr h="235899">
                <a:tc>
                  <a:txBody>
                    <a:bodyPr/>
                    <a:lstStyle/>
                    <a:p>
                      <a:pPr algn="l" fontAlgn="b">
                        <a:buNone/>
                      </a:pPr>
                      <a:r>
                        <a:rPr lang="en-US" sz="1000" b="1" kern="1200" dirty="0">
                          <a:solidFill>
                            <a:srgbClr val="000000"/>
                          </a:solidFill>
                          <a:latin typeface="Calibri" panose="020F0502020204030204" pitchFamily="34" charset="0"/>
                          <a:ea typeface="Calibri" panose="020F0502020204030204" pitchFamily="34" charset="0"/>
                          <a:cs typeface="Calibri" panose="020F0502020204030204" pitchFamily="34" charset="0"/>
                        </a:rPr>
                        <a:t>JOUT-US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$40.75</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$418</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15.14x</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-32.0x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0.87x</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100" b="0" i="0" u="none" strike="noStrike" dirty="0">
                          <a:solidFill>
                            <a:srgbClr val="141414"/>
                          </a:solidFill>
                          <a:effectLst/>
                          <a:latin typeface="Calibri" panose="020F0502020204030204" pitchFamily="34" charset="0"/>
                        </a:rPr>
                        <a:t>-5.5%</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-4.0%</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8.7%</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-4.5%</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1000" b="0" i="0" u="none" strike="noStrike" dirty="0">
                          <a:solidFill>
                            <a:srgbClr val="141414"/>
                          </a:solidFill>
                          <a:effectLst/>
                          <a:latin typeface="Calibri"/>
                        </a:rPr>
                        <a:t>-5.1%</a:t>
                      </a:r>
                    </a:p>
                  </a:txBody>
                  <a:tcPr marL="0" marR="0" marT="0"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b"/>
                      <a:r>
                        <a:rPr lang="en-US" sz="1000" b="0" i="0" u="none" strike="noStrike" dirty="0">
                          <a:solidFill>
                            <a:srgbClr val="000000"/>
                          </a:solidFill>
                          <a:effectLst/>
                          <a:latin typeface="Calibri"/>
                        </a:rPr>
                        <a:t>0.06</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004447269"/>
                  </a:ext>
                </a:extLst>
              </a:tr>
              <a:tr h="235899">
                <a:tc>
                  <a:txBody>
                    <a:bodyPr/>
                    <a:lstStyle/>
                    <a:p>
                      <a:pPr algn="l" fontAlgn="b">
                        <a:buNone/>
                      </a:pPr>
                      <a:r>
                        <a:rPr lang="en-US" sz="1000" b="1" kern="1200" dirty="0">
                          <a:solidFill>
                            <a:srgbClr val="000000"/>
                          </a:solidFill>
                          <a:latin typeface="Calibri" panose="020F0502020204030204" pitchFamily="34" charset="0"/>
                          <a:ea typeface="Calibri" panose="020F0502020204030204" pitchFamily="34" charset="0"/>
                          <a:cs typeface="Calibri" panose="020F0502020204030204" pitchFamily="34" charset="0"/>
                        </a:rPr>
                        <a:t>BC-US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$71.31</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$4,638</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22.97x</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26.9x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2.56x</a:t>
                      </a:r>
                    </a:p>
                  </a:txBody>
                  <a:tcPr marL="0" marR="0" marT="0" marB="0" anchor="b">
                    <a:lnL>
                      <a:noFill/>
                    </a:lnL>
                    <a:lnR>
                      <a:noFill/>
                    </a:lnR>
                    <a:lnT>
                      <a:noFill/>
                    </a:lnT>
                    <a:lnB>
                      <a:noFill/>
                    </a:lnB>
                    <a:solidFill>
                      <a:srgbClr val="F2F2F2"/>
                    </a:solidFill>
                  </a:tcPr>
                </a:tc>
                <a:tc>
                  <a:txBody>
                    <a:bodyPr/>
                    <a:lstStyle/>
                    <a:p>
                      <a:pPr algn="ctr" fontAlgn="b">
                        <a:buNone/>
                      </a:pPr>
                      <a:r>
                        <a:rPr lang="en-US" sz="1100" b="0" i="0" u="none" strike="noStrike" dirty="0">
                          <a:solidFill>
                            <a:srgbClr val="141414"/>
                          </a:solidFill>
                          <a:effectLst/>
                          <a:latin typeface="Calibri" panose="020F0502020204030204" pitchFamily="34" charset="0"/>
                        </a:rPr>
                        <a:t>7.5%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2.5%</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137.6%</a:t>
                      </a:r>
                    </a:p>
                  </a:txBody>
                  <a:tcPr marL="0" marR="0" marT="0" marB="0" anchor="b">
                    <a:lnL>
                      <a:noFill/>
                    </a:lnL>
                    <a:lnR>
                      <a:noFill/>
                    </a:lnR>
                    <a:lnT>
                      <a:noFill/>
                    </a:lnT>
                    <a:lnB>
                      <a:noFill/>
                    </a:lnB>
                    <a:solidFill>
                      <a:srgbClr val="F2F2F2"/>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2.9%</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a:rPr>
                        <a:t>3.6%</a:t>
                      </a:r>
                    </a:p>
                  </a:txBody>
                  <a:tcPr marL="0" marR="0" marT="0" marB="0" anchor="b">
                    <a:lnL>
                      <a:noFill/>
                    </a:lnL>
                    <a:lnR>
                      <a:noFill/>
                    </a:lnR>
                    <a:lnT>
                      <a:noFill/>
                    </a:lnT>
                    <a:lnB>
                      <a:noFill/>
                    </a:lnB>
                    <a:solidFill>
                      <a:srgbClr val="F2F2F2"/>
                    </a:solidFill>
                  </a:tcPr>
                </a:tc>
                <a:tc>
                  <a:txBody>
                    <a:bodyPr/>
                    <a:lstStyle/>
                    <a:p>
                      <a:pPr algn="ctr" rtl="0" fontAlgn="b"/>
                      <a:r>
                        <a:rPr lang="en-US" sz="1000" b="0" i="0" u="none" strike="noStrike" dirty="0">
                          <a:solidFill>
                            <a:srgbClr val="000000"/>
                          </a:solidFill>
                          <a:effectLst/>
                          <a:latin typeface="Calibri"/>
                        </a:rPr>
                        <a:t>0.11</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1214515942"/>
                  </a:ext>
                </a:extLst>
              </a:tr>
              <a:tr h="235899">
                <a:tc>
                  <a:txBody>
                    <a:bodyPr/>
                    <a:lstStyle/>
                    <a:p>
                      <a:pPr algn="l" fontAlgn="b">
                        <a:buNone/>
                      </a:pPr>
                      <a:r>
                        <a:rPr lang="en-US" sz="1000" b="1" kern="1200" dirty="0">
                          <a:solidFill>
                            <a:srgbClr val="000000"/>
                          </a:solidFill>
                          <a:latin typeface="Calibri" panose="020F0502020204030204" pitchFamily="34" charset="0"/>
                          <a:ea typeface="Calibri" panose="020F0502020204030204" pitchFamily="34" charset="0"/>
                          <a:cs typeface="Calibri" panose="020F0502020204030204" pitchFamily="34" charset="0"/>
                        </a:rPr>
                        <a:t>PII-US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$66.67</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$3,750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19.16x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28.0x</a:t>
                      </a:r>
                    </a:p>
                  </a:txBody>
                  <a:tcPr marL="0" marR="0" marT="0" marB="0" anchor="b">
                    <a:lnL>
                      <a:noFill/>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3.15x</a:t>
                      </a:r>
                    </a:p>
                  </a:txBody>
                  <a:tcPr marL="0" marR="0" marT="0" marB="0" anchor="b">
                    <a:lnL>
                      <a:noFill/>
                    </a:lnL>
                    <a:lnR>
                      <a:noFill/>
                    </a:lnR>
                    <a:lnT>
                      <a:noFill/>
                    </a:lnT>
                    <a:lnB>
                      <a:noFill/>
                    </a:lnB>
                    <a:noFill/>
                  </a:tcPr>
                </a:tc>
                <a:tc>
                  <a:txBody>
                    <a:bodyPr/>
                    <a:lstStyle/>
                    <a:p>
                      <a:pPr algn="ctr" fontAlgn="b">
                        <a:buNone/>
                      </a:pPr>
                      <a:r>
                        <a:rPr lang="en-US" sz="1100" b="0" i="0" u="none" strike="noStrike" dirty="0">
                          <a:solidFill>
                            <a:srgbClr val="141414"/>
                          </a:solidFill>
                          <a:effectLst/>
                          <a:latin typeface="Calibri" panose="020F0502020204030204" pitchFamily="34" charset="0"/>
                        </a:rPr>
                        <a:t>8.2%</a:t>
                      </a:r>
                    </a:p>
                  </a:txBody>
                  <a:tcPr marL="0" marR="0" marT="0" marB="0" anchor="b">
                    <a:lnL>
                      <a:noFill/>
                    </a:lnL>
                    <a:lnR>
                      <a:noFill/>
                    </a:lnR>
                    <a:lnT>
                      <a:noFill/>
                    </a:lnT>
                    <a:lnB>
                      <a:noFill/>
                    </a:lnB>
                    <a:no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2.0%</a:t>
                      </a:r>
                    </a:p>
                  </a:txBody>
                  <a:tcPr marL="0" marR="0" marT="0" marB="0" anchor="b">
                    <a:lnL>
                      <a:noFill/>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121.1%</a:t>
                      </a:r>
                    </a:p>
                  </a:txBody>
                  <a:tcPr marL="0" marR="0" marT="0" marB="0" anchor="b">
                    <a:lnL>
                      <a:noFill/>
                    </a:lnL>
                    <a:lnR>
                      <a:noFill/>
                    </a:lnR>
                    <a:lnT>
                      <a:noFill/>
                    </a:lnT>
                    <a:lnB>
                      <a:noFill/>
                    </a:lnB>
                    <a:no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1.5%</a:t>
                      </a:r>
                    </a:p>
                  </a:txBody>
                  <a:tcPr marL="0" marR="0" marT="0" marB="0" anchor="b">
                    <a:lnL>
                      <a:noFill/>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a:rPr>
                        <a:t>3.5%</a:t>
                      </a:r>
                    </a:p>
                  </a:txBody>
                  <a:tcPr marL="0" marR="0" marT="0" marB="0" anchor="b">
                    <a:lnL>
                      <a:noFill/>
                    </a:lnL>
                    <a:lnR>
                      <a:noFill/>
                    </a:lnR>
                    <a:lnT>
                      <a:noFill/>
                    </a:lnT>
                    <a:lnB>
                      <a:noFill/>
                    </a:lnB>
                    <a:noFill/>
                  </a:tcPr>
                </a:tc>
                <a:tc>
                  <a:txBody>
                    <a:bodyPr/>
                    <a:lstStyle/>
                    <a:p>
                      <a:pPr algn="ctr" rtl="0" fontAlgn="b"/>
                      <a:r>
                        <a:rPr lang="en-US" sz="1000" b="0" i="0" u="none" strike="noStrike" dirty="0">
                          <a:solidFill>
                            <a:srgbClr val="000000"/>
                          </a:solidFill>
                          <a:effectLst/>
                          <a:latin typeface="Calibri"/>
                        </a:rPr>
                        <a:t>0.08</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3676687320"/>
                  </a:ext>
                </a:extLst>
              </a:tr>
              <a:tr h="235899">
                <a:tc>
                  <a:txBody>
                    <a:bodyPr/>
                    <a:lstStyle/>
                    <a:p>
                      <a:pPr algn="l" fontAlgn="b">
                        <a:buNone/>
                      </a:pPr>
                      <a:r>
                        <a:rPr lang="en-US" sz="1000" b="1" kern="1200" dirty="0">
                          <a:solidFill>
                            <a:srgbClr val="000000"/>
                          </a:solidFill>
                          <a:latin typeface="Calibri" panose="020F0502020204030204" pitchFamily="34" charset="0"/>
                          <a:ea typeface="Calibri" panose="020F0502020204030204" pitchFamily="34" charset="0"/>
                          <a:cs typeface="Calibri" panose="020F0502020204030204" pitchFamily="34" charset="0"/>
                        </a:rPr>
                        <a:t>MCFT-US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$18.44</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$300</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2F2F2"/>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27.69x</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7.3x</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1.63x</a:t>
                      </a:r>
                    </a:p>
                  </a:txBody>
                  <a:tcPr marL="0" marR="0" marT="0" marB="0" anchor="b">
                    <a:lnL>
                      <a:noFill/>
                    </a:lnL>
                    <a:lnR>
                      <a:noFill/>
                    </a:lnR>
                    <a:lnT>
                      <a:noFill/>
                    </a:lnT>
                    <a:lnB>
                      <a:noFill/>
                    </a:lnB>
                    <a:solidFill>
                      <a:srgbClr val="F2F2F2"/>
                    </a:solidFill>
                  </a:tcPr>
                </a:tc>
                <a:tc>
                  <a:txBody>
                    <a:bodyPr/>
                    <a:lstStyle/>
                    <a:p>
                      <a:pPr algn="ctr" fontAlgn="b">
                        <a:buNone/>
                      </a:pPr>
                      <a:r>
                        <a:rPr lang="en-US" sz="1100" b="0" i="0" u="none" strike="noStrike">
                          <a:solidFill>
                            <a:srgbClr val="141414"/>
                          </a:solidFill>
                          <a:effectLst/>
                          <a:latin typeface="Calibri" panose="020F0502020204030204" pitchFamily="34" charset="0"/>
                        </a:rPr>
                        <a:t>5.8%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3.6%</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0.0%</a:t>
                      </a:r>
                    </a:p>
                  </a:txBody>
                  <a:tcPr marL="0" marR="0" marT="0" marB="0" anchor="b">
                    <a:lnL>
                      <a:noFill/>
                    </a:lnL>
                    <a:lnR>
                      <a:noFill/>
                    </a:lnR>
                    <a:lnT>
                      <a:noFill/>
                    </a:lnT>
                    <a:lnB>
                      <a:noFill/>
                    </a:lnB>
                    <a:solidFill>
                      <a:srgbClr val="F2F2F2"/>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3.8%</a:t>
                      </a:r>
                    </a:p>
                  </a:txBody>
                  <a:tcPr marL="0" marR="0" marT="0" marB="0" anchor="b">
                    <a:lnL>
                      <a:noFill/>
                    </a:lnL>
                    <a:lnR>
                      <a:noFill/>
                    </a:lnR>
                    <a:lnT>
                      <a:noFill/>
                    </a:lnT>
                    <a:lnB>
                      <a:noFill/>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5.2%</a:t>
                      </a:r>
                    </a:p>
                  </a:txBody>
                  <a:tcPr marL="0" marR="0" marT="0" marB="0" anchor="b">
                    <a:lnL>
                      <a:noFill/>
                    </a:lnL>
                    <a:lnR>
                      <a:noFill/>
                    </a:lnR>
                    <a:lnT>
                      <a:noFill/>
                    </a:lnT>
                    <a:lnB>
                      <a:noFill/>
                    </a:lnB>
                    <a:solidFill>
                      <a:srgbClr val="F2F2F2"/>
                    </a:solidFill>
                  </a:tcPr>
                </a:tc>
                <a:tc>
                  <a:txBody>
                    <a:bodyPr/>
                    <a:lstStyle/>
                    <a:p>
                      <a:pPr algn="ctr" rtl="0" fontAlgn="b"/>
                      <a:r>
                        <a:rPr lang="en-US" sz="1000" b="0" i="0" u="none" strike="noStrike" dirty="0">
                          <a:solidFill>
                            <a:srgbClr val="000000"/>
                          </a:solidFill>
                          <a:effectLst/>
                          <a:latin typeface="Calibri"/>
                        </a:rPr>
                        <a:t>0.07</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2F2F2"/>
                    </a:solidFill>
                  </a:tcPr>
                </a:tc>
                <a:extLst>
                  <a:ext uri="{0D108BD9-81ED-4DB2-BD59-A6C34878D82A}">
                    <a16:rowId xmlns:a16="http://schemas.microsoft.com/office/drawing/2014/main" val="2573401340"/>
                  </a:ext>
                </a:extLst>
              </a:tr>
              <a:tr h="235899">
                <a:tc>
                  <a:txBody>
                    <a:bodyPr/>
                    <a:lstStyle/>
                    <a:p>
                      <a:pPr algn="l" fontAlgn="b">
                        <a:buNone/>
                      </a:pPr>
                      <a:r>
                        <a:rPr lang="en-US" sz="1000" b="1" kern="1200" dirty="0">
                          <a:solidFill>
                            <a:srgbClr val="000000"/>
                          </a:solidFill>
                          <a:latin typeface="Calibri" panose="020F0502020204030204" pitchFamily="34" charset="0"/>
                          <a:ea typeface="Calibri" panose="020F0502020204030204" pitchFamily="34" charset="0"/>
                          <a:cs typeface="Calibri" panose="020F0502020204030204" pitchFamily="34" charset="0"/>
                        </a:rPr>
                        <a:t>MBUU-US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$29.22</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$562</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15.97x</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1.2x</a:t>
                      </a:r>
                    </a:p>
                  </a:txBody>
                  <a:tcPr marL="0" marR="0" marT="0" marB="0" anchor="b">
                    <a:lnL>
                      <a:noFill/>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0.95x</a:t>
                      </a:r>
                    </a:p>
                  </a:txBody>
                  <a:tcPr marL="0" marR="0" marT="0" marB="0" anchor="b">
                    <a:lnL>
                      <a:noFill/>
                    </a:lnL>
                    <a:lnR>
                      <a:noFill/>
                    </a:lnR>
                    <a:lnT>
                      <a:noFill/>
                    </a:lnT>
                    <a:lnB>
                      <a:noFill/>
                    </a:lnB>
                    <a:noFill/>
                  </a:tcPr>
                </a:tc>
                <a:tc>
                  <a:txBody>
                    <a:bodyPr/>
                    <a:lstStyle/>
                    <a:p>
                      <a:pPr algn="ctr" fontAlgn="b">
                        <a:buNone/>
                      </a:pPr>
                      <a:r>
                        <a:rPr lang="en-US" sz="1100" b="0" i="0" u="none" strike="noStrike" dirty="0">
                          <a:solidFill>
                            <a:srgbClr val="141414"/>
                          </a:solidFill>
                          <a:effectLst/>
                          <a:latin typeface="Calibri" panose="020F0502020204030204" pitchFamily="34" charset="0"/>
                        </a:rPr>
                        <a:t>2.8%</a:t>
                      </a:r>
                    </a:p>
                  </a:txBody>
                  <a:tcPr marL="0" marR="0" marT="0" marB="0" anchor="b">
                    <a:lnL>
                      <a:noFill/>
                    </a:lnL>
                    <a:lnR>
                      <a:noFill/>
                    </a:lnR>
                    <a:lnT>
                      <a:noFill/>
                    </a:lnT>
                    <a:lnB>
                      <a:noFill/>
                    </a:lnB>
                    <a:no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2.0%</a:t>
                      </a:r>
                    </a:p>
                  </a:txBody>
                  <a:tcPr marL="0" marR="0" marT="0" marB="0" anchor="b">
                    <a:lnL>
                      <a:noFill/>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a:rPr>
                        <a:t>5.3%</a:t>
                      </a:r>
                    </a:p>
                  </a:txBody>
                  <a:tcPr marL="0" marR="0" marT="0" marB="0" anchor="b">
                    <a:lnL>
                      <a:noFill/>
                    </a:lnL>
                    <a:lnR>
                      <a:noFill/>
                    </a:lnR>
                    <a:lnT>
                      <a:noFill/>
                    </a:lnT>
                    <a:lnB>
                      <a:noFill/>
                    </a:lnB>
                    <a:no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1.8%</a:t>
                      </a:r>
                    </a:p>
                  </a:txBody>
                  <a:tcPr marL="0" marR="0" marT="0" marB="0" anchor="b">
                    <a:lnL>
                      <a:noFill/>
                    </a:lnL>
                    <a:lnR>
                      <a:noFill/>
                    </a:lnR>
                    <a:lnT>
                      <a:noFill/>
                    </a:lnT>
                    <a:lnB>
                      <a:noFill/>
                    </a:lnB>
                    <a:noFill/>
                  </a:tcPr>
                </a:tc>
                <a:tc>
                  <a:txBody>
                    <a:bodyPr/>
                    <a:lstStyle/>
                    <a:p>
                      <a:pPr algn="ctr" fontAlgn="b">
                        <a:buNone/>
                      </a:pPr>
                      <a:r>
                        <a:rPr lang="en-US" sz="1000" b="0" i="0" u="none" strike="noStrike" dirty="0">
                          <a:solidFill>
                            <a:srgbClr val="141414"/>
                          </a:solidFill>
                          <a:effectLst/>
                          <a:latin typeface="Calibri" panose="020F0502020204030204" pitchFamily="34" charset="0"/>
                        </a:rPr>
                        <a:t>2.8%</a:t>
                      </a:r>
                    </a:p>
                  </a:txBody>
                  <a:tcPr marL="0" marR="0" marT="0" marB="0" anchor="b">
                    <a:lnL>
                      <a:noFill/>
                    </a:lnL>
                    <a:lnR>
                      <a:noFill/>
                    </a:lnR>
                    <a:lnT>
                      <a:noFill/>
                    </a:lnT>
                    <a:lnB>
                      <a:noFill/>
                    </a:lnB>
                    <a:noFill/>
                  </a:tcPr>
                </a:tc>
                <a:tc>
                  <a:txBody>
                    <a:bodyPr/>
                    <a:lstStyle/>
                    <a:p>
                      <a:pPr algn="ctr" rtl="0" fontAlgn="b"/>
                      <a:r>
                        <a:rPr lang="en-US" sz="1000" b="0" i="0" u="none" strike="noStrike" dirty="0">
                          <a:solidFill>
                            <a:srgbClr val="000000"/>
                          </a:solidFill>
                          <a:effectLst/>
                          <a:latin typeface="Calibri"/>
                        </a:rPr>
                        <a:t>0.10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871449363"/>
                  </a:ext>
                </a:extLst>
              </a:tr>
              <a:tr h="235899">
                <a:tc>
                  <a:txBody>
                    <a:bodyPr/>
                    <a:lstStyle/>
                    <a:p>
                      <a:pPr algn="l" fontAlgn="b">
                        <a:buNone/>
                      </a:pPr>
                      <a:r>
                        <a:rPr lang="en-US" sz="1000" b="1" kern="1200" dirty="0">
                          <a:solidFill>
                            <a:srgbClr val="000000"/>
                          </a:solidFill>
                          <a:latin typeface="Calibri" panose="020F0502020204030204" pitchFamily="34" charset="0"/>
                          <a:ea typeface="Calibri" panose="020F0502020204030204" pitchFamily="34" charset="0"/>
                          <a:cs typeface="Calibri" panose="020F0502020204030204" pitchFamily="34" charset="0"/>
                        </a:rPr>
                        <a:t>RGR-US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$32.54</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$519</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15.14x</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2.6x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1.78x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100" b="0" i="0" u="none" strike="noStrike">
                          <a:solidFill>
                            <a:srgbClr val="141414"/>
                          </a:solidFill>
                          <a:effectLst/>
                          <a:latin typeface="Calibri" panose="020F0502020204030204" pitchFamily="34" charset="0"/>
                        </a:rPr>
                        <a:t>9.4%</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7.7%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0.5%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5.7%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9.3%</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b"/>
                      <a:r>
                        <a:rPr lang="en-US" sz="1000" b="0" i="0" u="none" strike="noStrike" dirty="0">
                          <a:solidFill>
                            <a:srgbClr val="000000"/>
                          </a:solidFill>
                          <a:effectLst/>
                          <a:latin typeface="Calibri"/>
                        </a:rPr>
                        <a:t>0.09</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510278897"/>
                  </a:ext>
                </a:extLst>
              </a:tr>
              <a:tr h="230736">
                <a:tc>
                  <a:txBody>
                    <a:bodyPr/>
                    <a:lstStyle/>
                    <a:p>
                      <a:pPr algn="l" fontAlgn="b"/>
                      <a:r>
                        <a:rPr lang="en-US" sz="1000" b="1" i="0" u="none" strike="noStrike" dirty="0">
                          <a:solidFill>
                            <a:srgbClr val="000000"/>
                          </a:solidFill>
                          <a:effectLst/>
                          <a:latin typeface="Calibri" panose="020F0502020204030204" pitchFamily="34" charset="0"/>
                        </a:rPr>
                        <a:t>Average</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000" b="0" i="0" u="none" strike="noStrike" dirty="0">
                          <a:solidFill>
                            <a:srgbClr val="000000"/>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$1,585</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20.2x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5.7x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1.82x</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n-US" sz="1100" b="0" i="0" u="none" strike="noStrike" dirty="0">
                          <a:solidFill>
                            <a:srgbClr val="141414"/>
                          </a:solidFill>
                          <a:effectLst/>
                          <a:latin typeface="Calibri" panose="020F0502020204030204" pitchFamily="34" charset="0"/>
                        </a:rPr>
                        <a:t>4.7%</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2.3%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45.5%</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1.9%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3.2%</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000" b="0" i="0" u="none" strike="noStrike" dirty="0">
                          <a:solidFill>
                            <a:srgbClr val="000000"/>
                          </a:solidFill>
                          <a:effectLst/>
                          <a:latin typeface="Calibri"/>
                        </a:rPr>
                        <a:t>0.09</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163451724"/>
                  </a:ext>
                </a:extLst>
              </a:tr>
              <a:tr h="235899">
                <a:tc>
                  <a:txBody>
                    <a:bodyPr/>
                    <a:lstStyle/>
                    <a:p>
                      <a:pPr algn="l" fontAlgn="b"/>
                      <a:r>
                        <a:rPr lang="en-US" sz="1000" b="1" i="0" u="none" strike="noStrike" dirty="0">
                          <a:solidFill>
                            <a:srgbClr val="000000"/>
                          </a:solidFill>
                          <a:effectLst/>
                          <a:latin typeface="Calibri" panose="020F0502020204030204" pitchFamily="34" charset="0"/>
                        </a:rPr>
                        <a:t>Median</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000" b="0" i="0" u="none" strike="noStrike" dirty="0">
                          <a:solidFill>
                            <a:srgbClr val="000000"/>
                          </a:solidFill>
                          <a:effectLst/>
                          <a:latin typeface="Calibri" panose="020F050202020403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$494</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19.2x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4.9x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1.71x</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100" b="0" i="0" u="none" strike="noStrike" dirty="0">
                          <a:solidFill>
                            <a:srgbClr val="141414"/>
                          </a:solidFill>
                          <a:effectLst/>
                          <a:latin typeface="Calibri" panose="020F0502020204030204" pitchFamily="34" charset="0"/>
                        </a:rPr>
                        <a:t>6.7%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kern="1200" dirty="0">
                          <a:solidFill>
                            <a:srgbClr val="141414"/>
                          </a:solidFill>
                          <a:effectLst/>
                          <a:latin typeface="Calibri" panose="020F0502020204030204" pitchFamily="34" charset="0"/>
                          <a:ea typeface="+mn-ea"/>
                          <a:cs typeface="+mn-cs"/>
                        </a:rPr>
                        <a:t>2.3%</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7.0%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marL="0" algn="ctr" defTabSz="685783" rtl="0" eaLnBrk="1" fontAlgn="b" latinLnBrk="0" hangingPunct="1">
                        <a:buNone/>
                      </a:pPr>
                      <a:r>
                        <a:rPr lang="en-US" sz="1000" b="0" i="0" u="none" strike="noStrike" kern="1200" dirty="0">
                          <a:solidFill>
                            <a:srgbClr val="141414"/>
                          </a:solidFill>
                          <a:effectLst/>
                          <a:latin typeface="Calibri" panose="020F0502020204030204" pitchFamily="34" charset="0"/>
                          <a:ea typeface="+mn-ea"/>
                          <a:cs typeface="+mn-cs"/>
                        </a:rPr>
                        <a:t>2.3%</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en-US" sz="1000" b="0" i="0" u="none" strike="noStrike" dirty="0">
                          <a:solidFill>
                            <a:srgbClr val="141414"/>
                          </a:solidFill>
                          <a:effectLst/>
                          <a:latin typeface="Calibri" panose="020F0502020204030204" pitchFamily="34" charset="0"/>
                        </a:rPr>
                        <a:t>3.5%</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r>
                        <a:rPr lang="en-US" sz="1000" b="0" i="0" u="none" strike="noStrike" dirty="0">
                          <a:solidFill>
                            <a:srgbClr val="000000"/>
                          </a:solidFill>
                          <a:effectLst/>
                          <a:latin typeface="Calibri"/>
                        </a:rPr>
                        <a:t>0.09</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592527231"/>
                  </a:ext>
                </a:extLst>
              </a:tr>
            </a:tbl>
          </a:graphicData>
        </a:graphic>
      </p:graphicFrame>
      <p:pic>
        <p:nvPicPr>
          <p:cNvPr id="3" name="Picture 2" descr="Outdoor Industry Jobs">
            <a:extLst>
              <a:ext uri="{FF2B5EF4-FFF2-40B4-BE49-F238E27FC236}">
                <a16:creationId xmlns:a16="http://schemas.microsoft.com/office/drawing/2014/main" id="{98C943E6-9D82-AB22-2788-65851C061BB7}"/>
              </a:ext>
            </a:extLst>
          </p:cNvPr>
          <p:cNvPicPr>
            <a:picLocks noChangeAspect="1"/>
          </p:cNvPicPr>
          <p:nvPr/>
        </p:nvPicPr>
        <p:blipFill>
          <a:blip r:embed="rId9"/>
          <a:stretch>
            <a:fillRect/>
          </a:stretch>
        </p:blipFill>
        <p:spPr>
          <a:xfrm>
            <a:off x="6737770" y="96688"/>
            <a:ext cx="2310800" cy="453606"/>
          </a:xfrm>
          <a:prstGeom prst="rect">
            <a:avLst/>
          </a:prstGeom>
        </p:spPr>
      </p:pic>
    </p:spTree>
    <p:extLst>
      <p:ext uri="{BB962C8B-B14F-4D97-AF65-F5344CB8AC3E}">
        <p14:creationId xmlns:p14="http://schemas.microsoft.com/office/powerpoint/2010/main" val="462305059"/>
      </p:ext>
    </p:extLst>
  </p:cSld>
  <p:clrMapOvr>
    <a:masterClrMapping/>
  </p:clrMapOvr>
  <p:extLst>
    <p:ext uri="{6950BFC3-D8DA-4A85-94F7-54DA5524770B}">
      <p188:commentRel xmlns:p188="http://schemas.microsoft.com/office/powerpoint/2018/8/main" r:id="rId4"/>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0A909-DF15-CABB-7E05-8813FB8A5D2E}"/>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C4BA6010-2039-B0B2-A09D-EC35141B2F09}"/>
              </a:ext>
            </a:extLst>
          </p:cNvPr>
          <p:cNvGrpSpPr>
            <a:grpSpLocks/>
          </p:cNvGrpSpPr>
          <p:nvPr/>
        </p:nvGrpSpPr>
        <p:grpSpPr bwMode="auto">
          <a:xfrm>
            <a:off x="2179" y="77082"/>
            <a:ext cx="9144000" cy="576857"/>
            <a:chOff x="-2" y="-17873"/>
            <a:chExt cx="12192002" cy="769372"/>
          </a:xfrm>
        </p:grpSpPr>
        <p:sp>
          <p:nvSpPr>
            <p:cNvPr id="39" name="Title 1">
              <a:extLst>
                <a:ext uri="{FF2B5EF4-FFF2-40B4-BE49-F238E27FC236}">
                  <a16:creationId xmlns:a16="http://schemas.microsoft.com/office/drawing/2014/main" id="{3CA6555D-40A9-E7D1-04DD-0209E7FBDCFA}"/>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3000" b="1" dirty="0">
                  <a:solidFill>
                    <a:srgbClr val="000000"/>
                  </a:solidFill>
                  <a:latin typeface="Calibri" panose="020F0502020204030204" pitchFamily="34" charset="0"/>
                </a:rPr>
                <a:t>Fairly Valued (All Things Considered)</a:t>
              </a:r>
            </a:p>
          </p:txBody>
        </p:sp>
        <p:grpSp>
          <p:nvGrpSpPr>
            <p:cNvPr id="16397" name="Group 39">
              <a:extLst>
                <a:ext uri="{FF2B5EF4-FFF2-40B4-BE49-F238E27FC236}">
                  <a16:creationId xmlns:a16="http://schemas.microsoft.com/office/drawing/2014/main" id="{93F4EADB-BF28-D950-CCD7-9A1A31E04D08}"/>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C47B9E0B-8C36-C3D2-FB11-191B3CB3E80C}"/>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29F3A5AA-828F-5B1F-B04F-5ECABBC1C8A7}"/>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794A4630-E3FE-8171-8BC7-424C3A8B979C}"/>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09F84594-9165-F7F6-C20C-FA9D94143378}"/>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70BE4A69-2FF5-A3DA-8FA9-53E6258BA599}"/>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952316C8-52F6-9FFB-2B06-6A93944BC656}"/>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498F6B1E-383B-0933-10D3-57170C0CE1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E8464240-54ED-7472-9D5C-322D829E220E}"/>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B5A0A873-9526-5831-31FB-BA70C987C188}"/>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7BB53766-D9A9-7F75-EA65-F6ECCBB591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4BAB57CA-0415-2CCC-91FB-3D1AD33ED81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696F12C5-1E41-2D48-C5EB-DA79C0F44334}"/>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897321FE-91E0-9C2C-193A-8611220B2E2D}"/>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1B5E131B-3A51-548F-7097-C72092F9855C}"/>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AF4C5F76-7F13-8683-C105-3B5AE3C9D193}"/>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E357DBA5-407A-A742-EF2D-E72DA6D2483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21DEC872-6B55-2BD4-7138-0095C6EB30E6}"/>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D9931160-689F-4460-0800-4F2346FA03CD}"/>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3B455C79-DFA3-9C32-6368-E115F28EA07E}"/>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BF3923AF-F5EE-BF9B-A407-94E05B8214A3}"/>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1B92EFFC-B536-B0BE-9640-EAA2099B8BD7}"/>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0AB8D1E-3ED5-FC18-E5D0-97BE40B798C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977B2826-5CF6-BA5C-E2FE-FE996F724E9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4979" y="6263507"/>
            <a:ext cx="461513" cy="461513"/>
          </a:xfrm>
          <a:prstGeom prst="rect">
            <a:avLst/>
          </a:prstGeom>
        </p:spPr>
      </p:pic>
      <p:sp>
        <p:nvSpPr>
          <p:cNvPr id="6" name="Text Box 2">
            <a:extLst>
              <a:ext uri="{FF2B5EF4-FFF2-40B4-BE49-F238E27FC236}">
                <a16:creationId xmlns:a16="http://schemas.microsoft.com/office/drawing/2014/main" id="{C62AEACA-B868-639F-938B-56EFE78110B9}"/>
              </a:ext>
            </a:extLst>
          </p:cNvPr>
          <p:cNvSpPr txBox="1">
            <a:spLocks noChangeArrowheads="1"/>
          </p:cNvSpPr>
          <p:nvPr/>
        </p:nvSpPr>
        <p:spPr bwMode="auto">
          <a:xfrm>
            <a:off x="439276" y="2790297"/>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292934"/>
                </a:solidFill>
                <a:latin typeface="Calibri"/>
                <a:ea typeface="Calibri" panose="020F0502020204030204" pitchFamily="34" charset="0"/>
                <a:cs typeface="Times New Roman"/>
              </a:rPr>
              <a:t>Figure 23: Comparable fundamental &amp; valuation weights ​</a:t>
            </a:r>
            <a:endParaRPr lang="en-US" altLang="en-US" sz="12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 Box 2">
            <a:extLst>
              <a:ext uri="{FF2B5EF4-FFF2-40B4-BE49-F238E27FC236}">
                <a16:creationId xmlns:a16="http://schemas.microsoft.com/office/drawing/2014/main" id="{99D19F96-13E3-C573-51FE-EB9643C0F0EE}"/>
              </a:ext>
            </a:extLst>
          </p:cNvPr>
          <p:cNvSpPr txBox="1">
            <a:spLocks noChangeArrowheads="1"/>
          </p:cNvSpPr>
          <p:nvPr/>
        </p:nvSpPr>
        <p:spPr bwMode="auto">
          <a:xfrm>
            <a:off x="4727850" y="562994"/>
            <a:ext cx="2755791" cy="38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dirty="0">
                <a:solidFill>
                  <a:srgbClr val="292934"/>
                </a:solidFill>
                <a:latin typeface="Calibri"/>
                <a:ea typeface="Calibri" panose="020F0502020204030204" pitchFamily="34" charset="0"/>
                <a:cs typeface="Times New Roman"/>
              </a:rPr>
              <a:t>Figure 22: Composite relative valuation</a:t>
            </a:r>
            <a:endParaRPr lang="en-US" altLang="en-US" sz="12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Box 9">
            <a:extLst>
              <a:ext uri="{FF2B5EF4-FFF2-40B4-BE49-F238E27FC236}">
                <a16:creationId xmlns:a16="http://schemas.microsoft.com/office/drawing/2014/main" id="{2E879AE4-FA79-6019-1D1A-C5B11AE46F38}"/>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16</a:t>
            </a:fld>
            <a:endParaRPr lang="en-US" sz="1400">
              <a:latin typeface="Calibri" panose="020F0502020204030204" pitchFamily="34" charset="0"/>
              <a:cs typeface="Calibri" panose="020F0502020204030204" pitchFamily="34" charset="0"/>
            </a:endParaRPr>
          </a:p>
        </p:txBody>
      </p:sp>
      <p:sp>
        <p:nvSpPr>
          <p:cNvPr id="16" name="Text Box 2">
            <a:extLst>
              <a:ext uri="{FF2B5EF4-FFF2-40B4-BE49-F238E27FC236}">
                <a16:creationId xmlns:a16="http://schemas.microsoft.com/office/drawing/2014/main" id="{3F95500D-DE35-6564-B0EA-7F4D89F16847}"/>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A5FD403E-44A9-08CA-7711-959392381C89}"/>
              </a:ext>
            </a:extLst>
          </p:cNvPr>
          <p:cNvSpPr/>
          <p:nvPr/>
        </p:nvSpPr>
        <p:spPr>
          <a:xfrm>
            <a:off x="524444" y="2185105"/>
            <a:ext cx="3242129" cy="581589"/>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Given JOUT trades below regression line, it is undervalued based on these factors</a:t>
            </a:r>
          </a:p>
        </p:txBody>
      </p:sp>
      <p:pic>
        <p:nvPicPr>
          <p:cNvPr id="5" name="Picture 4" descr="Outdoor Industry Jobs">
            <a:extLst>
              <a:ext uri="{FF2B5EF4-FFF2-40B4-BE49-F238E27FC236}">
                <a16:creationId xmlns:a16="http://schemas.microsoft.com/office/drawing/2014/main" id="{8921594F-6F38-13E9-F5B3-3B1D67075D35}"/>
              </a:ext>
            </a:extLst>
          </p:cNvPr>
          <p:cNvPicPr>
            <a:picLocks noChangeAspect="1"/>
          </p:cNvPicPr>
          <p:nvPr/>
        </p:nvPicPr>
        <p:blipFill>
          <a:blip r:embed="rId9"/>
          <a:stretch>
            <a:fillRect/>
          </a:stretch>
        </p:blipFill>
        <p:spPr>
          <a:xfrm>
            <a:off x="6737770" y="96688"/>
            <a:ext cx="2310800" cy="453606"/>
          </a:xfrm>
          <a:prstGeom prst="rect">
            <a:avLst/>
          </a:prstGeom>
        </p:spPr>
      </p:pic>
      <p:sp>
        <p:nvSpPr>
          <p:cNvPr id="8" name="Rectangle 7">
            <a:extLst>
              <a:ext uri="{FF2B5EF4-FFF2-40B4-BE49-F238E27FC236}">
                <a16:creationId xmlns:a16="http://schemas.microsoft.com/office/drawing/2014/main" id="{8772178D-D0CB-42A0-6439-9BAE1B5E0E25}"/>
              </a:ext>
            </a:extLst>
          </p:cNvPr>
          <p:cNvSpPr/>
          <p:nvPr/>
        </p:nvSpPr>
        <p:spPr>
          <a:xfrm>
            <a:off x="524040" y="5284284"/>
            <a:ext cx="8045525" cy="77866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Several fundamental metrics are important to valuation. To compare a composite of fundamental factors to a composite of valuation factors, the raw data was first converted to percentiles based on the maximum value for each factor in the comp group. Then, the percentile for each factor was weighted according to perceived importance to create the final composites</a:t>
            </a:r>
          </a:p>
        </p:txBody>
      </p:sp>
      <p:graphicFrame>
        <p:nvGraphicFramePr>
          <p:cNvPr id="3" name="Chart 2">
            <a:extLst>
              <a:ext uri="{FF2B5EF4-FFF2-40B4-BE49-F238E27FC236}">
                <a16:creationId xmlns:a16="http://schemas.microsoft.com/office/drawing/2014/main" id="{9A90C808-3A63-A01A-0EB5-BB79D09B6E78}"/>
              </a:ext>
            </a:extLst>
          </p:cNvPr>
          <p:cNvGraphicFramePr>
            <a:graphicFrameLocks/>
          </p:cNvGraphicFramePr>
          <p:nvPr>
            <p:extLst>
              <p:ext uri="{D42A27DB-BD31-4B8C-83A1-F6EECF244321}">
                <p14:modId xmlns:p14="http://schemas.microsoft.com/office/powerpoint/2010/main" val="3115314228"/>
              </p:ext>
            </p:extLst>
          </p:nvPr>
        </p:nvGraphicFramePr>
        <p:xfrm>
          <a:off x="4822461" y="815059"/>
          <a:ext cx="3747104" cy="1967462"/>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7" name="Table 6">
            <a:extLst>
              <a:ext uri="{FF2B5EF4-FFF2-40B4-BE49-F238E27FC236}">
                <a16:creationId xmlns:a16="http://schemas.microsoft.com/office/drawing/2014/main" id="{DC7AFAFB-E50F-540E-2E2B-5AF53F53F48F}"/>
              </a:ext>
            </a:extLst>
          </p:cNvPr>
          <p:cNvGraphicFramePr>
            <a:graphicFrameLocks noGrp="1"/>
          </p:cNvGraphicFramePr>
          <p:nvPr>
            <p:custDataLst>
              <p:tags r:id="rId1"/>
            </p:custDataLst>
            <p:extLst>
              <p:ext uri="{D42A27DB-BD31-4B8C-83A1-F6EECF244321}">
                <p14:modId xmlns:p14="http://schemas.microsoft.com/office/powerpoint/2010/main" val="1060522419"/>
              </p:ext>
            </p:extLst>
          </p:nvPr>
        </p:nvGraphicFramePr>
        <p:xfrm>
          <a:off x="524040" y="3052187"/>
          <a:ext cx="8045525" cy="2030446"/>
        </p:xfrm>
        <a:graphic>
          <a:graphicData uri="http://schemas.openxmlformats.org/drawingml/2006/table">
            <a:tbl>
              <a:tblPr/>
              <a:tblGrid>
                <a:gridCol w="651535">
                  <a:extLst>
                    <a:ext uri="{9D8B030D-6E8A-4147-A177-3AD203B41FA5}">
                      <a16:colId xmlns:a16="http://schemas.microsoft.com/office/drawing/2014/main" val="2948155501"/>
                    </a:ext>
                  </a:extLst>
                </a:gridCol>
                <a:gridCol w="1340300">
                  <a:extLst>
                    <a:ext uri="{9D8B030D-6E8A-4147-A177-3AD203B41FA5}">
                      <a16:colId xmlns:a16="http://schemas.microsoft.com/office/drawing/2014/main" val="609408570"/>
                    </a:ext>
                  </a:extLst>
                </a:gridCol>
                <a:gridCol w="1340300">
                  <a:extLst>
                    <a:ext uri="{9D8B030D-6E8A-4147-A177-3AD203B41FA5}">
                      <a16:colId xmlns:a16="http://schemas.microsoft.com/office/drawing/2014/main" val="1363140944"/>
                    </a:ext>
                  </a:extLst>
                </a:gridCol>
                <a:gridCol w="1407316">
                  <a:extLst>
                    <a:ext uri="{9D8B030D-6E8A-4147-A177-3AD203B41FA5}">
                      <a16:colId xmlns:a16="http://schemas.microsoft.com/office/drawing/2014/main" val="3163769040"/>
                    </a:ext>
                  </a:extLst>
                </a:gridCol>
                <a:gridCol w="1161594">
                  <a:extLst>
                    <a:ext uri="{9D8B030D-6E8A-4147-A177-3AD203B41FA5}">
                      <a16:colId xmlns:a16="http://schemas.microsoft.com/office/drawing/2014/main" val="589128956"/>
                    </a:ext>
                  </a:extLst>
                </a:gridCol>
                <a:gridCol w="1072240">
                  <a:extLst>
                    <a:ext uri="{9D8B030D-6E8A-4147-A177-3AD203B41FA5}">
                      <a16:colId xmlns:a16="http://schemas.microsoft.com/office/drawing/2014/main" val="2348449344"/>
                    </a:ext>
                  </a:extLst>
                </a:gridCol>
                <a:gridCol w="1072240">
                  <a:extLst>
                    <a:ext uri="{9D8B030D-6E8A-4147-A177-3AD203B41FA5}">
                      <a16:colId xmlns:a16="http://schemas.microsoft.com/office/drawing/2014/main" val="1576019495"/>
                    </a:ext>
                  </a:extLst>
                </a:gridCol>
              </a:tblGrid>
              <a:tr h="182880">
                <a:tc>
                  <a:txBody>
                    <a:bodyPr/>
                    <a:lstStyle/>
                    <a:p>
                      <a:pPr algn="l" fontAlgn="b"/>
                      <a:r>
                        <a:rPr lang="en-US" sz="1100" b="1" i="0" u="none" strike="noStrike">
                          <a:solidFill>
                            <a:srgbClr val="000000"/>
                          </a:solidFill>
                          <a:effectLst/>
                          <a:latin typeface="Aptos Narrow" panose="020B000402020202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US" sz="1100" b="1" i="0" u="none" strike="noStrike">
                          <a:solidFill>
                            <a:srgbClr val="000000"/>
                          </a:solidFill>
                          <a:effectLst/>
                          <a:latin typeface="Aptos Narrow" panose="020B000402020202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US" sz="1100" b="1" i="0" u="none" strike="noStrike">
                          <a:solidFill>
                            <a:srgbClr val="000000"/>
                          </a:solidFill>
                          <a:effectLst/>
                          <a:latin typeface="Aptos Narrow" panose="020B000402020202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gridSpan="2">
                  <a:txBody>
                    <a:bodyPr/>
                    <a:lstStyle/>
                    <a:p>
                      <a:pPr algn="ctr" fontAlgn="b"/>
                      <a:r>
                        <a:rPr lang="en-US" sz="1100" b="1" i="0" u="none" strike="noStrike" dirty="0">
                          <a:solidFill>
                            <a:srgbClr val="000000"/>
                          </a:solidFill>
                          <a:effectLst/>
                          <a:latin typeface="Aptos Narrow" panose="020B0004020202020204" pitchFamily="34" charset="0"/>
                        </a:rPr>
                        <a:t>Fundamentals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fontAlgn="b"/>
                      <a:r>
                        <a:rPr lang="en-US" sz="1100" b="1" i="0" u="none" strike="noStrike">
                          <a:solidFill>
                            <a:srgbClr val="000000"/>
                          </a:solidFill>
                          <a:effectLst/>
                          <a:latin typeface="Aptos Narrow" panose="020B0004020202020204" pitchFamily="34" charset="0"/>
                        </a:rPr>
                        <a:t>Valuation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extLst>
                  <a:ext uri="{0D108BD9-81ED-4DB2-BD59-A6C34878D82A}">
                    <a16:rowId xmlns:a16="http://schemas.microsoft.com/office/drawing/2014/main" val="448491420"/>
                  </a:ext>
                </a:extLst>
              </a:tr>
              <a:tr h="262606">
                <a:tc>
                  <a:txBody>
                    <a:bodyPr/>
                    <a:lstStyle/>
                    <a:p>
                      <a:pPr algn="ctr" fontAlgn="b"/>
                      <a:r>
                        <a:rPr lang="en-US" sz="1200" b="1" i="0" u="none" strike="noStrike" dirty="0">
                          <a:solidFill>
                            <a:srgbClr val="FFFFFF"/>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gridSpan="2">
                  <a:txBody>
                    <a:bodyPr/>
                    <a:lstStyle/>
                    <a:p>
                      <a:pPr algn="ctr" fontAlgn="b"/>
                      <a:r>
                        <a:rPr lang="en-US" sz="1200" b="1" i="0" u="none" strike="noStrike">
                          <a:solidFill>
                            <a:srgbClr val="FFFFFF"/>
                          </a:solidFill>
                          <a:effectLst/>
                          <a:latin typeface="Calibri" panose="020F0502020204030204" pitchFamily="34" charset="0"/>
                        </a:rPr>
                        <a:t>Weight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hMerge="1">
                  <a:txBody>
                    <a:bodyPr/>
                    <a:lstStyle/>
                    <a:p>
                      <a:endParaRPr lang="en-US"/>
                    </a:p>
                  </a:txBody>
                  <a:tcPr/>
                </a:tc>
                <a:tc>
                  <a:txBody>
                    <a:bodyPr/>
                    <a:lstStyle/>
                    <a:p>
                      <a:pPr algn="ctr" fontAlgn="b"/>
                      <a:r>
                        <a:rPr lang="en-US" sz="1200" b="1" i="0" u="none" strike="noStrike" dirty="0">
                          <a:solidFill>
                            <a:srgbClr val="FFFFFF"/>
                          </a:solidFill>
                          <a:effectLst/>
                          <a:latin typeface="Calibri" panose="020F0502020204030204" pitchFamily="34" charset="0"/>
                        </a:rPr>
                        <a:t>50%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a:txBody>
                    <a:bodyPr/>
                    <a:lstStyle/>
                    <a:p>
                      <a:pPr algn="ctr" fontAlgn="b"/>
                      <a:r>
                        <a:rPr lang="en-US" sz="1200" b="1" i="0" u="none" strike="noStrike" dirty="0">
                          <a:solidFill>
                            <a:srgbClr val="FFFFFF"/>
                          </a:solidFill>
                          <a:effectLst/>
                          <a:latin typeface="Calibri" panose="020F0502020204030204" pitchFamily="34" charset="0"/>
                        </a:rPr>
                        <a:t>50%</a:t>
                      </a:r>
                    </a:p>
                  </a:txBody>
                  <a:tcPr marL="0" marR="0" marT="0" marB="0" anchor="b">
                    <a:lnL>
                      <a:noFill/>
                    </a:lnL>
                    <a:lnR w="6350" cap="flat" cmpd="sng" algn="ctr">
                      <a:solidFill>
                        <a:srgbClr val="FFFFFF"/>
                      </a:solidFill>
                      <a:prstDash val="solid"/>
                      <a:round/>
                      <a:headEnd type="none" w="med" len="med"/>
                      <a:tailEnd type="none" w="med" len="med"/>
                    </a:lnR>
                    <a:lnB w="6350" cap="flat" cmpd="sng" algn="ctr">
                      <a:solidFill>
                        <a:srgbClr val="FFFFFF"/>
                      </a:solidFill>
                      <a:prstDash val="solid"/>
                      <a:round/>
                      <a:headEnd type="none" w="med" len="med"/>
                      <a:tailEnd type="none" w="med" len="med"/>
                    </a:lnB>
                    <a:solidFill>
                      <a:srgbClr val="000000"/>
                    </a:solidFill>
                  </a:tcPr>
                </a:tc>
                <a:tc>
                  <a:txBody>
                    <a:bodyPr/>
                    <a:lstStyle/>
                    <a:p>
                      <a:pPr algn="ctr" fontAlgn="b"/>
                      <a:r>
                        <a:rPr lang="en-US" sz="1200" b="1" i="0" u="none" strike="noStrike" dirty="0">
                          <a:solidFill>
                            <a:srgbClr val="FFFFFF"/>
                          </a:solidFill>
                          <a:effectLst/>
                          <a:latin typeface="Calibri" panose="020F0502020204030204" pitchFamily="34" charset="0"/>
                        </a:rPr>
                        <a:t>50%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a:txBody>
                    <a:bodyPr/>
                    <a:lstStyle/>
                    <a:p>
                      <a:pPr algn="ctr" fontAlgn="b"/>
                      <a:r>
                        <a:rPr lang="en-US" sz="1200" b="1" i="0" u="none" strike="noStrike" dirty="0">
                          <a:solidFill>
                            <a:srgbClr val="FFFFFF"/>
                          </a:solidFill>
                          <a:effectLst/>
                          <a:latin typeface="Calibri" panose="020F0502020204030204" pitchFamily="34" charset="0"/>
                        </a:rPr>
                        <a:t>50%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1312182909"/>
                  </a:ext>
                </a:extLst>
              </a:tr>
              <a:tr h="198120">
                <a:tc>
                  <a:txBody>
                    <a:bodyPr/>
                    <a:lstStyle/>
                    <a:p>
                      <a:pPr algn="ctr" fontAlgn="b"/>
                      <a:r>
                        <a:rPr lang="en-US" sz="1200" b="1" i="0" u="none" strike="noStrike" dirty="0">
                          <a:solidFill>
                            <a:srgbClr val="FFFFFF"/>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gridSpan="2">
                  <a:txBody>
                    <a:bodyPr/>
                    <a:lstStyle/>
                    <a:p>
                      <a:pPr algn="ctr" fontAlgn="b"/>
                      <a:r>
                        <a:rPr lang="en-US" sz="1200" b="1" i="0" u="none" strike="noStrike">
                          <a:solidFill>
                            <a:srgbClr val="FFFFFF"/>
                          </a:solidFill>
                          <a:effectLst/>
                          <a:latin typeface="Calibri" panose="020F0502020204030204" pitchFamily="34" charset="0"/>
                        </a:rPr>
                        <a:t>Weighted</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hMerge="1">
                  <a:txBody>
                    <a:bodyPr/>
                    <a:lstStyle/>
                    <a:p>
                      <a:endParaRPr lang="en-US"/>
                    </a:p>
                  </a:txBody>
                  <a:tcPr/>
                </a:tc>
                <a:tc>
                  <a:txBody>
                    <a:bodyPr/>
                    <a:lstStyle/>
                    <a:p>
                      <a:pPr algn="ctr" fontAlgn="b"/>
                      <a:r>
                        <a:rPr lang="en-US" sz="1200" b="1" i="0" u="none" strike="noStrike">
                          <a:solidFill>
                            <a:srgbClr val="FFFFFF"/>
                          </a:solidFill>
                          <a:effectLst/>
                          <a:latin typeface="Calibri" panose="020F0502020204030204" pitchFamily="34" charset="0"/>
                        </a:rPr>
                        <a:t>2025</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a:txBody>
                    <a:bodyPr/>
                    <a:lstStyle/>
                    <a:p>
                      <a:pPr algn="ctr" fontAlgn="b"/>
                      <a:r>
                        <a:rPr lang="en-US" sz="1200" b="1" i="0" u="none" strike="noStrike" dirty="0">
                          <a:solidFill>
                            <a:srgbClr val="FFFFFF"/>
                          </a:solidFill>
                          <a:effectLst/>
                          <a:latin typeface="Calibri" panose="020F0502020204030204" pitchFamily="34" charset="0"/>
                        </a:rPr>
                        <a:t>Earnings Growth</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a:txBody>
                    <a:bodyPr/>
                    <a:lstStyle/>
                    <a:p>
                      <a:pPr algn="ctr" fontAlgn="b"/>
                      <a:r>
                        <a:rPr lang="en-US" sz="1200" b="1" i="0" u="none" strike="noStrike">
                          <a:solidFill>
                            <a:srgbClr val="FFFFFF"/>
                          </a:solidFill>
                          <a:effectLst/>
                          <a:latin typeface="Calibri" panose="020F0502020204030204" pitchFamily="34" charset="0"/>
                        </a:rPr>
                        <a:t> </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a:txBody>
                    <a:bodyPr/>
                    <a:lstStyle/>
                    <a:p>
                      <a:pPr algn="ctr" fontAlgn="b"/>
                      <a:r>
                        <a:rPr lang="en-US" sz="1200" b="1" i="0" u="none" strike="noStrike">
                          <a:solidFill>
                            <a:srgbClr val="FFFFFF"/>
                          </a:solidFill>
                          <a:effectLst/>
                          <a:latin typeface="Calibri" panose="020F050202020403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extLst>
                  <a:ext uri="{0D108BD9-81ED-4DB2-BD59-A6C34878D82A}">
                    <a16:rowId xmlns:a16="http://schemas.microsoft.com/office/drawing/2014/main" val="405292677"/>
                  </a:ext>
                </a:extLst>
              </a:tr>
              <a:tr h="198120">
                <a:tc>
                  <a:txBody>
                    <a:bodyPr/>
                    <a:lstStyle/>
                    <a:p>
                      <a:pPr algn="l" fontAlgn="b">
                        <a:buNone/>
                      </a:pPr>
                      <a:r>
                        <a:rPr lang="en-US" sz="1200" b="1" i="0" u="none" strike="noStrike">
                          <a:solidFill>
                            <a:srgbClr val="FFFFFF"/>
                          </a:solidFill>
                          <a:effectLst/>
                          <a:latin typeface="Calibri" panose="020F0502020204030204" pitchFamily="34" charset="0"/>
                        </a:rPr>
                        <a:t>Ticker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en-US" sz="1200" b="1" i="0" u="none" strike="noStrike" dirty="0">
                          <a:solidFill>
                            <a:srgbClr val="FFFFFF"/>
                          </a:solidFill>
                          <a:effectLst/>
                          <a:latin typeface="Calibri" panose="020F0502020204030204" pitchFamily="34" charset="0"/>
                        </a:rPr>
                        <a:t>Fund</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en-US" sz="1200" b="1" i="0" u="none" strike="noStrike" dirty="0">
                          <a:solidFill>
                            <a:srgbClr val="FFFFFF"/>
                          </a:solidFill>
                          <a:effectLst/>
                          <a:latin typeface="Calibri" panose="020F0502020204030204" pitchFamily="34" charset="0"/>
                        </a:rPr>
                        <a:t>Value</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en-US" sz="1200" b="1" i="0" u="none" strike="noStrike">
                          <a:solidFill>
                            <a:srgbClr val="FFFFFF"/>
                          </a:solidFill>
                          <a:effectLst/>
                          <a:latin typeface="Calibri" panose="020F0502020204030204" pitchFamily="34" charset="0"/>
                        </a:rPr>
                        <a:t>ROE</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en-US" sz="1200" b="1" i="0" u="none" strike="noStrike" dirty="0">
                          <a:solidFill>
                            <a:srgbClr val="FFFFFF"/>
                          </a:solidFill>
                          <a:effectLst/>
                          <a:latin typeface="Calibri" panose="020F0502020204030204" pitchFamily="34" charset="0"/>
                        </a:rPr>
                        <a:t>LTG</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en-US" sz="1200" b="1" i="0" u="none" strike="noStrike">
                          <a:solidFill>
                            <a:srgbClr val="FFFFFF"/>
                          </a:solidFill>
                          <a:effectLst/>
                          <a:latin typeface="Calibri" panose="020F0502020204030204" pitchFamily="34" charset="0"/>
                        </a:rPr>
                        <a:t>P/B</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r>
                        <a:rPr lang="en-US" sz="1200" b="1" i="0" u="none" strike="noStrike">
                          <a:solidFill>
                            <a:srgbClr val="FFFFFF"/>
                          </a:solidFill>
                          <a:effectLst/>
                          <a:latin typeface="Calibri" panose="020F0502020204030204" pitchFamily="34" charset="0"/>
                        </a:rPr>
                        <a:t>EV/EBIT</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491530160"/>
                  </a:ext>
                </a:extLst>
              </a:tr>
              <a:tr h="198120">
                <a:tc>
                  <a:txBody>
                    <a:bodyPr/>
                    <a:lstStyle/>
                    <a:p>
                      <a:pPr algn="l" fontAlgn="b">
                        <a:buNone/>
                      </a:pPr>
                      <a:r>
                        <a:rPr lang="en-US" sz="1200" b="1" i="0" u="none" strike="noStrike">
                          <a:solidFill>
                            <a:srgbClr val="141414"/>
                          </a:solidFill>
                          <a:effectLst/>
                          <a:latin typeface="Calibri" panose="020F0502020204030204" pitchFamily="34" charset="0"/>
                        </a:rPr>
                        <a:t>JOUT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4%</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35%</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-34%</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r>
                        <a:rPr lang="en-US" sz="1200" b="0" i="0" u="none" strike="noStrike" dirty="0">
                          <a:solidFill>
                            <a:srgbClr val="000000"/>
                          </a:solidFill>
                          <a:effectLst/>
                          <a:latin typeface="Calibri" panose="020F0502020204030204" pitchFamily="34" charset="0"/>
                        </a:rPr>
                        <a:t>93%</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30%</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40%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812290112"/>
                  </a:ext>
                </a:extLst>
              </a:tr>
              <a:tr h="198120">
                <a:tc>
                  <a:txBody>
                    <a:bodyPr/>
                    <a:lstStyle/>
                    <a:p>
                      <a:pPr algn="l" fontAlgn="b">
                        <a:buNone/>
                      </a:pPr>
                      <a:r>
                        <a:rPr lang="en-US" sz="1200" b="1" i="0" u="none" strike="noStrike">
                          <a:solidFill>
                            <a:srgbClr val="141414"/>
                          </a:solidFill>
                          <a:effectLst/>
                          <a:latin typeface="Calibri" panose="020F0502020204030204" pitchFamily="34" charset="0"/>
                        </a:rPr>
                        <a:t>BC</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100%</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71%</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100%</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r>
                        <a:rPr lang="en-US" sz="1200" b="0" i="0" u="none" strike="noStrike" dirty="0">
                          <a:solidFill>
                            <a:srgbClr val="000000"/>
                          </a:solidFill>
                          <a:effectLst/>
                          <a:latin typeface="Calibri" panose="020F0502020204030204" pitchFamily="34" charset="0"/>
                        </a:rPr>
                        <a:t>93%</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87%</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55%</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2788238264"/>
                  </a:ext>
                </a:extLst>
              </a:tr>
              <a:tr h="198120">
                <a:tc>
                  <a:txBody>
                    <a:bodyPr/>
                    <a:lstStyle/>
                    <a:p>
                      <a:pPr algn="l" fontAlgn="b">
                        <a:buNone/>
                      </a:pPr>
                      <a:r>
                        <a:rPr lang="en-US" sz="1200" b="1" i="0" u="none" strike="noStrike">
                          <a:solidFill>
                            <a:srgbClr val="141414"/>
                          </a:solidFill>
                          <a:effectLst/>
                          <a:latin typeface="Calibri" panose="020F0502020204030204" pitchFamily="34" charset="0"/>
                        </a:rPr>
                        <a:t>PII</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55%</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92%</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60%</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r>
                        <a:rPr lang="en-US" sz="1200" b="0" i="0" u="none" strike="noStrike" dirty="0">
                          <a:solidFill>
                            <a:srgbClr val="000000"/>
                          </a:solidFill>
                          <a:effectLst/>
                          <a:latin typeface="Calibri" panose="020F0502020204030204" pitchFamily="34" charset="0"/>
                        </a:rPr>
                        <a:t>93%</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100%</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84%</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891446317"/>
                  </a:ext>
                </a:extLst>
              </a:tr>
              <a:tr h="198120">
                <a:tc>
                  <a:txBody>
                    <a:bodyPr/>
                    <a:lstStyle/>
                    <a:p>
                      <a:pPr algn="l" fontAlgn="b">
                        <a:buNone/>
                      </a:pPr>
                      <a:r>
                        <a:rPr lang="en-US" sz="1200" b="1" i="0" u="none" strike="noStrike">
                          <a:solidFill>
                            <a:srgbClr val="141414"/>
                          </a:solidFill>
                          <a:effectLst/>
                          <a:latin typeface="Calibri" panose="020F0502020204030204" pitchFamily="34" charset="0"/>
                        </a:rPr>
                        <a:t>MCFT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36%</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59%</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0%</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r>
                        <a:rPr lang="en-US" sz="1200" b="0" i="0" u="none" strike="noStrike" dirty="0">
                          <a:solidFill>
                            <a:srgbClr val="000000"/>
                          </a:solidFill>
                          <a:effectLst/>
                          <a:latin typeface="Calibri" panose="020F0502020204030204" pitchFamily="34" charset="0"/>
                        </a:rPr>
                        <a:t>93%</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49%</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68%</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2578139534"/>
                  </a:ext>
                </a:extLst>
              </a:tr>
              <a:tr h="198120">
                <a:tc>
                  <a:txBody>
                    <a:bodyPr/>
                    <a:lstStyle/>
                    <a:p>
                      <a:pPr algn="l" fontAlgn="b">
                        <a:buNone/>
                      </a:pPr>
                      <a:r>
                        <a:rPr lang="en-US" sz="1200" b="1" i="0" u="none" strike="noStrike">
                          <a:solidFill>
                            <a:srgbClr val="141414"/>
                          </a:solidFill>
                          <a:effectLst/>
                          <a:latin typeface="Calibri" panose="020F0502020204030204" pitchFamily="34" charset="0"/>
                        </a:rPr>
                        <a:t>MBUU</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62%</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67%</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52%</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r>
                        <a:rPr lang="en-US" sz="1200" b="0" i="0" u="none" strike="noStrike" dirty="0">
                          <a:solidFill>
                            <a:srgbClr val="000000"/>
                          </a:solidFill>
                          <a:effectLst/>
                          <a:latin typeface="Calibri" panose="020F0502020204030204" pitchFamily="34" charset="0"/>
                        </a:rPr>
                        <a:t>93%</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en-US" sz="1200" b="0" i="0" u="none" strike="noStrike">
                          <a:solidFill>
                            <a:srgbClr val="141414"/>
                          </a:solidFill>
                          <a:effectLst/>
                          <a:latin typeface="Calibri" panose="020F0502020204030204" pitchFamily="34" charset="0"/>
                        </a:rPr>
                        <a:t>33%</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100%</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1726583553"/>
                  </a:ext>
                </a:extLst>
              </a:tr>
              <a:tr h="198120">
                <a:tc>
                  <a:txBody>
                    <a:bodyPr/>
                    <a:lstStyle/>
                    <a:p>
                      <a:pPr algn="l" fontAlgn="b">
                        <a:buNone/>
                      </a:pPr>
                      <a:r>
                        <a:rPr lang="en-US" sz="1200" b="1" i="0" u="none" strike="noStrike" dirty="0">
                          <a:solidFill>
                            <a:srgbClr val="141414"/>
                          </a:solidFill>
                          <a:effectLst/>
                          <a:latin typeface="Calibri" panose="020F0502020204030204" pitchFamily="34" charset="0"/>
                        </a:rPr>
                        <a:t>RGR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-17%</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57%</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-105%</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r>
                        <a:rPr lang="en-US" sz="1200" b="0" i="0" u="none" strike="noStrike" dirty="0">
                          <a:solidFill>
                            <a:srgbClr val="000000"/>
                          </a:solidFill>
                          <a:effectLst/>
                          <a:latin typeface="Calibri" panose="020F0502020204030204" pitchFamily="34" charset="0"/>
                        </a:rPr>
                        <a:t>93%</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56%</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1200" b="0" i="0" u="none" strike="noStrike" dirty="0">
                          <a:solidFill>
                            <a:srgbClr val="141414"/>
                          </a:solidFill>
                          <a:effectLst/>
                          <a:latin typeface="Calibri" panose="020F0502020204030204" pitchFamily="34" charset="0"/>
                        </a:rPr>
                        <a:t>57%</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506758702"/>
                  </a:ext>
                </a:extLst>
              </a:tr>
            </a:tbl>
          </a:graphicData>
        </a:graphic>
      </p:graphicFrame>
      <p:sp>
        <p:nvSpPr>
          <p:cNvPr id="11" name="Rectangle 10">
            <a:extLst>
              <a:ext uri="{FF2B5EF4-FFF2-40B4-BE49-F238E27FC236}">
                <a16:creationId xmlns:a16="http://schemas.microsoft.com/office/drawing/2014/main" id="{AEF9495B-893A-1F4D-8530-ECA4498FEFF3}"/>
              </a:ext>
            </a:extLst>
          </p:cNvPr>
          <p:cNvSpPr/>
          <p:nvPr/>
        </p:nvSpPr>
        <p:spPr>
          <a:xfrm>
            <a:off x="524041" y="815059"/>
            <a:ext cx="3242129" cy="127214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marL="171450" indent="-171450">
              <a:buFont typeface="Arial" panose="020B0604020202020204" pitchFamily="34" charset="0"/>
              <a:buChar char="•"/>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Fundamental Factors</a:t>
            </a:r>
          </a:p>
          <a:p>
            <a:pPr marL="628650" lvl="1" indent="-171450">
              <a:buFont typeface="Arial" panose="020B0604020202020204" pitchFamily="34" charset="0"/>
              <a:buChar char="•"/>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ROE (50%)</a:t>
            </a:r>
          </a:p>
          <a:p>
            <a:pPr marL="628650" lvl="1" indent="-171450">
              <a:buFont typeface="Arial" panose="020B0604020202020204" pitchFamily="34" charset="0"/>
              <a:buChar char="•"/>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LTG (50%)</a:t>
            </a:r>
          </a:p>
          <a:p>
            <a:pPr lvl="1">
              <a:defRPr/>
            </a:pPr>
            <a:endParaRPr lang="en-US" sz="5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Valuation</a:t>
            </a:r>
          </a:p>
          <a:p>
            <a:pPr marL="628650" lvl="1" indent="-171450">
              <a:buFont typeface="Arial" panose="020B0604020202020204" pitchFamily="34" charset="0"/>
              <a:buChar char="•"/>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P/B (50%)</a:t>
            </a:r>
          </a:p>
          <a:p>
            <a:pPr marL="628650" lvl="1" indent="-171450">
              <a:buFont typeface="Arial" panose="020B0604020202020204" pitchFamily="34" charset="0"/>
              <a:buChar char="•"/>
              <a:defRP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EV/EBIT (50%)</a:t>
            </a:r>
          </a:p>
        </p:txBody>
      </p:sp>
      <p:sp>
        <p:nvSpPr>
          <p:cNvPr id="2" name="Oval 1">
            <a:extLst>
              <a:ext uri="{FF2B5EF4-FFF2-40B4-BE49-F238E27FC236}">
                <a16:creationId xmlns:a16="http://schemas.microsoft.com/office/drawing/2014/main" id="{C15C07CB-179E-8A63-D840-E5379CA50976}"/>
              </a:ext>
            </a:extLst>
          </p:cNvPr>
          <p:cNvSpPr/>
          <p:nvPr/>
        </p:nvSpPr>
        <p:spPr>
          <a:xfrm>
            <a:off x="6315117" y="1794270"/>
            <a:ext cx="73152" cy="64008"/>
          </a:xfrm>
          <a:prstGeom prst="ellipse">
            <a:avLst/>
          </a:prstGeom>
          <a:solidFill>
            <a:srgbClr val="000000"/>
          </a:solidFill>
          <a:ln>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tar: 5 Points 3">
            <a:extLst>
              <a:ext uri="{FF2B5EF4-FFF2-40B4-BE49-F238E27FC236}">
                <a16:creationId xmlns:a16="http://schemas.microsoft.com/office/drawing/2014/main" id="{215826F1-848B-D502-3903-AB637CAB0A84}"/>
              </a:ext>
            </a:extLst>
          </p:cNvPr>
          <p:cNvSpPr/>
          <p:nvPr/>
        </p:nvSpPr>
        <p:spPr>
          <a:xfrm>
            <a:off x="6342549" y="1812558"/>
            <a:ext cx="18288" cy="27432"/>
          </a:xfrm>
          <a:prstGeom prst="star5">
            <a:avLst/>
          </a:prstGeom>
          <a:solidFill>
            <a:srgbClr val="F2C755"/>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1883142"/>
      </p:ext>
    </p:extLst>
  </p:cSld>
  <p:clrMapOvr>
    <a:masterClrMapping/>
  </p:clrMapOvr>
  <p:extLst>
    <p:ext uri="{6950BFC3-D8DA-4A85-94F7-54DA5524770B}">
      <p188:commentRel xmlns:p188="http://schemas.microsoft.com/office/powerpoint/2018/8/main" r:id="rId4"/>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E825B-28CA-A472-DB93-3C47F6CCF356}"/>
            </a:ext>
          </a:extLst>
        </p:cNvPr>
        <p:cNvGrpSpPr/>
        <p:nvPr/>
      </p:nvGrpSpPr>
      <p:grpSpPr>
        <a:xfrm>
          <a:off x="0" y="0"/>
          <a:ext cx="0" cy="0"/>
          <a:chOff x="0" y="0"/>
          <a:chExt cx="0" cy="0"/>
        </a:xfrm>
      </p:grpSpPr>
      <p:grpSp>
        <p:nvGrpSpPr>
          <p:cNvPr id="16392" name="Group 37">
            <a:extLst>
              <a:ext uri="{FF2B5EF4-FFF2-40B4-BE49-F238E27FC236}">
                <a16:creationId xmlns:a16="http://schemas.microsoft.com/office/drawing/2014/main" id="{E57A746A-C38E-B1EA-0846-C98AF15174D9}"/>
              </a:ext>
            </a:extLst>
          </p:cNvPr>
          <p:cNvGrpSpPr>
            <a:grpSpLocks/>
          </p:cNvGrpSpPr>
          <p:nvPr/>
        </p:nvGrpSpPr>
        <p:grpSpPr bwMode="auto">
          <a:xfrm>
            <a:off x="36753" y="-2111"/>
            <a:ext cx="9144000" cy="550068"/>
            <a:chOff x="-2" y="60547"/>
            <a:chExt cx="12192002" cy="733642"/>
          </a:xfrm>
        </p:grpSpPr>
        <p:sp>
          <p:nvSpPr>
            <p:cNvPr id="39" name="Title 1">
              <a:extLst>
                <a:ext uri="{FF2B5EF4-FFF2-40B4-BE49-F238E27FC236}">
                  <a16:creationId xmlns:a16="http://schemas.microsoft.com/office/drawing/2014/main" id="{0410F76B-7672-1649-42E8-080BD128152A}"/>
                </a:ext>
              </a:extLst>
            </p:cNvPr>
            <p:cNvSpPr txBox="1">
              <a:spLocks/>
            </p:cNvSpPr>
            <p:nvPr/>
          </p:nvSpPr>
          <p:spPr>
            <a:xfrm>
              <a:off x="-2" y="60547"/>
              <a:ext cx="11270514" cy="733642"/>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panose="020F0502020204030204" pitchFamily="34" charset="0"/>
                </a:rPr>
                <a:t>Two Stage DCF (First Stage $5.44 in Value)</a:t>
              </a:r>
            </a:p>
          </p:txBody>
        </p:sp>
        <p:grpSp>
          <p:nvGrpSpPr>
            <p:cNvPr id="16397" name="Group 39">
              <a:extLst>
                <a:ext uri="{FF2B5EF4-FFF2-40B4-BE49-F238E27FC236}">
                  <a16:creationId xmlns:a16="http://schemas.microsoft.com/office/drawing/2014/main" id="{5AAC6B99-A0FD-EBE7-10CA-1F74F0281CDB}"/>
                </a:ext>
              </a:extLst>
            </p:cNvPr>
            <p:cNvGrpSpPr>
              <a:grpSpLocks/>
            </p:cNvGrpSpPr>
            <p:nvPr/>
          </p:nvGrpSpPr>
          <p:grpSpPr bwMode="auto">
            <a:xfrm>
              <a:off x="-2" y="645614"/>
              <a:ext cx="12192002" cy="105885"/>
              <a:chOff x="2373524" y="569416"/>
              <a:chExt cx="6496168" cy="87055"/>
            </a:xfrm>
          </p:grpSpPr>
          <p:sp>
            <p:nvSpPr>
              <p:cNvPr id="42" name="Rectangle 41">
                <a:extLst>
                  <a:ext uri="{FF2B5EF4-FFF2-40B4-BE49-F238E27FC236}">
                    <a16:creationId xmlns:a16="http://schemas.microsoft.com/office/drawing/2014/main" id="{F42C067F-48FB-EF16-928A-3AAEE2544C96}"/>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CEB36DF-6FA6-722D-2583-5C945B566868}"/>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grpSp>
        <p:nvGrpSpPr>
          <p:cNvPr id="55" name="Group 54">
            <a:extLst>
              <a:ext uri="{FF2B5EF4-FFF2-40B4-BE49-F238E27FC236}">
                <a16:creationId xmlns:a16="http://schemas.microsoft.com/office/drawing/2014/main" id="{7ABEFAA1-263D-FA2D-4C90-A93D50A4618D}"/>
              </a:ext>
            </a:extLst>
          </p:cNvPr>
          <p:cNvGrpSpPr/>
          <p:nvPr/>
        </p:nvGrpSpPr>
        <p:grpSpPr>
          <a:xfrm>
            <a:off x="0" y="6265664"/>
            <a:ext cx="9144000" cy="457200"/>
            <a:chOff x="0" y="2732884"/>
            <a:chExt cx="9144000" cy="457200"/>
          </a:xfrm>
        </p:grpSpPr>
        <p:sp>
          <p:nvSpPr>
            <p:cNvPr id="56" name="Rectangle 55">
              <a:extLst>
                <a:ext uri="{FF2B5EF4-FFF2-40B4-BE49-F238E27FC236}">
                  <a16:creationId xmlns:a16="http://schemas.microsoft.com/office/drawing/2014/main" id="{1D758D70-F9D8-B253-4180-C4B1FBBD314C}"/>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AECE28FC-088C-6577-C4B4-A028D068856F}"/>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43796656-8692-44C2-946F-F2E8588D4C51}"/>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0948CAD9-173D-8A3B-50AE-93A5942D2E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F0F9AF20-9453-D305-A0BA-C6962CC4DA1B}"/>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73780E7E-FB8A-526F-2A36-2A34B77F7630}"/>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8D8B4AD3-633E-FA6C-EC49-585FF8A21CB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5E4F54F8-5FF9-C714-F9B6-E95C1E6A54DC}"/>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D97E686F-0A05-6333-5806-9FBEDA0A741A}"/>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96755F93-423E-3339-100C-7DB843B3195B}"/>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7313D56E-71BC-733D-975D-ED0A38BA5E98}"/>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228402DF-4D41-58B2-5A2D-DE7128A9FC63}"/>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D670666A-6760-35D1-656D-8D096DB263BC}"/>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AA8FA77C-6732-4C9D-6A3C-E99A9E96C20B}"/>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D0BD533D-01BE-0F49-13CF-D1CAE5B2BF44}"/>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1CCC8869-7801-2DD2-8ED9-399E6F47A36A}"/>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7220DA0A-4F7D-D520-43D0-480BC2C83D46}"/>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2900280A-608C-D732-9F2F-07865A378340}"/>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6028CD7D-1C5B-7EB2-12CF-8B6C7F6D7286}"/>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58E3FEBC-13EE-5FA5-E514-4C0FA4645E6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24979" y="6263507"/>
            <a:ext cx="461513" cy="461513"/>
          </a:xfrm>
          <a:prstGeom prst="rect">
            <a:avLst/>
          </a:prstGeom>
        </p:spPr>
      </p:pic>
      <p:sp>
        <p:nvSpPr>
          <p:cNvPr id="7" name="TextBox 6">
            <a:extLst>
              <a:ext uri="{FF2B5EF4-FFF2-40B4-BE49-F238E27FC236}">
                <a16:creationId xmlns:a16="http://schemas.microsoft.com/office/drawing/2014/main" id="{F32C997D-CB07-BDBA-A23F-C3BEEDF1E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17</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3F978FF4-1AF1-64A7-4531-545438A27FEA}"/>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dirty="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3" name="Rectangle 12">
            <a:extLst>
              <a:ext uri="{FF2B5EF4-FFF2-40B4-BE49-F238E27FC236}">
                <a16:creationId xmlns:a16="http://schemas.microsoft.com/office/drawing/2014/main" id="{11D77892-03B3-4FD6-8177-D152CFB6AB67}"/>
              </a:ext>
            </a:extLst>
          </p:cNvPr>
          <p:cNvSpPr/>
          <p:nvPr/>
        </p:nvSpPr>
        <p:spPr>
          <a:xfrm>
            <a:off x="6257325" y="4120484"/>
            <a:ext cx="2646042" cy="518232"/>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spcBef>
                <a:spcPts val="0"/>
              </a:spcBef>
              <a:spcAft>
                <a:spcPts val="0"/>
              </a:spcAft>
              <a:defRPr/>
            </a:pPr>
            <a:r>
              <a:rPr lang="en-US" sz="870" dirty="0">
                <a:solidFill>
                  <a:srgbClr val="000000"/>
                </a:solidFill>
                <a:latin typeface="Calibri" panose="020F0502020204030204" pitchFamily="34" charset="0"/>
                <a:ea typeface="Calibri" panose="020F0502020204030204" pitchFamily="34" charset="0"/>
                <a:cs typeface="Calibri" panose="020F0502020204030204" pitchFamily="34" charset="0"/>
              </a:rPr>
              <a:t>Present value of cash flows from the first stage is $6.52</a:t>
            </a:r>
          </a:p>
        </p:txBody>
      </p:sp>
      <p:sp>
        <p:nvSpPr>
          <p:cNvPr id="14" name="Rectangle 13">
            <a:extLst>
              <a:ext uri="{FF2B5EF4-FFF2-40B4-BE49-F238E27FC236}">
                <a16:creationId xmlns:a16="http://schemas.microsoft.com/office/drawing/2014/main" id="{F27B259C-5B83-97DB-BB6D-EE5826FD45F1}"/>
              </a:ext>
            </a:extLst>
          </p:cNvPr>
          <p:cNvSpPr/>
          <p:nvPr/>
        </p:nvSpPr>
        <p:spPr>
          <a:xfrm>
            <a:off x="6257324" y="4766201"/>
            <a:ext cx="2646043" cy="144139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lvl="0"/>
            <a:endParaRPr lang="en-US" altLang="en-US" sz="87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0"/>
            <a:r>
              <a:rPr lang="en-US" altLang="en-US" sz="870" dirty="0">
                <a:solidFill>
                  <a:srgbClr val="000000"/>
                </a:solidFill>
                <a:latin typeface="Calibri" panose="020F0502020204030204" pitchFamily="34" charset="0"/>
                <a:ea typeface="Calibri" panose="020F0502020204030204" pitchFamily="34" charset="0"/>
                <a:cs typeface="Calibri" panose="020F0502020204030204" pitchFamily="34" charset="0"/>
              </a:rPr>
              <a:t>Sales growth moderates post 2025 due to normalization of outdoor demand and tougher comps</a:t>
            </a:r>
          </a:p>
          <a:p>
            <a:pPr lvl="0">
              <a:buFontTx/>
              <a:buChar char="•"/>
            </a:pPr>
            <a:endParaRPr lang="en-US" altLang="en-US" sz="5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0"/>
            <a:r>
              <a:rPr lang="en-US" altLang="en-US" sz="870" dirty="0">
                <a:solidFill>
                  <a:srgbClr val="000000"/>
                </a:solidFill>
                <a:latin typeface="Calibri" panose="020F0502020204030204" pitchFamily="34" charset="0"/>
                <a:ea typeface="Calibri" panose="020F0502020204030204" pitchFamily="34" charset="0"/>
                <a:cs typeface="Calibri" panose="020F0502020204030204" pitchFamily="34" charset="0"/>
              </a:rPr>
              <a:t>Margin compression driven by lower operating leverage on slower revenue growth</a:t>
            </a:r>
          </a:p>
          <a:p>
            <a:pPr lvl="0">
              <a:buFontTx/>
              <a:buChar char="•"/>
            </a:pPr>
            <a:endParaRPr lang="en-US" altLang="en-US" sz="5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0"/>
            <a:r>
              <a:rPr lang="en-US" altLang="en-US" sz="870" dirty="0">
                <a:solidFill>
                  <a:srgbClr val="000000"/>
                </a:solidFill>
                <a:latin typeface="Calibri" panose="020F0502020204030204" pitchFamily="34" charset="0"/>
                <a:ea typeface="Calibri" panose="020F0502020204030204" pitchFamily="34" charset="0"/>
                <a:cs typeface="Calibri" panose="020F0502020204030204" pitchFamily="34" charset="0"/>
              </a:rPr>
              <a:t>Higher promo activity and retailer inventory discipline pressure gross margins</a:t>
            </a:r>
          </a:p>
          <a:p>
            <a:pPr lvl="0">
              <a:buFontTx/>
              <a:buChar char="•"/>
            </a:pPr>
            <a:endParaRPr lang="en-US" altLang="en-US" sz="5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lvl="0"/>
            <a:r>
              <a:rPr lang="en-US" altLang="en-US" sz="870" dirty="0">
                <a:solidFill>
                  <a:srgbClr val="000000"/>
                </a:solidFill>
                <a:latin typeface="Calibri" panose="020F0502020204030204" pitchFamily="34" charset="0"/>
                <a:ea typeface="Calibri" panose="020F0502020204030204" pitchFamily="34" charset="0"/>
                <a:cs typeface="Calibri" panose="020F0502020204030204" pitchFamily="34" charset="0"/>
              </a:rPr>
              <a:t>Elevated input and freight costs limit near-term margin expansion</a:t>
            </a:r>
          </a:p>
          <a:p>
            <a:pPr>
              <a:lnSpc>
                <a:spcPct val="150000"/>
              </a:lnSpc>
              <a:spcBef>
                <a:spcPts val="0"/>
              </a:spcBef>
              <a:spcAft>
                <a:spcPts val="0"/>
              </a:spcAft>
              <a:defRPr/>
            </a:pPr>
            <a:endParaRPr lang="en-US" sz="87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15" name="Table 14">
            <a:extLst>
              <a:ext uri="{FF2B5EF4-FFF2-40B4-BE49-F238E27FC236}">
                <a16:creationId xmlns:a16="http://schemas.microsoft.com/office/drawing/2014/main" id="{75724965-7751-58FE-08F5-41614025083A}"/>
              </a:ext>
            </a:extLst>
          </p:cNvPr>
          <p:cNvGraphicFramePr>
            <a:graphicFrameLocks noGrp="1"/>
          </p:cNvGraphicFramePr>
          <p:nvPr>
            <p:custDataLst>
              <p:tags r:id="rId1"/>
            </p:custDataLst>
            <p:extLst>
              <p:ext uri="{D42A27DB-BD31-4B8C-83A1-F6EECF244321}">
                <p14:modId xmlns:p14="http://schemas.microsoft.com/office/powerpoint/2010/main" val="622796620"/>
              </p:ext>
            </p:extLst>
          </p:nvPr>
        </p:nvGraphicFramePr>
        <p:xfrm>
          <a:off x="6257325" y="2735333"/>
          <a:ext cx="2646042" cy="1276163"/>
        </p:xfrm>
        <a:graphic>
          <a:graphicData uri="http://schemas.openxmlformats.org/drawingml/2006/table">
            <a:tbl>
              <a:tblPr/>
              <a:tblGrid>
                <a:gridCol w="588010">
                  <a:extLst>
                    <a:ext uri="{9D8B030D-6E8A-4147-A177-3AD203B41FA5}">
                      <a16:colId xmlns:a16="http://schemas.microsoft.com/office/drawing/2014/main" val="2782735703"/>
                    </a:ext>
                  </a:extLst>
                </a:gridCol>
                <a:gridCol w="108117">
                  <a:extLst>
                    <a:ext uri="{9D8B030D-6E8A-4147-A177-3AD203B41FA5}">
                      <a16:colId xmlns:a16="http://schemas.microsoft.com/office/drawing/2014/main" val="2941960202"/>
                    </a:ext>
                  </a:extLst>
                </a:gridCol>
                <a:gridCol w="479893">
                  <a:extLst>
                    <a:ext uri="{9D8B030D-6E8A-4147-A177-3AD203B41FA5}">
                      <a16:colId xmlns:a16="http://schemas.microsoft.com/office/drawing/2014/main" val="3181290527"/>
                    </a:ext>
                  </a:extLst>
                </a:gridCol>
                <a:gridCol w="105143">
                  <a:extLst>
                    <a:ext uri="{9D8B030D-6E8A-4147-A177-3AD203B41FA5}">
                      <a16:colId xmlns:a16="http://schemas.microsoft.com/office/drawing/2014/main" val="3057689284"/>
                    </a:ext>
                  </a:extLst>
                </a:gridCol>
                <a:gridCol w="659720">
                  <a:extLst>
                    <a:ext uri="{9D8B030D-6E8A-4147-A177-3AD203B41FA5}">
                      <a16:colId xmlns:a16="http://schemas.microsoft.com/office/drawing/2014/main" val="10325019"/>
                    </a:ext>
                  </a:extLst>
                </a:gridCol>
                <a:gridCol w="705159">
                  <a:extLst>
                    <a:ext uri="{9D8B030D-6E8A-4147-A177-3AD203B41FA5}">
                      <a16:colId xmlns:a16="http://schemas.microsoft.com/office/drawing/2014/main" val="623394214"/>
                    </a:ext>
                  </a:extLst>
                </a:gridCol>
              </a:tblGrid>
              <a:tr h="182309">
                <a:tc gridSpan="3">
                  <a:txBody>
                    <a:bodyPr/>
                    <a:lstStyle/>
                    <a:p>
                      <a:pPr algn="l" fontAlgn="b"/>
                      <a:r>
                        <a:rPr lang="en-US" sz="800" b="1" i="0" u="none" strike="noStrike" dirty="0">
                          <a:solidFill>
                            <a:srgbClr val="FFFFFF"/>
                          </a:solidFill>
                          <a:effectLst/>
                          <a:latin typeface="Calibri" panose="020F0502020204030204" pitchFamily="34" charset="0"/>
                        </a:rPr>
                        <a:t>Cost of Equity:</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0000"/>
                    </a:solidFill>
                  </a:tcPr>
                </a:tc>
                <a:tc hMerge="1">
                  <a:txBody>
                    <a:bodyPr/>
                    <a:lstStyle/>
                    <a:p>
                      <a:endParaRPr lang="en-US"/>
                    </a:p>
                  </a:txBody>
                  <a:tcPr/>
                </a:tc>
                <a:tc hMerge="1">
                  <a:txBody>
                    <a:bodyPr/>
                    <a:lstStyle/>
                    <a:p>
                      <a:pPr algn="l" fontAlgn="b"/>
                      <a:endParaRPr lang="en-US" sz="800" b="1" i="0" u="none" strike="noStrike" dirty="0">
                        <a:solidFill>
                          <a:srgbClr val="FFFFFF"/>
                        </a:solidFill>
                        <a:effectLst/>
                        <a:latin typeface="Calibri" panose="020F0502020204030204" pitchFamily="34" charset="0"/>
                      </a:endParaRPr>
                    </a:p>
                  </a:txBody>
                  <a:tcPr marL="0" marR="0" marT="0" marB="0" anchor="b">
                    <a:lnL w="6350" cap="flat" cmpd="sng" algn="ctr">
                      <a:no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0000"/>
                    </a:solidFill>
                  </a:tcPr>
                </a:tc>
                <a:tc gridSpan="2">
                  <a:txBody>
                    <a:bodyPr/>
                    <a:lstStyle/>
                    <a:p>
                      <a:pPr algn="l" fontAlgn="b"/>
                      <a:endParaRPr lang="en-US" sz="800" b="0" i="0" u="none" strike="noStrike" dirty="0">
                        <a:solidFill>
                          <a:srgbClr val="FFFFFF"/>
                        </a:solidFill>
                        <a:effectLst/>
                        <a:latin typeface="Calibri"/>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000000"/>
                    </a:solidFill>
                  </a:tcPr>
                </a:tc>
                <a:tc hMerge="1">
                  <a:txBody>
                    <a:bodyPr/>
                    <a:lstStyle/>
                    <a:p>
                      <a:pPr algn="l" fontAlgn="b"/>
                      <a:endParaRPr lang="en-US" sz="800" b="0" i="0" u="none" strike="noStrike">
                        <a:solidFill>
                          <a:srgbClr val="FFFFFF"/>
                        </a:solidFill>
                        <a:effectLst/>
                        <a:latin typeface="Calibri" panose="020F0502020204030204" pitchFamily="34" charset="0"/>
                      </a:endParaRP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000000"/>
                    </a:solidFill>
                  </a:tcPr>
                </a:tc>
                <a:tc>
                  <a:txBody>
                    <a:bodyPr/>
                    <a:lstStyle/>
                    <a:p>
                      <a:pPr algn="l" fontAlgn="b"/>
                      <a:endParaRPr lang="en-US" sz="800" b="0" i="0" u="none" strike="noStrike" dirty="0">
                        <a:solidFill>
                          <a:srgbClr val="FFFFFF"/>
                        </a:solidFill>
                        <a:effectLst/>
                        <a:latin typeface="Calibr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0000"/>
                    </a:solidFill>
                  </a:tcPr>
                </a:tc>
                <a:extLst>
                  <a:ext uri="{0D108BD9-81ED-4DB2-BD59-A6C34878D82A}">
                    <a16:rowId xmlns:a16="http://schemas.microsoft.com/office/drawing/2014/main" val="2274955219"/>
                  </a:ext>
                </a:extLst>
              </a:tr>
              <a:tr h="182309">
                <a:tc gridSpan="3">
                  <a:txBody>
                    <a:bodyPr/>
                    <a:lstStyle/>
                    <a:p>
                      <a:pPr algn="l" fontAlgn="b"/>
                      <a:r>
                        <a:rPr lang="en-US" sz="800" b="0" i="0" u="none" strike="noStrike" dirty="0">
                          <a:solidFill>
                            <a:srgbClr val="000000"/>
                          </a:solidFill>
                          <a:effectLst/>
                          <a:latin typeface="Calibri" panose="020F0502020204030204" pitchFamily="34" charset="0"/>
                        </a:rPr>
                        <a:t>Market return</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w="6350" cap="flat" cmpd="sng" algn="ctr">
                      <a:noFill/>
                      <a:prstDash val="solid"/>
                      <a:round/>
                      <a:headEnd type="none" w="med" len="med"/>
                      <a:tailEnd type="none" w="med" len="med"/>
                    </a:lnL>
                    <a:lnR>
                      <a:noFill/>
                    </a:lnR>
                    <a:lnT>
                      <a:noFill/>
                    </a:lnT>
                    <a:lnB>
                      <a:noFill/>
                    </a:lnB>
                    <a:noFill/>
                  </a:tcPr>
                </a:tc>
                <a:tc gridSpan="2">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b"/>
                      <a:r>
                        <a:rPr lang="en-US" sz="800" b="0" i="0" u="none" strike="noStrike" dirty="0">
                          <a:solidFill>
                            <a:srgbClr val="000000"/>
                          </a:solidFill>
                          <a:effectLst/>
                          <a:latin typeface="Calibri" panose="020F0502020204030204" pitchFamily="34" charset="0"/>
                        </a:rPr>
                        <a:t>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9308761"/>
                  </a:ext>
                </a:extLst>
              </a:tr>
              <a:tr h="182309">
                <a:tc gridSpan="3">
                  <a:txBody>
                    <a:bodyPr/>
                    <a:lstStyle/>
                    <a:p>
                      <a:pPr algn="l" fontAlgn="b"/>
                      <a:r>
                        <a:rPr lang="en-US" sz="800" b="0" i="0" u="none" strike="noStrike" dirty="0">
                          <a:solidFill>
                            <a:srgbClr val="000000"/>
                          </a:solidFill>
                          <a:effectLst/>
                          <a:latin typeface="Calibri" panose="020F0502020204030204" pitchFamily="34" charset="0"/>
                        </a:rPr>
                        <a:t>- Risk free rate</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pPr algn="l" fontAlgn="b"/>
                      <a:endParaRPr lang="en-US" sz="800" b="0" i="0" u="none" strike="noStrike" dirty="0">
                        <a:solidFill>
                          <a:srgbClr val="000000"/>
                        </a:solidFill>
                        <a:effectLst/>
                        <a:latin typeface="Calibri" panose="020F0502020204030204" pitchFamily="34" charset="0"/>
                      </a:endParaRPr>
                    </a:p>
                  </a:txBody>
                  <a:tcPr marL="0" marR="0" marT="0" marB="0" anchor="b">
                    <a:lnL w="6350" cap="flat" cmpd="sng" algn="ctr">
                      <a:noFill/>
                      <a:prstDash val="solid"/>
                      <a:round/>
                      <a:headEnd type="none" w="med" len="med"/>
                      <a:tailEnd type="none" w="med" len="med"/>
                    </a:lnL>
                    <a:lnR>
                      <a:noFill/>
                    </a:lnR>
                    <a:lnT>
                      <a:noFill/>
                    </a:lnT>
                    <a:lnB>
                      <a:noFill/>
                    </a:lnB>
                    <a:noFill/>
                  </a:tcPr>
                </a:tc>
                <a:tc gridSpan="2">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b"/>
                      <a:r>
                        <a:rPr lang="en-US" sz="800" b="0" i="0" u="none" strike="noStrike" dirty="0">
                          <a:solidFill>
                            <a:srgbClr val="000000"/>
                          </a:solidFill>
                          <a:effectLst/>
                          <a:latin typeface="Calibri" panose="020F0502020204030204" pitchFamily="34" charset="0"/>
                        </a:rPr>
                        <a:t>4%</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1530101"/>
                  </a:ext>
                </a:extLst>
              </a:tr>
              <a:tr h="182309">
                <a:tc gridSpan="5">
                  <a:txBody>
                    <a:bodyPr/>
                    <a:lstStyle/>
                    <a:p>
                      <a:pPr algn="l" fontAlgn="b"/>
                      <a:r>
                        <a:rPr lang="en-US" sz="800" b="0" i="0" u="none" strike="noStrike" dirty="0">
                          <a:solidFill>
                            <a:srgbClr val="000000"/>
                          </a:solidFill>
                          <a:effectLst/>
                          <a:latin typeface="Calibri"/>
                        </a:rPr>
                        <a:t>= Market risk premium</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w="6350" cap="flat" cmpd="sng" algn="ctr">
                      <a:noFill/>
                      <a:prstDash val="solid"/>
                      <a:round/>
                      <a:headEnd type="none" w="med" len="med"/>
                      <a:tailEnd type="none" w="med" len="med"/>
                    </a:lnL>
                    <a:lnR>
                      <a:noFill/>
                    </a:lnR>
                    <a:lnT>
                      <a:noFill/>
                    </a:lnT>
                    <a:lnB>
                      <a:noFill/>
                    </a:lnB>
                    <a:noFill/>
                  </a:tcPr>
                </a:tc>
                <a:tc>
                  <a:txBody>
                    <a:bodyPr/>
                    <a:lstStyle/>
                    <a:p>
                      <a:pPr algn="r" fontAlgn="b"/>
                      <a:r>
                        <a:rPr lang="en-US" sz="800" b="0" i="0" u="none" strike="noStrike" dirty="0">
                          <a:solidFill>
                            <a:srgbClr val="000000"/>
                          </a:solidFill>
                          <a:effectLst/>
                          <a:latin typeface="Calibri" panose="020F0502020204030204" pitchFamily="34" charset="0"/>
                        </a:rPr>
                        <a:t>5%</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859520333"/>
                  </a:ext>
                </a:extLst>
              </a:tr>
              <a:tr h="182309">
                <a:tc>
                  <a:txBody>
                    <a:bodyPr/>
                    <a:lstStyle/>
                    <a:p>
                      <a:pPr algn="l" fontAlgn="b"/>
                      <a:r>
                        <a:rPr lang="en-US" sz="800" b="0" i="0" u="none" strike="noStrike" dirty="0">
                          <a:solidFill>
                            <a:srgbClr val="000000"/>
                          </a:solidFill>
                          <a:effectLst/>
                          <a:latin typeface="Calibri"/>
                        </a:rPr>
                        <a:t>* Beta</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gridSpan="3">
                  <a:txBody>
                    <a:bodyPr/>
                    <a:lstStyle/>
                    <a:p>
                      <a:pPr algn="l" fontAlgn="b"/>
                      <a:endParaRPr lang="en-US" sz="8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hMerge="1">
                  <a:txBody>
                    <a:bodyPr/>
                    <a:lstStyle/>
                    <a:p>
                      <a:pPr algn="l" fontAlgn="b"/>
                      <a:endParaRPr lang="en-US" sz="8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endParaRPr lang="en-US" sz="8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b"/>
                      <a:r>
                        <a:rPr lang="en-US" sz="800" b="0" i="0" u="none" strike="noStrike" dirty="0">
                          <a:solidFill>
                            <a:srgbClr val="000000"/>
                          </a:solidFill>
                          <a:effectLst/>
                          <a:latin typeface="Calibri" panose="020F0502020204030204" pitchFamily="34" charset="0"/>
                        </a:rPr>
                        <a:t>1.55          </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0777397"/>
                  </a:ext>
                </a:extLst>
              </a:tr>
              <a:tr h="182309">
                <a:tc gridSpan="4">
                  <a:txBody>
                    <a:bodyPr/>
                    <a:lstStyle/>
                    <a:p>
                      <a:pPr algn="l" fontAlgn="b"/>
                      <a:r>
                        <a:rPr lang="en-US" sz="800" b="0" i="0" u="none" strike="noStrike" dirty="0">
                          <a:solidFill>
                            <a:srgbClr val="000000"/>
                          </a:solidFill>
                          <a:effectLst/>
                          <a:latin typeface="Calibri"/>
                        </a:rPr>
                        <a:t>= Stock risk premium</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hMerge="1">
                  <a:txBody>
                    <a:bodyPr/>
                    <a:lstStyle/>
                    <a:p>
                      <a:endParaRPr lang="en-US"/>
                    </a:p>
                  </a:txBody>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w="6350" cap="flat" cmpd="sng" algn="ctr">
                      <a:noFill/>
                      <a:prstDash val="solid"/>
                      <a:round/>
                      <a:headEnd type="none" w="med" len="med"/>
                      <a:tailEnd type="none" w="med" len="med"/>
                    </a:lnL>
                    <a:lnR>
                      <a:noFill/>
                    </a:lnR>
                    <a:lnT>
                      <a:noFill/>
                    </a:lnT>
                    <a:lnB>
                      <a:noFill/>
                    </a:lnB>
                    <a:noFill/>
                  </a:tcPr>
                </a:tc>
                <a:tc hMerge="1">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l" fontAlgn="b"/>
                      <a:endParaRPr lang="en-US" sz="8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noFill/>
                  </a:tcPr>
                </a:tc>
                <a:tc>
                  <a:txBody>
                    <a:bodyPr/>
                    <a:lstStyle/>
                    <a:p>
                      <a:pPr algn="r" fontAlgn="b"/>
                      <a:r>
                        <a:rPr lang="en-US" sz="800" b="0" i="0" u="none" strike="noStrike" dirty="0">
                          <a:solidFill>
                            <a:srgbClr val="000000"/>
                          </a:solidFill>
                          <a:effectLst/>
                          <a:latin typeface="Calibri" panose="020F0502020204030204" pitchFamily="34" charset="0"/>
                        </a:rPr>
                        <a:t>9%</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781790595"/>
                  </a:ext>
                </a:extLst>
              </a:tr>
              <a:tr h="182309">
                <a:tc gridSpan="2">
                  <a:txBody>
                    <a:bodyPr/>
                    <a:lstStyle/>
                    <a:p>
                      <a:pPr algn="l" fontAlgn="b"/>
                      <a:r>
                        <a:rPr lang="en-US" sz="800" b="1" i="0" u="none" strike="noStrike" dirty="0">
                          <a:solidFill>
                            <a:srgbClr val="FFFFFF"/>
                          </a:solidFill>
                          <a:effectLst/>
                          <a:latin typeface="Calibri"/>
                        </a:rPr>
                        <a:t>r = rf+ stock RP</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0000"/>
                    </a:solidFill>
                  </a:tcPr>
                </a:tc>
                <a:tc hMerge="1">
                  <a:txBody>
                    <a:bodyPr/>
                    <a:lstStyle/>
                    <a:p>
                      <a:pPr algn="l" fontAlgn="b"/>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000000"/>
                    </a:solidFill>
                  </a:tcPr>
                </a:tc>
                <a:tc gridSpan="2">
                  <a:txBody>
                    <a:bodyPr/>
                    <a:lstStyle/>
                    <a:p>
                      <a:pPr algn="l" fontAlgn="b"/>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000000"/>
                    </a:solidFill>
                  </a:tcPr>
                </a:tc>
                <a:tc hMerge="1">
                  <a:txBody>
                    <a:bodyPr/>
                    <a:lstStyle/>
                    <a:p>
                      <a:pPr algn="l" fontAlgn="b"/>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l" fontAlgn="b"/>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en-US" sz="800" b="1" i="0" u="none" strike="noStrike" dirty="0">
                          <a:solidFill>
                            <a:srgbClr val="FFFFFF"/>
                          </a:solidFill>
                          <a:effectLst/>
                          <a:latin typeface="Calibri" panose="020F0502020204030204" pitchFamily="34" charset="0"/>
                        </a:rPr>
                        <a:t>13%</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3126233989"/>
                  </a:ext>
                </a:extLst>
              </a:tr>
            </a:tbl>
          </a:graphicData>
        </a:graphic>
      </p:graphicFrame>
      <p:graphicFrame>
        <p:nvGraphicFramePr>
          <p:cNvPr id="16" name="Table 15">
            <a:extLst>
              <a:ext uri="{FF2B5EF4-FFF2-40B4-BE49-F238E27FC236}">
                <a16:creationId xmlns:a16="http://schemas.microsoft.com/office/drawing/2014/main" id="{8A3F5EEF-7447-C1BF-B917-D7504DA3C54C}"/>
              </a:ext>
            </a:extLst>
          </p:cNvPr>
          <p:cNvGraphicFramePr>
            <a:graphicFrameLocks noGrp="1"/>
          </p:cNvGraphicFramePr>
          <p:nvPr>
            <p:custDataLst>
              <p:tags r:id="rId2"/>
            </p:custDataLst>
            <p:extLst>
              <p:ext uri="{D42A27DB-BD31-4B8C-83A1-F6EECF244321}">
                <p14:modId xmlns:p14="http://schemas.microsoft.com/office/powerpoint/2010/main" val="101625494"/>
              </p:ext>
            </p:extLst>
          </p:nvPr>
        </p:nvGraphicFramePr>
        <p:xfrm>
          <a:off x="6257325" y="640646"/>
          <a:ext cx="2646042" cy="1781784"/>
        </p:xfrm>
        <a:graphic>
          <a:graphicData uri="http://schemas.openxmlformats.org/drawingml/2006/table">
            <a:tbl>
              <a:tblPr/>
              <a:tblGrid>
                <a:gridCol w="1306530">
                  <a:extLst>
                    <a:ext uri="{9D8B030D-6E8A-4147-A177-3AD203B41FA5}">
                      <a16:colId xmlns:a16="http://schemas.microsoft.com/office/drawing/2014/main" val="3515177858"/>
                    </a:ext>
                  </a:extLst>
                </a:gridCol>
                <a:gridCol w="1339512">
                  <a:extLst>
                    <a:ext uri="{9D8B030D-6E8A-4147-A177-3AD203B41FA5}">
                      <a16:colId xmlns:a16="http://schemas.microsoft.com/office/drawing/2014/main" val="3838563642"/>
                    </a:ext>
                  </a:extLst>
                </a:gridCol>
              </a:tblGrid>
              <a:tr h="196160">
                <a:tc>
                  <a:txBody>
                    <a:bodyPr/>
                    <a:lstStyle/>
                    <a:p>
                      <a:pPr algn="l" fontAlgn="b"/>
                      <a:r>
                        <a:rPr lang="en-US" sz="800" b="0" i="0" u="none" strike="noStrike" dirty="0">
                          <a:solidFill>
                            <a:srgbClr val="FFFFFF"/>
                          </a:solidFill>
                          <a:effectLst/>
                          <a:latin typeface="Calibri" panose="020F0502020204030204" pitchFamily="34" charset="0"/>
                        </a:rPr>
                        <a:t>Ticker</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en-US" sz="800" b="0" i="0" u="none" strike="noStrike" dirty="0">
                          <a:solidFill>
                            <a:srgbClr val="FFFFFF"/>
                          </a:solidFill>
                          <a:effectLst/>
                          <a:latin typeface="Calibri" panose="020F0502020204030204" pitchFamily="34" charset="0"/>
                        </a:rPr>
                        <a:t>Beta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963326220"/>
                  </a:ext>
                </a:extLst>
              </a:tr>
              <a:tr h="196160">
                <a:tc>
                  <a:txBody>
                    <a:bodyPr/>
                    <a:lstStyle/>
                    <a:p>
                      <a:pPr algn="l" fontAlgn="b">
                        <a:buNone/>
                      </a:pPr>
                      <a:r>
                        <a:rPr lang="en-US" sz="800" b="0" i="0" u="none" strike="noStrike" kern="1200" dirty="0">
                          <a:solidFill>
                            <a:srgbClr val="000000"/>
                          </a:solidFill>
                          <a:effectLst/>
                          <a:latin typeface="Calibri" panose="020F0502020204030204" pitchFamily="34" charset="0"/>
                          <a:ea typeface="+mn-ea"/>
                          <a:cs typeface="+mn-cs"/>
                        </a:rPr>
                        <a:t>JOUT</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buNone/>
                      </a:pPr>
                      <a:r>
                        <a:rPr lang="en-US" sz="800" b="0" i="0" u="none" strike="noStrike" dirty="0">
                          <a:solidFill>
                            <a:srgbClr val="141414"/>
                          </a:solidFill>
                          <a:effectLst/>
                          <a:latin typeface="Calibri"/>
                        </a:rPr>
                        <a:t>1.55</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034124589"/>
                  </a:ext>
                </a:extLst>
              </a:tr>
              <a:tr h="196160">
                <a:tc>
                  <a:txBody>
                    <a:bodyPr/>
                    <a:lstStyle/>
                    <a:p>
                      <a:pPr algn="l" fontAlgn="b">
                        <a:buNone/>
                      </a:pPr>
                      <a:r>
                        <a:rPr lang="en-US" sz="800" b="0" i="0" u="none" strike="noStrike" kern="1200" dirty="0">
                          <a:solidFill>
                            <a:srgbClr val="000000"/>
                          </a:solidFill>
                          <a:effectLst/>
                          <a:latin typeface="Calibri" panose="020F0502020204030204" pitchFamily="34" charset="0"/>
                          <a:ea typeface="+mn-ea"/>
                          <a:cs typeface="+mn-cs"/>
                        </a:rPr>
                        <a:t>BC</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800" b="0" i="0" u="none" strike="noStrike" dirty="0">
                          <a:solidFill>
                            <a:srgbClr val="141414"/>
                          </a:solidFill>
                          <a:effectLst/>
                          <a:latin typeface="Calibri" panose="020F0502020204030204" pitchFamily="34" charset="0"/>
                        </a:rPr>
                        <a:t>1.82</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735954592"/>
                  </a:ext>
                </a:extLst>
              </a:tr>
              <a:tr h="196160">
                <a:tc>
                  <a:txBody>
                    <a:bodyPr/>
                    <a:lstStyle/>
                    <a:p>
                      <a:pPr algn="l" fontAlgn="b">
                        <a:buNone/>
                      </a:pPr>
                      <a:r>
                        <a:rPr lang="en-US" sz="800" b="0" i="0" u="none" strike="noStrike" kern="1200" dirty="0">
                          <a:solidFill>
                            <a:srgbClr val="000000"/>
                          </a:solidFill>
                          <a:effectLst/>
                          <a:latin typeface="Calibri" panose="020F0502020204030204" pitchFamily="34" charset="0"/>
                          <a:ea typeface="+mn-ea"/>
                          <a:cs typeface="+mn-cs"/>
                        </a:rPr>
                        <a:t>PII</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800" b="0" i="0" u="none" strike="noStrike" dirty="0">
                          <a:solidFill>
                            <a:srgbClr val="141414"/>
                          </a:solidFill>
                          <a:effectLst/>
                          <a:latin typeface="Calibri" panose="020F0502020204030204" pitchFamily="34" charset="0"/>
                        </a:rPr>
                        <a:t>1.74</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3994208760"/>
                  </a:ext>
                </a:extLst>
              </a:tr>
              <a:tr h="196160">
                <a:tc>
                  <a:txBody>
                    <a:bodyPr/>
                    <a:lstStyle/>
                    <a:p>
                      <a:pPr algn="l" fontAlgn="b">
                        <a:buNone/>
                      </a:pPr>
                      <a:r>
                        <a:rPr lang="en-US" sz="800" b="0" i="0" u="none" strike="noStrike" kern="1200" dirty="0">
                          <a:solidFill>
                            <a:srgbClr val="000000"/>
                          </a:solidFill>
                          <a:effectLst/>
                          <a:latin typeface="Calibri" panose="020F0502020204030204" pitchFamily="34" charset="0"/>
                          <a:ea typeface="+mn-ea"/>
                          <a:cs typeface="+mn-cs"/>
                        </a:rPr>
                        <a:t>MCFT</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800" b="0" i="0" u="none" strike="noStrike" dirty="0">
                          <a:solidFill>
                            <a:srgbClr val="141414"/>
                          </a:solidFill>
                          <a:effectLst/>
                          <a:latin typeface="Calibri" panose="020F0502020204030204" pitchFamily="34" charset="0"/>
                        </a:rPr>
                        <a:t>1.14</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926039552"/>
                  </a:ext>
                </a:extLst>
              </a:tr>
              <a:tr h="196160">
                <a:tc>
                  <a:txBody>
                    <a:bodyPr/>
                    <a:lstStyle/>
                    <a:p>
                      <a:pPr algn="l" fontAlgn="b">
                        <a:buNone/>
                      </a:pPr>
                      <a:r>
                        <a:rPr lang="en-US" sz="800" b="0" i="0" u="none" strike="noStrike" kern="1200" dirty="0">
                          <a:solidFill>
                            <a:srgbClr val="000000"/>
                          </a:solidFill>
                          <a:effectLst/>
                          <a:latin typeface="Calibri" panose="020F0502020204030204" pitchFamily="34" charset="0"/>
                          <a:ea typeface="+mn-ea"/>
                          <a:cs typeface="+mn-cs"/>
                        </a:rPr>
                        <a:t>MBUU</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800" b="0" i="0" u="none" strike="noStrike" dirty="0">
                          <a:solidFill>
                            <a:srgbClr val="141414"/>
                          </a:solidFill>
                          <a:effectLst/>
                          <a:latin typeface="Calibri" panose="020F0502020204030204" pitchFamily="34" charset="0"/>
                        </a:rPr>
                        <a:t>1.41</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534011749"/>
                  </a:ext>
                </a:extLst>
              </a:tr>
              <a:tr h="204332">
                <a:tc>
                  <a:txBody>
                    <a:bodyPr/>
                    <a:lstStyle/>
                    <a:p>
                      <a:pPr algn="l" fontAlgn="b">
                        <a:buNone/>
                      </a:pPr>
                      <a:r>
                        <a:rPr lang="en-US" sz="800" b="0" i="0" u="none" strike="noStrike" kern="1200" dirty="0">
                          <a:solidFill>
                            <a:srgbClr val="000000"/>
                          </a:solidFill>
                          <a:effectLst/>
                          <a:latin typeface="Calibri" panose="020F0502020204030204" pitchFamily="34" charset="0"/>
                          <a:ea typeface="+mn-ea"/>
                          <a:cs typeface="+mn-cs"/>
                        </a:rPr>
                        <a:t>RGR</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800" b="0" i="0" u="none" strike="noStrike" dirty="0">
                          <a:solidFill>
                            <a:srgbClr val="141414"/>
                          </a:solidFill>
                          <a:effectLst/>
                          <a:latin typeface="Calibri" panose="020F0502020204030204" pitchFamily="34" charset="0"/>
                        </a:rPr>
                        <a:t>-0.07</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62883413"/>
                  </a:ext>
                </a:extLst>
              </a:tr>
              <a:tr h="204332">
                <a:tc>
                  <a:txBody>
                    <a:bodyPr/>
                    <a:lstStyle/>
                    <a:p>
                      <a:pPr algn="l" fontAlgn="b"/>
                      <a:r>
                        <a:rPr lang="en-US" sz="800" b="0" i="0" u="none" strike="noStrike" dirty="0">
                          <a:solidFill>
                            <a:srgbClr val="000000"/>
                          </a:solidFill>
                          <a:effectLst/>
                          <a:latin typeface="Calibri" panose="020F0502020204030204" pitchFamily="34" charset="0"/>
                        </a:rPr>
                        <a:t>Average</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r" fontAlgn="b">
                        <a:buNone/>
                      </a:pPr>
                      <a:r>
                        <a:rPr lang="en-US" sz="800" b="0" i="0" u="none" strike="noStrike" dirty="0">
                          <a:solidFill>
                            <a:srgbClr val="141414"/>
                          </a:solidFill>
                          <a:effectLst/>
                          <a:latin typeface="Calibri" panose="020F0502020204030204" pitchFamily="34" charset="0"/>
                        </a:rPr>
                        <a:t> 1.17</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99024727"/>
                  </a:ext>
                </a:extLst>
              </a:tr>
              <a:tr h="196160">
                <a:tc>
                  <a:txBody>
                    <a:bodyPr/>
                    <a:lstStyle/>
                    <a:p>
                      <a:pPr algn="l" fontAlgn="b"/>
                      <a:r>
                        <a:rPr lang="en-US" sz="800" b="0" i="0" u="none" strike="noStrike" dirty="0">
                          <a:solidFill>
                            <a:srgbClr val="FFFFFF"/>
                          </a:solidFill>
                          <a:effectLst/>
                          <a:latin typeface="Calibri" panose="020F0502020204030204" pitchFamily="34" charset="0"/>
                        </a:rPr>
                        <a:t>Beta</a:t>
                      </a: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000000"/>
                    </a:solidFill>
                  </a:tcPr>
                </a:tc>
                <a:tc>
                  <a:txBody>
                    <a:bodyPr/>
                    <a:lstStyle/>
                    <a:p>
                      <a:pPr algn="r" fontAlgn="b"/>
                      <a:r>
                        <a:rPr lang="en-US" sz="800" b="0" i="0" u="none" strike="noStrike" dirty="0">
                          <a:solidFill>
                            <a:srgbClr val="FFFFFF"/>
                          </a:solidFill>
                          <a:effectLst/>
                          <a:latin typeface="Calibri" panose="020F0502020204030204" pitchFamily="34" charset="0"/>
                        </a:rPr>
                        <a:t>1.55</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994326845"/>
                  </a:ext>
                </a:extLst>
              </a:tr>
            </a:tbl>
          </a:graphicData>
        </a:graphic>
      </p:graphicFrame>
      <p:sp>
        <p:nvSpPr>
          <p:cNvPr id="17" name="Text Box 2">
            <a:extLst>
              <a:ext uri="{FF2B5EF4-FFF2-40B4-BE49-F238E27FC236}">
                <a16:creationId xmlns:a16="http://schemas.microsoft.com/office/drawing/2014/main" id="{B1AB8DEF-E052-BD12-DC96-A5673D49E362}"/>
              </a:ext>
            </a:extLst>
          </p:cNvPr>
          <p:cNvSpPr txBox="1">
            <a:spLocks noChangeArrowheads="1"/>
          </p:cNvSpPr>
          <p:nvPr/>
        </p:nvSpPr>
        <p:spPr bwMode="auto">
          <a:xfrm>
            <a:off x="0" y="453624"/>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dirty="0">
                <a:solidFill>
                  <a:srgbClr val="292934"/>
                </a:solidFill>
                <a:latin typeface="Calibri"/>
                <a:ea typeface="Calibri" panose="020F0502020204030204" pitchFamily="34" charset="0"/>
                <a:cs typeface="Times New Roman"/>
              </a:rPr>
              <a:t>Figure 24: First Stage of DCF</a:t>
            </a:r>
            <a:endParaRPr lang="en-US" altLang="en-US" sz="8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8" name="Text Box 2">
            <a:extLst>
              <a:ext uri="{FF2B5EF4-FFF2-40B4-BE49-F238E27FC236}">
                <a16:creationId xmlns:a16="http://schemas.microsoft.com/office/drawing/2014/main" id="{CFA8BF61-6319-FA81-C9FE-D3297DA7D5BC}"/>
              </a:ext>
            </a:extLst>
          </p:cNvPr>
          <p:cNvSpPr txBox="1">
            <a:spLocks noChangeArrowheads="1"/>
          </p:cNvSpPr>
          <p:nvPr/>
        </p:nvSpPr>
        <p:spPr bwMode="auto">
          <a:xfrm>
            <a:off x="6198915" y="2537751"/>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dirty="0">
                <a:solidFill>
                  <a:srgbClr val="292934"/>
                </a:solidFill>
                <a:latin typeface="Calibri"/>
                <a:ea typeface="Calibri" panose="020F0502020204030204" pitchFamily="34" charset="0"/>
                <a:cs typeface="Times New Roman"/>
              </a:rPr>
              <a:t>Figure 26: WACC Justification</a:t>
            </a:r>
            <a:endParaRPr lang="en-US" altLang="en-US" sz="8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2">
            <a:extLst>
              <a:ext uri="{FF2B5EF4-FFF2-40B4-BE49-F238E27FC236}">
                <a16:creationId xmlns:a16="http://schemas.microsoft.com/office/drawing/2014/main" id="{AAD53107-DF31-51C7-59BF-BF150C2D9C5E}"/>
              </a:ext>
            </a:extLst>
          </p:cNvPr>
          <p:cNvSpPr txBox="1">
            <a:spLocks noChangeArrowheads="1"/>
          </p:cNvSpPr>
          <p:nvPr/>
        </p:nvSpPr>
        <p:spPr bwMode="auto">
          <a:xfrm>
            <a:off x="6193993" y="461701"/>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dirty="0">
                <a:solidFill>
                  <a:srgbClr val="292934"/>
                </a:solidFill>
                <a:latin typeface="Calibri"/>
                <a:ea typeface="Calibri" panose="020F0502020204030204" pitchFamily="34" charset="0"/>
                <a:cs typeface="Times New Roman"/>
              </a:rPr>
              <a:t>Figure 25: Beta Justification</a:t>
            </a:r>
            <a:endParaRPr lang="en-US" altLang="en-US" sz="8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descr="Outdoor Industry Jobs">
            <a:extLst>
              <a:ext uri="{FF2B5EF4-FFF2-40B4-BE49-F238E27FC236}">
                <a16:creationId xmlns:a16="http://schemas.microsoft.com/office/drawing/2014/main" id="{D21B38AE-9B50-3923-D99F-DF5C3DF4A730}"/>
              </a:ext>
            </a:extLst>
          </p:cNvPr>
          <p:cNvPicPr>
            <a:picLocks noChangeAspect="1"/>
          </p:cNvPicPr>
          <p:nvPr/>
        </p:nvPicPr>
        <p:blipFill>
          <a:blip r:embed="rId14"/>
          <a:stretch>
            <a:fillRect/>
          </a:stretch>
        </p:blipFill>
        <p:spPr>
          <a:xfrm>
            <a:off x="6737770" y="30915"/>
            <a:ext cx="2310800" cy="381851"/>
          </a:xfrm>
          <a:prstGeom prst="rect">
            <a:avLst/>
          </a:prstGeom>
        </p:spPr>
      </p:pic>
      <p:graphicFrame>
        <p:nvGraphicFramePr>
          <p:cNvPr id="3" name="Table 2">
            <a:extLst>
              <a:ext uri="{FF2B5EF4-FFF2-40B4-BE49-F238E27FC236}">
                <a16:creationId xmlns:a16="http://schemas.microsoft.com/office/drawing/2014/main" id="{44AE0573-5766-3BF3-10DD-75E425E2FFA0}"/>
              </a:ext>
            </a:extLst>
          </p:cNvPr>
          <p:cNvGraphicFramePr>
            <a:graphicFrameLocks noGrp="1"/>
          </p:cNvGraphicFramePr>
          <p:nvPr>
            <p:custDataLst>
              <p:tags r:id="rId3"/>
            </p:custDataLst>
            <p:extLst>
              <p:ext uri="{D42A27DB-BD31-4B8C-83A1-F6EECF244321}">
                <p14:modId xmlns:p14="http://schemas.microsoft.com/office/powerpoint/2010/main" val="3519938701"/>
              </p:ext>
            </p:extLst>
          </p:nvPr>
        </p:nvGraphicFramePr>
        <p:xfrm>
          <a:off x="36753" y="937633"/>
          <a:ext cx="1475295" cy="3962462"/>
        </p:xfrm>
        <a:graphic>
          <a:graphicData uri="http://schemas.openxmlformats.org/drawingml/2006/table">
            <a:tbl>
              <a:tblPr/>
              <a:tblGrid>
                <a:gridCol w="1475295">
                  <a:extLst>
                    <a:ext uri="{9D8B030D-6E8A-4147-A177-3AD203B41FA5}">
                      <a16:colId xmlns:a16="http://schemas.microsoft.com/office/drawing/2014/main" val="1791699529"/>
                    </a:ext>
                  </a:extLst>
                </a:gridCol>
              </a:tblGrid>
              <a:tr h="130630">
                <a:tc>
                  <a:txBody>
                    <a:bodyPr/>
                    <a:lstStyle/>
                    <a:p>
                      <a:pPr algn="l" fontAlgn="b">
                        <a:buNone/>
                      </a:pPr>
                      <a:r>
                        <a:rPr lang="en-US" sz="800" b="0" i="1" u="none" strike="noStrike" dirty="0">
                          <a:solidFill>
                            <a:srgbClr val="141414"/>
                          </a:solidFill>
                          <a:effectLst/>
                          <a:latin typeface="Calibri" panose="020F0502020204030204" pitchFamily="34" charset="0"/>
                        </a:rPr>
                        <a:t>Sales Growth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862861281"/>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NOPAT / S</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4187225749"/>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S / NWC</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665021279"/>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S / NFA (EOY)</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808908280"/>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S / IC (EOY)</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451770791"/>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ROIC (EOY)</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451219659"/>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ROIC (BOY)</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641992865"/>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Share Growth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792958192"/>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170632913"/>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Sales</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974555720"/>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39588729"/>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NOPAT</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1278877364"/>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Growth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09316360"/>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926948666"/>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Change in NWC</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1403136625"/>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NWC EOY</a:t>
                      </a:r>
                    </a:p>
                  </a:txBody>
                  <a:tcPr marL="85725"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950252652"/>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Growth NWC</a:t>
                      </a:r>
                    </a:p>
                  </a:txBody>
                  <a:tcPr marL="85725"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118207512"/>
                  </a:ext>
                </a:extLst>
              </a:tr>
              <a:tr h="145146">
                <a:tc>
                  <a:txBody>
                    <a:bodyPr/>
                    <a:lstStyle/>
                    <a:p>
                      <a:pPr algn="l" fontAlgn="b">
                        <a:buNone/>
                      </a:pPr>
                      <a:r>
                        <a:rPr lang="en-US" sz="800" b="0" i="0" u="none" strike="noStrike" dirty="0" err="1">
                          <a:solidFill>
                            <a:srgbClr val="141414"/>
                          </a:solidFill>
                          <a:effectLst/>
                          <a:latin typeface="Calibri" panose="020F0502020204030204" pitchFamily="34" charset="0"/>
                        </a:rPr>
                        <a:t>Chg</a:t>
                      </a:r>
                      <a:r>
                        <a:rPr lang="en-US" sz="800" b="0" i="0" u="none" strike="noStrike" dirty="0">
                          <a:solidFill>
                            <a:srgbClr val="141414"/>
                          </a:solidFill>
                          <a:effectLst/>
                          <a:latin typeface="Calibri" panose="020F0502020204030204" pitchFamily="34" charset="0"/>
                        </a:rPr>
                        <a:t> NFA</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353801035"/>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NFA EOY</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1246578920"/>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Growth NFA</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939290750"/>
                  </a:ext>
                </a:extLst>
              </a:tr>
              <a:tr h="145146">
                <a:tc>
                  <a:txBody>
                    <a:bodyPr/>
                    <a:lstStyle/>
                    <a:p>
                      <a:pPr algn="l" fontAlgn="b">
                        <a:buNone/>
                      </a:pPr>
                      <a:r>
                        <a:rPr lang="nl-NL" sz="800" b="0" i="0" u="none" strike="noStrike" dirty="0">
                          <a:solidFill>
                            <a:srgbClr val="141414"/>
                          </a:solidFill>
                          <a:effectLst/>
                          <a:latin typeface="Calibri" panose="020F0502020204030204" pitchFamily="34" charset="0"/>
                        </a:rPr>
                        <a:t>Total inv in op cap</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013532397"/>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Total net op cap</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543988114"/>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FCFF w/o cash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907825692"/>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 of sales</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01036924"/>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Growth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1749104831"/>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 No Shares</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631755395"/>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FCFF/share w/o cash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038887447"/>
                  </a:ext>
                </a:extLst>
              </a:tr>
              <a:tr h="145146">
                <a:tc>
                  <a:txBody>
                    <a:bodyPr/>
                    <a:lstStyle/>
                    <a:p>
                      <a:pPr algn="l" fontAlgn="b">
                        <a:buNone/>
                      </a:pPr>
                      <a:r>
                        <a:rPr lang="en-US" sz="800" b="0" i="0" u="none" strike="noStrike" dirty="0">
                          <a:solidFill>
                            <a:srgbClr val="141414"/>
                          </a:solidFill>
                          <a:effectLst/>
                          <a:latin typeface="Calibri" panose="020F0502020204030204" pitchFamily="34" charset="0"/>
                        </a:rPr>
                        <a:t>Interest (1-tax rate)</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218975133"/>
                  </a:ext>
                </a:extLst>
              </a:tr>
              <a:tr h="130630">
                <a:tc>
                  <a:txBody>
                    <a:bodyPr/>
                    <a:lstStyle/>
                    <a:p>
                      <a:pPr algn="l" fontAlgn="b">
                        <a:buNone/>
                      </a:pPr>
                      <a:r>
                        <a:rPr lang="en-US" sz="800" b="0" i="1" u="none" strike="noStrike" dirty="0">
                          <a:solidFill>
                            <a:srgbClr val="141414"/>
                          </a:solidFill>
                          <a:effectLst/>
                          <a:latin typeface="Calibri" panose="020F0502020204030204" pitchFamily="34" charset="0"/>
                        </a:rPr>
                        <a:t>Growth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127145587"/>
                  </a:ext>
                </a:extLst>
              </a:tr>
            </a:tbl>
          </a:graphicData>
        </a:graphic>
      </p:graphicFrame>
      <p:graphicFrame>
        <p:nvGraphicFramePr>
          <p:cNvPr id="4" name="Table 3">
            <a:extLst>
              <a:ext uri="{FF2B5EF4-FFF2-40B4-BE49-F238E27FC236}">
                <a16:creationId xmlns:a16="http://schemas.microsoft.com/office/drawing/2014/main" id="{A946917B-C0CD-1CA7-649A-1AED899B4526}"/>
              </a:ext>
            </a:extLst>
          </p:cNvPr>
          <p:cNvGraphicFramePr>
            <a:graphicFrameLocks noGrp="1"/>
          </p:cNvGraphicFramePr>
          <p:nvPr>
            <p:custDataLst>
              <p:tags r:id="rId4"/>
            </p:custDataLst>
            <p:extLst>
              <p:ext uri="{D42A27DB-BD31-4B8C-83A1-F6EECF244321}">
                <p14:modId xmlns:p14="http://schemas.microsoft.com/office/powerpoint/2010/main" val="2221940492"/>
              </p:ext>
            </p:extLst>
          </p:nvPr>
        </p:nvGraphicFramePr>
        <p:xfrm>
          <a:off x="30432" y="4892434"/>
          <a:ext cx="1475295" cy="1321994"/>
        </p:xfrm>
        <a:graphic>
          <a:graphicData uri="http://schemas.openxmlformats.org/drawingml/2006/table">
            <a:tbl>
              <a:tblPr/>
              <a:tblGrid>
                <a:gridCol w="1475295">
                  <a:extLst>
                    <a:ext uri="{9D8B030D-6E8A-4147-A177-3AD203B41FA5}">
                      <a16:colId xmlns:a16="http://schemas.microsoft.com/office/drawing/2014/main" val="3522635882"/>
                    </a:ext>
                  </a:extLst>
                </a:gridCol>
              </a:tblGrid>
              <a:tr h="142815">
                <a:tc>
                  <a:txBody>
                    <a:bodyPr/>
                    <a:lstStyle/>
                    <a:p>
                      <a:pPr algn="l" fontAlgn="b">
                        <a:buNone/>
                      </a:pPr>
                      <a:r>
                        <a:rPr lang="en-US" sz="800" b="0" i="0" u="none" strike="noStrike" dirty="0">
                          <a:solidFill>
                            <a:srgbClr val="141414"/>
                          </a:solidFill>
                          <a:effectLst/>
                          <a:latin typeface="Calibri" panose="020F0502020204030204" pitchFamily="34" charset="0"/>
                        </a:rPr>
                        <a:t>FCFE w/o debt &amp; cash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783951336"/>
                  </a:ext>
                </a:extLst>
              </a:tr>
              <a:tr h="142815">
                <a:tc>
                  <a:txBody>
                    <a:bodyPr/>
                    <a:lstStyle/>
                    <a:p>
                      <a:pPr algn="l" fontAlgn="b">
                        <a:buNone/>
                      </a:pPr>
                      <a:r>
                        <a:rPr lang="en-US" sz="800" b="0" i="1" u="none" strike="noStrike" dirty="0">
                          <a:solidFill>
                            <a:srgbClr val="141414"/>
                          </a:solidFill>
                          <a:effectLst/>
                          <a:latin typeface="Calibri" panose="020F0502020204030204" pitchFamily="34" charset="0"/>
                        </a:rPr>
                        <a:t>% of sales</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883290891"/>
                  </a:ext>
                </a:extLst>
              </a:tr>
              <a:tr h="142815">
                <a:tc>
                  <a:txBody>
                    <a:bodyPr/>
                    <a:lstStyle/>
                    <a:p>
                      <a:pPr algn="l" fontAlgn="b">
                        <a:buNone/>
                      </a:pPr>
                      <a:r>
                        <a:rPr lang="en-US" sz="800" b="0" i="1" u="none" strike="noStrike" dirty="0">
                          <a:solidFill>
                            <a:srgbClr val="141414"/>
                          </a:solidFill>
                          <a:effectLst/>
                          <a:latin typeface="Calibri" panose="020F0502020204030204" pitchFamily="34" charset="0"/>
                        </a:rPr>
                        <a:t>Growth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198320370"/>
                  </a:ext>
                </a:extLst>
              </a:tr>
              <a:tr h="142815">
                <a:tc>
                  <a:txBody>
                    <a:bodyPr/>
                    <a:lstStyle/>
                    <a:p>
                      <a:pPr algn="l" fontAlgn="b">
                        <a:buNone/>
                      </a:pPr>
                      <a:r>
                        <a:rPr lang="en-US" sz="800" b="0" i="0" u="none" strike="noStrike" dirty="0">
                          <a:solidFill>
                            <a:srgbClr val="141414"/>
                          </a:solidFill>
                          <a:effectLst/>
                          <a:latin typeface="Calibri" panose="020F0502020204030204" pitchFamily="34" charset="0"/>
                        </a:rPr>
                        <a:t>/ No Shares</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115256224"/>
                  </a:ext>
                </a:extLst>
              </a:tr>
              <a:tr h="142815">
                <a:tc>
                  <a:txBody>
                    <a:bodyPr/>
                    <a:lstStyle/>
                    <a:p>
                      <a:pPr algn="l" fontAlgn="b">
                        <a:buNone/>
                      </a:pPr>
                      <a:r>
                        <a:rPr lang="en-US" sz="800" b="0" i="0" u="none" strike="noStrike" dirty="0">
                          <a:solidFill>
                            <a:srgbClr val="141414"/>
                          </a:solidFill>
                          <a:effectLst/>
                          <a:latin typeface="Calibri" panose="020F0502020204030204" pitchFamily="34" charset="0"/>
                        </a:rPr>
                        <a:t>FCFE/share w/o debt &amp; cash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891994496"/>
                  </a:ext>
                </a:extLst>
              </a:tr>
              <a:tr h="142815">
                <a:tc>
                  <a:txBody>
                    <a:bodyPr/>
                    <a:lstStyle/>
                    <a:p>
                      <a:pPr algn="l" fontAlgn="b">
                        <a:buNone/>
                      </a:pPr>
                      <a:r>
                        <a:rPr lang="en-US" sz="800" b="0" i="1" u="none" strike="noStrike" dirty="0">
                          <a:solidFill>
                            <a:srgbClr val="141414"/>
                          </a:solidFill>
                          <a:effectLst/>
                          <a:latin typeface="Calibri" panose="020F0502020204030204" pitchFamily="34" charset="0"/>
                        </a:rPr>
                        <a:t>Growth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972951263"/>
                  </a:ext>
                </a:extLst>
              </a:tr>
              <a:tr h="142815">
                <a:tc>
                  <a:txBody>
                    <a:bodyPr/>
                    <a:lstStyle/>
                    <a:p>
                      <a:pPr algn="l" fontAlgn="b">
                        <a:buNone/>
                      </a:pPr>
                      <a:endParaRPr lang="en-US" sz="800" b="0" i="0" u="none" strike="noStrike" dirty="0">
                        <a:solidFill>
                          <a:srgbClr val="141414"/>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867997375"/>
                  </a:ext>
                </a:extLst>
              </a:tr>
              <a:tr h="142815">
                <a:tc>
                  <a:txBody>
                    <a:bodyPr/>
                    <a:lstStyle/>
                    <a:p>
                      <a:pPr algn="l" fontAlgn="b">
                        <a:buNone/>
                      </a:pPr>
                      <a:r>
                        <a:rPr lang="en-US" sz="800" b="0" i="0" u="none" strike="noStrike" dirty="0">
                          <a:solidFill>
                            <a:srgbClr val="141414"/>
                          </a:solidFill>
                          <a:effectLst/>
                          <a:latin typeface="Calibri" panose="020F0502020204030204" pitchFamily="34" charset="0"/>
                        </a:rPr>
                        <a:t>* FCFE Discount factor</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095896022"/>
                  </a:ext>
                </a:extLst>
              </a:tr>
              <a:tr h="179474">
                <a:tc>
                  <a:txBody>
                    <a:bodyPr/>
                    <a:lstStyle/>
                    <a:p>
                      <a:pPr algn="l" fontAlgn="b">
                        <a:buNone/>
                      </a:pPr>
                      <a:r>
                        <a:rPr lang="en-US" sz="700" b="0" i="0" u="none" strike="noStrike" dirty="0">
                          <a:solidFill>
                            <a:srgbClr val="141414"/>
                          </a:solidFill>
                          <a:effectLst/>
                          <a:latin typeface="Calibri" panose="020F0502020204030204" pitchFamily="34" charset="0"/>
                        </a:rPr>
                        <a:t>Discounted FCFE/share w/o debt &amp; cash</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2534073657"/>
                  </a:ext>
                </a:extLst>
              </a:tr>
            </a:tbl>
          </a:graphicData>
        </a:graphic>
      </p:graphicFrame>
      <p:graphicFrame>
        <p:nvGraphicFramePr>
          <p:cNvPr id="5" name="Table 4">
            <a:extLst>
              <a:ext uri="{FF2B5EF4-FFF2-40B4-BE49-F238E27FC236}">
                <a16:creationId xmlns:a16="http://schemas.microsoft.com/office/drawing/2014/main" id="{5ED50837-09E9-1479-188C-1FB92536F5F3}"/>
              </a:ext>
            </a:extLst>
          </p:cNvPr>
          <p:cNvGraphicFramePr>
            <a:graphicFrameLocks noGrp="1"/>
          </p:cNvGraphicFramePr>
          <p:nvPr>
            <p:custDataLst>
              <p:tags r:id="rId5"/>
            </p:custDataLst>
            <p:extLst>
              <p:ext uri="{D42A27DB-BD31-4B8C-83A1-F6EECF244321}">
                <p14:modId xmlns:p14="http://schemas.microsoft.com/office/powerpoint/2010/main" val="3934748260"/>
              </p:ext>
            </p:extLst>
          </p:nvPr>
        </p:nvGraphicFramePr>
        <p:xfrm>
          <a:off x="1498332" y="654185"/>
          <a:ext cx="4584868" cy="4243524"/>
        </p:xfrm>
        <a:graphic>
          <a:graphicData uri="http://schemas.openxmlformats.org/drawingml/2006/table">
            <a:tbl>
              <a:tblPr/>
              <a:tblGrid>
                <a:gridCol w="543551">
                  <a:extLst>
                    <a:ext uri="{9D8B030D-6E8A-4147-A177-3AD203B41FA5}">
                      <a16:colId xmlns:a16="http://schemas.microsoft.com/office/drawing/2014/main" val="2741726386"/>
                    </a:ext>
                  </a:extLst>
                </a:gridCol>
                <a:gridCol w="577331">
                  <a:extLst>
                    <a:ext uri="{9D8B030D-6E8A-4147-A177-3AD203B41FA5}">
                      <a16:colId xmlns:a16="http://schemas.microsoft.com/office/drawing/2014/main" val="212728055"/>
                    </a:ext>
                  </a:extLst>
                </a:gridCol>
                <a:gridCol w="577331">
                  <a:extLst>
                    <a:ext uri="{9D8B030D-6E8A-4147-A177-3AD203B41FA5}">
                      <a16:colId xmlns:a16="http://schemas.microsoft.com/office/drawing/2014/main" val="753717472"/>
                    </a:ext>
                  </a:extLst>
                </a:gridCol>
                <a:gridCol w="577331">
                  <a:extLst>
                    <a:ext uri="{9D8B030D-6E8A-4147-A177-3AD203B41FA5}">
                      <a16:colId xmlns:a16="http://schemas.microsoft.com/office/drawing/2014/main" val="1841067432"/>
                    </a:ext>
                  </a:extLst>
                </a:gridCol>
                <a:gridCol w="577331">
                  <a:extLst>
                    <a:ext uri="{9D8B030D-6E8A-4147-A177-3AD203B41FA5}">
                      <a16:colId xmlns:a16="http://schemas.microsoft.com/office/drawing/2014/main" val="3332397218"/>
                    </a:ext>
                  </a:extLst>
                </a:gridCol>
                <a:gridCol w="577331">
                  <a:extLst>
                    <a:ext uri="{9D8B030D-6E8A-4147-A177-3AD203B41FA5}">
                      <a16:colId xmlns:a16="http://schemas.microsoft.com/office/drawing/2014/main" val="2755866152"/>
                    </a:ext>
                  </a:extLst>
                </a:gridCol>
                <a:gridCol w="577331">
                  <a:extLst>
                    <a:ext uri="{9D8B030D-6E8A-4147-A177-3AD203B41FA5}">
                      <a16:colId xmlns:a16="http://schemas.microsoft.com/office/drawing/2014/main" val="1779567391"/>
                    </a:ext>
                  </a:extLst>
                </a:gridCol>
                <a:gridCol w="577331">
                  <a:extLst>
                    <a:ext uri="{9D8B030D-6E8A-4147-A177-3AD203B41FA5}">
                      <a16:colId xmlns:a16="http://schemas.microsoft.com/office/drawing/2014/main" val="2078485316"/>
                    </a:ext>
                  </a:extLst>
                </a:gridCol>
              </a:tblGrid>
              <a:tr h="131290">
                <a:tc>
                  <a:txBody>
                    <a:bodyPr/>
                    <a:lstStyle/>
                    <a:p>
                      <a:pPr algn="r" fontAlgn="b">
                        <a:buNone/>
                      </a:pPr>
                      <a:r>
                        <a:rPr lang="en-US" sz="800" b="1" i="0" u="none" strike="noStrike" dirty="0">
                          <a:solidFill>
                            <a:srgbClr val="FFFFFF"/>
                          </a:solidFill>
                          <a:effectLst/>
                          <a:latin typeface="Calibri" panose="020F0502020204030204" pitchFamily="34" charset="0"/>
                        </a:rPr>
                        <a:t>History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gridSpan="7">
                  <a:txBody>
                    <a:bodyPr/>
                    <a:lstStyle/>
                    <a:p>
                      <a:pPr algn="ctr" fontAlgn="b">
                        <a:buNone/>
                      </a:pPr>
                      <a:r>
                        <a:rPr lang="en-US" sz="800" b="1" i="0" u="none" strike="noStrike" dirty="0">
                          <a:solidFill>
                            <a:srgbClr val="FFFFFF"/>
                          </a:solidFill>
                          <a:effectLst/>
                          <a:latin typeface="Calibri"/>
                        </a:rPr>
                        <a:t>First Stage</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4141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95054967"/>
                  </a:ext>
                </a:extLst>
              </a:tr>
              <a:tr h="136539">
                <a:tc>
                  <a:txBody>
                    <a:bodyPr/>
                    <a:lstStyle/>
                    <a:p>
                      <a:pPr algn="r" fontAlgn="b">
                        <a:buNone/>
                      </a:pPr>
                      <a:r>
                        <a:rPr lang="en-US" sz="800" b="1" i="0" u="none" strike="noStrike" dirty="0">
                          <a:solidFill>
                            <a:srgbClr val="141414"/>
                          </a:solidFill>
                          <a:effectLst/>
                          <a:latin typeface="Calibri" panose="020F0502020204030204" pitchFamily="34" charset="0"/>
                        </a:rPr>
                        <a:t>2024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800" b="1" i="0" u="none" strike="noStrike" dirty="0">
                          <a:solidFill>
                            <a:srgbClr val="141414"/>
                          </a:solidFill>
                          <a:effectLst/>
                          <a:latin typeface="Calibri" panose="020F0502020204030204" pitchFamily="34" charset="0"/>
                        </a:rPr>
                        <a:t>2025</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800" b="1" i="0" u="none" strike="noStrike" dirty="0">
                          <a:solidFill>
                            <a:srgbClr val="141414"/>
                          </a:solidFill>
                          <a:effectLst/>
                          <a:latin typeface="Calibri"/>
                        </a:rPr>
                        <a:t>2026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800" b="1" i="0" u="none" strike="noStrike" dirty="0">
                          <a:solidFill>
                            <a:srgbClr val="141414"/>
                          </a:solidFill>
                          <a:effectLst/>
                          <a:latin typeface="Calibri"/>
                        </a:rPr>
                        <a:t>2027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800" b="1" i="0" u="none" strike="noStrike" dirty="0">
                          <a:solidFill>
                            <a:srgbClr val="141414"/>
                          </a:solidFill>
                          <a:effectLst/>
                          <a:latin typeface="Calibri"/>
                        </a:rPr>
                        <a:t>2028</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800" b="1" i="0" u="none" strike="noStrike" dirty="0">
                          <a:solidFill>
                            <a:srgbClr val="141414"/>
                          </a:solidFill>
                          <a:effectLst/>
                          <a:latin typeface="Calibri"/>
                        </a:rPr>
                        <a:t>2029</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800" b="1" i="0" u="none" strike="noStrike" dirty="0">
                          <a:solidFill>
                            <a:srgbClr val="141414"/>
                          </a:solidFill>
                          <a:effectLst/>
                          <a:latin typeface="Calibri"/>
                        </a:rPr>
                        <a:t>2030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800" b="1" i="0" u="none" strike="noStrike" dirty="0">
                          <a:solidFill>
                            <a:srgbClr val="141414"/>
                          </a:solidFill>
                          <a:effectLst/>
                          <a:latin typeface="Calibri" panose="020F0502020204030204" pitchFamily="34" charset="0"/>
                        </a:rPr>
                        <a:t>2031</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099897815"/>
                  </a:ext>
                </a:extLst>
              </a:tr>
              <a:tr h="136539">
                <a:tc>
                  <a:txBody>
                    <a:bodyPr/>
                    <a:lstStyle/>
                    <a:p>
                      <a:pPr algn="r" fontAlgn="b">
                        <a:buNone/>
                      </a:pPr>
                      <a:r>
                        <a:rPr lang="en-US" sz="800" b="0" i="1" u="none" strike="noStrike" dirty="0">
                          <a:solidFill>
                            <a:srgbClr val="141414"/>
                          </a:solidFill>
                          <a:effectLst/>
                          <a:latin typeface="Calibri" panose="020F0502020204030204" pitchFamily="34" charset="0"/>
                        </a:rPr>
                        <a:t>-10.7%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2.1%</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1.9%</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028219386"/>
                  </a:ext>
                </a:extLst>
              </a:tr>
              <a:tr h="136539">
                <a:tc>
                  <a:txBody>
                    <a:bodyPr/>
                    <a:lstStyle/>
                    <a:p>
                      <a:pPr algn="r" fontAlgn="b">
                        <a:buNone/>
                      </a:pPr>
                      <a:r>
                        <a:rPr lang="en-US" sz="800" b="0" i="1" u="none" strike="noStrike" dirty="0">
                          <a:solidFill>
                            <a:srgbClr val="141414"/>
                          </a:solidFill>
                          <a:effectLst/>
                          <a:latin typeface="Calibri" panose="020F0502020204030204" pitchFamily="34" charset="0"/>
                        </a:rPr>
                        <a:t>-6.6%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1" u="none" strike="noStrike" dirty="0">
                          <a:solidFill>
                            <a:srgbClr val="141414"/>
                          </a:solidFill>
                          <a:effectLst/>
                          <a:latin typeface="Calibri"/>
                        </a:rPr>
                        <a:t>4.7%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panose="020F0502020204030204" pitchFamily="34" charset="0"/>
                        </a:rPr>
                        <a:t>3.9%</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2.7%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2.7%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2.7%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2.7%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2.7%</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850340293"/>
                  </a:ext>
                </a:extLst>
              </a:tr>
              <a:tr h="152603">
                <a:tc>
                  <a:txBody>
                    <a:bodyPr/>
                    <a:lstStyle/>
                    <a:p>
                      <a:pPr algn="r" fontAlgn="b">
                        <a:buNone/>
                      </a:pPr>
                      <a:r>
                        <a:rPr lang="en-US" sz="800" b="0" i="1" u="none" strike="noStrike" dirty="0">
                          <a:solidFill>
                            <a:srgbClr val="141414"/>
                          </a:solidFill>
                          <a:effectLst/>
                          <a:latin typeface="Calibri" panose="020F0502020204030204" pitchFamily="34" charset="0"/>
                        </a:rPr>
                        <a:t>         3.35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          3.37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panose="020F0502020204030204" pitchFamily="34" charset="0"/>
                        </a:rPr>
                        <a:t>          3.37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3.37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3.37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3.37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3.37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3.37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3045858037"/>
                  </a:ext>
                </a:extLst>
              </a:tr>
              <a:tr h="136539">
                <a:tc>
                  <a:txBody>
                    <a:bodyPr/>
                    <a:lstStyle/>
                    <a:p>
                      <a:pPr algn="r" fontAlgn="b">
                        <a:buNone/>
                      </a:pPr>
                      <a:r>
                        <a:rPr lang="en-US" sz="800" b="0" i="1" u="none" strike="noStrike" dirty="0">
                          <a:solidFill>
                            <a:srgbClr val="141414"/>
                          </a:solidFill>
                          <a:effectLst/>
                          <a:latin typeface="Calibri"/>
                        </a:rPr>
                        <a:t>         6.11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          6.12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6.12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6.12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6.12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6.12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6.12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6.12 </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698356633"/>
                  </a:ext>
                </a:extLst>
              </a:tr>
              <a:tr h="136539">
                <a:tc>
                  <a:txBody>
                    <a:bodyPr/>
                    <a:lstStyle/>
                    <a:p>
                      <a:pPr algn="r" fontAlgn="b">
                        <a:buNone/>
                      </a:pPr>
                      <a:r>
                        <a:rPr lang="en-US" sz="800" b="0" i="1" u="none" strike="noStrike" dirty="0">
                          <a:solidFill>
                            <a:srgbClr val="141414"/>
                          </a:solidFill>
                          <a:effectLst/>
                          <a:latin typeface="Calibri"/>
                        </a:rPr>
                        <a:t>         2.16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          2.17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2.17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panose="020F0502020204030204" pitchFamily="34" charset="0"/>
                        </a:rPr>
                        <a:t>          2.17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2.17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2.17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2.17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          2.17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081727699"/>
                  </a:ext>
                </a:extLst>
              </a:tr>
              <a:tr h="136539">
                <a:tc>
                  <a:txBody>
                    <a:bodyPr/>
                    <a:lstStyle/>
                    <a:p>
                      <a:pPr algn="r" fontAlgn="b">
                        <a:buNone/>
                      </a:pPr>
                      <a:r>
                        <a:rPr lang="en-US" sz="800" b="0" i="1" u="none" strike="noStrike" dirty="0">
                          <a:solidFill>
                            <a:srgbClr val="141414"/>
                          </a:solidFill>
                          <a:effectLst/>
                          <a:latin typeface="Calibri"/>
                        </a:rPr>
                        <a:t>-14.3%</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10.1%</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8.4%</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5.9%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5.9%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5.9%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5.9%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5.9%</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3096693753"/>
                  </a:ext>
                </a:extLst>
              </a:tr>
              <a:tr h="136539">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1" u="none" strike="noStrike" dirty="0">
                          <a:solidFill>
                            <a:srgbClr val="141414"/>
                          </a:solidFill>
                          <a:effectLst/>
                          <a:latin typeface="Calibri"/>
                        </a:rPr>
                        <a:t>10.3%</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panose="020F0502020204030204" pitchFamily="34" charset="0"/>
                        </a:rPr>
                        <a:t>8.6%</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panose="020F0502020204030204" pitchFamily="34" charset="0"/>
                        </a:rPr>
                        <a:t>6.0%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6.0%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6.0%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6.0%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6.0%</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700725173"/>
                  </a:ext>
                </a:extLst>
              </a:tr>
              <a:tr h="136539">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026845442"/>
                  </a:ext>
                </a:extLst>
              </a:tr>
              <a:tr h="136539">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2794909511"/>
                  </a:ext>
                </a:extLst>
              </a:tr>
              <a:tr h="136539">
                <a:tc>
                  <a:txBody>
                    <a:bodyPr/>
                    <a:lstStyle/>
                    <a:p>
                      <a:pPr algn="r" fontAlgn="b">
                        <a:buNone/>
                      </a:pPr>
                      <a:r>
                        <a:rPr lang="en-US" sz="800" b="0" i="0" u="none" strike="noStrike" dirty="0">
                          <a:solidFill>
                            <a:srgbClr val="141414"/>
                          </a:solidFill>
                          <a:effectLst/>
                          <a:latin typeface="Calibri" panose="020F0502020204030204" pitchFamily="34" charset="0"/>
                        </a:rPr>
                        <a:t>$593</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$605</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$617</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$627</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$638</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$649</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$660</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$671</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3538009414"/>
                  </a:ext>
                </a:extLst>
              </a:tr>
              <a:tr h="136539">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3907994421"/>
                  </a:ext>
                </a:extLst>
              </a:tr>
              <a:tr h="136539">
                <a:tc>
                  <a:txBody>
                    <a:bodyPr/>
                    <a:lstStyle/>
                    <a:p>
                      <a:pPr algn="r" fontAlgn="b">
                        <a:buNone/>
                      </a:pPr>
                      <a:r>
                        <a:rPr lang="en-US" sz="800" b="0" i="0" u="none" strike="noStrike" dirty="0">
                          <a:solidFill>
                            <a:srgbClr val="141414"/>
                          </a:solidFill>
                          <a:effectLst/>
                          <a:latin typeface="Calibri"/>
                        </a:rPr>
                        <a:t>($39)</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$28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$24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$17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$17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$18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$18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$18 </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1531671221"/>
                  </a:ext>
                </a:extLst>
              </a:tr>
              <a:tr h="136539">
                <a:tc>
                  <a:txBody>
                    <a:bodyPr/>
                    <a:lstStyle/>
                    <a:p>
                      <a:pPr algn="r" fontAlgn="b">
                        <a:buNone/>
                      </a:pPr>
                      <a:r>
                        <a:rPr lang="en-US" sz="800" b="0" i="1" u="none" strike="noStrike" dirty="0">
                          <a:solidFill>
                            <a:srgbClr val="141414"/>
                          </a:solidFill>
                          <a:effectLst/>
                          <a:latin typeface="Calibri"/>
                        </a:rPr>
                        <a:t>226.0%</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-172.0%</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-15.1%</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-28.8%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3370276471"/>
                  </a:ext>
                </a:extLst>
              </a:tr>
              <a:tr h="136539">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166426666"/>
                  </a:ext>
                </a:extLst>
              </a:tr>
              <a:tr h="136539">
                <a:tc>
                  <a:txBody>
                    <a:bodyPr/>
                    <a:lstStyle/>
                    <a:p>
                      <a:pPr algn="r" fontAlgn="b">
                        <a:buNone/>
                      </a:pPr>
                      <a:r>
                        <a:rPr lang="en-US" sz="800" b="0" i="0" u="none" strike="noStrike" dirty="0">
                          <a:solidFill>
                            <a:srgbClr val="141414"/>
                          </a:solidFill>
                          <a:effectLst/>
                          <a:latin typeface="Calibri"/>
                        </a:rPr>
                        <a:t>-39</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506383146"/>
                  </a:ext>
                </a:extLst>
              </a:tr>
              <a:tr h="136539">
                <a:tc>
                  <a:txBody>
                    <a:bodyPr/>
                    <a:lstStyle/>
                    <a:p>
                      <a:pPr algn="r" fontAlgn="b">
                        <a:buNone/>
                      </a:pPr>
                      <a:r>
                        <a:rPr lang="en-US" sz="800" b="0" i="1" u="none" strike="noStrike" dirty="0">
                          <a:solidFill>
                            <a:srgbClr val="141414"/>
                          </a:solidFill>
                          <a:effectLst/>
                          <a:latin typeface="Calibri"/>
                        </a:rPr>
                        <a:t>177</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180</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183</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186</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193</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196</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199</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1609471846"/>
                  </a:ext>
                </a:extLst>
              </a:tr>
              <a:tr h="136539">
                <a:tc>
                  <a:txBody>
                    <a:bodyPr/>
                    <a:lstStyle/>
                    <a:p>
                      <a:pPr algn="r" fontAlgn="b">
                        <a:buNone/>
                      </a:pPr>
                      <a:r>
                        <a:rPr lang="en-US" sz="800" b="0" i="1" u="none" strike="noStrike" dirty="0">
                          <a:solidFill>
                            <a:srgbClr val="141414"/>
                          </a:solidFill>
                          <a:effectLst/>
                          <a:latin typeface="Calibri"/>
                        </a:rPr>
                        <a:t>-18.1%</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1.6%</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3825598135"/>
                  </a:ext>
                </a:extLst>
              </a:tr>
              <a:tr h="136539">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3683868537"/>
                  </a:ext>
                </a:extLst>
              </a:tr>
              <a:tr h="136539">
                <a:tc>
                  <a:txBody>
                    <a:bodyPr/>
                    <a:lstStyle/>
                    <a:p>
                      <a:pPr algn="r" fontAlgn="b">
                        <a:buNone/>
                      </a:pPr>
                      <a:r>
                        <a:rPr lang="en-US" sz="800" b="0" i="1" u="none" strike="noStrike" dirty="0">
                          <a:solidFill>
                            <a:srgbClr val="141414"/>
                          </a:solidFill>
                          <a:effectLst/>
                          <a:latin typeface="Calibri"/>
                        </a:rPr>
                        <a:t>            97 </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             99 </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101 </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102 </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104 </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106 </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108 </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           110 </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1429589643"/>
                  </a:ext>
                </a:extLst>
              </a:tr>
              <a:tr h="136539">
                <a:tc>
                  <a:txBody>
                    <a:bodyPr/>
                    <a:lstStyle/>
                    <a:p>
                      <a:pPr algn="r" fontAlgn="b">
                        <a:buNone/>
                      </a:pPr>
                      <a:r>
                        <a:rPr lang="en-US" sz="800" b="0" i="1" u="none" strike="noStrike" dirty="0">
                          <a:solidFill>
                            <a:srgbClr val="141414"/>
                          </a:solidFill>
                          <a:effectLst/>
                          <a:latin typeface="Calibri"/>
                        </a:rPr>
                        <a:t>3.2%</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1" u="none" strike="noStrike" dirty="0">
                          <a:solidFill>
                            <a:srgbClr val="141414"/>
                          </a:solidFill>
                          <a:effectLst/>
                          <a:latin typeface="Calibri"/>
                        </a:rPr>
                        <a:t>2.0%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1.9%</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595361765"/>
                  </a:ext>
                </a:extLst>
              </a:tr>
              <a:tr h="136539">
                <a:tc>
                  <a:txBody>
                    <a:bodyPr/>
                    <a:lstStyle/>
                    <a:p>
                      <a:pPr algn="r" fontAlgn="b">
                        <a:buNone/>
                      </a:pPr>
                      <a:r>
                        <a:rPr lang="en-US" sz="800" b="0" i="0" u="none" strike="noStrike" dirty="0">
                          <a:solidFill>
                            <a:srgbClr val="141414"/>
                          </a:solidFill>
                          <a:effectLst/>
                          <a:latin typeface="Calibri"/>
                        </a:rPr>
                        <a:t>-36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0" u="none" strike="noStrike" dirty="0">
                          <a:solidFill>
                            <a:srgbClr val="141414"/>
                          </a:solidFill>
                          <a:effectLst/>
                          <a:latin typeface="Calibri"/>
                        </a:rPr>
                        <a:t>5</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5</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5</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5</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5</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5</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5</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681397559"/>
                  </a:ext>
                </a:extLst>
              </a:tr>
              <a:tr h="136539">
                <a:tc>
                  <a:txBody>
                    <a:bodyPr/>
                    <a:lstStyle/>
                    <a:p>
                      <a:pPr algn="r" fontAlgn="b">
                        <a:buNone/>
                      </a:pPr>
                      <a:r>
                        <a:rPr lang="en-US" sz="800" b="0" i="0" u="none" strike="noStrike" dirty="0">
                          <a:solidFill>
                            <a:srgbClr val="141414"/>
                          </a:solidFill>
                          <a:effectLst/>
                          <a:latin typeface="Calibri"/>
                        </a:rPr>
                        <a:t>274</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279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284</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289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294</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299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304</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309</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1464911428"/>
                  </a:ext>
                </a:extLst>
              </a:tr>
              <a:tr h="136539">
                <a:tc>
                  <a:txBody>
                    <a:bodyPr/>
                    <a:lstStyle/>
                    <a:p>
                      <a:pPr algn="r" fontAlgn="b">
                        <a:buNone/>
                      </a:pPr>
                      <a:r>
                        <a:rPr lang="en-US" sz="800" b="0" i="0" u="none" strike="noStrike" dirty="0">
                          <a:solidFill>
                            <a:srgbClr val="141414"/>
                          </a:solidFill>
                          <a:effectLst/>
                          <a:latin typeface="Calibri"/>
                        </a:rPr>
                        <a:t>($3)</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$23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$19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$13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$13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$13 </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1179255081"/>
                  </a:ext>
                </a:extLst>
              </a:tr>
              <a:tr h="136539">
                <a:tc>
                  <a:txBody>
                    <a:bodyPr/>
                    <a:lstStyle/>
                    <a:p>
                      <a:pPr algn="r" fontAlgn="b">
                        <a:buNone/>
                      </a:pPr>
                      <a:r>
                        <a:rPr lang="en-US" sz="800" b="0" i="1" u="none" strike="noStrike" dirty="0">
                          <a:solidFill>
                            <a:srgbClr val="141414"/>
                          </a:solidFill>
                          <a:effectLst/>
                          <a:latin typeface="Calibri"/>
                        </a:rPr>
                        <a:t>-0.5%</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3.9%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3.0%</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1.9%</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3574211613"/>
                  </a:ext>
                </a:extLst>
              </a:tr>
              <a:tr h="136539">
                <a:tc>
                  <a:txBody>
                    <a:bodyPr/>
                    <a:lstStyle/>
                    <a:p>
                      <a:pPr algn="r" fontAlgn="b">
                        <a:buNone/>
                      </a:pPr>
                      <a:r>
                        <a:rPr lang="en-US" sz="800" b="0" i="0" u="none" strike="noStrike" dirty="0">
                          <a:solidFill>
                            <a:srgbClr val="141414"/>
                          </a:solidFill>
                          <a:effectLst/>
                          <a:latin typeface="Calibri"/>
                        </a:rPr>
                        <a:t>-204%</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-853.1%</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-20.7%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-34.5%</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1.7%</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93916679"/>
                  </a:ext>
                </a:extLst>
              </a:tr>
              <a:tr h="136539">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797662734"/>
                  </a:ext>
                </a:extLst>
              </a:tr>
              <a:tr h="136539">
                <a:tc>
                  <a:txBody>
                    <a:bodyPr/>
                    <a:lstStyle/>
                    <a:p>
                      <a:pPr algn="r" fontAlgn="b">
                        <a:buNone/>
                      </a:pPr>
                      <a:r>
                        <a:rPr lang="en-US" sz="800" b="0" i="0" u="none" strike="noStrike" dirty="0">
                          <a:solidFill>
                            <a:srgbClr val="141414"/>
                          </a:solidFill>
                          <a:effectLst/>
                          <a:latin typeface="Calibri"/>
                        </a:rPr>
                        <a:t>($0.31)</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$2.30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$1.82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$1.19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$1.22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$1.24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$1.26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$1.28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2678121198"/>
                  </a:ext>
                </a:extLst>
              </a:tr>
              <a:tr h="136539">
                <a:tc>
                  <a:txBody>
                    <a:bodyPr/>
                    <a:lstStyle/>
                    <a:p>
                      <a:pPr algn="r" fontAlgn="b">
                        <a:buNone/>
                      </a:pPr>
                      <a:r>
                        <a:rPr lang="en-US" sz="800" b="0" i="0" u="none" strike="noStrike" dirty="0">
                          <a:solidFill>
                            <a:srgbClr val="141414"/>
                          </a:solidFill>
                          <a:effectLst/>
                          <a:latin typeface="Calibri"/>
                        </a:rPr>
                        <a:t>1</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1</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a:t>
                      </a:r>
                    </a:p>
                  </a:txBody>
                  <a:tcPr marL="0" marR="0" marT="0" marB="0" anchor="b">
                    <a:lnL>
                      <a:noFill/>
                    </a:lnL>
                    <a:lnR>
                      <a:noFill/>
                    </a:lnR>
                    <a:lnT>
                      <a:noFill/>
                    </a:lnT>
                    <a:lnB>
                      <a:noFill/>
                    </a:lnB>
                    <a:solidFill>
                      <a:srgbClr val="BFBFBF"/>
                    </a:solidFill>
                  </a:tcPr>
                </a:tc>
                <a:extLst>
                  <a:ext uri="{0D108BD9-81ED-4DB2-BD59-A6C34878D82A}">
                    <a16:rowId xmlns:a16="http://schemas.microsoft.com/office/drawing/2014/main" val="3781369765"/>
                  </a:ext>
                </a:extLst>
              </a:tr>
              <a:tr h="136539">
                <a:tc>
                  <a:txBody>
                    <a:bodyPr/>
                    <a:lstStyle/>
                    <a:p>
                      <a:pPr algn="r" fontAlgn="b">
                        <a:buNone/>
                      </a:pPr>
                      <a:r>
                        <a:rPr lang="en-US" sz="800" b="0" i="1" u="none" strike="noStrike" dirty="0">
                          <a:solidFill>
                            <a:srgbClr val="141414"/>
                          </a:solidFill>
                          <a:effectLst/>
                          <a:latin typeface="Calibri"/>
                        </a:rPr>
                        <a:t>-188.9%</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-15.4%</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0.0%</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panose="020F0502020204030204" pitchFamily="34" charset="0"/>
                        </a:rPr>
                        <a:t>0.0%</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995998924"/>
                  </a:ext>
                </a:extLst>
              </a:tr>
            </a:tbl>
          </a:graphicData>
        </a:graphic>
      </p:graphicFrame>
      <p:graphicFrame>
        <p:nvGraphicFramePr>
          <p:cNvPr id="6" name="Table 5">
            <a:extLst>
              <a:ext uri="{FF2B5EF4-FFF2-40B4-BE49-F238E27FC236}">
                <a16:creationId xmlns:a16="http://schemas.microsoft.com/office/drawing/2014/main" id="{F4A080C1-F5C7-BD60-6D30-996498E9695F}"/>
              </a:ext>
            </a:extLst>
          </p:cNvPr>
          <p:cNvGraphicFramePr>
            <a:graphicFrameLocks noGrp="1"/>
          </p:cNvGraphicFramePr>
          <p:nvPr>
            <p:custDataLst>
              <p:tags r:id="rId6"/>
            </p:custDataLst>
            <p:extLst>
              <p:ext uri="{D42A27DB-BD31-4B8C-83A1-F6EECF244321}">
                <p14:modId xmlns:p14="http://schemas.microsoft.com/office/powerpoint/2010/main" val="425272141"/>
              </p:ext>
            </p:extLst>
          </p:nvPr>
        </p:nvGraphicFramePr>
        <p:xfrm>
          <a:off x="1498333" y="4900095"/>
          <a:ext cx="4584869" cy="1321992"/>
        </p:xfrm>
        <a:graphic>
          <a:graphicData uri="http://schemas.openxmlformats.org/drawingml/2006/table">
            <a:tbl>
              <a:tblPr/>
              <a:tblGrid>
                <a:gridCol w="543552">
                  <a:extLst>
                    <a:ext uri="{9D8B030D-6E8A-4147-A177-3AD203B41FA5}">
                      <a16:colId xmlns:a16="http://schemas.microsoft.com/office/drawing/2014/main" val="1767461089"/>
                    </a:ext>
                  </a:extLst>
                </a:gridCol>
                <a:gridCol w="577331">
                  <a:extLst>
                    <a:ext uri="{9D8B030D-6E8A-4147-A177-3AD203B41FA5}">
                      <a16:colId xmlns:a16="http://schemas.microsoft.com/office/drawing/2014/main" val="3072652660"/>
                    </a:ext>
                  </a:extLst>
                </a:gridCol>
                <a:gridCol w="577331">
                  <a:extLst>
                    <a:ext uri="{9D8B030D-6E8A-4147-A177-3AD203B41FA5}">
                      <a16:colId xmlns:a16="http://schemas.microsoft.com/office/drawing/2014/main" val="2455876415"/>
                    </a:ext>
                  </a:extLst>
                </a:gridCol>
                <a:gridCol w="577331">
                  <a:extLst>
                    <a:ext uri="{9D8B030D-6E8A-4147-A177-3AD203B41FA5}">
                      <a16:colId xmlns:a16="http://schemas.microsoft.com/office/drawing/2014/main" val="464273543"/>
                    </a:ext>
                  </a:extLst>
                </a:gridCol>
                <a:gridCol w="577331">
                  <a:extLst>
                    <a:ext uri="{9D8B030D-6E8A-4147-A177-3AD203B41FA5}">
                      <a16:colId xmlns:a16="http://schemas.microsoft.com/office/drawing/2014/main" val="2931771484"/>
                    </a:ext>
                  </a:extLst>
                </a:gridCol>
                <a:gridCol w="577331">
                  <a:extLst>
                    <a:ext uri="{9D8B030D-6E8A-4147-A177-3AD203B41FA5}">
                      <a16:colId xmlns:a16="http://schemas.microsoft.com/office/drawing/2014/main" val="1878061048"/>
                    </a:ext>
                  </a:extLst>
                </a:gridCol>
                <a:gridCol w="577331">
                  <a:extLst>
                    <a:ext uri="{9D8B030D-6E8A-4147-A177-3AD203B41FA5}">
                      <a16:colId xmlns:a16="http://schemas.microsoft.com/office/drawing/2014/main" val="2416623499"/>
                    </a:ext>
                  </a:extLst>
                </a:gridCol>
                <a:gridCol w="577331">
                  <a:extLst>
                    <a:ext uri="{9D8B030D-6E8A-4147-A177-3AD203B41FA5}">
                      <a16:colId xmlns:a16="http://schemas.microsoft.com/office/drawing/2014/main" val="4227958829"/>
                    </a:ext>
                  </a:extLst>
                </a:gridCol>
              </a:tblGrid>
              <a:tr h="146888">
                <a:tc>
                  <a:txBody>
                    <a:bodyPr/>
                    <a:lstStyle/>
                    <a:p>
                      <a:pPr algn="r" fontAlgn="b">
                        <a:buNone/>
                      </a:pPr>
                      <a:r>
                        <a:rPr lang="en-US" sz="800" b="0" i="0" u="none" strike="noStrike" dirty="0">
                          <a:solidFill>
                            <a:srgbClr val="141414"/>
                          </a:solidFill>
                          <a:effectLst/>
                          <a:latin typeface="Calibri" panose="020F0502020204030204" pitchFamily="34" charset="0"/>
                        </a:rPr>
                        <a:t>($4)</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$23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$18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$11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1683387532"/>
                  </a:ext>
                </a:extLst>
              </a:tr>
              <a:tr h="146888">
                <a:tc>
                  <a:txBody>
                    <a:bodyPr/>
                    <a:lstStyle/>
                    <a:p>
                      <a:pPr algn="r" fontAlgn="b">
                        <a:buNone/>
                      </a:pPr>
                      <a:r>
                        <a:rPr lang="en-US" sz="800" b="0" i="1" u="none" strike="noStrike" dirty="0">
                          <a:solidFill>
                            <a:srgbClr val="141414"/>
                          </a:solidFill>
                          <a:effectLst/>
                          <a:latin typeface="Calibri"/>
                        </a:rPr>
                        <a:t>-0.7%</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3.8%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2.9%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3896857626"/>
                  </a:ext>
                </a:extLst>
              </a:tr>
              <a:tr h="146888">
                <a:tc>
                  <a:txBody>
                    <a:bodyPr/>
                    <a:lstStyle/>
                    <a:p>
                      <a:pPr algn="r" fontAlgn="b">
                        <a:buNone/>
                      </a:pPr>
                      <a:r>
                        <a:rPr lang="en-US" sz="800" b="0" i="0" u="none" strike="noStrike" dirty="0">
                          <a:solidFill>
                            <a:srgbClr val="141414"/>
                          </a:solidFill>
                          <a:effectLst/>
                          <a:latin typeface="Calibri"/>
                        </a:rPr>
                        <a:t>-200%</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-667.2%</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-21.4%</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-35.9%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4029454891"/>
                  </a:ext>
                </a:extLst>
              </a:tr>
              <a:tr h="146888">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a:t>
                      </a:r>
                    </a:p>
                  </a:txBody>
                  <a:tcPr marL="0" marR="0" marT="0" marB="0" anchor="b">
                    <a:lnL>
                      <a:noFill/>
                    </a:lnL>
                    <a:lnR>
                      <a:noFill/>
                    </a:lnR>
                    <a:lnT>
                      <a:noFill/>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461014554"/>
                  </a:ext>
                </a:extLst>
              </a:tr>
              <a:tr h="146888">
                <a:tc>
                  <a:txBody>
                    <a:bodyPr/>
                    <a:lstStyle/>
                    <a:p>
                      <a:pPr algn="r" fontAlgn="b">
                        <a:buNone/>
                      </a:pPr>
                      <a:r>
                        <a:rPr lang="en-US" sz="800" b="0" i="0" u="none" strike="noStrike" dirty="0">
                          <a:solidFill>
                            <a:srgbClr val="141414"/>
                          </a:solidFill>
                          <a:effectLst/>
                          <a:latin typeface="Calibri"/>
                        </a:rPr>
                        <a:t>($0.39)</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r>
                        <a:rPr lang="en-US" sz="800" b="0" i="0" u="none" strike="noStrike" dirty="0">
                          <a:solidFill>
                            <a:srgbClr val="141414"/>
                          </a:solidFill>
                          <a:effectLst/>
                          <a:latin typeface="Calibri"/>
                        </a:rPr>
                        <a:t>$2.23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$1.75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$1.12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$1.14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$1.16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$1.18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BFBFBF"/>
                    </a:solidFill>
                  </a:tcPr>
                </a:tc>
                <a:tc>
                  <a:txBody>
                    <a:bodyPr/>
                    <a:lstStyle/>
                    <a:p>
                      <a:pPr algn="r" fontAlgn="b">
                        <a:buNone/>
                      </a:pPr>
                      <a:r>
                        <a:rPr lang="en-US" sz="800" b="0" i="0" u="none" strike="noStrike" dirty="0">
                          <a:solidFill>
                            <a:srgbClr val="141414"/>
                          </a:solidFill>
                          <a:effectLst/>
                          <a:latin typeface="Calibri"/>
                        </a:rPr>
                        <a:t>$1.20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1042836835"/>
                  </a:ext>
                </a:extLst>
              </a:tr>
              <a:tr h="146888">
                <a:tc>
                  <a:txBody>
                    <a:bodyPr/>
                    <a:lstStyle/>
                    <a:p>
                      <a:pPr algn="r" fontAlgn="b">
                        <a:buNone/>
                      </a:pPr>
                      <a:r>
                        <a:rPr lang="en-US" sz="800" b="0" i="0" u="none" strike="noStrike" dirty="0">
                          <a:solidFill>
                            <a:srgbClr val="141414"/>
                          </a:solidFill>
                          <a:effectLst/>
                          <a:latin typeface="Calibri"/>
                        </a:rPr>
                        <a:t>-200%</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a:rPr>
                        <a:t>-667.2%</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-21.4%</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-35.9%</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1" u="none" strike="noStrike" dirty="0">
                          <a:solidFill>
                            <a:srgbClr val="141414"/>
                          </a:solidFill>
                          <a:effectLst/>
                          <a:latin typeface="Calibri"/>
                        </a:rPr>
                        <a:t>1.8%</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162364423"/>
                  </a:ext>
                </a:extLst>
              </a:tr>
              <a:tr h="146888">
                <a:tc>
                  <a:txBody>
                    <a:bodyPr/>
                    <a:lstStyle/>
                    <a:p>
                      <a:pPr algn="l" fontAlgn="b">
                        <a:buNone/>
                      </a:pPr>
                      <a:r>
                        <a:rPr lang="en-US" sz="800" b="0" i="0" u="none" strike="noStrike" dirty="0">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l" fontAlgn="b">
                        <a:buNone/>
                      </a:pPr>
                      <a:endParaRPr lang="en-US" sz="800" b="0" i="0" u="none" strike="noStrike" dirty="0">
                        <a:solidFill>
                          <a:srgbClr val="141414"/>
                        </a:solidFill>
                        <a:effectLst/>
                        <a:latin typeface="Calibri" panose="020F0502020204030204" pitchFamily="34" charset="0"/>
                      </a:endParaRP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endParaRPr lang="en-US" sz="800" b="0" i="0" u="none" strike="noStrike" dirty="0">
                        <a:solidFill>
                          <a:srgbClr val="141414"/>
                        </a:solidFill>
                        <a:effectLst/>
                        <a:latin typeface="Calibri" panose="020F0502020204030204" pitchFamily="34" charset="0"/>
                      </a:endParaRP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endParaRPr lang="en-US" sz="800" b="0" i="0" u="none" strike="noStrike" dirty="0">
                        <a:solidFill>
                          <a:srgbClr val="141414"/>
                        </a:solidFill>
                        <a:effectLst/>
                        <a:latin typeface="Calibri"/>
                      </a:endParaRP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endParaRPr lang="en-US" sz="800" b="0" i="0" u="none" strike="noStrike" dirty="0">
                        <a:solidFill>
                          <a:srgbClr val="141414"/>
                        </a:solidFill>
                        <a:effectLst/>
                        <a:latin typeface="Calibri"/>
                      </a:endParaRP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endParaRPr lang="en-US" sz="800" b="0" i="0" u="none" strike="noStrike" dirty="0">
                        <a:solidFill>
                          <a:srgbClr val="141414"/>
                        </a:solidFill>
                        <a:effectLst/>
                        <a:latin typeface="Calibri"/>
                      </a:endParaRP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endParaRPr lang="en-US" sz="800" b="0" i="0" u="none" strike="noStrike" dirty="0">
                        <a:solidFill>
                          <a:srgbClr val="141414"/>
                        </a:solidFill>
                        <a:effectLst/>
                        <a:latin typeface="Calibri"/>
                      </a:endParaRP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endParaRPr lang="en-US" sz="800" b="0" i="0" u="none" strike="noStrike" dirty="0">
                        <a:solidFill>
                          <a:srgbClr val="141414"/>
                        </a:solidFill>
                        <a:effectLst/>
                        <a:latin typeface="Calibr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857491960"/>
                  </a:ext>
                </a:extLst>
              </a:tr>
              <a:tr h="146888">
                <a:tc>
                  <a:txBody>
                    <a:bodyPr/>
                    <a:lstStyle/>
                    <a:p>
                      <a:pPr algn="l" fontAlgn="b">
                        <a:buNone/>
                      </a:pPr>
                      <a:r>
                        <a:rPr lang="en-US" sz="800" b="0" i="0" u="none" strike="noStrike" dirty="0">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l" fontAlgn="b">
                        <a:buNone/>
                      </a:pPr>
                      <a:r>
                        <a:rPr lang="en-US" sz="800" b="0" i="0" u="none" strike="noStrike">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          1.02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          0.91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          0.80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          0.71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          0.63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          0.56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915284898"/>
                  </a:ext>
                </a:extLst>
              </a:tr>
              <a:tr h="146888">
                <a:tc>
                  <a:txBody>
                    <a:bodyPr/>
                    <a:lstStyle/>
                    <a:p>
                      <a:pPr algn="l" fontAlgn="b">
                        <a:buNone/>
                      </a:pPr>
                      <a:r>
                        <a:rPr lang="en-US" sz="800" b="0" i="0" u="none" strike="noStrike" dirty="0">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l" fontAlgn="b">
                        <a:buNone/>
                      </a:pPr>
                      <a:r>
                        <a:rPr lang="en-US" sz="800" b="0" i="0" u="none" strike="noStrike" dirty="0">
                          <a:solidFill>
                            <a:srgbClr val="141414"/>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$1.79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$1.02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a:rPr>
                        <a:t>$0.92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$0.82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$0.74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r" fontAlgn="b">
                        <a:buNone/>
                      </a:pPr>
                      <a:r>
                        <a:rPr lang="en-US" sz="800" b="0" i="0" u="none" strike="noStrike" dirty="0">
                          <a:solidFill>
                            <a:srgbClr val="141414"/>
                          </a:solidFill>
                          <a:effectLst/>
                          <a:latin typeface="Calibri" panose="020F0502020204030204" pitchFamily="34" charset="0"/>
                        </a:rPr>
                        <a:t>$0.67 </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535728553"/>
                  </a:ext>
                </a:extLst>
              </a:tr>
            </a:tbl>
          </a:graphicData>
        </a:graphic>
      </p:graphicFrame>
      <p:graphicFrame>
        <p:nvGraphicFramePr>
          <p:cNvPr id="10" name="Table 9">
            <a:extLst>
              <a:ext uri="{FF2B5EF4-FFF2-40B4-BE49-F238E27FC236}">
                <a16:creationId xmlns:a16="http://schemas.microsoft.com/office/drawing/2014/main" id="{11399A1E-46A3-4328-317B-675B9573303D}"/>
              </a:ext>
            </a:extLst>
          </p:cNvPr>
          <p:cNvGraphicFramePr>
            <a:graphicFrameLocks noGrp="1"/>
          </p:cNvGraphicFramePr>
          <p:nvPr>
            <p:custDataLst>
              <p:tags r:id="rId7"/>
            </p:custDataLst>
            <p:extLst>
              <p:ext uri="{D42A27DB-BD31-4B8C-83A1-F6EECF244321}">
                <p14:modId xmlns:p14="http://schemas.microsoft.com/office/powerpoint/2010/main" val="4141933878"/>
              </p:ext>
            </p:extLst>
          </p:nvPr>
        </p:nvGraphicFramePr>
        <p:xfrm>
          <a:off x="24053" y="654185"/>
          <a:ext cx="1474278" cy="268333"/>
        </p:xfrm>
        <a:graphic>
          <a:graphicData uri="http://schemas.openxmlformats.org/drawingml/2006/table">
            <a:tbl>
              <a:tblPr/>
              <a:tblGrid>
                <a:gridCol w="1474278">
                  <a:extLst>
                    <a:ext uri="{9D8B030D-6E8A-4147-A177-3AD203B41FA5}">
                      <a16:colId xmlns:a16="http://schemas.microsoft.com/office/drawing/2014/main" val="1022716409"/>
                    </a:ext>
                  </a:extLst>
                </a:gridCol>
              </a:tblGrid>
              <a:tr h="268333">
                <a:tc>
                  <a:txBody>
                    <a:bodyPr/>
                    <a:lstStyle/>
                    <a:p>
                      <a:pPr algn="l" fontAlgn="b">
                        <a:buNone/>
                      </a:pPr>
                      <a:r>
                        <a:rPr lang="en-US" sz="800" b="1" i="0" u="none" strike="noStrike" dirty="0">
                          <a:solidFill>
                            <a:srgbClr val="FFFFFF"/>
                          </a:solidFill>
                          <a:effectLst/>
                          <a:latin typeface="Calibri" panose="020F0502020204030204" pitchFamily="34" charset="0"/>
                        </a:rPr>
                        <a:t> Cash Flows</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503710746"/>
                  </a:ext>
                </a:extLst>
              </a:tr>
            </a:tbl>
          </a:graphicData>
        </a:graphic>
      </p:graphicFrame>
      <p:sp>
        <p:nvSpPr>
          <p:cNvPr id="9" name="Rectangle 2">
            <a:extLst>
              <a:ext uri="{FF2B5EF4-FFF2-40B4-BE49-F238E27FC236}">
                <a16:creationId xmlns:a16="http://schemas.microsoft.com/office/drawing/2014/main" id="{C3879CD5-9302-25D1-0E79-7A36071E6BF1}"/>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1338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E83DF-0EA4-684F-45BC-652BA54A3671}"/>
            </a:ext>
          </a:extLst>
        </p:cNvPr>
        <p:cNvGrpSpPr/>
        <p:nvPr/>
      </p:nvGrpSpPr>
      <p:grpSpPr>
        <a:xfrm>
          <a:off x="0" y="0"/>
          <a:ext cx="0" cy="0"/>
          <a:chOff x="0" y="0"/>
          <a:chExt cx="0" cy="0"/>
        </a:xfrm>
      </p:grpSpPr>
      <p:grpSp>
        <p:nvGrpSpPr>
          <p:cNvPr id="16397" name="Group 39">
            <a:extLst>
              <a:ext uri="{FF2B5EF4-FFF2-40B4-BE49-F238E27FC236}">
                <a16:creationId xmlns:a16="http://schemas.microsoft.com/office/drawing/2014/main" id="{A025BC8A-CA36-7126-2F79-144DEECE93F0}"/>
              </a:ext>
            </a:extLst>
          </p:cNvPr>
          <p:cNvGrpSpPr>
            <a:grpSpLocks/>
          </p:cNvGrpSpPr>
          <p:nvPr/>
        </p:nvGrpSpPr>
        <p:grpSpPr bwMode="auto">
          <a:xfrm>
            <a:off x="2179" y="574549"/>
            <a:ext cx="9144000" cy="79390"/>
            <a:chOff x="2373524" y="569416"/>
            <a:chExt cx="6496168" cy="87055"/>
          </a:xfrm>
        </p:grpSpPr>
        <p:sp>
          <p:nvSpPr>
            <p:cNvPr id="42" name="Rectangle 41">
              <a:extLst>
                <a:ext uri="{FF2B5EF4-FFF2-40B4-BE49-F238E27FC236}">
                  <a16:creationId xmlns:a16="http://schemas.microsoft.com/office/drawing/2014/main" id="{FC1378D5-22A5-7458-094B-BA60D43A71D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sp>
          <p:nvSpPr>
            <p:cNvPr id="43" name="Rectangle 42">
              <a:extLst>
                <a:ext uri="{FF2B5EF4-FFF2-40B4-BE49-F238E27FC236}">
                  <a16:creationId xmlns:a16="http://schemas.microsoft.com/office/drawing/2014/main" id="{90292FE9-93F6-E2E2-FD3A-F91ED7809F4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FFFFFF"/>
                </a:solidFill>
              </a:endParaRPr>
            </a:p>
          </p:txBody>
        </p:sp>
      </p:grpSp>
      <p:grpSp>
        <p:nvGrpSpPr>
          <p:cNvPr id="55" name="Group 54">
            <a:extLst>
              <a:ext uri="{FF2B5EF4-FFF2-40B4-BE49-F238E27FC236}">
                <a16:creationId xmlns:a16="http://schemas.microsoft.com/office/drawing/2014/main" id="{B760119C-95ED-72D8-F6BC-8DF5B104DBCC}"/>
              </a:ext>
            </a:extLst>
          </p:cNvPr>
          <p:cNvGrpSpPr/>
          <p:nvPr/>
        </p:nvGrpSpPr>
        <p:grpSpPr>
          <a:xfrm>
            <a:off x="0" y="6285605"/>
            <a:ext cx="9144000" cy="466725"/>
            <a:chOff x="0" y="2723359"/>
            <a:chExt cx="9144000" cy="466725"/>
          </a:xfrm>
        </p:grpSpPr>
        <p:sp>
          <p:nvSpPr>
            <p:cNvPr id="56" name="Rectangle 55">
              <a:extLst>
                <a:ext uri="{FF2B5EF4-FFF2-40B4-BE49-F238E27FC236}">
                  <a16:creationId xmlns:a16="http://schemas.microsoft.com/office/drawing/2014/main" id="{ABFBD260-F3FE-020A-4850-B74D75677CA1}"/>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7" name="Group 56">
              <a:extLst>
                <a:ext uri="{FF2B5EF4-FFF2-40B4-BE49-F238E27FC236}">
                  <a16:creationId xmlns:a16="http://schemas.microsoft.com/office/drawing/2014/main" id="{E53F55DE-DDC9-A195-3A5C-A9EC83AF712D}"/>
                </a:ext>
              </a:extLst>
            </p:cNvPr>
            <p:cNvGrpSpPr/>
            <p:nvPr/>
          </p:nvGrpSpPr>
          <p:grpSpPr>
            <a:xfrm>
              <a:off x="5021579" y="2732884"/>
              <a:ext cx="545306" cy="457200"/>
              <a:chOff x="4981575" y="2712036"/>
              <a:chExt cx="545306" cy="457200"/>
            </a:xfrm>
          </p:grpSpPr>
          <p:sp>
            <p:nvSpPr>
              <p:cNvPr id="16402" name="Oval 16401">
                <a:extLst>
                  <a:ext uri="{FF2B5EF4-FFF2-40B4-BE49-F238E27FC236}">
                    <a16:creationId xmlns:a16="http://schemas.microsoft.com/office/drawing/2014/main" id="{27EB1C20-00BD-FF59-5CB7-965BF446B2F7}"/>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3" name="Picture 16402" descr="Related image">
                <a:extLst>
                  <a:ext uri="{FF2B5EF4-FFF2-40B4-BE49-F238E27FC236}">
                    <a16:creationId xmlns:a16="http://schemas.microsoft.com/office/drawing/2014/main" id="{F3E9C759-6F69-C37A-C384-21146C74B52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a:extLst>
                <a:ext uri="{FF2B5EF4-FFF2-40B4-BE49-F238E27FC236}">
                  <a16:creationId xmlns:a16="http://schemas.microsoft.com/office/drawing/2014/main" id="{8169FF31-4B5D-3285-B75E-E223A00F92CD}"/>
                </a:ext>
              </a:extLst>
            </p:cNvPr>
            <p:cNvGrpSpPr/>
            <p:nvPr/>
          </p:nvGrpSpPr>
          <p:grpSpPr>
            <a:xfrm>
              <a:off x="7910513" y="2732884"/>
              <a:ext cx="545306" cy="457200"/>
              <a:chOff x="7731919" y="2712036"/>
              <a:chExt cx="545306" cy="457200"/>
            </a:xfrm>
          </p:grpSpPr>
          <p:sp>
            <p:nvSpPr>
              <p:cNvPr id="16400" name="Oval 16399">
                <a:extLst>
                  <a:ext uri="{FF2B5EF4-FFF2-40B4-BE49-F238E27FC236}">
                    <a16:creationId xmlns:a16="http://schemas.microsoft.com/office/drawing/2014/main" id="{AD508247-C542-F6D6-E8A5-A2ABDB93EE6F}"/>
                  </a:ext>
                </a:extLst>
              </p:cNvPr>
              <p:cNvSpPr/>
              <p:nvPr/>
            </p:nvSpPr>
            <p:spPr bwMode="auto">
              <a:xfrm>
                <a:off x="7731919"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6401" name="Picture 16400" descr="Related image">
                <a:extLst>
                  <a:ext uri="{FF2B5EF4-FFF2-40B4-BE49-F238E27FC236}">
                    <a16:creationId xmlns:a16="http://schemas.microsoft.com/office/drawing/2014/main" id="{62DD943F-07B7-31B8-45D2-0B05055BC33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5064" b="4326"/>
              <a:stretch>
                <a:fillRect/>
              </a:stretch>
            </p:blipFill>
            <p:spPr bwMode="auto">
              <a:xfrm>
                <a:off x="7834120" y="2783066"/>
                <a:ext cx="340904" cy="277036"/>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59" name="Oval 58">
              <a:extLst>
                <a:ext uri="{FF2B5EF4-FFF2-40B4-BE49-F238E27FC236}">
                  <a16:creationId xmlns:a16="http://schemas.microsoft.com/office/drawing/2014/main" id="{E7E07E48-11F6-CE35-B1C1-19CCFD9E9549}"/>
                </a:ext>
              </a:extLst>
            </p:cNvPr>
            <p:cNvSpPr/>
            <p:nvPr/>
          </p:nvSpPr>
          <p:spPr bwMode="auto">
            <a:xfrm>
              <a:off x="688181" y="2723359"/>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CF695A1F-6F31-91CD-9E3F-A1A0504C5B7B}"/>
                </a:ext>
              </a:extLst>
            </p:cNvPr>
            <p:cNvGrpSpPr/>
            <p:nvPr/>
          </p:nvGrpSpPr>
          <p:grpSpPr>
            <a:xfrm>
              <a:off x="6466045" y="2732884"/>
              <a:ext cx="545306" cy="457200"/>
              <a:chOff x="6353175" y="2712036"/>
              <a:chExt cx="545306" cy="457200"/>
            </a:xfrm>
          </p:grpSpPr>
          <p:sp>
            <p:nvSpPr>
              <p:cNvPr id="16398" name="Oval 16397">
                <a:extLst>
                  <a:ext uri="{FF2B5EF4-FFF2-40B4-BE49-F238E27FC236}">
                    <a16:creationId xmlns:a16="http://schemas.microsoft.com/office/drawing/2014/main" id="{03717852-CA87-170F-CF1A-457D2796EAD8}"/>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6399" name="Graphic 14379" descr="Dollar with solid fill">
                <a:extLst>
                  <a:ext uri="{FF2B5EF4-FFF2-40B4-BE49-F238E27FC236}">
                    <a16:creationId xmlns:a16="http://schemas.microsoft.com/office/drawing/2014/main" id="{E000888C-09C2-2E16-406E-4EA519DC5E56}"/>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nvGrpSpPr>
            <p:cNvPr id="61" name="Group 60">
              <a:extLst>
                <a:ext uri="{FF2B5EF4-FFF2-40B4-BE49-F238E27FC236}">
                  <a16:creationId xmlns:a16="http://schemas.microsoft.com/office/drawing/2014/main" id="{06BABAE9-D557-6179-9D3E-D0968C4DD4EC}"/>
                </a:ext>
              </a:extLst>
            </p:cNvPr>
            <p:cNvGrpSpPr/>
            <p:nvPr/>
          </p:nvGrpSpPr>
          <p:grpSpPr>
            <a:xfrm>
              <a:off x="3577113" y="2732884"/>
              <a:ext cx="545306" cy="457200"/>
              <a:chOff x="3609974" y="2715607"/>
              <a:chExt cx="545306" cy="457200"/>
            </a:xfrm>
          </p:grpSpPr>
          <p:sp>
            <p:nvSpPr>
              <p:cNvPr id="16391" name="Oval 16390">
                <a:extLst>
                  <a:ext uri="{FF2B5EF4-FFF2-40B4-BE49-F238E27FC236}">
                    <a16:creationId xmlns:a16="http://schemas.microsoft.com/office/drawing/2014/main" id="{BC429D1C-6929-F082-57DA-03A356703D14}"/>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6394" name="Group 16393">
                <a:extLst>
                  <a:ext uri="{FF2B5EF4-FFF2-40B4-BE49-F238E27FC236}">
                    <a16:creationId xmlns:a16="http://schemas.microsoft.com/office/drawing/2014/main" id="{04F6227D-1770-E7E5-2739-10E1B66F3770}"/>
                  </a:ext>
                </a:extLst>
              </p:cNvPr>
              <p:cNvGrpSpPr/>
              <p:nvPr/>
            </p:nvGrpSpPr>
            <p:grpSpPr>
              <a:xfrm>
                <a:off x="3769049" y="2811218"/>
                <a:ext cx="227157" cy="265979"/>
                <a:chOff x="3771206" y="2761936"/>
                <a:chExt cx="227157" cy="265979"/>
              </a:xfrm>
            </p:grpSpPr>
            <p:sp>
              <p:nvSpPr>
                <p:cNvPr id="16395" name="Freeform: Shape 16394">
                  <a:extLst>
                    <a:ext uri="{FF2B5EF4-FFF2-40B4-BE49-F238E27FC236}">
                      <a16:creationId xmlns:a16="http://schemas.microsoft.com/office/drawing/2014/main" id="{47E8C316-77DB-B80C-505A-7A2A3B54617E}"/>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sp>
              <p:nvSpPr>
                <p:cNvPr id="16396" name="Freeform: Shape 16395">
                  <a:extLst>
                    <a:ext uri="{FF2B5EF4-FFF2-40B4-BE49-F238E27FC236}">
                      <a16:creationId xmlns:a16="http://schemas.microsoft.com/office/drawing/2014/main" id="{6A6CAD7B-1DA2-36D4-794C-DAF2589ACB4D}"/>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grpSp>
          <p:nvGrpSpPr>
            <p:cNvPr id="62" name="Group 61">
              <a:extLst>
                <a:ext uri="{FF2B5EF4-FFF2-40B4-BE49-F238E27FC236}">
                  <a16:creationId xmlns:a16="http://schemas.microsoft.com/office/drawing/2014/main" id="{D9C1E31F-3E5A-5F30-4CF0-2AD126D876D8}"/>
                </a:ext>
              </a:extLst>
            </p:cNvPr>
            <p:cNvGrpSpPr/>
            <p:nvPr/>
          </p:nvGrpSpPr>
          <p:grpSpPr>
            <a:xfrm>
              <a:off x="2132647" y="2732884"/>
              <a:ext cx="545306" cy="457200"/>
              <a:chOff x="2238375" y="2712635"/>
              <a:chExt cx="545306" cy="457200"/>
            </a:xfrm>
          </p:grpSpPr>
          <p:sp>
            <p:nvSpPr>
              <p:cNvPr id="63" name="Oval 62">
                <a:extLst>
                  <a:ext uri="{FF2B5EF4-FFF2-40B4-BE49-F238E27FC236}">
                    <a16:creationId xmlns:a16="http://schemas.microsoft.com/office/drawing/2014/main" id="{CD0D060E-CCE1-29C2-6056-87E1E120E858}"/>
                  </a:ext>
                </a:extLst>
              </p:cNvPr>
              <p:cNvSpPr/>
              <p:nvPr/>
            </p:nvSpPr>
            <p:spPr bwMode="auto">
              <a:xfrm>
                <a:off x="2238375" y="2712635"/>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6390" name="Graphic 14377" descr="Board Of Directors with solid fill">
                <a:extLst>
                  <a:ext uri="{FF2B5EF4-FFF2-40B4-BE49-F238E27FC236}">
                    <a16:creationId xmlns:a16="http://schemas.microsoft.com/office/drawing/2014/main" id="{8FCFA30F-646F-E836-6757-5EDC79CB6644}"/>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latin typeface="Calibri" panose="020F0502020204030204" pitchFamily="34" charset="0"/>
                  <a:cs typeface="Calibri" panose="020F0502020204030204" pitchFamily="34" charset="0"/>
                </a:endParaRPr>
              </a:p>
            </p:txBody>
          </p:sp>
        </p:grpSp>
      </p:grpSp>
      <p:pic>
        <p:nvPicPr>
          <p:cNvPr id="16404" name="Graphic 16403" descr="Lights On with solid fill">
            <a:extLst>
              <a:ext uri="{FF2B5EF4-FFF2-40B4-BE49-F238E27FC236}">
                <a16:creationId xmlns:a16="http://schemas.microsoft.com/office/drawing/2014/main" id="{ED2C4EF1-0EBA-A024-3A3D-1502E318D16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0780" y="6323705"/>
            <a:ext cx="461513" cy="461513"/>
          </a:xfrm>
          <a:prstGeom prst="rect">
            <a:avLst/>
          </a:prstGeom>
        </p:spPr>
      </p:pic>
      <p:sp>
        <p:nvSpPr>
          <p:cNvPr id="7" name="TextBox 6">
            <a:extLst>
              <a:ext uri="{FF2B5EF4-FFF2-40B4-BE49-F238E27FC236}">
                <a16:creationId xmlns:a16="http://schemas.microsoft.com/office/drawing/2014/main" id="{40ACB273-920A-47A9-1620-C8223645826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18</a:t>
            </a:fld>
            <a:endParaRPr lang="en-US" sz="1400">
              <a:latin typeface="Calibri" panose="020F0502020204030204" pitchFamily="34" charset="0"/>
              <a:cs typeface="Calibri" panose="020F0502020204030204" pitchFamily="34" charset="0"/>
            </a:endParaRPr>
          </a:p>
        </p:txBody>
      </p:sp>
      <p:sp>
        <p:nvSpPr>
          <p:cNvPr id="12" name="Text Box 2">
            <a:extLst>
              <a:ext uri="{FF2B5EF4-FFF2-40B4-BE49-F238E27FC236}">
                <a16:creationId xmlns:a16="http://schemas.microsoft.com/office/drawing/2014/main" id="{7D36ECD3-DB24-39F4-77E9-D9D81A0B145B}"/>
              </a:ext>
            </a:extLst>
          </p:cNvPr>
          <p:cNvSpPr txBox="1">
            <a:spLocks noChangeArrowheads="1"/>
          </p:cNvSpPr>
          <p:nvPr/>
        </p:nvSpPr>
        <p:spPr bwMode="auto">
          <a:xfrm>
            <a:off x="-69707" y="6676813"/>
            <a:ext cx="3337236" cy="2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rPr>
              <a:t>Sources: Company Fillings, FactSet, IMCP</a:t>
            </a: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a:p>
            <a:pPr eaLnBrk="1" hangingPunct="1">
              <a:lnSpc>
                <a:spcPct val="115000"/>
              </a:lnSpc>
              <a:spcAft>
                <a:spcPts val="751"/>
              </a:spcAft>
            </a:pPr>
            <a:endParaRPr lang="en-US" altLang="en-US" sz="800">
              <a:solidFill>
                <a:srgbClr val="292934"/>
              </a:solidFill>
              <a:latin typeface="Calibri" panose="020F0502020204030204" pitchFamily="34" charset="0"/>
              <a:ea typeface="Calibri" panose="020F0502020204030204" pitchFamily="34" charset="0"/>
              <a:cs typeface="Calibri" panose="020F0502020204030204" pitchFamily="34" charset="0"/>
            </a:endParaRPr>
          </a:p>
        </p:txBody>
      </p:sp>
      <p:sp>
        <p:nvSpPr>
          <p:cNvPr id="17" name="Text Box 2">
            <a:extLst>
              <a:ext uri="{FF2B5EF4-FFF2-40B4-BE49-F238E27FC236}">
                <a16:creationId xmlns:a16="http://schemas.microsoft.com/office/drawing/2014/main" id="{AF6F8915-D4F7-F28E-0023-2C66C23B2CE2}"/>
              </a:ext>
            </a:extLst>
          </p:cNvPr>
          <p:cNvSpPr txBox="1">
            <a:spLocks noChangeArrowheads="1"/>
          </p:cNvSpPr>
          <p:nvPr/>
        </p:nvSpPr>
        <p:spPr bwMode="auto">
          <a:xfrm>
            <a:off x="43371" y="721181"/>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900" dirty="0">
                <a:solidFill>
                  <a:srgbClr val="292934"/>
                </a:solidFill>
                <a:latin typeface="Calibri"/>
                <a:ea typeface="Calibri" panose="020F0502020204030204" pitchFamily="34" charset="0"/>
                <a:cs typeface="Times New Roman"/>
              </a:rPr>
              <a:t>Figure  27: P/B Second Stage of DCF</a:t>
            </a:r>
            <a:endParaRPr lang="en-US" altLang="en-US" sz="9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25" name="Table 24">
            <a:extLst>
              <a:ext uri="{FF2B5EF4-FFF2-40B4-BE49-F238E27FC236}">
                <a16:creationId xmlns:a16="http://schemas.microsoft.com/office/drawing/2014/main" id="{9791300B-0E5A-9F7E-AC73-F440072F7AFD}"/>
              </a:ext>
            </a:extLst>
          </p:cNvPr>
          <p:cNvGraphicFramePr>
            <a:graphicFrameLocks noGrp="1"/>
          </p:cNvGraphicFramePr>
          <p:nvPr>
            <p:custDataLst>
              <p:tags r:id="rId1"/>
            </p:custDataLst>
            <p:extLst>
              <p:ext uri="{D42A27DB-BD31-4B8C-83A1-F6EECF244321}">
                <p14:modId xmlns:p14="http://schemas.microsoft.com/office/powerpoint/2010/main" val="1892873928"/>
              </p:ext>
            </p:extLst>
          </p:nvPr>
        </p:nvGraphicFramePr>
        <p:xfrm>
          <a:off x="4825953" y="3803409"/>
          <a:ext cx="4194024" cy="797756"/>
        </p:xfrm>
        <a:graphic>
          <a:graphicData uri="http://schemas.openxmlformats.org/drawingml/2006/table">
            <a:tbl>
              <a:tblPr/>
              <a:tblGrid>
                <a:gridCol w="1012762">
                  <a:extLst>
                    <a:ext uri="{9D8B030D-6E8A-4147-A177-3AD203B41FA5}">
                      <a16:colId xmlns:a16="http://schemas.microsoft.com/office/drawing/2014/main" val="2786889878"/>
                    </a:ext>
                  </a:extLst>
                </a:gridCol>
                <a:gridCol w="834038">
                  <a:extLst>
                    <a:ext uri="{9D8B030D-6E8A-4147-A177-3AD203B41FA5}">
                      <a16:colId xmlns:a16="http://schemas.microsoft.com/office/drawing/2014/main" val="3464606130"/>
                    </a:ext>
                  </a:extLst>
                </a:gridCol>
                <a:gridCol w="2347224">
                  <a:extLst>
                    <a:ext uri="{9D8B030D-6E8A-4147-A177-3AD203B41FA5}">
                      <a16:colId xmlns:a16="http://schemas.microsoft.com/office/drawing/2014/main" val="1916242210"/>
                    </a:ext>
                  </a:extLst>
                </a:gridCol>
              </a:tblGrid>
              <a:tr h="199439">
                <a:tc gridSpan="3">
                  <a:txBody>
                    <a:bodyPr/>
                    <a:lstStyle/>
                    <a:p>
                      <a:pPr algn="ctr" fontAlgn="b"/>
                      <a:r>
                        <a:rPr lang="en-US" sz="900" b="1" i="0" u="none" strike="noStrike" dirty="0">
                          <a:solidFill>
                            <a:srgbClr val="FFFFFF"/>
                          </a:solidFill>
                          <a:effectLst/>
                          <a:latin typeface="Calibri"/>
                        </a:rPr>
                        <a:t>Summary (using P/B multiple for terminal value)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14272501"/>
                  </a:ext>
                </a:extLst>
              </a:tr>
              <a:tr h="199439">
                <a:tc>
                  <a:txBody>
                    <a:bodyPr/>
                    <a:lstStyle/>
                    <a:p>
                      <a:pPr algn="l" fontAlgn="b"/>
                      <a:r>
                        <a:rPr lang="en-US" sz="900" b="0" i="0" u="none" strike="noStrike" dirty="0">
                          <a:solidFill>
                            <a:srgbClr val="000000"/>
                          </a:solidFill>
                          <a:effectLst/>
                          <a:latin typeface="Calibri"/>
                        </a:rPr>
                        <a:t>First stage</a:t>
                      </a: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r>
                        <a:rPr lang="en-US" sz="900" b="0" i="0" u="none" strike="noStrike" dirty="0">
                          <a:solidFill>
                            <a:srgbClr val="000000"/>
                          </a:solidFill>
                          <a:effectLst/>
                          <a:latin typeface="Calibri"/>
                        </a:rPr>
                        <a:t>$5.44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r>
                        <a:rPr lang="en-US" sz="900" b="0" i="0" u="none" strike="noStrike" dirty="0">
                          <a:solidFill>
                            <a:srgbClr val="000000"/>
                          </a:solidFill>
                          <a:effectLst/>
                          <a:latin typeface="Calibri"/>
                        </a:rPr>
                        <a:t>Present value of year 1-7 cash flow</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9D9D9"/>
                    </a:solidFill>
                  </a:tcPr>
                </a:tc>
                <a:extLst>
                  <a:ext uri="{0D108BD9-81ED-4DB2-BD59-A6C34878D82A}">
                    <a16:rowId xmlns:a16="http://schemas.microsoft.com/office/drawing/2014/main" val="2063718450"/>
                  </a:ext>
                </a:extLst>
              </a:tr>
              <a:tr h="199439">
                <a:tc>
                  <a:txBody>
                    <a:bodyPr/>
                    <a:lstStyle/>
                    <a:p>
                      <a:pPr algn="l" fontAlgn="b"/>
                      <a:r>
                        <a:rPr lang="en-US" sz="900" b="0" i="0" u="none" strike="noStrike" dirty="0">
                          <a:solidFill>
                            <a:srgbClr val="000000"/>
                          </a:solidFill>
                          <a:effectLst/>
                          <a:latin typeface="Calibri"/>
                        </a:rPr>
                        <a:t>Terminal value</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tc>
                  <a:txBody>
                    <a:bodyPr/>
                    <a:lstStyle/>
                    <a:p>
                      <a:pPr algn="r" fontAlgn="b"/>
                      <a:r>
                        <a:rPr lang="en-US" sz="900" b="0" i="0" u="none" strike="noStrike" dirty="0">
                          <a:solidFill>
                            <a:srgbClr val="000000"/>
                          </a:solidFill>
                          <a:effectLst/>
                          <a:latin typeface="Calibri"/>
                        </a:rPr>
                        <a:t>$40.24 </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r>
                        <a:rPr lang="en-US" sz="900" b="0" i="0" u="none" strike="noStrike" dirty="0">
                          <a:solidFill>
                            <a:srgbClr val="000000"/>
                          </a:solidFill>
                          <a:effectLst/>
                          <a:latin typeface="Calibri" panose="020F0502020204030204" pitchFamily="34" charset="0"/>
                        </a:rPr>
                        <a:t>Present value of terminal value P/B</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extLst>
                  <a:ext uri="{0D108BD9-81ED-4DB2-BD59-A6C34878D82A}">
                    <a16:rowId xmlns:a16="http://schemas.microsoft.com/office/drawing/2014/main" val="2863608266"/>
                  </a:ext>
                </a:extLst>
              </a:tr>
              <a:tr h="199439">
                <a:tc>
                  <a:txBody>
                    <a:bodyPr/>
                    <a:lstStyle/>
                    <a:p>
                      <a:pPr algn="l" fontAlgn="b"/>
                      <a:r>
                        <a:rPr lang="en-US" sz="900" b="0" i="0" u="none" strike="noStrike" dirty="0">
                          <a:solidFill>
                            <a:srgbClr val="000000"/>
                          </a:solidFill>
                          <a:effectLst/>
                          <a:latin typeface="Calibri"/>
                        </a:rPr>
                        <a:t>Value (P/B)</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tc>
                  <a:txBody>
                    <a:bodyPr/>
                    <a:lstStyle/>
                    <a:p>
                      <a:pPr algn="r" fontAlgn="b"/>
                      <a:r>
                        <a:rPr lang="en-US" sz="900" b="1" i="0" u="none" strike="noStrike" dirty="0">
                          <a:solidFill>
                            <a:srgbClr val="000000"/>
                          </a:solidFill>
                          <a:effectLst/>
                          <a:latin typeface="Calibri"/>
                        </a:rPr>
                        <a:t>$45.68 </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D9D9"/>
                    </a:solidFill>
                  </a:tcPr>
                </a:tc>
                <a:tc>
                  <a:txBody>
                    <a:bodyPr/>
                    <a:lstStyle/>
                    <a:p>
                      <a:pPr algn="r" fontAlgn="b"/>
                      <a:r>
                        <a:rPr lang="en-US" sz="900" b="0" i="0" u="none" strike="noStrike" dirty="0">
                          <a:solidFill>
                            <a:srgbClr val="000000"/>
                          </a:solidFill>
                          <a:effectLst/>
                          <a:latin typeface="Calibri" panose="020F0502020204030204" pitchFamily="34" charset="0"/>
                        </a:rPr>
                        <a:t> </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2280690793"/>
                  </a:ext>
                </a:extLst>
              </a:tr>
            </a:tbl>
          </a:graphicData>
        </a:graphic>
      </p:graphicFrame>
      <p:sp>
        <p:nvSpPr>
          <p:cNvPr id="38" name="Rectangle 37">
            <a:extLst>
              <a:ext uri="{FF2B5EF4-FFF2-40B4-BE49-F238E27FC236}">
                <a16:creationId xmlns:a16="http://schemas.microsoft.com/office/drawing/2014/main" id="{0AD65D1E-61BE-B208-36FD-0D9E7FF25217}"/>
              </a:ext>
            </a:extLst>
          </p:cNvPr>
          <p:cNvSpPr/>
          <p:nvPr/>
        </p:nvSpPr>
        <p:spPr>
          <a:xfrm>
            <a:off x="4811201" y="4911610"/>
            <a:ext cx="1394373" cy="264437"/>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nSpc>
                <a:spcPct val="150000"/>
              </a:lnSpc>
              <a:spcBef>
                <a:spcPts val="0"/>
              </a:spcBef>
              <a:spcAft>
                <a:spcPts val="0"/>
              </a:spcAft>
              <a:defRPr/>
            </a:pPr>
            <a:r>
              <a:rPr lang="en-US" sz="900" b="1" dirty="0">
                <a:solidFill>
                  <a:srgbClr val="000000"/>
                </a:solidFill>
                <a:latin typeface="Calibri" panose="020F0502020204030204" pitchFamily="34" charset="0"/>
                <a:ea typeface="Calibri" panose="020F0502020204030204" pitchFamily="34" charset="0"/>
                <a:cs typeface="Calibri" panose="020F0502020204030204" pitchFamily="34" charset="0"/>
              </a:rPr>
              <a:t>Current P/B: </a:t>
            </a:r>
            <a:r>
              <a:rPr lang="en-US" sz="900" dirty="0">
                <a:solidFill>
                  <a:srgbClr val="000000"/>
                </a:solidFill>
                <a:latin typeface="Calibri" panose="020F0502020204030204" pitchFamily="34" charset="0"/>
                <a:ea typeface="Calibri" panose="020F0502020204030204" pitchFamily="34" charset="0"/>
                <a:cs typeface="Calibri" panose="020F0502020204030204" pitchFamily="34" charset="0"/>
              </a:rPr>
              <a:t>0.87</a:t>
            </a:r>
          </a:p>
        </p:txBody>
      </p:sp>
      <p:sp>
        <p:nvSpPr>
          <p:cNvPr id="40" name="Rectangle 39">
            <a:extLst>
              <a:ext uri="{FF2B5EF4-FFF2-40B4-BE49-F238E27FC236}">
                <a16:creationId xmlns:a16="http://schemas.microsoft.com/office/drawing/2014/main" id="{BE9110BD-4F55-F70C-BC7D-C0D007609B79}"/>
              </a:ext>
            </a:extLst>
          </p:cNvPr>
          <p:cNvSpPr/>
          <p:nvPr/>
        </p:nvSpPr>
        <p:spPr>
          <a:xfrm>
            <a:off x="6376737" y="4911871"/>
            <a:ext cx="2625862" cy="1168223"/>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nchorCtr="0"/>
          <a:lstStyle/>
          <a:p>
            <a:pPr>
              <a:spcBef>
                <a:spcPts val="0"/>
              </a:spcBef>
              <a:spcAft>
                <a:spcPts val="0"/>
              </a:spcAft>
              <a:defRPr/>
            </a:pPr>
            <a:r>
              <a:rPr lang="en-US" sz="900" b="1" dirty="0">
                <a:solidFill>
                  <a:srgbClr val="000000"/>
                </a:solidFill>
                <a:latin typeface="Calibri" panose="020F0502020204030204" pitchFamily="34" charset="0"/>
                <a:ea typeface="Calibri" panose="020F0502020204030204" pitchFamily="34" charset="0"/>
                <a:cs typeface="Calibri" panose="020F0502020204030204" pitchFamily="34" charset="0"/>
              </a:rPr>
              <a:t>Normalized Terminal P/B Multiple:</a:t>
            </a:r>
          </a:p>
          <a:p>
            <a:pPr>
              <a:spcBef>
                <a:spcPts val="0"/>
              </a:spcBef>
              <a:spcAft>
                <a:spcPts val="0"/>
              </a:spcAft>
              <a:defRPr/>
            </a:pPr>
            <a:endParaRPr lang="en-US" sz="400" dirty="0">
              <a:solidFill>
                <a:srgbClr val="000000"/>
              </a:solidFill>
              <a:latin typeface="Calibri"/>
              <a:ea typeface="Calibri"/>
              <a:cs typeface="Calibri"/>
            </a:endParaRPr>
          </a:p>
          <a:p>
            <a:pPr lvl="0">
              <a:buFontTx/>
              <a:buChar char="•"/>
            </a:pPr>
            <a:r>
              <a:rPr lang="en-US" altLang="en-US" sz="900" dirty="0">
                <a:solidFill>
                  <a:srgbClr val="000000"/>
                </a:solidFill>
                <a:latin typeface="Calibri"/>
                <a:ea typeface="Calibri"/>
                <a:cs typeface="Calibri"/>
              </a:rPr>
              <a:t>Between current (0.87) and 5-yr average (1.28x)</a:t>
            </a:r>
          </a:p>
          <a:p>
            <a:pPr lvl="0">
              <a:buFontTx/>
              <a:buChar char="•"/>
            </a:pPr>
            <a:endParaRPr lang="en-US" altLang="en-US" sz="300" dirty="0">
              <a:solidFill>
                <a:srgbClr val="000000"/>
              </a:solidFill>
              <a:latin typeface="Calibri"/>
              <a:ea typeface="Calibri"/>
              <a:cs typeface="Calibri"/>
            </a:endParaRPr>
          </a:p>
          <a:p>
            <a:pPr lvl="0">
              <a:buFontTx/>
              <a:buChar char="•"/>
            </a:pPr>
            <a:r>
              <a:rPr lang="en-US" altLang="en-US" sz="900" dirty="0">
                <a:solidFill>
                  <a:srgbClr val="000000"/>
                </a:solidFill>
                <a:latin typeface="Calibri"/>
                <a:ea typeface="Calibri"/>
                <a:cs typeface="Calibri"/>
              </a:rPr>
              <a:t>Reflects stabilized mid-cycle ROE (4%)</a:t>
            </a:r>
          </a:p>
          <a:p>
            <a:pPr lvl="0">
              <a:buFontTx/>
              <a:buChar char="•"/>
            </a:pPr>
            <a:endParaRPr lang="en-US" altLang="en-US" sz="300" dirty="0">
              <a:solidFill>
                <a:srgbClr val="000000"/>
              </a:solidFill>
              <a:latin typeface="Calibri"/>
              <a:ea typeface="Calibri"/>
              <a:cs typeface="Calibri"/>
            </a:endParaRPr>
          </a:p>
          <a:p>
            <a:pPr lvl="0">
              <a:buFontTx/>
              <a:buChar char="•"/>
            </a:pPr>
            <a:r>
              <a:rPr lang="en-US" altLang="en-US" sz="900" dirty="0">
                <a:solidFill>
                  <a:srgbClr val="000000"/>
                </a:solidFill>
                <a:latin typeface="Calibri"/>
                <a:ea typeface="Calibri"/>
                <a:cs typeface="Calibri"/>
              </a:rPr>
              <a:t>Assumes no material buybacks or dilution</a:t>
            </a:r>
          </a:p>
          <a:p>
            <a:pPr lvl="0">
              <a:buFontTx/>
              <a:buChar char="•"/>
            </a:pPr>
            <a:endParaRPr lang="en-US" altLang="en-US" sz="300" dirty="0">
              <a:solidFill>
                <a:srgbClr val="000000"/>
              </a:solidFill>
              <a:latin typeface="Calibri"/>
              <a:ea typeface="Calibri"/>
              <a:cs typeface="Calibri"/>
            </a:endParaRPr>
          </a:p>
          <a:p>
            <a:pPr lvl="0">
              <a:buFontTx/>
              <a:buChar char="•"/>
            </a:pPr>
            <a:r>
              <a:rPr lang="en-US" altLang="en-US" sz="900" dirty="0">
                <a:solidFill>
                  <a:srgbClr val="000000"/>
                </a:solidFill>
                <a:latin typeface="Calibri"/>
                <a:ea typeface="Calibri"/>
                <a:cs typeface="Calibri"/>
              </a:rPr>
              <a:t>Consistent with modestly levered capital structure</a:t>
            </a:r>
            <a:endParaRPr lang="en-US" sz="900" dirty="0">
              <a:solidFill>
                <a:srgbClr val="000000"/>
              </a:solidFill>
              <a:latin typeface="Calibri"/>
              <a:ea typeface="Calibri"/>
              <a:cs typeface="Calibri"/>
            </a:endParaRPr>
          </a:p>
        </p:txBody>
      </p:sp>
      <p:pic>
        <p:nvPicPr>
          <p:cNvPr id="2" name="Picture 1" descr="Outdoor Industry Jobs">
            <a:extLst>
              <a:ext uri="{FF2B5EF4-FFF2-40B4-BE49-F238E27FC236}">
                <a16:creationId xmlns:a16="http://schemas.microsoft.com/office/drawing/2014/main" id="{398694AA-5D25-A8C8-E739-6F336CF2120B}"/>
              </a:ext>
            </a:extLst>
          </p:cNvPr>
          <p:cNvPicPr>
            <a:picLocks noChangeAspect="1"/>
          </p:cNvPicPr>
          <p:nvPr/>
        </p:nvPicPr>
        <p:blipFill>
          <a:blip r:embed="rId9"/>
          <a:stretch>
            <a:fillRect/>
          </a:stretch>
        </p:blipFill>
        <p:spPr>
          <a:xfrm>
            <a:off x="6737770" y="96688"/>
            <a:ext cx="2310800" cy="453606"/>
          </a:xfrm>
          <a:prstGeom prst="rect">
            <a:avLst/>
          </a:prstGeom>
        </p:spPr>
      </p:pic>
      <p:sp>
        <p:nvSpPr>
          <p:cNvPr id="4" name="TextBox 3">
            <a:extLst>
              <a:ext uri="{FF2B5EF4-FFF2-40B4-BE49-F238E27FC236}">
                <a16:creationId xmlns:a16="http://schemas.microsoft.com/office/drawing/2014/main" id="{EAE0124C-2B7F-52E0-D820-9F0AF8059387}"/>
              </a:ext>
            </a:extLst>
          </p:cNvPr>
          <p:cNvSpPr txBox="1"/>
          <p:nvPr/>
        </p:nvSpPr>
        <p:spPr>
          <a:xfrm>
            <a:off x="0" y="145028"/>
            <a:ext cx="6027821" cy="461665"/>
          </a:xfrm>
          <a:prstGeom prst="rect">
            <a:avLst/>
          </a:prstGeom>
          <a:noFill/>
        </p:spPr>
        <p:txBody>
          <a:bodyPr wrap="square">
            <a:spAutoFit/>
          </a:bodyPr>
          <a:lstStyle/>
          <a:p>
            <a:r>
              <a:rPr lang="en-US" sz="2400" b="1" dirty="0">
                <a:solidFill>
                  <a:srgbClr val="000000"/>
                </a:solidFill>
                <a:latin typeface="Calibri" panose="020F0502020204030204" pitchFamily="34" charset="0"/>
              </a:rPr>
              <a:t>Stage Two and Justification of Terminal P/B</a:t>
            </a:r>
            <a:endParaRPr lang="en-US" sz="2400" dirty="0">
              <a:solidFill>
                <a:srgbClr val="000000"/>
              </a:solidFill>
            </a:endParaRPr>
          </a:p>
        </p:txBody>
      </p:sp>
      <p:graphicFrame>
        <p:nvGraphicFramePr>
          <p:cNvPr id="5" name="Table 4">
            <a:extLst>
              <a:ext uri="{FF2B5EF4-FFF2-40B4-BE49-F238E27FC236}">
                <a16:creationId xmlns:a16="http://schemas.microsoft.com/office/drawing/2014/main" id="{DD4C2D03-5858-4F4B-8BDB-7739ADF8EC00}"/>
              </a:ext>
            </a:extLst>
          </p:cNvPr>
          <p:cNvGraphicFramePr>
            <a:graphicFrameLocks noGrp="1"/>
          </p:cNvGraphicFramePr>
          <p:nvPr>
            <p:extLst>
              <p:ext uri="{D42A27DB-BD31-4B8C-83A1-F6EECF244321}">
                <p14:modId xmlns:p14="http://schemas.microsoft.com/office/powerpoint/2010/main" val="3250071000"/>
              </p:ext>
            </p:extLst>
          </p:nvPr>
        </p:nvGraphicFramePr>
        <p:xfrm>
          <a:off x="128430" y="931255"/>
          <a:ext cx="8895959" cy="417860"/>
        </p:xfrm>
        <a:graphic>
          <a:graphicData uri="http://schemas.openxmlformats.org/drawingml/2006/table">
            <a:tbl>
              <a:tblPr/>
              <a:tblGrid>
                <a:gridCol w="1537179">
                  <a:extLst>
                    <a:ext uri="{9D8B030D-6E8A-4147-A177-3AD203B41FA5}">
                      <a16:colId xmlns:a16="http://schemas.microsoft.com/office/drawing/2014/main" val="1541894729"/>
                    </a:ext>
                  </a:extLst>
                </a:gridCol>
                <a:gridCol w="1216046">
                  <a:extLst>
                    <a:ext uri="{9D8B030D-6E8A-4147-A177-3AD203B41FA5}">
                      <a16:colId xmlns:a16="http://schemas.microsoft.com/office/drawing/2014/main" val="1661104562"/>
                    </a:ext>
                  </a:extLst>
                </a:gridCol>
                <a:gridCol w="568539">
                  <a:extLst>
                    <a:ext uri="{9D8B030D-6E8A-4147-A177-3AD203B41FA5}">
                      <a16:colId xmlns:a16="http://schemas.microsoft.com/office/drawing/2014/main" val="680745350"/>
                    </a:ext>
                  </a:extLst>
                </a:gridCol>
                <a:gridCol w="530147">
                  <a:extLst>
                    <a:ext uri="{9D8B030D-6E8A-4147-A177-3AD203B41FA5}">
                      <a16:colId xmlns:a16="http://schemas.microsoft.com/office/drawing/2014/main" val="4150610557"/>
                    </a:ext>
                  </a:extLst>
                </a:gridCol>
                <a:gridCol w="527037">
                  <a:extLst>
                    <a:ext uri="{9D8B030D-6E8A-4147-A177-3AD203B41FA5}">
                      <a16:colId xmlns:a16="http://schemas.microsoft.com/office/drawing/2014/main" val="599253515"/>
                    </a:ext>
                  </a:extLst>
                </a:gridCol>
                <a:gridCol w="543587">
                  <a:extLst>
                    <a:ext uri="{9D8B030D-6E8A-4147-A177-3AD203B41FA5}">
                      <a16:colId xmlns:a16="http://schemas.microsoft.com/office/drawing/2014/main" val="258859110"/>
                    </a:ext>
                  </a:extLst>
                </a:gridCol>
                <a:gridCol w="567632">
                  <a:extLst>
                    <a:ext uri="{9D8B030D-6E8A-4147-A177-3AD203B41FA5}">
                      <a16:colId xmlns:a16="http://schemas.microsoft.com/office/drawing/2014/main" val="3071760497"/>
                    </a:ext>
                  </a:extLst>
                </a:gridCol>
                <a:gridCol w="567632">
                  <a:extLst>
                    <a:ext uri="{9D8B030D-6E8A-4147-A177-3AD203B41FA5}">
                      <a16:colId xmlns:a16="http://schemas.microsoft.com/office/drawing/2014/main" val="4158634818"/>
                    </a:ext>
                  </a:extLst>
                </a:gridCol>
                <a:gridCol w="567632">
                  <a:extLst>
                    <a:ext uri="{9D8B030D-6E8A-4147-A177-3AD203B41FA5}">
                      <a16:colId xmlns:a16="http://schemas.microsoft.com/office/drawing/2014/main" val="2200163360"/>
                    </a:ext>
                  </a:extLst>
                </a:gridCol>
                <a:gridCol w="567632">
                  <a:extLst>
                    <a:ext uri="{9D8B030D-6E8A-4147-A177-3AD203B41FA5}">
                      <a16:colId xmlns:a16="http://schemas.microsoft.com/office/drawing/2014/main" val="1004013646"/>
                    </a:ext>
                  </a:extLst>
                </a:gridCol>
                <a:gridCol w="567632">
                  <a:extLst>
                    <a:ext uri="{9D8B030D-6E8A-4147-A177-3AD203B41FA5}">
                      <a16:colId xmlns:a16="http://schemas.microsoft.com/office/drawing/2014/main" val="1544462756"/>
                    </a:ext>
                  </a:extLst>
                </a:gridCol>
                <a:gridCol w="567632">
                  <a:extLst>
                    <a:ext uri="{9D8B030D-6E8A-4147-A177-3AD203B41FA5}">
                      <a16:colId xmlns:a16="http://schemas.microsoft.com/office/drawing/2014/main" val="2341960529"/>
                    </a:ext>
                  </a:extLst>
                </a:gridCol>
                <a:gridCol w="567632">
                  <a:extLst>
                    <a:ext uri="{9D8B030D-6E8A-4147-A177-3AD203B41FA5}">
                      <a16:colId xmlns:a16="http://schemas.microsoft.com/office/drawing/2014/main" val="2446845445"/>
                    </a:ext>
                  </a:extLst>
                </a:gridCol>
              </a:tblGrid>
              <a:tr h="130949">
                <a:tc>
                  <a:txBody>
                    <a:bodyPr/>
                    <a:lstStyle/>
                    <a:p>
                      <a:pPr algn="l" fontAlgn="b">
                        <a:buNone/>
                      </a:pPr>
                      <a:r>
                        <a:rPr lang="en-US" sz="900" b="1" i="0" u="none" strike="noStrike" dirty="0">
                          <a:solidFill>
                            <a:srgbClr val="FFFFFF"/>
                          </a:solidFill>
                          <a:effectLst/>
                          <a:latin typeface="Calibri" panose="020F0502020204030204" pitchFamily="34" charset="0"/>
                        </a:rPr>
                        <a:t>Stock Valuation Models n</a:t>
                      </a:r>
                    </a:p>
                  </a:txBody>
                  <a:tcPr marL="0" marR="0" marT="0" marB="0" anchor="b">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buNone/>
                      </a:pPr>
                      <a:r>
                        <a:rPr lang="en-US" sz="900" b="1" i="0" u="none" strike="noStrike" dirty="0">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buNone/>
                      </a:pPr>
                      <a:r>
                        <a:rPr lang="en-US" sz="900" b="1" i="0" u="none" strike="noStrike" dirty="0">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08080"/>
                    </a:solidFill>
                  </a:tcPr>
                </a:tc>
                <a:tc gridSpan="7">
                  <a:txBody>
                    <a:bodyPr/>
                    <a:lstStyle/>
                    <a:p>
                      <a:pPr algn="ctr" fontAlgn="b">
                        <a:buNone/>
                      </a:pPr>
                      <a:r>
                        <a:rPr lang="en-US" sz="900" b="1" i="0" u="none" strike="noStrike" dirty="0">
                          <a:solidFill>
                            <a:srgbClr val="FFFFFF"/>
                          </a:solidFill>
                          <a:effectLst/>
                          <a:latin typeface="Calibri" panose="020F0502020204030204" pitchFamily="34" charset="0"/>
                        </a:rPr>
                        <a:t>Terminal Value</a:t>
                      </a:r>
                    </a:p>
                  </a:txBody>
                  <a:tcPr marL="0" marR="0" marT="0" marB="0" anchor="b">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4141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75321850"/>
                  </a:ext>
                </a:extLst>
              </a:tr>
              <a:tr h="91964">
                <a:tc>
                  <a:txBody>
                    <a:bodyPr/>
                    <a:lstStyle/>
                    <a:p>
                      <a:pPr algn="l" fontAlgn="b">
                        <a:buNone/>
                      </a:pPr>
                      <a:r>
                        <a:rPr lang="en-US" sz="900" b="1" i="0" u="none" strike="noStrike" dirty="0">
                          <a:solidFill>
                            <a:srgbClr val="141414"/>
                          </a:solidFill>
                          <a:effectLst/>
                          <a:latin typeface="Calibri" panose="020F0502020204030204" pitchFamily="34" charset="0"/>
                        </a:rPr>
                        <a:t> </a:t>
                      </a:r>
                    </a:p>
                  </a:txBody>
                  <a:tcPr marL="0" marR="0" marT="0" marB="0" anchor="b">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a:solidFill>
                            <a:srgbClr val="141414"/>
                          </a:solidFill>
                          <a:effectLst/>
                          <a:latin typeface="Calibri" panose="020F0502020204030204" pitchFamily="34" charset="0"/>
                        </a:rPr>
                        <a:t>2020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dirty="0">
                          <a:solidFill>
                            <a:srgbClr val="141414"/>
                          </a:solidFill>
                          <a:effectLst/>
                          <a:latin typeface="Calibri" panose="020F0502020204030204" pitchFamily="34" charset="0"/>
                        </a:rPr>
                        <a:t>2021</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dirty="0">
                          <a:solidFill>
                            <a:srgbClr val="141414"/>
                          </a:solidFill>
                          <a:effectLst/>
                          <a:latin typeface="Calibri" panose="020F0502020204030204" pitchFamily="34" charset="0"/>
                        </a:rPr>
                        <a:t>2022</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dirty="0">
                          <a:solidFill>
                            <a:srgbClr val="141414"/>
                          </a:solidFill>
                          <a:effectLst/>
                          <a:latin typeface="Calibri" panose="020F0502020204030204" pitchFamily="34" charset="0"/>
                        </a:rPr>
                        <a:t>2023</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a:solidFill>
                            <a:srgbClr val="141414"/>
                          </a:solidFill>
                          <a:effectLst/>
                          <a:latin typeface="Calibri" panose="020F0502020204030204" pitchFamily="34" charset="0"/>
                        </a:rPr>
                        <a:t>2024</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dirty="0">
                          <a:solidFill>
                            <a:srgbClr val="141414"/>
                          </a:solidFill>
                          <a:effectLst/>
                          <a:latin typeface="Calibri" panose="020F0502020204030204" pitchFamily="34" charset="0"/>
                        </a:rPr>
                        <a:t>2025</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dirty="0">
                          <a:solidFill>
                            <a:srgbClr val="141414"/>
                          </a:solidFill>
                          <a:effectLst/>
                          <a:latin typeface="Calibri" panose="020F0502020204030204" pitchFamily="34" charset="0"/>
                        </a:rPr>
                        <a:t>2026</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a:solidFill>
                            <a:srgbClr val="141414"/>
                          </a:solidFill>
                          <a:effectLst/>
                          <a:latin typeface="Calibri" panose="020F0502020204030204" pitchFamily="34" charset="0"/>
                        </a:rPr>
                        <a:t>2027</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a:solidFill>
                            <a:srgbClr val="141414"/>
                          </a:solidFill>
                          <a:effectLst/>
                          <a:latin typeface="Calibri" panose="020F0502020204030204" pitchFamily="34" charset="0"/>
                        </a:rPr>
                        <a:t>2028</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a:solidFill>
                            <a:srgbClr val="141414"/>
                          </a:solidFill>
                          <a:effectLst/>
                          <a:latin typeface="Calibri" panose="020F0502020204030204" pitchFamily="34" charset="0"/>
                        </a:rPr>
                        <a:t>2029</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a:solidFill>
                            <a:srgbClr val="141414"/>
                          </a:solidFill>
                          <a:effectLst/>
                          <a:latin typeface="Calibri" panose="020F0502020204030204" pitchFamily="34" charset="0"/>
                        </a:rPr>
                        <a:t>2030</a:t>
                      </a:r>
                    </a:p>
                  </a:txBody>
                  <a:tcPr marL="0" marR="0" marT="0" marB="0" anchor="b">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fontAlgn="b">
                        <a:buNone/>
                      </a:pPr>
                      <a:r>
                        <a:rPr lang="en-US" sz="900" b="1" i="0" u="none" strike="noStrike" dirty="0">
                          <a:solidFill>
                            <a:srgbClr val="141414"/>
                          </a:solidFill>
                          <a:effectLst/>
                          <a:latin typeface="Calibri" panose="020F0502020204030204" pitchFamily="34" charset="0"/>
                        </a:rPr>
                        <a:t>2031</a:t>
                      </a:r>
                    </a:p>
                  </a:txBody>
                  <a:tcPr marL="0" marR="0" marT="0" marB="0" anchor="b">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4208641575"/>
                  </a:ext>
                </a:extLst>
              </a:tr>
              <a:tr h="143540">
                <a:tc>
                  <a:txBody>
                    <a:bodyPr/>
                    <a:lstStyle/>
                    <a:p>
                      <a:pPr algn="l" fontAlgn="b">
                        <a:buNone/>
                      </a:pPr>
                      <a:r>
                        <a:rPr lang="en-US" sz="900" b="1" i="0" u="none" strike="noStrike" dirty="0">
                          <a:solidFill>
                            <a:srgbClr val="141414"/>
                          </a:solidFill>
                          <a:effectLst/>
                          <a:latin typeface="Calibri" panose="020F0502020204030204" pitchFamily="34" charset="0"/>
                        </a:rPr>
                        <a:t>Stock Valuation Models</a:t>
                      </a:r>
                    </a:p>
                  </a:txBody>
                  <a:tcPr marL="0" marR="0" marT="0" marB="0" anchor="b">
                    <a:lnL w="12700" cap="flat" cmpd="sng" algn="ctr">
                      <a:solidFill>
                        <a:schemeClr val="tx1"/>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dirty="0">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dirty="0">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a:solidFill>
                            <a:srgbClr val="FFFFFF"/>
                          </a:solidFill>
                          <a:effectLst/>
                          <a:latin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A9A9A9"/>
                    </a:solidFill>
                  </a:tcPr>
                </a:tc>
                <a:tc>
                  <a:txBody>
                    <a:bodyPr/>
                    <a:lstStyle/>
                    <a:p>
                      <a:pPr algn="l" fontAlgn="b">
                        <a:buNone/>
                      </a:pPr>
                      <a:r>
                        <a:rPr lang="en-US" sz="900" b="1" i="0" u="none" strike="noStrike" dirty="0">
                          <a:solidFill>
                            <a:srgbClr val="FFFFFF"/>
                          </a:solidFill>
                          <a:effectLst/>
                          <a:latin typeface="Calibri" panose="020F0502020204030204" pitchFamily="34" charset="0"/>
                        </a:rPr>
                        <a:t> </a:t>
                      </a:r>
                    </a:p>
                  </a:txBody>
                  <a:tcPr marL="0" marR="0" marT="0" marB="0" anchor="b">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A9A9A9"/>
                    </a:solidFill>
                  </a:tcPr>
                </a:tc>
                <a:extLst>
                  <a:ext uri="{0D108BD9-81ED-4DB2-BD59-A6C34878D82A}">
                    <a16:rowId xmlns:a16="http://schemas.microsoft.com/office/drawing/2014/main" val="1440999678"/>
                  </a:ext>
                </a:extLst>
              </a:tr>
            </a:tbl>
          </a:graphicData>
        </a:graphic>
      </p:graphicFrame>
      <p:graphicFrame>
        <p:nvGraphicFramePr>
          <p:cNvPr id="9" name="Table 8">
            <a:extLst>
              <a:ext uri="{FF2B5EF4-FFF2-40B4-BE49-F238E27FC236}">
                <a16:creationId xmlns:a16="http://schemas.microsoft.com/office/drawing/2014/main" id="{C2E4BD0E-2B86-DA52-F9ED-67B5ABB6C82B}"/>
              </a:ext>
            </a:extLst>
          </p:cNvPr>
          <p:cNvGraphicFramePr>
            <a:graphicFrameLocks noGrp="1"/>
          </p:cNvGraphicFramePr>
          <p:nvPr>
            <p:custDataLst>
              <p:tags r:id="rId2"/>
            </p:custDataLst>
            <p:extLst>
              <p:ext uri="{D42A27DB-BD31-4B8C-83A1-F6EECF244321}">
                <p14:modId xmlns:p14="http://schemas.microsoft.com/office/powerpoint/2010/main" val="4223756787"/>
              </p:ext>
            </p:extLst>
          </p:nvPr>
        </p:nvGraphicFramePr>
        <p:xfrm>
          <a:off x="124019" y="1348294"/>
          <a:ext cx="8895960" cy="1944117"/>
        </p:xfrm>
        <a:graphic>
          <a:graphicData uri="http://schemas.openxmlformats.org/drawingml/2006/table">
            <a:tbl>
              <a:tblPr/>
              <a:tblGrid>
                <a:gridCol w="2211082">
                  <a:extLst>
                    <a:ext uri="{9D8B030D-6E8A-4147-A177-3AD203B41FA5}">
                      <a16:colId xmlns:a16="http://schemas.microsoft.com/office/drawing/2014/main" val="2968263035"/>
                    </a:ext>
                  </a:extLst>
                </a:gridCol>
                <a:gridCol w="537584">
                  <a:extLst>
                    <a:ext uri="{9D8B030D-6E8A-4147-A177-3AD203B41FA5}">
                      <a16:colId xmlns:a16="http://schemas.microsoft.com/office/drawing/2014/main" val="3188870535"/>
                    </a:ext>
                  </a:extLst>
                </a:gridCol>
                <a:gridCol w="537584">
                  <a:extLst>
                    <a:ext uri="{9D8B030D-6E8A-4147-A177-3AD203B41FA5}">
                      <a16:colId xmlns:a16="http://schemas.microsoft.com/office/drawing/2014/main" val="3624889396"/>
                    </a:ext>
                  </a:extLst>
                </a:gridCol>
                <a:gridCol w="537584">
                  <a:extLst>
                    <a:ext uri="{9D8B030D-6E8A-4147-A177-3AD203B41FA5}">
                      <a16:colId xmlns:a16="http://schemas.microsoft.com/office/drawing/2014/main" val="2249571358"/>
                    </a:ext>
                  </a:extLst>
                </a:gridCol>
                <a:gridCol w="537584">
                  <a:extLst>
                    <a:ext uri="{9D8B030D-6E8A-4147-A177-3AD203B41FA5}">
                      <a16:colId xmlns:a16="http://schemas.microsoft.com/office/drawing/2014/main" val="2117233433"/>
                    </a:ext>
                  </a:extLst>
                </a:gridCol>
                <a:gridCol w="537584">
                  <a:extLst>
                    <a:ext uri="{9D8B030D-6E8A-4147-A177-3AD203B41FA5}">
                      <a16:colId xmlns:a16="http://schemas.microsoft.com/office/drawing/2014/main" val="4080641567"/>
                    </a:ext>
                  </a:extLst>
                </a:gridCol>
                <a:gridCol w="570994">
                  <a:extLst>
                    <a:ext uri="{9D8B030D-6E8A-4147-A177-3AD203B41FA5}">
                      <a16:colId xmlns:a16="http://schemas.microsoft.com/office/drawing/2014/main" val="3317255495"/>
                    </a:ext>
                  </a:extLst>
                </a:gridCol>
                <a:gridCol w="570994">
                  <a:extLst>
                    <a:ext uri="{9D8B030D-6E8A-4147-A177-3AD203B41FA5}">
                      <a16:colId xmlns:a16="http://schemas.microsoft.com/office/drawing/2014/main" val="1827846934"/>
                    </a:ext>
                  </a:extLst>
                </a:gridCol>
                <a:gridCol w="570994">
                  <a:extLst>
                    <a:ext uri="{9D8B030D-6E8A-4147-A177-3AD203B41FA5}">
                      <a16:colId xmlns:a16="http://schemas.microsoft.com/office/drawing/2014/main" val="41754045"/>
                    </a:ext>
                  </a:extLst>
                </a:gridCol>
                <a:gridCol w="570994">
                  <a:extLst>
                    <a:ext uri="{9D8B030D-6E8A-4147-A177-3AD203B41FA5}">
                      <a16:colId xmlns:a16="http://schemas.microsoft.com/office/drawing/2014/main" val="2711977532"/>
                    </a:ext>
                  </a:extLst>
                </a:gridCol>
                <a:gridCol w="570994">
                  <a:extLst>
                    <a:ext uri="{9D8B030D-6E8A-4147-A177-3AD203B41FA5}">
                      <a16:colId xmlns:a16="http://schemas.microsoft.com/office/drawing/2014/main" val="3780034047"/>
                    </a:ext>
                  </a:extLst>
                </a:gridCol>
                <a:gridCol w="570994">
                  <a:extLst>
                    <a:ext uri="{9D8B030D-6E8A-4147-A177-3AD203B41FA5}">
                      <a16:colId xmlns:a16="http://schemas.microsoft.com/office/drawing/2014/main" val="48389366"/>
                    </a:ext>
                  </a:extLst>
                </a:gridCol>
                <a:gridCol w="570994">
                  <a:extLst>
                    <a:ext uri="{9D8B030D-6E8A-4147-A177-3AD203B41FA5}">
                      <a16:colId xmlns:a16="http://schemas.microsoft.com/office/drawing/2014/main" val="4240354104"/>
                    </a:ext>
                  </a:extLst>
                </a:gridCol>
              </a:tblGrid>
              <a:tr h="150946">
                <a:tc>
                  <a:txBody>
                    <a:bodyPr/>
                    <a:lstStyle/>
                    <a:p>
                      <a:pPr algn="l" fontAlgn="b">
                        <a:buNone/>
                      </a:pPr>
                      <a:r>
                        <a:rPr lang="en-US" sz="800" b="1" i="0" u="none" strike="noStrike" dirty="0">
                          <a:solidFill>
                            <a:srgbClr val="141414"/>
                          </a:solidFill>
                          <a:effectLst/>
                          <a:latin typeface="Calibri" panose="020F0502020204030204" pitchFamily="34" charset="0"/>
                        </a:rPr>
                        <a:t>Terminal value P/B</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1"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1" i="0"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BFBFBF"/>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846530461"/>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Book value </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$237</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$316</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$333</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$300</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$290</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$312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$337</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$368</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$398</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$429</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$461</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$492</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889862810"/>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Growth</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33.3%</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5.4%</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-9.9%</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-3.3%</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7.5%</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8.1%</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9.0%</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8.4%</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7.8%</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7.3%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6.9%</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755203748"/>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ROE (EOY book)</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23.3%</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26.4%</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13.2%</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6.5%</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-9.1%</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2.6%</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3.5%</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4.2%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4.0%</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3.9%</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3.9%</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3.9%</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251538165"/>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Net income</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$55</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$83</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$44</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$20</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-$27</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$8</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$12</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$17</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$18</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$18</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022527434"/>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Dividends</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$0</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$0</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$0</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$0</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a:solidFill>
                            <a:srgbClr val="141414"/>
                          </a:solidFill>
                          <a:effectLst/>
                          <a:latin typeface="Calibri" panose="020F0502020204030204" pitchFamily="34" charset="0"/>
                        </a:rPr>
                        <a:t>$0</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-$13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-$13</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-$13</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39773661"/>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Growth</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NM</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dirty="0">
                          <a:solidFill>
                            <a:srgbClr val="141414"/>
                          </a:solidFill>
                          <a:effectLst/>
                          <a:latin typeface="Calibri" panose="020F0502020204030204" pitchFamily="34" charset="0"/>
                        </a:rPr>
                        <a:t>NM</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NM</a:t>
                      </a:r>
                    </a:p>
                  </a:txBody>
                  <a:tcPr marL="0" marR="0" marT="0" marB="0" anchor="b">
                    <a:lnL>
                      <a:noFill/>
                    </a:lnL>
                    <a:lnR>
                      <a:noFill/>
                    </a:lnR>
                    <a:lnT>
                      <a:noFill/>
                    </a:lnT>
                    <a:lnB>
                      <a:noFill/>
                    </a:lnB>
                    <a:solidFill>
                      <a:srgbClr val="D9D9D9"/>
                    </a:solidFill>
                  </a:tcPr>
                </a:tc>
                <a:tc>
                  <a:txBody>
                    <a:bodyPr/>
                    <a:lstStyle/>
                    <a:p>
                      <a:pPr algn="r" fontAlgn="b">
                        <a:buNone/>
                      </a:pPr>
                      <a:r>
                        <a:rPr lang="en-US" sz="800" b="0" i="1" u="none" strike="noStrike">
                          <a:solidFill>
                            <a:srgbClr val="141414"/>
                          </a:solidFill>
                          <a:effectLst/>
                          <a:latin typeface="Calibri" panose="020F0502020204030204" pitchFamily="34" charset="0"/>
                        </a:rPr>
                        <a:t>NM</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NM</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NM</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NM</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NM</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NM</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NM</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NM</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456269098"/>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Shares</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         10.0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         10.1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         10.1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         10.2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dirty="0">
                          <a:solidFill>
                            <a:srgbClr val="141414"/>
                          </a:solidFill>
                          <a:effectLst/>
                          <a:latin typeface="Calibri" panose="020F0502020204030204" pitchFamily="34" charset="0"/>
                        </a:rPr>
                        <a:t>         10.2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10.2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10.2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10.2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10.2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10.2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10.2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10.2 </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1128296149"/>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Terminal P/B</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1.50 </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68602613"/>
                  </a:ext>
                </a:extLst>
              </a:tr>
              <a:tr h="150946">
                <a:tc>
                  <a:txBody>
                    <a:bodyPr/>
                    <a:lstStyle/>
                    <a:p>
                      <a:pPr algn="l" fontAlgn="b">
                        <a:buNone/>
                      </a:pPr>
                      <a:r>
                        <a:rPr lang="en-US" sz="800" b="0" i="0" u="none" strike="noStrike" dirty="0">
                          <a:solidFill>
                            <a:srgbClr val="141414"/>
                          </a:solidFill>
                          <a:effectLst/>
                          <a:latin typeface="Calibri" panose="020F0502020204030204" pitchFamily="34" charset="0"/>
                        </a:rPr>
                        <a:t>* Terminal BPS</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$48.28 </a:t>
                      </a:r>
                    </a:p>
                  </a:txBody>
                  <a:tcPr marL="0" marR="0" marT="0" marB="0" anchor="b">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939824975"/>
                  </a:ext>
                </a:extLst>
              </a:tr>
              <a:tr h="157891">
                <a:tc>
                  <a:txBody>
                    <a:bodyPr/>
                    <a:lstStyle/>
                    <a:p>
                      <a:pPr algn="l" fontAlgn="b">
                        <a:buNone/>
                      </a:pPr>
                      <a:r>
                        <a:rPr lang="en-US" sz="800" b="0" i="0" u="none" strike="noStrike" dirty="0">
                          <a:solidFill>
                            <a:srgbClr val="141414"/>
                          </a:solidFill>
                          <a:effectLst/>
                          <a:latin typeface="Calibri" panose="020F0502020204030204" pitchFamily="34" charset="0"/>
                        </a:rPr>
                        <a:t>Terminal value</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$72.42 </a:t>
                      </a:r>
                    </a:p>
                  </a:txBody>
                  <a:tcPr marL="0" marR="0" marT="0" marB="0" anchor="b">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FBFBF"/>
                    </a:solidFill>
                  </a:tcPr>
                </a:tc>
                <a:extLst>
                  <a:ext uri="{0D108BD9-81ED-4DB2-BD59-A6C34878D82A}">
                    <a16:rowId xmlns:a16="http://schemas.microsoft.com/office/drawing/2014/main" val="3735448719"/>
                  </a:ext>
                </a:extLst>
              </a:tr>
              <a:tr h="140962">
                <a:tc>
                  <a:txBody>
                    <a:bodyPr/>
                    <a:lstStyle/>
                    <a:p>
                      <a:pPr algn="l" fontAlgn="b">
                        <a:buNone/>
                      </a:pPr>
                      <a:r>
                        <a:rPr lang="en-US" sz="800" b="0" i="0" u="none" strike="noStrike" dirty="0">
                          <a:solidFill>
                            <a:srgbClr val="141414"/>
                          </a:solidFill>
                          <a:effectLst/>
                          <a:latin typeface="Calibri" panose="020F0502020204030204" pitchFamily="34" charset="0"/>
                        </a:rPr>
                        <a:t>* Discount factor</a:t>
                      </a:r>
                    </a:p>
                  </a:txBody>
                  <a:tcPr marL="0" marR="0" marT="0" marB="0" anchor="b">
                    <a:lnL w="12700" cap="flat" cmpd="sng" algn="ctr">
                      <a:solidFill>
                        <a:schemeClr val="tx1"/>
                      </a:solidFill>
                      <a:prstDash val="solid"/>
                      <a:round/>
                      <a:headEnd type="none" w="med" len="med"/>
                      <a:tailEnd type="none" w="med" len="med"/>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a:noFill/>
                    </a:lnB>
                    <a:solidFill>
                      <a:srgbClr val="D9D9D9"/>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a:noFill/>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0.56 </a:t>
                      </a:r>
                    </a:p>
                  </a:txBody>
                  <a:tcPr marL="0" marR="0" marT="0" marB="0" anchor="b">
                    <a:lnL>
                      <a:noFill/>
                    </a:lnL>
                    <a:lnR w="12700" cap="flat" cmpd="sng" algn="ctr">
                      <a:solidFill>
                        <a:schemeClr val="tx1"/>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752686389"/>
                  </a:ext>
                </a:extLst>
              </a:tr>
              <a:tr h="135804">
                <a:tc>
                  <a:txBody>
                    <a:bodyPr/>
                    <a:lstStyle/>
                    <a:p>
                      <a:pPr algn="l" fontAlgn="b">
                        <a:buNone/>
                      </a:pPr>
                      <a:r>
                        <a:rPr lang="en-US" sz="800" b="0" i="0" u="none" strike="noStrike" dirty="0">
                          <a:solidFill>
                            <a:srgbClr val="141414"/>
                          </a:solidFill>
                          <a:effectLst/>
                          <a:latin typeface="Calibri" panose="020F0502020204030204" pitchFamily="34" charset="0"/>
                        </a:rPr>
                        <a:t>Discounted terminal value</a:t>
                      </a:r>
                    </a:p>
                  </a:txBody>
                  <a:tcPr marL="0" marR="0" marT="0" marB="0" anchor="b">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solidFill>
                      <a:srgbClr val="D9D9D9"/>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D9D9D9"/>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D9D9D9"/>
                    </a:solidFill>
                  </a:tcPr>
                </a:tc>
                <a:tc>
                  <a:txBody>
                    <a:bodyPr/>
                    <a:lstStyle/>
                    <a:p>
                      <a:pPr algn="r" fontAlgn="b">
                        <a:buNone/>
                      </a:pPr>
                      <a:r>
                        <a:rPr lang="en-US" sz="800" b="1" i="0" u="none" strike="noStrike" dirty="0">
                          <a:solidFill>
                            <a:srgbClr val="FFFFFF"/>
                          </a:solidFill>
                          <a:effectLst/>
                          <a:latin typeface="Calibri" panose="020F0502020204030204" pitchFamily="34" charset="0"/>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D9D9D9"/>
                    </a:solidFill>
                  </a:tcPr>
                </a:tc>
                <a:tc>
                  <a:txBody>
                    <a:bodyPr/>
                    <a:lstStyle/>
                    <a:p>
                      <a:pPr algn="r" fontAlgn="b">
                        <a:buNone/>
                      </a:pPr>
                      <a:r>
                        <a:rPr lang="en-US" sz="800" b="1" i="0" u="none" strike="noStrike">
                          <a:solidFill>
                            <a:srgbClr val="FFFFFF"/>
                          </a:solidFill>
                          <a:effectLst/>
                          <a:latin typeface="Calibri" panose="020F0502020204030204" pitchFamily="34" charset="0"/>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D9D9D9"/>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BFBFBF"/>
                    </a:solidFill>
                  </a:tcPr>
                </a:tc>
                <a:tc>
                  <a:txBody>
                    <a:bodyPr/>
                    <a:lstStyle/>
                    <a:p>
                      <a:pPr algn="r" fontAlgn="b">
                        <a:buNone/>
                      </a:pPr>
                      <a:r>
                        <a:rPr lang="en-US" sz="800" b="0" i="0" u="none" strike="noStrike" kern="120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 </a:t>
                      </a:r>
                    </a:p>
                  </a:txBody>
                  <a:tcPr marL="0" marR="0" marT="0" marB="0" anchor="b">
                    <a:lnL>
                      <a:noFill/>
                    </a:lnL>
                    <a:lnR>
                      <a:noFill/>
                    </a:lnR>
                    <a:lnT>
                      <a:noFill/>
                    </a:lnT>
                    <a:lnB w="12700" cap="flat" cmpd="sng" algn="ctr">
                      <a:solidFill>
                        <a:schemeClr val="tx1"/>
                      </a:solidFill>
                      <a:prstDash val="solid"/>
                      <a:round/>
                      <a:headEnd type="none" w="med" len="med"/>
                      <a:tailEnd type="none" w="med" len="med"/>
                    </a:lnB>
                    <a:solidFill>
                      <a:srgbClr val="BFBFBF"/>
                    </a:solidFill>
                  </a:tcPr>
                </a:tc>
                <a:tc>
                  <a:txBody>
                    <a:bodyPr/>
                    <a:lstStyle/>
                    <a:p>
                      <a:pPr algn="r" fontAlgn="b">
                        <a:buNone/>
                      </a:pPr>
                      <a:r>
                        <a:rPr lang="en-US" sz="800" b="0" i="0" u="none" strike="noStrike" kern="1200" dirty="0">
                          <a:solidFill>
                            <a:srgbClr val="141414"/>
                          </a:solidFill>
                          <a:effectLst/>
                          <a:latin typeface="Calibri" panose="020F0502020204030204" pitchFamily="34" charset="0"/>
                          <a:ea typeface="+mn-ea"/>
                          <a:cs typeface="+mn-cs"/>
                        </a:rPr>
                        <a:t>$40.24 </a:t>
                      </a:r>
                    </a:p>
                  </a:txBody>
                  <a:tcPr marL="0" marR="0" marT="0" marB="0" anchor="b">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685027138"/>
                  </a:ext>
                </a:extLst>
              </a:tr>
            </a:tbl>
          </a:graphicData>
        </a:graphic>
      </p:graphicFrame>
      <p:sp>
        <p:nvSpPr>
          <p:cNvPr id="3" name="Text Box 2">
            <a:extLst>
              <a:ext uri="{FF2B5EF4-FFF2-40B4-BE49-F238E27FC236}">
                <a16:creationId xmlns:a16="http://schemas.microsoft.com/office/drawing/2014/main" id="{A1AC8058-FB71-B0E9-771E-F02E05AFDF69}"/>
              </a:ext>
            </a:extLst>
          </p:cNvPr>
          <p:cNvSpPr txBox="1">
            <a:spLocks noChangeArrowheads="1"/>
          </p:cNvSpPr>
          <p:nvPr/>
        </p:nvSpPr>
        <p:spPr bwMode="auto">
          <a:xfrm>
            <a:off x="38603" y="3598935"/>
            <a:ext cx="5607367" cy="326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900" dirty="0">
                <a:solidFill>
                  <a:srgbClr val="292934"/>
                </a:solidFill>
                <a:latin typeface="Calibri"/>
                <a:ea typeface="Calibri" panose="020F0502020204030204" pitchFamily="34" charset="0"/>
                <a:cs typeface="Times New Roman"/>
              </a:rPr>
              <a:t>Figure  28: P/B to ROE</a:t>
            </a:r>
            <a:endParaRPr lang="en-US" altLang="en-US" sz="900" dirty="0">
              <a:solidFill>
                <a:srgbClr val="292934"/>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6" name="Chart 5">
            <a:extLst>
              <a:ext uri="{FF2B5EF4-FFF2-40B4-BE49-F238E27FC236}">
                <a16:creationId xmlns:a16="http://schemas.microsoft.com/office/drawing/2014/main" id="{00000000-0008-0000-1700-000002000000}"/>
              </a:ext>
            </a:extLst>
          </p:cNvPr>
          <p:cNvGraphicFramePr>
            <a:graphicFrameLocks/>
          </p:cNvGraphicFramePr>
          <p:nvPr>
            <p:extLst>
              <p:ext uri="{D42A27DB-BD31-4B8C-83A1-F6EECF244321}">
                <p14:modId xmlns:p14="http://schemas.microsoft.com/office/powerpoint/2010/main" val="4139151164"/>
              </p:ext>
            </p:extLst>
          </p:nvPr>
        </p:nvGraphicFramePr>
        <p:xfrm>
          <a:off x="129369" y="3813786"/>
          <a:ext cx="3981018" cy="2253607"/>
        </p:xfrm>
        <a:graphic>
          <a:graphicData uri="http://schemas.openxmlformats.org/drawingml/2006/chart">
            <c:chart xmlns:c="http://schemas.openxmlformats.org/drawingml/2006/chart" xmlns:r="http://schemas.openxmlformats.org/officeDocument/2006/relationships" r:id="rId10"/>
          </a:graphicData>
        </a:graphic>
      </p:graphicFrame>
      <p:sp>
        <p:nvSpPr>
          <p:cNvPr id="8" name="Rectangle 1">
            <a:extLst>
              <a:ext uri="{FF2B5EF4-FFF2-40B4-BE49-F238E27FC236}">
                <a16:creationId xmlns:a16="http://schemas.microsoft.com/office/drawing/2014/main" id="{314A6029-13E5-9C26-C11C-FCD188FEBD79}"/>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9">
            <a:extLst>
              <a:ext uri="{FF2B5EF4-FFF2-40B4-BE49-F238E27FC236}">
                <a16:creationId xmlns:a16="http://schemas.microsoft.com/office/drawing/2014/main" id="{08111350-140A-8032-7B23-99285D797F6B}"/>
              </a:ext>
            </a:extLst>
          </p:cNvPr>
          <p:cNvSpPr/>
          <p:nvPr/>
        </p:nvSpPr>
        <p:spPr>
          <a:xfrm>
            <a:off x="4811359" y="5378039"/>
            <a:ext cx="1394216" cy="26443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lstStyle/>
          <a:p>
            <a:pPr>
              <a:lnSpc>
                <a:spcPct val="150000"/>
              </a:lnSpc>
              <a:spcBef>
                <a:spcPts val="0"/>
              </a:spcBef>
              <a:spcAft>
                <a:spcPts val="0"/>
              </a:spcAft>
              <a:defRPr/>
            </a:pPr>
            <a:r>
              <a:rPr lang="en-US" sz="900" b="1" dirty="0">
                <a:solidFill>
                  <a:srgbClr val="000000"/>
                </a:solidFill>
                <a:latin typeface="Calibri" panose="020F0502020204030204" pitchFamily="34" charset="0"/>
                <a:ea typeface="Calibri" panose="020F0502020204030204" pitchFamily="34" charset="0"/>
                <a:cs typeface="Calibri" panose="020F0502020204030204" pitchFamily="34" charset="0"/>
              </a:rPr>
              <a:t>5-Year average P/B</a:t>
            </a:r>
            <a:r>
              <a:rPr lang="en-US" sz="900" dirty="0">
                <a:solidFill>
                  <a:srgbClr val="000000"/>
                </a:solidFill>
                <a:latin typeface="Calibri" panose="020F0502020204030204" pitchFamily="34" charset="0"/>
                <a:ea typeface="Calibri" panose="020F0502020204030204" pitchFamily="34" charset="0"/>
                <a:cs typeface="Calibri" panose="020F0502020204030204" pitchFamily="34" charset="0"/>
              </a:rPr>
              <a:t>: 1.28</a:t>
            </a:r>
          </a:p>
        </p:txBody>
      </p:sp>
      <p:sp>
        <p:nvSpPr>
          <p:cNvPr id="11" name="Rectangle 10">
            <a:extLst>
              <a:ext uri="{FF2B5EF4-FFF2-40B4-BE49-F238E27FC236}">
                <a16:creationId xmlns:a16="http://schemas.microsoft.com/office/drawing/2014/main" id="{1CC5B486-8E24-90FE-31CF-45DFA400DA40}"/>
              </a:ext>
            </a:extLst>
          </p:cNvPr>
          <p:cNvSpPr/>
          <p:nvPr/>
        </p:nvSpPr>
        <p:spPr>
          <a:xfrm>
            <a:off x="4811201" y="5823481"/>
            <a:ext cx="1394216" cy="264438"/>
          </a:xfrm>
          <a:prstGeom prst="rect">
            <a:avLst/>
          </a:prstGeom>
          <a:solidFill>
            <a:srgbClr val="F2C755"/>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lstStyle/>
          <a:p>
            <a:pPr>
              <a:lnSpc>
                <a:spcPct val="150000"/>
              </a:lnSpc>
              <a:spcBef>
                <a:spcPts val="0"/>
              </a:spcBef>
              <a:spcAft>
                <a:spcPts val="0"/>
              </a:spcAft>
              <a:defRPr/>
            </a:pPr>
            <a:r>
              <a:rPr lang="en-US" sz="900" b="1" dirty="0">
                <a:solidFill>
                  <a:srgbClr val="000000"/>
                </a:solidFill>
                <a:latin typeface="Calibri" panose="020F0502020204030204" pitchFamily="34" charset="0"/>
                <a:ea typeface="Calibri" panose="020F0502020204030204" pitchFamily="34" charset="0"/>
                <a:cs typeface="Calibri" panose="020F0502020204030204" pitchFamily="34" charset="0"/>
              </a:rPr>
              <a:t>Terminal P/B: </a:t>
            </a:r>
            <a:r>
              <a:rPr lang="en-US" sz="900" dirty="0">
                <a:solidFill>
                  <a:srgbClr val="000000"/>
                </a:solidFill>
                <a:latin typeface="Calibri" panose="020F0502020204030204" pitchFamily="34" charset="0"/>
                <a:ea typeface="Calibri" panose="020F0502020204030204" pitchFamily="34" charset="0"/>
                <a:cs typeface="Calibri" panose="020F0502020204030204" pitchFamily="34" charset="0"/>
              </a:rPr>
              <a:t>1.50</a:t>
            </a:r>
          </a:p>
        </p:txBody>
      </p:sp>
      <p:sp>
        <p:nvSpPr>
          <p:cNvPr id="13" name="Oval 12">
            <a:extLst>
              <a:ext uri="{FF2B5EF4-FFF2-40B4-BE49-F238E27FC236}">
                <a16:creationId xmlns:a16="http://schemas.microsoft.com/office/drawing/2014/main" id="{E3C0C3D1-1645-DEC6-426F-2401B4F22FE3}"/>
              </a:ext>
            </a:extLst>
          </p:cNvPr>
          <p:cNvSpPr/>
          <p:nvPr/>
        </p:nvSpPr>
        <p:spPr>
          <a:xfrm>
            <a:off x="1861621" y="5080000"/>
            <a:ext cx="91440" cy="9144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0FAF5B6-6CA1-0566-41DC-E58E8EF7048D}"/>
              </a:ext>
            </a:extLst>
          </p:cNvPr>
          <p:cNvSpPr txBox="1"/>
          <p:nvPr/>
        </p:nvSpPr>
        <p:spPr>
          <a:xfrm>
            <a:off x="1314500" y="5082676"/>
            <a:ext cx="501401" cy="246221"/>
          </a:xfrm>
          <a:prstGeom prst="rect">
            <a:avLst/>
          </a:prstGeom>
          <a:noFill/>
        </p:spPr>
        <p:txBody>
          <a:bodyPr wrap="square" rtlCol="0">
            <a:spAutoFit/>
          </a:bodyPr>
          <a:lstStyle/>
          <a:p>
            <a:r>
              <a:rPr lang="en-US" sz="1000" dirty="0">
                <a:latin typeface="Calibri" panose="020F0502020204030204" pitchFamily="34" charset="0"/>
                <a:ea typeface="Calibri" panose="020F0502020204030204" pitchFamily="34" charset="0"/>
                <a:cs typeface="Calibri" panose="020F0502020204030204" pitchFamily="34" charset="0"/>
              </a:rPr>
              <a:t>JOUT</a:t>
            </a:r>
          </a:p>
        </p:txBody>
      </p:sp>
      <p:cxnSp>
        <p:nvCxnSpPr>
          <p:cNvPr id="19" name="Straight Connector 18">
            <a:extLst>
              <a:ext uri="{FF2B5EF4-FFF2-40B4-BE49-F238E27FC236}">
                <a16:creationId xmlns:a16="http://schemas.microsoft.com/office/drawing/2014/main" id="{8A4BBA37-98E2-9824-EC92-C718663A397E}"/>
              </a:ext>
            </a:extLst>
          </p:cNvPr>
          <p:cNvCxnSpPr>
            <a:cxnSpLocks/>
          </p:cNvCxnSpPr>
          <p:nvPr/>
        </p:nvCxnSpPr>
        <p:spPr>
          <a:xfrm flipV="1">
            <a:off x="1690458" y="5108076"/>
            <a:ext cx="216883" cy="97344"/>
          </a:xfrm>
          <a:prstGeom prst="line">
            <a:avLst/>
          </a:prstGeom>
        </p:spPr>
        <p:style>
          <a:lnRef idx="1">
            <a:schemeClr val="dk1"/>
          </a:lnRef>
          <a:fillRef idx="0">
            <a:schemeClr val="dk1"/>
          </a:fillRef>
          <a:effectRef idx="0">
            <a:schemeClr val="dk1"/>
          </a:effectRef>
          <a:fontRef idx="minor">
            <a:schemeClr val="tx1"/>
          </a:fontRef>
        </p:style>
      </p:cxnSp>
      <p:sp>
        <p:nvSpPr>
          <p:cNvPr id="14" name="Star: 5 Points 13">
            <a:extLst>
              <a:ext uri="{FF2B5EF4-FFF2-40B4-BE49-F238E27FC236}">
                <a16:creationId xmlns:a16="http://schemas.microsoft.com/office/drawing/2014/main" id="{6F0F66C9-F41D-6570-25BC-9DB0D03C7F06}"/>
              </a:ext>
            </a:extLst>
          </p:cNvPr>
          <p:cNvSpPr/>
          <p:nvPr/>
        </p:nvSpPr>
        <p:spPr>
          <a:xfrm>
            <a:off x="1897181" y="5100086"/>
            <a:ext cx="27432" cy="27432"/>
          </a:xfrm>
          <a:prstGeom prst="star5">
            <a:avLst/>
          </a:prstGeom>
          <a:solidFill>
            <a:srgbClr val="F2C755"/>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21574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C31D0-8257-858E-830F-1ED3CFDEB10D}"/>
            </a:ext>
          </a:extLst>
        </p:cNvPr>
        <p:cNvGrpSpPr/>
        <p:nvPr/>
      </p:nvGrpSpPr>
      <p:grpSpPr>
        <a:xfrm>
          <a:off x="0" y="0"/>
          <a:ext cx="0" cy="0"/>
          <a:chOff x="0" y="0"/>
          <a:chExt cx="0" cy="0"/>
        </a:xfrm>
      </p:grpSpPr>
      <p:sp>
        <p:nvSpPr>
          <p:cNvPr id="12292" name="AutoShape 22" descr="Image result for risk black clip art">
            <a:extLst>
              <a:ext uri="{FF2B5EF4-FFF2-40B4-BE49-F238E27FC236}">
                <a16:creationId xmlns:a16="http://schemas.microsoft.com/office/drawing/2014/main" id="{E684EC6A-9EED-6677-85C3-221C20AB1880}"/>
              </a:ext>
            </a:extLst>
          </p:cNvPr>
          <p:cNvSpPr>
            <a:spLocks noChangeAspect="1" noChangeArrowheads="1"/>
          </p:cNvSpPr>
          <p:nvPr/>
        </p:nvSpPr>
        <p:spPr bwMode="auto">
          <a:xfrm>
            <a:off x="116681" y="748906"/>
            <a:ext cx="228600" cy="228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1400">
              <a:solidFill>
                <a:srgbClr val="292934"/>
              </a:solidFill>
              <a:latin typeface="Calibri" panose="020F0502020204030204" pitchFamily="34" charset="0"/>
              <a:cs typeface="Calibri" panose="020F0502020204030204" pitchFamily="34" charset="0"/>
            </a:endParaRPr>
          </a:p>
        </p:txBody>
      </p:sp>
      <p:sp>
        <p:nvSpPr>
          <p:cNvPr id="5" name="Slide Number Placeholder 4">
            <a:extLst>
              <a:ext uri="{FF2B5EF4-FFF2-40B4-BE49-F238E27FC236}">
                <a16:creationId xmlns:a16="http://schemas.microsoft.com/office/drawing/2014/main" id="{95838B60-A888-4D5D-54E1-0CA4B4CAB8E8}"/>
              </a:ext>
            </a:extLst>
          </p:cNvPr>
          <p:cNvSpPr>
            <a:spLocks noGrp="1"/>
          </p:cNvSpPr>
          <p:nvPr>
            <p:ph type="sldNum" sz="quarter" idx="12"/>
          </p:nvPr>
        </p:nvSpPr>
        <p:spPr/>
        <p:txBody>
          <a:bodyPr/>
          <a:lstStyle/>
          <a:p>
            <a:fld id="{763E63E3-3972-446C-8D4C-DDC4F18578E9}" type="slidenum">
              <a:rPr lang="en-US" altLang="en-US" sz="1400" smtClean="0">
                <a:latin typeface="Calibri" panose="020F0502020204030204" pitchFamily="34" charset="0"/>
                <a:cs typeface="Calibri" panose="020F0502020204030204" pitchFamily="34" charset="0"/>
              </a:rPr>
              <a:pPr/>
              <a:t>19</a:t>
            </a:fld>
            <a:endParaRPr lang="en-US" altLang="en-US" sz="1400">
              <a:latin typeface="Calibri" panose="020F0502020204030204" pitchFamily="34" charset="0"/>
              <a:cs typeface="Calibri" panose="020F0502020204030204" pitchFamily="34" charset="0"/>
            </a:endParaRPr>
          </a:p>
        </p:txBody>
      </p:sp>
      <p:sp>
        <p:nvSpPr>
          <p:cNvPr id="83" name="Left-Right Arrow 2063">
            <a:extLst>
              <a:ext uri="{FF2B5EF4-FFF2-40B4-BE49-F238E27FC236}">
                <a16:creationId xmlns:a16="http://schemas.microsoft.com/office/drawing/2014/main" id="{FBBABEA7-F25C-4B31-A672-942C65C060ED}"/>
              </a:ext>
            </a:extLst>
          </p:cNvPr>
          <p:cNvSpPr/>
          <p:nvPr/>
        </p:nvSpPr>
        <p:spPr bwMode="auto">
          <a:xfrm>
            <a:off x="688861" y="4220820"/>
            <a:ext cx="7753471" cy="677315"/>
          </a:xfrm>
          <a:prstGeom prst="leftRight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Key Highlights</a:t>
            </a:r>
          </a:p>
        </p:txBody>
      </p:sp>
      <p:grpSp>
        <p:nvGrpSpPr>
          <p:cNvPr id="34" name="Group 33">
            <a:extLst>
              <a:ext uri="{FF2B5EF4-FFF2-40B4-BE49-F238E27FC236}">
                <a16:creationId xmlns:a16="http://schemas.microsoft.com/office/drawing/2014/main" id="{267C24C5-5E26-1E9C-535B-661F1AFE532F}"/>
              </a:ext>
            </a:extLst>
          </p:cNvPr>
          <p:cNvGrpSpPr/>
          <p:nvPr/>
        </p:nvGrpSpPr>
        <p:grpSpPr>
          <a:xfrm>
            <a:off x="694642" y="739926"/>
            <a:ext cx="7753470" cy="3242764"/>
            <a:chOff x="695702" y="695161"/>
            <a:chExt cx="7753470" cy="3242764"/>
          </a:xfrm>
        </p:grpSpPr>
        <p:sp>
          <p:nvSpPr>
            <p:cNvPr id="29" name="Down Arrow Callout 49">
              <a:extLst>
                <a:ext uri="{FF2B5EF4-FFF2-40B4-BE49-F238E27FC236}">
                  <a16:creationId xmlns:a16="http://schemas.microsoft.com/office/drawing/2014/main" id="{C4D7852E-276D-D6F7-2E0F-E5F2A3526742}"/>
                </a:ext>
              </a:extLst>
            </p:cNvPr>
            <p:cNvSpPr/>
            <p:nvPr/>
          </p:nvSpPr>
          <p:spPr bwMode="auto">
            <a:xfrm>
              <a:off x="2280317"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Drivers</a:t>
              </a:r>
            </a:p>
          </p:txBody>
        </p:sp>
        <p:grpSp>
          <p:nvGrpSpPr>
            <p:cNvPr id="75" name="Group 74">
              <a:extLst>
                <a:ext uri="{FF2B5EF4-FFF2-40B4-BE49-F238E27FC236}">
                  <a16:creationId xmlns:a16="http://schemas.microsoft.com/office/drawing/2014/main" id="{9A5D9972-2A94-54B7-E9D9-C4AC58B36749}"/>
                </a:ext>
              </a:extLst>
            </p:cNvPr>
            <p:cNvGrpSpPr/>
            <p:nvPr/>
          </p:nvGrpSpPr>
          <p:grpSpPr>
            <a:xfrm>
              <a:off x="2281074" y="701514"/>
              <a:ext cx="1435608" cy="1645920"/>
              <a:chOff x="1780524" y="1001320"/>
              <a:chExt cx="1261872" cy="1496616"/>
            </a:xfrm>
          </p:grpSpPr>
          <p:sp>
            <p:nvSpPr>
              <p:cNvPr id="21" name="Rectangle 20">
                <a:extLst>
                  <a:ext uri="{FF2B5EF4-FFF2-40B4-BE49-F238E27FC236}">
                    <a16:creationId xmlns:a16="http://schemas.microsoft.com/office/drawing/2014/main" id="{CD78D392-76FE-1123-B0B6-4E980B12E79D}"/>
                  </a:ext>
                </a:extLst>
              </p:cNvPr>
              <p:cNvSpPr/>
              <p:nvPr/>
            </p:nvSpPr>
            <p:spPr bwMode="auto">
              <a:xfrm>
                <a:off x="1780524" y="1001320"/>
                <a:ext cx="1261872" cy="1496616"/>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0" name="Group 59">
                <a:extLst>
                  <a:ext uri="{FF2B5EF4-FFF2-40B4-BE49-F238E27FC236}">
                    <a16:creationId xmlns:a16="http://schemas.microsoft.com/office/drawing/2014/main" id="{ACDBFB69-A5FE-3D3B-CAA5-A995B92EBB0B}"/>
                  </a:ext>
                </a:extLst>
              </p:cNvPr>
              <p:cNvGrpSpPr/>
              <p:nvPr/>
            </p:nvGrpSpPr>
            <p:grpSpPr>
              <a:xfrm>
                <a:off x="1839668" y="1178128"/>
                <a:ext cx="1143584" cy="1143000"/>
                <a:chOff x="1839668" y="1142389"/>
                <a:chExt cx="1143584" cy="1143000"/>
              </a:xfrm>
            </p:grpSpPr>
            <p:sp>
              <p:nvSpPr>
                <p:cNvPr id="23" name="Oval 22">
                  <a:extLst>
                    <a:ext uri="{FF2B5EF4-FFF2-40B4-BE49-F238E27FC236}">
                      <a16:creationId xmlns:a16="http://schemas.microsoft.com/office/drawing/2014/main" id="{B1A0D994-0CB3-E836-0F3B-88FCE4215AB6}"/>
                    </a:ext>
                  </a:extLst>
                </p:cNvPr>
                <p:cNvSpPr/>
                <p:nvPr/>
              </p:nvSpPr>
              <p:spPr bwMode="auto">
                <a:xfrm>
                  <a:off x="1839668" y="1142389"/>
                  <a:ext cx="1143584"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33" name="Graphic 5" descr="Board Of Directors with solid fill">
                  <a:extLst>
                    <a:ext uri="{FF2B5EF4-FFF2-40B4-BE49-F238E27FC236}">
                      <a16:creationId xmlns:a16="http://schemas.microsoft.com/office/drawing/2014/main" id="{E08E4A40-0F5A-81ED-1E77-F00E8C95C28F}"/>
                    </a:ext>
                  </a:extLst>
                </p:cNvPr>
                <p:cNvSpPr/>
                <p:nvPr/>
              </p:nvSpPr>
              <p:spPr>
                <a:xfrm>
                  <a:off x="2054844" y="1406926"/>
                  <a:ext cx="713232" cy="613927"/>
                </a:xfrm>
                <a:custGeom>
                  <a:avLst/>
                  <a:gdLst>
                    <a:gd name="connsiteX0" fmla="*/ 745496 w 784462"/>
                    <a:gd name="connsiteY0" fmla="*/ 435333 h 613927"/>
                    <a:gd name="connsiteX1" fmla="*/ 764008 w 784462"/>
                    <a:gd name="connsiteY1" fmla="*/ 413769 h 613927"/>
                    <a:gd name="connsiteX2" fmla="*/ 784276 w 784462"/>
                    <a:gd name="connsiteY2" fmla="*/ 244885 h 613927"/>
                    <a:gd name="connsiteX3" fmla="*/ 761982 w 784462"/>
                    <a:gd name="connsiteY3" fmla="*/ 216486 h 613927"/>
                    <a:gd name="connsiteX4" fmla="*/ 760401 w 784462"/>
                    <a:gd name="connsiteY4" fmla="*/ 216345 h 613927"/>
                    <a:gd name="connsiteX5" fmla="*/ 666554 w 784462"/>
                    <a:gd name="connsiteY5" fmla="*/ 210820 h 613927"/>
                    <a:gd name="connsiteX6" fmla="*/ 639720 w 784462"/>
                    <a:gd name="connsiteY6" fmla="*/ 233049 h 613927"/>
                    <a:gd name="connsiteX7" fmla="*/ 633904 w 784462"/>
                    <a:gd name="connsiteY7" fmla="*/ 278140 h 613927"/>
                    <a:gd name="connsiteX8" fmla="*/ 619571 w 784462"/>
                    <a:gd name="connsiteY8" fmla="*/ 256191 h 613927"/>
                    <a:gd name="connsiteX9" fmla="*/ 622836 w 784462"/>
                    <a:gd name="connsiteY9" fmla="*/ 230875 h 613927"/>
                    <a:gd name="connsiteX10" fmla="*/ 665096 w 784462"/>
                    <a:gd name="connsiteY10" fmla="*/ 193757 h 613927"/>
                    <a:gd name="connsiteX11" fmla="*/ 667654 w 784462"/>
                    <a:gd name="connsiteY11" fmla="*/ 193834 h 613927"/>
                    <a:gd name="connsiteX12" fmla="*/ 708191 w 784462"/>
                    <a:gd name="connsiteY12" fmla="*/ 196213 h 613927"/>
                    <a:gd name="connsiteX13" fmla="*/ 714049 w 784462"/>
                    <a:gd name="connsiteY13" fmla="*/ 160255 h 613927"/>
                    <a:gd name="connsiteX14" fmla="*/ 692851 w 784462"/>
                    <a:gd name="connsiteY14" fmla="*/ 130939 h 613927"/>
                    <a:gd name="connsiteX15" fmla="*/ 690540 w 784462"/>
                    <a:gd name="connsiteY15" fmla="*/ 130675 h 613927"/>
                    <a:gd name="connsiteX16" fmla="*/ 614233 w 784462"/>
                    <a:gd name="connsiteY16" fmla="*/ 125559 h 613927"/>
                    <a:gd name="connsiteX17" fmla="*/ 587296 w 784462"/>
                    <a:gd name="connsiteY17" fmla="*/ 147149 h 613927"/>
                    <a:gd name="connsiteX18" fmla="*/ 579827 w 784462"/>
                    <a:gd name="connsiteY18" fmla="*/ 195232 h 613927"/>
                    <a:gd name="connsiteX19" fmla="*/ 565894 w 784462"/>
                    <a:gd name="connsiteY19" fmla="*/ 173915 h 613927"/>
                    <a:gd name="connsiteX20" fmla="*/ 570413 w 784462"/>
                    <a:gd name="connsiteY20" fmla="*/ 144599 h 613927"/>
                    <a:gd name="connsiteX21" fmla="*/ 612468 w 784462"/>
                    <a:gd name="connsiteY21" fmla="*/ 108522 h 613927"/>
                    <a:gd name="connsiteX22" fmla="*/ 615316 w 784462"/>
                    <a:gd name="connsiteY22" fmla="*/ 108624 h 613927"/>
                    <a:gd name="connsiteX23" fmla="*/ 632148 w 784462"/>
                    <a:gd name="connsiteY23" fmla="*/ 109741 h 613927"/>
                    <a:gd name="connsiteX24" fmla="*/ 634800 w 784462"/>
                    <a:gd name="connsiteY24" fmla="*/ 85866 h 613927"/>
                    <a:gd name="connsiteX25" fmla="*/ 612162 w 784462"/>
                    <a:gd name="connsiteY25" fmla="*/ 57648 h 613927"/>
                    <a:gd name="connsiteX26" fmla="*/ 611376 w 784462"/>
                    <a:gd name="connsiteY26" fmla="*/ 57574 h 613927"/>
                    <a:gd name="connsiteX27" fmla="*/ 551807 w 784462"/>
                    <a:gd name="connsiteY27" fmla="*/ 52995 h 613927"/>
                    <a:gd name="connsiteX28" fmla="*/ 524402 w 784462"/>
                    <a:gd name="connsiteY28" fmla="*/ 75787 h 613927"/>
                    <a:gd name="connsiteX29" fmla="*/ 520539 w 784462"/>
                    <a:gd name="connsiteY29" fmla="*/ 112504 h 613927"/>
                    <a:gd name="connsiteX30" fmla="*/ 466342 w 784462"/>
                    <a:gd name="connsiteY30" fmla="*/ 93660 h 613927"/>
                    <a:gd name="connsiteX31" fmla="*/ 458898 w 784462"/>
                    <a:gd name="connsiteY31" fmla="*/ 93660 h 613927"/>
                    <a:gd name="connsiteX32" fmla="*/ 458898 w 784462"/>
                    <a:gd name="connsiteY32" fmla="*/ 33971 h 613927"/>
                    <a:gd name="connsiteX33" fmla="*/ 452076 w 784462"/>
                    <a:gd name="connsiteY33" fmla="*/ 17506 h 613927"/>
                    <a:gd name="connsiteX34" fmla="*/ 441691 w 784462"/>
                    <a:gd name="connsiteY34" fmla="*/ 11102 h 613927"/>
                    <a:gd name="connsiteX35" fmla="*/ 342446 w 784462"/>
                    <a:gd name="connsiteY35" fmla="*/ 10676 h 613927"/>
                    <a:gd name="connsiteX36" fmla="*/ 330124 w 784462"/>
                    <a:gd name="connsiteY36" fmla="*/ 17497 h 613927"/>
                    <a:gd name="connsiteX37" fmla="*/ 323303 w 784462"/>
                    <a:gd name="connsiteY37" fmla="*/ 33963 h 613927"/>
                    <a:gd name="connsiteX38" fmla="*/ 323303 w 784462"/>
                    <a:gd name="connsiteY38" fmla="*/ 93651 h 613927"/>
                    <a:gd name="connsiteX39" fmla="*/ 315100 w 784462"/>
                    <a:gd name="connsiteY39" fmla="*/ 93651 h 613927"/>
                    <a:gd name="connsiteX40" fmla="*/ 263683 w 784462"/>
                    <a:gd name="connsiteY40" fmla="*/ 110355 h 613927"/>
                    <a:gd name="connsiteX41" fmla="*/ 260067 w 784462"/>
                    <a:gd name="connsiteY41" fmla="*/ 75787 h 613927"/>
                    <a:gd name="connsiteX42" fmla="*/ 232713 w 784462"/>
                    <a:gd name="connsiteY42" fmla="*/ 52995 h 613927"/>
                    <a:gd name="connsiteX43" fmla="*/ 173144 w 784462"/>
                    <a:gd name="connsiteY43" fmla="*/ 57574 h 613927"/>
                    <a:gd name="connsiteX44" fmla="*/ 149646 w 784462"/>
                    <a:gd name="connsiteY44" fmla="*/ 85081 h 613927"/>
                    <a:gd name="connsiteX45" fmla="*/ 149720 w 784462"/>
                    <a:gd name="connsiteY45" fmla="*/ 85866 h 613927"/>
                    <a:gd name="connsiteX46" fmla="*/ 152372 w 784462"/>
                    <a:gd name="connsiteY46" fmla="*/ 109741 h 613927"/>
                    <a:gd name="connsiteX47" fmla="*/ 169204 w 784462"/>
                    <a:gd name="connsiteY47" fmla="*/ 108624 h 613927"/>
                    <a:gd name="connsiteX48" fmla="*/ 172052 w 784462"/>
                    <a:gd name="connsiteY48" fmla="*/ 108522 h 613927"/>
                    <a:gd name="connsiteX49" fmla="*/ 214099 w 784462"/>
                    <a:gd name="connsiteY49" fmla="*/ 144599 h 613927"/>
                    <a:gd name="connsiteX50" fmla="*/ 218064 w 784462"/>
                    <a:gd name="connsiteY50" fmla="*/ 170231 h 613927"/>
                    <a:gd name="connsiteX51" fmla="*/ 204131 w 784462"/>
                    <a:gd name="connsiteY51" fmla="*/ 191549 h 613927"/>
                    <a:gd name="connsiteX52" fmla="*/ 197309 w 784462"/>
                    <a:gd name="connsiteY52" fmla="*/ 147158 h 613927"/>
                    <a:gd name="connsiteX53" fmla="*/ 170373 w 784462"/>
                    <a:gd name="connsiteY53" fmla="*/ 125567 h 613927"/>
                    <a:gd name="connsiteX54" fmla="*/ 94065 w 784462"/>
                    <a:gd name="connsiteY54" fmla="*/ 130684 h 613927"/>
                    <a:gd name="connsiteX55" fmla="*/ 70292 w 784462"/>
                    <a:gd name="connsiteY55" fmla="*/ 157953 h 613927"/>
                    <a:gd name="connsiteX56" fmla="*/ 70557 w 784462"/>
                    <a:gd name="connsiteY56" fmla="*/ 160263 h 613927"/>
                    <a:gd name="connsiteX57" fmla="*/ 76415 w 784462"/>
                    <a:gd name="connsiteY57" fmla="*/ 196221 h 613927"/>
                    <a:gd name="connsiteX58" fmla="*/ 116951 w 784462"/>
                    <a:gd name="connsiteY58" fmla="*/ 193842 h 613927"/>
                    <a:gd name="connsiteX59" fmla="*/ 119510 w 784462"/>
                    <a:gd name="connsiteY59" fmla="*/ 193766 h 613927"/>
                    <a:gd name="connsiteX60" fmla="*/ 161701 w 784462"/>
                    <a:gd name="connsiteY60" fmla="*/ 230883 h 613927"/>
                    <a:gd name="connsiteX61" fmla="*/ 164481 w 784462"/>
                    <a:gd name="connsiteY61" fmla="*/ 252465 h 613927"/>
                    <a:gd name="connsiteX62" fmla="*/ 150070 w 784462"/>
                    <a:gd name="connsiteY62" fmla="*/ 274422 h 613927"/>
                    <a:gd name="connsiteX63" fmla="*/ 144732 w 784462"/>
                    <a:gd name="connsiteY63" fmla="*/ 233049 h 613927"/>
                    <a:gd name="connsiteX64" fmla="*/ 117898 w 784462"/>
                    <a:gd name="connsiteY64" fmla="*/ 210820 h 613927"/>
                    <a:gd name="connsiteX65" fmla="*/ 24059 w 784462"/>
                    <a:gd name="connsiteY65" fmla="*/ 216345 h 613927"/>
                    <a:gd name="connsiteX66" fmla="*/ 43 w 784462"/>
                    <a:gd name="connsiteY66" fmla="*/ 243303 h 613927"/>
                    <a:gd name="connsiteX67" fmla="*/ 184 w 784462"/>
                    <a:gd name="connsiteY67" fmla="*/ 244885 h 613927"/>
                    <a:gd name="connsiteX68" fmla="*/ 20461 w 784462"/>
                    <a:gd name="connsiteY68" fmla="*/ 413769 h 613927"/>
                    <a:gd name="connsiteX69" fmla="*/ 38981 w 784462"/>
                    <a:gd name="connsiteY69" fmla="*/ 435333 h 613927"/>
                    <a:gd name="connsiteX70" fmla="*/ 74419 w 784462"/>
                    <a:gd name="connsiteY70" fmla="*/ 445182 h 613927"/>
                    <a:gd name="connsiteX71" fmla="*/ 74419 w 784462"/>
                    <a:gd name="connsiteY71" fmla="*/ 480995 h 613927"/>
                    <a:gd name="connsiteX72" fmla="*/ 44643 w 784462"/>
                    <a:gd name="connsiteY72" fmla="*/ 480995 h 613927"/>
                    <a:gd name="connsiteX73" fmla="*/ 14850 w 784462"/>
                    <a:gd name="connsiteY73" fmla="*/ 510779 h 613927"/>
                    <a:gd name="connsiteX74" fmla="*/ 14850 w 784462"/>
                    <a:gd name="connsiteY74" fmla="*/ 516646 h 613927"/>
                    <a:gd name="connsiteX75" fmla="*/ 16360 w 784462"/>
                    <a:gd name="connsiteY75" fmla="*/ 540717 h 613927"/>
                    <a:gd name="connsiteX76" fmla="*/ 40431 w 784462"/>
                    <a:gd name="connsiteY76" fmla="*/ 539206 h 613927"/>
                    <a:gd name="connsiteX77" fmla="*/ 40431 w 784462"/>
                    <a:gd name="connsiteY77" fmla="*/ 516646 h 613927"/>
                    <a:gd name="connsiteX78" fmla="*/ 40431 w 784462"/>
                    <a:gd name="connsiteY78" fmla="*/ 510779 h 613927"/>
                    <a:gd name="connsiteX79" fmla="*/ 44694 w 784462"/>
                    <a:gd name="connsiteY79" fmla="*/ 506516 h 613927"/>
                    <a:gd name="connsiteX80" fmla="*/ 74436 w 784462"/>
                    <a:gd name="connsiteY80" fmla="*/ 506516 h 613927"/>
                    <a:gd name="connsiteX81" fmla="*/ 74436 w 784462"/>
                    <a:gd name="connsiteY81" fmla="*/ 516637 h 613927"/>
                    <a:gd name="connsiteX82" fmla="*/ 75901 w 784462"/>
                    <a:gd name="connsiteY82" fmla="*/ 540711 h 613927"/>
                    <a:gd name="connsiteX83" fmla="*/ 99974 w 784462"/>
                    <a:gd name="connsiteY83" fmla="*/ 539246 h 613927"/>
                    <a:gd name="connsiteX84" fmla="*/ 99974 w 784462"/>
                    <a:gd name="connsiteY84" fmla="*/ 516637 h 613927"/>
                    <a:gd name="connsiteX85" fmla="*/ 99974 w 784462"/>
                    <a:gd name="connsiteY85" fmla="*/ 506516 h 613927"/>
                    <a:gd name="connsiteX86" fmla="*/ 129767 w 784462"/>
                    <a:gd name="connsiteY86" fmla="*/ 506516 h 613927"/>
                    <a:gd name="connsiteX87" fmla="*/ 134031 w 784462"/>
                    <a:gd name="connsiteY87" fmla="*/ 510779 h 613927"/>
                    <a:gd name="connsiteX88" fmla="*/ 134031 w 784462"/>
                    <a:gd name="connsiteY88" fmla="*/ 516646 h 613927"/>
                    <a:gd name="connsiteX89" fmla="*/ 135541 w 784462"/>
                    <a:gd name="connsiteY89" fmla="*/ 540717 h 613927"/>
                    <a:gd name="connsiteX90" fmla="*/ 159612 w 784462"/>
                    <a:gd name="connsiteY90" fmla="*/ 539206 h 613927"/>
                    <a:gd name="connsiteX91" fmla="*/ 159612 w 784462"/>
                    <a:gd name="connsiteY91" fmla="*/ 516646 h 613927"/>
                    <a:gd name="connsiteX92" fmla="*/ 159612 w 784462"/>
                    <a:gd name="connsiteY92" fmla="*/ 510779 h 613927"/>
                    <a:gd name="connsiteX93" fmla="*/ 129819 w 784462"/>
                    <a:gd name="connsiteY93" fmla="*/ 480986 h 613927"/>
                    <a:gd name="connsiteX94" fmla="*/ 99974 w 784462"/>
                    <a:gd name="connsiteY94" fmla="*/ 480986 h 613927"/>
                    <a:gd name="connsiteX95" fmla="*/ 99974 w 784462"/>
                    <a:gd name="connsiteY95" fmla="*/ 456830 h 613927"/>
                    <a:gd name="connsiteX96" fmla="*/ 117173 w 784462"/>
                    <a:gd name="connsiteY96" fmla="*/ 464564 h 613927"/>
                    <a:gd name="connsiteX97" fmla="*/ 172052 w 784462"/>
                    <a:gd name="connsiteY97" fmla="*/ 479230 h 613927"/>
                    <a:gd name="connsiteX98" fmla="*/ 254627 w 784462"/>
                    <a:gd name="connsiteY98" fmla="*/ 496906 h 613927"/>
                    <a:gd name="connsiteX99" fmla="*/ 254627 w 784462"/>
                    <a:gd name="connsiteY99" fmla="*/ 576104 h 613927"/>
                    <a:gd name="connsiteX100" fmla="*/ 273975 w 784462"/>
                    <a:gd name="connsiteY100" fmla="*/ 600832 h 613927"/>
                    <a:gd name="connsiteX101" fmla="*/ 286808 w 784462"/>
                    <a:gd name="connsiteY101" fmla="*/ 604038 h 613927"/>
                    <a:gd name="connsiteX102" fmla="*/ 494447 w 784462"/>
                    <a:gd name="connsiteY102" fmla="*/ 602418 h 613927"/>
                    <a:gd name="connsiteX103" fmla="*/ 499563 w 784462"/>
                    <a:gd name="connsiteY103" fmla="*/ 601054 h 613927"/>
                    <a:gd name="connsiteX104" fmla="*/ 518527 w 784462"/>
                    <a:gd name="connsiteY104" fmla="*/ 576437 h 613927"/>
                    <a:gd name="connsiteX105" fmla="*/ 518527 w 784462"/>
                    <a:gd name="connsiteY105" fmla="*/ 498117 h 613927"/>
                    <a:gd name="connsiteX106" fmla="*/ 608238 w 784462"/>
                    <a:gd name="connsiteY106" fmla="*/ 479486 h 613927"/>
                    <a:gd name="connsiteX107" fmla="*/ 664388 w 784462"/>
                    <a:gd name="connsiteY107" fmla="*/ 464546 h 613927"/>
                    <a:gd name="connsiteX108" fmla="*/ 684520 w 784462"/>
                    <a:gd name="connsiteY108" fmla="*/ 454860 h 613927"/>
                    <a:gd name="connsiteX109" fmla="*/ 684520 w 784462"/>
                    <a:gd name="connsiteY109" fmla="*/ 480986 h 613927"/>
                    <a:gd name="connsiteX110" fmla="*/ 654727 w 784462"/>
                    <a:gd name="connsiteY110" fmla="*/ 480986 h 613927"/>
                    <a:gd name="connsiteX111" fmla="*/ 624934 w 784462"/>
                    <a:gd name="connsiteY111" fmla="*/ 510779 h 613927"/>
                    <a:gd name="connsiteX112" fmla="*/ 624934 w 784462"/>
                    <a:gd name="connsiteY112" fmla="*/ 516646 h 613927"/>
                    <a:gd name="connsiteX113" fmla="*/ 626399 w 784462"/>
                    <a:gd name="connsiteY113" fmla="*/ 540719 h 613927"/>
                    <a:gd name="connsiteX114" fmla="*/ 650472 w 784462"/>
                    <a:gd name="connsiteY114" fmla="*/ 539254 h 613927"/>
                    <a:gd name="connsiteX115" fmla="*/ 650472 w 784462"/>
                    <a:gd name="connsiteY115" fmla="*/ 516646 h 613927"/>
                    <a:gd name="connsiteX116" fmla="*/ 650472 w 784462"/>
                    <a:gd name="connsiteY116" fmla="*/ 510779 h 613927"/>
                    <a:gd name="connsiteX117" fmla="*/ 654736 w 784462"/>
                    <a:gd name="connsiteY117" fmla="*/ 506516 h 613927"/>
                    <a:gd name="connsiteX118" fmla="*/ 684529 w 784462"/>
                    <a:gd name="connsiteY118" fmla="*/ 506516 h 613927"/>
                    <a:gd name="connsiteX119" fmla="*/ 684529 w 784462"/>
                    <a:gd name="connsiteY119" fmla="*/ 516637 h 613927"/>
                    <a:gd name="connsiteX120" fmla="*/ 685994 w 784462"/>
                    <a:gd name="connsiteY120" fmla="*/ 540711 h 613927"/>
                    <a:gd name="connsiteX121" fmla="*/ 710067 w 784462"/>
                    <a:gd name="connsiteY121" fmla="*/ 539246 h 613927"/>
                    <a:gd name="connsiteX122" fmla="*/ 710067 w 784462"/>
                    <a:gd name="connsiteY122" fmla="*/ 516637 h 613927"/>
                    <a:gd name="connsiteX123" fmla="*/ 710067 w 784462"/>
                    <a:gd name="connsiteY123" fmla="*/ 506516 h 613927"/>
                    <a:gd name="connsiteX124" fmla="*/ 739860 w 784462"/>
                    <a:gd name="connsiteY124" fmla="*/ 506516 h 613927"/>
                    <a:gd name="connsiteX125" fmla="*/ 744123 w 784462"/>
                    <a:gd name="connsiteY125" fmla="*/ 510779 h 613927"/>
                    <a:gd name="connsiteX126" fmla="*/ 744123 w 784462"/>
                    <a:gd name="connsiteY126" fmla="*/ 516646 h 613927"/>
                    <a:gd name="connsiteX127" fmla="*/ 745633 w 784462"/>
                    <a:gd name="connsiteY127" fmla="*/ 540717 h 613927"/>
                    <a:gd name="connsiteX128" fmla="*/ 769704 w 784462"/>
                    <a:gd name="connsiteY128" fmla="*/ 539206 h 613927"/>
                    <a:gd name="connsiteX129" fmla="*/ 769704 w 784462"/>
                    <a:gd name="connsiteY129" fmla="*/ 516646 h 613927"/>
                    <a:gd name="connsiteX130" fmla="*/ 769704 w 784462"/>
                    <a:gd name="connsiteY130" fmla="*/ 510779 h 613927"/>
                    <a:gd name="connsiteX131" fmla="*/ 739860 w 784462"/>
                    <a:gd name="connsiteY131" fmla="*/ 480986 h 613927"/>
                    <a:gd name="connsiteX132" fmla="*/ 710058 w 784462"/>
                    <a:gd name="connsiteY132" fmla="*/ 480986 h 613927"/>
                    <a:gd name="connsiteX133" fmla="*/ 710058 w 784462"/>
                    <a:gd name="connsiteY133" fmla="*/ 445173 h 613927"/>
                    <a:gd name="connsiteX134" fmla="*/ 599481 w 784462"/>
                    <a:gd name="connsiteY134" fmla="*/ 446580 h 613927"/>
                    <a:gd name="connsiteX135" fmla="*/ 390631 w 784462"/>
                    <a:gd name="connsiteY135" fmla="*/ 473866 h 613927"/>
                    <a:gd name="connsiteX136" fmla="*/ 180869 w 784462"/>
                    <a:gd name="connsiteY136" fmla="*/ 446316 h 613927"/>
                    <a:gd name="connsiteX137" fmla="*/ 125990 w 784462"/>
                    <a:gd name="connsiteY137" fmla="*/ 431650 h 613927"/>
                    <a:gd name="connsiteX138" fmla="*/ 108141 w 784462"/>
                    <a:gd name="connsiteY138" fmla="*/ 403859 h 613927"/>
                    <a:gd name="connsiteX139" fmla="*/ 111554 w 784462"/>
                    <a:gd name="connsiteY139" fmla="*/ 395837 h 613927"/>
                    <a:gd name="connsiteX140" fmla="*/ 272193 w 784462"/>
                    <a:gd name="connsiteY140" fmla="*/ 149545 h 613927"/>
                    <a:gd name="connsiteX141" fmla="*/ 315117 w 784462"/>
                    <a:gd name="connsiteY141" fmla="*/ 127708 h 613927"/>
                    <a:gd name="connsiteX142" fmla="*/ 466419 w 784462"/>
                    <a:gd name="connsiteY142" fmla="*/ 127708 h 613927"/>
                    <a:gd name="connsiteX143" fmla="*/ 509343 w 784462"/>
                    <a:gd name="connsiteY143" fmla="*/ 149528 h 613927"/>
                    <a:gd name="connsiteX144" fmla="*/ 670093 w 784462"/>
                    <a:gd name="connsiteY144" fmla="*/ 395802 h 613927"/>
                    <a:gd name="connsiteX145" fmla="*/ 663692 w 784462"/>
                    <a:gd name="connsiteY145" fmla="*/ 428194 h 613927"/>
                    <a:gd name="connsiteX146" fmla="*/ 655639 w 784462"/>
                    <a:gd name="connsiteY146" fmla="*/ 431616 h 613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784462" h="613927">
                      <a:moveTo>
                        <a:pt x="745496" y="435333"/>
                      </a:moveTo>
                      <a:cubicBezTo>
                        <a:pt x="755467" y="432562"/>
                        <a:pt x="762778" y="424044"/>
                        <a:pt x="764008" y="413769"/>
                      </a:cubicBezTo>
                      <a:lnTo>
                        <a:pt x="784276" y="244885"/>
                      </a:lnTo>
                      <a:cubicBezTo>
                        <a:pt x="785962" y="230886"/>
                        <a:pt x="775981" y="218171"/>
                        <a:pt x="761982" y="216486"/>
                      </a:cubicBezTo>
                      <a:cubicBezTo>
                        <a:pt x="761457" y="216423"/>
                        <a:pt x="760930" y="216376"/>
                        <a:pt x="760401" y="216345"/>
                      </a:cubicBezTo>
                      <a:lnTo>
                        <a:pt x="666554" y="210820"/>
                      </a:lnTo>
                      <a:cubicBezTo>
                        <a:pt x="653165" y="210050"/>
                        <a:pt x="641454" y="219751"/>
                        <a:pt x="639720" y="233049"/>
                      </a:cubicBezTo>
                      <a:lnTo>
                        <a:pt x="633904" y="278140"/>
                      </a:lnTo>
                      <a:lnTo>
                        <a:pt x="619571" y="256191"/>
                      </a:lnTo>
                      <a:lnTo>
                        <a:pt x="622836" y="230875"/>
                      </a:lnTo>
                      <a:cubicBezTo>
                        <a:pt x="625607" y="209647"/>
                        <a:pt x="643688" y="193766"/>
                        <a:pt x="665096" y="193757"/>
                      </a:cubicBezTo>
                      <a:cubicBezTo>
                        <a:pt x="665948" y="193757"/>
                        <a:pt x="666801" y="193757"/>
                        <a:pt x="667654" y="193834"/>
                      </a:cubicBezTo>
                      <a:lnTo>
                        <a:pt x="708191" y="196213"/>
                      </a:lnTo>
                      <a:lnTo>
                        <a:pt x="714049" y="160255"/>
                      </a:lnTo>
                      <a:cubicBezTo>
                        <a:pt x="716291" y="146306"/>
                        <a:pt x="706800" y="133181"/>
                        <a:pt x="692851" y="130939"/>
                      </a:cubicBezTo>
                      <a:cubicBezTo>
                        <a:pt x="692085" y="130817"/>
                        <a:pt x="691314" y="130728"/>
                        <a:pt x="690540" y="130675"/>
                      </a:cubicBezTo>
                      <a:lnTo>
                        <a:pt x="614233" y="125559"/>
                      </a:lnTo>
                      <a:cubicBezTo>
                        <a:pt x="601019" y="124699"/>
                        <a:pt x="589334" y="134065"/>
                        <a:pt x="587296" y="147149"/>
                      </a:cubicBezTo>
                      <a:lnTo>
                        <a:pt x="579827" y="195232"/>
                      </a:lnTo>
                      <a:lnTo>
                        <a:pt x="565894" y="173915"/>
                      </a:lnTo>
                      <a:lnTo>
                        <a:pt x="570413" y="144599"/>
                      </a:lnTo>
                      <a:cubicBezTo>
                        <a:pt x="573523" y="123796"/>
                        <a:pt x="591433" y="108431"/>
                        <a:pt x="612468" y="108522"/>
                      </a:cubicBezTo>
                      <a:cubicBezTo>
                        <a:pt x="613406" y="108522"/>
                        <a:pt x="614361" y="108522"/>
                        <a:pt x="615316" y="108624"/>
                      </a:cubicBezTo>
                      <a:lnTo>
                        <a:pt x="632148" y="109741"/>
                      </a:lnTo>
                      <a:lnTo>
                        <a:pt x="634800" y="85866"/>
                      </a:lnTo>
                      <a:cubicBezTo>
                        <a:pt x="636340" y="71822"/>
                        <a:pt x="626205" y="59189"/>
                        <a:pt x="612162" y="57648"/>
                      </a:cubicBezTo>
                      <a:cubicBezTo>
                        <a:pt x="611901" y="57619"/>
                        <a:pt x="611639" y="57594"/>
                        <a:pt x="611376" y="57574"/>
                      </a:cubicBezTo>
                      <a:lnTo>
                        <a:pt x="551807" y="52995"/>
                      </a:lnTo>
                      <a:cubicBezTo>
                        <a:pt x="538011" y="51930"/>
                        <a:pt x="525869" y="62028"/>
                        <a:pt x="524402" y="75787"/>
                      </a:cubicBezTo>
                      <a:lnTo>
                        <a:pt x="520539" y="112504"/>
                      </a:lnTo>
                      <a:cubicBezTo>
                        <a:pt x="505125" y="100272"/>
                        <a:pt x="486019" y="93630"/>
                        <a:pt x="466342" y="93660"/>
                      </a:cubicBezTo>
                      <a:lnTo>
                        <a:pt x="458898" y="93660"/>
                      </a:lnTo>
                      <a:lnTo>
                        <a:pt x="458898" y="33971"/>
                      </a:lnTo>
                      <a:cubicBezTo>
                        <a:pt x="458891" y="27797"/>
                        <a:pt x="456438" y="21877"/>
                        <a:pt x="452076" y="17506"/>
                      </a:cubicBezTo>
                      <a:cubicBezTo>
                        <a:pt x="448944" y="14878"/>
                        <a:pt x="445445" y="12720"/>
                        <a:pt x="441691" y="11102"/>
                      </a:cubicBezTo>
                      <a:cubicBezTo>
                        <a:pt x="410264" y="-3551"/>
                        <a:pt x="373997" y="-3706"/>
                        <a:pt x="342446" y="10676"/>
                      </a:cubicBezTo>
                      <a:cubicBezTo>
                        <a:pt x="338067" y="12421"/>
                        <a:pt x="333927" y="14713"/>
                        <a:pt x="330124" y="17497"/>
                      </a:cubicBezTo>
                      <a:cubicBezTo>
                        <a:pt x="325763" y="21868"/>
                        <a:pt x="323310" y="27788"/>
                        <a:pt x="323303" y="33963"/>
                      </a:cubicBezTo>
                      <a:lnTo>
                        <a:pt x="323303" y="93651"/>
                      </a:lnTo>
                      <a:lnTo>
                        <a:pt x="315100" y="93651"/>
                      </a:lnTo>
                      <a:cubicBezTo>
                        <a:pt x="296624" y="93630"/>
                        <a:pt x="278618" y="99479"/>
                        <a:pt x="263683" y="110355"/>
                      </a:cubicBezTo>
                      <a:lnTo>
                        <a:pt x="260067" y="75787"/>
                      </a:lnTo>
                      <a:cubicBezTo>
                        <a:pt x="258601" y="62050"/>
                        <a:pt x="246490" y="51959"/>
                        <a:pt x="232713" y="52995"/>
                      </a:cubicBezTo>
                      <a:lnTo>
                        <a:pt x="173144" y="57574"/>
                      </a:lnTo>
                      <a:cubicBezTo>
                        <a:pt x="159059" y="58681"/>
                        <a:pt x="148539" y="70996"/>
                        <a:pt x="149646" y="85081"/>
                      </a:cubicBezTo>
                      <a:cubicBezTo>
                        <a:pt x="149667" y="85343"/>
                        <a:pt x="149691" y="85604"/>
                        <a:pt x="149720" y="85866"/>
                      </a:cubicBezTo>
                      <a:lnTo>
                        <a:pt x="152372" y="109741"/>
                      </a:lnTo>
                      <a:lnTo>
                        <a:pt x="169204" y="108624"/>
                      </a:lnTo>
                      <a:cubicBezTo>
                        <a:pt x="170159" y="108556"/>
                        <a:pt x="171114" y="108522"/>
                        <a:pt x="172052" y="108522"/>
                      </a:cubicBezTo>
                      <a:cubicBezTo>
                        <a:pt x="193086" y="108427"/>
                        <a:pt x="210997" y="123796"/>
                        <a:pt x="214099" y="144599"/>
                      </a:cubicBezTo>
                      <a:lnTo>
                        <a:pt x="218064" y="170231"/>
                      </a:lnTo>
                      <a:lnTo>
                        <a:pt x="204131" y="191549"/>
                      </a:lnTo>
                      <a:lnTo>
                        <a:pt x="197309" y="147158"/>
                      </a:lnTo>
                      <a:cubicBezTo>
                        <a:pt x="195271" y="134074"/>
                        <a:pt x="183586" y="124708"/>
                        <a:pt x="170373" y="125567"/>
                      </a:cubicBezTo>
                      <a:lnTo>
                        <a:pt x="94065" y="130684"/>
                      </a:lnTo>
                      <a:cubicBezTo>
                        <a:pt x="79970" y="131649"/>
                        <a:pt x="69327" y="143858"/>
                        <a:pt x="70292" y="157953"/>
                      </a:cubicBezTo>
                      <a:cubicBezTo>
                        <a:pt x="70345" y="158726"/>
                        <a:pt x="70434" y="159498"/>
                        <a:pt x="70557" y="160263"/>
                      </a:cubicBezTo>
                      <a:lnTo>
                        <a:pt x="76415" y="196221"/>
                      </a:lnTo>
                      <a:lnTo>
                        <a:pt x="116951" y="193842"/>
                      </a:lnTo>
                      <a:cubicBezTo>
                        <a:pt x="117804" y="193791"/>
                        <a:pt x="118657" y="193766"/>
                        <a:pt x="119510" y="193766"/>
                      </a:cubicBezTo>
                      <a:cubicBezTo>
                        <a:pt x="140891" y="193808"/>
                        <a:pt x="158934" y="209682"/>
                        <a:pt x="161701" y="230883"/>
                      </a:cubicBezTo>
                      <a:lnTo>
                        <a:pt x="164481" y="252465"/>
                      </a:lnTo>
                      <a:lnTo>
                        <a:pt x="150070" y="274422"/>
                      </a:lnTo>
                      <a:lnTo>
                        <a:pt x="144732" y="233049"/>
                      </a:lnTo>
                      <a:cubicBezTo>
                        <a:pt x="142998" y="219751"/>
                        <a:pt x="131287" y="210050"/>
                        <a:pt x="117898" y="210820"/>
                      </a:cubicBezTo>
                      <a:lnTo>
                        <a:pt x="24059" y="216345"/>
                      </a:lnTo>
                      <a:cubicBezTo>
                        <a:pt x="9983" y="217158"/>
                        <a:pt x="-769" y="229227"/>
                        <a:pt x="43" y="243303"/>
                      </a:cubicBezTo>
                      <a:cubicBezTo>
                        <a:pt x="74" y="243831"/>
                        <a:pt x="121" y="244359"/>
                        <a:pt x="184" y="244885"/>
                      </a:cubicBezTo>
                      <a:lnTo>
                        <a:pt x="20461" y="413769"/>
                      </a:lnTo>
                      <a:cubicBezTo>
                        <a:pt x="21691" y="424047"/>
                        <a:pt x="29007" y="432565"/>
                        <a:pt x="38981" y="435333"/>
                      </a:cubicBezTo>
                      <a:lnTo>
                        <a:pt x="74419" y="445182"/>
                      </a:lnTo>
                      <a:lnTo>
                        <a:pt x="74419" y="480995"/>
                      </a:lnTo>
                      <a:lnTo>
                        <a:pt x="44643" y="480995"/>
                      </a:lnTo>
                      <a:cubicBezTo>
                        <a:pt x="28204" y="481023"/>
                        <a:pt x="14883" y="494340"/>
                        <a:pt x="14850" y="510779"/>
                      </a:cubicBezTo>
                      <a:lnTo>
                        <a:pt x="14850" y="516646"/>
                      </a:lnTo>
                      <a:cubicBezTo>
                        <a:pt x="8620" y="523710"/>
                        <a:pt x="9297" y="534487"/>
                        <a:pt x="16360" y="540717"/>
                      </a:cubicBezTo>
                      <a:cubicBezTo>
                        <a:pt x="23424" y="546946"/>
                        <a:pt x="34201" y="546270"/>
                        <a:pt x="40431" y="539206"/>
                      </a:cubicBezTo>
                      <a:cubicBezTo>
                        <a:pt x="46116" y="532760"/>
                        <a:pt x="46116" y="523091"/>
                        <a:pt x="40431" y="516646"/>
                      </a:cubicBezTo>
                      <a:lnTo>
                        <a:pt x="40431" y="510779"/>
                      </a:lnTo>
                      <a:cubicBezTo>
                        <a:pt x="40431" y="508425"/>
                        <a:pt x="42340" y="506516"/>
                        <a:pt x="44694" y="506516"/>
                      </a:cubicBezTo>
                      <a:lnTo>
                        <a:pt x="74436" y="506516"/>
                      </a:lnTo>
                      <a:lnTo>
                        <a:pt x="74436" y="516637"/>
                      </a:lnTo>
                      <a:cubicBezTo>
                        <a:pt x="68193" y="523689"/>
                        <a:pt x="68849" y="534467"/>
                        <a:pt x="75901" y="540711"/>
                      </a:cubicBezTo>
                      <a:cubicBezTo>
                        <a:pt x="82953" y="546954"/>
                        <a:pt x="93731" y="546298"/>
                        <a:pt x="99974" y="539246"/>
                      </a:cubicBezTo>
                      <a:cubicBezTo>
                        <a:pt x="105687" y="532792"/>
                        <a:pt x="105687" y="523091"/>
                        <a:pt x="99974" y="516637"/>
                      </a:cubicBezTo>
                      <a:lnTo>
                        <a:pt x="99974" y="506516"/>
                      </a:lnTo>
                      <a:lnTo>
                        <a:pt x="129767" y="506516"/>
                      </a:lnTo>
                      <a:cubicBezTo>
                        <a:pt x="132122" y="506516"/>
                        <a:pt x="134031" y="508425"/>
                        <a:pt x="134031" y="510779"/>
                      </a:cubicBezTo>
                      <a:lnTo>
                        <a:pt x="134031" y="516646"/>
                      </a:lnTo>
                      <a:cubicBezTo>
                        <a:pt x="127801" y="523710"/>
                        <a:pt x="128477" y="534487"/>
                        <a:pt x="135541" y="540717"/>
                      </a:cubicBezTo>
                      <a:cubicBezTo>
                        <a:pt x="142606" y="546946"/>
                        <a:pt x="153382" y="546270"/>
                        <a:pt x="159612" y="539206"/>
                      </a:cubicBezTo>
                      <a:cubicBezTo>
                        <a:pt x="165297" y="532760"/>
                        <a:pt x="165297" y="523091"/>
                        <a:pt x="159612" y="516646"/>
                      </a:cubicBezTo>
                      <a:lnTo>
                        <a:pt x="159612" y="510779"/>
                      </a:lnTo>
                      <a:cubicBezTo>
                        <a:pt x="159583" y="494337"/>
                        <a:pt x="146261" y="481015"/>
                        <a:pt x="129819" y="480986"/>
                      </a:cubicBezTo>
                      <a:lnTo>
                        <a:pt x="99974" y="480986"/>
                      </a:lnTo>
                      <a:lnTo>
                        <a:pt x="99974" y="456830"/>
                      </a:lnTo>
                      <a:cubicBezTo>
                        <a:pt x="105266" y="460293"/>
                        <a:pt x="111070" y="462902"/>
                        <a:pt x="117173" y="464564"/>
                      </a:cubicBezTo>
                      <a:lnTo>
                        <a:pt x="172052" y="479230"/>
                      </a:lnTo>
                      <a:cubicBezTo>
                        <a:pt x="199287" y="486501"/>
                        <a:pt x="226812" y="492393"/>
                        <a:pt x="254627" y="496906"/>
                      </a:cubicBezTo>
                      <a:lnTo>
                        <a:pt x="254627" y="576104"/>
                      </a:lnTo>
                      <a:cubicBezTo>
                        <a:pt x="254665" y="587801"/>
                        <a:pt x="262630" y="597982"/>
                        <a:pt x="273975" y="600832"/>
                      </a:cubicBezTo>
                      <a:lnTo>
                        <a:pt x="286808" y="604038"/>
                      </a:lnTo>
                      <a:cubicBezTo>
                        <a:pt x="355399" y="617749"/>
                        <a:pt x="426078" y="617197"/>
                        <a:pt x="494447" y="602418"/>
                      </a:cubicBezTo>
                      <a:lnTo>
                        <a:pt x="499563" y="601054"/>
                      </a:lnTo>
                      <a:cubicBezTo>
                        <a:pt x="510715" y="598068"/>
                        <a:pt x="518485" y="587981"/>
                        <a:pt x="518527" y="576437"/>
                      </a:cubicBezTo>
                      <a:lnTo>
                        <a:pt x="518527" y="498117"/>
                      </a:lnTo>
                      <a:cubicBezTo>
                        <a:pt x="548744" y="493526"/>
                        <a:pt x="578692" y="487307"/>
                        <a:pt x="608238" y="479486"/>
                      </a:cubicBezTo>
                      <a:lnTo>
                        <a:pt x="664388" y="464546"/>
                      </a:lnTo>
                      <a:cubicBezTo>
                        <a:pt x="671646" y="462607"/>
                        <a:pt x="678475" y="459321"/>
                        <a:pt x="684520" y="454860"/>
                      </a:cubicBezTo>
                      <a:lnTo>
                        <a:pt x="684520" y="480986"/>
                      </a:lnTo>
                      <a:lnTo>
                        <a:pt x="654727" y="480986"/>
                      </a:lnTo>
                      <a:cubicBezTo>
                        <a:pt x="638285" y="481015"/>
                        <a:pt x="624962" y="494337"/>
                        <a:pt x="624934" y="510779"/>
                      </a:cubicBezTo>
                      <a:lnTo>
                        <a:pt x="624934" y="516646"/>
                      </a:lnTo>
                      <a:cubicBezTo>
                        <a:pt x="618691" y="523698"/>
                        <a:pt x="619347" y="534476"/>
                        <a:pt x="626399" y="540719"/>
                      </a:cubicBezTo>
                      <a:cubicBezTo>
                        <a:pt x="633451" y="546963"/>
                        <a:pt x="644229" y="546307"/>
                        <a:pt x="650472" y="539254"/>
                      </a:cubicBezTo>
                      <a:cubicBezTo>
                        <a:pt x="656185" y="532801"/>
                        <a:pt x="656185" y="523099"/>
                        <a:pt x="650472" y="516646"/>
                      </a:cubicBezTo>
                      <a:lnTo>
                        <a:pt x="650472" y="510779"/>
                      </a:lnTo>
                      <a:cubicBezTo>
                        <a:pt x="650472" y="508425"/>
                        <a:pt x="652381" y="506516"/>
                        <a:pt x="654736" y="506516"/>
                      </a:cubicBezTo>
                      <a:lnTo>
                        <a:pt x="684529" y="506516"/>
                      </a:lnTo>
                      <a:lnTo>
                        <a:pt x="684529" y="516637"/>
                      </a:lnTo>
                      <a:cubicBezTo>
                        <a:pt x="678285" y="523689"/>
                        <a:pt x="678941" y="534467"/>
                        <a:pt x="685994" y="540711"/>
                      </a:cubicBezTo>
                      <a:cubicBezTo>
                        <a:pt x="693045" y="546954"/>
                        <a:pt x="703823" y="546298"/>
                        <a:pt x="710067" y="539246"/>
                      </a:cubicBezTo>
                      <a:cubicBezTo>
                        <a:pt x="715780" y="532792"/>
                        <a:pt x="715780" y="523091"/>
                        <a:pt x="710067" y="516637"/>
                      </a:cubicBezTo>
                      <a:lnTo>
                        <a:pt x="710067" y="506516"/>
                      </a:lnTo>
                      <a:lnTo>
                        <a:pt x="739860" y="506516"/>
                      </a:lnTo>
                      <a:cubicBezTo>
                        <a:pt x="742214" y="506516"/>
                        <a:pt x="744123" y="508425"/>
                        <a:pt x="744123" y="510779"/>
                      </a:cubicBezTo>
                      <a:lnTo>
                        <a:pt x="744123" y="516646"/>
                      </a:lnTo>
                      <a:cubicBezTo>
                        <a:pt x="737893" y="523710"/>
                        <a:pt x="738570" y="534487"/>
                        <a:pt x="745633" y="540717"/>
                      </a:cubicBezTo>
                      <a:cubicBezTo>
                        <a:pt x="752698" y="546946"/>
                        <a:pt x="763474" y="546270"/>
                        <a:pt x="769704" y="539206"/>
                      </a:cubicBezTo>
                      <a:cubicBezTo>
                        <a:pt x="775389" y="532760"/>
                        <a:pt x="775389" y="523091"/>
                        <a:pt x="769704" y="516646"/>
                      </a:cubicBezTo>
                      <a:lnTo>
                        <a:pt x="769704" y="510779"/>
                      </a:lnTo>
                      <a:cubicBezTo>
                        <a:pt x="769676" y="494316"/>
                        <a:pt x="756323" y="480986"/>
                        <a:pt x="739860" y="480986"/>
                      </a:cubicBezTo>
                      <a:lnTo>
                        <a:pt x="710058" y="480986"/>
                      </a:lnTo>
                      <a:lnTo>
                        <a:pt x="710058" y="445173"/>
                      </a:lnTo>
                      <a:close/>
                      <a:moveTo>
                        <a:pt x="599481" y="446580"/>
                      </a:moveTo>
                      <a:cubicBezTo>
                        <a:pt x="531343" y="464701"/>
                        <a:pt x="461137" y="473873"/>
                        <a:pt x="390631" y="473866"/>
                      </a:cubicBezTo>
                      <a:cubicBezTo>
                        <a:pt x="319809" y="473860"/>
                        <a:pt x="249291" y="464598"/>
                        <a:pt x="180869" y="446316"/>
                      </a:cubicBezTo>
                      <a:lnTo>
                        <a:pt x="125990" y="431650"/>
                      </a:lnTo>
                      <a:cubicBezTo>
                        <a:pt x="113387" y="428904"/>
                        <a:pt x="105396" y="416461"/>
                        <a:pt x="108141" y="403859"/>
                      </a:cubicBezTo>
                      <a:cubicBezTo>
                        <a:pt x="108766" y="400994"/>
                        <a:pt x="109923" y="398273"/>
                        <a:pt x="111554" y="395837"/>
                      </a:cubicBezTo>
                      <a:lnTo>
                        <a:pt x="272193" y="149545"/>
                      </a:lnTo>
                      <a:cubicBezTo>
                        <a:pt x="282073" y="135690"/>
                        <a:pt x="298100" y="127535"/>
                        <a:pt x="315117" y="127708"/>
                      </a:cubicBezTo>
                      <a:lnTo>
                        <a:pt x="466419" y="127708"/>
                      </a:lnTo>
                      <a:cubicBezTo>
                        <a:pt x="483432" y="127536"/>
                        <a:pt x="499456" y="135682"/>
                        <a:pt x="509343" y="149528"/>
                      </a:cubicBezTo>
                      <a:lnTo>
                        <a:pt x="670093" y="395802"/>
                      </a:lnTo>
                      <a:cubicBezTo>
                        <a:pt x="677270" y="406514"/>
                        <a:pt x="674405" y="421017"/>
                        <a:pt x="663692" y="428194"/>
                      </a:cubicBezTo>
                      <a:cubicBezTo>
                        <a:pt x="661248" y="429832"/>
                        <a:pt x="658516" y="430992"/>
                        <a:pt x="655639" y="431616"/>
                      </a:cubicBezTo>
                      <a:close/>
                    </a:path>
                  </a:pathLst>
                </a:custGeom>
                <a:solidFill>
                  <a:srgbClr val="000000"/>
                </a:solidFill>
                <a:ln w="8434" cap="flat">
                  <a:solidFill>
                    <a:srgbClr val="000000"/>
                  </a:solid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44" name="Down Arrow Callout 60">
              <a:extLst>
                <a:ext uri="{FF2B5EF4-FFF2-40B4-BE49-F238E27FC236}">
                  <a16:creationId xmlns:a16="http://schemas.microsoft.com/office/drawing/2014/main" id="{F46B4D2A-6315-D077-7B4F-E301A37A5B70}"/>
                </a:ext>
              </a:extLst>
            </p:cNvPr>
            <p:cNvSpPr/>
            <p:nvPr/>
          </p:nvSpPr>
          <p:spPr bwMode="auto">
            <a:xfrm>
              <a:off x="3854196" y="2474885"/>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Financial Analysis</a:t>
              </a:r>
            </a:p>
          </p:txBody>
        </p:sp>
        <p:grpSp>
          <p:nvGrpSpPr>
            <p:cNvPr id="73" name="Group 72">
              <a:extLst>
                <a:ext uri="{FF2B5EF4-FFF2-40B4-BE49-F238E27FC236}">
                  <a16:creationId xmlns:a16="http://schemas.microsoft.com/office/drawing/2014/main" id="{C6F9E5CB-8A71-13B4-A4AD-09BC29DAB121}"/>
                </a:ext>
              </a:extLst>
            </p:cNvPr>
            <p:cNvGrpSpPr/>
            <p:nvPr/>
          </p:nvGrpSpPr>
          <p:grpSpPr>
            <a:xfrm>
              <a:off x="3848853" y="695161"/>
              <a:ext cx="1435608" cy="1645920"/>
              <a:chOff x="4614673" y="998939"/>
              <a:chExt cx="1261872" cy="1497294"/>
            </a:xfrm>
          </p:grpSpPr>
          <p:sp>
            <p:nvSpPr>
              <p:cNvPr id="42" name="Rectangle 41">
                <a:extLst>
                  <a:ext uri="{FF2B5EF4-FFF2-40B4-BE49-F238E27FC236}">
                    <a16:creationId xmlns:a16="http://schemas.microsoft.com/office/drawing/2014/main" id="{100718DC-A477-2D76-4905-F7FEDB2C6DC7}"/>
                  </a:ext>
                </a:extLst>
              </p:cNvPr>
              <p:cNvSpPr/>
              <p:nvPr/>
            </p:nvSpPr>
            <p:spPr bwMode="auto">
              <a:xfrm>
                <a:off x="4614673"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4" name="Group 63">
                <a:extLst>
                  <a:ext uri="{FF2B5EF4-FFF2-40B4-BE49-F238E27FC236}">
                    <a16:creationId xmlns:a16="http://schemas.microsoft.com/office/drawing/2014/main" id="{884CDD30-06B4-D5E5-8901-99287E6B0FA9}"/>
                  </a:ext>
                </a:extLst>
              </p:cNvPr>
              <p:cNvGrpSpPr/>
              <p:nvPr/>
            </p:nvGrpSpPr>
            <p:grpSpPr>
              <a:xfrm>
                <a:off x="4674035" y="1176086"/>
                <a:ext cx="1143149" cy="1143000"/>
                <a:chOff x="4674035" y="1142389"/>
                <a:chExt cx="1143149" cy="1143000"/>
              </a:xfrm>
            </p:grpSpPr>
            <p:sp>
              <p:nvSpPr>
                <p:cNvPr id="43" name="Oval 42">
                  <a:extLst>
                    <a:ext uri="{FF2B5EF4-FFF2-40B4-BE49-F238E27FC236}">
                      <a16:creationId xmlns:a16="http://schemas.microsoft.com/office/drawing/2014/main" id="{E0B2A5E7-A9CD-C9C4-4C0C-CCB3A4B99893}"/>
                    </a:ext>
                  </a:extLst>
                </p:cNvPr>
                <p:cNvSpPr/>
                <p:nvPr/>
              </p:nvSpPr>
              <p:spPr bwMode="auto">
                <a:xfrm>
                  <a:off x="4674035" y="1142389"/>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45" name="Picture 18" descr="Related image">
                  <a:extLst>
                    <a:ext uri="{FF2B5EF4-FFF2-40B4-BE49-F238E27FC236}">
                      <a16:creationId xmlns:a16="http://schemas.microsoft.com/office/drawing/2014/main" id="{BA176DF9-933E-76F6-3710-1A5A6DB55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93" y="1353410"/>
                  <a:ext cx="713232" cy="72095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grpSp>
        <p:sp>
          <p:nvSpPr>
            <p:cNvPr id="49" name="Down Arrow Callout 69">
              <a:extLst>
                <a:ext uri="{FF2B5EF4-FFF2-40B4-BE49-F238E27FC236}">
                  <a16:creationId xmlns:a16="http://schemas.microsoft.com/office/drawing/2014/main" id="{3D6887DF-2D41-4839-0365-7E2648C2D955}"/>
                </a:ext>
              </a:extLst>
            </p:cNvPr>
            <p:cNvSpPr/>
            <p:nvPr/>
          </p:nvSpPr>
          <p:spPr bwMode="auto">
            <a:xfrm>
              <a:off x="5433880" y="2474509"/>
              <a:ext cx="1435608" cy="1463040"/>
            </a:xfrm>
            <a:prstGeom prst="downArrowCallou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Valuation</a:t>
              </a:r>
            </a:p>
          </p:txBody>
        </p:sp>
        <p:grpSp>
          <p:nvGrpSpPr>
            <p:cNvPr id="69" name="Group 68">
              <a:extLst>
                <a:ext uri="{FF2B5EF4-FFF2-40B4-BE49-F238E27FC236}">
                  <a16:creationId xmlns:a16="http://schemas.microsoft.com/office/drawing/2014/main" id="{59A0CE8C-FFE6-FD50-5BEF-29BAD7B4B2CD}"/>
                </a:ext>
              </a:extLst>
            </p:cNvPr>
            <p:cNvGrpSpPr/>
            <p:nvPr/>
          </p:nvGrpSpPr>
          <p:grpSpPr>
            <a:xfrm>
              <a:off x="5433880" y="695162"/>
              <a:ext cx="1435608" cy="1645920"/>
              <a:chOff x="6031705" y="998939"/>
              <a:chExt cx="1261872" cy="1497294"/>
            </a:xfrm>
          </p:grpSpPr>
          <p:sp>
            <p:nvSpPr>
              <p:cNvPr id="47" name="Rectangle 46">
                <a:extLst>
                  <a:ext uri="{FF2B5EF4-FFF2-40B4-BE49-F238E27FC236}">
                    <a16:creationId xmlns:a16="http://schemas.microsoft.com/office/drawing/2014/main" id="{BBE48237-1317-59C1-A257-E9DF674B472E}"/>
                  </a:ext>
                </a:extLst>
              </p:cNvPr>
              <p:cNvSpPr/>
              <p:nvPr/>
            </p:nvSpPr>
            <p:spPr bwMode="auto">
              <a:xfrm>
                <a:off x="6031705" y="998939"/>
                <a:ext cx="1261872" cy="1497294"/>
              </a:xfrm>
              <a:prstGeom prst="rect">
                <a:avLst/>
              </a:prstGeom>
              <a:solidFill>
                <a:schemeClr val="bg1">
                  <a:lumMod val="75000"/>
                </a:schemeClr>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5" name="Group 64">
                <a:extLst>
                  <a:ext uri="{FF2B5EF4-FFF2-40B4-BE49-F238E27FC236}">
                    <a16:creationId xmlns:a16="http://schemas.microsoft.com/office/drawing/2014/main" id="{9B96EFAD-9C30-6FC0-982F-6F126D64983E}"/>
                  </a:ext>
                </a:extLst>
              </p:cNvPr>
              <p:cNvGrpSpPr/>
              <p:nvPr/>
            </p:nvGrpSpPr>
            <p:grpSpPr>
              <a:xfrm>
                <a:off x="6091067" y="1176086"/>
                <a:ext cx="1143149" cy="1143000"/>
                <a:chOff x="6091067" y="1176086"/>
                <a:chExt cx="1143149" cy="1143000"/>
              </a:xfrm>
            </p:grpSpPr>
            <p:sp>
              <p:nvSpPr>
                <p:cNvPr id="48" name="Oval 47">
                  <a:extLst>
                    <a:ext uri="{FF2B5EF4-FFF2-40B4-BE49-F238E27FC236}">
                      <a16:creationId xmlns:a16="http://schemas.microsoft.com/office/drawing/2014/main" id="{2AECAA19-4F8B-7AD3-5F73-1CF68EFF4C89}"/>
                    </a:ext>
                  </a:extLst>
                </p:cNvPr>
                <p:cNvSpPr/>
                <p:nvPr/>
              </p:nvSpPr>
              <p:spPr bwMode="auto">
                <a:xfrm>
                  <a:off x="6091067" y="1176086"/>
                  <a:ext cx="1143149" cy="1143000"/>
                </a:xfrm>
                <a:prstGeom prst="ellipse">
                  <a:avLst/>
                </a:prstGeom>
                <a:solidFill>
                  <a:schemeClr val="bg1">
                    <a:lumMod val="75000"/>
                  </a:schemeClr>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2" name="Graphic 11" descr="Dollar with solid fill">
                  <a:extLst>
                    <a:ext uri="{FF2B5EF4-FFF2-40B4-BE49-F238E27FC236}">
                      <a16:creationId xmlns:a16="http://schemas.microsoft.com/office/drawing/2014/main" id="{E1A801A3-7017-9D4A-140E-A667BE428CF8}"/>
                    </a:ext>
                  </a:extLst>
                </p:cNvPr>
                <p:cNvSpPr/>
                <p:nvPr/>
              </p:nvSpPr>
              <p:spPr>
                <a:xfrm>
                  <a:off x="6497831" y="1441262"/>
                  <a:ext cx="329621" cy="612648"/>
                </a:xfrm>
                <a:custGeom>
                  <a:avLst/>
                  <a:gdLst>
                    <a:gd name="connsiteX0" fmla="*/ 284667 w 329621"/>
                    <a:gd name="connsiteY0" fmla="*/ 371951 h 710840"/>
                    <a:gd name="connsiteX1" fmla="*/ 186058 w 329621"/>
                    <a:gd name="connsiteY1" fmla="*/ 326243 h 710840"/>
                    <a:gd name="connsiteX2" fmla="*/ 186058 w 329621"/>
                    <a:gd name="connsiteY2" fmla="*/ 126381 h 710840"/>
                    <a:gd name="connsiteX3" fmla="*/ 274169 w 329621"/>
                    <a:gd name="connsiteY3" fmla="*/ 168287 h 710840"/>
                    <a:gd name="connsiteX4" fmla="*/ 313844 w 329621"/>
                    <a:gd name="connsiteY4" fmla="*/ 130266 h 710840"/>
                    <a:gd name="connsiteX5" fmla="*/ 186058 w 329621"/>
                    <a:gd name="connsiteY5" fmla="*/ 71828 h 710840"/>
                    <a:gd name="connsiteX6" fmla="*/ 186058 w 329621"/>
                    <a:gd name="connsiteY6" fmla="*/ 0 h 710840"/>
                    <a:gd name="connsiteX7" fmla="*/ 136465 w 329621"/>
                    <a:gd name="connsiteY7" fmla="*/ 0 h 710840"/>
                    <a:gd name="connsiteX8" fmla="*/ 136465 w 329621"/>
                    <a:gd name="connsiteY8" fmla="*/ 74969 h 710840"/>
                    <a:gd name="connsiteX9" fmla="*/ 87863 w 329621"/>
                    <a:gd name="connsiteY9" fmla="*/ 92327 h 710840"/>
                    <a:gd name="connsiteX10" fmla="*/ 18928 w 329621"/>
                    <a:gd name="connsiteY10" fmla="*/ 274169 h 710840"/>
                    <a:gd name="connsiteX11" fmla="*/ 136465 w 329621"/>
                    <a:gd name="connsiteY11" fmla="*/ 366909 h 710840"/>
                    <a:gd name="connsiteX12" fmla="*/ 136465 w 329621"/>
                    <a:gd name="connsiteY12" fmla="*/ 583302 h 710840"/>
                    <a:gd name="connsiteX13" fmla="*/ 39675 w 329621"/>
                    <a:gd name="connsiteY13" fmla="*/ 528997 h 710840"/>
                    <a:gd name="connsiteX14" fmla="*/ 0 w 329621"/>
                    <a:gd name="connsiteY14" fmla="*/ 566936 h 710840"/>
                    <a:gd name="connsiteX15" fmla="*/ 66538 w 329621"/>
                    <a:gd name="connsiteY15" fmla="*/ 619919 h 710840"/>
                    <a:gd name="connsiteX16" fmla="*/ 136465 w 329621"/>
                    <a:gd name="connsiteY16" fmla="*/ 638351 h 710840"/>
                    <a:gd name="connsiteX17" fmla="*/ 136465 w 329621"/>
                    <a:gd name="connsiteY17" fmla="*/ 710840 h 710840"/>
                    <a:gd name="connsiteX18" fmla="*/ 186058 w 329621"/>
                    <a:gd name="connsiteY18" fmla="*/ 710840 h 710840"/>
                    <a:gd name="connsiteX19" fmla="*/ 186058 w 329621"/>
                    <a:gd name="connsiteY19" fmla="*/ 636450 h 710840"/>
                    <a:gd name="connsiteX20" fmla="*/ 317646 w 329621"/>
                    <a:gd name="connsiteY20" fmla="*/ 537263 h 710840"/>
                    <a:gd name="connsiteX21" fmla="*/ 284667 w 329621"/>
                    <a:gd name="connsiteY21" fmla="*/ 371951 h 710840"/>
                    <a:gd name="connsiteX22" fmla="*/ 95137 w 329621"/>
                    <a:gd name="connsiteY22" fmla="*/ 287064 h 710840"/>
                    <a:gd name="connsiteX23" fmla="*/ 108940 w 329621"/>
                    <a:gd name="connsiteY23" fmla="*/ 143738 h 710840"/>
                    <a:gd name="connsiteX24" fmla="*/ 136465 w 329621"/>
                    <a:gd name="connsiteY24" fmla="*/ 131092 h 710840"/>
                    <a:gd name="connsiteX25" fmla="*/ 136465 w 329621"/>
                    <a:gd name="connsiteY25" fmla="*/ 310373 h 710840"/>
                    <a:gd name="connsiteX26" fmla="*/ 95137 w 329621"/>
                    <a:gd name="connsiteY26" fmla="*/ 287064 h 710840"/>
                    <a:gd name="connsiteX27" fmla="*/ 244661 w 329621"/>
                    <a:gd name="connsiteY27" fmla="*/ 550075 h 710840"/>
                    <a:gd name="connsiteX28" fmla="*/ 186058 w 329621"/>
                    <a:gd name="connsiteY28" fmla="*/ 581071 h 710840"/>
                    <a:gd name="connsiteX29" fmla="*/ 186058 w 329621"/>
                    <a:gd name="connsiteY29" fmla="*/ 383606 h 710840"/>
                    <a:gd name="connsiteX30" fmla="*/ 270533 w 329621"/>
                    <a:gd name="connsiteY30" fmla="*/ 444523 h 710840"/>
                    <a:gd name="connsiteX31" fmla="*/ 244661 w 329621"/>
                    <a:gd name="connsiteY31" fmla="*/ 550075 h 71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29621" h="710840">
                      <a:moveTo>
                        <a:pt x="284667" y="371951"/>
                      </a:moveTo>
                      <a:cubicBezTo>
                        <a:pt x="256729" y="348146"/>
                        <a:pt x="220443" y="336988"/>
                        <a:pt x="186058" y="326243"/>
                      </a:cubicBezTo>
                      <a:lnTo>
                        <a:pt x="186058" y="126381"/>
                      </a:lnTo>
                      <a:cubicBezTo>
                        <a:pt x="219443" y="129553"/>
                        <a:pt x="250641" y="144391"/>
                        <a:pt x="274169" y="168287"/>
                      </a:cubicBezTo>
                      <a:lnTo>
                        <a:pt x="313844" y="130266"/>
                      </a:lnTo>
                      <a:cubicBezTo>
                        <a:pt x="279891" y="95726"/>
                        <a:pt x="234393" y="74919"/>
                        <a:pt x="186058" y="71828"/>
                      </a:cubicBezTo>
                      <a:lnTo>
                        <a:pt x="186058" y="0"/>
                      </a:lnTo>
                      <a:lnTo>
                        <a:pt x="136465" y="0"/>
                      </a:lnTo>
                      <a:lnTo>
                        <a:pt x="136465" y="74969"/>
                      </a:lnTo>
                      <a:cubicBezTo>
                        <a:pt x="119482" y="78274"/>
                        <a:pt x="103097" y="84126"/>
                        <a:pt x="87863" y="92327"/>
                      </a:cubicBezTo>
                      <a:cubicBezTo>
                        <a:pt x="25210" y="126463"/>
                        <a:pt x="-6778" y="206640"/>
                        <a:pt x="18928" y="274169"/>
                      </a:cubicBezTo>
                      <a:cubicBezTo>
                        <a:pt x="38848" y="326243"/>
                        <a:pt x="86871" y="349469"/>
                        <a:pt x="136465" y="366909"/>
                      </a:cubicBezTo>
                      <a:lnTo>
                        <a:pt x="136465" y="583302"/>
                      </a:lnTo>
                      <a:cubicBezTo>
                        <a:pt x="98030" y="578591"/>
                        <a:pt x="66125" y="556522"/>
                        <a:pt x="39675" y="528997"/>
                      </a:cubicBezTo>
                      <a:lnTo>
                        <a:pt x="0" y="566936"/>
                      </a:lnTo>
                      <a:cubicBezTo>
                        <a:pt x="18891" y="588372"/>
                        <a:pt x="41416" y="606309"/>
                        <a:pt x="66538" y="619919"/>
                      </a:cubicBezTo>
                      <a:cubicBezTo>
                        <a:pt x="88495" y="630364"/>
                        <a:pt x="112211" y="636615"/>
                        <a:pt x="136465" y="638351"/>
                      </a:cubicBezTo>
                      <a:lnTo>
                        <a:pt x="136465" y="710840"/>
                      </a:lnTo>
                      <a:lnTo>
                        <a:pt x="186058" y="710840"/>
                      </a:lnTo>
                      <a:lnTo>
                        <a:pt x="186058" y="636450"/>
                      </a:lnTo>
                      <a:cubicBezTo>
                        <a:pt x="242926" y="626945"/>
                        <a:pt x="295164" y="591981"/>
                        <a:pt x="317646" y="537263"/>
                      </a:cubicBezTo>
                      <a:cubicBezTo>
                        <a:pt x="340129" y="482545"/>
                        <a:pt x="331946" y="412370"/>
                        <a:pt x="284667" y="371951"/>
                      </a:cubicBezTo>
                      <a:close/>
                      <a:moveTo>
                        <a:pt x="95137" y="287064"/>
                      </a:moveTo>
                      <a:cubicBezTo>
                        <a:pt x="49676" y="248711"/>
                        <a:pt x="60752" y="174486"/>
                        <a:pt x="108940" y="143738"/>
                      </a:cubicBezTo>
                      <a:cubicBezTo>
                        <a:pt x="117481" y="138261"/>
                        <a:pt x="126745" y="134004"/>
                        <a:pt x="136465" y="131092"/>
                      </a:cubicBezTo>
                      <a:lnTo>
                        <a:pt x="136465" y="310373"/>
                      </a:lnTo>
                      <a:cubicBezTo>
                        <a:pt x="121500" y="304930"/>
                        <a:pt x="107537" y="297054"/>
                        <a:pt x="95137" y="287064"/>
                      </a:cubicBezTo>
                      <a:close/>
                      <a:moveTo>
                        <a:pt x="244661" y="550075"/>
                      </a:moveTo>
                      <a:cubicBezTo>
                        <a:pt x="228529" y="565846"/>
                        <a:pt x="208175" y="576611"/>
                        <a:pt x="186058" y="581071"/>
                      </a:cubicBezTo>
                      <a:lnTo>
                        <a:pt x="186058" y="383606"/>
                      </a:lnTo>
                      <a:cubicBezTo>
                        <a:pt x="219121" y="394930"/>
                        <a:pt x="257060" y="409312"/>
                        <a:pt x="270533" y="444523"/>
                      </a:cubicBezTo>
                      <a:cubicBezTo>
                        <a:pt x="284005" y="479734"/>
                        <a:pt x="270450" y="523790"/>
                        <a:pt x="244661" y="550075"/>
                      </a:cubicBezTo>
                      <a:close/>
                    </a:path>
                  </a:pathLst>
                </a:custGeom>
                <a:solidFill>
                  <a:srgbClr val="000000"/>
                </a:solidFill>
                <a:ln w="8235"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55" name="Down Arrow Callout 69">
              <a:extLst>
                <a:ext uri="{FF2B5EF4-FFF2-40B4-BE49-F238E27FC236}">
                  <a16:creationId xmlns:a16="http://schemas.microsoft.com/office/drawing/2014/main" id="{428493C4-7D94-54C6-6AB6-33366C8A2DAF}"/>
                </a:ext>
              </a:extLst>
            </p:cNvPr>
            <p:cNvSpPr/>
            <p:nvPr/>
          </p:nvSpPr>
          <p:spPr bwMode="auto">
            <a:xfrm>
              <a:off x="7013564" y="2474509"/>
              <a:ext cx="1435608" cy="1463040"/>
            </a:xfrm>
            <a:prstGeom prst="downArrowCallou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a:t>
              </a:r>
            </a:p>
          </p:txBody>
        </p:sp>
        <p:grpSp>
          <p:nvGrpSpPr>
            <p:cNvPr id="68" name="Group 67">
              <a:extLst>
                <a:ext uri="{FF2B5EF4-FFF2-40B4-BE49-F238E27FC236}">
                  <a16:creationId xmlns:a16="http://schemas.microsoft.com/office/drawing/2014/main" id="{B7ECBCC8-25F3-430C-5217-04D8C9B54170}"/>
                </a:ext>
              </a:extLst>
            </p:cNvPr>
            <p:cNvGrpSpPr/>
            <p:nvPr/>
          </p:nvGrpSpPr>
          <p:grpSpPr>
            <a:xfrm>
              <a:off x="7013564" y="701514"/>
              <a:ext cx="1435608" cy="1645920"/>
              <a:chOff x="7417254" y="998937"/>
              <a:chExt cx="1264787" cy="1497293"/>
            </a:xfrm>
          </p:grpSpPr>
          <p:sp>
            <p:nvSpPr>
              <p:cNvPr id="54" name="Rectangle 53">
                <a:extLst>
                  <a:ext uri="{FF2B5EF4-FFF2-40B4-BE49-F238E27FC236}">
                    <a16:creationId xmlns:a16="http://schemas.microsoft.com/office/drawing/2014/main" id="{3E289774-B4C0-B9DB-19A6-A8AE45EDF078}"/>
                  </a:ext>
                </a:extLst>
              </p:cNvPr>
              <p:cNvSpPr/>
              <p:nvPr/>
            </p:nvSpPr>
            <p:spPr bwMode="auto">
              <a:xfrm>
                <a:off x="7417254" y="998937"/>
                <a:ext cx="1264787" cy="1497293"/>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grpSp>
            <p:nvGrpSpPr>
              <p:cNvPr id="67" name="Group 66">
                <a:extLst>
                  <a:ext uri="{FF2B5EF4-FFF2-40B4-BE49-F238E27FC236}">
                    <a16:creationId xmlns:a16="http://schemas.microsoft.com/office/drawing/2014/main" id="{0361E08F-6A1F-AF71-F41A-12DB142DE576}"/>
                  </a:ext>
                </a:extLst>
              </p:cNvPr>
              <p:cNvGrpSpPr/>
              <p:nvPr/>
            </p:nvGrpSpPr>
            <p:grpSpPr>
              <a:xfrm>
                <a:off x="7478147" y="1176083"/>
                <a:ext cx="1143000" cy="1143000"/>
                <a:chOff x="7474569" y="1120998"/>
                <a:chExt cx="1143000" cy="1143000"/>
              </a:xfrm>
            </p:grpSpPr>
            <p:sp>
              <p:nvSpPr>
                <p:cNvPr id="56" name="Oval 55">
                  <a:extLst>
                    <a:ext uri="{FF2B5EF4-FFF2-40B4-BE49-F238E27FC236}">
                      <a16:creationId xmlns:a16="http://schemas.microsoft.com/office/drawing/2014/main" id="{D9CDF554-1A64-C30A-DB57-A60E3464E37F}"/>
                    </a:ext>
                  </a:extLst>
                </p:cNvPr>
                <p:cNvSpPr/>
                <p:nvPr/>
              </p:nvSpPr>
              <p:spPr bwMode="auto">
                <a:xfrm>
                  <a:off x="7474569" y="1120998"/>
                  <a:ext cx="1143000" cy="1143000"/>
                </a:xfrm>
                <a:prstGeom prst="ellipse">
                  <a:avLst/>
                </a:prstGeom>
                <a:solidFill>
                  <a:srgbClr val="F2C755"/>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57" name="Graphic 20" descr="Warning with solid fill">
                  <a:extLst>
                    <a:ext uri="{FF2B5EF4-FFF2-40B4-BE49-F238E27FC236}">
                      <a16:creationId xmlns:a16="http://schemas.microsoft.com/office/drawing/2014/main" id="{0594BECF-844F-CD92-E14A-F795DF9202EC}"/>
                    </a:ext>
                  </a:extLst>
                </p:cNvPr>
                <p:cNvSpPr/>
                <p:nvPr/>
              </p:nvSpPr>
              <p:spPr>
                <a:xfrm>
                  <a:off x="7689453" y="1355694"/>
                  <a:ext cx="713232" cy="612648"/>
                </a:xfrm>
                <a:custGeom>
                  <a:avLst/>
                  <a:gdLst>
                    <a:gd name="connsiteX0" fmla="*/ 612383 w 616118"/>
                    <a:gd name="connsiteY0" fmla="*/ 500241 h 543103"/>
                    <a:gd name="connsiteX1" fmla="*/ 333062 w 616118"/>
                    <a:gd name="connsiteY1" fmla="*/ 14466 h 543103"/>
                    <a:gd name="connsiteX2" fmla="*/ 283770 w 616118"/>
                    <a:gd name="connsiteY2" fmla="*/ 14466 h 543103"/>
                    <a:gd name="connsiteX3" fmla="*/ 3735 w 616118"/>
                    <a:gd name="connsiteY3" fmla="*/ 500241 h 543103"/>
                    <a:gd name="connsiteX4" fmla="*/ 28739 w 616118"/>
                    <a:gd name="connsiteY4" fmla="*/ 543104 h 543103"/>
                    <a:gd name="connsiteX5" fmla="*/ 308059 w 616118"/>
                    <a:gd name="connsiteY5" fmla="*/ 543104 h 543103"/>
                    <a:gd name="connsiteX6" fmla="*/ 587380 w 616118"/>
                    <a:gd name="connsiteY6" fmla="*/ 543104 h 543103"/>
                    <a:gd name="connsiteX7" fmla="*/ 612383 w 616118"/>
                    <a:gd name="connsiteY7" fmla="*/ 500241 h 543103"/>
                    <a:gd name="connsiteX8" fmla="*/ 286628 w 616118"/>
                    <a:gd name="connsiteY8" fmla="*/ 128766 h 543103"/>
                    <a:gd name="connsiteX9" fmla="*/ 329490 w 616118"/>
                    <a:gd name="connsiteY9" fmla="*/ 128766 h 543103"/>
                    <a:gd name="connsiteX10" fmla="*/ 329490 w 616118"/>
                    <a:gd name="connsiteY10" fmla="*/ 378797 h 543103"/>
                    <a:gd name="connsiteX11" fmla="*/ 286628 w 616118"/>
                    <a:gd name="connsiteY11" fmla="*/ 378797 h 543103"/>
                    <a:gd name="connsiteX12" fmla="*/ 286628 w 616118"/>
                    <a:gd name="connsiteY12" fmla="*/ 128766 h 543103"/>
                    <a:gd name="connsiteX13" fmla="*/ 308059 w 616118"/>
                    <a:gd name="connsiteY13" fmla="*/ 478810 h 543103"/>
                    <a:gd name="connsiteX14" fmla="*/ 272340 w 616118"/>
                    <a:gd name="connsiteY14" fmla="*/ 443091 h 543103"/>
                    <a:gd name="connsiteX15" fmla="*/ 308059 w 616118"/>
                    <a:gd name="connsiteY15" fmla="*/ 407372 h 543103"/>
                    <a:gd name="connsiteX16" fmla="*/ 343778 w 616118"/>
                    <a:gd name="connsiteY16" fmla="*/ 443091 h 543103"/>
                    <a:gd name="connsiteX17" fmla="*/ 308059 w 616118"/>
                    <a:gd name="connsiteY17" fmla="*/ 478810 h 543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16118" h="543103">
                      <a:moveTo>
                        <a:pt x="612383" y="500241"/>
                      </a:moveTo>
                      <a:lnTo>
                        <a:pt x="333062" y="14466"/>
                      </a:lnTo>
                      <a:cubicBezTo>
                        <a:pt x="322347" y="-4822"/>
                        <a:pt x="294486" y="-4822"/>
                        <a:pt x="283770" y="14466"/>
                      </a:cubicBezTo>
                      <a:lnTo>
                        <a:pt x="3735" y="500241"/>
                      </a:lnTo>
                      <a:cubicBezTo>
                        <a:pt x="-6980" y="519529"/>
                        <a:pt x="6593" y="543104"/>
                        <a:pt x="28739" y="543104"/>
                      </a:cubicBezTo>
                      <a:lnTo>
                        <a:pt x="308059" y="543104"/>
                      </a:lnTo>
                      <a:lnTo>
                        <a:pt x="587380" y="543104"/>
                      </a:lnTo>
                      <a:cubicBezTo>
                        <a:pt x="609525" y="543104"/>
                        <a:pt x="623099" y="519529"/>
                        <a:pt x="612383" y="500241"/>
                      </a:cubicBezTo>
                      <a:close/>
                      <a:moveTo>
                        <a:pt x="286628" y="128766"/>
                      </a:moveTo>
                      <a:lnTo>
                        <a:pt x="329490" y="128766"/>
                      </a:lnTo>
                      <a:lnTo>
                        <a:pt x="329490" y="378797"/>
                      </a:lnTo>
                      <a:lnTo>
                        <a:pt x="286628" y="378797"/>
                      </a:lnTo>
                      <a:lnTo>
                        <a:pt x="286628" y="128766"/>
                      </a:lnTo>
                      <a:close/>
                      <a:moveTo>
                        <a:pt x="308059" y="478810"/>
                      </a:moveTo>
                      <a:cubicBezTo>
                        <a:pt x="288057" y="478810"/>
                        <a:pt x="272340" y="463094"/>
                        <a:pt x="272340" y="443091"/>
                      </a:cubicBezTo>
                      <a:cubicBezTo>
                        <a:pt x="272340" y="423089"/>
                        <a:pt x="288057" y="407372"/>
                        <a:pt x="308059" y="407372"/>
                      </a:cubicBezTo>
                      <a:cubicBezTo>
                        <a:pt x="328062" y="407372"/>
                        <a:pt x="343778" y="423089"/>
                        <a:pt x="343778" y="443091"/>
                      </a:cubicBezTo>
                      <a:cubicBezTo>
                        <a:pt x="343778" y="463094"/>
                        <a:pt x="328062" y="478810"/>
                        <a:pt x="308059" y="478810"/>
                      </a:cubicBezTo>
                      <a:close/>
                    </a:path>
                  </a:pathLst>
                </a:custGeom>
                <a:solidFill>
                  <a:srgbClr val="000000"/>
                </a:solidFill>
                <a:ln w="7144" cap="flat">
                  <a:noFill/>
                  <a:prstDash val="solid"/>
                  <a:miter/>
                </a:ln>
              </p:spPr>
              <p:txBody>
                <a:bodyPr rtlCol="0" anchor="ctr"/>
                <a:lstStyle/>
                <a:p>
                  <a:endParaRPr lang="en-US" sz="1400">
                    <a:latin typeface="Calibri" panose="020F0502020204030204" pitchFamily="34" charset="0"/>
                    <a:cs typeface="Calibri" panose="020F0502020204030204" pitchFamily="34" charset="0"/>
                  </a:endParaRPr>
                </a:p>
              </p:txBody>
            </p:sp>
          </p:grpSp>
        </p:grpSp>
        <p:sp>
          <p:nvSpPr>
            <p:cNvPr id="10" name="Down Arrow Callout 26">
              <a:extLst>
                <a:ext uri="{FF2B5EF4-FFF2-40B4-BE49-F238E27FC236}">
                  <a16:creationId xmlns:a16="http://schemas.microsoft.com/office/drawing/2014/main" id="{E767E25E-21BB-1821-48AD-55A4DF6B6EFF}"/>
                </a:ext>
              </a:extLst>
            </p:cNvPr>
            <p:cNvSpPr/>
            <p:nvPr/>
          </p:nvSpPr>
          <p:spPr bwMode="auto">
            <a:xfrm>
              <a:off x="704167" y="2474509"/>
              <a:ext cx="1435608" cy="1463040"/>
            </a:xfrm>
            <a:prstGeom prst="downArrowCallou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Business Description</a:t>
              </a:r>
            </a:p>
          </p:txBody>
        </p:sp>
        <p:grpSp>
          <p:nvGrpSpPr>
            <p:cNvPr id="32" name="Group 31">
              <a:extLst>
                <a:ext uri="{FF2B5EF4-FFF2-40B4-BE49-F238E27FC236}">
                  <a16:creationId xmlns:a16="http://schemas.microsoft.com/office/drawing/2014/main" id="{D2285AC9-F5F5-C973-A985-F24A2264C98B}"/>
                </a:ext>
              </a:extLst>
            </p:cNvPr>
            <p:cNvGrpSpPr/>
            <p:nvPr/>
          </p:nvGrpSpPr>
          <p:grpSpPr>
            <a:xfrm>
              <a:off x="695702" y="701514"/>
              <a:ext cx="1435608" cy="1645920"/>
              <a:chOff x="676875" y="701139"/>
              <a:chExt cx="1435608" cy="1645920"/>
            </a:xfrm>
          </p:grpSpPr>
          <p:sp>
            <p:nvSpPr>
              <p:cNvPr id="3" name="Rectangle 2">
                <a:extLst>
                  <a:ext uri="{FF2B5EF4-FFF2-40B4-BE49-F238E27FC236}">
                    <a16:creationId xmlns:a16="http://schemas.microsoft.com/office/drawing/2014/main" id="{CDF5F9A9-F61D-53EC-AAC8-B7481EE0226A}"/>
                  </a:ext>
                </a:extLst>
              </p:cNvPr>
              <p:cNvSpPr/>
              <p:nvPr/>
            </p:nvSpPr>
            <p:spPr bwMode="auto">
              <a:xfrm>
                <a:off x="676875" y="701139"/>
                <a:ext cx="1435608" cy="1645920"/>
              </a:xfrm>
              <a:prstGeom prst="rect">
                <a:avLst/>
              </a:prstGeom>
              <a:solidFill>
                <a:srgbClr val="BFBFBF"/>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sp>
            <p:nvSpPr>
              <p:cNvPr id="4" name="Oval 3">
                <a:extLst>
                  <a:ext uri="{FF2B5EF4-FFF2-40B4-BE49-F238E27FC236}">
                    <a16:creationId xmlns:a16="http://schemas.microsoft.com/office/drawing/2014/main" id="{27AF6281-2C36-1EBE-0FFB-B980A0D58D92}"/>
                  </a:ext>
                </a:extLst>
              </p:cNvPr>
              <p:cNvSpPr/>
              <p:nvPr/>
            </p:nvSpPr>
            <p:spPr bwMode="auto">
              <a:xfrm>
                <a:off x="744824" y="895586"/>
                <a:ext cx="1299710" cy="1257027"/>
              </a:xfrm>
              <a:prstGeom prst="ellipse">
                <a:avLst/>
              </a:prstGeom>
              <a:solidFill>
                <a:srgbClr val="BFBFBF"/>
              </a:solidFill>
              <a:ln w="762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FFFFFF"/>
                  </a:solidFill>
                  <a:latin typeface="Calibri" panose="020F0502020204030204" pitchFamily="34" charset="0"/>
                  <a:cs typeface="Calibri" panose="020F0502020204030204" pitchFamily="34" charset="0"/>
                </a:endParaRPr>
              </a:p>
            </p:txBody>
          </p:sp>
          <p:pic>
            <p:nvPicPr>
              <p:cNvPr id="7" name="Graphic 6" descr="Lights On with solid fill">
                <a:extLst>
                  <a:ext uri="{FF2B5EF4-FFF2-40B4-BE49-F238E27FC236}">
                    <a16:creationId xmlns:a16="http://schemas.microsoft.com/office/drawing/2014/main" id="{779298FE-EFB5-81AC-EE70-029BFFEFDFA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35940" y="984359"/>
                <a:ext cx="1117478" cy="1091784"/>
              </a:xfrm>
              <a:prstGeom prst="rect">
                <a:avLst/>
              </a:prstGeom>
            </p:spPr>
          </p:pic>
        </p:grpSp>
      </p:grpSp>
      <p:sp>
        <p:nvSpPr>
          <p:cNvPr id="122" name="Rectangle 121">
            <a:extLst>
              <a:ext uri="{FF2B5EF4-FFF2-40B4-BE49-F238E27FC236}">
                <a16:creationId xmlns:a16="http://schemas.microsoft.com/office/drawing/2014/main" id="{5DE0817D-EEA2-E2FB-0764-266D5DAA9EAD}"/>
              </a:ext>
            </a:extLst>
          </p:cNvPr>
          <p:cNvSpPr/>
          <p:nvPr/>
        </p:nvSpPr>
        <p:spPr bwMode="auto">
          <a:xfrm>
            <a:off x="2669721" y="5136265"/>
            <a:ext cx="3804557" cy="882922"/>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400" b="1">
                <a:solidFill>
                  <a:schemeClr val="tx1"/>
                </a:solidFill>
                <a:latin typeface="Calibri" panose="020F0502020204030204" pitchFamily="34" charset="0"/>
                <a:cs typeface="Calibri" panose="020F0502020204030204" pitchFamily="34" charset="0"/>
              </a:rPr>
              <a:t>Risks, SWOT Analysis, and Porter’s Five Forces</a:t>
            </a:r>
          </a:p>
        </p:txBody>
      </p:sp>
      <p:sp>
        <p:nvSpPr>
          <p:cNvPr id="12" name="TextBox 11">
            <a:extLst>
              <a:ext uri="{FF2B5EF4-FFF2-40B4-BE49-F238E27FC236}">
                <a16:creationId xmlns:a16="http://schemas.microsoft.com/office/drawing/2014/main" id="{01AB9020-9156-38AF-44AB-94CF8852C240}"/>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19</a:t>
            </a:fld>
            <a:endParaRPr 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559224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E1324-9E5F-2A9C-03BA-487EA11B906A}"/>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80F35820-7CA3-3CE0-D5B6-5221AB8B9431}"/>
              </a:ext>
            </a:extLst>
          </p:cNvPr>
          <p:cNvGrpSpPr/>
          <p:nvPr/>
        </p:nvGrpSpPr>
        <p:grpSpPr>
          <a:xfrm>
            <a:off x="-21611" y="6351330"/>
            <a:ext cx="9144000" cy="457200"/>
            <a:chOff x="0" y="2732884"/>
            <a:chExt cx="9144000" cy="457200"/>
          </a:xfrm>
        </p:grpSpPr>
        <p:sp>
          <p:nvSpPr>
            <p:cNvPr id="58" name="Rectangle 57">
              <a:extLst>
                <a:ext uri="{FF2B5EF4-FFF2-40B4-BE49-F238E27FC236}">
                  <a16:creationId xmlns:a16="http://schemas.microsoft.com/office/drawing/2014/main" id="{F6796F43-AE22-A193-4F75-25A7BC3C67AA}"/>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ED9DF65C-F76E-07EC-0884-FE5E0070B30E}"/>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039AEED7-3117-FFA2-83A2-74D4E76D51D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25403B5-78FB-2C3F-0397-464C48798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B293C5C7-96D3-CEE9-14DB-FB7ABA9E7F22}"/>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C652CB9C-4549-B7CD-13BF-2D26FA24DAE0}"/>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EEE4EDEC-F445-DB81-FF0A-33F0CA95C1DF}"/>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67B326A5-4E51-752A-9B6E-F20DC41E523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33F73ECC-D2A6-EF4D-F3E9-27A4913D503A}"/>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08E130B2-1137-6EC6-F125-82CAA35E1B73}"/>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848D53DE-8F34-9D3B-0D4F-1140A7E30F43}"/>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169BA0A-CB85-1777-447A-53AA5727767C}"/>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4DE06626-6E5B-3E4A-71C6-A4DFB73010B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9C899824-7014-73EF-877B-7EE5A745D7F4}"/>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D913F2F0-E0AE-F490-327F-3D5BA325CE12}"/>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1319F648-FC7C-2EA8-8069-818101FFF5E4}"/>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568C7BC9-ECD7-15D0-1F73-020E163A0DD3}"/>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92C8BCD7-8E10-0615-FDE7-1E092793A580}"/>
              </a:ext>
            </a:extLst>
          </p:cNvPr>
          <p:cNvGrpSpPr>
            <a:grpSpLocks/>
          </p:cNvGrpSpPr>
          <p:nvPr/>
        </p:nvGrpSpPr>
        <p:grpSpPr bwMode="auto">
          <a:xfrm>
            <a:off x="0" y="82336"/>
            <a:ext cx="9144000" cy="576857"/>
            <a:chOff x="-2" y="-17873"/>
            <a:chExt cx="12192002" cy="769372"/>
          </a:xfrm>
        </p:grpSpPr>
        <p:sp>
          <p:nvSpPr>
            <p:cNvPr id="183302" name="Title 1">
              <a:extLst>
                <a:ext uri="{FF2B5EF4-FFF2-40B4-BE49-F238E27FC236}">
                  <a16:creationId xmlns:a16="http://schemas.microsoft.com/office/drawing/2014/main" id="{C7499657-3878-7EE7-686D-61AEBBE4E170}"/>
                </a:ext>
              </a:extLst>
            </p:cNvPr>
            <p:cNvSpPr txBox="1">
              <a:spLocks/>
            </p:cNvSpPr>
            <p:nvPr/>
          </p:nvSpPr>
          <p:spPr>
            <a:xfrm>
              <a:off x="-2" y="-17873"/>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rgbClr val="000000"/>
                  </a:solidFill>
                  <a:latin typeface="Calibri" panose="020F0502020204030204" pitchFamily="34" charset="0"/>
                  <a:cs typeface="Calibri" panose="020F0502020204030204" pitchFamily="34" charset="0"/>
                </a:rPr>
                <a:t>Risks, Porter’s Five Forces, SWOT Analysis</a:t>
              </a:r>
              <a:endParaRPr lang="en-US" sz="2100" b="1" dirty="0">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E2441762-01A6-46CA-16D5-4B5F36E501A0}"/>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E6D8B601-386C-3A20-3E2A-E3BC3910EF22}"/>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B09DEBF4-0E60-57DB-6F9D-3C1A02202783}"/>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3D4CF136-5D13-BF3D-B440-773AEDD12D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7997473" y="6446941"/>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8" name="Text Box 2">
            <a:extLst>
              <a:ext uri="{FF2B5EF4-FFF2-40B4-BE49-F238E27FC236}">
                <a16:creationId xmlns:a16="http://schemas.microsoft.com/office/drawing/2014/main" id="{C2D29290-5BB4-CC5A-4416-ECEC0080DEF6}"/>
              </a:ext>
            </a:extLst>
          </p:cNvPr>
          <p:cNvSpPr txBox="1">
            <a:spLocks noChangeArrowheads="1"/>
          </p:cNvSpPr>
          <p:nvPr/>
        </p:nvSpPr>
        <p:spPr bwMode="auto">
          <a:xfrm>
            <a:off x="5381968" y="1061171"/>
            <a:ext cx="3868401" cy="196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200">
                <a:solidFill>
                  <a:srgbClr val="000000"/>
                </a:solidFill>
                <a:latin typeface="Calibri"/>
                <a:ea typeface="Calibri"/>
                <a:cs typeface="Calibri"/>
              </a:rPr>
              <a:t>Figure 49: Risk Assessment Matrix </a:t>
            </a:r>
          </a:p>
        </p:txBody>
      </p:sp>
      <p:sp>
        <p:nvSpPr>
          <p:cNvPr id="17" name="Text Box 2">
            <a:extLst>
              <a:ext uri="{FF2B5EF4-FFF2-40B4-BE49-F238E27FC236}">
                <a16:creationId xmlns:a16="http://schemas.microsoft.com/office/drawing/2014/main" id="{6ECE370C-9E34-70B2-02C5-4457A9C2551E}"/>
              </a:ext>
            </a:extLst>
          </p:cNvPr>
          <p:cNvSpPr txBox="1">
            <a:spLocks noChangeArrowheads="1"/>
          </p:cNvSpPr>
          <p:nvPr/>
        </p:nvSpPr>
        <p:spPr bwMode="auto">
          <a:xfrm>
            <a:off x="4287892" y="3537929"/>
            <a:ext cx="1785530" cy="289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100" dirty="0">
                <a:solidFill>
                  <a:srgbClr val="000000"/>
                </a:solidFill>
                <a:latin typeface="Calibri"/>
                <a:ea typeface="Calibri"/>
                <a:cs typeface="Calibri"/>
              </a:rPr>
              <a:t>Figure 31: SWOT Analysis </a:t>
            </a:r>
          </a:p>
        </p:txBody>
      </p:sp>
      <p:sp>
        <p:nvSpPr>
          <p:cNvPr id="22" name="Text Box 2">
            <a:extLst>
              <a:ext uri="{FF2B5EF4-FFF2-40B4-BE49-F238E27FC236}">
                <a16:creationId xmlns:a16="http://schemas.microsoft.com/office/drawing/2014/main" id="{A00744BA-2A1A-E6DF-1392-557079D5E5D2}"/>
              </a:ext>
            </a:extLst>
          </p:cNvPr>
          <p:cNvSpPr txBox="1">
            <a:spLocks noChangeArrowheads="1"/>
          </p:cNvSpPr>
          <p:nvPr/>
        </p:nvSpPr>
        <p:spPr bwMode="auto">
          <a:xfrm>
            <a:off x="241231" y="3542894"/>
            <a:ext cx="3400436" cy="196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100" dirty="0">
                <a:solidFill>
                  <a:srgbClr val="000000"/>
                </a:solidFill>
                <a:latin typeface="Calibri"/>
                <a:ea typeface="Calibri"/>
                <a:cs typeface="Calibri"/>
              </a:rPr>
              <a:t>Figure 30: Porter’s Five Forces </a:t>
            </a:r>
          </a:p>
        </p:txBody>
      </p:sp>
      <p:pic>
        <p:nvPicPr>
          <p:cNvPr id="32" name="Graphic 31" descr="Lights On with solid fill">
            <a:extLst>
              <a:ext uri="{FF2B5EF4-FFF2-40B4-BE49-F238E27FC236}">
                <a16:creationId xmlns:a16="http://schemas.microsoft.com/office/drawing/2014/main" id="{451B57C8-73D2-9D04-A456-460E562B1E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4677" y="6324833"/>
            <a:ext cx="461513" cy="461513"/>
          </a:xfrm>
          <a:prstGeom prst="rect">
            <a:avLst/>
          </a:prstGeom>
        </p:spPr>
      </p:pic>
      <p:graphicFrame>
        <p:nvGraphicFramePr>
          <p:cNvPr id="12" name="Table 11">
            <a:extLst>
              <a:ext uri="{FF2B5EF4-FFF2-40B4-BE49-F238E27FC236}">
                <a16:creationId xmlns:a16="http://schemas.microsoft.com/office/drawing/2014/main" id="{3652547A-C8E9-02FE-5BC9-9ABE85328A8B}"/>
              </a:ext>
            </a:extLst>
          </p:cNvPr>
          <p:cNvGraphicFramePr>
            <a:graphicFrameLocks noGrp="1"/>
          </p:cNvGraphicFramePr>
          <p:nvPr>
            <p:custDataLst>
              <p:tags r:id="rId1"/>
            </p:custDataLst>
            <p:extLst>
              <p:ext uri="{D42A27DB-BD31-4B8C-83A1-F6EECF244321}">
                <p14:modId xmlns:p14="http://schemas.microsoft.com/office/powerpoint/2010/main" val="3928570522"/>
              </p:ext>
            </p:extLst>
          </p:nvPr>
        </p:nvGraphicFramePr>
        <p:xfrm>
          <a:off x="4382750" y="3763120"/>
          <a:ext cx="4391416" cy="2489441"/>
        </p:xfrm>
        <a:graphic>
          <a:graphicData uri="http://schemas.openxmlformats.org/drawingml/2006/table">
            <a:tbl>
              <a:tblPr/>
              <a:tblGrid>
                <a:gridCol w="2345016">
                  <a:extLst>
                    <a:ext uri="{9D8B030D-6E8A-4147-A177-3AD203B41FA5}">
                      <a16:colId xmlns:a16="http://schemas.microsoft.com/office/drawing/2014/main" val="3359310863"/>
                    </a:ext>
                  </a:extLst>
                </a:gridCol>
                <a:gridCol w="2046400">
                  <a:extLst>
                    <a:ext uri="{9D8B030D-6E8A-4147-A177-3AD203B41FA5}">
                      <a16:colId xmlns:a16="http://schemas.microsoft.com/office/drawing/2014/main" val="3514246718"/>
                    </a:ext>
                  </a:extLst>
                </a:gridCol>
              </a:tblGrid>
              <a:tr h="162496">
                <a:tc>
                  <a:txBody>
                    <a:bodyPr/>
                    <a:lstStyle/>
                    <a:p>
                      <a:pPr algn="ctr" fontAlgn="b"/>
                      <a:r>
                        <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Strengths</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tc>
                  <a:txBody>
                    <a:bodyPr/>
                    <a:lstStyle/>
                    <a:p>
                      <a:pPr algn="ctr" fontAlgn="b"/>
                      <a:r>
                        <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Weaknesses</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C755"/>
                    </a:solidFill>
                  </a:tcPr>
                </a:tc>
                <a:extLst>
                  <a:ext uri="{0D108BD9-81ED-4DB2-BD59-A6C34878D82A}">
                    <a16:rowId xmlns:a16="http://schemas.microsoft.com/office/drawing/2014/main" val="2420428349"/>
                  </a:ext>
                </a:extLst>
              </a:tr>
              <a:tr h="384081">
                <a:tc>
                  <a:txBody>
                    <a:bodyPr/>
                    <a:lstStyle/>
                    <a:p>
                      <a:pPr algn="ctr" fontAlgn="b"/>
                      <a:r>
                        <a:rPr lang="en-US" sz="11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Strong Brand Portfolio in Outdoor Recreation</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r>
                        <a:rPr lang="en-US" sz="1100" dirty="0">
                          <a:latin typeface="Calibri" panose="020F0502020204030204" pitchFamily="34" charset="0"/>
                          <a:ea typeface="Calibri" panose="020F0502020204030204" pitchFamily="34" charset="0"/>
                          <a:cs typeface="Calibri" panose="020F0502020204030204" pitchFamily="34" charset="0"/>
                        </a:rPr>
                        <a:t>High Inventory Sensitivity to Demand Cycles</a:t>
                      </a:r>
                    </a:p>
                    <a:p>
                      <a:pPr algn="ctr" fontAlgn="b"/>
                      <a:endParaRPr lang="en-US" sz="40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985874606"/>
                  </a:ext>
                </a:extLst>
              </a:tr>
              <a:tr h="384081">
                <a:tc>
                  <a:txBody>
                    <a:bodyPr/>
                    <a:lstStyle/>
                    <a:p>
                      <a:pPr algn="ctr" fontAlgn="b"/>
                      <a:r>
                        <a:rPr lang="en-US" sz="11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Leadership in Marine Electronics Segment</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solidFill>
                      <a:srgbClr val="FFFFFF"/>
                    </a:solidFill>
                  </a:tcPr>
                </a:tc>
                <a:tc>
                  <a:txBody>
                    <a:bodyPr/>
                    <a:lstStyle/>
                    <a:p>
                      <a:pPr algn="ctr" fontAlgn="b"/>
                      <a:r>
                        <a:rPr lang="en-US" sz="1100" dirty="0">
                          <a:latin typeface="Calibri" panose="020F0502020204030204" pitchFamily="34" charset="0"/>
                          <a:ea typeface="Calibri" panose="020F0502020204030204" pitchFamily="34" charset="0"/>
                          <a:cs typeface="Calibri" panose="020F0502020204030204" pitchFamily="34" charset="0"/>
                        </a:rPr>
                        <a:t>Limited Pricing Power During Normalization</a:t>
                      </a:r>
                    </a:p>
                    <a:p>
                      <a:pPr algn="ctr" fontAlgn="b"/>
                      <a:endParaRPr lang="en-US" sz="40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530810329"/>
                  </a:ext>
                </a:extLst>
              </a:tr>
              <a:tr h="384081">
                <a:tc>
                  <a:txBody>
                    <a:bodyPr/>
                    <a:lstStyle/>
                    <a:p>
                      <a:pPr algn="ctr" fontAlgn="b">
                        <a:lnSpc>
                          <a:spcPct val="100000"/>
                        </a:lnSpc>
                      </a:pPr>
                      <a:r>
                        <a:rPr lang="en-US" sz="11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Strong Net Cash Position</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FFFFFF"/>
                    </a:solidFill>
                  </a:tcPr>
                </a:tc>
                <a:tc>
                  <a:txBody>
                    <a:bodyPr/>
                    <a:lstStyle/>
                    <a:p>
                      <a:pPr marL="0" marR="0" lvl="0" indent="0" algn="ctr" defTabSz="685783" rtl="0" eaLnBrk="1" fontAlgn="b" latinLnBrk="0" hangingPunct="1">
                        <a:lnSpc>
                          <a:spcPct val="100000"/>
                        </a:lnSpc>
                        <a:spcBef>
                          <a:spcPts val="0"/>
                        </a:spcBef>
                        <a:spcAft>
                          <a:spcPts val="0"/>
                        </a:spcAft>
                        <a:buClrTx/>
                        <a:buSzTx/>
                        <a:buFontTx/>
                        <a:buNone/>
                        <a:tabLst/>
                        <a:defRPr/>
                      </a:pPr>
                      <a:r>
                        <a:rPr lang="en-US" sz="1100" dirty="0">
                          <a:latin typeface="Calibri" panose="020F0502020204030204" pitchFamily="34" charset="0"/>
                          <a:ea typeface="Calibri" panose="020F0502020204030204" pitchFamily="34" charset="0"/>
                          <a:cs typeface="Calibri" panose="020F0502020204030204" pitchFamily="34" charset="0"/>
                        </a:rPr>
                        <a:t>Margin Volatility from Input Costs &amp; Tariffs</a:t>
                      </a:r>
                    </a:p>
                    <a:p>
                      <a:pPr marL="0" marR="0" lvl="0" indent="0" algn="ctr" defTabSz="685783" rtl="0" eaLnBrk="1" fontAlgn="b" latinLnBrk="0" hangingPunct="1">
                        <a:lnSpc>
                          <a:spcPct val="100000"/>
                        </a:lnSpc>
                        <a:spcBef>
                          <a:spcPts val="0"/>
                        </a:spcBef>
                        <a:spcAft>
                          <a:spcPts val="0"/>
                        </a:spcAft>
                        <a:buClrTx/>
                        <a:buSzTx/>
                        <a:buFontTx/>
                        <a:buNone/>
                        <a:tabLst/>
                        <a:defRPr/>
                      </a:pPr>
                      <a:endParaRPr lang="en-US" sz="400" dirty="0">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2375057293"/>
                  </a:ext>
                </a:extLst>
              </a:tr>
              <a:tr h="324991">
                <a:tc>
                  <a:txBody>
                    <a:bodyPr/>
                    <a:lstStyle/>
                    <a:p>
                      <a:pPr algn="ctr" fontAlgn="b">
                        <a:lnSpc>
                          <a:spcPct val="100000"/>
                        </a:lnSpc>
                      </a:pPr>
                      <a:r>
                        <a:rPr lang="en-US" sz="11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Diversified Product Categories</a:t>
                      </a:r>
                    </a:p>
                    <a:p>
                      <a:pPr algn="ctr" fontAlgn="b">
                        <a:lnSpc>
                          <a:spcPct val="100000"/>
                        </a:lnSpc>
                      </a:pPr>
                      <a:r>
                        <a:rPr lang="en-US" sz="11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Low Long-Term Debt</a:t>
                      </a:r>
                    </a:p>
                    <a:p>
                      <a:pPr algn="ctr" fontAlgn="b">
                        <a:lnSpc>
                          <a:spcPct val="100000"/>
                        </a:lnSpc>
                      </a:pPr>
                      <a:endParaRPr lang="en-US" sz="4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100" kern="1200" dirty="0">
                          <a:solidFill>
                            <a:schemeClr val="tx1"/>
                          </a:solidFill>
                          <a:latin typeface="Calibri" panose="020F0502020204030204" pitchFamily="34" charset="0"/>
                          <a:ea typeface="Calibri" panose="020F0502020204030204" pitchFamily="34" charset="0"/>
                          <a:cs typeface="Calibri" panose="020F0502020204030204" pitchFamily="34" charset="0"/>
                        </a:rPr>
                        <a:t>Limited Analyst Coverage Limits Visibility</a:t>
                      </a:r>
                    </a:p>
                    <a:p>
                      <a:pPr algn="ctr" fontAlgn="b"/>
                      <a:endParaRPr lang="en-US" sz="400" kern="1200" dirty="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678578999"/>
                  </a:ext>
                </a:extLst>
              </a:tr>
              <a:tr h="162496">
                <a:tc>
                  <a:txBody>
                    <a:bodyPr/>
                    <a:lstStyle/>
                    <a:p>
                      <a:pPr algn="ctr" fontAlgn="b"/>
                      <a:r>
                        <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Opportunities</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C755"/>
                    </a:solidFill>
                  </a:tcPr>
                </a:tc>
                <a:tc>
                  <a:txBody>
                    <a:bodyPr/>
                    <a:lstStyle/>
                    <a:p>
                      <a:pPr algn="ctr" fontAlgn="b"/>
                      <a:r>
                        <a:rPr lang="en-US" sz="11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Threats</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C755"/>
                    </a:solidFill>
                  </a:tcPr>
                </a:tc>
                <a:extLst>
                  <a:ext uri="{0D108BD9-81ED-4DB2-BD59-A6C34878D82A}">
                    <a16:rowId xmlns:a16="http://schemas.microsoft.com/office/drawing/2014/main" val="2202115966"/>
                  </a:ext>
                </a:extLst>
              </a:tr>
              <a:tr h="233921">
                <a:tc>
                  <a:txBody>
                    <a:bodyPr/>
                    <a:lstStyle/>
                    <a:p>
                      <a:pPr algn="ctr" fontAlgn="b"/>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Return to Normal Consumer Demand</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solidFill>
                      <a:srgbClr val="FFFFFF"/>
                    </a:solidFill>
                  </a:tcPr>
                </a:tc>
                <a:tc>
                  <a:txBody>
                    <a:bodyPr/>
                    <a:lstStyle/>
                    <a:p>
                      <a:pPr algn="ctr" fontAlgn="b"/>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Economic Slowdown</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574229600"/>
                  </a:ext>
                </a:extLst>
              </a:tr>
              <a:tr h="162496">
                <a:tc>
                  <a:txBody>
                    <a:bodyPr/>
                    <a:lstStyle/>
                    <a:p>
                      <a:pPr algn="ctr" fontAlgn="b"/>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International Expansion Potential</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solidFill>
                      <a:srgbClr val="FFFFFF"/>
                    </a:solidFill>
                  </a:tcPr>
                </a:tc>
                <a:tc>
                  <a:txBody>
                    <a:bodyPr/>
                    <a:lstStyle/>
                    <a:p>
                      <a:pPr algn="ctr" fontAlgn="b"/>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Competitor Innovation</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a:noFill/>
                    </a:lnB>
                    <a:solidFill>
                      <a:srgbClr val="FFFFFF"/>
                    </a:solidFill>
                  </a:tcPr>
                </a:tc>
                <a:extLst>
                  <a:ext uri="{0D108BD9-81ED-4DB2-BD59-A6C34878D82A}">
                    <a16:rowId xmlns:a16="http://schemas.microsoft.com/office/drawing/2014/main" val="2278265533"/>
                  </a:ext>
                </a:extLst>
              </a:tr>
              <a:tr h="162496">
                <a:tc>
                  <a:txBody>
                    <a:bodyPr/>
                    <a:lstStyle/>
                    <a:p>
                      <a:pPr algn="ctr" fontAlgn="b"/>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Dealer Inventory Normalization </a:t>
                      </a:r>
                    </a:p>
                  </a:txBody>
                  <a:tcPr marL="0" marR="0" marT="0"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Tariff &amp; Import Cost Exposure</a:t>
                      </a:r>
                    </a:p>
                  </a:txBody>
                  <a:tcPr marL="0" marR="0" marT="0" marB="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91723203"/>
                  </a:ext>
                </a:extLst>
              </a:tr>
            </a:tbl>
          </a:graphicData>
        </a:graphic>
      </p:graphicFrame>
      <p:sp>
        <p:nvSpPr>
          <p:cNvPr id="20" name="TextBox 19">
            <a:extLst>
              <a:ext uri="{FF2B5EF4-FFF2-40B4-BE49-F238E27FC236}">
                <a16:creationId xmlns:a16="http://schemas.microsoft.com/office/drawing/2014/main" id="{3C802AE6-76A5-94AF-D44E-0EF88219621E}"/>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20</a:t>
            </a:fld>
            <a:endParaRPr lang="en-US" sz="1400">
              <a:latin typeface="Calibri" panose="020F0502020204030204" pitchFamily="34" charset="0"/>
              <a:cs typeface="Calibri" panose="020F0502020204030204" pitchFamily="34" charset="0"/>
            </a:endParaRPr>
          </a:p>
        </p:txBody>
      </p:sp>
      <p:grpSp>
        <p:nvGrpSpPr>
          <p:cNvPr id="49" name="Group 48">
            <a:extLst>
              <a:ext uri="{FF2B5EF4-FFF2-40B4-BE49-F238E27FC236}">
                <a16:creationId xmlns:a16="http://schemas.microsoft.com/office/drawing/2014/main" id="{63B37BBC-3BEA-0587-527C-37CEF2BCDA1F}"/>
              </a:ext>
            </a:extLst>
          </p:cNvPr>
          <p:cNvGrpSpPr/>
          <p:nvPr/>
        </p:nvGrpSpPr>
        <p:grpSpPr>
          <a:xfrm>
            <a:off x="5241217" y="1354296"/>
            <a:ext cx="2374468" cy="1833011"/>
            <a:chOff x="-2618636" y="1968597"/>
            <a:chExt cx="2374468" cy="1833011"/>
          </a:xfrm>
        </p:grpSpPr>
        <p:grpSp>
          <p:nvGrpSpPr>
            <p:cNvPr id="48" name="Group 47">
              <a:extLst>
                <a:ext uri="{FF2B5EF4-FFF2-40B4-BE49-F238E27FC236}">
                  <a16:creationId xmlns:a16="http://schemas.microsoft.com/office/drawing/2014/main" id="{A204B5C4-7141-F15B-32D5-8025BF84A974}"/>
                </a:ext>
              </a:extLst>
            </p:cNvPr>
            <p:cNvGrpSpPr/>
            <p:nvPr/>
          </p:nvGrpSpPr>
          <p:grpSpPr>
            <a:xfrm>
              <a:off x="-2618636" y="1968597"/>
              <a:ext cx="2374468" cy="1833011"/>
              <a:chOff x="-2481644" y="2134610"/>
              <a:chExt cx="2374468" cy="1833011"/>
            </a:xfrm>
          </p:grpSpPr>
          <p:sp>
            <p:nvSpPr>
              <p:cNvPr id="30" name="Rectangle 29">
                <a:extLst>
                  <a:ext uri="{FF2B5EF4-FFF2-40B4-BE49-F238E27FC236}">
                    <a16:creationId xmlns:a16="http://schemas.microsoft.com/office/drawing/2014/main" id="{2C4DBFBE-918C-07CB-59CD-BA9060EB43A1}"/>
                  </a:ext>
                </a:extLst>
              </p:cNvPr>
              <p:cNvSpPr/>
              <p:nvPr/>
            </p:nvSpPr>
            <p:spPr>
              <a:xfrm>
                <a:off x="-2264608" y="2134610"/>
                <a:ext cx="2157432" cy="1596652"/>
              </a:xfrm>
              <a:prstGeom prst="rect">
                <a:avLst/>
              </a:prstGeom>
              <a:gradFill flip="none" rotWithShape="1">
                <a:gsLst>
                  <a:gs pos="50000">
                    <a:srgbClr val="FFFF00">
                      <a:lumMod val="100000"/>
                    </a:srgbClr>
                  </a:gs>
                  <a:gs pos="0">
                    <a:srgbClr val="3BB00F"/>
                  </a:gs>
                  <a:gs pos="100000">
                    <a:srgbClr val="FF0000"/>
                  </a:gs>
                </a:gsLst>
                <a:lin ang="18600000" scaled="0"/>
                <a:tileRect/>
              </a:gra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B0460703-74C1-6148-C566-32AF752D8E96}"/>
                  </a:ext>
                </a:extLst>
              </p:cNvPr>
              <p:cNvGrpSpPr/>
              <p:nvPr/>
            </p:nvGrpSpPr>
            <p:grpSpPr>
              <a:xfrm>
                <a:off x="-2481644" y="2200839"/>
                <a:ext cx="2180424" cy="1766782"/>
                <a:chOff x="-101825" y="223997"/>
                <a:chExt cx="4463560" cy="3284015"/>
              </a:xfrm>
            </p:grpSpPr>
            <p:grpSp>
              <p:nvGrpSpPr>
                <p:cNvPr id="33" name="Group 32">
                  <a:extLst>
                    <a:ext uri="{FF2B5EF4-FFF2-40B4-BE49-F238E27FC236}">
                      <a16:creationId xmlns:a16="http://schemas.microsoft.com/office/drawing/2014/main" id="{9B61D99A-9180-C9B0-3F99-23360A76E2C9}"/>
                    </a:ext>
                  </a:extLst>
                </p:cNvPr>
                <p:cNvGrpSpPr/>
                <p:nvPr/>
              </p:nvGrpSpPr>
              <p:grpSpPr>
                <a:xfrm>
                  <a:off x="-101825" y="223997"/>
                  <a:ext cx="4463560" cy="3284015"/>
                  <a:chOff x="-101825" y="223997"/>
                  <a:chExt cx="4463560" cy="3284015"/>
                </a:xfrm>
              </p:grpSpPr>
              <p:sp>
                <p:nvSpPr>
                  <p:cNvPr id="38" name="TextBox 13">
                    <a:extLst>
                      <a:ext uri="{FF2B5EF4-FFF2-40B4-BE49-F238E27FC236}">
                        <a16:creationId xmlns:a16="http://schemas.microsoft.com/office/drawing/2014/main" id="{C2B53E3E-000D-EBC0-5B55-69A6FA16E1DE}"/>
                      </a:ext>
                    </a:extLst>
                  </p:cNvPr>
                  <p:cNvSpPr txBox="1"/>
                  <p:nvPr/>
                </p:nvSpPr>
                <p:spPr>
                  <a:xfrm>
                    <a:off x="1375220" y="3036044"/>
                    <a:ext cx="2986515" cy="471968"/>
                  </a:xfrm>
                  <a:prstGeom prst="rect">
                    <a:avLst/>
                  </a:prstGeom>
                  <a:noFill/>
                </p:spPr>
                <p:txBody>
                  <a:bodyPr wrap="square" rtlCol="0">
                    <a:spAutoFit/>
                  </a:bodyPr>
                  <a:lstStyle>
                    <a:defPPr>
                      <a:defRPr lang="en-US"/>
                    </a:defPPr>
                    <a:lvl1pPr marL="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1pPr>
                    <a:lvl2pPr marL="4572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2pPr>
                    <a:lvl3pPr marL="9144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3pPr>
                    <a:lvl4pPr marL="13716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4pPr>
                    <a:lvl5pPr marL="18288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5pPr>
                    <a:lvl6pPr marL="2286000" indent="0" algn="l" defTabSz="914400" rtl="0" eaLnBrk="1" latinLnBrk="0" hangingPunct="1">
                      <a:defRPr sz="1100" kern="1200">
                        <a:solidFill>
                          <a:schemeClr val="tx1"/>
                        </a:solidFill>
                        <a:latin typeface="Arial" panose="020B0604020202020204" pitchFamily="34" charset="0"/>
                        <a:ea typeface="+mn-ea"/>
                        <a:cs typeface="+mn-cs"/>
                      </a:defRPr>
                    </a:lvl6pPr>
                    <a:lvl7pPr marL="2743200" indent="0" algn="l" defTabSz="914400" rtl="0" eaLnBrk="1" latinLnBrk="0" hangingPunct="1">
                      <a:defRPr sz="1100" kern="1200">
                        <a:solidFill>
                          <a:schemeClr val="tx1"/>
                        </a:solidFill>
                        <a:latin typeface="Arial" panose="020B0604020202020204" pitchFamily="34" charset="0"/>
                        <a:ea typeface="+mn-ea"/>
                        <a:cs typeface="+mn-cs"/>
                      </a:defRPr>
                    </a:lvl7pPr>
                    <a:lvl8pPr marL="3200400" indent="0" algn="l" defTabSz="914400" rtl="0" eaLnBrk="1" latinLnBrk="0" hangingPunct="1">
                      <a:defRPr sz="1100" kern="1200">
                        <a:solidFill>
                          <a:schemeClr val="tx1"/>
                        </a:solidFill>
                        <a:latin typeface="Arial" panose="020B0604020202020204" pitchFamily="34" charset="0"/>
                        <a:ea typeface="+mn-ea"/>
                        <a:cs typeface="+mn-cs"/>
                      </a:defRPr>
                    </a:lvl8pPr>
                    <a:lvl9pPr marL="3657600" indent="0" algn="l" defTabSz="914400" rtl="0" eaLnBrk="1" latinLnBrk="0" hangingPunct="1">
                      <a:defRPr sz="1100" kern="1200">
                        <a:solidFill>
                          <a:schemeClr val="tx1"/>
                        </a:solidFill>
                        <a:latin typeface="Arial" panose="020B0604020202020204" pitchFamily="34" charset="0"/>
                        <a:ea typeface="+mn-ea"/>
                        <a:cs typeface="+mn-cs"/>
                      </a:defRPr>
                    </a:lvl9pPr>
                  </a:lstStyle>
                  <a:p>
                    <a:r>
                      <a:rPr lang="en-US" sz="1050">
                        <a:latin typeface="Calibri" panose="020F0502020204030204" pitchFamily="34" charset="0"/>
                        <a:cs typeface="Calibri" panose="020F0502020204030204" pitchFamily="34" charset="0"/>
                      </a:rPr>
                      <a:t>Effect on Business</a:t>
                    </a:r>
                  </a:p>
                </p:txBody>
              </p:sp>
              <p:sp>
                <p:nvSpPr>
                  <p:cNvPr id="39" name="TextBox 14">
                    <a:extLst>
                      <a:ext uri="{FF2B5EF4-FFF2-40B4-BE49-F238E27FC236}">
                        <a16:creationId xmlns:a16="http://schemas.microsoft.com/office/drawing/2014/main" id="{1C25FC82-32B4-902E-1686-153F263E03C4}"/>
                      </a:ext>
                    </a:extLst>
                  </p:cNvPr>
                  <p:cNvSpPr txBox="1"/>
                  <p:nvPr/>
                </p:nvSpPr>
                <p:spPr>
                  <a:xfrm rot="16200000">
                    <a:off x="-801658" y="923830"/>
                    <a:ext cx="1919459" cy="519793"/>
                  </a:xfrm>
                  <a:prstGeom prst="rect">
                    <a:avLst/>
                  </a:prstGeom>
                  <a:noFill/>
                </p:spPr>
                <p:txBody>
                  <a:bodyPr wrap="square" rtlCol="0">
                    <a:spAutoFit/>
                  </a:bodyPr>
                  <a:lstStyle>
                    <a:defPPr>
                      <a:defRPr lang="en-US"/>
                    </a:defPPr>
                    <a:lvl1pPr marL="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1pPr>
                    <a:lvl2pPr marL="4572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2pPr>
                    <a:lvl3pPr marL="9144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3pPr>
                    <a:lvl4pPr marL="13716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4pPr>
                    <a:lvl5pPr marL="18288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5pPr>
                    <a:lvl6pPr marL="2286000" indent="0" algn="l" defTabSz="914400" rtl="0" eaLnBrk="1" latinLnBrk="0" hangingPunct="1">
                      <a:defRPr sz="1100" kern="1200">
                        <a:solidFill>
                          <a:schemeClr val="tx1"/>
                        </a:solidFill>
                        <a:latin typeface="Arial" panose="020B0604020202020204" pitchFamily="34" charset="0"/>
                        <a:ea typeface="+mn-ea"/>
                        <a:cs typeface="+mn-cs"/>
                      </a:defRPr>
                    </a:lvl6pPr>
                    <a:lvl7pPr marL="2743200" indent="0" algn="l" defTabSz="914400" rtl="0" eaLnBrk="1" latinLnBrk="0" hangingPunct="1">
                      <a:defRPr sz="1100" kern="1200">
                        <a:solidFill>
                          <a:schemeClr val="tx1"/>
                        </a:solidFill>
                        <a:latin typeface="Arial" panose="020B0604020202020204" pitchFamily="34" charset="0"/>
                        <a:ea typeface="+mn-ea"/>
                        <a:cs typeface="+mn-cs"/>
                      </a:defRPr>
                    </a:lvl7pPr>
                    <a:lvl8pPr marL="3200400" indent="0" algn="l" defTabSz="914400" rtl="0" eaLnBrk="1" latinLnBrk="0" hangingPunct="1">
                      <a:defRPr sz="1100" kern="1200">
                        <a:solidFill>
                          <a:schemeClr val="tx1"/>
                        </a:solidFill>
                        <a:latin typeface="Arial" panose="020B0604020202020204" pitchFamily="34" charset="0"/>
                        <a:ea typeface="+mn-ea"/>
                        <a:cs typeface="+mn-cs"/>
                      </a:defRPr>
                    </a:lvl8pPr>
                    <a:lvl9pPr marL="3657600" indent="0" algn="l" defTabSz="914400" rtl="0" eaLnBrk="1" latinLnBrk="0" hangingPunct="1">
                      <a:defRPr sz="1100" kern="1200">
                        <a:solidFill>
                          <a:schemeClr val="tx1"/>
                        </a:solidFill>
                        <a:latin typeface="Arial" panose="020B0604020202020204" pitchFamily="34" charset="0"/>
                        <a:ea typeface="+mn-ea"/>
                        <a:cs typeface="+mn-cs"/>
                      </a:defRPr>
                    </a:lvl9pPr>
                  </a:lstStyle>
                  <a:p>
                    <a:r>
                      <a:rPr lang="en-US" sz="1050">
                        <a:latin typeface="Calibri" panose="020F0502020204030204" pitchFamily="34" charset="0"/>
                        <a:cs typeface="Calibri" panose="020F0502020204030204" pitchFamily="34" charset="0"/>
                      </a:rPr>
                      <a:t>Probability</a:t>
                    </a:r>
                  </a:p>
                </p:txBody>
              </p:sp>
            </p:grpSp>
            <p:sp>
              <p:nvSpPr>
                <p:cNvPr id="34" name="Oval 33">
                  <a:extLst>
                    <a:ext uri="{FF2B5EF4-FFF2-40B4-BE49-F238E27FC236}">
                      <a16:creationId xmlns:a16="http://schemas.microsoft.com/office/drawing/2014/main" id="{A063EB1B-5E81-BA63-1A5C-451DE17C0856}"/>
                    </a:ext>
                  </a:extLst>
                </p:cNvPr>
                <p:cNvSpPr/>
                <p:nvPr/>
              </p:nvSpPr>
              <p:spPr>
                <a:xfrm>
                  <a:off x="3846323" y="1795574"/>
                  <a:ext cx="299500" cy="27432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a:solidFill>
                        <a:schemeClr val="bg1"/>
                      </a:solidFill>
                      <a:latin typeface="Calibri" panose="020F0502020204030204" pitchFamily="34" charset="0"/>
                      <a:cs typeface="Calibri" panose="020F0502020204030204" pitchFamily="34" charset="0"/>
                    </a:rPr>
                    <a:t>1</a:t>
                  </a:r>
                </a:p>
              </p:txBody>
            </p:sp>
            <p:sp>
              <p:nvSpPr>
                <p:cNvPr id="35" name="Oval 34">
                  <a:extLst>
                    <a:ext uri="{FF2B5EF4-FFF2-40B4-BE49-F238E27FC236}">
                      <a16:creationId xmlns:a16="http://schemas.microsoft.com/office/drawing/2014/main" id="{12E0AF78-C993-81B5-FCE2-E5D5C0BB81F4}"/>
                    </a:ext>
                  </a:extLst>
                </p:cNvPr>
                <p:cNvSpPr/>
                <p:nvPr/>
              </p:nvSpPr>
              <p:spPr>
                <a:xfrm>
                  <a:off x="2174813" y="1703330"/>
                  <a:ext cx="299500" cy="27432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a:solidFill>
                        <a:schemeClr val="bg1"/>
                      </a:solidFill>
                      <a:latin typeface="Calibri" panose="020F0502020204030204" pitchFamily="34" charset="0"/>
                      <a:cs typeface="Calibri" panose="020F0502020204030204" pitchFamily="34" charset="0"/>
                    </a:rPr>
                    <a:t>2</a:t>
                  </a:r>
                </a:p>
              </p:txBody>
            </p:sp>
            <p:sp>
              <p:nvSpPr>
                <p:cNvPr id="36" name="Oval 35">
                  <a:extLst>
                    <a:ext uri="{FF2B5EF4-FFF2-40B4-BE49-F238E27FC236}">
                      <a16:creationId xmlns:a16="http://schemas.microsoft.com/office/drawing/2014/main" id="{6E22892C-97C4-9690-37B8-06B845440E36}"/>
                    </a:ext>
                  </a:extLst>
                </p:cNvPr>
                <p:cNvSpPr/>
                <p:nvPr/>
              </p:nvSpPr>
              <p:spPr>
                <a:xfrm>
                  <a:off x="3119887" y="2141489"/>
                  <a:ext cx="299500" cy="27432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a:solidFill>
                        <a:schemeClr val="bg1"/>
                      </a:solidFill>
                      <a:latin typeface="Calibri" panose="020F0502020204030204" pitchFamily="34" charset="0"/>
                      <a:cs typeface="Calibri" panose="020F0502020204030204" pitchFamily="34" charset="0"/>
                    </a:rPr>
                    <a:t>3</a:t>
                  </a:r>
                </a:p>
              </p:txBody>
            </p:sp>
            <p:sp>
              <p:nvSpPr>
                <p:cNvPr id="37" name="Oval 36">
                  <a:extLst>
                    <a:ext uri="{FF2B5EF4-FFF2-40B4-BE49-F238E27FC236}">
                      <a16:creationId xmlns:a16="http://schemas.microsoft.com/office/drawing/2014/main" id="{A50E3F7E-8E5D-3E62-1444-8B1A54861813}"/>
                    </a:ext>
                  </a:extLst>
                </p:cNvPr>
                <p:cNvSpPr/>
                <p:nvPr/>
              </p:nvSpPr>
              <p:spPr>
                <a:xfrm>
                  <a:off x="3317138" y="1446017"/>
                  <a:ext cx="299500" cy="27432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a:solidFill>
                        <a:schemeClr val="bg1"/>
                      </a:solidFill>
                      <a:latin typeface="Calibri" panose="020F0502020204030204" pitchFamily="34" charset="0"/>
                      <a:cs typeface="Calibri" panose="020F0502020204030204" pitchFamily="34" charset="0"/>
                    </a:rPr>
                    <a:t>4</a:t>
                  </a:r>
                </a:p>
              </p:txBody>
            </p:sp>
          </p:grpSp>
        </p:grpSp>
        <p:sp>
          <p:nvSpPr>
            <p:cNvPr id="47" name="Oval 46">
              <a:extLst>
                <a:ext uri="{FF2B5EF4-FFF2-40B4-BE49-F238E27FC236}">
                  <a16:creationId xmlns:a16="http://schemas.microsoft.com/office/drawing/2014/main" id="{5AC9AEF3-156F-8ABA-5AE8-7C9BBE5376C3}"/>
                </a:ext>
              </a:extLst>
            </p:cNvPr>
            <p:cNvSpPr/>
            <p:nvPr/>
          </p:nvSpPr>
          <p:spPr>
            <a:xfrm>
              <a:off x="-1454591" y="2430510"/>
              <a:ext cx="146304" cy="14758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a:solidFill>
                    <a:schemeClr val="bg1"/>
                  </a:solidFill>
                  <a:latin typeface="Calibri" panose="020F0502020204030204" pitchFamily="34" charset="0"/>
                  <a:cs typeface="Calibri" panose="020F0502020204030204" pitchFamily="34" charset="0"/>
                </a:rPr>
                <a:t>5</a:t>
              </a:r>
            </a:p>
          </p:txBody>
        </p:sp>
      </p:grpSp>
      <p:grpSp>
        <p:nvGrpSpPr>
          <p:cNvPr id="51" name="Group 50">
            <a:extLst>
              <a:ext uri="{FF2B5EF4-FFF2-40B4-BE49-F238E27FC236}">
                <a16:creationId xmlns:a16="http://schemas.microsoft.com/office/drawing/2014/main" id="{FDFD8321-F5A8-9BC8-8641-7F329CFB5780}"/>
              </a:ext>
            </a:extLst>
          </p:cNvPr>
          <p:cNvGrpSpPr/>
          <p:nvPr/>
        </p:nvGrpSpPr>
        <p:grpSpPr>
          <a:xfrm>
            <a:off x="4073707" y="823529"/>
            <a:ext cx="4705574" cy="2742424"/>
            <a:chOff x="-2555941" y="1968597"/>
            <a:chExt cx="2311773" cy="1739618"/>
          </a:xfrm>
        </p:grpSpPr>
        <p:grpSp>
          <p:nvGrpSpPr>
            <p:cNvPr id="52" name="Group 51">
              <a:extLst>
                <a:ext uri="{FF2B5EF4-FFF2-40B4-BE49-F238E27FC236}">
                  <a16:creationId xmlns:a16="http://schemas.microsoft.com/office/drawing/2014/main" id="{B6DAA1F4-4247-2B20-F7BD-3192B1B9C4C1}"/>
                </a:ext>
              </a:extLst>
            </p:cNvPr>
            <p:cNvGrpSpPr/>
            <p:nvPr/>
          </p:nvGrpSpPr>
          <p:grpSpPr>
            <a:xfrm>
              <a:off x="-2555941" y="1968597"/>
              <a:ext cx="2311773" cy="1739618"/>
              <a:chOff x="-2418949" y="2134610"/>
              <a:chExt cx="2311773" cy="1739618"/>
            </a:xfrm>
          </p:grpSpPr>
          <p:sp>
            <p:nvSpPr>
              <p:cNvPr id="54" name="Rectangle 53">
                <a:extLst>
                  <a:ext uri="{FF2B5EF4-FFF2-40B4-BE49-F238E27FC236}">
                    <a16:creationId xmlns:a16="http://schemas.microsoft.com/office/drawing/2014/main" id="{E46E414B-D97E-5DA3-D5AB-E1F4919ADA3C}"/>
                  </a:ext>
                </a:extLst>
              </p:cNvPr>
              <p:cNvSpPr/>
              <p:nvPr/>
            </p:nvSpPr>
            <p:spPr>
              <a:xfrm>
                <a:off x="-2264608" y="2134610"/>
                <a:ext cx="2157432" cy="1596652"/>
              </a:xfrm>
              <a:prstGeom prst="rect">
                <a:avLst/>
              </a:prstGeom>
              <a:gradFill flip="none" rotWithShape="1">
                <a:gsLst>
                  <a:gs pos="50000">
                    <a:srgbClr val="FFFF00">
                      <a:lumMod val="100000"/>
                    </a:srgbClr>
                  </a:gs>
                  <a:gs pos="0">
                    <a:srgbClr val="3BB00F"/>
                  </a:gs>
                  <a:gs pos="100000">
                    <a:srgbClr val="FF0000"/>
                  </a:gs>
                </a:gsLst>
                <a:lin ang="18600000" scaled="0"/>
                <a:tileRect/>
              </a:gradFill>
              <a:ln w="317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C663D106-B9AF-FD21-ED1C-6878DCCD7FA2}"/>
                  </a:ext>
                </a:extLst>
              </p:cNvPr>
              <p:cNvGrpSpPr/>
              <p:nvPr/>
            </p:nvGrpSpPr>
            <p:grpSpPr>
              <a:xfrm>
                <a:off x="-2418949" y="2200838"/>
                <a:ext cx="2186641" cy="1673390"/>
                <a:chOff x="26520" y="223996"/>
                <a:chExt cx="4476284" cy="3110422"/>
              </a:xfrm>
            </p:grpSpPr>
            <p:grpSp>
              <p:nvGrpSpPr>
                <p:cNvPr id="60" name="Group 59">
                  <a:extLst>
                    <a:ext uri="{FF2B5EF4-FFF2-40B4-BE49-F238E27FC236}">
                      <a16:creationId xmlns:a16="http://schemas.microsoft.com/office/drawing/2014/main" id="{A192AD8C-FAEB-3739-889D-047F4F19EAB4}"/>
                    </a:ext>
                  </a:extLst>
                </p:cNvPr>
                <p:cNvGrpSpPr/>
                <p:nvPr/>
              </p:nvGrpSpPr>
              <p:grpSpPr>
                <a:xfrm>
                  <a:off x="26520" y="223996"/>
                  <a:ext cx="4335215" cy="3110422"/>
                  <a:chOff x="26520" y="223996"/>
                  <a:chExt cx="4335215" cy="3110422"/>
                </a:xfrm>
              </p:grpSpPr>
              <p:sp>
                <p:nvSpPr>
                  <p:cNvPr id="183299" name="TextBox 13">
                    <a:extLst>
                      <a:ext uri="{FF2B5EF4-FFF2-40B4-BE49-F238E27FC236}">
                        <a16:creationId xmlns:a16="http://schemas.microsoft.com/office/drawing/2014/main" id="{D56E65E1-7FD9-F81D-08B5-30FD8A3607D4}"/>
                      </a:ext>
                    </a:extLst>
                  </p:cNvPr>
                  <p:cNvSpPr txBox="1"/>
                  <p:nvPr/>
                </p:nvSpPr>
                <p:spPr>
                  <a:xfrm>
                    <a:off x="1375220" y="3036044"/>
                    <a:ext cx="2986515" cy="298374"/>
                  </a:xfrm>
                  <a:prstGeom prst="rect">
                    <a:avLst/>
                  </a:prstGeom>
                  <a:noFill/>
                </p:spPr>
                <p:txBody>
                  <a:bodyPr wrap="square" rtlCol="0">
                    <a:spAutoFit/>
                  </a:bodyPr>
                  <a:lstStyle>
                    <a:defPPr>
                      <a:defRPr lang="en-US"/>
                    </a:defPPr>
                    <a:lvl1pPr marL="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1pPr>
                    <a:lvl2pPr marL="4572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2pPr>
                    <a:lvl3pPr marL="9144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3pPr>
                    <a:lvl4pPr marL="13716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4pPr>
                    <a:lvl5pPr marL="18288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5pPr>
                    <a:lvl6pPr marL="2286000" indent="0" algn="l" defTabSz="914400" rtl="0" eaLnBrk="1" latinLnBrk="0" hangingPunct="1">
                      <a:defRPr sz="1100" kern="1200">
                        <a:solidFill>
                          <a:schemeClr val="tx1"/>
                        </a:solidFill>
                        <a:latin typeface="Arial" panose="020B0604020202020204" pitchFamily="34" charset="0"/>
                        <a:ea typeface="+mn-ea"/>
                        <a:cs typeface="+mn-cs"/>
                      </a:defRPr>
                    </a:lvl6pPr>
                    <a:lvl7pPr marL="2743200" indent="0" algn="l" defTabSz="914400" rtl="0" eaLnBrk="1" latinLnBrk="0" hangingPunct="1">
                      <a:defRPr sz="1100" kern="1200">
                        <a:solidFill>
                          <a:schemeClr val="tx1"/>
                        </a:solidFill>
                        <a:latin typeface="Arial" panose="020B0604020202020204" pitchFamily="34" charset="0"/>
                        <a:ea typeface="+mn-ea"/>
                        <a:cs typeface="+mn-cs"/>
                      </a:defRPr>
                    </a:lvl7pPr>
                    <a:lvl8pPr marL="3200400" indent="0" algn="l" defTabSz="914400" rtl="0" eaLnBrk="1" latinLnBrk="0" hangingPunct="1">
                      <a:defRPr sz="1100" kern="1200">
                        <a:solidFill>
                          <a:schemeClr val="tx1"/>
                        </a:solidFill>
                        <a:latin typeface="Arial" panose="020B0604020202020204" pitchFamily="34" charset="0"/>
                        <a:ea typeface="+mn-ea"/>
                        <a:cs typeface="+mn-cs"/>
                      </a:defRPr>
                    </a:lvl8pPr>
                    <a:lvl9pPr marL="3657600" indent="0" algn="l" defTabSz="914400" rtl="0" eaLnBrk="1" latinLnBrk="0" hangingPunct="1">
                      <a:defRPr sz="1100" kern="1200">
                        <a:solidFill>
                          <a:schemeClr val="tx1"/>
                        </a:solidFill>
                        <a:latin typeface="Arial" panose="020B0604020202020204" pitchFamily="34" charset="0"/>
                        <a:ea typeface="+mn-ea"/>
                        <a:cs typeface="+mn-cs"/>
                      </a:defRPr>
                    </a:lvl9pPr>
                  </a:lstStyle>
                  <a:p>
                    <a:r>
                      <a:rPr lang="en-US" dirty="0">
                        <a:latin typeface="Calibri" panose="020F0502020204030204" pitchFamily="34" charset="0"/>
                        <a:cs typeface="Calibri" panose="020F0502020204030204" pitchFamily="34" charset="0"/>
                      </a:rPr>
                      <a:t>Effect on Business</a:t>
                    </a:r>
                  </a:p>
                </p:txBody>
              </p:sp>
              <p:sp>
                <p:nvSpPr>
                  <p:cNvPr id="183300" name="TextBox 14">
                    <a:extLst>
                      <a:ext uri="{FF2B5EF4-FFF2-40B4-BE49-F238E27FC236}">
                        <a16:creationId xmlns:a16="http://schemas.microsoft.com/office/drawing/2014/main" id="{DD498582-FE87-A721-221C-978C32A38A7F}"/>
                      </a:ext>
                    </a:extLst>
                  </p:cNvPr>
                  <p:cNvSpPr txBox="1"/>
                  <p:nvPr/>
                </p:nvSpPr>
                <p:spPr>
                  <a:xfrm rot="16200000">
                    <a:off x="-801658" y="1052174"/>
                    <a:ext cx="1919459" cy="263104"/>
                  </a:xfrm>
                  <a:prstGeom prst="rect">
                    <a:avLst/>
                  </a:prstGeom>
                  <a:noFill/>
                </p:spPr>
                <p:txBody>
                  <a:bodyPr wrap="square" rtlCol="0">
                    <a:spAutoFit/>
                  </a:bodyPr>
                  <a:lstStyle>
                    <a:defPPr>
                      <a:defRPr lang="en-US"/>
                    </a:defPPr>
                    <a:lvl1pPr marL="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1pPr>
                    <a:lvl2pPr marL="4572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2pPr>
                    <a:lvl3pPr marL="9144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3pPr>
                    <a:lvl4pPr marL="13716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4pPr>
                    <a:lvl5pPr marL="1828800" indent="0" algn="l" rtl="0" eaLnBrk="0" fontAlgn="base" hangingPunct="0">
                      <a:spcBef>
                        <a:spcPct val="0"/>
                      </a:spcBef>
                      <a:spcAft>
                        <a:spcPct val="0"/>
                      </a:spcAft>
                      <a:defRPr sz="1100" kern="1200">
                        <a:solidFill>
                          <a:schemeClr val="tx1"/>
                        </a:solidFill>
                        <a:latin typeface="Arial" panose="020B0604020202020204" pitchFamily="34" charset="0"/>
                        <a:ea typeface="+mn-ea"/>
                        <a:cs typeface="+mn-cs"/>
                      </a:defRPr>
                    </a:lvl5pPr>
                    <a:lvl6pPr marL="2286000" indent="0" algn="l" defTabSz="914400" rtl="0" eaLnBrk="1" latinLnBrk="0" hangingPunct="1">
                      <a:defRPr sz="1100" kern="1200">
                        <a:solidFill>
                          <a:schemeClr val="tx1"/>
                        </a:solidFill>
                        <a:latin typeface="Arial" panose="020B0604020202020204" pitchFamily="34" charset="0"/>
                        <a:ea typeface="+mn-ea"/>
                        <a:cs typeface="+mn-cs"/>
                      </a:defRPr>
                    </a:lvl6pPr>
                    <a:lvl7pPr marL="2743200" indent="0" algn="l" defTabSz="914400" rtl="0" eaLnBrk="1" latinLnBrk="0" hangingPunct="1">
                      <a:defRPr sz="1100" kern="1200">
                        <a:solidFill>
                          <a:schemeClr val="tx1"/>
                        </a:solidFill>
                        <a:latin typeface="Arial" panose="020B0604020202020204" pitchFamily="34" charset="0"/>
                        <a:ea typeface="+mn-ea"/>
                        <a:cs typeface="+mn-cs"/>
                      </a:defRPr>
                    </a:lvl7pPr>
                    <a:lvl8pPr marL="3200400" indent="0" algn="l" defTabSz="914400" rtl="0" eaLnBrk="1" latinLnBrk="0" hangingPunct="1">
                      <a:defRPr sz="1100" kern="1200">
                        <a:solidFill>
                          <a:schemeClr val="tx1"/>
                        </a:solidFill>
                        <a:latin typeface="Arial" panose="020B0604020202020204" pitchFamily="34" charset="0"/>
                        <a:ea typeface="+mn-ea"/>
                        <a:cs typeface="+mn-cs"/>
                      </a:defRPr>
                    </a:lvl8pPr>
                    <a:lvl9pPr marL="3657600" indent="0" algn="l" defTabSz="914400" rtl="0" eaLnBrk="1" latinLnBrk="0" hangingPunct="1">
                      <a:defRPr sz="1100" kern="1200">
                        <a:solidFill>
                          <a:schemeClr val="tx1"/>
                        </a:solidFill>
                        <a:latin typeface="Arial" panose="020B0604020202020204" pitchFamily="34" charset="0"/>
                        <a:ea typeface="+mn-ea"/>
                        <a:cs typeface="+mn-cs"/>
                      </a:defRPr>
                    </a:lvl9pPr>
                  </a:lstStyle>
                  <a:p>
                    <a:r>
                      <a:rPr lang="en-US" dirty="0">
                        <a:latin typeface="Calibri" panose="020F0502020204030204" pitchFamily="34" charset="0"/>
                        <a:cs typeface="Calibri" panose="020F0502020204030204" pitchFamily="34" charset="0"/>
                      </a:rPr>
                      <a:t>Probability</a:t>
                    </a:r>
                  </a:p>
                </p:txBody>
              </p:sp>
            </p:grpSp>
            <p:sp>
              <p:nvSpPr>
                <p:cNvPr id="61" name="Oval 60">
                  <a:extLst>
                    <a:ext uri="{FF2B5EF4-FFF2-40B4-BE49-F238E27FC236}">
                      <a16:creationId xmlns:a16="http://schemas.microsoft.com/office/drawing/2014/main" id="{300EEEAC-C2B6-E962-6073-C3BFA93D2F39}"/>
                    </a:ext>
                  </a:extLst>
                </p:cNvPr>
                <p:cNvSpPr/>
                <p:nvPr/>
              </p:nvSpPr>
              <p:spPr>
                <a:xfrm>
                  <a:off x="4203304" y="1446522"/>
                  <a:ext cx="299500" cy="27432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dirty="0">
                      <a:solidFill>
                        <a:schemeClr val="bg1"/>
                      </a:solidFill>
                      <a:latin typeface="Calibri" panose="020F0502020204030204" pitchFamily="34" charset="0"/>
                      <a:cs typeface="Calibri" panose="020F0502020204030204" pitchFamily="34" charset="0"/>
                    </a:rPr>
                    <a:t>1</a:t>
                  </a:r>
                </a:p>
              </p:txBody>
            </p:sp>
            <p:sp>
              <p:nvSpPr>
                <p:cNvPr id="183296" name="Oval 183295">
                  <a:extLst>
                    <a:ext uri="{FF2B5EF4-FFF2-40B4-BE49-F238E27FC236}">
                      <a16:creationId xmlns:a16="http://schemas.microsoft.com/office/drawing/2014/main" id="{9015C844-A719-022C-F31C-D6A11BAC92C3}"/>
                    </a:ext>
                  </a:extLst>
                </p:cNvPr>
                <p:cNvSpPr/>
                <p:nvPr/>
              </p:nvSpPr>
              <p:spPr>
                <a:xfrm>
                  <a:off x="3212232" y="1213814"/>
                  <a:ext cx="299500" cy="27432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dirty="0">
                      <a:solidFill>
                        <a:schemeClr val="bg1"/>
                      </a:solidFill>
                      <a:latin typeface="Calibri" panose="020F0502020204030204" pitchFamily="34" charset="0"/>
                      <a:cs typeface="Calibri" panose="020F0502020204030204" pitchFamily="34" charset="0"/>
                    </a:rPr>
                    <a:t>2</a:t>
                  </a:r>
                </a:p>
              </p:txBody>
            </p:sp>
            <p:sp>
              <p:nvSpPr>
                <p:cNvPr id="183297" name="Oval 183296">
                  <a:extLst>
                    <a:ext uri="{FF2B5EF4-FFF2-40B4-BE49-F238E27FC236}">
                      <a16:creationId xmlns:a16="http://schemas.microsoft.com/office/drawing/2014/main" id="{F49549E2-2ED3-3397-8DB0-CD28D457A71E}"/>
                    </a:ext>
                  </a:extLst>
                </p:cNvPr>
                <p:cNvSpPr/>
                <p:nvPr/>
              </p:nvSpPr>
              <p:spPr>
                <a:xfrm>
                  <a:off x="2472056" y="1447625"/>
                  <a:ext cx="299500" cy="27432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dirty="0">
                      <a:solidFill>
                        <a:schemeClr val="bg1"/>
                      </a:solidFill>
                      <a:latin typeface="Calibri" panose="020F0502020204030204" pitchFamily="34" charset="0"/>
                      <a:cs typeface="Calibri" panose="020F0502020204030204" pitchFamily="34" charset="0"/>
                    </a:rPr>
                    <a:t>3</a:t>
                  </a:r>
                </a:p>
              </p:txBody>
            </p:sp>
            <p:sp>
              <p:nvSpPr>
                <p:cNvPr id="183298" name="Oval 183297">
                  <a:extLst>
                    <a:ext uri="{FF2B5EF4-FFF2-40B4-BE49-F238E27FC236}">
                      <a16:creationId xmlns:a16="http://schemas.microsoft.com/office/drawing/2014/main" id="{1B59CC12-CC03-C5DA-242B-04CA41690896}"/>
                    </a:ext>
                  </a:extLst>
                </p:cNvPr>
                <p:cNvSpPr/>
                <p:nvPr/>
              </p:nvSpPr>
              <p:spPr>
                <a:xfrm>
                  <a:off x="1645290" y="2292402"/>
                  <a:ext cx="299500" cy="274321"/>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dirty="0">
                      <a:solidFill>
                        <a:schemeClr val="bg1"/>
                      </a:solidFill>
                      <a:latin typeface="Calibri" panose="020F0502020204030204" pitchFamily="34" charset="0"/>
                      <a:cs typeface="Calibri" panose="020F0502020204030204" pitchFamily="34" charset="0"/>
                    </a:rPr>
                    <a:t>4</a:t>
                  </a:r>
                </a:p>
              </p:txBody>
            </p:sp>
          </p:grpSp>
        </p:grpSp>
        <p:sp>
          <p:nvSpPr>
            <p:cNvPr id="53" name="Oval 52">
              <a:extLst>
                <a:ext uri="{FF2B5EF4-FFF2-40B4-BE49-F238E27FC236}">
                  <a16:creationId xmlns:a16="http://schemas.microsoft.com/office/drawing/2014/main" id="{62D4D7FD-B986-3278-B8D6-C5693602FEA9}"/>
                </a:ext>
              </a:extLst>
            </p:cNvPr>
            <p:cNvSpPr/>
            <p:nvPr/>
          </p:nvSpPr>
          <p:spPr>
            <a:xfrm>
              <a:off x="-976747" y="2196592"/>
              <a:ext cx="146304" cy="14758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defPPr>
                <a:defRPr lang="en-US"/>
              </a:defPPr>
              <a:lvl1pPr marL="0" indent="0" algn="l" rtl="0" eaLnBrk="0" fontAlgn="base" hangingPunct="0">
                <a:spcBef>
                  <a:spcPct val="0"/>
                </a:spcBef>
                <a:spcAft>
                  <a:spcPct val="0"/>
                </a:spcAft>
                <a:defRPr sz="1100" kern="1200">
                  <a:solidFill>
                    <a:schemeClr val="lt1"/>
                  </a:solidFill>
                  <a:latin typeface="+mn-lt"/>
                  <a:ea typeface="+mn-ea"/>
                  <a:cs typeface="+mn-cs"/>
                </a:defRPr>
              </a:lvl1pPr>
              <a:lvl2pPr marL="457200" indent="0" algn="l" rtl="0" eaLnBrk="0" fontAlgn="base" hangingPunct="0">
                <a:spcBef>
                  <a:spcPct val="0"/>
                </a:spcBef>
                <a:spcAft>
                  <a:spcPct val="0"/>
                </a:spcAft>
                <a:defRPr sz="1100" kern="1200">
                  <a:solidFill>
                    <a:schemeClr val="lt1"/>
                  </a:solidFill>
                  <a:latin typeface="+mn-lt"/>
                  <a:ea typeface="+mn-ea"/>
                  <a:cs typeface="+mn-cs"/>
                </a:defRPr>
              </a:lvl2pPr>
              <a:lvl3pPr marL="914400" indent="0" algn="l" rtl="0" eaLnBrk="0" fontAlgn="base" hangingPunct="0">
                <a:spcBef>
                  <a:spcPct val="0"/>
                </a:spcBef>
                <a:spcAft>
                  <a:spcPct val="0"/>
                </a:spcAft>
                <a:defRPr sz="1100" kern="1200">
                  <a:solidFill>
                    <a:schemeClr val="lt1"/>
                  </a:solidFill>
                  <a:latin typeface="+mn-lt"/>
                  <a:ea typeface="+mn-ea"/>
                  <a:cs typeface="+mn-cs"/>
                </a:defRPr>
              </a:lvl3pPr>
              <a:lvl4pPr marL="1371600" indent="0" algn="l" rtl="0" eaLnBrk="0" fontAlgn="base" hangingPunct="0">
                <a:spcBef>
                  <a:spcPct val="0"/>
                </a:spcBef>
                <a:spcAft>
                  <a:spcPct val="0"/>
                </a:spcAft>
                <a:defRPr sz="1100" kern="1200">
                  <a:solidFill>
                    <a:schemeClr val="lt1"/>
                  </a:solidFill>
                  <a:latin typeface="+mn-lt"/>
                  <a:ea typeface="+mn-ea"/>
                  <a:cs typeface="+mn-cs"/>
                </a:defRPr>
              </a:lvl4pPr>
              <a:lvl5pPr marL="1828800" indent="0" algn="l" rtl="0" eaLnBrk="0" fontAlgn="base" hangingPunct="0">
                <a:spcBef>
                  <a:spcPct val="0"/>
                </a:spcBef>
                <a:spcAft>
                  <a:spcPct val="0"/>
                </a:spcAft>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algn="ctr"/>
              <a:r>
                <a:rPr lang="en-US" dirty="0">
                  <a:solidFill>
                    <a:schemeClr val="bg1"/>
                  </a:solidFill>
                  <a:latin typeface="Calibri" panose="020F0502020204030204" pitchFamily="34" charset="0"/>
                  <a:cs typeface="Calibri" panose="020F0502020204030204" pitchFamily="34" charset="0"/>
                </a:rPr>
                <a:t>5</a:t>
              </a:r>
            </a:p>
          </p:txBody>
        </p:sp>
      </p:grpSp>
      <p:sp>
        <p:nvSpPr>
          <p:cNvPr id="5" name="Text Box 2">
            <a:extLst>
              <a:ext uri="{FF2B5EF4-FFF2-40B4-BE49-F238E27FC236}">
                <a16:creationId xmlns:a16="http://schemas.microsoft.com/office/drawing/2014/main" id="{B91DBE69-1075-26C0-18CA-71ABD68BBEF1}"/>
              </a:ext>
            </a:extLst>
          </p:cNvPr>
          <p:cNvSpPr txBox="1">
            <a:spLocks noChangeArrowheads="1"/>
          </p:cNvSpPr>
          <p:nvPr/>
        </p:nvSpPr>
        <p:spPr bwMode="auto">
          <a:xfrm>
            <a:off x="4322886" y="582214"/>
            <a:ext cx="3868401" cy="196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5000"/>
              </a:lnSpc>
              <a:spcAft>
                <a:spcPts val="751"/>
              </a:spcAft>
            </a:pPr>
            <a:r>
              <a:rPr lang="en-US" altLang="en-US" sz="1100" dirty="0">
                <a:solidFill>
                  <a:srgbClr val="000000"/>
                </a:solidFill>
                <a:latin typeface="Calibri"/>
                <a:ea typeface="Calibri"/>
                <a:cs typeface="Calibri"/>
              </a:rPr>
              <a:t>Figure 29: Risk Assessment Matrix </a:t>
            </a:r>
          </a:p>
        </p:txBody>
      </p:sp>
      <p:pic>
        <p:nvPicPr>
          <p:cNvPr id="2" name="Picture 1" descr="Outdoor Industry Jobs">
            <a:extLst>
              <a:ext uri="{FF2B5EF4-FFF2-40B4-BE49-F238E27FC236}">
                <a16:creationId xmlns:a16="http://schemas.microsoft.com/office/drawing/2014/main" id="{DA16883F-D409-2E3D-B85E-109BD1B4435B}"/>
              </a:ext>
            </a:extLst>
          </p:cNvPr>
          <p:cNvPicPr>
            <a:picLocks noChangeAspect="1"/>
          </p:cNvPicPr>
          <p:nvPr/>
        </p:nvPicPr>
        <p:blipFill>
          <a:blip r:embed="rId7"/>
          <a:stretch>
            <a:fillRect/>
          </a:stretch>
        </p:blipFill>
        <p:spPr>
          <a:xfrm>
            <a:off x="6737770" y="96688"/>
            <a:ext cx="2310800" cy="453606"/>
          </a:xfrm>
          <a:prstGeom prst="rect">
            <a:avLst/>
          </a:prstGeom>
        </p:spPr>
      </p:pic>
      <p:graphicFrame>
        <p:nvGraphicFramePr>
          <p:cNvPr id="3" name="Chart 2">
            <a:extLst>
              <a:ext uri="{FF2B5EF4-FFF2-40B4-BE49-F238E27FC236}">
                <a16:creationId xmlns:a16="http://schemas.microsoft.com/office/drawing/2014/main" id="{8921FB18-9FB5-E3CB-DF3C-9D12BD210D2B}"/>
              </a:ext>
            </a:extLst>
          </p:cNvPr>
          <p:cNvGraphicFramePr>
            <a:graphicFrameLocks/>
          </p:cNvGraphicFramePr>
          <p:nvPr>
            <p:extLst>
              <p:ext uri="{D42A27DB-BD31-4B8C-83A1-F6EECF244321}">
                <p14:modId xmlns:p14="http://schemas.microsoft.com/office/powerpoint/2010/main" val="3226986832"/>
              </p:ext>
            </p:extLst>
          </p:nvPr>
        </p:nvGraphicFramePr>
        <p:xfrm>
          <a:off x="324954" y="3788558"/>
          <a:ext cx="3638391" cy="2460902"/>
        </p:xfrm>
        <a:graphic>
          <a:graphicData uri="http://schemas.openxmlformats.org/drawingml/2006/chart">
            <c:chart xmlns:c="http://schemas.openxmlformats.org/drawingml/2006/chart" xmlns:r="http://schemas.openxmlformats.org/officeDocument/2006/relationships" r:id="rId8"/>
          </a:graphicData>
        </a:graphic>
      </p:graphicFrame>
      <p:sp>
        <p:nvSpPr>
          <p:cNvPr id="4" name="Rectangle 3">
            <a:extLst>
              <a:ext uri="{FF2B5EF4-FFF2-40B4-BE49-F238E27FC236}">
                <a16:creationId xmlns:a16="http://schemas.microsoft.com/office/drawing/2014/main" id="{4A1ABD6B-8AE4-A545-232B-72809537AB4C}"/>
              </a:ext>
            </a:extLst>
          </p:cNvPr>
          <p:cNvSpPr/>
          <p:nvPr/>
        </p:nvSpPr>
        <p:spPr>
          <a:xfrm>
            <a:off x="1126660" y="861555"/>
            <a:ext cx="1999203" cy="312806"/>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spcAft>
                <a:spcPts val="751"/>
              </a:spcAft>
              <a:defRPr/>
            </a:pPr>
            <a:r>
              <a:rPr lang="en-US" sz="1100" dirty="0">
                <a:solidFill>
                  <a:srgbClr val="000000"/>
                </a:solidFill>
                <a:latin typeface="Calibri"/>
                <a:ea typeface="Calibri"/>
                <a:cs typeface="Calibri"/>
              </a:rPr>
              <a:t>(1) Demand Normalization</a:t>
            </a:r>
          </a:p>
        </p:txBody>
      </p:sp>
      <p:sp>
        <p:nvSpPr>
          <p:cNvPr id="6" name="Rectangle 5">
            <a:extLst>
              <a:ext uri="{FF2B5EF4-FFF2-40B4-BE49-F238E27FC236}">
                <a16:creationId xmlns:a16="http://schemas.microsoft.com/office/drawing/2014/main" id="{F7093859-BE24-7156-3B4C-A5548F4E778C}"/>
              </a:ext>
            </a:extLst>
          </p:cNvPr>
          <p:cNvSpPr/>
          <p:nvPr/>
        </p:nvSpPr>
        <p:spPr>
          <a:xfrm>
            <a:off x="1131942" y="1421540"/>
            <a:ext cx="1993921" cy="312806"/>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spcAft>
                <a:spcPts val="751"/>
              </a:spcAft>
              <a:defRPr/>
            </a:pPr>
            <a:r>
              <a:rPr lang="en-US" sz="1100" dirty="0">
                <a:solidFill>
                  <a:srgbClr val="000000"/>
                </a:solidFill>
                <a:latin typeface="Calibri"/>
                <a:ea typeface="Calibri"/>
                <a:cs typeface="Calibri"/>
              </a:rPr>
              <a:t>(2) Dealer Inventory Cycles</a:t>
            </a:r>
          </a:p>
        </p:txBody>
      </p:sp>
      <p:sp>
        <p:nvSpPr>
          <p:cNvPr id="7" name="Rectangle 6">
            <a:extLst>
              <a:ext uri="{FF2B5EF4-FFF2-40B4-BE49-F238E27FC236}">
                <a16:creationId xmlns:a16="http://schemas.microsoft.com/office/drawing/2014/main" id="{7C7A63CC-88BD-FC67-3D77-DE4C8CD4FE24}"/>
              </a:ext>
            </a:extLst>
          </p:cNvPr>
          <p:cNvSpPr/>
          <p:nvPr/>
        </p:nvSpPr>
        <p:spPr>
          <a:xfrm>
            <a:off x="1129650" y="1972907"/>
            <a:ext cx="1999203" cy="312806"/>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spcAft>
                <a:spcPts val="751"/>
              </a:spcAft>
              <a:defRPr/>
            </a:pPr>
            <a:r>
              <a:rPr lang="en-US" sz="1100" dirty="0">
                <a:solidFill>
                  <a:srgbClr val="000000"/>
                </a:solidFill>
                <a:latin typeface="Calibri"/>
                <a:ea typeface="Calibri"/>
                <a:cs typeface="Calibri"/>
              </a:rPr>
              <a:t>(3) Tariff-Exposed Components</a:t>
            </a:r>
          </a:p>
        </p:txBody>
      </p:sp>
      <p:sp>
        <p:nvSpPr>
          <p:cNvPr id="9" name="Rectangle 8">
            <a:extLst>
              <a:ext uri="{FF2B5EF4-FFF2-40B4-BE49-F238E27FC236}">
                <a16:creationId xmlns:a16="http://schemas.microsoft.com/office/drawing/2014/main" id="{12A00D9A-A4F8-CBB8-2514-A8805F73289D}"/>
              </a:ext>
            </a:extLst>
          </p:cNvPr>
          <p:cNvSpPr/>
          <p:nvPr/>
        </p:nvSpPr>
        <p:spPr>
          <a:xfrm>
            <a:off x="1129651" y="2517148"/>
            <a:ext cx="1996911" cy="312806"/>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spcAft>
                <a:spcPts val="751"/>
              </a:spcAft>
              <a:defRPr/>
            </a:pPr>
            <a:r>
              <a:rPr lang="en-US" sz="1100" dirty="0">
                <a:solidFill>
                  <a:srgbClr val="000000"/>
                </a:solidFill>
                <a:latin typeface="Calibri"/>
                <a:ea typeface="Calibri"/>
                <a:cs typeface="Calibri"/>
              </a:rPr>
              <a:t>(4) Seasonality and Weather</a:t>
            </a:r>
          </a:p>
        </p:txBody>
      </p:sp>
      <p:sp>
        <p:nvSpPr>
          <p:cNvPr id="10" name="Rectangle 9">
            <a:extLst>
              <a:ext uri="{FF2B5EF4-FFF2-40B4-BE49-F238E27FC236}">
                <a16:creationId xmlns:a16="http://schemas.microsoft.com/office/drawing/2014/main" id="{31CA916F-5A78-3F60-4180-A1687E3278A2}"/>
              </a:ext>
            </a:extLst>
          </p:cNvPr>
          <p:cNvSpPr/>
          <p:nvPr/>
        </p:nvSpPr>
        <p:spPr>
          <a:xfrm>
            <a:off x="1129651" y="3034289"/>
            <a:ext cx="1999203" cy="312806"/>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spcAft>
                <a:spcPts val="751"/>
              </a:spcAft>
              <a:defRPr/>
            </a:pPr>
            <a:r>
              <a:rPr lang="en-US" sz="1100" dirty="0">
                <a:solidFill>
                  <a:srgbClr val="000000"/>
                </a:solidFill>
                <a:latin typeface="Calibri"/>
                <a:ea typeface="Calibri"/>
                <a:cs typeface="Calibri"/>
              </a:rPr>
              <a:t>(5) Competitive Pressure</a:t>
            </a:r>
          </a:p>
        </p:txBody>
      </p:sp>
    </p:spTree>
    <p:extLst>
      <p:ext uri="{BB962C8B-B14F-4D97-AF65-F5344CB8AC3E}">
        <p14:creationId xmlns:p14="http://schemas.microsoft.com/office/powerpoint/2010/main" val="889597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74B9C-B9AC-D0E8-1A0D-BE55FAEFCA92}"/>
            </a:ext>
          </a:extLst>
        </p:cNvPr>
        <p:cNvGrpSpPr/>
        <p:nvPr/>
      </p:nvGrpSpPr>
      <p:grpSpPr>
        <a:xfrm>
          <a:off x="0" y="0"/>
          <a:ext cx="0" cy="0"/>
          <a:chOff x="0" y="0"/>
          <a:chExt cx="0" cy="0"/>
        </a:xfrm>
      </p:grpSpPr>
      <p:grpSp>
        <p:nvGrpSpPr>
          <p:cNvPr id="57" name="Group 56">
            <a:extLst>
              <a:ext uri="{FF2B5EF4-FFF2-40B4-BE49-F238E27FC236}">
                <a16:creationId xmlns:a16="http://schemas.microsoft.com/office/drawing/2014/main" id="{4F946765-0F3E-2C32-BA14-97D711D994A6}"/>
              </a:ext>
            </a:extLst>
          </p:cNvPr>
          <p:cNvGrpSpPr/>
          <p:nvPr/>
        </p:nvGrpSpPr>
        <p:grpSpPr>
          <a:xfrm>
            <a:off x="-30087" y="6304112"/>
            <a:ext cx="9144000" cy="457200"/>
            <a:chOff x="0" y="2732884"/>
            <a:chExt cx="9144000" cy="457200"/>
          </a:xfrm>
        </p:grpSpPr>
        <p:sp>
          <p:nvSpPr>
            <p:cNvPr id="58" name="Rectangle 57">
              <a:extLst>
                <a:ext uri="{FF2B5EF4-FFF2-40B4-BE49-F238E27FC236}">
                  <a16:creationId xmlns:a16="http://schemas.microsoft.com/office/drawing/2014/main" id="{A67C880D-BE86-E7B7-E4EA-3A9D04D55784}"/>
                </a:ext>
              </a:extLst>
            </p:cNvPr>
            <p:cNvSpPr/>
            <p:nvPr/>
          </p:nvSpPr>
          <p:spPr bwMode="auto">
            <a:xfrm>
              <a:off x="0" y="2907906"/>
              <a:ext cx="9144000" cy="10715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4DAF0827-F9F7-A47B-7C53-8A9C564BAB6D}"/>
                </a:ext>
              </a:extLst>
            </p:cNvPr>
            <p:cNvGrpSpPr/>
            <p:nvPr/>
          </p:nvGrpSpPr>
          <p:grpSpPr>
            <a:xfrm>
              <a:off x="5021579" y="2732884"/>
              <a:ext cx="545306" cy="457200"/>
              <a:chOff x="4981575" y="2712036"/>
              <a:chExt cx="545306" cy="457200"/>
            </a:xfrm>
          </p:grpSpPr>
          <p:sp>
            <p:nvSpPr>
              <p:cNvPr id="183321" name="Oval 183320">
                <a:extLst>
                  <a:ext uri="{FF2B5EF4-FFF2-40B4-BE49-F238E27FC236}">
                    <a16:creationId xmlns:a16="http://schemas.microsoft.com/office/drawing/2014/main" id="{FCE0E092-B2BD-888D-8F25-FDF87C2A9AC9}"/>
                  </a:ext>
                </a:extLst>
              </p:cNvPr>
              <p:cNvSpPr/>
              <p:nvPr/>
            </p:nvSpPr>
            <p:spPr bwMode="auto">
              <a:xfrm>
                <a:off x="49815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pic>
            <p:nvPicPr>
              <p:cNvPr id="183322" name="Picture 183321" descr="Related image">
                <a:extLst>
                  <a:ext uri="{FF2B5EF4-FFF2-40B4-BE49-F238E27FC236}">
                    <a16:creationId xmlns:a16="http://schemas.microsoft.com/office/drawing/2014/main" id="{85263628-1504-54C5-79E4-4E7D154A2D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2942" y="2797887"/>
                <a:ext cx="292099" cy="285498"/>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183319" name="Oval 183318">
              <a:extLst>
                <a:ext uri="{FF2B5EF4-FFF2-40B4-BE49-F238E27FC236}">
                  <a16:creationId xmlns:a16="http://schemas.microsoft.com/office/drawing/2014/main" id="{6FD47723-23A8-B9C3-95A2-00A01C8E25D7}"/>
                </a:ext>
              </a:extLst>
            </p:cNvPr>
            <p:cNvSpPr/>
            <p:nvPr/>
          </p:nvSpPr>
          <p:spPr bwMode="auto">
            <a:xfrm>
              <a:off x="7910513" y="2732884"/>
              <a:ext cx="545306" cy="457200"/>
            </a:xfrm>
            <a:prstGeom prst="ellipse">
              <a:avLst/>
            </a:prstGeom>
            <a:solidFill>
              <a:srgbClr val="F2C755"/>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5" name="Oval 183314">
              <a:extLst>
                <a:ext uri="{FF2B5EF4-FFF2-40B4-BE49-F238E27FC236}">
                  <a16:creationId xmlns:a16="http://schemas.microsoft.com/office/drawing/2014/main" id="{9C6E788B-A9A5-FAE1-617A-2F77FDEDA969}"/>
                </a:ext>
              </a:extLst>
            </p:cNvPr>
            <p:cNvSpPr/>
            <p:nvPr/>
          </p:nvSpPr>
          <p:spPr bwMode="auto">
            <a:xfrm>
              <a:off x="688181" y="2732884"/>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62" name="Group 61">
              <a:extLst>
                <a:ext uri="{FF2B5EF4-FFF2-40B4-BE49-F238E27FC236}">
                  <a16:creationId xmlns:a16="http://schemas.microsoft.com/office/drawing/2014/main" id="{C84D23A2-3F7F-FB35-F845-D26033702F04}"/>
                </a:ext>
              </a:extLst>
            </p:cNvPr>
            <p:cNvGrpSpPr/>
            <p:nvPr/>
          </p:nvGrpSpPr>
          <p:grpSpPr>
            <a:xfrm>
              <a:off x="6466045" y="2732884"/>
              <a:ext cx="545306" cy="457200"/>
              <a:chOff x="6353175" y="2712036"/>
              <a:chExt cx="545306" cy="457200"/>
            </a:xfrm>
          </p:grpSpPr>
          <p:sp>
            <p:nvSpPr>
              <p:cNvPr id="183313" name="Oval 183312">
                <a:extLst>
                  <a:ext uri="{FF2B5EF4-FFF2-40B4-BE49-F238E27FC236}">
                    <a16:creationId xmlns:a16="http://schemas.microsoft.com/office/drawing/2014/main" id="{4B8ED82A-0A6C-A958-028D-583B85167AD7}"/>
                  </a:ext>
                </a:extLst>
              </p:cNvPr>
              <p:cNvSpPr/>
              <p:nvPr/>
            </p:nvSpPr>
            <p:spPr bwMode="auto">
              <a:xfrm>
                <a:off x="6353175" y="2712036"/>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sp>
            <p:nvSpPr>
              <p:cNvPr id="183314" name="Graphic 14379" descr="Dollar with solid fill">
                <a:extLst>
                  <a:ext uri="{FF2B5EF4-FFF2-40B4-BE49-F238E27FC236}">
                    <a16:creationId xmlns:a16="http://schemas.microsoft.com/office/drawing/2014/main" id="{78748328-3E5A-F4B1-04C7-FDB283D955ED}"/>
                  </a:ext>
                </a:extLst>
              </p:cNvPr>
              <p:cNvSpPr/>
              <p:nvPr/>
            </p:nvSpPr>
            <p:spPr>
              <a:xfrm>
                <a:off x="6560211" y="2794368"/>
                <a:ext cx="131234" cy="283010"/>
              </a:xfrm>
              <a:custGeom>
                <a:avLst/>
                <a:gdLst>
                  <a:gd name="connsiteX0" fmla="*/ 113336 w 131234"/>
                  <a:gd name="connsiteY0" fmla="*/ 148087 h 283010"/>
                  <a:gd name="connsiteX1" fmla="*/ 74076 w 131234"/>
                  <a:gd name="connsiteY1" fmla="*/ 129889 h 283010"/>
                  <a:gd name="connsiteX2" fmla="*/ 74076 w 131234"/>
                  <a:gd name="connsiteY2" fmla="*/ 50317 h 283010"/>
                  <a:gd name="connsiteX3" fmla="*/ 109157 w 131234"/>
                  <a:gd name="connsiteY3" fmla="*/ 67001 h 283010"/>
                  <a:gd name="connsiteX4" fmla="*/ 124953 w 131234"/>
                  <a:gd name="connsiteY4" fmla="*/ 51863 h 283010"/>
                  <a:gd name="connsiteX5" fmla="*/ 74076 w 131234"/>
                  <a:gd name="connsiteY5" fmla="*/ 28597 h 283010"/>
                  <a:gd name="connsiteX6" fmla="*/ 74076 w 131234"/>
                  <a:gd name="connsiteY6" fmla="*/ 0 h 283010"/>
                  <a:gd name="connsiteX7" fmla="*/ 54331 w 131234"/>
                  <a:gd name="connsiteY7" fmla="*/ 0 h 283010"/>
                  <a:gd name="connsiteX8" fmla="*/ 54331 w 131234"/>
                  <a:gd name="connsiteY8" fmla="*/ 29848 h 283010"/>
                  <a:gd name="connsiteX9" fmla="*/ 34981 w 131234"/>
                  <a:gd name="connsiteY9" fmla="*/ 36758 h 283010"/>
                  <a:gd name="connsiteX10" fmla="*/ 7536 w 131234"/>
                  <a:gd name="connsiteY10" fmla="*/ 109157 h 283010"/>
                  <a:gd name="connsiteX11" fmla="*/ 54331 w 131234"/>
                  <a:gd name="connsiteY11" fmla="*/ 146080 h 283010"/>
                  <a:gd name="connsiteX12" fmla="*/ 54331 w 131234"/>
                  <a:gd name="connsiteY12" fmla="*/ 232233 h 283010"/>
                  <a:gd name="connsiteX13" fmla="*/ 15796 w 131234"/>
                  <a:gd name="connsiteY13" fmla="*/ 210613 h 283010"/>
                  <a:gd name="connsiteX14" fmla="*/ 0 w 131234"/>
                  <a:gd name="connsiteY14" fmla="*/ 225718 h 283010"/>
                  <a:gd name="connsiteX15" fmla="*/ 26491 w 131234"/>
                  <a:gd name="connsiteY15" fmla="*/ 246812 h 283010"/>
                  <a:gd name="connsiteX16" fmla="*/ 54331 w 131234"/>
                  <a:gd name="connsiteY16" fmla="*/ 254150 h 283010"/>
                  <a:gd name="connsiteX17" fmla="*/ 54331 w 131234"/>
                  <a:gd name="connsiteY17" fmla="*/ 283011 h 283010"/>
                  <a:gd name="connsiteX18" fmla="*/ 74076 w 131234"/>
                  <a:gd name="connsiteY18" fmla="*/ 283011 h 283010"/>
                  <a:gd name="connsiteX19" fmla="*/ 74076 w 131234"/>
                  <a:gd name="connsiteY19" fmla="*/ 253393 h 283010"/>
                  <a:gd name="connsiteX20" fmla="*/ 126466 w 131234"/>
                  <a:gd name="connsiteY20" fmla="*/ 213903 h 283010"/>
                  <a:gd name="connsiteX21" fmla="*/ 113336 w 131234"/>
                  <a:gd name="connsiteY21" fmla="*/ 148087 h 283010"/>
                  <a:gd name="connsiteX22" fmla="*/ 37877 w 131234"/>
                  <a:gd name="connsiteY22" fmla="*/ 114290 h 283010"/>
                  <a:gd name="connsiteX23" fmla="*/ 43373 w 131234"/>
                  <a:gd name="connsiteY23" fmla="*/ 57227 h 283010"/>
                  <a:gd name="connsiteX24" fmla="*/ 54331 w 131234"/>
                  <a:gd name="connsiteY24" fmla="*/ 52192 h 283010"/>
                  <a:gd name="connsiteX25" fmla="*/ 54331 w 131234"/>
                  <a:gd name="connsiteY25" fmla="*/ 123570 h 283010"/>
                  <a:gd name="connsiteX26" fmla="*/ 37877 w 131234"/>
                  <a:gd name="connsiteY26" fmla="*/ 114290 h 283010"/>
                  <a:gd name="connsiteX27" fmla="*/ 97408 w 131234"/>
                  <a:gd name="connsiteY27" fmla="*/ 219004 h 283010"/>
                  <a:gd name="connsiteX28" fmla="*/ 74076 w 131234"/>
                  <a:gd name="connsiteY28" fmla="*/ 231345 h 283010"/>
                  <a:gd name="connsiteX29" fmla="*/ 74076 w 131234"/>
                  <a:gd name="connsiteY29" fmla="*/ 152727 h 283010"/>
                  <a:gd name="connsiteX30" fmla="*/ 107709 w 131234"/>
                  <a:gd name="connsiteY30" fmla="*/ 176980 h 283010"/>
                  <a:gd name="connsiteX31" fmla="*/ 97408 w 131234"/>
                  <a:gd name="connsiteY31" fmla="*/ 219004 h 283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31234" h="283010">
                    <a:moveTo>
                      <a:pt x="113336" y="148087"/>
                    </a:moveTo>
                    <a:cubicBezTo>
                      <a:pt x="102213" y="138609"/>
                      <a:pt x="87766" y="134167"/>
                      <a:pt x="74076" y="129889"/>
                    </a:cubicBezTo>
                    <a:lnTo>
                      <a:pt x="74076" y="50317"/>
                    </a:lnTo>
                    <a:cubicBezTo>
                      <a:pt x="87368" y="51580"/>
                      <a:pt x="99789" y="57487"/>
                      <a:pt x="109157" y="67001"/>
                    </a:cubicBezTo>
                    <a:lnTo>
                      <a:pt x="124953" y="51863"/>
                    </a:lnTo>
                    <a:cubicBezTo>
                      <a:pt x="111435" y="38112"/>
                      <a:pt x="93320" y="29828"/>
                      <a:pt x="74076" y="28597"/>
                    </a:cubicBezTo>
                    <a:lnTo>
                      <a:pt x="74076" y="0"/>
                    </a:lnTo>
                    <a:lnTo>
                      <a:pt x="54331" y="0"/>
                    </a:lnTo>
                    <a:lnTo>
                      <a:pt x="54331" y="29848"/>
                    </a:lnTo>
                    <a:cubicBezTo>
                      <a:pt x="47570" y="31164"/>
                      <a:pt x="41047" y="33494"/>
                      <a:pt x="34981" y="36758"/>
                    </a:cubicBezTo>
                    <a:cubicBezTo>
                      <a:pt x="10037" y="50350"/>
                      <a:pt x="-2698" y="82271"/>
                      <a:pt x="7536" y="109157"/>
                    </a:cubicBezTo>
                    <a:cubicBezTo>
                      <a:pt x="15467" y="129889"/>
                      <a:pt x="34587" y="139136"/>
                      <a:pt x="54331" y="146080"/>
                    </a:cubicBezTo>
                    <a:lnTo>
                      <a:pt x="54331" y="232233"/>
                    </a:lnTo>
                    <a:cubicBezTo>
                      <a:pt x="39029" y="230358"/>
                      <a:pt x="26327" y="221571"/>
                      <a:pt x="15796" y="210613"/>
                    </a:cubicBezTo>
                    <a:lnTo>
                      <a:pt x="0" y="225718"/>
                    </a:lnTo>
                    <a:cubicBezTo>
                      <a:pt x="7521" y="234252"/>
                      <a:pt x="16489" y="241393"/>
                      <a:pt x="26491" y="246812"/>
                    </a:cubicBezTo>
                    <a:cubicBezTo>
                      <a:pt x="35233" y="250970"/>
                      <a:pt x="44675" y="253459"/>
                      <a:pt x="54331" y="254150"/>
                    </a:cubicBezTo>
                    <a:lnTo>
                      <a:pt x="54331" y="283011"/>
                    </a:lnTo>
                    <a:lnTo>
                      <a:pt x="74076" y="283011"/>
                    </a:lnTo>
                    <a:lnTo>
                      <a:pt x="74076" y="253393"/>
                    </a:lnTo>
                    <a:cubicBezTo>
                      <a:pt x="96717" y="249609"/>
                      <a:pt x="117515" y="235689"/>
                      <a:pt x="126466" y="213903"/>
                    </a:cubicBezTo>
                    <a:cubicBezTo>
                      <a:pt x="135417" y="192118"/>
                      <a:pt x="132159" y="164179"/>
                      <a:pt x="113336" y="148087"/>
                    </a:cubicBezTo>
                    <a:close/>
                    <a:moveTo>
                      <a:pt x="37877" y="114290"/>
                    </a:moveTo>
                    <a:cubicBezTo>
                      <a:pt x="19778" y="99021"/>
                      <a:pt x="24188" y="69469"/>
                      <a:pt x="43373" y="57227"/>
                    </a:cubicBezTo>
                    <a:cubicBezTo>
                      <a:pt x="46773" y="55047"/>
                      <a:pt x="50462" y="53352"/>
                      <a:pt x="54331" y="52192"/>
                    </a:cubicBezTo>
                    <a:lnTo>
                      <a:pt x="54331" y="123570"/>
                    </a:lnTo>
                    <a:cubicBezTo>
                      <a:pt x="48373" y="121403"/>
                      <a:pt x="42814" y="118268"/>
                      <a:pt x="37877" y="114290"/>
                    </a:cubicBezTo>
                    <a:close/>
                    <a:moveTo>
                      <a:pt x="97408" y="219004"/>
                    </a:moveTo>
                    <a:cubicBezTo>
                      <a:pt x="90985" y="225283"/>
                      <a:pt x="82882" y="229569"/>
                      <a:pt x="74076" y="231345"/>
                    </a:cubicBezTo>
                    <a:lnTo>
                      <a:pt x="74076" y="152727"/>
                    </a:lnTo>
                    <a:cubicBezTo>
                      <a:pt x="87240" y="157236"/>
                      <a:pt x="102345" y="162962"/>
                      <a:pt x="107709" y="176980"/>
                    </a:cubicBezTo>
                    <a:cubicBezTo>
                      <a:pt x="113073" y="190999"/>
                      <a:pt x="107676" y="208539"/>
                      <a:pt x="97408" y="219004"/>
                    </a:cubicBezTo>
                    <a:close/>
                  </a:path>
                </a:pathLst>
              </a:custGeom>
              <a:solidFill>
                <a:srgbClr val="000000"/>
              </a:solidFill>
              <a:ln w="3274"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nvGrpSpPr>
            <p:cNvPr id="63" name="Group 62">
              <a:extLst>
                <a:ext uri="{FF2B5EF4-FFF2-40B4-BE49-F238E27FC236}">
                  <a16:creationId xmlns:a16="http://schemas.microsoft.com/office/drawing/2014/main" id="{497CE471-787D-D9E3-07EB-BC35D8B8034D}"/>
                </a:ext>
              </a:extLst>
            </p:cNvPr>
            <p:cNvGrpSpPr/>
            <p:nvPr/>
          </p:nvGrpSpPr>
          <p:grpSpPr>
            <a:xfrm>
              <a:off x="3577113" y="2732884"/>
              <a:ext cx="545306" cy="457200"/>
              <a:chOff x="3609974" y="2715607"/>
              <a:chExt cx="545306" cy="457200"/>
            </a:xfrm>
          </p:grpSpPr>
          <p:sp>
            <p:nvSpPr>
              <p:cNvPr id="183309" name="Oval 183308">
                <a:extLst>
                  <a:ext uri="{FF2B5EF4-FFF2-40B4-BE49-F238E27FC236}">
                    <a16:creationId xmlns:a16="http://schemas.microsoft.com/office/drawing/2014/main" id="{1FB8C93D-8158-A3F4-EBE6-D32198308B6D}"/>
                  </a:ext>
                </a:extLst>
              </p:cNvPr>
              <p:cNvSpPr/>
              <p:nvPr/>
            </p:nvSpPr>
            <p:spPr bwMode="auto">
              <a:xfrm>
                <a:off x="3609974" y="2715607"/>
                <a:ext cx="545306" cy="457200"/>
              </a:xfrm>
              <a:prstGeom prst="ellipse">
                <a:avLst/>
              </a:prstGeom>
              <a:solidFill>
                <a:schemeClr val="bg1">
                  <a:lumMod val="75000"/>
                </a:schemeClr>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a:solidFill>
                    <a:srgbClr val="FFFFFF"/>
                  </a:solidFill>
                  <a:latin typeface="Calibri" panose="020F0502020204030204" pitchFamily="34" charset="0"/>
                  <a:cs typeface="Calibri" panose="020F0502020204030204" pitchFamily="34" charset="0"/>
                </a:endParaRPr>
              </a:p>
            </p:txBody>
          </p:sp>
          <p:grpSp>
            <p:nvGrpSpPr>
              <p:cNvPr id="183310" name="Group 183309">
                <a:extLst>
                  <a:ext uri="{FF2B5EF4-FFF2-40B4-BE49-F238E27FC236}">
                    <a16:creationId xmlns:a16="http://schemas.microsoft.com/office/drawing/2014/main" id="{CEEF5921-879F-E5C8-ADB2-C4A693664710}"/>
                  </a:ext>
                </a:extLst>
              </p:cNvPr>
              <p:cNvGrpSpPr/>
              <p:nvPr/>
            </p:nvGrpSpPr>
            <p:grpSpPr>
              <a:xfrm>
                <a:off x="3769049" y="2811218"/>
                <a:ext cx="227157" cy="265979"/>
                <a:chOff x="3771206" y="2761936"/>
                <a:chExt cx="227157" cy="265979"/>
              </a:xfrm>
            </p:grpSpPr>
            <p:sp>
              <p:nvSpPr>
                <p:cNvPr id="183311" name="Freeform: Shape 183310">
                  <a:extLst>
                    <a:ext uri="{FF2B5EF4-FFF2-40B4-BE49-F238E27FC236}">
                      <a16:creationId xmlns:a16="http://schemas.microsoft.com/office/drawing/2014/main" id="{015C31E9-84EA-FDC2-E6C1-F6229B2BC11B}"/>
                    </a:ext>
                  </a:extLst>
                </p:cNvPr>
                <p:cNvSpPr/>
                <p:nvPr/>
              </p:nvSpPr>
              <p:spPr>
                <a:xfrm>
                  <a:off x="3771206" y="2761936"/>
                  <a:ext cx="21565" cy="265979"/>
                </a:xfrm>
                <a:custGeom>
                  <a:avLst/>
                  <a:gdLst>
                    <a:gd name="connsiteX0" fmla="*/ 0 w 21565"/>
                    <a:gd name="connsiteY0" fmla="*/ 0 h 265979"/>
                    <a:gd name="connsiteX1" fmla="*/ 21566 w 21565"/>
                    <a:gd name="connsiteY1" fmla="*/ 0 h 265979"/>
                    <a:gd name="connsiteX2" fmla="*/ 21566 w 21565"/>
                    <a:gd name="connsiteY2" fmla="*/ 265980 h 265979"/>
                    <a:gd name="connsiteX3" fmla="*/ 0 w 21565"/>
                    <a:gd name="connsiteY3" fmla="*/ 265980 h 265979"/>
                  </a:gdLst>
                  <a:ahLst/>
                  <a:cxnLst>
                    <a:cxn ang="0">
                      <a:pos x="connsiteX0" y="connsiteY0"/>
                    </a:cxn>
                    <a:cxn ang="0">
                      <a:pos x="connsiteX1" y="connsiteY1"/>
                    </a:cxn>
                    <a:cxn ang="0">
                      <a:pos x="connsiteX2" y="connsiteY2"/>
                    </a:cxn>
                    <a:cxn ang="0">
                      <a:pos x="connsiteX3" y="connsiteY3"/>
                    </a:cxn>
                  </a:cxnLst>
                  <a:rect l="l" t="t" r="r" b="b"/>
                  <a:pathLst>
                    <a:path w="21565" h="265979">
                      <a:moveTo>
                        <a:pt x="0" y="0"/>
                      </a:moveTo>
                      <a:lnTo>
                        <a:pt x="21566" y="0"/>
                      </a:lnTo>
                      <a:lnTo>
                        <a:pt x="21566" y="265980"/>
                      </a:lnTo>
                      <a:lnTo>
                        <a:pt x="0" y="265980"/>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sp>
              <p:nvSpPr>
                <p:cNvPr id="183312" name="Freeform: Shape 183311">
                  <a:extLst>
                    <a:ext uri="{FF2B5EF4-FFF2-40B4-BE49-F238E27FC236}">
                      <a16:creationId xmlns:a16="http://schemas.microsoft.com/office/drawing/2014/main" id="{B9248FB3-B846-BA62-D67C-64202E797261}"/>
                    </a:ext>
                  </a:extLst>
                </p:cNvPr>
                <p:cNvSpPr/>
                <p:nvPr/>
              </p:nvSpPr>
              <p:spPr>
                <a:xfrm>
                  <a:off x="3804290" y="2761936"/>
                  <a:ext cx="194073" cy="265979"/>
                </a:xfrm>
                <a:custGeom>
                  <a:avLst/>
                  <a:gdLst>
                    <a:gd name="connsiteX0" fmla="*/ 168933 w 183310"/>
                    <a:gd name="connsiteY0" fmla="*/ 0 h 265979"/>
                    <a:gd name="connsiteX1" fmla="*/ 0 w 183310"/>
                    <a:gd name="connsiteY1" fmla="*/ 0 h 265979"/>
                    <a:gd name="connsiteX2" fmla="*/ 0 w 183310"/>
                    <a:gd name="connsiteY2" fmla="*/ 265980 h 265979"/>
                    <a:gd name="connsiteX3" fmla="*/ 168933 w 183310"/>
                    <a:gd name="connsiteY3" fmla="*/ 265980 h 265979"/>
                    <a:gd name="connsiteX4" fmla="*/ 183310 w 183310"/>
                    <a:gd name="connsiteY4" fmla="*/ 251603 h 265979"/>
                    <a:gd name="connsiteX5" fmla="*/ 183310 w 183310"/>
                    <a:gd name="connsiteY5" fmla="*/ 14377 h 265979"/>
                    <a:gd name="connsiteX6" fmla="*/ 168933 w 183310"/>
                    <a:gd name="connsiteY6" fmla="*/ 0 h 265979"/>
                    <a:gd name="connsiteX7" fmla="*/ 61463 w 183310"/>
                    <a:gd name="connsiteY7" fmla="*/ 101000 h 265979"/>
                    <a:gd name="connsiteX8" fmla="*/ 88780 w 183310"/>
                    <a:gd name="connsiteY8" fmla="*/ 73684 h 265979"/>
                    <a:gd name="connsiteX9" fmla="*/ 116097 w 183310"/>
                    <a:gd name="connsiteY9" fmla="*/ 101000 h 265979"/>
                    <a:gd name="connsiteX10" fmla="*/ 88780 w 183310"/>
                    <a:gd name="connsiteY10" fmla="*/ 128317 h 265979"/>
                    <a:gd name="connsiteX11" fmla="*/ 61463 w 183310"/>
                    <a:gd name="connsiteY11" fmla="*/ 101000 h 265979"/>
                    <a:gd name="connsiteX12" fmla="*/ 143773 w 183310"/>
                    <a:gd name="connsiteY12" fmla="*/ 190499 h 265979"/>
                    <a:gd name="connsiteX13" fmla="*/ 33787 w 183310"/>
                    <a:gd name="connsiteY13" fmla="*/ 190499 h 265979"/>
                    <a:gd name="connsiteX14" fmla="*/ 33787 w 183310"/>
                    <a:gd name="connsiteY14" fmla="*/ 163182 h 265979"/>
                    <a:gd name="connsiteX15" fmla="*/ 39178 w 183310"/>
                    <a:gd name="connsiteY15" fmla="*/ 152040 h 265979"/>
                    <a:gd name="connsiteX16" fmla="*/ 66136 w 183310"/>
                    <a:gd name="connsiteY16" fmla="*/ 139100 h 265979"/>
                    <a:gd name="connsiteX17" fmla="*/ 88780 w 183310"/>
                    <a:gd name="connsiteY17" fmla="*/ 135506 h 265979"/>
                    <a:gd name="connsiteX18" fmla="*/ 111424 w 183310"/>
                    <a:gd name="connsiteY18" fmla="*/ 139100 h 265979"/>
                    <a:gd name="connsiteX19" fmla="*/ 138381 w 183310"/>
                    <a:gd name="connsiteY19" fmla="*/ 152040 h 265979"/>
                    <a:gd name="connsiteX20" fmla="*/ 143773 w 183310"/>
                    <a:gd name="connsiteY20" fmla="*/ 163182 h 265979"/>
                    <a:gd name="connsiteX21" fmla="*/ 143773 w 183310"/>
                    <a:gd name="connsiteY21" fmla="*/ 190499 h 26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3310" h="265979">
                      <a:moveTo>
                        <a:pt x="168933" y="0"/>
                      </a:moveTo>
                      <a:lnTo>
                        <a:pt x="0" y="0"/>
                      </a:lnTo>
                      <a:lnTo>
                        <a:pt x="0" y="265980"/>
                      </a:lnTo>
                      <a:lnTo>
                        <a:pt x="168933" y="265980"/>
                      </a:lnTo>
                      <a:cubicBezTo>
                        <a:pt x="176841" y="265980"/>
                        <a:pt x="183310" y="259510"/>
                        <a:pt x="183310" y="251603"/>
                      </a:cubicBezTo>
                      <a:lnTo>
                        <a:pt x="183310" y="14377"/>
                      </a:lnTo>
                      <a:cubicBezTo>
                        <a:pt x="183310" y="6470"/>
                        <a:pt x="176841" y="0"/>
                        <a:pt x="168933" y="0"/>
                      </a:cubicBezTo>
                      <a:close/>
                      <a:moveTo>
                        <a:pt x="61463" y="101000"/>
                      </a:moveTo>
                      <a:cubicBezTo>
                        <a:pt x="61463" y="85904"/>
                        <a:pt x="73684" y="73684"/>
                        <a:pt x="88780" y="73684"/>
                      </a:cubicBezTo>
                      <a:cubicBezTo>
                        <a:pt x="103876" y="73684"/>
                        <a:pt x="116097" y="85904"/>
                        <a:pt x="116097" y="101000"/>
                      </a:cubicBezTo>
                      <a:cubicBezTo>
                        <a:pt x="116097" y="116097"/>
                        <a:pt x="103876" y="128317"/>
                        <a:pt x="88780" y="128317"/>
                      </a:cubicBezTo>
                      <a:cubicBezTo>
                        <a:pt x="73684" y="128317"/>
                        <a:pt x="61463" y="116456"/>
                        <a:pt x="61463" y="101000"/>
                      </a:cubicBezTo>
                      <a:close/>
                      <a:moveTo>
                        <a:pt x="143773" y="190499"/>
                      </a:moveTo>
                      <a:lnTo>
                        <a:pt x="33787" y="190499"/>
                      </a:lnTo>
                      <a:lnTo>
                        <a:pt x="33787" y="163182"/>
                      </a:lnTo>
                      <a:cubicBezTo>
                        <a:pt x="33787" y="158869"/>
                        <a:pt x="35943" y="154915"/>
                        <a:pt x="39178" y="152040"/>
                      </a:cubicBezTo>
                      <a:cubicBezTo>
                        <a:pt x="47445" y="146289"/>
                        <a:pt x="56431" y="141616"/>
                        <a:pt x="66136" y="139100"/>
                      </a:cubicBezTo>
                      <a:cubicBezTo>
                        <a:pt x="73684" y="136944"/>
                        <a:pt x="81232" y="135865"/>
                        <a:pt x="88780" y="135506"/>
                      </a:cubicBezTo>
                      <a:cubicBezTo>
                        <a:pt x="96328" y="135506"/>
                        <a:pt x="104235" y="136584"/>
                        <a:pt x="111424" y="139100"/>
                      </a:cubicBezTo>
                      <a:cubicBezTo>
                        <a:pt x="121129" y="141616"/>
                        <a:pt x="130114" y="145930"/>
                        <a:pt x="138381" y="152040"/>
                      </a:cubicBezTo>
                      <a:cubicBezTo>
                        <a:pt x="141616" y="154556"/>
                        <a:pt x="143773" y="158869"/>
                        <a:pt x="143773" y="163182"/>
                      </a:cubicBezTo>
                      <a:lnTo>
                        <a:pt x="143773" y="190499"/>
                      </a:lnTo>
                      <a:close/>
                    </a:path>
                  </a:pathLst>
                </a:custGeom>
                <a:solidFill>
                  <a:srgbClr val="000000"/>
                </a:solidFill>
                <a:ln w="3572"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6" name="Group 183305">
              <a:extLst>
                <a:ext uri="{FF2B5EF4-FFF2-40B4-BE49-F238E27FC236}">
                  <a16:creationId xmlns:a16="http://schemas.microsoft.com/office/drawing/2014/main" id="{8323FAF8-FAB7-578C-73BA-8458FDF36C89}"/>
                </a:ext>
              </a:extLst>
            </p:cNvPr>
            <p:cNvGrpSpPr/>
            <p:nvPr/>
          </p:nvGrpSpPr>
          <p:grpSpPr>
            <a:xfrm>
              <a:off x="2132647" y="2732884"/>
              <a:ext cx="545306" cy="457200"/>
              <a:chOff x="2238375" y="2712635"/>
              <a:chExt cx="545306" cy="457200"/>
            </a:xfrm>
          </p:grpSpPr>
          <p:sp>
            <p:nvSpPr>
              <p:cNvPr id="183307" name="Oval 183306">
                <a:extLst>
                  <a:ext uri="{FF2B5EF4-FFF2-40B4-BE49-F238E27FC236}">
                    <a16:creationId xmlns:a16="http://schemas.microsoft.com/office/drawing/2014/main" id="{2797C1B4-F86D-5C00-32DA-948835FD882B}"/>
                  </a:ext>
                </a:extLst>
              </p:cNvPr>
              <p:cNvSpPr/>
              <p:nvPr/>
            </p:nvSpPr>
            <p:spPr bwMode="auto">
              <a:xfrm>
                <a:off x="2238375" y="2712635"/>
                <a:ext cx="545306" cy="457200"/>
              </a:xfrm>
              <a:prstGeom prst="ellipse">
                <a:avLst/>
              </a:prstGeom>
              <a:solidFill>
                <a:srgbClr val="BFBFBF"/>
              </a:solidFill>
              <a:ln w="190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600" u="sng">
                  <a:solidFill>
                    <a:srgbClr val="FFFFFF"/>
                  </a:solidFill>
                  <a:latin typeface="Calibri" panose="020F0502020204030204" pitchFamily="34" charset="0"/>
                  <a:cs typeface="Calibri" panose="020F0502020204030204" pitchFamily="34" charset="0"/>
                </a:endParaRPr>
              </a:p>
            </p:txBody>
          </p:sp>
          <p:sp>
            <p:nvSpPr>
              <p:cNvPr id="183308" name="Graphic 14377" descr="Board Of Directors with solid fill">
                <a:extLst>
                  <a:ext uri="{FF2B5EF4-FFF2-40B4-BE49-F238E27FC236}">
                    <a16:creationId xmlns:a16="http://schemas.microsoft.com/office/drawing/2014/main" id="{FDD3486E-FBCB-5BC4-EA4D-0712BC42123A}"/>
                  </a:ext>
                </a:extLst>
              </p:cNvPr>
              <p:cNvSpPr/>
              <p:nvPr/>
            </p:nvSpPr>
            <p:spPr>
              <a:xfrm>
                <a:off x="2335649" y="2770219"/>
                <a:ext cx="350758" cy="342033"/>
              </a:xfrm>
              <a:custGeom>
                <a:avLst/>
                <a:gdLst>
                  <a:gd name="connsiteX0" fmla="*/ 379789 w 399639"/>
                  <a:gd name="connsiteY0" fmla="*/ 221778 h 312761"/>
                  <a:gd name="connsiteX1" fmla="*/ 389220 w 399639"/>
                  <a:gd name="connsiteY1" fmla="*/ 210792 h 312761"/>
                  <a:gd name="connsiteX2" fmla="*/ 399545 w 399639"/>
                  <a:gd name="connsiteY2" fmla="*/ 124755 h 312761"/>
                  <a:gd name="connsiteX3" fmla="*/ 388187 w 399639"/>
                  <a:gd name="connsiteY3" fmla="*/ 110287 h 312761"/>
                  <a:gd name="connsiteX4" fmla="*/ 387382 w 399639"/>
                  <a:gd name="connsiteY4" fmla="*/ 110216 h 312761"/>
                  <a:gd name="connsiteX5" fmla="*/ 339572 w 399639"/>
                  <a:gd name="connsiteY5" fmla="*/ 107401 h 312761"/>
                  <a:gd name="connsiteX6" fmla="*/ 325902 w 399639"/>
                  <a:gd name="connsiteY6" fmla="*/ 118726 h 312761"/>
                  <a:gd name="connsiteX7" fmla="*/ 322939 w 399639"/>
                  <a:gd name="connsiteY7" fmla="*/ 141697 h 312761"/>
                  <a:gd name="connsiteX8" fmla="*/ 315637 w 399639"/>
                  <a:gd name="connsiteY8" fmla="*/ 130515 h 312761"/>
                  <a:gd name="connsiteX9" fmla="*/ 317300 w 399639"/>
                  <a:gd name="connsiteY9" fmla="*/ 117618 h 312761"/>
                  <a:gd name="connsiteX10" fmla="*/ 338829 w 399639"/>
                  <a:gd name="connsiteY10" fmla="*/ 98708 h 312761"/>
                  <a:gd name="connsiteX11" fmla="*/ 340133 w 399639"/>
                  <a:gd name="connsiteY11" fmla="*/ 98748 h 312761"/>
                  <a:gd name="connsiteX12" fmla="*/ 360784 w 399639"/>
                  <a:gd name="connsiteY12" fmla="*/ 99960 h 312761"/>
                  <a:gd name="connsiteX13" fmla="*/ 363768 w 399639"/>
                  <a:gd name="connsiteY13" fmla="*/ 81641 h 312761"/>
                  <a:gd name="connsiteX14" fmla="*/ 352969 w 399639"/>
                  <a:gd name="connsiteY14" fmla="*/ 66706 h 312761"/>
                  <a:gd name="connsiteX15" fmla="*/ 351792 w 399639"/>
                  <a:gd name="connsiteY15" fmla="*/ 66572 h 312761"/>
                  <a:gd name="connsiteX16" fmla="*/ 312917 w 399639"/>
                  <a:gd name="connsiteY16" fmla="*/ 63965 h 312761"/>
                  <a:gd name="connsiteX17" fmla="*/ 299195 w 399639"/>
                  <a:gd name="connsiteY17" fmla="*/ 74964 h 312761"/>
                  <a:gd name="connsiteX18" fmla="*/ 295389 w 399639"/>
                  <a:gd name="connsiteY18" fmla="*/ 99460 h 312761"/>
                  <a:gd name="connsiteX19" fmla="*/ 288291 w 399639"/>
                  <a:gd name="connsiteY19" fmla="*/ 88600 h 312761"/>
                  <a:gd name="connsiteX20" fmla="*/ 290594 w 399639"/>
                  <a:gd name="connsiteY20" fmla="*/ 73665 h 312761"/>
                  <a:gd name="connsiteX21" fmla="*/ 312018 w 399639"/>
                  <a:gd name="connsiteY21" fmla="*/ 55286 h 312761"/>
                  <a:gd name="connsiteX22" fmla="*/ 313469 w 399639"/>
                  <a:gd name="connsiteY22" fmla="*/ 55338 h 312761"/>
                  <a:gd name="connsiteX23" fmla="*/ 322044 w 399639"/>
                  <a:gd name="connsiteY23" fmla="*/ 55907 h 312761"/>
                  <a:gd name="connsiteX24" fmla="*/ 323395 w 399639"/>
                  <a:gd name="connsiteY24" fmla="*/ 43744 h 312761"/>
                  <a:gd name="connsiteX25" fmla="*/ 311862 w 399639"/>
                  <a:gd name="connsiteY25" fmla="*/ 29368 h 312761"/>
                  <a:gd name="connsiteX26" fmla="*/ 311462 w 399639"/>
                  <a:gd name="connsiteY26" fmla="*/ 29331 h 312761"/>
                  <a:gd name="connsiteX27" fmla="*/ 281115 w 399639"/>
                  <a:gd name="connsiteY27" fmla="*/ 26998 h 312761"/>
                  <a:gd name="connsiteX28" fmla="*/ 267153 w 399639"/>
                  <a:gd name="connsiteY28" fmla="*/ 38609 h 312761"/>
                  <a:gd name="connsiteX29" fmla="*/ 265186 w 399639"/>
                  <a:gd name="connsiteY29" fmla="*/ 57315 h 312761"/>
                  <a:gd name="connsiteX30" fmla="*/ 237575 w 399639"/>
                  <a:gd name="connsiteY30" fmla="*/ 47714 h 312761"/>
                  <a:gd name="connsiteX31" fmla="*/ 233783 w 399639"/>
                  <a:gd name="connsiteY31" fmla="*/ 47714 h 312761"/>
                  <a:gd name="connsiteX32" fmla="*/ 233783 w 399639"/>
                  <a:gd name="connsiteY32" fmla="*/ 17306 h 312761"/>
                  <a:gd name="connsiteX33" fmla="*/ 230308 w 399639"/>
                  <a:gd name="connsiteY33" fmla="*/ 8918 h 312761"/>
                  <a:gd name="connsiteX34" fmla="*/ 225017 w 399639"/>
                  <a:gd name="connsiteY34" fmla="*/ 5656 h 312761"/>
                  <a:gd name="connsiteX35" fmla="*/ 174457 w 399639"/>
                  <a:gd name="connsiteY35" fmla="*/ 5439 h 312761"/>
                  <a:gd name="connsiteX36" fmla="*/ 168180 w 399639"/>
                  <a:gd name="connsiteY36" fmla="*/ 8914 h 312761"/>
                  <a:gd name="connsiteX37" fmla="*/ 164705 w 399639"/>
                  <a:gd name="connsiteY37" fmla="*/ 17302 h 312761"/>
                  <a:gd name="connsiteX38" fmla="*/ 164705 w 399639"/>
                  <a:gd name="connsiteY38" fmla="*/ 47710 h 312761"/>
                  <a:gd name="connsiteX39" fmla="*/ 160526 w 399639"/>
                  <a:gd name="connsiteY39" fmla="*/ 47710 h 312761"/>
                  <a:gd name="connsiteX40" fmla="*/ 134332 w 399639"/>
                  <a:gd name="connsiteY40" fmla="*/ 56220 h 312761"/>
                  <a:gd name="connsiteX41" fmla="*/ 132490 w 399639"/>
                  <a:gd name="connsiteY41" fmla="*/ 38609 h 312761"/>
                  <a:gd name="connsiteX42" fmla="*/ 118554 w 399639"/>
                  <a:gd name="connsiteY42" fmla="*/ 26998 h 312761"/>
                  <a:gd name="connsiteX43" fmla="*/ 88207 w 399639"/>
                  <a:gd name="connsiteY43" fmla="*/ 29331 h 312761"/>
                  <a:gd name="connsiteX44" fmla="*/ 76236 w 399639"/>
                  <a:gd name="connsiteY44" fmla="*/ 43344 h 312761"/>
                  <a:gd name="connsiteX45" fmla="*/ 76274 w 399639"/>
                  <a:gd name="connsiteY45" fmla="*/ 43744 h 312761"/>
                  <a:gd name="connsiteX46" fmla="*/ 77625 w 399639"/>
                  <a:gd name="connsiteY46" fmla="*/ 55907 h 312761"/>
                  <a:gd name="connsiteX47" fmla="*/ 86200 w 399639"/>
                  <a:gd name="connsiteY47" fmla="*/ 55338 h 312761"/>
                  <a:gd name="connsiteX48" fmla="*/ 87651 w 399639"/>
                  <a:gd name="connsiteY48" fmla="*/ 55286 h 312761"/>
                  <a:gd name="connsiteX49" fmla="*/ 109071 w 399639"/>
                  <a:gd name="connsiteY49" fmla="*/ 73665 h 312761"/>
                  <a:gd name="connsiteX50" fmla="*/ 111091 w 399639"/>
                  <a:gd name="connsiteY50" fmla="*/ 86723 h 312761"/>
                  <a:gd name="connsiteX51" fmla="*/ 103993 w 399639"/>
                  <a:gd name="connsiteY51" fmla="*/ 97583 h 312761"/>
                  <a:gd name="connsiteX52" fmla="*/ 100518 w 399639"/>
                  <a:gd name="connsiteY52" fmla="*/ 74969 h 312761"/>
                  <a:gd name="connsiteX53" fmla="*/ 86795 w 399639"/>
                  <a:gd name="connsiteY53" fmla="*/ 63970 h 312761"/>
                  <a:gd name="connsiteX54" fmla="*/ 47921 w 399639"/>
                  <a:gd name="connsiteY54" fmla="*/ 66576 h 312761"/>
                  <a:gd name="connsiteX55" fmla="*/ 35810 w 399639"/>
                  <a:gd name="connsiteY55" fmla="*/ 80468 h 312761"/>
                  <a:gd name="connsiteX56" fmla="*/ 35945 w 399639"/>
                  <a:gd name="connsiteY56" fmla="*/ 81645 h 312761"/>
                  <a:gd name="connsiteX57" fmla="*/ 38929 w 399639"/>
                  <a:gd name="connsiteY57" fmla="*/ 99964 h 312761"/>
                  <a:gd name="connsiteX58" fmla="*/ 59580 w 399639"/>
                  <a:gd name="connsiteY58" fmla="*/ 98752 h 312761"/>
                  <a:gd name="connsiteX59" fmla="*/ 60883 w 399639"/>
                  <a:gd name="connsiteY59" fmla="*/ 98713 h 312761"/>
                  <a:gd name="connsiteX60" fmla="*/ 82378 w 399639"/>
                  <a:gd name="connsiteY60" fmla="*/ 117622 h 312761"/>
                  <a:gd name="connsiteX61" fmla="*/ 83794 w 399639"/>
                  <a:gd name="connsiteY61" fmla="*/ 128617 h 312761"/>
                  <a:gd name="connsiteX62" fmla="*/ 76452 w 399639"/>
                  <a:gd name="connsiteY62" fmla="*/ 139803 h 312761"/>
                  <a:gd name="connsiteX63" fmla="*/ 73733 w 399639"/>
                  <a:gd name="connsiteY63" fmla="*/ 118726 h 312761"/>
                  <a:gd name="connsiteX64" fmla="*/ 60062 w 399639"/>
                  <a:gd name="connsiteY64" fmla="*/ 107401 h 312761"/>
                  <a:gd name="connsiteX65" fmla="*/ 12257 w 399639"/>
                  <a:gd name="connsiteY65" fmla="*/ 110216 h 312761"/>
                  <a:gd name="connsiteX66" fmla="*/ 22 w 399639"/>
                  <a:gd name="connsiteY66" fmla="*/ 123949 h 312761"/>
                  <a:gd name="connsiteX67" fmla="*/ 94 w 399639"/>
                  <a:gd name="connsiteY67" fmla="*/ 124755 h 312761"/>
                  <a:gd name="connsiteX68" fmla="*/ 10424 w 399639"/>
                  <a:gd name="connsiteY68" fmla="*/ 210792 h 312761"/>
                  <a:gd name="connsiteX69" fmla="*/ 19859 w 399639"/>
                  <a:gd name="connsiteY69" fmla="*/ 221778 h 312761"/>
                  <a:gd name="connsiteX70" fmla="*/ 37912 w 399639"/>
                  <a:gd name="connsiteY70" fmla="*/ 226795 h 312761"/>
                  <a:gd name="connsiteX71" fmla="*/ 37912 w 399639"/>
                  <a:gd name="connsiteY71" fmla="*/ 245040 h 312761"/>
                  <a:gd name="connsiteX72" fmla="*/ 22743 w 399639"/>
                  <a:gd name="connsiteY72" fmla="*/ 245040 h 312761"/>
                  <a:gd name="connsiteX73" fmla="*/ 7565 w 399639"/>
                  <a:gd name="connsiteY73" fmla="*/ 260214 h 312761"/>
                  <a:gd name="connsiteX74" fmla="*/ 7565 w 399639"/>
                  <a:gd name="connsiteY74" fmla="*/ 263202 h 312761"/>
                  <a:gd name="connsiteX75" fmla="*/ 8335 w 399639"/>
                  <a:gd name="connsiteY75" fmla="*/ 275465 h 312761"/>
                  <a:gd name="connsiteX76" fmla="*/ 20597 w 399639"/>
                  <a:gd name="connsiteY76" fmla="*/ 274695 h 312761"/>
                  <a:gd name="connsiteX77" fmla="*/ 20597 w 399639"/>
                  <a:gd name="connsiteY77" fmla="*/ 263202 h 312761"/>
                  <a:gd name="connsiteX78" fmla="*/ 20597 w 399639"/>
                  <a:gd name="connsiteY78" fmla="*/ 260214 h 312761"/>
                  <a:gd name="connsiteX79" fmla="*/ 22769 w 399639"/>
                  <a:gd name="connsiteY79" fmla="*/ 258042 h 312761"/>
                  <a:gd name="connsiteX80" fmla="*/ 37921 w 399639"/>
                  <a:gd name="connsiteY80" fmla="*/ 258042 h 312761"/>
                  <a:gd name="connsiteX81" fmla="*/ 37921 w 399639"/>
                  <a:gd name="connsiteY81" fmla="*/ 263198 h 312761"/>
                  <a:gd name="connsiteX82" fmla="*/ 38667 w 399639"/>
                  <a:gd name="connsiteY82" fmla="*/ 275462 h 312761"/>
                  <a:gd name="connsiteX83" fmla="*/ 50931 w 399639"/>
                  <a:gd name="connsiteY83" fmla="*/ 274716 h 312761"/>
                  <a:gd name="connsiteX84" fmla="*/ 50931 w 399639"/>
                  <a:gd name="connsiteY84" fmla="*/ 263198 h 312761"/>
                  <a:gd name="connsiteX85" fmla="*/ 50931 w 399639"/>
                  <a:gd name="connsiteY85" fmla="*/ 258042 h 312761"/>
                  <a:gd name="connsiteX86" fmla="*/ 66109 w 399639"/>
                  <a:gd name="connsiteY86" fmla="*/ 258042 h 312761"/>
                  <a:gd name="connsiteX87" fmla="*/ 68281 w 399639"/>
                  <a:gd name="connsiteY87" fmla="*/ 260214 h 312761"/>
                  <a:gd name="connsiteX88" fmla="*/ 68281 w 399639"/>
                  <a:gd name="connsiteY88" fmla="*/ 263202 h 312761"/>
                  <a:gd name="connsiteX89" fmla="*/ 69051 w 399639"/>
                  <a:gd name="connsiteY89" fmla="*/ 275465 h 312761"/>
                  <a:gd name="connsiteX90" fmla="*/ 81313 w 399639"/>
                  <a:gd name="connsiteY90" fmla="*/ 274695 h 312761"/>
                  <a:gd name="connsiteX91" fmla="*/ 81313 w 399639"/>
                  <a:gd name="connsiteY91" fmla="*/ 263202 h 312761"/>
                  <a:gd name="connsiteX92" fmla="*/ 81313 w 399639"/>
                  <a:gd name="connsiteY92" fmla="*/ 260214 h 312761"/>
                  <a:gd name="connsiteX93" fmla="*/ 66135 w 399639"/>
                  <a:gd name="connsiteY93" fmla="*/ 245036 h 312761"/>
                  <a:gd name="connsiteX94" fmla="*/ 50931 w 399639"/>
                  <a:gd name="connsiteY94" fmla="*/ 245036 h 312761"/>
                  <a:gd name="connsiteX95" fmla="*/ 50931 w 399639"/>
                  <a:gd name="connsiteY95" fmla="*/ 232729 h 312761"/>
                  <a:gd name="connsiteX96" fmla="*/ 59693 w 399639"/>
                  <a:gd name="connsiteY96" fmla="*/ 236669 h 312761"/>
                  <a:gd name="connsiteX97" fmla="*/ 87651 w 399639"/>
                  <a:gd name="connsiteY97" fmla="*/ 244141 h 312761"/>
                  <a:gd name="connsiteX98" fmla="*/ 129718 w 399639"/>
                  <a:gd name="connsiteY98" fmla="*/ 253146 h 312761"/>
                  <a:gd name="connsiteX99" fmla="*/ 129718 w 399639"/>
                  <a:gd name="connsiteY99" fmla="*/ 293493 h 312761"/>
                  <a:gd name="connsiteX100" fmla="*/ 139575 w 399639"/>
                  <a:gd name="connsiteY100" fmla="*/ 306091 h 312761"/>
                  <a:gd name="connsiteX101" fmla="*/ 146113 w 399639"/>
                  <a:gd name="connsiteY101" fmla="*/ 307724 h 312761"/>
                  <a:gd name="connsiteX102" fmla="*/ 251893 w 399639"/>
                  <a:gd name="connsiteY102" fmla="*/ 306899 h 312761"/>
                  <a:gd name="connsiteX103" fmla="*/ 254499 w 399639"/>
                  <a:gd name="connsiteY103" fmla="*/ 306204 h 312761"/>
                  <a:gd name="connsiteX104" fmla="*/ 264160 w 399639"/>
                  <a:gd name="connsiteY104" fmla="*/ 293662 h 312761"/>
                  <a:gd name="connsiteX105" fmla="*/ 264160 w 399639"/>
                  <a:gd name="connsiteY105" fmla="*/ 253763 h 312761"/>
                  <a:gd name="connsiteX106" fmla="*/ 309864 w 399639"/>
                  <a:gd name="connsiteY106" fmla="*/ 244271 h 312761"/>
                  <a:gd name="connsiteX107" fmla="*/ 338469 w 399639"/>
                  <a:gd name="connsiteY107" fmla="*/ 236661 h 312761"/>
                  <a:gd name="connsiteX108" fmla="*/ 348725 w 399639"/>
                  <a:gd name="connsiteY108" fmla="*/ 231726 h 312761"/>
                  <a:gd name="connsiteX109" fmla="*/ 348725 w 399639"/>
                  <a:gd name="connsiteY109" fmla="*/ 245036 h 312761"/>
                  <a:gd name="connsiteX110" fmla="*/ 333547 w 399639"/>
                  <a:gd name="connsiteY110" fmla="*/ 245036 h 312761"/>
                  <a:gd name="connsiteX111" fmla="*/ 318369 w 399639"/>
                  <a:gd name="connsiteY111" fmla="*/ 260214 h 312761"/>
                  <a:gd name="connsiteX112" fmla="*/ 318369 w 399639"/>
                  <a:gd name="connsiteY112" fmla="*/ 263202 h 312761"/>
                  <a:gd name="connsiteX113" fmla="*/ 319115 w 399639"/>
                  <a:gd name="connsiteY113" fmla="*/ 275466 h 312761"/>
                  <a:gd name="connsiteX114" fmla="*/ 331379 w 399639"/>
                  <a:gd name="connsiteY114" fmla="*/ 274720 h 312761"/>
                  <a:gd name="connsiteX115" fmla="*/ 331379 w 399639"/>
                  <a:gd name="connsiteY115" fmla="*/ 263202 h 312761"/>
                  <a:gd name="connsiteX116" fmla="*/ 331379 w 399639"/>
                  <a:gd name="connsiteY116" fmla="*/ 260214 h 312761"/>
                  <a:gd name="connsiteX117" fmla="*/ 333551 w 399639"/>
                  <a:gd name="connsiteY117" fmla="*/ 258042 h 312761"/>
                  <a:gd name="connsiteX118" fmla="*/ 348729 w 399639"/>
                  <a:gd name="connsiteY118" fmla="*/ 258042 h 312761"/>
                  <a:gd name="connsiteX119" fmla="*/ 348729 w 399639"/>
                  <a:gd name="connsiteY119" fmla="*/ 263198 h 312761"/>
                  <a:gd name="connsiteX120" fmla="*/ 349476 w 399639"/>
                  <a:gd name="connsiteY120" fmla="*/ 275462 h 312761"/>
                  <a:gd name="connsiteX121" fmla="*/ 361740 w 399639"/>
                  <a:gd name="connsiteY121" fmla="*/ 274716 h 312761"/>
                  <a:gd name="connsiteX122" fmla="*/ 361740 w 399639"/>
                  <a:gd name="connsiteY122" fmla="*/ 263198 h 312761"/>
                  <a:gd name="connsiteX123" fmla="*/ 361740 w 399639"/>
                  <a:gd name="connsiteY123" fmla="*/ 258042 h 312761"/>
                  <a:gd name="connsiteX124" fmla="*/ 376917 w 399639"/>
                  <a:gd name="connsiteY124" fmla="*/ 258042 h 312761"/>
                  <a:gd name="connsiteX125" fmla="*/ 379089 w 399639"/>
                  <a:gd name="connsiteY125" fmla="*/ 260214 h 312761"/>
                  <a:gd name="connsiteX126" fmla="*/ 379089 w 399639"/>
                  <a:gd name="connsiteY126" fmla="*/ 263202 h 312761"/>
                  <a:gd name="connsiteX127" fmla="*/ 379859 w 399639"/>
                  <a:gd name="connsiteY127" fmla="*/ 275465 h 312761"/>
                  <a:gd name="connsiteX128" fmla="*/ 392121 w 399639"/>
                  <a:gd name="connsiteY128" fmla="*/ 274695 h 312761"/>
                  <a:gd name="connsiteX129" fmla="*/ 392121 w 399639"/>
                  <a:gd name="connsiteY129" fmla="*/ 263202 h 312761"/>
                  <a:gd name="connsiteX130" fmla="*/ 392121 w 399639"/>
                  <a:gd name="connsiteY130" fmla="*/ 260214 h 312761"/>
                  <a:gd name="connsiteX131" fmla="*/ 376917 w 399639"/>
                  <a:gd name="connsiteY131" fmla="*/ 245036 h 312761"/>
                  <a:gd name="connsiteX132" fmla="*/ 361735 w 399639"/>
                  <a:gd name="connsiteY132" fmla="*/ 245036 h 312761"/>
                  <a:gd name="connsiteX133" fmla="*/ 361735 w 399639"/>
                  <a:gd name="connsiteY133" fmla="*/ 226791 h 312761"/>
                  <a:gd name="connsiteX134" fmla="*/ 305402 w 399639"/>
                  <a:gd name="connsiteY134" fmla="*/ 227508 h 312761"/>
                  <a:gd name="connsiteX135" fmla="*/ 199005 w 399639"/>
                  <a:gd name="connsiteY135" fmla="*/ 241409 h 312761"/>
                  <a:gd name="connsiteX136" fmla="*/ 92143 w 399639"/>
                  <a:gd name="connsiteY136" fmla="*/ 227373 h 312761"/>
                  <a:gd name="connsiteX137" fmla="*/ 64185 w 399639"/>
                  <a:gd name="connsiteY137" fmla="*/ 219901 h 312761"/>
                  <a:gd name="connsiteX138" fmla="*/ 55092 w 399639"/>
                  <a:gd name="connsiteY138" fmla="*/ 205744 h 312761"/>
                  <a:gd name="connsiteX139" fmla="*/ 56831 w 399639"/>
                  <a:gd name="connsiteY139" fmla="*/ 201657 h 312761"/>
                  <a:gd name="connsiteX140" fmla="*/ 138667 w 399639"/>
                  <a:gd name="connsiteY140" fmla="*/ 76185 h 312761"/>
                  <a:gd name="connsiteX141" fmla="*/ 160535 w 399639"/>
                  <a:gd name="connsiteY141" fmla="*/ 65060 h 312761"/>
                  <a:gd name="connsiteX142" fmla="*/ 237614 w 399639"/>
                  <a:gd name="connsiteY142" fmla="*/ 65060 h 312761"/>
                  <a:gd name="connsiteX143" fmla="*/ 259482 w 399639"/>
                  <a:gd name="connsiteY143" fmla="*/ 76176 h 312761"/>
                  <a:gd name="connsiteX144" fmla="*/ 341375 w 399639"/>
                  <a:gd name="connsiteY144" fmla="*/ 201639 h 312761"/>
                  <a:gd name="connsiteX145" fmla="*/ 338114 w 399639"/>
                  <a:gd name="connsiteY145" fmla="*/ 218141 h 312761"/>
                  <a:gd name="connsiteX146" fmla="*/ 334012 w 399639"/>
                  <a:gd name="connsiteY146" fmla="*/ 219884 h 312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399639" h="312761">
                    <a:moveTo>
                      <a:pt x="379789" y="221778"/>
                    </a:moveTo>
                    <a:cubicBezTo>
                      <a:pt x="384869" y="220366"/>
                      <a:pt x="388593" y="216027"/>
                      <a:pt x="389220" y="210792"/>
                    </a:cubicBezTo>
                    <a:lnTo>
                      <a:pt x="399545" y="124755"/>
                    </a:lnTo>
                    <a:cubicBezTo>
                      <a:pt x="400404" y="117624"/>
                      <a:pt x="395319" y="111146"/>
                      <a:pt x="388187" y="110287"/>
                    </a:cubicBezTo>
                    <a:cubicBezTo>
                      <a:pt x="387920" y="110255"/>
                      <a:pt x="387651" y="110231"/>
                      <a:pt x="387382" y="110216"/>
                    </a:cubicBezTo>
                    <a:lnTo>
                      <a:pt x="339572" y="107401"/>
                    </a:lnTo>
                    <a:cubicBezTo>
                      <a:pt x="332751" y="107009"/>
                      <a:pt x="326785" y="111951"/>
                      <a:pt x="325902" y="118726"/>
                    </a:cubicBezTo>
                    <a:lnTo>
                      <a:pt x="322939" y="141697"/>
                    </a:lnTo>
                    <a:lnTo>
                      <a:pt x="315637" y="130515"/>
                    </a:lnTo>
                    <a:lnTo>
                      <a:pt x="317300" y="117618"/>
                    </a:lnTo>
                    <a:cubicBezTo>
                      <a:pt x="318712" y="106804"/>
                      <a:pt x="327923" y="98713"/>
                      <a:pt x="338829" y="98708"/>
                    </a:cubicBezTo>
                    <a:cubicBezTo>
                      <a:pt x="339264" y="98708"/>
                      <a:pt x="339698" y="98708"/>
                      <a:pt x="340133" y="98748"/>
                    </a:cubicBezTo>
                    <a:lnTo>
                      <a:pt x="360784" y="99960"/>
                    </a:lnTo>
                    <a:lnTo>
                      <a:pt x="363768" y="81641"/>
                    </a:lnTo>
                    <a:cubicBezTo>
                      <a:pt x="364910" y="74535"/>
                      <a:pt x="360075" y="67848"/>
                      <a:pt x="352969" y="66706"/>
                    </a:cubicBezTo>
                    <a:cubicBezTo>
                      <a:pt x="352579" y="66644"/>
                      <a:pt x="352186" y="66599"/>
                      <a:pt x="351792" y="66572"/>
                    </a:cubicBezTo>
                    <a:lnTo>
                      <a:pt x="312917" y="63965"/>
                    </a:lnTo>
                    <a:cubicBezTo>
                      <a:pt x="306186" y="63527"/>
                      <a:pt x="300233" y="68299"/>
                      <a:pt x="299195" y="74964"/>
                    </a:cubicBezTo>
                    <a:lnTo>
                      <a:pt x="295389" y="99460"/>
                    </a:lnTo>
                    <a:lnTo>
                      <a:pt x="288291" y="88600"/>
                    </a:lnTo>
                    <a:lnTo>
                      <a:pt x="290594" y="73665"/>
                    </a:lnTo>
                    <a:cubicBezTo>
                      <a:pt x="292178" y="63067"/>
                      <a:pt x="301302" y="55239"/>
                      <a:pt x="312018" y="55286"/>
                    </a:cubicBezTo>
                    <a:cubicBezTo>
                      <a:pt x="312496" y="55286"/>
                      <a:pt x="312983" y="55286"/>
                      <a:pt x="313469" y="55338"/>
                    </a:cubicBezTo>
                    <a:lnTo>
                      <a:pt x="322044" y="55907"/>
                    </a:lnTo>
                    <a:lnTo>
                      <a:pt x="323395" y="43744"/>
                    </a:lnTo>
                    <a:cubicBezTo>
                      <a:pt x="324180" y="36589"/>
                      <a:pt x="319017" y="30153"/>
                      <a:pt x="311862" y="29368"/>
                    </a:cubicBezTo>
                    <a:cubicBezTo>
                      <a:pt x="311729" y="29354"/>
                      <a:pt x="311596" y="29341"/>
                      <a:pt x="311462" y="29331"/>
                    </a:cubicBezTo>
                    <a:lnTo>
                      <a:pt x="281115" y="26998"/>
                    </a:lnTo>
                    <a:cubicBezTo>
                      <a:pt x="274086" y="26455"/>
                      <a:pt x="267901" y="31600"/>
                      <a:pt x="267153" y="38609"/>
                    </a:cubicBezTo>
                    <a:lnTo>
                      <a:pt x="265186" y="57315"/>
                    </a:lnTo>
                    <a:cubicBezTo>
                      <a:pt x="257333" y="51083"/>
                      <a:pt x="247600" y="47699"/>
                      <a:pt x="237575" y="47714"/>
                    </a:cubicBezTo>
                    <a:lnTo>
                      <a:pt x="233783" y="47714"/>
                    </a:lnTo>
                    <a:lnTo>
                      <a:pt x="233783" y="17306"/>
                    </a:lnTo>
                    <a:cubicBezTo>
                      <a:pt x="233779" y="14161"/>
                      <a:pt x="232530" y="11145"/>
                      <a:pt x="230308" y="8918"/>
                    </a:cubicBezTo>
                    <a:cubicBezTo>
                      <a:pt x="228712" y="7579"/>
                      <a:pt x="226929" y="6480"/>
                      <a:pt x="225017" y="5656"/>
                    </a:cubicBezTo>
                    <a:cubicBezTo>
                      <a:pt x="209007" y="-1809"/>
                      <a:pt x="190531" y="-1888"/>
                      <a:pt x="174457" y="5439"/>
                    </a:cubicBezTo>
                    <a:cubicBezTo>
                      <a:pt x="172226" y="6328"/>
                      <a:pt x="170117" y="7496"/>
                      <a:pt x="168180" y="8914"/>
                    </a:cubicBezTo>
                    <a:cubicBezTo>
                      <a:pt x="165958" y="11141"/>
                      <a:pt x="164708" y="14157"/>
                      <a:pt x="164705" y="17302"/>
                    </a:cubicBezTo>
                    <a:lnTo>
                      <a:pt x="164705" y="47710"/>
                    </a:lnTo>
                    <a:lnTo>
                      <a:pt x="160526" y="47710"/>
                    </a:lnTo>
                    <a:cubicBezTo>
                      <a:pt x="151113" y="47699"/>
                      <a:pt x="141941" y="50679"/>
                      <a:pt x="134332" y="56220"/>
                    </a:cubicBezTo>
                    <a:lnTo>
                      <a:pt x="132490" y="38609"/>
                    </a:lnTo>
                    <a:cubicBezTo>
                      <a:pt x="131743" y="31611"/>
                      <a:pt x="125573" y="26470"/>
                      <a:pt x="118554" y="26998"/>
                    </a:cubicBezTo>
                    <a:lnTo>
                      <a:pt x="88207" y="29331"/>
                    </a:lnTo>
                    <a:cubicBezTo>
                      <a:pt x="81032" y="29894"/>
                      <a:pt x="75673" y="36169"/>
                      <a:pt x="76236" y="43344"/>
                    </a:cubicBezTo>
                    <a:cubicBezTo>
                      <a:pt x="76247" y="43477"/>
                      <a:pt x="76259" y="43611"/>
                      <a:pt x="76274" y="43744"/>
                    </a:cubicBezTo>
                    <a:lnTo>
                      <a:pt x="77625" y="55907"/>
                    </a:lnTo>
                    <a:lnTo>
                      <a:pt x="86200" y="55338"/>
                    </a:lnTo>
                    <a:cubicBezTo>
                      <a:pt x="86687" y="55303"/>
                      <a:pt x="87173" y="55286"/>
                      <a:pt x="87651" y="55286"/>
                    </a:cubicBezTo>
                    <a:cubicBezTo>
                      <a:pt x="98366" y="55238"/>
                      <a:pt x="107491" y="63067"/>
                      <a:pt x="109071" y="73665"/>
                    </a:cubicBezTo>
                    <a:lnTo>
                      <a:pt x="111091" y="86723"/>
                    </a:lnTo>
                    <a:lnTo>
                      <a:pt x="103993" y="97583"/>
                    </a:lnTo>
                    <a:lnTo>
                      <a:pt x="100518" y="74969"/>
                    </a:lnTo>
                    <a:cubicBezTo>
                      <a:pt x="99480" y="68303"/>
                      <a:pt x="93527" y="63532"/>
                      <a:pt x="86795" y="63970"/>
                    </a:cubicBezTo>
                    <a:lnTo>
                      <a:pt x="47921" y="66576"/>
                    </a:lnTo>
                    <a:cubicBezTo>
                      <a:pt x="40740" y="67068"/>
                      <a:pt x="35318" y="73287"/>
                      <a:pt x="35810" y="80468"/>
                    </a:cubicBezTo>
                    <a:cubicBezTo>
                      <a:pt x="35837" y="80862"/>
                      <a:pt x="35882" y="81255"/>
                      <a:pt x="35945" y="81645"/>
                    </a:cubicBezTo>
                    <a:lnTo>
                      <a:pt x="38929" y="99964"/>
                    </a:lnTo>
                    <a:lnTo>
                      <a:pt x="59580" y="98752"/>
                    </a:lnTo>
                    <a:cubicBezTo>
                      <a:pt x="60015" y="98726"/>
                      <a:pt x="60449" y="98713"/>
                      <a:pt x="60883" y="98713"/>
                    </a:cubicBezTo>
                    <a:cubicBezTo>
                      <a:pt x="71776" y="98735"/>
                      <a:pt x="80968" y="106821"/>
                      <a:pt x="82378" y="117622"/>
                    </a:cubicBezTo>
                    <a:lnTo>
                      <a:pt x="83794" y="128617"/>
                    </a:lnTo>
                    <a:lnTo>
                      <a:pt x="76452" y="139803"/>
                    </a:lnTo>
                    <a:lnTo>
                      <a:pt x="73733" y="118726"/>
                    </a:lnTo>
                    <a:cubicBezTo>
                      <a:pt x="72849" y="111951"/>
                      <a:pt x="66883" y="107009"/>
                      <a:pt x="60062" y="107401"/>
                    </a:cubicBezTo>
                    <a:lnTo>
                      <a:pt x="12257" y="110216"/>
                    </a:lnTo>
                    <a:cubicBezTo>
                      <a:pt x="5086" y="110630"/>
                      <a:pt x="-392" y="116779"/>
                      <a:pt x="22" y="123949"/>
                    </a:cubicBezTo>
                    <a:cubicBezTo>
                      <a:pt x="38" y="124219"/>
                      <a:pt x="61" y="124487"/>
                      <a:pt x="94" y="124755"/>
                    </a:cubicBezTo>
                    <a:lnTo>
                      <a:pt x="10424" y="210792"/>
                    </a:lnTo>
                    <a:cubicBezTo>
                      <a:pt x="11051" y="216028"/>
                      <a:pt x="14777" y="220368"/>
                      <a:pt x="19859" y="221778"/>
                    </a:cubicBezTo>
                    <a:lnTo>
                      <a:pt x="37912" y="226795"/>
                    </a:lnTo>
                    <a:lnTo>
                      <a:pt x="37912" y="245040"/>
                    </a:lnTo>
                    <a:lnTo>
                      <a:pt x="22743" y="245040"/>
                    </a:lnTo>
                    <a:cubicBezTo>
                      <a:pt x="14368" y="245054"/>
                      <a:pt x="7582" y="251839"/>
                      <a:pt x="7565" y="260214"/>
                    </a:cubicBezTo>
                    <a:lnTo>
                      <a:pt x="7565" y="263202"/>
                    </a:lnTo>
                    <a:cubicBezTo>
                      <a:pt x="4392" y="266801"/>
                      <a:pt x="4736" y="272291"/>
                      <a:pt x="8335" y="275465"/>
                    </a:cubicBezTo>
                    <a:cubicBezTo>
                      <a:pt x="11933" y="278639"/>
                      <a:pt x="17424" y="278294"/>
                      <a:pt x="20597" y="274695"/>
                    </a:cubicBezTo>
                    <a:cubicBezTo>
                      <a:pt x="23493" y="271412"/>
                      <a:pt x="23493" y="266486"/>
                      <a:pt x="20597" y="263202"/>
                    </a:cubicBezTo>
                    <a:lnTo>
                      <a:pt x="20597" y="260214"/>
                    </a:lnTo>
                    <a:cubicBezTo>
                      <a:pt x="20597" y="259014"/>
                      <a:pt x="21570" y="258042"/>
                      <a:pt x="22769" y="258042"/>
                    </a:cubicBezTo>
                    <a:lnTo>
                      <a:pt x="37921" y="258042"/>
                    </a:lnTo>
                    <a:lnTo>
                      <a:pt x="37921" y="263198"/>
                    </a:lnTo>
                    <a:cubicBezTo>
                      <a:pt x="34741" y="266790"/>
                      <a:pt x="35075" y="272281"/>
                      <a:pt x="38667" y="275462"/>
                    </a:cubicBezTo>
                    <a:cubicBezTo>
                      <a:pt x="42260" y="278643"/>
                      <a:pt x="47751" y="278309"/>
                      <a:pt x="50931" y="274716"/>
                    </a:cubicBezTo>
                    <a:cubicBezTo>
                      <a:pt x="53842" y="271428"/>
                      <a:pt x="53842" y="266486"/>
                      <a:pt x="50931" y="263198"/>
                    </a:cubicBezTo>
                    <a:lnTo>
                      <a:pt x="50931" y="258042"/>
                    </a:lnTo>
                    <a:lnTo>
                      <a:pt x="66109" y="258042"/>
                    </a:lnTo>
                    <a:cubicBezTo>
                      <a:pt x="67309" y="258042"/>
                      <a:pt x="68281" y="259014"/>
                      <a:pt x="68281" y="260214"/>
                    </a:cubicBezTo>
                    <a:lnTo>
                      <a:pt x="68281" y="263202"/>
                    </a:lnTo>
                    <a:cubicBezTo>
                      <a:pt x="65108" y="266801"/>
                      <a:pt x="65452" y="272291"/>
                      <a:pt x="69051" y="275465"/>
                    </a:cubicBezTo>
                    <a:cubicBezTo>
                      <a:pt x="72650" y="278639"/>
                      <a:pt x="78140" y="278294"/>
                      <a:pt x="81313" y="274695"/>
                    </a:cubicBezTo>
                    <a:cubicBezTo>
                      <a:pt x="84209" y="271412"/>
                      <a:pt x="84209" y="266486"/>
                      <a:pt x="81313" y="263202"/>
                    </a:cubicBezTo>
                    <a:lnTo>
                      <a:pt x="81313" y="260214"/>
                    </a:lnTo>
                    <a:cubicBezTo>
                      <a:pt x="81299" y="251837"/>
                      <a:pt x="74512" y="245050"/>
                      <a:pt x="66135" y="245036"/>
                    </a:cubicBezTo>
                    <a:lnTo>
                      <a:pt x="50931" y="245036"/>
                    </a:lnTo>
                    <a:lnTo>
                      <a:pt x="50931" y="232729"/>
                    </a:lnTo>
                    <a:cubicBezTo>
                      <a:pt x="53627" y="234494"/>
                      <a:pt x="56584" y="235823"/>
                      <a:pt x="59693" y="236669"/>
                    </a:cubicBezTo>
                    <a:lnTo>
                      <a:pt x="87651" y="244141"/>
                    </a:lnTo>
                    <a:cubicBezTo>
                      <a:pt x="101526" y="247845"/>
                      <a:pt x="115548" y="250847"/>
                      <a:pt x="129718" y="253146"/>
                    </a:cubicBezTo>
                    <a:lnTo>
                      <a:pt x="129718" y="293493"/>
                    </a:lnTo>
                    <a:cubicBezTo>
                      <a:pt x="129737" y="299452"/>
                      <a:pt x="133796" y="304639"/>
                      <a:pt x="139575" y="306091"/>
                    </a:cubicBezTo>
                    <a:lnTo>
                      <a:pt x="146113" y="307724"/>
                    </a:lnTo>
                    <a:cubicBezTo>
                      <a:pt x="181056" y="314709"/>
                      <a:pt x="217063" y="314428"/>
                      <a:pt x="251893" y="306899"/>
                    </a:cubicBezTo>
                    <a:lnTo>
                      <a:pt x="254499" y="306204"/>
                    </a:lnTo>
                    <a:cubicBezTo>
                      <a:pt x="260181" y="304682"/>
                      <a:pt x="264139" y="299544"/>
                      <a:pt x="264160" y="293662"/>
                    </a:cubicBezTo>
                    <a:lnTo>
                      <a:pt x="264160" y="253763"/>
                    </a:lnTo>
                    <a:cubicBezTo>
                      <a:pt x="279555" y="251424"/>
                      <a:pt x="294811" y="248256"/>
                      <a:pt x="309864" y="244271"/>
                    </a:cubicBezTo>
                    <a:lnTo>
                      <a:pt x="338469" y="236661"/>
                    </a:lnTo>
                    <a:cubicBezTo>
                      <a:pt x="342166" y="235673"/>
                      <a:pt x="345645" y="233999"/>
                      <a:pt x="348725" y="231726"/>
                    </a:cubicBezTo>
                    <a:lnTo>
                      <a:pt x="348725" y="245036"/>
                    </a:lnTo>
                    <a:lnTo>
                      <a:pt x="333547" y="245036"/>
                    </a:lnTo>
                    <a:cubicBezTo>
                      <a:pt x="325170" y="245050"/>
                      <a:pt x="318383" y="251837"/>
                      <a:pt x="318369" y="260214"/>
                    </a:cubicBezTo>
                    <a:lnTo>
                      <a:pt x="318369" y="263202"/>
                    </a:lnTo>
                    <a:cubicBezTo>
                      <a:pt x="315188" y="266795"/>
                      <a:pt x="315523" y="272286"/>
                      <a:pt x="319115" y="275466"/>
                    </a:cubicBezTo>
                    <a:cubicBezTo>
                      <a:pt x="322708" y="278647"/>
                      <a:pt x="328199" y="278313"/>
                      <a:pt x="331379" y="274720"/>
                    </a:cubicBezTo>
                    <a:cubicBezTo>
                      <a:pt x="334290" y="271432"/>
                      <a:pt x="334290" y="266490"/>
                      <a:pt x="331379" y="263202"/>
                    </a:cubicBezTo>
                    <a:lnTo>
                      <a:pt x="331379" y="260214"/>
                    </a:lnTo>
                    <a:cubicBezTo>
                      <a:pt x="331379" y="259014"/>
                      <a:pt x="332352" y="258042"/>
                      <a:pt x="333551" y="258042"/>
                    </a:cubicBezTo>
                    <a:lnTo>
                      <a:pt x="348729" y="258042"/>
                    </a:lnTo>
                    <a:lnTo>
                      <a:pt x="348729" y="263198"/>
                    </a:lnTo>
                    <a:cubicBezTo>
                      <a:pt x="345549" y="266790"/>
                      <a:pt x="345883" y="272281"/>
                      <a:pt x="349476" y="275462"/>
                    </a:cubicBezTo>
                    <a:cubicBezTo>
                      <a:pt x="353068" y="278643"/>
                      <a:pt x="358559" y="278309"/>
                      <a:pt x="361740" y="274716"/>
                    </a:cubicBezTo>
                    <a:cubicBezTo>
                      <a:pt x="364650" y="271428"/>
                      <a:pt x="364650" y="266486"/>
                      <a:pt x="361740" y="263198"/>
                    </a:cubicBezTo>
                    <a:lnTo>
                      <a:pt x="361740" y="258042"/>
                    </a:lnTo>
                    <a:lnTo>
                      <a:pt x="376917" y="258042"/>
                    </a:lnTo>
                    <a:cubicBezTo>
                      <a:pt x="378117" y="258042"/>
                      <a:pt x="379089" y="259014"/>
                      <a:pt x="379089" y="260214"/>
                    </a:cubicBezTo>
                    <a:lnTo>
                      <a:pt x="379089" y="263202"/>
                    </a:lnTo>
                    <a:cubicBezTo>
                      <a:pt x="375916" y="266801"/>
                      <a:pt x="376260" y="272291"/>
                      <a:pt x="379859" y="275465"/>
                    </a:cubicBezTo>
                    <a:cubicBezTo>
                      <a:pt x="383458" y="278639"/>
                      <a:pt x="388948" y="278294"/>
                      <a:pt x="392121" y="274695"/>
                    </a:cubicBezTo>
                    <a:cubicBezTo>
                      <a:pt x="395018" y="271412"/>
                      <a:pt x="395018" y="266486"/>
                      <a:pt x="392121" y="263202"/>
                    </a:cubicBezTo>
                    <a:lnTo>
                      <a:pt x="392121" y="260214"/>
                    </a:lnTo>
                    <a:cubicBezTo>
                      <a:pt x="392107" y="251827"/>
                      <a:pt x="385304" y="245036"/>
                      <a:pt x="376917" y="245036"/>
                    </a:cubicBezTo>
                    <a:lnTo>
                      <a:pt x="361735" y="245036"/>
                    </a:lnTo>
                    <a:lnTo>
                      <a:pt x="361735" y="226791"/>
                    </a:lnTo>
                    <a:close/>
                    <a:moveTo>
                      <a:pt x="305402" y="227508"/>
                    </a:moveTo>
                    <a:cubicBezTo>
                      <a:pt x="270690" y="236739"/>
                      <a:pt x="234924" y="241412"/>
                      <a:pt x="199005" y="241409"/>
                    </a:cubicBezTo>
                    <a:cubicBezTo>
                      <a:pt x="162925" y="241406"/>
                      <a:pt x="127000" y="236687"/>
                      <a:pt x="92143" y="227373"/>
                    </a:cubicBezTo>
                    <a:lnTo>
                      <a:pt x="64185" y="219901"/>
                    </a:lnTo>
                    <a:cubicBezTo>
                      <a:pt x="57764" y="218503"/>
                      <a:pt x="53693" y="212164"/>
                      <a:pt x="55092" y="205744"/>
                    </a:cubicBezTo>
                    <a:cubicBezTo>
                      <a:pt x="55410" y="204284"/>
                      <a:pt x="56000" y="202898"/>
                      <a:pt x="56831" y="201657"/>
                    </a:cubicBezTo>
                    <a:lnTo>
                      <a:pt x="138667" y="76185"/>
                    </a:lnTo>
                    <a:cubicBezTo>
                      <a:pt x="143700" y="69126"/>
                      <a:pt x="151865" y="64972"/>
                      <a:pt x="160535" y="65060"/>
                    </a:cubicBezTo>
                    <a:lnTo>
                      <a:pt x="237614" y="65060"/>
                    </a:lnTo>
                    <a:cubicBezTo>
                      <a:pt x="246281" y="64973"/>
                      <a:pt x="254445" y="69122"/>
                      <a:pt x="259482" y="76176"/>
                    </a:cubicBezTo>
                    <a:lnTo>
                      <a:pt x="341375" y="201639"/>
                    </a:lnTo>
                    <a:cubicBezTo>
                      <a:pt x="345031" y="207096"/>
                      <a:pt x="343572" y="214485"/>
                      <a:pt x="338114" y="218141"/>
                    </a:cubicBezTo>
                    <a:cubicBezTo>
                      <a:pt x="336869" y="218975"/>
                      <a:pt x="335477" y="219567"/>
                      <a:pt x="334012" y="219884"/>
                    </a:cubicBezTo>
                    <a:close/>
                  </a:path>
                </a:pathLst>
              </a:custGeom>
              <a:solidFill>
                <a:srgbClr val="000000"/>
              </a:solidFill>
              <a:ln w="4266" cap="flat">
                <a:noFill/>
                <a:prstDash val="solid"/>
                <a:miter/>
              </a:ln>
            </p:spPr>
            <p:txBody>
              <a:bodyPr rtlCol="0" anchor="ctr"/>
              <a:lstStyle/>
              <a:p>
                <a:endParaRPr lang="en-US">
                  <a:latin typeface="Calibri" panose="020F0502020204030204" pitchFamily="34" charset="0"/>
                  <a:cs typeface="Calibri" panose="020F0502020204030204" pitchFamily="34" charset="0"/>
                </a:endParaRPr>
              </a:p>
            </p:txBody>
          </p:sp>
        </p:grpSp>
      </p:grpSp>
      <p:grpSp>
        <p:nvGrpSpPr>
          <p:cNvPr id="183301" name="Group 183300">
            <a:extLst>
              <a:ext uri="{FF2B5EF4-FFF2-40B4-BE49-F238E27FC236}">
                <a16:creationId xmlns:a16="http://schemas.microsoft.com/office/drawing/2014/main" id="{40F46EBF-E3F4-B340-57ED-78CDA7F17EBA}"/>
              </a:ext>
            </a:extLst>
          </p:cNvPr>
          <p:cNvGrpSpPr>
            <a:grpSpLocks/>
          </p:cNvGrpSpPr>
          <p:nvPr/>
        </p:nvGrpSpPr>
        <p:grpSpPr bwMode="auto">
          <a:xfrm>
            <a:off x="0" y="82931"/>
            <a:ext cx="9144000" cy="576262"/>
            <a:chOff x="-2" y="-17079"/>
            <a:chExt cx="12192002" cy="768578"/>
          </a:xfrm>
        </p:grpSpPr>
        <p:sp>
          <p:nvSpPr>
            <p:cNvPr id="183302" name="Title 1">
              <a:extLst>
                <a:ext uri="{FF2B5EF4-FFF2-40B4-BE49-F238E27FC236}">
                  <a16:creationId xmlns:a16="http://schemas.microsoft.com/office/drawing/2014/main" id="{24881371-E8DA-19A5-7962-D9D5C40CF78A}"/>
                </a:ext>
              </a:extLst>
            </p:cNvPr>
            <p:cNvSpPr txBox="1">
              <a:spLocks/>
            </p:cNvSpPr>
            <p:nvPr/>
          </p:nvSpPr>
          <p:spPr>
            <a:xfrm>
              <a:off x="-2" y="-17079"/>
              <a:ext cx="11270514" cy="733643"/>
            </a:xfrm>
            <a:prstGeom prst="rect">
              <a:avLst/>
            </a:prstGeom>
            <a:noFill/>
            <a:ln>
              <a:noFill/>
            </a:ln>
          </p:spPr>
          <p:txBody>
            <a:bodyPr anchor="ctr">
              <a:normAutofit/>
            </a:bodyPr>
            <a:lstStyle>
              <a:lvl1pPr algn="l" defTabSz="914400" rtl="0" eaLnBrk="1" latinLnBrk="0" hangingPunct="1">
                <a:spcBef>
                  <a:spcPct val="0"/>
                </a:spcBef>
                <a:buNone/>
                <a:defRPr sz="4000" kern="1200" spc="-100" baseline="0">
                  <a:solidFill>
                    <a:schemeClr val="tx2"/>
                  </a:solidFill>
                  <a:latin typeface="+mj-lt"/>
                  <a:ea typeface="+mj-ea"/>
                  <a:cs typeface="+mj-cs"/>
                </a:defRPr>
              </a:lvl1pPr>
            </a:lstStyle>
            <a:p>
              <a:pPr fontAlgn="auto">
                <a:spcAft>
                  <a:spcPts val="0"/>
                </a:spcAft>
                <a:defRPr/>
              </a:pPr>
              <a:r>
                <a:rPr lang="en-US" sz="2400" b="1" dirty="0">
                  <a:solidFill>
                    <a:schemeClr val="tx1"/>
                  </a:solidFill>
                  <a:latin typeface="Calibri" panose="020F0502020204030204" pitchFamily="34" charset="0"/>
                  <a:cs typeface="Calibri" panose="020F0502020204030204" pitchFamily="34" charset="0"/>
                </a:rPr>
                <a:t>Summary</a:t>
              </a:r>
              <a:endParaRPr lang="en-US" sz="2100" b="1" dirty="0">
                <a:solidFill>
                  <a:srgbClr val="000000"/>
                </a:solidFill>
                <a:latin typeface="Calibri" panose="020F0502020204030204" pitchFamily="34" charset="0"/>
                <a:cs typeface="Calibri" panose="020F0502020204030204" pitchFamily="34" charset="0"/>
              </a:endParaRPr>
            </a:p>
          </p:txBody>
        </p:sp>
        <p:grpSp>
          <p:nvGrpSpPr>
            <p:cNvPr id="183303" name="Group 39">
              <a:extLst>
                <a:ext uri="{FF2B5EF4-FFF2-40B4-BE49-F238E27FC236}">
                  <a16:creationId xmlns:a16="http://schemas.microsoft.com/office/drawing/2014/main" id="{B8DA43BE-5BC9-AC8D-6F20-9D660AC2A39C}"/>
                </a:ext>
              </a:extLst>
            </p:cNvPr>
            <p:cNvGrpSpPr>
              <a:grpSpLocks/>
            </p:cNvGrpSpPr>
            <p:nvPr/>
          </p:nvGrpSpPr>
          <p:grpSpPr bwMode="auto">
            <a:xfrm>
              <a:off x="-2" y="645614"/>
              <a:ext cx="12192002" cy="105885"/>
              <a:chOff x="2373524" y="569416"/>
              <a:chExt cx="6496168" cy="87055"/>
            </a:xfrm>
          </p:grpSpPr>
          <p:sp>
            <p:nvSpPr>
              <p:cNvPr id="183304" name="Rectangle 183303">
                <a:extLst>
                  <a:ext uri="{FF2B5EF4-FFF2-40B4-BE49-F238E27FC236}">
                    <a16:creationId xmlns:a16="http://schemas.microsoft.com/office/drawing/2014/main" id="{9A38BB28-1D92-3500-B1DE-DF206A54B5D3}"/>
                  </a:ext>
                </a:extLst>
              </p:cNvPr>
              <p:cNvSpPr/>
              <p:nvPr/>
            </p:nvSpPr>
            <p:spPr>
              <a:xfrm>
                <a:off x="2373524" y="597720"/>
                <a:ext cx="6496168" cy="58751"/>
              </a:xfrm>
              <a:prstGeom prst="rect">
                <a:avLst/>
              </a:prstGeom>
              <a:solidFill>
                <a:srgbClr val="F2C75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sp>
            <p:nvSpPr>
              <p:cNvPr id="183305" name="Rectangle 183304">
                <a:extLst>
                  <a:ext uri="{FF2B5EF4-FFF2-40B4-BE49-F238E27FC236}">
                    <a16:creationId xmlns:a16="http://schemas.microsoft.com/office/drawing/2014/main" id="{5F4442AA-F6DB-F0DF-B16F-3AFF60C336B9}"/>
                  </a:ext>
                </a:extLst>
              </p:cNvPr>
              <p:cNvSpPr/>
              <p:nvPr/>
            </p:nvSpPr>
            <p:spPr>
              <a:xfrm>
                <a:off x="2373524" y="568997"/>
                <a:ext cx="6496168" cy="5875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2100">
                  <a:solidFill>
                    <a:srgbClr val="FFFFFF"/>
                  </a:solidFill>
                  <a:latin typeface="Calibri" panose="020F0502020204030204" pitchFamily="34" charset="0"/>
                  <a:cs typeface="Calibri" panose="020F0502020204030204" pitchFamily="34" charset="0"/>
                </a:endParaRPr>
              </a:p>
            </p:txBody>
          </p:sp>
        </p:grpSp>
      </p:grpSp>
      <p:pic>
        <p:nvPicPr>
          <p:cNvPr id="56" name="Picture 30" descr="Related image">
            <a:extLst>
              <a:ext uri="{FF2B5EF4-FFF2-40B4-BE49-F238E27FC236}">
                <a16:creationId xmlns:a16="http://schemas.microsoft.com/office/drawing/2014/main" id="{BE4121C5-19B4-7E1E-8FBD-9AD95B0BD2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5064" b="4326"/>
          <a:stretch>
            <a:fillRect/>
          </a:stretch>
        </p:blipFill>
        <p:spPr bwMode="auto">
          <a:xfrm>
            <a:off x="8003421" y="6353608"/>
            <a:ext cx="328164" cy="292628"/>
          </a:xfrm>
          <a:prstGeom prst="rect">
            <a:avLst/>
          </a:prstGeom>
          <a:solidFill>
            <a:srgbClr val="F2C755"/>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32" name="Graphic 31" descr="Lights On with solid fill">
            <a:extLst>
              <a:ext uri="{FF2B5EF4-FFF2-40B4-BE49-F238E27FC236}">
                <a16:creationId xmlns:a16="http://schemas.microsoft.com/office/drawing/2014/main" id="{A12CA388-ADD2-F38E-1571-3E15E265164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5736" y="6285702"/>
            <a:ext cx="461513" cy="461513"/>
          </a:xfrm>
          <a:prstGeom prst="rect">
            <a:avLst/>
          </a:prstGeom>
        </p:spPr>
      </p:pic>
      <p:sp>
        <p:nvSpPr>
          <p:cNvPr id="20" name="TextBox 19">
            <a:extLst>
              <a:ext uri="{FF2B5EF4-FFF2-40B4-BE49-F238E27FC236}">
                <a16:creationId xmlns:a16="http://schemas.microsoft.com/office/drawing/2014/main" id="{5EF8CABE-0D0B-6B71-7D07-83DD187C4834}"/>
              </a:ext>
            </a:extLst>
          </p:cNvPr>
          <p:cNvSpPr txBox="1"/>
          <p:nvPr/>
        </p:nvSpPr>
        <p:spPr>
          <a:xfrm>
            <a:off x="8814943" y="6550223"/>
            <a:ext cx="375313" cy="307777"/>
          </a:xfrm>
          <a:prstGeom prst="rect">
            <a:avLst/>
          </a:prstGeom>
          <a:noFill/>
        </p:spPr>
        <p:txBody>
          <a:bodyPr wrap="square" rtlCol="0">
            <a:spAutoFit/>
          </a:bodyPr>
          <a:lstStyle/>
          <a:p>
            <a:fld id="{6C70A1E9-CA4E-4A43-9D14-22619BB16EFD}" type="slidenum">
              <a:rPr lang="en-US" sz="1400" smtClean="0">
                <a:latin typeface="Calibri" panose="020F0502020204030204" pitchFamily="34" charset="0"/>
                <a:cs typeface="Calibri" panose="020F0502020204030204" pitchFamily="34" charset="0"/>
              </a:rPr>
              <a:t>21</a:t>
            </a:fld>
            <a:endParaRPr lang="en-US" sz="1400">
              <a:latin typeface="Calibri" panose="020F0502020204030204" pitchFamily="34" charset="0"/>
              <a:cs typeface="Calibri" panose="020F0502020204030204" pitchFamily="34" charset="0"/>
            </a:endParaRPr>
          </a:p>
        </p:txBody>
      </p:sp>
      <p:sp>
        <p:nvSpPr>
          <p:cNvPr id="2" name="Rounded Rectangle 19">
            <a:extLst>
              <a:ext uri="{FF2B5EF4-FFF2-40B4-BE49-F238E27FC236}">
                <a16:creationId xmlns:a16="http://schemas.microsoft.com/office/drawing/2014/main" id="{730893D0-5ADF-5FDB-52D2-0AA137BA6675}"/>
              </a:ext>
            </a:extLst>
          </p:cNvPr>
          <p:cNvSpPr/>
          <p:nvPr/>
        </p:nvSpPr>
        <p:spPr>
          <a:xfrm>
            <a:off x="141953" y="1121860"/>
            <a:ext cx="3395571" cy="743581"/>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200" b="1" dirty="0">
                <a:solidFill>
                  <a:srgbClr val="000000"/>
                </a:solidFill>
                <a:latin typeface="Calibri"/>
                <a:ea typeface="Calibri"/>
                <a:cs typeface="Calibri"/>
              </a:rPr>
              <a:t>RECOMMENDATION: HOLD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DC1DA319-672E-3C0B-F86A-87964FAD1F47}"/>
              </a:ext>
            </a:extLst>
          </p:cNvPr>
          <p:cNvSpPr/>
          <p:nvPr/>
        </p:nvSpPr>
        <p:spPr>
          <a:xfrm>
            <a:off x="141952" y="2097860"/>
            <a:ext cx="3395571" cy="3499394"/>
          </a:xfrm>
          <a:prstGeom prst="rect">
            <a:avLst/>
          </a:prstGeom>
          <a:solidFill>
            <a:srgbClr val="F2C755"/>
          </a:solidFill>
          <a:ln w="2857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Johnson Outdoors is still dealing with weak post-stimulus demand and heavy discounting, which keeps margins and EPS suppressed through FY25</a:t>
            </a:r>
          </a:p>
          <a:p>
            <a:pPr marL="171450" indent="-171450">
              <a:buFont typeface="Arial" panose="020B0604020202020204" pitchFamily="34" charset="0"/>
              <a:buChar cha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While free cash flow begins to recover, most improvement is gradual and doesn’t fully offset slower revenue growth and limited pricing power</a:t>
            </a:r>
          </a:p>
          <a:p>
            <a:pPr marL="171450" indent="-171450">
              <a:buFont typeface="Arial" panose="020B0604020202020204" pitchFamily="34" charset="0"/>
              <a:buChar cha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The balance sheet is healthy and leverage remains low, but structural exposure to weather and discretionary outdoor spending creates ongoing volatility</a:t>
            </a:r>
          </a:p>
          <a:p>
            <a:pPr marL="171450" indent="-171450">
              <a:buFont typeface="Arial" panose="020B0604020202020204" pitchFamily="34" charset="0"/>
              <a:buChar cha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Given mixed near-term fundamentals but long-term recovery potential, we view shares as fairly valued with a neutral risk-reward profile, supporting a HOLD recommendation</a:t>
            </a:r>
          </a:p>
        </p:txBody>
      </p:sp>
      <p:grpSp>
        <p:nvGrpSpPr>
          <p:cNvPr id="13" name="Group 2056">
            <a:extLst>
              <a:ext uri="{FF2B5EF4-FFF2-40B4-BE49-F238E27FC236}">
                <a16:creationId xmlns:a16="http://schemas.microsoft.com/office/drawing/2014/main" id="{6AC9B5C4-24CD-8BA5-A769-C1832F4BEFB6}"/>
              </a:ext>
            </a:extLst>
          </p:cNvPr>
          <p:cNvGrpSpPr>
            <a:grpSpLocks/>
          </p:cNvGrpSpPr>
          <p:nvPr/>
        </p:nvGrpSpPr>
        <p:grpSpPr bwMode="auto">
          <a:xfrm>
            <a:off x="3921226" y="5218635"/>
            <a:ext cx="4952871" cy="378620"/>
            <a:chOff x="5404032" y="5832695"/>
            <a:chExt cx="6336921" cy="505124"/>
          </a:xfrm>
        </p:grpSpPr>
        <p:sp>
          <p:nvSpPr>
            <p:cNvPr id="14" name="Rounded Rectangle 36">
              <a:extLst>
                <a:ext uri="{FF2B5EF4-FFF2-40B4-BE49-F238E27FC236}">
                  <a16:creationId xmlns:a16="http://schemas.microsoft.com/office/drawing/2014/main" id="{439C6F31-3872-D81C-7FC8-1A3E07A27DF9}"/>
                </a:ext>
              </a:extLst>
            </p:cNvPr>
            <p:cNvSpPr/>
            <p:nvPr/>
          </p:nvSpPr>
          <p:spPr>
            <a:xfrm>
              <a:off x="5404032" y="5832696"/>
              <a:ext cx="2407109" cy="505123"/>
            </a:xfrm>
            <a:prstGeom prst="roundRect">
              <a:avLst/>
            </a:prstGeom>
            <a:solidFill>
              <a:srgbClr val="F2C755"/>
            </a:solidFill>
            <a:ln w="317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Current Price: $40.96</a:t>
              </a:r>
            </a:p>
          </p:txBody>
        </p:sp>
        <p:sp>
          <p:nvSpPr>
            <p:cNvPr id="15" name="Down Arrow 38">
              <a:extLst>
                <a:ext uri="{FF2B5EF4-FFF2-40B4-BE49-F238E27FC236}">
                  <a16:creationId xmlns:a16="http://schemas.microsoft.com/office/drawing/2014/main" id="{E04C7F17-653B-0DAB-421F-6765E0FD88F3}"/>
                </a:ext>
              </a:extLst>
            </p:cNvPr>
            <p:cNvSpPr/>
            <p:nvPr/>
          </p:nvSpPr>
          <p:spPr>
            <a:xfrm rot="16200000">
              <a:off x="8362634" y="5681955"/>
              <a:ext cx="505123" cy="806604"/>
            </a:xfrm>
            <a:prstGeom prst="downArrow">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6" name="Rounded Rectangle 28">
              <a:extLst>
                <a:ext uri="{FF2B5EF4-FFF2-40B4-BE49-F238E27FC236}">
                  <a16:creationId xmlns:a16="http://schemas.microsoft.com/office/drawing/2014/main" id="{4118154F-78D7-670C-71A4-FF790C2F28DA}"/>
                </a:ext>
              </a:extLst>
            </p:cNvPr>
            <p:cNvSpPr/>
            <p:nvPr/>
          </p:nvSpPr>
          <p:spPr>
            <a:xfrm>
              <a:off x="9333844" y="5832696"/>
              <a:ext cx="2407109" cy="505123"/>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200" b="1" dirty="0">
                  <a:solidFill>
                    <a:srgbClr val="000000"/>
                  </a:solidFill>
                  <a:latin typeface="Calibri"/>
                  <a:ea typeface="Calibri"/>
                  <a:cs typeface="Calibri"/>
                </a:rPr>
                <a:t>Target Price: $46</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pic>
        <p:nvPicPr>
          <p:cNvPr id="3" name="Picture 2" descr="Outdoor Industry Jobs">
            <a:extLst>
              <a:ext uri="{FF2B5EF4-FFF2-40B4-BE49-F238E27FC236}">
                <a16:creationId xmlns:a16="http://schemas.microsoft.com/office/drawing/2014/main" id="{C6334EA8-9CAB-A328-3BA9-FD605AF5000A}"/>
              </a:ext>
            </a:extLst>
          </p:cNvPr>
          <p:cNvPicPr>
            <a:picLocks noChangeAspect="1"/>
          </p:cNvPicPr>
          <p:nvPr/>
        </p:nvPicPr>
        <p:blipFill>
          <a:blip r:embed="rId7"/>
          <a:stretch>
            <a:fillRect/>
          </a:stretch>
        </p:blipFill>
        <p:spPr>
          <a:xfrm>
            <a:off x="6737770" y="96688"/>
            <a:ext cx="2310800" cy="453606"/>
          </a:xfrm>
          <a:prstGeom prst="rect">
            <a:avLst/>
          </a:prstGeom>
        </p:spPr>
      </p:pic>
      <p:graphicFrame>
        <p:nvGraphicFramePr>
          <p:cNvPr id="4" name="Object 3">
            <a:extLst>
              <a:ext uri="{FF2B5EF4-FFF2-40B4-BE49-F238E27FC236}">
                <a16:creationId xmlns:a16="http://schemas.microsoft.com/office/drawing/2014/main" id="{8058489F-AC23-66F8-27EB-7A24A8C9AB29}"/>
              </a:ext>
            </a:extLst>
          </p:cNvPr>
          <p:cNvGraphicFramePr>
            <a:graphicFrameLocks noChangeAspect="1"/>
          </p:cNvGraphicFramePr>
          <p:nvPr>
            <p:extLst>
              <p:ext uri="{D42A27DB-BD31-4B8C-83A1-F6EECF244321}">
                <p14:modId xmlns:p14="http://schemas.microsoft.com/office/powerpoint/2010/main" val="2576332956"/>
              </p:ext>
            </p:extLst>
          </p:nvPr>
        </p:nvGraphicFramePr>
        <p:xfrm>
          <a:off x="3933632" y="2115236"/>
          <a:ext cx="4929439" cy="2952750"/>
        </p:xfrm>
        <a:graphic>
          <a:graphicData uri="http://schemas.openxmlformats.org/presentationml/2006/ole">
            <mc:AlternateContent xmlns:mc="http://schemas.openxmlformats.org/markup-compatibility/2006">
              <mc:Choice xmlns:v="urn:schemas-microsoft-com:vml" Requires="v">
                <p:oleObj name="ActiveGraph" r:id="rId8" imgW="4943615" imgH="2905131" progId="FDSCHART.FDSChartCtrl.1">
                  <p:embed/>
                </p:oleObj>
              </mc:Choice>
              <mc:Fallback>
                <p:oleObj name="ActiveGraph" r:id="rId8" imgW="4943615" imgH="2905131" progId="FDSCHART.FDSChartCtrl.1">
                  <p:embed/>
                  <p:pic>
                    <p:nvPicPr>
                      <p:cNvPr id="4" name="Object 3">
                        <a:extLst>
                          <a:ext uri="{FF2B5EF4-FFF2-40B4-BE49-F238E27FC236}">
                            <a16:creationId xmlns:a16="http://schemas.microsoft.com/office/drawing/2014/main" id="{8058489F-AC23-66F8-27EB-7A24A8C9AB29}"/>
                          </a:ext>
                        </a:extLst>
                      </p:cNvPr>
                      <p:cNvPicPr>
                        <a:picLocks noChangeAspect="1" noChangeArrowheads="1"/>
                      </p:cNvPicPr>
                      <p:nvPr/>
                    </p:nvPicPr>
                    <p:blipFill>
                      <a:blip r:embed="rId9"/>
                      <a:srcRect/>
                      <a:stretch>
                        <a:fillRect/>
                      </a:stretch>
                    </p:blipFill>
                    <p:spPr bwMode="auto">
                      <a:xfrm>
                        <a:off x="3933632" y="2115236"/>
                        <a:ext cx="4929439" cy="2952750"/>
                      </a:xfrm>
                      <a:prstGeom prst="rect">
                        <a:avLst/>
                      </a:prstGeom>
                      <a:solidFill>
                        <a:srgbClr val="FFFFFF"/>
                      </a:solidFill>
                      <a:ln w="28575">
                        <a:solidFill>
                          <a:srgbClr val="000000"/>
                        </a:solidFill>
                        <a:miter lim="800000"/>
                        <a:headEnd/>
                        <a:tailEnd/>
                      </a:ln>
                    </p:spPr>
                  </p:pic>
                </p:oleObj>
              </mc:Fallback>
            </mc:AlternateContent>
          </a:graphicData>
        </a:graphic>
      </p:graphicFrame>
      <p:graphicFrame>
        <p:nvGraphicFramePr>
          <p:cNvPr id="5" name="Table 4">
            <a:extLst>
              <a:ext uri="{FF2B5EF4-FFF2-40B4-BE49-F238E27FC236}">
                <a16:creationId xmlns:a16="http://schemas.microsoft.com/office/drawing/2014/main" id="{21230B7C-E7BF-460C-C48B-0D42D78FEC27}"/>
              </a:ext>
            </a:extLst>
          </p:cNvPr>
          <p:cNvGraphicFramePr>
            <a:graphicFrameLocks noGrp="1"/>
          </p:cNvGraphicFramePr>
          <p:nvPr>
            <p:custDataLst>
              <p:tags r:id="rId1"/>
            </p:custDataLst>
            <p:extLst>
              <p:ext uri="{D42A27DB-BD31-4B8C-83A1-F6EECF244321}">
                <p14:modId xmlns:p14="http://schemas.microsoft.com/office/powerpoint/2010/main" val="698051437"/>
              </p:ext>
            </p:extLst>
          </p:nvPr>
        </p:nvGraphicFramePr>
        <p:xfrm>
          <a:off x="3915673" y="5748090"/>
          <a:ext cx="4988964" cy="381000"/>
        </p:xfrm>
        <a:graphic>
          <a:graphicData uri="http://schemas.openxmlformats.org/drawingml/2006/table">
            <a:tbl>
              <a:tblPr>
                <a:tableStyleId>{5C22544A-7EE6-4342-B048-85BDC9FD1C3A}</a:tableStyleId>
              </a:tblPr>
              <a:tblGrid>
                <a:gridCol w="831494">
                  <a:extLst>
                    <a:ext uri="{9D8B030D-6E8A-4147-A177-3AD203B41FA5}">
                      <a16:colId xmlns:a16="http://schemas.microsoft.com/office/drawing/2014/main" val="2189064002"/>
                    </a:ext>
                  </a:extLst>
                </a:gridCol>
                <a:gridCol w="831494">
                  <a:extLst>
                    <a:ext uri="{9D8B030D-6E8A-4147-A177-3AD203B41FA5}">
                      <a16:colId xmlns:a16="http://schemas.microsoft.com/office/drawing/2014/main" val="773995404"/>
                    </a:ext>
                  </a:extLst>
                </a:gridCol>
                <a:gridCol w="831494">
                  <a:extLst>
                    <a:ext uri="{9D8B030D-6E8A-4147-A177-3AD203B41FA5}">
                      <a16:colId xmlns:a16="http://schemas.microsoft.com/office/drawing/2014/main" val="4204993976"/>
                    </a:ext>
                  </a:extLst>
                </a:gridCol>
                <a:gridCol w="831494">
                  <a:extLst>
                    <a:ext uri="{9D8B030D-6E8A-4147-A177-3AD203B41FA5}">
                      <a16:colId xmlns:a16="http://schemas.microsoft.com/office/drawing/2014/main" val="2474181595"/>
                    </a:ext>
                  </a:extLst>
                </a:gridCol>
                <a:gridCol w="831494">
                  <a:extLst>
                    <a:ext uri="{9D8B030D-6E8A-4147-A177-3AD203B41FA5}">
                      <a16:colId xmlns:a16="http://schemas.microsoft.com/office/drawing/2014/main" val="2662116374"/>
                    </a:ext>
                  </a:extLst>
                </a:gridCol>
                <a:gridCol w="831494">
                  <a:extLst>
                    <a:ext uri="{9D8B030D-6E8A-4147-A177-3AD203B41FA5}">
                      <a16:colId xmlns:a16="http://schemas.microsoft.com/office/drawing/2014/main" val="634815594"/>
                    </a:ext>
                  </a:extLst>
                </a:gridCol>
              </a:tblGrid>
              <a:tr h="190500">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3Y</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2Y</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LTM</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YTD</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3M</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tc>
                  <a:txBody>
                    <a:bodyPr/>
                    <a:lstStyle/>
                    <a:p>
                      <a:pPr algn="ctr" fontAlgn="b">
                        <a:buNone/>
                      </a:pPr>
                      <a:r>
                        <a:rPr lang="en-US" sz="1100" b="1" u="none" strike="noStrike" dirty="0">
                          <a:effectLst/>
                          <a:latin typeface="Calibri" panose="020F0502020204030204" pitchFamily="34" charset="0"/>
                          <a:ea typeface="Calibri" panose="020F0502020204030204" pitchFamily="34" charset="0"/>
                          <a:cs typeface="Calibri" panose="020F0502020204030204" pitchFamily="34" charset="0"/>
                        </a:rPr>
                        <a:t>1M</a:t>
                      </a:r>
                      <a:endParaRPr lang="en-US" sz="1100" b="1" i="0" u="none" strike="noStrike" dirty="0">
                        <a:solidFill>
                          <a:srgbClr val="0D0D0D"/>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solidFill>
                      <a:srgbClr val="F2C755"/>
                    </a:solidFill>
                  </a:tcPr>
                </a:tc>
                <a:extLst>
                  <a:ext uri="{0D108BD9-81ED-4DB2-BD59-A6C34878D82A}">
                    <a16:rowId xmlns:a16="http://schemas.microsoft.com/office/drawing/2014/main" val="2920624579"/>
                  </a:ext>
                </a:extLst>
              </a:tr>
              <a:tr h="190500">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-37.5%</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-13.4%</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23.4%</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28.8%</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2.2%</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tc>
                  <a:txBody>
                    <a:bodyPr/>
                    <a:lstStyle/>
                    <a:p>
                      <a:pPr algn="ctr" fontAlgn="b">
                        <a:buNone/>
                      </a:pPr>
                      <a:r>
                        <a:rPr lang="en-US" sz="1100" u="none" strike="noStrike" dirty="0">
                          <a:effectLst/>
                          <a:latin typeface="Calibri" panose="020F0502020204030204" pitchFamily="34" charset="0"/>
                          <a:ea typeface="Calibri" panose="020F0502020204030204" pitchFamily="34" charset="0"/>
                          <a:cs typeface="Calibri" panose="020F0502020204030204" pitchFamily="34" charset="0"/>
                        </a:rPr>
                        <a:t>9.1%</a:t>
                      </a:r>
                      <a:endPar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nchor="b"/>
                </a:tc>
                <a:extLst>
                  <a:ext uri="{0D108BD9-81ED-4DB2-BD59-A6C34878D82A}">
                    <a16:rowId xmlns:a16="http://schemas.microsoft.com/office/drawing/2014/main" val="3617838365"/>
                  </a:ext>
                </a:extLst>
              </a:tr>
            </a:tbl>
          </a:graphicData>
        </a:graphic>
      </p:graphicFrame>
      <p:grpSp>
        <p:nvGrpSpPr>
          <p:cNvPr id="6" name="Group 5">
            <a:extLst>
              <a:ext uri="{FF2B5EF4-FFF2-40B4-BE49-F238E27FC236}">
                <a16:creationId xmlns:a16="http://schemas.microsoft.com/office/drawing/2014/main" id="{DC5A1EEA-2EEA-37D9-12BC-EF2A6348F04F}"/>
              </a:ext>
            </a:extLst>
          </p:cNvPr>
          <p:cNvGrpSpPr/>
          <p:nvPr/>
        </p:nvGrpSpPr>
        <p:grpSpPr>
          <a:xfrm>
            <a:off x="3869689" y="1182564"/>
            <a:ext cx="5004408" cy="700576"/>
            <a:chOff x="2890909" y="974408"/>
            <a:chExt cx="4699934" cy="520911"/>
          </a:xfrm>
        </p:grpSpPr>
        <p:sp>
          <p:nvSpPr>
            <p:cNvPr id="7" name="Rectangle 6">
              <a:extLst>
                <a:ext uri="{FF2B5EF4-FFF2-40B4-BE49-F238E27FC236}">
                  <a16:creationId xmlns:a16="http://schemas.microsoft.com/office/drawing/2014/main" id="{8F83A859-071A-0BBD-4F91-193A1D8A9070}"/>
                </a:ext>
              </a:extLst>
            </p:cNvPr>
            <p:cNvSpPr/>
            <p:nvPr/>
          </p:nvSpPr>
          <p:spPr bwMode="auto">
            <a:xfrm>
              <a:off x="3426457" y="1178286"/>
              <a:ext cx="3887429" cy="134636"/>
            </a:xfrm>
            <a:prstGeom prst="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40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grpSp>
          <p:nvGrpSpPr>
            <p:cNvPr id="8" name="Group 3">
              <a:extLst>
                <a:ext uri="{FF2B5EF4-FFF2-40B4-BE49-F238E27FC236}">
                  <a16:creationId xmlns:a16="http://schemas.microsoft.com/office/drawing/2014/main" id="{A18462FB-B216-6A2F-F8C3-9FCA4B056657}"/>
                </a:ext>
              </a:extLst>
            </p:cNvPr>
            <p:cNvGrpSpPr>
              <a:grpSpLocks/>
            </p:cNvGrpSpPr>
            <p:nvPr/>
          </p:nvGrpSpPr>
          <p:grpSpPr bwMode="auto">
            <a:xfrm>
              <a:off x="2890909" y="978155"/>
              <a:ext cx="2281332" cy="517164"/>
              <a:chOff x="3850320" y="1773184"/>
              <a:chExt cx="5229631" cy="617683"/>
            </a:xfrm>
          </p:grpSpPr>
          <p:sp>
            <p:nvSpPr>
              <p:cNvPr id="10" name="Rounded Rectangle 17">
                <a:extLst>
                  <a:ext uri="{FF2B5EF4-FFF2-40B4-BE49-F238E27FC236}">
                    <a16:creationId xmlns:a16="http://schemas.microsoft.com/office/drawing/2014/main" id="{7D0DBF1F-780B-B328-CD90-77C2E1D1243E}"/>
                  </a:ext>
                </a:extLst>
              </p:cNvPr>
              <p:cNvSpPr/>
              <p:nvPr/>
            </p:nvSpPr>
            <p:spPr>
              <a:xfrm>
                <a:off x="3850320" y="1773184"/>
                <a:ext cx="2505391" cy="61482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eaLnBrk="1" fontAlgn="auto" hangingPunct="1">
                  <a:spcBef>
                    <a:spcPts val="0"/>
                  </a:spcBef>
                  <a:spcAft>
                    <a:spcPts val="0"/>
                  </a:spcAft>
                  <a:defRPr/>
                </a:pPr>
                <a:r>
                  <a:rPr lang="en-US" sz="1100" b="1" dirty="0">
                    <a:solidFill>
                      <a:srgbClr val="000000"/>
                    </a:solidFill>
                    <a:latin typeface="Calibri"/>
                    <a:ea typeface="Calibri"/>
                    <a:cs typeface="Calibri"/>
                  </a:rPr>
                  <a:t>Demand Reset Today, Margin Recovery Ahead</a:t>
                </a:r>
                <a:endPar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1" name="Rounded Rectangle 18">
                <a:extLst>
                  <a:ext uri="{FF2B5EF4-FFF2-40B4-BE49-F238E27FC236}">
                    <a16:creationId xmlns:a16="http://schemas.microsoft.com/office/drawing/2014/main" id="{6FE4DDBC-EAF1-9C83-8D2B-0B5910899D17}"/>
                  </a:ext>
                </a:extLst>
              </p:cNvPr>
              <p:cNvSpPr/>
              <p:nvPr/>
            </p:nvSpPr>
            <p:spPr>
              <a:xfrm>
                <a:off x="6574560" y="1776047"/>
                <a:ext cx="2505391" cy="614820"/>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Lack of Demand</a:t>
                </a:r>
              </a:p>
            </p:txBody>
          </p:sp>
        </p:grpSp>
        <p:sp>
          <p:nvSpPr>
            <p:cNvPr id="9" name="Rounded Rectangle 20">
              <a:extLst>
                <a:ext uri="{FF2B5EF4-FFF2-40B4-BE49-F238E27FC236}">
                  <a16:creationId xmlns:a16="http://schemas.microsoft.com/office/drawing/2014/main" id="{B0BB8481-25EE-16E7-0602-B2B077E61911}"/>
                </a:ext>
              </a:extLst>
            </p:cNvPr>
            <p:cNvSpPr/>
            <p:nvPr/>
          </p:nvSpPr>
          <p:spPr bwMode="auto">
            <a:xfrm>
              <a:off x="6497914" y="974408"/>
              <a:ext cx="1092929" cy="514767"/>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nchorCtr="0"/>
            <a:lstStyle/>
            <a:p>
              <a:pPr algn="ctr">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Inventory and Channel Normalization</a:t>
              </a:r>
              <a:endParaRPr lang="en-US" sz="1100" dirty="0">
                <a:latin typeface="Calibri" panose="020F0502020204030204" pitchFamily="34" charset="0"/>
                <a:ea typeface="Calibri" panose="020F0502020204030204" pitchFamily="34" charset="0"/>
                <a:cs typeface="Calibri" panose="020F0502020204030204" pitchFamily="34" charset="0"/>
              </a:endParaRPr>
            </a:p>
            <a:p>
              <a:pPr algn="ctr">
                <a:spcBef>
                  <a:spcPts val="0"/>
                </a:spcBef>
                <a:spcAft>
                  <a:spcPts val="0"/>
                </a:spcAft>
                <a:defRPr/>
              </a:pPr>
              <a:endParaRPr lang="en-US" sz="1100" b="1" dirty="0">
                <a:solidFill>
                  <a:srgbClr val="000000"/>
                </a:solidFill>
                <a:latin typeface="Calibri"/>
                <a:ea typeface="Calibri"/>
                <a:cs typeface="Calibri"/>
              </a:endParaRPr>
            </a:p>
          </p:txBody>
        </p:sp>
      </p:grpSp>
      <p:sp>
        <p:nvSpPr>
          <p:cNvPr id="17" name="Rounded Rectangle 18">
            <a:extLst>
              <a:ext uri="{FF2B5EF4-FFF2-40B4-BE49-F238E27FC236}">
                <a16:creationId xmlns:a16="http://schemas.microsoft.com/office/drawing/2014/main" id="{19C9E75C-6BC9-E481-4F40-7A11EF4C0FFB}"/>
              </a:ext>
            </a:extLst>
          </p:cNvPr>
          <p:cNvSpPr/>
          <p:nvPr/>
        </p:nvSpPr>
        <p:spPr bwMode="auto">
          <a:xfrm>
            <a:off x="6421820" y="1187586"/>
            <a:ext cx="1163733" cy="695554"/>
          </a:xfrm>
          <a:prstGeom prst="roundRect">
            <a:avLst/>
          </a:prstGeom>
          <a:solidFill>
            <a:srgbClr val="F2C755"/>
          </a:solidFill>
          <a:ln w="317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ctr"/>
          <a:lstStyle/>
          <a:p>
            <a:pPr algn="ctr">
              <a:defRPr/>
            </a:pPr>
            <a:r>
              <a:rPr lang="en-US" sz="1100" b="1" dirty="0">
                <a:solidFill>
                  <a:srgbClr val="000000"/>
                </a:solidFill>
                <a:latin typeface="Calibri" panose="020F0502020204030204" pitchFamily="34" charset="0"/>
                <a:ea typeface="Calibri" panose="020F0502020204030204" pitchFamily="34" charset="0"/>
                <a:cs typeface="Calibri" panose="020F0502020204030204" pitchFamily="34" charset="0"/>
              </a:rPr>
              <a:t>Financial Strength to Get Through Tariffs</a:t>
            </a:r>
          </a:p>
        </p:txBody>
      </p:sp>
    </p:spTree>
    <p:extLst>
      <p:ext uri="{BB962C8B-B14F-4D97-AF65-F5344CB8AC3E}">
        <p14:creationId xmlns:p14="http://schemas.microsoft.com/office/powerpoint/2010/main" val="992619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FSPANMODE" val="span"/>
</p:tagLst>
</file>

<file path=ppt/tags/tag2.xml><?xml version="1.0" encoding="utf-8"?>
<p:tagLst xmlns:a="http://schemas.openxmlformats.org/drawingml/2006/main" xmlns:r="http://schemas.openxmlformats.org/officeDocument/2006/relationships" xmlns:p="http://schemas.openxmlformats.org/presentationml/2006/main">
  <p:tag name="AFSPANMODE" val="span"/>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AFSPANMODE" val="span"/>
</p:tagLst>
</file>

<file path=ppt/tags/tag7.xml><?xml version="1.0" encoding="utf-8"?>
<p:tagLst xmlns:a="http://schemas.openxmlformats.org/drawingml/2006/main" xmlns:r="http://schemas.openxmlformats.org/officeDocument/2006/relationships" xmlns:p="http://schemas.openxmlformats.org/presentationml/2006/main">
  <p:tag name="AFSPANMODE" val="span"/>
</p:tagLst>
</file>

<file path=ppt/tags/tag8.xml><?xml version="1.0" encoding="utf-8"?>
<p:tagLst xmlns:a="http://schemas.openxmlformats.org/drawingml/2006/main" xmlns:r="http://schemas.openxmlformats.org/officeDocument/2006/relationships" xmlns:p="http://schemas.openxmlformats.org/presentationml/2006/main">
  <p:tag name="AFSPANMODE" val="span"/>
</p:tagLst>
</file>

<file path=ppt/tags/tag9.xml><?xml version="1.0" encoding="utf-8"?>
<p:tagLst xmlns:a="http://schemas.openxmlformats.org/drawingml/2006/main" xmlns:r="http://schemas.openxmlformats.org/officeDocument/2006/relationships" xmlns:p="http://schemas.openxmlformats.org/presentationml/2006/main">
  <p:tag name="AFSPANMODE" val="span"/>
</p:tagLst>
</file>

<file path=ppt/tags/tag10.xml><?xml version="1.0" encoding="utf-8"?>
<p:tagLst xmlns:a="http://schemas.openxmlformats.org/drawingml/2006/main" xmlns:r="http://schemas.openxmlformats.org/officeDocument/2006/relationships" xmlns:p="http://schemas.openxmlformats.org/presentationml/2006/main">
  <p:tag name="AFSPANMODE" val="span"/>
</p:tagLst>
</file>

<file path=ppt/tags/tag11.xml><?xml version="1.0" encoding="utf-8"?>
<p:tagLst xmlns:a="http://schemas.openxmlformats.org/drawingml/2006/main" xmlns:r="http://schemas.openxmlformats.org/officeDocument/2006/relationships" xmlns:p="http://schemas.openxmlformats.org/presentationml/2006/main">
  <p:tag name="AFSPANMODE" val="span"/>
</p:tagLst>
</file>

<file path=ppt/tags/tag12.xml><?xml version="1.0" encoding="utf-8"?>
<p:tagLst xmlns:a="http://schemas.openxmlformats.org/drawingml/2006/main" xmlns:r="http://schemas.openxmlformats.org/officeDocument/2006/relationships" xmlns:p="http://schemas.openxmlformats.org/presentationml/2006/main">
  <p:tag name="AFSPANMODE" val="span"/>
</p:tagLst>
</file>

<file path=ppt/tags/tag13.xml><?xml version="1.0" encoding="utf-8"?>
<p:tagLst xmlns:a="http://schemas.openxmlformats.org/drawingml/2006/main" xmlns:r="http://schemas.openxmlformats.org/officeDocument/2006/relationships" xmlns:p="http://schemas.openxmlformats.org/presentationml/2006/main">
  <p:tag name="AFSPANMODE" val="span"/>
</p:tagLst>
</file>

<file path=ppt/tags/tag14.xml><?xml version="1.0" encoding="utf-8"?>
<p:tagLst xmlns:a="http://schemas.openxmlformats.org/drawingml/2006/main" xmlns:r="http://schemas.openxmlformats.org/officeDocument/2006/relationships" xmlns:p="http://schemas.openxmlformats.org/presentationml/2006/main">
  <p:tag name="AFSPANMODE" val="span"/>
</p:tagLst>
</file>

<file path=ppt/tags/tag15.xml><?xml version="1.0" encoding="utf-8"?>
<p:tagLst xmlns:a="http://schemas.openxmlformats.org/drawingml/2006/main" xmlns:r="http://schemas.openxmlformats.org/officeDocument/2006/relationships" xmlns:p="http://schemas.openxmlformats.org/presentationml/2006/main">
  <p:tag name="AFSPANMODE" val="span"/>
</p:tagLst>
</file>

<file path=ppt/tags/tag16.xml><?xml version="1.0" encoding="utf-8"?>
<p:tagLst xmlns:a="http://schemas.openxmlformats.org/drawingml/2006/main" xmlns:r="http://schemas.openxmlformats.org/officeDocument/2006/relationships" xmlns:p="http://schemas.openxmlformats.org/presentationml/2006/main">
  <p:tag name="AFSPANMODE" val="span"/>
</p:tagLst>
</file>

<file path=ppt/tags/tag17.xml><?xml version="1.0" encoding="utf-8"?>
<p:tagLst xmlns:a="http://schemas.openxmlformats.org/drawingml/2006/main" xmlns:r="http://schemas.openxmlformats.org/officeDocument/2006/relationships" xmlns:p="http://schemas.openxmlformats.org/presentationml/2006/main">
  <p:tag name="AFSPANMODE" val="span"/>
</p:tagLst>
</file>

<file path=ppt/tags/tag18.xml><?xml version="1.0" encoding="utf-8"?>
<p:tagLst xmlns:a="http://schemas.openxmlformats.org/drawingml/2006/main" xmlns:r="http://schemas.openxmlformats.org/officeDocument/2006/relationships" xmlns:p="http://schemas.openxmlformats.org/presentationml/2006/main">
  <p:tag name="AFSPANMODE" val="span"/>
</p:tagLst>
</file>

<file path=ppt/tags/tag19.xml><?xml version="1.0" encoding="utf-8"?>
<p:tagLst xmlns:a="http://schemas.openxmlformats.org/drawingml/2006/main" xmlns:r="http://schemas.openxmlformats.org/officeDocument/2006/relationships" xmlns:p="http://schemas.openxmlformats.org/presentationml/2006/main">
  <p:tag name="AFSPANMODE" val="span"/>
</p:tagLst>
</file>

<file path=ppt/tags/tag20.xml><?xml version="1.0" encoding="utf-8"?>
<p:tagLst xmlns:a="http://schemas.openxmlformats.org/drawingml/2006/main" xmlns:r="http://schemas.openxmlformats.org/officeDocument/2006/relationships" xmlns:p="http://schemas.openxmlformats.org/presentationml/2006/main">
  <p:tag name="AFSPANMODE" val="span"/>
</p:tagLst>
</file>

<file path=ppt/tags/tag21.xml><?xml version="1.0" encoding="utf-8"?>
<p:tagLst xmlns:a="http://schemas.openxmlformats.org/drawingml/2006/main" xmlns:r="http://schemas.openxmlformats.org/officeDocument/2006/relationships" xmlns:p="http://schemas.openxmlformats.org/presentationml/2006/main">
  <p:tag name="AFSPANMODE" val="span"/>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ustom 2">
      <a:dk1>
        <a:srgbClr val="292934"/>
      </a:dk1>
      <a:lt1>
        <a:srgbClr val="FFFFFF"/>
      </a:lt1>
      <a:dk2>
        <a:srgbClr val="D2533C"/>
      </a:dk2>
      <a:lt2>
        <a:srgbClr val="F3F2DC"/>
      </a:lt2>
      <a:accent1>
        <a:srgbClr val="FFFFFF"/>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2">
    <a:dk1>
      <a:srgbClr val="292934"/>
    </a:dk1>
    <a:lt1>
      <a:srgbClr val="FFFFFF"/>
    </a:lt1>
    <a:dk2>
      <a:srgbClr val="D2533C"/>
    </a:dk2>
    <a:lt2>
      <a:srgbClr val="F3F2DC"/>
    </a:lt2>
    <a:accent1>
      <a:srgbClr val="FFFFFF"/>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ppt/theme/themeOverride2.xml><?xml version="1.0" encoding="utf-8"?>
<a:themeOverride xmlns:a="http://schemas.openxmlformats.org/drawingml/2006/main">
  <a:clrScheme name="UWM Colors">
    <a:dk1>
      <a:sysClr val="windowText" lastClr="000000"/>
    </a:dk1>
    <a:lt1>
      <a:srgbClr val="F8F8F8"/>
    </a:lt1>
    <a:dk2>
      <a:srgbClr val="000000"/>
    </a:dk2>
    <a:lt2>
      <a:srgbClr val="000000"/>
    </a:lt2>
    <a:accent1>
      <a:srgbClr val="F2C755"/>
    </a:accent1>
    <a:accent2>
      <a:srgbClr val="000000"/>
    </a:accent2>
    <a:accent3>
      <a:srgbClr val="F2F2F2"/>
    </a:accent3>
    <a:accent4>
      <a:srgbClr val="BFBFBF"/>
    </a:accent4>
    <a:accent5>
      <a:srgbClr val="7F7F7F"/>
    </a:accent5>
    <a:accent6>
      <a:srgbClr val="3F3F3F"/>
    </a:accent6>
    <a:hlink>
      <a:srgbClr val="153D64"/>
    </a:hlink>
    <a:folHlink>
      <a:srgbClr val="153D6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9">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0D843E9-380F-4DF6-89BE-E99CD7902E00}">
  <we:reference id="3e0fcce7-415c-4081-926c-b4e449c650e4" version="1.1.0.2" store="EXCatalog" storeType="EXCatalog"/>
  <we:alternateReferences>
    <we:reference id="WA200004709" version="1.1.0.2"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Clarity</Template>
  <TotalTime>5800</TotalTime>
  <Words>4430</Words>
  <Application>Microsoft Office PowerPoint</Application>
  <PresentationFormat>On-screen Show (4:3)</PresentationFormat>
  <Paragraphs>1466</Paragraphs>
  <Slides>21</Slides>
  <Notes>19</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6" baseType="lpstr">
      <vt:lpstr>Aptos Narrow</vt:lpstr>
      <vt:lpstr>Arial</vt:lpstr>
      <vt:lpstr>Calibri</vt:lpstr>
      <vt:lpstr>Clarity</vt:lpstr>
      <vt:lpstr>ActiveGraph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Tammy Ampomah</dc:creator>
  <cp:lastModifiedBy>Rex James Robe</cp:lastModifiedBy>
  <cp:revision>217</cp:revision>
  <cp:lastPrinted>2022-12-22T12:33:39Z</cp:lastPrinted>
  <dcterms:created xsi:type="dcterms:W3CDTF">2016-03-02T21:50:28Z</dcterms:created>
  <dcterms:modified xsi:type="dcterms:W3CDTF">2026-03-01T18:53:58Z</dcterms:modified>
</cp:coreProperties>
</file>