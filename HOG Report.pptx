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3.xml" ContentType="application/vnd.openxmlformats-officedocument.presentationml.tag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tags/tag4.xml" ContentType="application/vnd.openxmlformats-officedocument.presentationml.tags+xml"/>
  <Override PartName="/ppt/notesSlides/notesSlide2.xml" ContentType="application/vnd.openxmlformats-officedocument.presentationml.notesSlid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1.xml" ContentType="application/vnd.openxmlformats-officedocument.themeOverrid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tags/tag9.xml" ContentType="application/vnd.openxmlformats-officedocument.presentationml.tags+xml"/>
  <Override PartName="/ppt/tags/tag10.xml" ContentType="application/vnd.openxmlformats-officedocument.presentationml.tags+xml"/>
  <Override PartName="/ppt/charts/chart13.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4.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5.xml" ContentType="application/vnd.openxmlformats-officedocument.drawingml.chart+xml"/>
  <Override PartName="/ppt/charts/style13.xml" ContentType="application/vnd.ms-office.chartstyle+xml"/>
  <Override PartName="/ppt/charts/colors13.xml" ContentType="application/vnd.ms-office.chartcolorstyle+xml"/>
  <Override PartName="/ppt/tags/tag11.xml" ContentType="application/vnd.openxmlformats-officedocument.presentationml.tags+xml"/>
  <Override PartName="/ppt/charts/chart16.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4.xml" ContentType="application/vnd.openxmlformats-officedocument.presentationml.notesSlide+xml"/>
  <Override PartName="/ppt/charts/chart17.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8.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9.xml" ContentType="application/vnd.openxmlformats-officedocument.drawingml.chart+xml"/>
  <Override PartName="/ppt/charts/style17.xml" ContentType="application/vnd.ms-office.chartstyle+xml"/>
  <Override PartName="/ppt/charts/colors17.xml" ContentType="application/vnd.ms-office.chartcolorstyle+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charts/chart20.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1.xml" ContentType="application/vnd.openxmlformats-officedocument.drawingml.chart+xml"/>
  <Override PartName="/ppt/charts/style19.xml" ContentType="application/vnd.ms-office.chartstyle+xml"/>
  <Override PartName="/ppt/charts/colors19.xml" ContentType="application/vnd.ms-office.chartcolorstyl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charts/chart22.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3.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4.xml" ContentType="application/vnd.openxmlformats-officedocument.drawingml.chart+xml"/>
  <Override PartName="/ppt/charts/style22.xml" ContentType="application/vnd.ms-office.chartstyle+xml"/>
  <Override PartName="/ppt/charts/colors22.xml" ContentType="application/vnd.ms-office.chartcolorstyl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charts/chart25.xml" ContentType="application/vnd.openxmlformats-officedocument.drawingml.chart+xml"/>
  <Override PartName="/ppt/charts/style23.xml" ContentType="application/vnd.ms-office.chartstyle+xml"/>
  <Override PartName="/ppt/charts/colors23.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310" r:id="rId5"/>
    <p:sldId id="256" r:id="rId6"/>
    <p:sldId id="309" r:id="rId7"/>
    <p:sldId id="282" r:id="rId8"/>
    <p:sldId id="263" r:id="rId9"/>
    <p:sldId id="268" r:id="rId10"/>
    <p:sldId id="281" r:id="rId11"/>
    <p:sldId id="301" r:id="rId12"/>
    <p:sldId id="267" r:id="rId13"/>
    <p:sldId id="272" r:id="rId14"/>
    <p:sldId id="299" r:id="rId15"/>
    <p:sldId id="306" r:id="rId16"/>
    <p:sldId id="303" r:id="rId17"/>
    <p:sldId id="307" r:id="rId18"/>
    <p:sldId id="308" r:id="rId19"/>
    <p:sldId id="302" r:id="rId20"/>
    <p:sldId id="295" r:id="rId21"/>
    <p:sldId id="287" r:id="rId22"/>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userDrawn="1">
          <p15:clr>
            <a:srgbClr val="A4A3A4"/>
          </p15:clr>
        </p15:guide>
        <p15:guide id="2" pos="96" userDrawn="1">
          <p15:clr>
            <a:srgbClr val="A4A3A4"/>
          </p15:clr>
        </p15:guide>
        <p15:guide id="3" pos="1728" userDrawn="1">
          <p15:clr>
            <a:srgbClr val="A4A3A4"/>
          </p15:clr>
        </p15:guide>
        <p15:guide id="4" pos="475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D85C67-8340-4C92-5383-DD69BC0CB1EF}" name="Jakob Juedes" initials="JJ" userId="S::jcjuedes@uwm.edu::2a552fcc-010b-4f09-bebe-1fc3d17caa47" providerId="AD"/>
  <p188:author id="{329DCFBA-6D57-51BD-B603-1F84DA945934}" name="Luke Arthur Sagone" initials="LS" userId="S::lasagone@uwm.edu::f4a23d07-6514-438d-bf4d-7d4d1adbcbbd" providerId="AD"/>
  <p188:author id="{676130DC-2C3F-610A-8DB1-B0AD43ABC90F}" name="Jack Patrick Linge" initials="JL" userId="S::jplinge@uwm.edu::f88b4069-70e4-44c1-810f-83fb4e1d7a1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75717"/>
    <a:srgbClr val="DDDDDD"/>
    <a:srgbClr val="1B1713"/>
    <a:srgbClr val="F2F2F2"/>
    <a:srgbClr val="1C1713"/>
    <a:srgbClr val="DCEAF7"/>
    <a:srgbClr val="F3F5F7"/>
    <a:srgbClr val="FFFFFF"/>
    <a:srgbClr val="EB7A41"/>
    <a:srgbClr val="E7EA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1D466E-E98A-4504-84C0-D7AE607E7DBE}" v="5" dt="2026-02-20T03:25:46.304"/>
    <p1510:client id="{75DA8CD9-C894-4FD5-8EE5-A771783513A5}" v="1" dt="2026-02-19T03:31:14.4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168"/>
        <p:guide pos="96"/>
        <p:guide pos="1728"/>
        <p:guide pos="4752"/>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https://panthers-my.sharepoint.com/personal/jplinge_uwm_edu/Documents/Models/DLTH%20Duluth%20Trading%20Co.%20Mode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1" Type="http://schemas.openxmlformats.org/officeDocument/2006/relationships/oleObject" Target="https://panthers-my.sharepoint.com/personal/huynhro2_uwm_edu/Documents/HOG%20Charts.xlsx" TargetMode="External"/></Relationships>
</file>

<file path=ppt/charts/_rels/chart8.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_107_4645E665.xlsx"/></Relationships>
</file>

<file path=ppt/charts/_rels/chart10.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_10C_152DB2A9.xlsx"/><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1" Type="http://schemas.openxmlformats.org/officeDocument/2006/relationships/oleObject" Target="https://panthers-my.sharepoint.com/personal/maxraria_uwm_edu/Documents/Copy%20of%20HOG.xlsx%20%20-%20%20version%2018.0.%201.23.2026%206.xlsx" TargetMode="External"/></Relationships>
</file>

<file path=ppt/charts/_rels/chart13.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11.xml"/><Relationship Id="rId1" Type="http://schemas.microsoft.com/office/2011/relationships/chartStyle" Target="style11.xml"/></Relationships>
</file>

<file path=ppt/charts/_rels/chart14.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12.xml"/><Relationship Id="rId1" Type="http://schemas.microsoft.com/office/2011/relationships/chartStyle" Target="style12.xml"/></Relationships>
</file>

<file path=ppt/charts/_rels/chart15.xml.rels><?xml version="1.0" encoding="UTF-8" standalone="yes"?>
<Relationships xmlns="http://schemas.openxmlformats.org/package/2006/relationships"><Relationship Id="rId3" Type="http://schemas.openxmlformats.org/officeDocument/2006/relationships/oleObject" Target="https://panthers-my.sharepoint.com/personal/maxraria_uwm_edu/Documents/Copy%20of%20HOG.xlsx%20%20-%20%20version%2018.0.%201.23.2026%206.xlsx" TargetMode="External"/><Relationship Id="rId2" Type="http://schemas.microsoft.com/office/2011/relationships/chartColorStyle" Target="colors13.xml"/><Relationship Id="rId1" Type="http://schemas.microsoft.com/office/2011/relationships/chartStyle" Target="style13.xml"/></Relationships>
</file>

<file path=ppt/charts/_rels/chart16.xml.rels><?xml version="1.0" encoding="UTF-8" standalone="yes"?>
<Relationships xmlns="http://schemas.openxmlformats.org/package/2006/relationships"><Relationship Id="rId3" Type="http://schemas.openxmlformats.org/officeDocument/2006/relationships/oleObject" Target="Book3" TargetMode="External"/><Relationship Id="rId2" Type="http://schemas.microsoft.com/office/2011/relationships/chartColorStyle" Target="colors14.xml"/><Relationship Id="rId1" Type="http://schemas.microsoft.com/office/2011/relationships/chartStyle" Target="style14.xml"/></Relationships>
</file>

<file path=ppt/charts/_rels/chart17.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15.xml"/><Relationship Id="rId1" Type="http://schemas.microsoft.com/office/2011/relationships/chartStyle" Target="style15.xml"/></Relationships>
</file>

<file path=ppt/charts/_rels/chart18.xml.rels><?xml version="1.0" encoding="UTF-8" standalone="yes"?>
<Relationships xmlns="http://schemas.openxmlformats.org/package/2006/relationships"><Relationship Id="rId3" Type="http://schemas.openxmlformats.org/officeDocument/2006/relationships/oleObject" Target="https://panthers-my.sharepoint.com/personal/huynhro2_uwm_edu/Documents/Quantifying%20Business%20Drivers.xlsx" TargetMode="External"/><Relationship Id="rId2" Type="http://schemas.microsoft.com/office/2011/relationships/chartColorStyle" Target="colors16.xml"/><Relationship Id="rId1" Type="http://schemas.microsoft.com/office/2011/relationships/chartStyle" Target="style16.xml"/></Relationships>
</file>

<file path=ppt/charts/_rels/chart19.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17.xml"/><Relationship Id="rId1" Type="http://schemas.microsoft.com/office/2011/relationships/chartStyle" Target="style17.xml"/></Relationships>
</file>

<file path=ppt/charts/_rels/chart20.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18.xml"/><Relationship Id="rId1" Type="http://schemas.microsoft.com/office/2011/relationships/chartStyle" Target="style18.xml"/></Relationships>
</file>

<file path=ppt/charts/_rels/chart21.xml.rels><?xml version="1.0" encoding="UTF-8" standalone="yes"?>
<Relationships xmlns="http://schemas.openxmlformats.org/package/2006/relationships"><Relationship Id="rId3" Type="http://schemas.openxmlformats.org/officeDocument/2006/relationships/oleObject" Target="https://panthers-my.sharepoint.com/personal/huynhro2_uwm_edu/Documents/HOG%20Charts.xlsx" TargetMode="External"/><Relationship Id="rId2" Type="http://schemas.microsoft.com/office/2011/relationships/chartColorStyle" Target="colors19.xml"/><Relationship Id="rId1" Type="http://schemas.microsoft.com/office/2011/relationships/chartStyle" Target="style19.xml"/></Relationships>
</file>

<file path=ppt/charts/_rels/chart22.xml.rels><?xml version="1.0" encoding="UTF-8" standalone="yes"?>
<Relationships xmlns="http://schemas.openxmlformats.org/package/2006/relationships"><Relationship Id="rId3" Type="http://schemas.openxmlformats.org/officeDocument/2006/relationships/oleObject" Target="https://panthers-my.sharepoint.com/personal/rexjrobe_uwm_edu/Documents/hog.xlsx" TargetMode="External"/><Relationship Id="rId2" Type="http://schemas.microsoft.com/office/2011/relationships/chartColorStyle" Target="colors20.xml"/><Relationship Id="rId1" Type="http://schemas.microsoft.com/office/2011/relationships/chartStyle" Target="style20.xml"/></Relationships>
</file>

<file path=ppt/charts/_rels/chart23.xml.rels><?xml version="1.0" encoding="UTF-8" standalone="yes"?>
<Relationships xmlns="http://schemas.openxmlformats.org/package/2006/relationships"><Relationship Id="rId3" Type="http://schemas.openxmlformats.org/officeDocument/2006/relationships/oleObject" Target="https://panthers-my.sharepoint.com/personal/rexjrobe_uwm_edu/Documents/hog.xlsx" TargetMode="External"/><Relationship Id="rId2" Type="http://schemas.microsoft.com/office/2011/relationships/chartColorStyle" Target="colors21.xml"/><Relationship Id="rId1" Type="http://schemas.microsoft.com/office/2011/relationships/chartStyle" Target="style21.xml"/></Relationships>
</file>

<file path=ppt/charts/_rels/chart24.xml.rels><?xml version="1.0" encoding="UTF-8" standalone="yes"?>
<Relationships xmlns="http://schemas.openxmlformats.org/package/2006/relationships"><Relationship Id="rId3" Type="http://schemas.openxmlformats.org/officeDocument/2006/relationships/oleObject" Target="https://panthers-my.sharepoint.com/personal/rexjrobe_uwm_edu/Documents/hog.xlsx" TargetMode="External"/><Relationship Id="rId2" Type="http://schemas.microsoft.com/office/2011/relationships/chartColorStyle" Target="colors22.xml"/><Relationship Id="rId1" Type="http://schemas.microsoft.com/office/2011/relationships/chartStyle" Target="style22.xml"/></Relationships>
</file>

<file path=ppt/charts/_rels/chart25.xml.rels><?xml version="1.0" encoding="UTF-8" standalone="yes"?>
<Relationships xmlns="http://schemas.openxmlformats.org/package/2006/relationships"><Relationship Id="rId3" Type="http://schemas.openxmlformats.org/officeDocument/2006/relationships/oleObject" Target="https://panthers-my.sharepoint.com/personal/rexjrobe_uwm_edu/Documents/hog.xlsx" TargetMode="External"/><Relationship Id="rId2" Type="http://schemas.microsoft.com/office/2011/relationships/chartColorStyle" Target="colors23.xml"/><Relationship Id="rId1" Type="http://schemas.microsoft.com/office/2011/relationships/chartStyle" Target="style2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a:noFill/>
    </a:ln>
    <a:effectLst/>
  </c:spPr>
  <c:txPr>
    <a:bodyPr/>
    <a:lstStyle/>
    <a:p>
      <a:pPr>
        <a:defRPr sz="10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914178188536369"/>
          <c:y val="5.3034700443427368E-2"/>
          <c:w val="0.79225143654466268"/>
          <c:h val="0.58808324002049805"/>
        </c:manualLayout>
      </c:layout>
      <c:lineChart>
        <c:grouping val="standard"/>
        <c:varyColors val="0"/>
        <c:ser>
          <c:idx val="0"/>
          <c:order val="0"/>
          <c:tx>
            <c:strRef>
              <c:f>Sheet1!$I$1</c:f>
              <c:strCache>
                <c:ptCount val="1"/>
                <c:pt idx="0">
                  <c:v>Harley - Price</c:v>
                </c:pt>
              </c:strCache>
            </c:strRef>
          </c:tx>
          <c:spPr>
            <a:ln w="28575" cap="rnd">
              <a:solidFill>
                <a:schemeClr val="accent2">
                  <a:lumMod val="75000"/>
                </a:schemeClr>
              </a:solidFill>
              <a:round/>
            </a:ln>
            <a:effectLst/>
          </c:spPr>
          <c:marker>
            <c:symbol val="none"/>
          </c:marker>
          <c:cat>
            <c:numRef>
              <c:f>Sheet1!$H$2:$H$123</c:f>
              <c:numCache>
                <c:formatCode>mm/dd/yy</c:formatCode>
                <c:ptCount val="122"/>
                <c:pt idx="0">
                  <c:v>42398</c:v>
                </c:pt>
                <c:pt idx="1">
                  <c:v>42400</c:v>
                </c:pt>
                <c:pt idx="2">
                  <c:v>42429</c:v>
                </c:pt>
                <c:pt idx="3">
                  <c:v>42460</c:v>
                </c:pt>
                <c:pt idx="4">
                  <c:v>42490</c:v>
                </c:pt>
                <c:pt idx="5">
                  <c:v>42521</c:v>
                </c:pt>
                <c:pt idx="6">
                  <c:v>42551</c:v>
                </c:pt>
                <c:pt idx="7">
                  <c:v>42582</c:v>
                </c:pt>
                <c:pt idx="8">
                  <c:v>42613</c:v>
                </c:pt>
                <c:pt idx="9">
                  <c:v>42643</c:v>
                </c:pt>
                <c:pt idx="10">
                  <c:v>42674</c:v>
                </c:pt>
                <c:pt idx="11">
                  <c:v>42704</c:v>
                </c:pt>
                <c:pt idx="12">
                  <c:v>42735</c:v>
                </c:pt>
                <c:pt idx="13">
                  <c:v>42766</c:v>
                </c:pt>
                <c:pt idx="14">
                  <c:v>42794</c:v>
                </c:pt>
                <c:pt idx="15">
                  <c:v>42825</c:v>
                </c:pt>
                <c:pt idx="16">
                  <c:v>42855</c:v>
                </c:pt>
                <c:pt idx="17">
                  <c:v>42886</c:v>
                </c:pt>
                <c:pt idx="18">
                  <c:v>42916</c:v>
                </c:pt>
                <c:pt idx="19">
                  <c:v>42947</c:v>
                </c:pt>
                <c:pt idx="20">
                  <c:v>42978</c:v>
                </c:pt>
                <c:pt idx="21">
                  <c:v>43008</c:v>
                </c:pt>
                <c:pt idx="22">
                  <c:v>43039</c:v>
                </c:pt>
                <c:pt idx="23">
                  <c:v>43069</c:v>
                </c:pt>
                <c:pt idx="24">
                  <c:v>43100</c:v>
                </c:pt>
                <c:pt idx="25">
                  <c:v>43131</c:v>
                </c:pt>
                <c:pt idx="26">
                  <c:v>43159</c:v>
                </c:pt>
                <c:pt idx="27">
                  <c:v>43190</c:v>
                </c:pt>
                <c:pt idx="28">
                  <c:v>43220</c:v>
                </c:pt>
                <c:pt idx="29">
                  <c:v>43251</c:v>
                </c:pt>
                <c:pt idx="30">
                  <c:v>43281</c:v>
                </c:pt>
                <c:pt idx="31">
                  <c:v>43312</c:v>
                </c:pt>
                <c:pt idx="32">
                  <c:v>43343</c:v>
                </c:pt>
                <c:pt idx="33">
                  <c:v>43373</c:v>
                </c:pt>
                <c:pt idx="34">
                  <c:v>43404</c:v>
                </c:pt>
                <c:pt idx="35">
                  <c:v>43434</c:v>
                </c:pt>
                <c:pt idx="36">
                  <c:v>43465</c:v>
                </c:pt>
                <c:pt idx="37">
                  <c:v>43496</c:v>
                </c:pt>
                <c:pt idx="38">
                  <c:v>43524</c:v>
                </c:pt>
                <c:pt idx="39">
                  <c:v>43555</c:v>
                </c:pt>
                <c:pt idx="40">
                  <c:v>43585</c:v>
                </c:pt>
                <c:pt idx="41">
                  <c:v>43616</c:v>
                </c:pt>
                <c:pt idx="42">
                  <c:v>43646</c:v>
                </c:pt>
                <c:pt idx="43">
                  <c:v>43677</c:v>
                </c:pt>
                <c:pt idx="44">
                  <c:v>43708</c:v>
                </c:pt>
                <c:pt idx="45">
                  <c:v>43738</c:v>
                </c:pt>
                <c:pt idx="46">
                  <c:v>43769</c:v>
                </c:pt>
                <c:pt idx="47">
                  <c:v>43799</c:v>
                </c:pt>
                <c:pt idx="48">
                  <c:v>43830</c:v>
                </c:pt>
                <c:pt idx="49">
                  <c:v>43861</c:v>
                </c:pt>
                <c:pt idx="50">
                  <c:v>43890</c:v>
                </c:pt>
                <c:pt idx="51">
                  <c:v>43921</c:v>
                </c:pt>
                <c:pt idx="52">
                  <c:v>43951</c:v>
                </c:pt>
                <c:pt idx="53">
                  <c:v>43982</c:v>
                </c:pt>
                <c:pt idx="54">
                  <c:v>44012</c:v>
                </c:pt>
                <c:pt idx="55">
                  <c:v>44043</c:v>
                </c:pt>
                <c:pt idx="56">
                  <c:v>44074</c:v>
                </c:pt>
                <c:pt idx="57">
                  <c:v>44104</c:v>
                </c:pt>
                <c:pt idx="58">
                  <c:v>44135</c:v>
                </c:pt>
                <c:pt idx="59">
                  <c:v>44165</c:v>
                </c:pt>
                <c:pt idx="60">
                  <c:v>44196</c:v>
                </c:pt>
                <c:pt idx="61">
                  <c:v>44227</c:v>
                </c:pt>
                <c:pt idx="62">
                  <c:v>44255</c:v>
                </c:pt>
                <c:pt idx="63">
                  <c:v>44286</c:v>
                </c:pt>
                <c:pt idx="64">
                  <c:v>44316</c:v>
                </c:pt>
                <c:pt idx="65">
                  <c:v>44347</c:v>
                </c:pt>
                <c:pt idx="66">
                  <c:v>44377</c:v>
                </c:pt>
                <c:pt idx="67">
                  <c:v>44408</c:v>
                </c:pt>
                <c:pt idx="68">
                  <c:v>44439</c:v>
                </c:pt>
                <c:pt idx="69">
                  <c:v>44469</c:v>
                </c:pt>
                <c:pt idx="70">
                  <c:v>44500</c:v>
                </c:pt>
                <c:pt idx="71">
                  <c:v>44530</c:v>
                </c:pt>
                <c:pt idx="72">
                  <c:v>44561</c:v>
                </c:pt>
                <c:pt idx="73">
                  <c:v>44592</c:v>
                </c:pt>
                <c:pt idx="74">
                  <c:v>44620</c:v>
                </c:pt>
                <c:pt idx="75">
                  <c:v>44651</c:v>
                </c:pt>
                <c:pt idx="76">
                  <c:v>44681</c:v>
                </c:pt>
                <c:pt idx="77">
                  <c:v>44712</c:v>
                </c:pt>
                <c:pt idx="78">
                  <c:v>44742</c:v>
                </c:pt>
                <c:pt idx="79">
                  <c:v>44773</c:v>
                </c:pt>
                <c:pt idx="80">
                  <c:v>44804</c:v>
                </c:pt>
                <c:pt idx="81">
                  <c:v>44834</c:v>
                </c:pt>
                <c:pt idx="82">
                  <c:v>44865</c:v>
                </c:pt>
                <c:pt idx="83">
                  <c:v>44895</c:v>
                </c:pt>
                <c:pt idx="84">
                  <c:v>44926</c:v>
                </c:pt>
                <c:pt idx="85">
                  <c:v>44957</c:v>
                </c:pt>
                <c:pt idx="86">
                  <c:v>44985</c:v>
                </c:pt>
                <c:pt idx="87">
                  <c:v>45016</c:v>
                </c:pt>
                <c:pt idx="88">
                  <c:v>45046</c:v>
                </c:pt>
                <c:pt idx="89">
                  <c:v>45077</c:v>
                </c:pt>
                <c:pt idx="90">
                  <c:v>45107</c:v>
                </c:pt>
                <c:pt idx="91">
                  <c:v>45138</c:v>
                </c:pt>
                <c:pt idx="92">
                  <c:v>45169</c:v>
                </c:pt>
                <c:pt idx="93">
                  <c:v>45199</c:v>
                </c:pt>
                <c:pt idx="94">
                  <c:v>45230</c:v>
                </c:pt>
                <c:pt idx="95">
                  <c:v>45260</c:v>
                </c:pt>
                <c:pt idx="96">
                  <c:v>45291</c:v>
                </c:pt>
                <c:pt idx="97">
                  <c:v>45322</c:v>
                </c:pt>
                <c:pt idx="98">
                  <c:v>45351</c:v>
                </c:pt>
                <c:pt idx="99">
                  <c:v>45382</c:v>
                </c:pt>
                <c:pt idx="100">
                  <c:v>45412</c:v>
                </c:pt>
                <c:pt idx="101">
                  <c:v>45443</c:v>
                </c:pt>
                <c:pt idx="102">
                  <c:v>45473</c:v>
                </c:pt>
                <c:pt idx="103">
                  <c:v>45504</c:v>
                </c:pt>
                <c:pt idx="104">
                  <c:v>45535</c:v>
                </c:pt>
                <c:pt idx="105">
                  <c:v>45565</c:v>
                </c:pt>
                <c:pt idx="106">
                  <c:v>45596</c:v>
                </c:pt>
                <c:pt idx="107">
                  <c:v>45626</c:v>
                </c:pt>
                <c:pt idx="108">
                  <c:v>45657</c:v>
                </c:pt>
                <c:pt idx="109">
                  <c:v>45688</c:v>
                </c:pt>
                <c:pt idx="110">
                  <c:v>45716</c:v>
                </c:pt>
                <c:pt idx="111">
                  <c:v>45747</c:v>
                </c:pt>
                <c:pt idx="112">
                  <c:v>45777</c:v>
                </c:pt>
                <c:pt idx="113">
                  <c:v>45808</c:v>
                </c:pt>
                <c:pt idx="114">
                  <c:v>45838</c:v>
                </c:pt>
                <c:pt idx="115">
                  <c:v>45869</c:v>
                </c:pt>
                <c:pt idx="116">
                  <c:v>45900</c:v>
                </c:pt>
                <c:pt idx="117">
                  <c:v>45930</c:v>
                </c:pt>
                <c:pt idx="118">
                  <c:v>45961</c:v>
                </c:pt>
                <c:pt idx="119">
                  <c:v>45991</c:v>
                </c:pt>
                <c:pt idx="120">
                  <c:v>46022</c:v>
                </c:pt>
                <c:pt idx="121">
                  <c:v>46045</c:v>
                </c:pt>
              </c:numCache>
            </c:numRef>
          </c:cat>
          <c:val>
            <c:numRef>
              <c:f>Sheet1!$I$2:$I$123</c:f>
              <c:numCache>
                <c:formatCode>#,##0.00</c:formatCode>
                <c:ptCount val="122"/>
                <c:pt idx="0">
                  <c:v>100</c:v>
                </c:pt>
                <c:pt idx="1">
                  <c:v>100</c:v>
                </c:pt>
                <c:pt idx="2">
                  <c:v>107.925</c:v>
                </c:pt>
                <c:pt idx="3">
                  <c:v>128.32499999999999</c:v>
                </c:pt>
                <c:pt idx="4">
                  <c:v>119.575</c:v>
                </c:pt>
                <c:pt idx="5">
                  <c:v>115.97499999999999</c:v>
                </c:pt>
                <c:pt idx="6">
                  <c:v>113.25</c:v>
                </c:pt>
                <c:pt idx="7">
                  <c:v>132.30000000000001</c:v>
                </c:pt>
                <c:pt idx="8">
                  <c:v>131.75</c:v>
                </c:pt>
                <c:pt idx="9">
                  <c:v>131.47499999999999</c:v>
                </c:pt>
                <c:pt idx="10">
                  <c:v>142.55000000000001</c:v>
                </c:pt>
                <c:pt idx="11">
                  <c:v>152.22499999999999</c:v>
                </c:pt>
                <c:pt idx="12">
                  <c:v>145.85</c:v>
                </c:pt>
                <c:pt idx="13">
                  <c:v>142.6</c:v>
                </c:pt>
                <c:pt idx="14">
                  <c:v>140.94999999999999</c:v>
                </c:pt>
                <c:pt idx="15">
                  <c:v>151.25</c:v>
                </c:pt>
                <c:pt idx="16">
                  <c:v>142.02500000000001</c:v>
                </c:pt>
                <c:pt idx="17">
                  <c:v>132.52500000000001</c:v>
                </c:pt>
                <c:pt idx="18">
                  <c:v>135.05000000000001</c:v>
                </c:pt>
                <c:pt idx="19">
                  <c:v>121.675</c:v>
                </c:pt>
                <c:pt idx="20">
                  <c:v>117.52500000000001</c:v>
                </c:pt>
                <c:pt idx="21">
                  <c:v>120.52500000000001</c:v>
                </c:pt>
                <c:pt idx="22">
                  <c:v>118.35</c:v>
                </c:pt>
                <c:pt idx="23">
                  <c:v>125.5</c:v>
                </c:pt>
                <c:pt idx="24">
                  <c:v>127.2</c:v>
                </c:pt>
                <c:pt idx="25">
                  <c:v>121.15</c:v>
                </c:pt>
                <c:pt idx="26">
                  <c:v>113.45</c:v>
                </c:pt>
                <c:pt idx="27">
                  <c:v>107.2</c:v>
                </c:pt>
                <c:pt idx="28">
                  <c:v>102.825</c:v>
                </c:pt>
                <c:pt idx="29">
                  <c:v>102.7</c:v>
                </c:pt>
                <c:pt idx="30">
                  <c:v>105.2</c:v>
                </c:pt>
                <c:pt idx="31">
                  <c:v>107.22499999999999</c:v>
                </c:pt>
                <c:pt idx="32">
                  <c:v>106.55</c:v>
                </c:pt>
                <c:pt idx="33">
                  <c:v>113.25</c:v>
                </c:pt>
                <c:pt idx="34">
                  <c:v>95.55</c:v>
                </c:pt>
                <c:pt idx="35">
                  <c:v>105.72499999999999</c:v>
                </c:pt>
                <c:pt idx="36">
                  <c:v>85.3</c:v>
                </c:pt>
                <c:pt idx="37">
                  <c:v>92.15</c:v>
                </c:pt>
                <c:pt idx="38">
                  <c:v>92.8</c:v>
                </c:pt>
                <c:pt idx="39">
                  <c:v>89.15</c:v>
                </c:pt>
                <c:pt idx="40">
                  <c:v>93.075000000000003</c:v>
                </c:pt>
                <c:pt idx="41">
                  <c:v>81.8</c:v>
                </c:pt>
                <c:pt idx="42">
                  <c:v>89.575000000000003</c:v>
                </c:pt>
                <c:pt idx="43">
                  <c:v>89.45</c:v>
                </c:pt>
                <c:pt idx="44">
                  <c:v>79.75</c:v>
                </c:pt>
                <c:pt idx="45">
                  <c:v>89.924999999999997</c:v>
                </c:pt>
                <c:pt idx="46">
                  <c:v>97.275000000000006</c:v>
                </c:pt>
                <c:pt idx="47">
                  <c:v>90.95</c:v>
                </c:pt>
                <c:pt idx="48">
                  <c:v>92.974999999999994</c:v>
                </c:pt>
                <c:pt idx="49">
                  <c:v>83.5</c:v>
                </c:pt>
                <c:pt idx="50">
                  <c:v>76.174999999999997</c:v>
                </c:pt>
                <c:pt idx="51">
                  <c:v>47.325000000000003</c:v>
                </c:pt>
                <c:pt idx="52">
                  <c:v>54.575000000000003</c:v>
                </c:pt>
                <c:pt idx="53">
                  <c:v>53.35</c:v>
                </c:pt>
                <c:pt idx="54">
                  <c:v>59.424999999999997</c:v>
                </c:pt>
                <c:pt idx="55">
                  <c:v>65.075000000000003</c:v>
                </c:pt>
                <c:pt idx="56">
                  <c:v>69.275000000000006</c:v>
                </c:pt>
                <c:pt idx="57">
                  <c:v>61.35</c:v>
                </c:pt>
                <c:pt idx="58">
                  <c:v>82.2</c:v>
                </c:pt>
                <c:pt idx="59">
                  <c:v>100.72499999999999</c:v>
                </c:pt>
                <c:pt idx="60">
                  <c:v>91.75</c:v>
                </c:pt>
                <c:pt idx="61">
                  <c:v>100.22499999999999</c:v>
                </c:pt>
                <c:pt idx="62">
                  <c:v>89.174999999999997</c:v>
                </c:pt>
                <c:pt idx="63">
                  <c:v>100.25</c:v>
                </c:pt>
                <c:pt idx="64">
                  <c:v>120.925</c:v>
                </c:pt>
                <c:pt idx="65">
                  <c:v>121.175</c:v>
                </c:pt>
                <c:pt idx="66">
                  <c:v>114.55</c:v>
                </c:pt>
                <c:pt idx="67">
                  <c:v>99.05</c:v>
                </c:pt>
                <c:pt idx="68">
                  <c:v>98.825000000000003</c:v>
                </c:pt>
                <c:pt idx="69">
                  <c:v>91.525000000000006</c:v>
                </c:pt>
                <c:pt idx="70">
                  <c:v>91.224999999999994</c:v>
                </c:pt>
                <c:pt idx="71">
                  <c:v>91.575000000000003</c:v>
                </c:pt>
                <c:pt idx="72">
                  <c:v>94.224999999999994</c:v>
                </c:pt>
                <c:pt idx="73">
                  <c:v>86.424999999999997</c:v>
                </c:pt>
                <c:pt idx="74">
                  <c:v>103.25</c:v>
                </c:pt>
                <c:pt idx="75">
                  <c:v>98.5</c:v>
                </c:pt>
                <c:pt idx="76">
                  <c:v>91.125</c:v>
                </c:pt>
                <c:pt idx="77">
                  <c:v>87.95</c:v>
                </c:pt>
                <c:pt idx="78">
                  <c:v>79.150000000000006</c:v>
                </c:pt>
                <c:pt idx="79">
                  <c:v>94.525000000000006</c:v>
                </c:pt>
                <c:pt idx="80">
                  <c:v>96.424999999999997</c:v>
                </c:pt>
                <c:pt idx="81">
                  <c:v>87.2</c:v>
                </c:pt>
                <c:pt idx="82">
                  <c:v>107.5</c:v>
                </c:pt>
                <c:pt idx="83">
                  <c:v>117.825</c:v>
                </c:pt>
                <c:pt idx="84">
                  <c:v>104</c:v>
                </c:pt>
                <c:pt idx="85">
                  <c:v>115.075</c:v>
                </c:pt>
                <c:pt idx="86">
                  <c:v>118.875</c:v>
                </c:pt>
                <c:pt idx="87">
                  <c:v>94.924999999999997</c:v>
                </c:pt>
                <c:pt idx="88">
                  <c:v>92.75</c:v>
                </c:pt>
                <c:pt idx="89">
                  <c:v>77.775000000000006</c:v>
                </c:pt>
                <c:pt idx="90">
                  <c:v>88.025000000000006</c:v>
                </c:pt>
                <c:pt idx="91">
                  <c:v>96.525000000000006</c:v>
                </c:pt>
                <c:pt idx="92">
                  <c:v>84.375</c:v>
                </c:pt>
                <c:pt idx="93">
                  <c:v>82.65</c:v>
                </c:pt>
                <c:pt idx="94">
                  <c:v>67.125</c:v>
                </c:pt>
                <c:pt idx="95">
                  <c:v>74.974999999999994</c:v>
                </c:pt>
                <c:pt idx="96">
                  <c:v>92.1</c:v>
                </c:pt>
                <c:pt idx="97">
                  <c:v>81.125</c:v>
                </c:pt>
                <c:pt idx="98">
                  <c:v>90.674999999999997</c:v>
                </c:pt>
                <c:pt idx="99">
                  <c:v>109.35</c:v>
                </c:pt>
                <c:pt idx="100">
                  <c:v>85.974999999999994</c:v>
                </c:pt>
                <c:pt idx="101">
                  <c:v>89.7</c:v>
                </c:pt>
                <c:pt idx="102">
                  <c:v>83.85</c:v>
                </c:pt>
                <c:pt idx="103">
                  <c:v>93.75</c:v>
                </c:pt>
                <c:pt idx="104">
                  <c:v>93.6</c:v>
                </c:pt>
                <c:pt idx="105">
                  <c:v>96.325000000000003</c:v>
                </c:pt>
                <c:pt idx="106">
                  <c:v>79.875</c:v>
                </c:pt>
                <c:pt idx="107">
                  <c:v>84.075000000000003</c:v>
                </c:pt>
                <c:pt idx="108">
                  <c:v>75.325000000000003</c:v>
                </c:pt>
                <c:pt idx="109">
                  <c:v>67.650000000000006</c:v>
                </c:pt>
                <c:pt idx="110">
                  <c:v>64.400000000000006</c:v>
                </c:pt>
                <c:pt idx="111">
                  <c:v>63.125</c:v>
                </c:pt>
                <c:pt idx="112">
                  <c:v>56.05</c:v>
                </c:pt>
                <c:pt idx="113">
                  <c:v>60.524999999999999</c:v>
                </c:pt>
                <c:pt idx="114">
                  <c:v>59</c:v>
                </c:pt>
                <c:pt idx="115">
                  <c:v>60.825000000000003</c:v>
                </c:pt>
                <c:pt idx="116">
                  <c:v>72.8</c:v>
                </c:pt>
                <c:pt idx="117">
                  <c:v>69.75</c:v>
                </c:pt>
                <c:pt idx="118">
                  <c:v>67.45</c:v>
                </c:pt>
                <c:pt idx="119">
                  <c:v>61.225000000000001</c:v>
                </c:pt>
                <c:pt idx="120">
                  <c:v>51.225000000000001</c:v>
                </c:pt>
                <c:pt idx="121">
                  <c:v>50.75</c:v>
                </c:pt>
              </c:numCache>
            </c:numRef>
          </c:val>
          <c:smooth val="0"/>
          <c:extLst>
            <c:ext xmlns:c16="http://schemas.microsoft.com/office/drawing/2014/chart" uri="{C3380CC4-5D6E-409C-BE32-E72D297353CC}">
              <c16:uniqueId val="{00000000-07E7-44DA-9522-5FE9C6879870}"/>
            </c:ext>
          </c:extLst>
        </c:ser>
        <c:ser>
          <c:idx val="1"/>
          <c:order val="1"/>
          <c:tx>
            <c:strRef>
              <c:f>Sheet1!$J$1</c:f>
              <c:strCache>
                <c:ptCount val="1"/>
                <c:pt idx="0">
                  <c:v>Harley Comps - Price (Indexed)</c:v>
                </c:pt>
              </c:strCache>
            </c:strRef>
          </c:tx>
          <c:spPr>
            <a:ln w="28575" cap="rnd">
              <a:solidFill>
                <a:schemeClr val="tx1"/>
              </a:solidFill>
              <a:round/>
            </a:ln>
            <a:effectLst/>
          </c:spPr>
          <c:marker>
            <c:symbol val="none"/>
          </c:marker>
          <c:cat>
            <c:numRef>
              <c:f>Sheet1!$H$2:$H$123</c:f>
              <c:numCache>
                <c:formatCode>mm/dd/yy</c:formatCode>
                <c:ptCount val="122"/>
                <c:pt idx="0">
                  <c:v>42398</c:v>
                </c:pt>
                <c:pt idx="1">
                  <c:v>42400</c:v>
                </c:pt>
                <c:pt idx="2">
                  <c:v>42429</c:v>
                </c:pt>
                <c:pt idx="3">
                  <c:v>42460</c:v>
                </c:pt>
                <c:pt idx="4">
                  <c:v>42490</c:v>
                </c:pt>
                <c:pt idx="5">
                  <c:v>42521</c:v>
                </c:pt>
                <c:pt idx="6">
                  <c:v>42551</c:v>
                </c:pt>
                <c:pt idx="7">
                  <c:v>42582</c:v>
                </c:pt>
                <c:pt idx="8">
                  <c:v>42613</c:v>
                </c:pt>
                <c:pt idx="9">
                  <c:v>42643</c:v>
                </c:pt>
                <c:pt idx="10">
                  <c:v>42674</c:v>
                </c:pt>
                <c:pt idx="11">
                  <c:v>42704</c:v>
                </c:pt>
                <c:pt idx="12">
                  <c:v>42735</c:v>
                </c:pt>
                <c:pt idx="13">
                  <c:v>42766</c:v>
                </c:pt>
                <c:pt idx="14">
                  <c:v>42794</c:v>
                </c:pt>
                <c:pt idx="15">
                  <c:v>42825</c:v>
                </c:pt>
                <c:pt idx="16">
                  <c:v>42855</c:v>
                </c:pt>
                <c:pt idx="17">
                  <c:v>42886</c:v>
                </c:pt>
                <c:pt idx="18">
                  <c:v>42916</c:v>
                </c:pt>
                <c:pt idx="19">
                  <c:v>42947</c:v>
                </c:pt>
                <c:pt idx="20">
                  <c:v>42978</c:v>
                </c:pt>
                <c:pt idx="21">
                  <c:v>43008</c:v>
                </c:pt>
                <c:pt idx="22">
                  <c:v>43039</c:v>
                </c:pt>
                <c:pt idx="23">
                  <c:v>43069</c:v>
                </c:pt>
                <c:pt idx="24">
                  <c:v>43100</c:v>
                </c:pt>
                <c:pt idx="25">
                  <c:v>43131</c:v>
                </c:pt>
                <c:pt idx="26">
                  <c:v>43159</c:v>
                </c:pt>
                <c:pt idx="27">
                  <c:v>43190</c:v>
                </c:pt>
                <c:pt idx="28">
                  <c:v>43220</c:v>
                </c:pt>
                <c:pt idx="29">
                  <c:v>43251</c:v>
                </c:pt>
                <c:pt idx="30">
                  <c:v>43281</c:v>
                </c:pt>
                <c:pt idx="31">
                  <c:v>43312</c:v>
                </c:pt>
                <c:pt idx="32">
                  <c:v>43343</c:v>
                </c:pt>
                <c:pt idx="33">
                  <c:v>43373</c:v>
                </c:pt>
                <c:pt idx="34">
                  <c:v>43404</c:v>
                </c:pt>
                <c:pt idx="35">
                  <c:v>43434</c:v>
                </c:pt>
                <c:pt idx="36">
                  <c:v>43465</c:v>
                </c:pt>
                <c:pt idx="37">
                  <c:v>43496</c:v>
                </c:pt>
                <c:pt idx="38">
                  <c:v>43524</c:v>
                </c:pt>
                <c:pt idx="39">
                  <c:v>43555</c:v>
                </c:pt>
                <c:pt idx="40">
                  <c:v>43585</c:v>
                </c:pt>
                <c:pt idx="41">
                  <c:v>43616</c:v>
                </c:pt>
                <c:pt idx="42">
                  <c:v>43646</c:v>
                </c:pt>
                <c:pt idx="43">
                  <c:v>43677</c:v>
                </c:pt>
                <c:pt idx="44">
                  <c:v>43708</c:v>
                </c:pt>
                <c:pt idx="45">
                  <c:v>43738</c:v>
                </c:pt>
                <c:pt idx="46">
                  <c:v>43769</c:v>
                </c:pt>
                <c:pt idx="47">
                  <c:v>43799</c:v>
                </c:pt>
                <c:pt idx="48">
                  <c:v>43830</c:v>
                </c:pt>
                <c:pt idx="49">
                  <c:v>43861</c:v>
                </c:pt>
                <c:pt idx="50">
                  <c:v>43890</c:v>
                </c:pt>
                <c:pt idx="51">
                  <c:v>43921</c:v>
                </c:pt>
                <c:pt idx="52">
                  <c:v>43951</c:v>
                </c:pt>
                <c:pt idx="53">
                  <c:v>43982</c:v>
                </c:pt>
                <c:pt idx="54">
                  <c:v>44012</c:v>
                </c:pt>
                <c:pt idx="55">
                  <c:v>44043</c:v>
                </c:pt>
                <c:pt idx="56">
                  <c:v>44074</c:v>
                </c:pt>
                <c:pt idx="57">
                  <c:v>44104</c:v>
                </c:pt>
                <c:pt idx="58">
                  <c:v>44135</c:v>
                </c:pt>
                <c:pt idx="59">
                  <c:v>44165</c:v>
                </c:pt>
                <c:pt idx="60">
                  <c:v>44196</c:v>
                </c:pt>
                <c:pt idx="61">
                  <c:v>44227</c:v>
                </c:pt>
                <c:pt idx="62">
                  <c:v>44255</c:v>
                </c:pt>
                <c:pt idx="63">
                  <c:v>44286</c:v>
                </c:pt>
                <c:pt idx="64">
                  <c:v>44316</c:v>
                </c:pt>
                <c:pt idx="65">
                  <c:v>44347</c:v>
                </c:pt>
                <c:pt idx="66">
                  <c:v>44377</c:v>
                </c:pt>
                <c:pt idx="67">
                  <c:v>44408</c:v>
                </c:pt>
                <c:pt idx="68">
                  <c:v>44439</c:v>
                </c:pt>
                <c:pt idx="69">
                  <c:v>44469</c:v>
                </c:pt>
                <c:pt idx="70">
                  <c:v>44500</c:v>
                </c:pt>
                <c:pt idx="71">
                  <c:v>44530</c:v>
                </c:pt>
                <c:pt idx="72">
                  <c:v>44561</c:v>
                </c:pt>
                <c:pt idx="73">
                  <c:v>44592</c:v>
                </c:pt>
                <c:pt idx="74">
                  <c:v>44620</c:v>
                </c:pt>
                <c:pt idx="75">
                  <c:v>44651</c:v>
                </c:pt>
                <c:pt idx="76">
                  <c:v>44681</c:v>
                </c:pt>
                <c:pt idx="77">
                  <c:v>44712</c:v>
                </c:pt>
                <c:pt idx="78">
                  <c:v>44742</c:v>
                </c:pt>
                <c:pt idx="79">
                  <c:v>44773</c:v>
                </c:pt>
                <c:pt idx="80">
                  <c:v>44804</c:v>
                </c:pt>
                <c:pt idx="81">
                  <c:v>44834</c:v>
                </c:pt>
                <c:pt idx="82">
                  <c:v>44865</c:v>
                </c:pt>
                <c:pt idx="83">
                  <c:v>44895</c:v>
                </c:pt>
                <c:pt idx="84">
                  <c:v>44926</c:v>
                </c:pt>
                <c:pt idx="85">
                  <c:v>44957</c:v>
                </c:pt>
                <c:pt idx="86">
                  <c:v>44985</c:v>
                </c:pt>
                <c:pt idx="87">
                  <c:v>45016</c:v>
                </c:pt>
                <c:pt idx="88">
                  <c:v>45046</c:v>
                </c:pt>
                <c:pt idx="89">
                  <c:v>45077</c:v>
                </c:pt>
                <c:pt idx="90">
                  <c:v>45107</c:v>
                </c:pt>
                <c:pt idx="91">
                  <c:v>45138</c:v>
                </c:pt>
                <c:pt idx="92">
                  <c:v>45169</c:v>
                </c:pt>
                <c:pt idx="93">
                  <c:v>45199</c:v>
                </c:pt>
                <c:pt idx="94">
                  <c:v>45230</c:v>
                </c:pt>
                <c:pt idx="95">
                  <c:v>45260</c:v>
                </c:pt>
                <c:pt idx="96">
                  <c:v>45291</c:v>
                </c:pt>
                <c:pt idx="97">
                  <c:v>45322</c:v>
                </c:pt>
                <c:pt idx="98">
                  <c:v>45351</c:v>
                </c:pt>
                <c:pt idx="99">
                  <c:v>45382</c:v>
                </c:pt>
                <c:pt idx="100">
                  <c:v>45412</c:v>
                </c:pt>
                <c:pt idx="101">
                  <c:v>45443</c:v>
                </c:pt>
                <c:pt idx="102">
                  <c:v>45473</c:v>
                </c:pt>
                <c:pt idx="103">
                  <c:v>45504</c:v>
                </c:pt>
                <c:pt idx="104">
                  <c:v>45535</c:v>
                </c:pt>
                <c:pt idx="105">
                  <c:v>45565</c:v>
                </c:pt>
                <c:pt idx="106">
                  <c:v>45596</c:v>
                </c:pt>
                <c:pt idx="107">
                  <c:v>45626</c:v>
                </c:pt>
                <c:pt idx="108">
                  <c:v>45657</c:v>
                </c:pt>
                <c:pt idx="109">
                  <c:v>45688</c:v>
                </c:pt>
                <c:pt idx="110">
                  <c:v>45716</c:v>
                </c:pt>
                <c:pt idx="111">
                  <c:v>45747</c:v>
                </c:pt>
                <c:pt idx="112">
                  <c:v>45777</c:v>
                </c:pt>
                <c:pt idx="113">
                  <c:v>45808</c:v>
                </c:pt>
                <c:pt idx="114">
                  <c:v>45838</c:v>
                </c:pt>
                <c:pt idx="115">
                  <c:v>45869</c:v>
                </c:pt>
                <c:pt idx="116">
                  <c:v>45900</c:v>
                </c:pt>
                <c:pt idx="117">
                  <c:v>45930</c:v>
                </c:pt>
                <c:pt idx="118">
                  <c:v>45961</c:v>
                </c:pt>
                <c:pt idx="119">
                  <c:v>45991</c:v>
                </c:pt>
                <c:pt idx="120">
                  <c:v>46022</c:v>
                </c:pt>
                <c:pt idx="121">
                  <c:v>46045</c:v>
                </c:pt>
              </c:numCache>
            </c:numRef>
          </c:cat>
          <c:val>
            <c:numRef>
              <c:f>Sheet1!$J$2:$J$123</c:f>
              <c:numCache>
                <c:formatCode>General</c:formatCode>
                <c:ptCount val="122"/>
                <c:pt idx="0" formatCode="#,##0.00">
                  <c:v>100</c:v>
                </c:pt>
                <c:pt idx="1">
                  <c:v>100</c:v>
                </c:pt>
                <c:pt idx="2">
                  <c:v>93.248324999999994</c:v>
                </c:pt>
                <c:pt idx="3">
                  <c:v>99.93504999999999</c:v>
                </c:pt>
                <c:pt idx="4">
                  <c:v>97.930075000000002</c:v>
                </c:pt>
                <c:pt idx="5">
                  <c:v>97.480050000000006</c:v>
                </c:pt>
                <c:pt idx="6">
                  <c:v>83.703125</c:v>
                </c:pt>
                <c:pt idx="7">
                  <c:v>93.480350000000001</c:v>
                </c:pt>
                <c:pt idx="8">
                  <c:v>102.235675</c:v>
                </c:pt>
                <c:pt idx="9">
                  <c:v>97.679150000000007</c:v>
                </c:pt>
                <c:pt idx="10">
                  <c:v>108.07512500000001</c:v>
                </c:pt>
                <c:pt idx="11">
                  <c:v>107.09465</c:v>
                </c:pt>
                <c:pt idx="12">
                  <c:v>114.15349999999999</c:v>
                </c:pt>
                <c:pt idx="13">
                  <c:v>113.13475000000001</c:v>
                </c:pt>
                <c:pt idx="14">
                  <c:v>109.51575000000001</c:v>
                </c:pt>
                <c:pt idx="15">
                  <c:v>111.63249999999999</c:v>
                </c:pt>
                <c:pt idx="16">
                  <c:v>111.86587499999999</c:v>
                </c:pt>
                <c:pt idx="17">
                  <c:v>117.7606</c:v>
                </c:pt>
                <c:pt idx="18">
                  <c:v>120.14400000000001</c:v>
                </c:pt>
                <c:pt idx="19">
                  <c:v>118.80175</c:v>
                </c:pt>
                <c:pt idx="20">
                  <c:v>120.099975</c:v>
                </c:pt>
                <c:pt idx="21">
                  <c:v>129.9289</c:v>
                </c:pt>
                <c:pt idx="22">
                  <c:v>136.3305</c:v>
                </c:pt>
                <c:pt idx="23">
                  <c:v>133.40350000000001</c:v>
                </c:pt>
                <c:pt idx="24">
                  <c:v>138.63075000000001</c:v>
                </c:pt>
                <c:pt idx="25">
                  <c:v>140.90350000000001</c:v>
                </c:pt>
                <c:pt idx="26">
                  <c:v>141.18</c:v>
                </c:pt>
                <c:pt idx="27">
                  <c:v>136.6</c:v>
                </c:pt>
                <c:pt idx="28">
                  <c:v>145.34100000000001</c:v>
                </c:pt>
                <c:pt idx="29">
                  <c:v>146.61525</c:v>
                </c:pt>
                <c:pt idx="30">
                  <c:v>142.35825</c:v>
                </c:pt>
                <c:pt idx="31">
                  <c:v>142.96375</c:v>
                </c:pt>
                <c:pt idx="32">
                  <c:v>148.165325</c:v>
                </c:pt>
                <c:pt idx="33">
                  <c:v>148.73875000000001</c:v>
                </c:pt>
                <c:pt idx="34">
                  <c:v>131.67945</c:v>
                </c:pt>
                <c:pt idx="35">
                  <c:v>129.3604</c:v>
                </c:pt>
                <c:pt idx="36">
                  <c:v>124.110775</c:v>
                </c:pt>
                <c:pt idx="37">
                  <c:v>129.10150000000002</c:v>
                </c:pt>
                <c:pt idx="38">
                  <c:v>135.20335</c:v>
                </c:pt>
                <c:pt idx="39">
                  <c:v>127.15837500000001</c:v>
                </c:pt>
                <c:pt idx="40">
                  <c:v>133.36802499999999</c:v>
                </c:pt>
                <c:pt idx="41">
                  <c:v>118.471525</c:v>
                </c:pt>
                <c:pt idx="42">
                  <c:v>121.90787500000002</c:v>
                </c:pt>
                <c:pt idx="43">
                  <c:v>116.834625</c:v>
                </c:pt>
                <c:pt idx="44">
                  <c:v>107.2251</c:v>
                </c:pt>
                <c:pt idx="45">
                  <c:v>116.19985</c:v>
                </c:pt>
                <c:pt idx="46">
                  <c:v>124.32072499999998</c:v>
                </c:pt>
                <c:pt idx="47">
                  <c:v>133.30894999999998</c:v>
                </c:pt>
                <c:pt idx="48">
                  <c:v>131.961725</c:v>
                </c:pt>
                <c:pt idx="49">
                  <c:v>126.557275</c:v>
                </c:pt>
                <c:pt idx="50">
                  <c:v>116.625775</c:v>
                </c:pt>
                <c:pt idx="51">
                  <c:v>88.442849999999993</c:v>
                </c:pt>
                <c:pt idx="52">
                  <c:v>99.560374999999993</c:v>
                </c:pt>
                <c:pt idx="53">
                  <c:v>109.874225</c:v>
                </c:pt>
                <c:pt idx="54">
                  <c:v>108.927425</c:v>
                </c:pt>
                <c:pt idx="55">
                  <c:v>103.296075</c:v>
                </c:pt>
                <c:pt idx="56">
                  <c:v>115.4301</c:v>
                </c:pt>
                <c:pt idx="57">
                  <c:v>113.71005</c:v>
                </c:pt>
                <c:pt idx="58">
                  <c:v>111.28174999999999</c:v>
                </c:pt>
                <c:pt idx="59">
                  <c:v>136.25827500000003</c:v>
                </c:pt>
                <c:pt idx="60">
                  <c:v>131.389275</c:v>
                </c:pt>
                <c:pt idx="61">
                  <c:v>127.724225</c:v>
                </c:pt>
                <c:pt idx="62">
                  <c:v>128.91810000000001</c:v>
                </c:pt>
                <c:pt idx="63">
                  <c:v>141.12087500000001</c:v>
                </c:pt>
                <c:pt idx="64">
                  <c:v>132.28287499999999</c:v>
                </c:pt>
                <c:pt idx="65">
                  <c:v>143.81475</c:v>
                </c:pt>
                <c:pt idx="66">
                  <c:v>141.08425</c:v>
                </c:pt>
                <c:pt idx="67">
                  <c:v>137.03375</c:v>
                </c:pt>
                <c:pt idx="68">
                  <c:v>141.0505</c:v>
                </c:pt>
                <c:pt idx="69">
                  <c:v>149.25524999999999</c:v>
                </c:pt>
                <c:pt idx="70">
                  <c:v>151.61799999999999</c:v>
                </c:pt>
                <c:pt idx="71">
                  <c:v>133.66512499999999</c:v>
                </c:pt>
                <c:pt idx="72">
                  <c:v>133.38339999999999</c:v>
                </c:pt>
                <c:pt idx="73">
                  <c:v>134.50149999999999</c:v>
                </c:pt>
                <c:pt idx="74">
                  <c:v>133.20875000000001</c:v>
                </c:pt>
                <c:pt idx="75">
                  <c:v>127.77825000000001</c:v>
                </c:pt>
                <c:pt idx="76">
                  <c:v>122.06375</c:v>
                </c:pt>
                <c:pt idx="77">
                  <c:v>123.22964999999999</c:v>
                </c:pt>
                <c:pt idx="78">
                  <c:v>127.20699999999999</c:v>
                </c:pt>
                <c:pt idx="79">
                  <c:v>130.63724999999999</c:v>
                </c:pt>
                <c:pt idx="80">
                  <c:v>133.40417500000001</c:v>
                </c:pt>
                <c:pt idx="81">
                  <c:v>122.32980000000001</c:v>
                </c:pt>
                <c:pt idx="82">
                  <c:v>135.12774999999999</c:v>
                </c:pt>
                <c:pt idx="83">
                  <c:v>134.62875000000003</c:v>
                </c:pt>
                <c:pt idx="84">
                  <c:v>122.5318</c:v>
                </c:pt>
                <c:pt idx="85">
                  <c:v>131.82055</c:v>
                </c:pt>
                <c:pt idx="86">
                  <c:v>136.74324999999999</c:v>
                </c:pt>
                <c:pt idx="87">
                  <c:v>136.98124999999999</c:v>
                </c:pt>
                <c:pt idx="88">
                  <c:v>139.12925000000001</c:v>
                </c:pt>
                <c:pt idx="89">
                  <c:v>143.50899999999999</c:v>
                </c:pt>
                <c:pt idx="90">
                  <c:v>153.36425</c:v>
                </c:pt>
                <c:pt idx="91">
                  <c:v>157.44850000000002</c:v>
                </c:pt>
                <c:pt idx="92">
                  <c:v>145.82599999999999</c:v>
                </c:pt>
                <c:pt idx="93">
                  <c:v>146.40899999999999</c:v>
                </c:pt>
                <c:pt idx="94">
                  <c:v>137.08474999999999</c:v>
                </c:pt>
                <c:pt idx="95">
                  <c:v>136.78299999999999</c:v>
                </c:pt>
                <c:pt idx="96">
                  <c:v>135.79075</c:v>
                </c:pt>
                <c:pt idx="97">
                  <c:v>143.74775</c:v>
                </c:pt>
                <c:pt idx="98">
                  <c:v>149.48075</c:v>
                </c:pt>
                <c:pt idx="99">
                  <c:v>153.67975000000001</c:v>
                </c:pt>
                <c:pt idx="100">
                  <c:v>153.91050000000001</c:v>
                </c:pt>
                <c:pt idx="101">
                  <c:v>152.5975</c:v>
                </c:pt>
                <c:pt idx="102">
                  <c:v>151.31874999999997</c:v>
                </c:pt>
                <c:pt idx="103">
                  <c:v>144.83224999999999</c:v>
                </c:pt>
                <c:pt idx="104">
                  <c:v>140.185</c:v>
                </c:pt>
                <c:pt idx="105">
                  <c:v>135.89924999999999</c:v>
                </c:pt>
                <c:pt idx="106">
                  <c:v>133.69515000000001</c:v>
                </c:pt>
                <c:pt idx="107">
                  <c:v>124.375575</c:v>
                </c:pt>
                <c:pt idx="108">
                  <c:v>139.09825000000001</c:v>
                </c:pt>
                <c:pt idx="109">
                  <c:v>139.13800000000001</c:v>
                </c:pt>
                <c:pt idx="110">
                  <c:v>137.67425</c:v>
                </c:pt>
                <c:pt idx="111">
                  <c:v>134.310925</c:v>
                </c:pt>
                <c:pt idx="112">
                  <c:v>131.10384999999999</c:v>
                </c:pt>
                <c:pt idx="113">
                  <c:v>135.864</c:v>
                </c:pt>
                <c:pt idx="114">
                  <c:v>131.20614999999998</c:v>
                </c:pt>
                <c:pt idx="115">
                  <c:v>136.96899999999999</c:v>
                </c:pt>
                <c:pt idx="116">
                  <c:v>145.84475</c:v>
                </c:pt>
                <c:pt idx="117">
                  <c:v>147.39699999999999</c:v>
                </c:pt>
                <c:pt idx="118">
                  <c:v>150.29949999999999</c:v>
                </c:pt>
                <c:pt idx="119">
                  <c:v>159.39150000000001</c:v>
                </c:pt>
                <c:pt idx="120">
                  <c:v>157.65124999999998</c:v>
                </c:pt>
                <c:pt idx="121">
                  <c:v>157.47925000000001</c:v>
                </c:pt>
              </c:numCache>
            </c:numRef>
          </c:val>
          <c:smooth val="0"/>
          <c:extLst>
            <c:ext xmlns:c16="http://schemas.microsoft.com/office/drawing/2014/chart" uri="{C3380CC4-5D6E-409C-BE32-E72D297353CC}">
              <c16:uniqueId val="{00000001-07E7-44DA-9522-5FE9C6879870}"/>
            </c:ext>
          </c:extLst>
        </c:ser>
        <c:dLbls>
          <c:showLegendKey val="0"/>
          <c:showVal val="0"/>
          <c:showCatName val="0"/>
          <c:showSerName val="0"/>
          <c:showPercent val="0"/>
          <c:showBubbleSize val="0"/>
        </c:dLbls>
        <c:smooth val="0"/>
        <c:axId val="405411824"/>
        <c:axId val="405412304"/>
      </c:lineChart>
      <c:dateAx>
        <c:axId val="405411824"/>
        <c:scaling>
          <c:orientation val="minMax"/>
        </c:scaling>
        <c:delete val="0"/>
        <c:axPos val="b"/>
        <c:numFmt formatCode="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05412304"/>
        <c:crosses val="autoZero"/>
        <c:auto val="1"/>
        <c:lblOffset val="100"/>
        <c:baseTimeUnit val="days"/>
        <c:majorUnit val="1"/>
        <c:majorTimeUnit val="years"/>
      </c:dateAx>
      <c:valAx>
        <c:axId val="405412304"/>
        <c:scaling>
          <c:orientation val="minMax"/>
          <c:max val="180"/>
          <c:min val="40"/>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05411824"/>
        <c:crosses val="autoZero"/>
        <c:crossBetween val="between"/>
        <c:majorUnit val="40"/>
      </c:valAx>
      <c:spPr>
        <a:noFill/>
        <a:ln>
          <a:noFill/>
        </a:ln>
        <a:effectLst/>
      </c:spPr>
    </c:plotArea>
    <c:legend>
      <c:legendPos val="b"/>
      <c:layout>
        <c:manualLayout>
          <c:xMode val="edge"/>
          <c:yMode val="edge"/>
          <c:x val="4.1724203184147504E-2"/>
          <c:y val="0.80111808363971959"/>
          <c:w val="0.92137706133994413"/>
          <c:h val="0.198881916360280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EPS</c:v>
          </c:tx>
          <c:spPr>
            <a:ln w="28575" cap="rnd">
              <a:solidFill>
                <a:schemeClr val="accent2">
                  <a:lumMod val="75000"/>
                </a:schemeClr>
              </a:solidFill>
              <a:round/>
            </a:ln>
            <a:effectLst/>
          </c:spPr>
          <c:marker>
            <c:symbol val="none"/>
          </c:marker>
          <c:cat>
            <c:strRef>
              <c:f>Sheet2!$B$3:$H$3</c:f>
              <c:strCache>
                <c:ptCount val="7"/>
                <c:pt idx="0">
                  <c:v>24'</c:v>
                </c:pt>
                <c:pt idx="1">
                  <c:v>25'</c:v>
                </c:pt>
                <c:pt idx="2">
                  <c:v>26'</c:v>
                </c:pt>
                <c:pt idx="3">
                  <c:v>27'</c:v>
                </c:pt>
                <c:pt idx="4">
                  <c:v>28'</c:v>
                </c:pt>
                <c:pt idx="5">
                  <c:v>29'</c:v>
                </c:pt>
                <c:pt idx="6">
                  <c:v>30'</c:v>
                </c:pt>
              </c:strCache>
            </c:strRef>
          </c:cat>
          <c:val>
            <c:numRef>
              <c:f>Sheet2!$B$4:$H$4</c:f>
              <c:numCache>
                <c:formatCode>General</c:formatCode>
                <c:ptCount val="7"/>
                <c:pt idx="0">
                  <c:v>3.5820325072417125</c:v>
                </c:pt>
                <c:pt idx="1">
                  <c:v>2.0829654153931663</c:v>
                </c:pt>
                <c:pt idx="2">
                  <c:v>5.1826712175243062</c:v>
                </c:pt>
                <c:pt idx="3">
                  <c:v>7.4628431426431714</c:v>
                </c:pt>
                <c:pt idx="4">
                  <c:v>8.4411645835874349</c:v>
                </c:pt>
                <c:pt idx="5">
                  <c:v>9.5322044859354396</c:v>
                </c:pt>
                <c:pt idx="6">
                  <c:v>10.749228388558564</c:v>
                </c:pt>
              </c:numCache>
            </c:numRef>
          </c:val>
          <c:smooth val="0"/>
          <c:extLst>
            <c:ext xmlns:c16="http://schemas.microsoft.com/office/drawing/2014/chart" uri="{C3380CC4-5D6E-409C-BE32-E72D297353CC}">
              <c16:uniqueId val="{00000000-3FDF-496D-B115-FA09318D991E}"/>
            </c:ext>
          </c:extLst>
        </c:ser>
        <c:dLbls>
          <c:showLegendKey val="0"/>
          <c:showVal val="0"/>
          <c:showCatName val="0"/>
          <c:showSerName val="0"/>
          <c:showPercent val="0"/>
          <c:showBubbleSize val="0"/>
        </c:dLbls>
        <c:smooth val="0"/>
        <c:axId val="1670471903"/>
        <c:axId val="1670473343"/>
      </c:lineChart>
      <c:catAx>
        <c:axId val="1670471903"/>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70473343"/>
        <c:crosses val="autoZero"/>
        <c:auto val="1"/>
        <c:lblAlgn val="ctr"/>
        <c:lblOffset val="100"/>
        <c:noMultiLvlLbl val="0"/>
      </c:catAx>
      <c:valAx>
        <c:axId val="16704733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704719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chemeClr val="accent2">
                <a:lumMod val="75000"/>
              </a:schemeClr>
            </a:solidFill>
            <a:ln>
              <a:noFill/>
            </a:ln>
          </c:spPr>
          <c:dPt>
            <c:idx val="0"/>
            <c:bubble3D val="0"/>
            <c:spPr>
              <a:solidFill>
                <a:schemeClr val="bg2">
                  <a:lumMod val="25000"/>
                </a:schemeClr>
              </a:solidFill>
              <a:ln w="19050">
                <a:noFill/>
              </a:ln>
              <a:effectLst/>
            </c:spPr>
            <c:extLst>
              <c:ext xmlns:c16="http://schemas.microsoft.com/office/drawing/2014/chart" uri="{C3380CC4-5D6E-409C-BE32-E72D297353CC}">
                <c16:uniqueId val="{00000001-2415-43A0-9405-137293B05D4F}"/>
              </c:ext>
            </c:extLst>
          </c:dPt>
          <c:dPt>
            <c:idx val="1"/>
            <c:bubble3D val="0"/>
            <c:spPr>
              <a:solidFill>
                <a:schemeClr val="accent2">
                  <a:lumMod val="75000"/>
                </a:schemeClr>
              </a:solidFill>
              <a:ln w="19050">
                <a:noFill/>
              </a:ln>
              <a:effectLst/>
            </c:spPr>
            <c:extLst>
              <c:ext xmlns:c16="http://schemas.microsoft.com/office/drawing/2014/chart" uri="{C3380CC4-5D6E-409C-BE32-E72D297353CC}">
                <c16:uniqueId val="{00000003-2415-43A0-9405-137293B05D4F}"/>
              </c:ext>
            </c:extLst>
          </c:dPt>
          <c:dLbls>
            <c:dLbl>
              <c:idx val="0"/>
              <c:tx>
                <c:rich>
                  <a:bodyPr/>
                  <a:lstStyle/>
                  <a:p>
                    <a:r>
                      <a:rPr lang="en-US"/>
                      <a:t>HDMC</a:t>
                    </a:r>
                    <a:r>
                      <a:rPr lang="en-US" baseline="0"/>
                      <a:t>
</a:t>
                    </a:r>
                    <a:fld id="{747F2FBB-D788-4D28-A341-36D3F2533A77}" type="PERCENTAGE">
                      <a:rPr lang="en-US" baseline="0"/>
                      <a:pPr/>
                      <a:t>[PERCENTAGE]</a:t>
                    </a:fld>
                    <a:endParaRPr lang="en-US" baseline="0"/>
                  </a:p>
                </c:rich>
              </c:tx>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415-43A0-9405-137293B05D4F}"/>
                </c:ext>
              </c:extLst>
            </c:dLbl>
            <c:dLbl>
              <c:idx val="1"/>
              <c:tx>
                <c:rich>
                  <a:bodyPr/>
                  <a:lstStyle/>
                  <a:p>
                    <a:r>
                      <a:rPr lang="en-US" baseline="0"/>
                      <a:t>HDFS
</a:t>
                    </a:r>
                    <a:fld id="{92B73E0C-881C-42F8-A6B7-0D2D73CA20F9}" type="PERCENTAGE">
                      <a:rPr lang="en-US" baseline="0"/>
                      <a:pPr/>
                      <a:t>[PERCENTAGE]</a:t>
                    </a:fld>
                    <a:endParaRPr lang="en-US" baseline="0"/>
                  </a:p>
                </c:rich>
              </c:tx>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415-43A0-9405-137293B05D4F}"/>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 (2)'!$A$20:$A$21</c:f>
              <c:strCache>
                <c:ptCount val="2"/>
                <c:pt idx="0">
                  <c:v>Harley-Davidson Motor Company</c:v>
                </c:pt>
                <c:pt idx="1">
                  <c:v>Harley-Davidson Financial Services</c:v>
                </c:pt>
              </c:strCache>
            </c:strRef>
          </c:cat>
          <c:val>
            <c:numRef>
              <c:f>'Sheet1 (2)'!$E$20:$E$21</c:f>
              <c:numCache>
                <c:formatCode>#,##0</c:formatCode>
                <c:ptCount val="2"/>
                <c:pt idx="0">
                  <c:v>277.84399999999999</c:v>
                </c:pt>
                <c:pt idx="1">
                  <c:v>248.422</c:v>
                </c:pt>
              </c:numCache>
            </c:numRef>
          </c:val>
          <c:extLst>
            <c:ext xmlns:c16="http://schemas.microsoft.com/office/drawing/2014/chart" uri="{C3380CC4-5D6E-409C-BE32-E72D297353CC}">
              <c16:uniqueId val="{00000004-2415-43A0-9405-137293B05D4F}"/>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 (2)'!$A$6</c:f>
              <c:strCache>
                <c:ptCount val="1"/>
                <c:pt idx="0">
                  <c:v>Harley-Davidson Motor Company</c:v>
                </c:pt>
              </c:strCache>
            </c:strRef>
          </c:tx>
          <c:spPr>
            <a:solidFill>
              <a:schemeClr val="bg2">
                <a:lumMod val="25000"/>
              </a:schemeClr>
            </a:solidFill>
            <a:ln>
              <a:noFill/>
            </a:ln>
            <a:effectLst/>
          </c:spPr>
          <c:cat>
            <c:numRef>
              <c:f>'Sheet1 (2)'!$F$5:$I$5</c:f>
              <c:numCache>
                <c:formatCode>General</c:formatCode>
                <c:ptCount val="4"/>
                <c:pt idx="0">
                  <c:v>2021</c:v>
                </c:pt>
                <c:pt idx="1">
                  <c:v>2022</c:v>
                </c:pt>
                <c:pt idx="2">
                  <c:v>2023</c:v>
                </c:pt>
                <c:pt idx="3">
                  <c:v>2024</c:v>
                </c:pt>
              </c:numCache>
            </c:numRef>
          </c:cat>
          <c:val>
            <c:numRef>
              <c:f>'Sheet1 (2)'!$F$6:$I$6</c:f>
              <c:numCache>
                <c:formatCode>#,##0</c:formatCode>
                <c:ptCount val="4"/>
                <c:pt idx="0">
                  <c:v>4504.4340000000002</c:v>
                </c:pt>
                <c:pt idx="1">
                  <c:v>4887.6719999999996</c:v>
                </c:pt>
                <c:pt idx="2">
                  <c:v>4844.5940000000001</c:v>
                </c:pt>
                <c:pt idx="3">
                  <c:v>4121.9059999999999</c:v>
                </c:pt>
              </c:numCache>
            </c:numRef>
          </c:val>
          <c:extLst>
            <c:ext xmlns:c16="http://schemas.microsoft.com/office/drawing/2014/chart" uri="{C3380CC4-5D6E-409C-BE32-E72D297353CC}">
              <c16:uniqueId val="{00000000-1C96-401A-A8B4-D766BC701D48}"/>
            </c:ext>
          </c:extLst>
        </c:ser>
        <c:ser>
          <c:idx val="1"/>
          <c:order val="1"/>
          <c:tx>
            <c:strRef>
              <c:f>'Sheet1 (2)'!$A$7</c:f>
              <c:strCache>
                <c:ptCount val="1"/>
                <c:pt idx="0">
                  <c:v>Harley-Davidson Financial Services</c:v>
                </c:pt>
              </c:strCache>
            </c:strRef>
          </c:tx>
          <c:spPr>
            <a:solidFill>
              <a:schemeClr val="accent2">
                <a:lumMod val="75000"/>
              </a:schemeClr>
            </a:solidFill>
            <a:ln>
              <a:noFill/>
            </a:ln>
            <a:effectLst/>
          </c:spPr>
          <c:cat>
            <c:numRef>
              <c:f>'Sheet1 (2)'!$F$5:$I$5</c:f>
              <c:numCache>
                <c:formatCode>General</c:formatCode>
                <c:ptCount val="4"/>
                <c:pt idx="0">
                  <c:v>2021</c:v>
                </c:pt>
                <c:pt idx="1">
                  <c:v>2022</c:v>
                </c:pt>
                <c:pt idx="2">
                  <c:v>2023</c:v>
                </c:pt>
                <c:pt idx="3">
                  <c:v>2024</c:v>
                </c:pt>
              </c:numCache>
            </c:numRef>
          </c:cat>
          <c:val>
            <c:numRef>
              <c:f>'Sheet1 (2)'!$F$7:$I$7</c:f>
              <c:numCache>
                <c:formatCode>#,##0</c:formatCode>
                <c:ptCount val="4"/>
                <c:pt idx="0">
                  <c:v>796.06799999999998</c:v>
                </c:pt>
                <c:pt idx="1">
                  <c:v>820.625</c:v>
                </c:pt>
                <c:pt idx="2">
                  <c:v>953.58600000000001</c:v>
                </c:pt>
                <c:pt idx="3">
                  <c:v>1038.538</c:v>
                </c:pt>
              </c:numCache>
            </c:numRef>
          </c:val>
          <c:extLst>
            <c:ext xmlns:c16="http://schemas.microsoft.com/office/drawing/2014/chart" uri="{C3380CC4-5D6E-409C-BE32-E72D297353CC}">
              <c16:uniqueId val="{00000001-1C96-401A-A8B4-D766BC701D48}"/>
            </c:ext>
          </c:extLst>
        </c:ser>
        <c:dLbls>
          <c:showLegendKey val="0"/>
          <c:showVal val="0"/>
          <c:showCatName val="0"/>
          <c:showSerName val="0"/>
          <c:showPercent val="0"/>
          <c:showBubbleSize val="0"/>
        </c:dLbls>
        <c:axId val="673522975"/>
        <c:axId val="673539775"/>
      </c:areaChart>
      <c:catAx>
        <c:axId val="67352297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73539775"/>
        <c:crosses val="autoZero"/>
        <c:auto val="1"/>
        <c:lblAlgn val="ctr"/>
        <c:lblOffset val="100"/>
        <c:noMultiLvlLbl val="0"/>
      </c:catAx>
      <c:valAx>
        <c:axId val="673539775"/>
        <c:scaling>
          <c:orientation val="minMax"/>
          <c:max val="6250"/>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73522975"/>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914178188536369"/>
          <c:y val="5.3034700443427368E-2"/>
          <c:w val="0.79225143654466268"/>
          <c:h val="0.58808324002049805"/>
        </c:manualLayout>
      </c:layout>
      <c:lineChart>
        <c:grouping val="standard"/>
        <c:varyColors val="0"/>
        <c:ser>
          <c:idx val="0"/>
          <c:order val="0"/>
          <c:tx>
            <c:strRef>
              <c:f>Sheet1!$I$1</c:f>
              <c:strCache>
                <c:ptCount val="1"/>
                <c:pt idx="0">
                  <c:v>Harley - Price</c:v>
                </c:pt>
              </c:strCache>
            </c:strRef>
          </c:tx>
          <c:spPr>
            <a:ln w="28575" cap="rnd">
              <a:solidFill>
                <a:schemeClr val="accent2">
                  <a:lumMod val="75000"/>
                </a:schemeClr>
              </a:solidFill>
              <a:round/>
            </a:ln>
            <a:effectLst/>
          </c:spPr>
          <c:marker>
            <c:symbol val="none"/>
          </c:marker>
          <c:cat>
            <c:numRef>
              <c:f>Sheet1!$H$2:$H$123</c:f>
              <c:numCache>
                <c:formatCode>mm/dd/yy</c:formatCode>
                <c:ptCount val="122"/>
                <c:pt idx="0">
                  <c:v>42398</c:v>
                </c:pt>
                <c:pt idx="1">
                  <c:v>42400</c:v>
                </c:pt>
                <c:pt idx="2">
                  <c:v>42429</c:v>
                </c:pt>
                <c:pt idx="3">
                  <c:v>42460</c:v>
                </c:pt>
                <c:pt idx="4">
                  <c:v>42490</c:v>
                </c:pt>
                <c:pt idx="5">
                  <c:v>42521</c:v>
                </c:pt>
                <c:pt idx="6">
                  <c:v>42551</c:v>
                </c:pt>
                <c:pt idx="7">
                  <c:v>42582</c:v>
                </c:pt>
                <c:pt idx="8">
                  <c:v>42613</c:v>
                </c:pt>
                <c:pt idx="9">
                  <c:v>42643</c:v>
                </c:pt>
                <c:pt idx="10">
                  <c:v>42674</c:v>
                </c:pt>
                <c:pt idx="11">
                  <c:v>42704</c:v>
                </c:pt>
                <c:pt idx="12">
                  <c:v>42735</c:v>
                </c:pt>
                <c:pt idx="13">
                  <c:v>42766</c:v>
                </c:pt>
                <c:pt idx="14">
                  <c:v>42794</c:v>
                </c:pt>
                <c:pt idx="15">
                  <c:v>42825</c:v>
                </c:pt>
                <c:pt idx="16">
                  <c:v>42855</c:v>
                </c:pt>
                <c:pt idx="17">
                  <c:v>42886</c:v>
                </c:pt>
                <c:pt idx="18">
                  <c:v>42916</c:v>
                </c:pt>
                <c:pt idx="19">
                  <c:v>42947</c:v>
                </c:pt>
                <c:pt idx="20">
                  <c:v>42978</c:v>
                </c:pt>
                <c:pt idx="21">
                  <c:v>43008</c:v>
                </c:pt>
                <c:pt idx="22">
                  <c:v>43039</c:v>
                </c:pt>
                <c:pt idx="23">
                  <c:v>43069</c:v>
                </c:pt>
                <c:pt idx="24">
                  <c:v>43100</c:v>
                </c:pt>
                <c:pt idx="25">
                  <c:v>43131</c:v>
                </c:pt>
                <c:pt idx="26">
                  <c:v>43159</c:v>
                </c:pt>
                <c:pt idx="27">
                  <c:v>43190</c:v>
                </c:pt>
                <c:pt idx="28">
                  <c:v>43220</c:v>
                </c:pt>
                <c:pt idx="29">
                  <c:v>43251</c:v>
                </c:pt>
                <c:pt idx="30">
                  <c:v>43281</c:v>
                </c:pt>
                <c:pt idx="31">
                  <c:v>43312</c:v>
                </c:pt>
                <c:pt idx="32">
                  <c:v>43343</c:v>
                </c:pt>
                <c:pt idx="33">
                  <c:v>43373</c:v>
                </c:pt>
                <c:pt idx="34">
                  <c:v>43404</c:v>
                </c:pt>
                <c:pt idx="35">
                  <c:v>43434</c:v>
                </c:pt>
                <c:pt idx="36">
                  <c:v>43465</c:v>
                </c:pt>
                <c:pt idx="37">
                  <c:v>43496</c:v>
                </c:pt>
                <c:pt idx="38">
                  <c:v>43524</c:v>
                </c:pt>
                <c:pt idx="39">
                  <c:v>43555</c:v>
                </c:pt>
                <c:pt idx="40">
                  <c:v>43585</c:v>
                </c:pt>
                <c:pt idx="41">
                  <c:v>43616</c:v>
                </c:pt>
                <c:pt idx="42">
                  <c:v>43646</c:v>
                </c:pt>
                <c:pt idx="43">
                  <c:v>43677</c:v>
                </c:pt>
                <c:pt idx="44">
                  <c:v>43708</c:v>
                </c:pt>
                <c:pt idx="45">
                  <c:v>43738</c:v>
                </c:pt>
                <c:pt idx="46">
                  <c:v>43769</c:v>
                </c:pt>
                <c:pt idx="47">
                  <c:v>43799</c:v>
                </c:pt>
                <c:pt idx="48">
                  <c:v>43830</c:v>
                </c:pt>
                <c:pt idx="49">
                  <c:v>43861</c:v>
                </c:pt>
                <c:pt idx="50">
                  <c:v>43890</c:v>
                </c:pt>
                <c:pt idx="51">
                  <c:v>43921</c:v>
                </c:pt>
                <c:pt idx="52">
                  <c:v>43951</c:v>
                </c:pt>
                <c:pt idx="53">
                  <c:v>43982</c:v>
                </c:pt>
                <c:pt idx="54">
                  <c:v>44012</c:v>
                </c:pt>
                <c:pt idx="55">
                  <c:v>44043</c:v>
                </c:pt>
                <c:pt idx="56">
                  <c:v>44074</c:v>
                </c:pt>
                <c:pt idx="57">
                  <c:v>44104</c:v>
                </c:pt>
                <c:pt idx="58">
                  <c:v>44135</c:v>
                </c:pt>
                <c:pt idx="59">
                  <c:v>44165</c:v>
                </c:pt>
                <c:pt idx="60">
                  <c:v>44196</c:v>
                </c:pt>
                <c:pt idx="61">
                  <c:v>44227</c:v>
                </c:pt>
                <c:pt idx="62">
                  <c:v>44255</c:v>
                </c:pt>
                <c:pt idx="63">
                  <c:v>44286</c:v>
                </c:pt>
                <c:pt idx="64">
                  <c:v>44316</c:v>
                </c:pt>
                <c:pt idx="65">
                  <c:v>44347</c:v>
                </c:pt>
                <c:pt idx="66">
                  <c:v>44377</c:v>
                </c:pt>
                <c:pt idx="67">
                  <c:v>44408</c:v>
                </c:pt>
                <c:pt idx="68">
                  <c:v>44439</c:v>
                </c:pt>
                <c:pt idx="69">
                  <c:v>44469</c:v>
                </c:pt>
                <c:pt idx="70">
                  <c:v>44500</c:v>
                </c:pt>
                <c:pt idx="71">
                  <c:v>44530</c:v>
                </c:pt>
                <c:pt idx="72">
                  <c:v>44561</c:v>
                </c:pt>
                <c:pt idx="73">
                  <c:v>44592</c:v>
                </c:pt>
                <c:pt idx="74">
                  <c:v>44620</c:v>
                </c:pt>
                <c:pt idx="75">
                  <c:v>44651</c:v>
                </c:pt>
                <c:pt idx="76">
                  <c:v>44681</c:v>
                </c:pt>
                <c:pt idx="77">
                  <c:v>44712</c:v>
                </c:pt>
                <c:pt idx="78">
                  <c:v>44742</c:v>
                </c:pt>
                <c:pt idx="79">
                  <c:v>44773</c:v>
                </c:pt>
                <c:pt idx="80">
                  <c:v>44804</c:v>
                </c:pt>
                <c:pt idx="81">
                  <c:v>44834</c:v>
                </c:pt>
                <c:pt idx="82">
                  <c:v>44865</c:v>
                </c:pt>
                <c:pt idx="83">
                  <c:v>44895</c:v>
                </c:pt>
                <c:pt idx="84">
                  <c:v>44926</c:v>
                </c:pt>
                <c:pt idx="85">
                  <c:v>44957</c:v>
                </c:pt>
                <c:pt idx="86">
                  <c:v>44985</c:v>
                </c:pt>
                <c:pt idx="87">
                  <c:v>45016</c:v>
                </c:pt>
                <c:pt idx="88">
                  <c:v>45046</c:v>
                </c:pt>
                <c:pt idx="89">
                  <c:v>45077</c:v>
                </c:pt>
                <c:pt idx="90">
                  <c:v>45107</c:v>
                </c:pt>
                <c:pt idx="91">
                  <c:v>45138</c:v>
                </c:pt>
                <c:pt idx="92">
                  <c:v>45169</c:v>
                </c:pt>
                <c:pt idx="93">
                  <c:v>45199</c:v>
                </c:pt>
                <c:pt idx="94">
                  <c:v>45230</c:v>
                </c:pt>
                <c:pt idx="95">
                  <c:v>45260</c:v>
                </c:pt>
                <c:pt idx="96">
                  <c:v>45291</c:v>
                </c:pt>
                <c:pt idx="97">
                  <c:v>45322</c:v>
                </c:pt>
                <c:pt idx="98">
                  <c:v>45351</c:v>
                </c:pt>
                <c:pt idx="99">
                  <c:v>45382</c:v>
                </c:pt>
                <c:pt idx="100">
                  <c:v>45412</c:v>
                </c:pt>
                <c:pt idx="101">
                  <c:v>45443</c:v>
                </c:pt>
                <c:pt idx="102">
                  <c:v>45473</c:v>
                </c:pt>
                <c:pt idx="103">
                  <c:v>45504</c:v>
                </c:pt>
                <c:pt idx="104">
                  <c:v>45535</c:v>
                </c:pt>
                <c:pt idx="105">
                  <c:v>45565</c:v>
                </c:pt>
                <c:pt idx="106">
                  <c:v>45596</c:v>
                </c:pt>
                <c:pt idx="107">
                  <c:v>45626</c:v>
                </c:pt>
                <c:pt idx="108">
                  <c:v>45657</c:v>
                </c:pt>
                <c:pt idx="109">
                  <c:v>45688</c:v>
                </c:pt>
                <c:pt idx="110">
                  <c:v>45716</c:v>
                </c:pt>
                <c:pt idx="111">
                  <c:v>45747</c:v>
                </c:pt>
                <c:pt idx="112">
                  <c:v>45777</c:v>
                </c:pt>
                <c:pt idx="113">
                  <c:v>45808</c:v>
                </c:pt>
                <c:pt idx="114">
                  <c:v>45838</c:v>
                </c:pt>
                <c:pt idx="115">
                  <c:v>45869</c:v>
                </c:pt>
                <c:pt idx="116">
                  <c:v>45900</c:v>
                </c:pt>
                <c:pt idx="117">
                  <c:v>45930</c:v>
                </c:pt>
                <c:pt idx="118">
                  <c:v>45961</c:v>
                </c:pt>
                <c:pt idx="119">
                  <c:v>45991</c:v>
                </c:pt>
                <c:pt idx="120">
                  <c:v>46022</c:v>
                </c:pt>
                <c:pt idx="121">
                  <c:v>46045</c:v>
                </c:pt>
              </c:numCache>
            </c:numRef>
          </c:cat>
          <c:val>
            <c:numRef>
              <c:f>Sheet1!$I$2:$I$123</c:f>
              <c:numCache>
                <c:formatCode>#,##0.00</c:formatCode>
                <c:ptCount val="122"/>
                <c:pt idx="0">
                  <c:v>100</c:v>
                </c:pt>
                <c:pt idx="1">
                  <c:v>100</c:v>
                </c:pt>
                <c:pt idx="2">
                  <c:v>107.925</c:v>
                </c:pt>
                <c:pt idx="3">
                  <c:v>128.32499999999999</c:v>
                </c:pt>
                <c:pt idx="4">
                  <c:v>119.575</c:v>
                </c:pt>
                <c:pt idx="5">
                  <c:v>115.97499999999999</c:v>
                </c:pt>
                <c:pt idx="6">
                  <c:v>113.25</c:v>
                </c:pt>
                <c:pt idx="7">
                  <c:v>132.30000000000001</c:v>
                </c:pt>
                <c:pt idx="8">
                  <c:v>131.75</c:v>
                </c:pt>
                <c:pt idx="9">
                  <c:v>131.47499999999999</c:v>
                </c:pt>
                <c:pt idx="10">
                  <c:v>142.55000000000001</c:v>
                </c:pt>
                <c:pt idx="11">
                  <c:v>152.22499999999999</c:v>
                </c:pt>
                <c:pt idx="12">
                  <c:v>145.85</c:v>
                </c:pt>
                <c:pt idx="13">
                  <c:v>142.6</c:v>
                </c:pt>
                <c:pt idx="14">
                  <c:v>140.94999999999999</c:v>
                </c:pt>
                <c:pt idx="15">
                  <c:v>151.25</c:v>
                </c:pt>
                <c:pt idx="16">
                  <c:v>142.02500000000001</c:v>
                </c:pt>
                <c:pt idx="17">
                  <c:v>132.52500000000001</c:v>
                </c:pt>
                <c:pt idx="18">
                  <c:v>135.05000000000001</c:v>
                </c:pt>
                <c:pt idx="19">
                  <c:v>121.675</c:v>
                </c:pt>
                <c:pt idx="20">
                  <c:v>117.52500000000001</c:v>
                </c:pt>
                <c:pt idx="21">
                  <c:v>120.52500000000001</c:v>
                </c:pt>
                <c:pt idx="22">
                  <c:v>118.35</c:v>
                </c:pt>
                <c:pt idx="23">
                  <c:v>125.5</c:v>
                </c:pt>
                <c:pt idx="24">
                  <c:v>127.2</c:v>
                </c:pt>
                <c:pt idx="25">
                  <c:v>121.15</c:v>
                </c:pt>
                <c:pt idx="26">
                  <c:v>113.45</c:v>
                </c:pt>
                <c:pt idx="27">
                  <c:v>107.2</c:v>
                </c:pt>
                <c:pt idx="28">
                  <c:v>102.825</c:v>
                </c:pt>
                <c:pt idx="29">
                  <c:v>102.7</c:v>
                </c:pt>
                <c:pt idx="30">
                  <c:v>105.2</c:v>
                </c:pt>
                <c:pt idx="31">
                  <c:v>107.22499999999999</c:v>
                </c:pt>
                <c:pt idx="32">
                  <c:v>106.55</c:v>
                </c:pt>
                <c:pt idx="33">
                  <c:v>113.25</c:v>
                </c:pt>
                <c:pt idx="34">
                  <c:v>95.55</c:v>
                </c:pt>
                <c:pt idx="35">
                  <c:v>105.72499999999999</c:v>
                </c:pt>
                <c:pt idx="36">
                  <c:v>85.3</c:v>
                </c:pt>
                <c:pt idx="37">
                  <c:v>92.15</c:v>
                </c:pt>
                <c:pt idx="38">
                  <c:v>92.8</c:v>
                </c:pt>
                <c:pt idx="39">
                  <c:v>89.15</c:v>
                </c:pt>
                <c:pt idx="40">
                  <c:v>93.075000000000003</c:v>
                </c:pt>
                <c:pt idx="41">
                  <c:v>81.8</c:v>
                </c:pt>
                <c:pt idx="42">
                  <c:v>89.575000000000003</c:v>
                </c:pt>
                <c:pt idx="43">
                  <c:v>89.45</c:v>
                </c:pt>
                <c:pt idx="44">
                  <c:v>79.75</c:v>
                </c:pt>
                <c:pt idx="45">
                  <c:v>89.924999999999997</c:v>
                </c:pt>
                <c:pt idx="46">
                  <c:v>97.275000000000006</c:v>
                </c:pt>
                <c:pt idx="47">
                  <c:v>90.95</c:v>
                </c:pt>
                <c:pt idx="48">
                  <c:v>92.974999999999994</c:v>
                </c:pt>
                <c:pt idx="49">
                  <c:v>83.5</c:v>
                </c:pt>
                <c:pt idx="50">
                  <c:v>76.174999999999997</c:v>
                </c:pt>
                <c:pt idx="51">
                  <c:v>47.325000000000003</c:v>
                </c:pt>
                <c:pt idx="52">
                  <c:v>54.575000000000003</c:v>
                </c:pt>
                <c:pt idx="53">
                  <c:v>53.35</c:v>
                </c:pt>
                <c:pt idx="54">
                  <c:v>59.424999999999997</c:v>
                </c:pt>
                <c:pt idx="55">
                  <c:v>65.075000000000003</c:v>
                </c:pt>
                <c:pt idx="56">
                  <c:v>69.275000000000006</c:v>
                </c:pt>
                <c:pt idx="57">
                  <c:v>61.35</c:v>
                </c:pt>
                <c:pt idx="58">
                  <c:v>82.2</c:v>
                </c:pt>
                <c:pt idx="59">
                  <c:v>100.72499999999999</c:v>
                </c:pt>
                <c:pt idx="60">
                  <c:v>91.75</c:v>
                </c:pt>
                <c:pt idx="61">
                  <c:v>100.22499999999999</c:v>
                </c:pt>
                <c:pt idx="62">
                  <c:v>89.174999999999997</c:v>
                </c:pt>
                <c:pt idx="63">
                  <c:v>100.25</c:v>
                </c:pt>
                <c:pt idx="64">
                  <c:v>120.925</c:v>
                </c:pt>
                <c:pt idx="65">
                  <c:v>121.175</c:v>
                </c:pt>
                <c:pt idx="66">
                  <c:v>114.55</c:v>
                </c:pt>
                <c:pt idx="67">
                  <c:v>99.05</c:v>
                </c:pt>
                <c:pt idx="68">
                  <c:v>98.825000000000003</c:v>
                </c:pt>
                <c:pt idx="69">
                  <c:v>91.525000000000006</c:v>
                </c:pt>
                <c:pt idx="70">
                  <c:v>91.224999999999994</c:v>
                </c:pt>
                <c:pt idx="71">
                  <c:v>91.575000000000003</c:v>
                </c:pt>
                <c:pt idx="72">
                  <c:v>94.224999999999994</c:v>
                </c:pt>
                <c:pt idx="73">
                  <c:v>86.424999999999997</c:v>
                </c:pt>
                <c:pt idx="74">
                  <c:v>103.25</c:v>
                </c:pt>
                <c:pt idx="75">
                  <c:v>98.5</c:v>
                </c:pt>
                <c:pt idx="76">
                  <c:v>91.125</c:v>
                </c:pt>
                <c:pt idx="77">
                  <c:v>87.95</c:v>
                </c:pt>
                <c:pt idx="78">
                  <c:v>79.150000000000006</c:v>
                </c:pt>
                <c:pt idx="79">
                  <c:v>94.525000000000006</c:v>
                </c:pt>
                <c:pt idx="80">
                  <c:v>96.424999999999997</c:v>
                </c:pt>
                <c:pt idx="81">
                  <c:v>87.2</c:v>
                </c:pt>
                <c:pt idx="82">
                  <c:v>107.5</c:v>
                </c:pt>
                <c:pt idx="83">
                  <c:v>117.825</c:v>
                </c:pt>
                <c:pt idx="84">
                  <c:v>104</c:v>
                </c:pt>
                <c:pt idx="85">
                  <c:v>115.075</c:v>
                </c:pt>
                <c:pt idx="86">
                  <c:v>118.875</c:v>
                </c:pt>
                <c:pt idx="87">
                  <c:v>94.924999999999997</c:v>
                </c:pt>
                <c:pt idx="88">
                  <c:v>92.75</c:v>
                </c:pt>
                <c:pt idx="89">
                  <c:v>77.775000000000006</c:v>
                </c:pt>
                <c:pt idx="90">
                  <c:v>88.025000000000006</c:v>
                </c:pt>
                <c:pt idx="91">
                  <c:v>96.525000000000006</c:v>
                </c:pt>
                <c:pt idx="92">
                  <c:v>84.375</c:v>
                </c:pt>
                <c:pt idx="93">
                  <c:v>82.65</c:v>
                </c:pt>
                <c:pt idx="94">
                  <c:v>67.125</c:v>
                </c:pt>
                <c:pt idx="95">
                  <c:v>74.974999999999994</c:v>
                </c:pt>
                <c:pt idx="96">
                  <c:v>92.1</c:v>
                </c:pt>
                <c:pt idx="97">
                  <c:v>81.125</c:v>
                </c:pt>
                <c:pt idx="98">
                  <c:v>90.674999999999997</c:v>
                </c:pt>
                <c:pt idx="99">
                  <c:v>109.35</c:v>
                </c:pt>
                <c:pt idx="100">
                  <c:v>85.974999999999994</c:v>
                </c:pt>
                <c:pt idx="101">
                  <c:v>89.7</c:v>
                </c:pt>
                <c:pt idx="102">
                  <c:v>83.85</c:v>
                </c:pt>
                <c:pt idx="103">
                  <c:v>93.75</c:v>
                </c:pt>
                <c:pt idx="104">
                  <c:v>93.6</c:v>
                </c:pt>
                <c:pt idx="105">
                  <c:v>96.325000000000003</c:v>
                </c:pt>
                <c:pt idx="106">
                  <c:v>79.875</c:v>
                </c:pt>
                <c:pt idx="107">
                  <c:v>84.075000000000003</c:v>
                </c:pt>
                <c:pt idx="108">
                  <c:v>75.325000000000003</c:v>
                </c:pt>
                <c:pt idx="109">
                  <c:v>67.650000000000006</c:v>
                </c:pt>
                <c:pt idx="110">
                  <c:v>64.400000000000006</c:v>
                </c:pt>
                <c:pt idx="111">
                  <c:v>63.125</c:v>
                </c:pt>
                <c:pt idx="112">
                  <c:v>56.05</c:v>
                </c:pt>
                <c:pt idx="113">
                  <c:v>60.524999999999999</c:v>
                </c:pt>
                <c:pt idx="114">
                  <c:v>59</c:v>
                </c:pt>
                <c:pt idx="115">
                  <c:v>60.825000000000003</c:v>
                </c:pt>
                <c:pt idx="116">
                  <c:v>72.8</c:v>
                </c:pt>
                <c:pt idx="117">
                  <c:v>69.75</c:v>
                </c:pt>
                <c:pt idx="118">
                  <c:v>67.45</c:v>
                </c:pt>
                <c:pt idx="119">
                  <c:v>61.225000000000001</c:v>
                </c:pt>
                <c:pt idx="120">
                  <c:v>51.225000000000001</c:v>
                </c:pt>
                <c:pt idx="121">
                  <c:v>50.75</c:v>
                </c:pt>
              </c:numCache>
            </c:numRef>
          </c:val>
          <c:smooth val="0"/>
          <c:extLst>
            <c:ext xmlns:c16="http://schemas.microsoft.com/office/drawing/2014/chart" uri="{C3380CC4-5D6E-409C-BE32-E72D297353CC}">
              <c16:uniqueId val="{00000000-6E31-4BA0-925E-B66B213F59E7}"/>
            </c:ext>
          </c:extLst>
        </c:ser>
        <c:ser>
          <c:idx val="1"/>
          <c:order val="1"/>
          <c:tx>
            <c:strRef>
              <c:f>Sheet1!$J$1</c:f>
              <c:strCache>
                <c:ptCount val="1"/>
                <c:pt idx="0">
                  <c:v>Harley Comps - Price (Indexed)</c:v>
                </c:pt>
              </c:strCache>
            </c:strRef>
          </c:tx>
          <c:spPr>
            <a:ln w="28575" cap="rnd">
              <a:solidFill>
                <a:schemeClr val="tx1"/>
              </a:solidFill>
              <a:round/>
            </a:ln>
            <a:effectLst/>
          </c:spPr>
          <c:marker>
            <c:symbol val="none"/>
          </c:marker>
          <c:cat>
            <c:numRef>
              <c:f>Sheet1!$H$2:$H$123</c:f>
              <c:numCache>
                <c:formatCode>mm/dd/yy</c:formatCode>
                <c:ptCount val="122"/>
                <c:pt idx="0">
                  <c:v>42398</c:v>
                </c:pt>
                <c:pt idx="1">
                  <c:v>42400</c:v>
                </c:pt>
                <c:pt idx="2">
                  <c:v>42429</c:v>
                </c:pt>
                <c:pt idx="3">
                  <c:v>42460</c:v>
                </c:pt>
                <c:pt idx="4">
                  <c:v>42490</c:v>
                </c:pt>
                <c:pt idx="5">
                  <c:v>42521</c:v>
                </c:pt>
                <c:pt idx="6">
                  <c:v>42551</c:v>
                </c:pt>
                <c:pt idx="7">
                  <c:v>42582</c:v>
                </c:pt>
                <c:pt idx="8">
                  <c:v>42613</c:v>
                </c:pt>
                <c:pt idx="9">
                  <c:v>42643</c:v>
                </c:pt>
                <c:pt idx="10">
                  <c:v>42674</c:v>
                </c:pt>
                <c:pt idx="11">
                  <c:v>42704</c:v>
                </c:pt>
                <c:pt idx="12">
                  <c:v>42735</c:v>
                </c:pt>
                <c:pt idx="13">
                  <c:v>42766</c:v>
                </c:pt>
                <c:pt idx="14">
                  <c:v>42794</c:v>
                </c:pt>
                <c:pt idx="15">
                  <c:v>42825</c:v>
                </c:pt>
                <c:pt idx="16">
                  <c:v>42855</c:v>
                </c:pt>
                <c:pt idx="17">
                  <c:v>42886</c:v>
                </c:pt>
                <c:pt idx="18">
                  <c:v>42916</c:v>
                </c:pt>
                <c:pt idx="19">
                  <c:v>42947</c:v>
                </c:pt>
                <c:pt idx="20">
                  <c:v>42978</c:v>
                </c:pt>
                <c:pt idx="21">
                  <c:v>43008</c:v>
                </c:pt>
                <c:pt idx="22">
                  <c:v>43039</c:v>
                </c:pt>
                <c:pt idx="23">
                  <c:v>43069</c:v>
                </c:pt>
                <c:pt idx="24">
                  <c:v>43100</c:v>
                </c:pt>
                <c:pt idx="25">
                  <c:v>43131</c:v>
                </c:pt>
                <c:pt idx="26">
                  <c:v>43159</c:v>
                </c:pt>
                <c:pt idx="27">
                  <c:v>43190</c:v>
                </c:pt>
                <c:pt idx="28">
                  <c:v>43220</c:v>
                </c:pt>
                <c:pt idx="29">
                  <c:v>43251</c:v>
                </c:pt>
                <c:pt idx="30">
                  <c:v>43281</c:v>
                </c:pt>
                <c:pt idx="31">
                  <c:v>43312</c:v>
                </c:pt>
                <c:pt idx="32">
                  <c:v>43343</c:v>
                </c:pt>
                <c:pt idx="33">
                  <c:v>43373</c:v>
                </c:pt>
                <c:pt idx="34">
                  <c:v>43404</c:v>
                </c:pt>
                <c:pt idx="35">
                  <c:v>43434</c:v>
                </c:pt>
                <c:pt idx="36">
                  <c:v>43465</c:v>
                </c:pt>
                <c:pt idx="37">
                  <c:v>43496</c:v>
                </c:pt>
                <c:pt idx="38">
                  <c:v>43524</c:v>
                </c:pt>
                <c:pt idx="39">
                  <c:v>43555</c:v>
                </c:pt>
                <c:pt idx="40">
                  <c:v>43585</c:v>
                </c:pt>
                <c:pt idx="41">
                  <c:v>43616</c:v>
                </c:pt>
                <c:pt idx="42">
                  <c:v>43646</c:v>
                </c:pt>
                <c:pt idx="43">
                  <c:v>43677</c:v>
                </c:pt>
                <c:pt idx="44">
                  <c:v>43708</c:v>
                </c:pt>
                <c:pt idx="45">
                  <c:v>43738</c:v>
                </c:pt>
                <c:pt idx="46">
                  <c:v>43769</c:v>
                </c:pt>
                <c:pt idx="47">
                  <c:v>43799</c:v>
                </c:pt>
                <c:pt idx="48">
                  <c:v>43830</c:v>
                </c:pt>
                <c:pt idx="49">
                  <c:v>43861</c:v>
                </c:pt>
                <c:pt idx="50">
                  <c:v>43890</c:v>
                </c:pt>
                <c:pt idx="51">
                  <c:v>43921</c:v>
                </c:pt>
                <c:pt idx="52">
                  <c:v>43951</c:v>
                </c:pt>
                <c:pt idx="53">
                  <c:v>43982</c:v>
                </c:pt>
                <c:pt idx="54">
                  <c:v>44012</c:v>
                </c:pt>
                <c:pt idx="55">
                  <c:v>44043</c:v>
                </c:pt>
                <c:pt idx="56">
                  <c:v>44074</c:v>
                </c:pt>
                <c:pt idx="57">
                  <c:v>44104</c:v>
                </c:pt>
                <c:pt idx="58">
                  <c:v>44135</c:v>
                </c:pt>
                <c:pt idx="59">
                  <c:v>44165</c:v>
                </c:pt>
                <c:pt idx="60">
                  <c:v>44196</c:v>
                </c:pt>
                <c:pt idx="61">
                  <c:v>44227</c:v>
                </c:pt>
                <c:pt idx="62">
                  <c:v>44255</c:v>
                </c:pt>
                <c:pt idx="63">
                  <c:v>44286</c:v>
                </c:pt>
                <c:pt idx="64">
                  <c:v>44316</c:v>
                </c:pt>
                <c:pt idx="65">
                  <c:v>44347</c:v>
                </c:pt>
                <c:pt idx="66">
                  <c:v>44377</c:v>
                </c:pt>
                <c:pt idx="67">
                  <c:v>44408</c:v>
                </c:pt>
                <c:pt idx="68">
                  <c:v>44439</c:v>
                </c:pt>
                <c:pt idx="69">
                  <c:v>44469</c:v>
                </c:pt>
                <c:pt idx="70">
                  <c:v>44500</c:v>
                </c:pt>
                <c:pt idx="71">
                  <c:v>44530</c:v>
                </c:pt>
                <c:pt idx="72">
                  <c:v>44561</c:v>
                </c:pt>
                <c:pt idx="73">
                  <c:v>44592</c:v>
                </c:pt>
                <c:pt idx="74">
                  <c:v>44620</c:v>
                </c:pt>
                <c:pt idx="75">
                  <c:v>44651</c:v>
                </c:pt>
                <c:pt idx="76">
                  <c:v>44681</c:v>
                </c:pt>
                <c:pt idx="77">
                  <c:v>44712</c:v>
                </c:pt>
                <c:pt idx="78">
                  <c:v>44742</c:v>
                </c:pt>
                <c:pt idx="79">
                  <c:v>44773</c:v>
                </c:pt>
                <c:pt idx="80">
                  <c:v>44804</c:v>
                </c:pt>
                <c:pt idx="81">
                  <c:v>44834</c:v>
                </c:pt>
                <c:pt idx="82">
                  <c:v>44865</c:v>
                </c:pt>
                <c:pt idx="83">
                  <c:v>44895</c:v>
                </c:pt>
                <c:pt idx="84">
                  <c:v>44926</c:v>
                </c:pt>
                <c:pt idx="85">
                  <c:v>44957</c:v>
                </c:pt>
                <c:pt idx="86">
                  <c:v>44985</c:v>
                </c:pt>
                <c:pt idx="87">
                  <c:v>45016</c:v>
                </c:pt>
                <c:pt idx="88">
                  <c:v>45046</c:v>
                </c:pt>
                <c:pt idx="89">
                  <c:v>45077</c:v>
                </c:pt>
                <c:pt idx="90">
                  <c:v>45107</c:v>
                </c:pt>
                <c:pt idx="91">
                  <c:v>45138</c:v>
                </c:pt>
                <c:pt idx="92">
                  <c:v>45169</c:v>
                </c:pt>
                <c:pt idx="93">
                  <c:v>45199</c:v>
                </c:pt>
                <c:pt idx="94">
                  <c:v>45230</c:v>
                </c:pt>
                <c:pt idx="95">
                  <c:v>45260</c:v>
                </c:pt>
                <c:pt idx="96">
                  <c:v>45291</c:v>
                </c:pt>
                <c:pt idx="97">
                  <c:v>45322</c:v>
                </c:pt>
                <c:pt idx="98">
                  <c:v>45351</c:v>
                </c:pt>
                <c:pt idx="99">
                  <c:v>45382</c:v>
                </c:pt>
                <c:pt idx="100">
                  <c:v>45412</c:v>
                </c:pt>
                <c:pt idx="101">
                  <c:v>45443</c:v>
                </c:pt>
                <c:pt idx="102">
                  <c:v>45473</c:v>
                </c:pt>
                <c:pt idx="103">
                  <c:v>45504</c:v>
                </c:pt>
                <c:pt idx="104">
                  <c:v>45535</c:v>
                </c:pt>
                <c:pt idx="105">
                  <c:v>45565</c:v>
                </c:pt>
                <c:pt idx="106">
                  <c:v>45596</c:v>
                </c:pt>
                <c:pt idx="107">
                  <c:v>45626</c:v>
                </c:pt>
                <c:pt idx="108">
                  <c:v>45657</c:v>
                </c:pt>
                <c:pt idx="109">
                  <c:v>45688</c:v>
                </c:pt>
                <c:pt idx="110">
                  <c:v>45716</c:v>
                </c:pt>
                <c:pt idx="111">
                  <c:v>45747</c:v>
                </c:pt>
                <c:pt idx="112">
                  <c:v>45777</c:v>
                </c:pt>
                <c:pt idx="113">
                  <c:v>45808</c:v>
                </c:pt>
                <c:pt idx="114">
                  <c:v>45838</c:v>
                </c:pt>
                <c:pt idx="115">
                  <c:v>45869</c:v>
                </c:pt>
                <c:pt idx="116">
                  <c:v>45900</c:v>
                </c:pt>
                <c:pt idx="117">
                  <c:v>45930</c:v>
                </c:pt>
                <c:pt idx="118">
                  <c:v>45961</c:v>
                </c:pt>
                <c:pt idx="119">
                  <c:v>45991</c:v>
                </c:pt>
                <c:pt idx="120">
                  <c:v>46022</c:v>
                </c:pt>
                <c:pt idx="121">
                  <c:v>46045</c:v>
                </c:pt>
              </c:numCache>
            </c:numRef>
          </c:cat>
          <c:val>
            <c:numRef>
              <c:f>Sheet1!$J$2:$J$123</c:f>
              <c:numCache>
                <c:formatCode>General</c:formatCode>
                <c:ptCount val="122"/>
                <c:pt idx="0" formatCode="#,##0.00">
                  <c:v>100</c:v>
                </c:pt>
                <c:pt idx="1">
                  <c:v>100</c:v>
                </c:pt>
                <c:pt idx="2">
                  <c:v>93.248324999999994</c:v>
                </c:pt>
                <c:pt idx="3">
                  <c:v>99.93504999999999</c:v>
                </c:pt>
                <c:pt idx="4">
                  <c:v>97.930075000000002</c:v>
                </c:pt>
                <c:pt idx="5">
                  <c:v>97.480050000000006</c:v>
                </c:pt>
                <c:pt idx="6">
                  <c:v>83.703125</c:v>
                </c:pt>
                <c:pt idx="7">
                  <c:v>93.480350000000001</c:v>
                </c:pt>
                <c:pt idx="8">
                  <c:v>102.235675</c:v>
                </c:pt>
                <c:pt idx="9">
                  <c:v>97.679150000000007</c:v>
                </c:pt>
                <c:pt idx="10">
                  <c:v>108.07512500000001</c:v>
                </c:pt>
                <c:pt idx="11">
                  <c:v>107.09465</c:v>
                </c:pt>
                <c:pt idx="12">
                  <c:v>114.15349999999999</c:v>
                </c:pt>
                <c:pt idx="13">
                  <c:v>113.13475000000001</c:v>
                </c:pt>
                <c:pt idx="14">
                  <c:v>109.51575000000001</c:v>
                </c:pt>
                <c:pt idx="15">
                  <c:v>111.63249999999999</c:v>
                </c:pt>
                <c:pt idx="16">
                  <c:v>111.86587499999999</c:v>
                </c:pt>
                <c:pt idx="17">
                  <c:v>117.7606</c:v>
                </c:pt>
                <c:pt idx="18">
                  <c:v>120.14400000000001</c:v>
                </c:pt>
                <c:pt idx="19">
                  <c:v>118.80175</c:v>
                </c:pt>
                <c:pt idx="20">
                  <c:v>120.099975</c:v>
                </c:pt>
                <c:pt idx="21">
                  <c:v>129.9289</c:v>
                </c:pt>
                <c:pt idx="22">
                  <c:v>136.3305</c:v>
                </c:pt>
                <c:pt idx="23">
                  <c:v>133.40350000000001</c:v>
                </c:pt>
                <c:pt idx="24">
                  <c:v>138.63075000000001</c:v>
                </c:pt>
                <c:pt idx="25">
                  <c:v>140.90350000000001</c:v>
                </c:pt>
                <c:pt idx="26">
                  <c:v>141.18</c:v>
                </c:pt>
                <c:pt idx="27">
                  <c:v>136.6</c:v>
                </c:pt>
                <c:pt idx="28">
                  <c:v>145.34100000000001</c:v>
                </c:pt>
                <c:pt idx="29">
                  <c:v>146.61525</c:v>
                </c:pt>
                <c:pt idx="30">
                  <c:v>142.35825</c:v>
                </c:pt>
                <c:pt idx="31">
                  <c:v>142.96375</c:v>
                </c:pt>
                <c:pt idx="32">
                  <c:v>148.165325</c:v>
                </c:pt>
                <c:pt idx="33">
                  <c:v>148.73875000000001</c:v>
                </c:pt>
                <c:pt idx="34">
                  <c:v>131.67945</c:v>
                </c:pt>
                <c:pt idx="35">
                  <c:v>129.3604</c:v>
                </c:pt>
                <c:pt idx="36">
                  <c:v>124.110775</c:v>
                </c:pt>
                <c:pt idx="37">
                  <c:v>129.10150000000002</c:v>
                </c:pt>
                <c:pt idx="38">
                  <c:v>135.20335</c:v>
                </c:pt>
                <c:pt idx="39">
                  <c:v>127.15837500000001</c:v>
                </c:pt>
                <c:pt idx="40">
                  <c:v>133.36802499999999</c:v>
                </c:pt>
                <c:pt idx="41">
                  <c:v>118.471525</c:v>
                </c:pt>
                <c:pt idx="42">
                  <c:v>121.90787500000002</c:v>
                </c:pt>
                <c:pt idx="43">
                  <c:v>116.834625</c:v>
                </c:pt>
                <c:pt idx="44">
                  <c:v>107.2251</c:v>
                </c:pt>
                <c:pt idx="45">
                  <c:v>116.19985</c:v>
                </c:pt>
                <c:pt idx="46">
                  <c:v>124.32072499999998</c:v>
                </c:pt>
                <c:pt idx="47">
                  <c:v>133.30894999999998</c:v>
                </c:pt>
                <c:pt idx="48">
                  <c:v>131.961725</c:v>
                </c:pt>
                <c:pt idx="49">
                  <c:v>126.557275</c:v>
                </c:pt>
                <c:pt idx="50">
                  <c:v>116.625775</c:v>
                </c:pt>
                <c:pt idx="51">
                  <c:v>88.442849999999993</c:v>
                </c:pt>
                <c:pt idx="52">
                  <c:v>99.560374999999993</c:v>
                </c:pt>
                <c:pt idx="53">
                  <c:v>109.874225</c:v>
                </c:pt>
                <c:pt idx="54">
                  <c:v>108.927425</c:v>
                </c:pt>
                <c:pt idx="55">
                  <c:v>103.296075</c:v>
                </c:pt>
                <c:pt idx="56">
                  <c:v>115.4301</c:v>
                </c:pt>
                <c:pt idx="57">
                  <c:v>113.71005</c:v>
                </c:pt>
                <c:pt idx="58">
                  <c:v>111.28174999999999</c:v>
                </c:pt>
                <c:pt idx="59">
                  <c:v>136.25827500000003</c:v>
                </c:pt>
                <c:pt idx="60">
                  <c:v>131.389275</c:v>
                </c:pt>
                <c:pt idx="61">
                  <c:v>127.724225</c:v>
                </c:pt>
                <c:pt idx="62">
                  <c:v>128.91810000000001</c:v>
                </c:pt>
                <c:pt idx="63">
                  <c:v>141.12087500000001</c:v>
                </c:pt>
                <c:pt idx="64">
                  <c:v>132.28287499999999</c:v>
                </c:pt>
                <c:pt idx="65">
                  <c:v>143.81475</c:v>
                </c:pt>
                <c:pt idx="66">
                  <c:v>141.08425</c:v>
                </c:pt>
                <c:pt idx="67">
                  <c:v>137.03375</c:v>
                </c:pt>
                <c:pt idx="68">
                  <c:v>141.0505</c:v>
                </c:pt>
                <c:pt idx="69">
                  <c:v>149.25524999999999</c:v>
                </c:pt>
                <c:pt idx="70">
                  <c:v>151.61799999999999</c:v>
                </c:pt>
                <c:pt idx="71">
                  <c:v>133.66512499999999</c:v>
                </c:pt>
                <c:pt idx="72">
                  <c:v>133.38339999999999</c:v>
                </c:pt>
                <c:pt idx="73">
                  <c:v>134.50149999999999</c:v>
                </c:pt>
                <c:pt idx="74">
                  <c:v>133.20875000000001</c:v>
                </c:pt>
                <c:pt idx="75">
                  <c:v>127.77825000000001</c:v>
                </c:pt>
                <c:pt idx="76">
                  <c:v>122.06375</c:v>
                </c:pt>
                <c:pt idx="77">
                  <c:v>123.22964999999999</c:v>
                </c:pt>
                <c:pt idx="78">
                  <c:v>127.20699999999999</c:v>
                </c:pt>
                <c:pt idx="79">
                  <c:v>130.63724999999999</c:v>
                </c:pt>
                <c:pt idx="80">
                  <c:v>133.40417500000001</c:v>
                </c:pt>
                <c:pt idx="81">
                  <c:v>122.32980000000001</c:v>
                </c:pt>
                <c:pt idx="82">
                  <c:v>135.12774999999999</c:v>
                </c:pt>
                <c:pt idx="83">
                  <c:v>134.62875000000003</c:v>
                </c:pt>
                <c:pt idx="84">
                  <c:v>122.5318</c:v>
                </c:pt>
                <c:pt idx="85">
                  <c:v>131.82055</c:v>
                </c:pt>
                <c:pt idx="86">
                  <c:v>136.74324999999999</c:v>
                </c:pt>
                <c:pt idx="87">
                  <c:v>136.98124999999999</c:v>
                </c:pt>
                <c:pt idx="88">
                  <c:v>139.12925000000001</c:v>
                </c:pt>
                <c:pt idx="89">
                  <c:v>143.50899999999999</c:v>
                </c:pt>
                <c:pt idx="90">
                  <c:v>153.36425</c:v>
                </c:pt>
                <c:pt idx="91">
                  <c:v>157.44850000000002</c:v>
                </c:pt>
                <c:pt idx="92">
                  <c:v>145.82599999999999</c:v>
                </c:pt>
                <c:pt idx="93">
                  <c:v>146.40899999999999</c:v>
                </c:pt>
                <c:pt idx="94">
                  <c:v>137.08474999999999</c:v>
                </c:pt>
                <c:pt idx="95">
                  <c:v>136.78299999999999</c:v>
                </c:pt>
                <c:pt idx="96">
                  <c:v>135.79075</c:v>
                </c:pt>
                <c:pt idx="97">
                  <c:v>143.74775</c:v>
                </c:pt>
                <c:pt idx="98">
                  <c:v>149.48075</c:v>
                </c:pt>
                <c:pt idx="99">
                  <c:v>153.67975000000001</c:v>
                </c:pt>
                <c:pt idx="100">
                  <c:v>153.91050000000001</c:v>
                </c:pt>
                <c:pt idx="101">
                  <c:v>152.5975</c:v>
                </c:pt>
                <c:pt idx="102">
                  <c:v>151.31874999999997</c:v>
                </c:pt>
                <c:pt idx="103">
                  <c:v>144.83224999999999</c:v>
                </c:pt>
                <c:pt idx="104">
                  <c:v>140.185</c:v>
                </c:pt>
                <c:pt idx="105">
                  <c:v>135.89924999999999</c:v>
                </c:pt>
                <c:pt idx="106">
                  <c:v>133.69515000000001</c:v>
                </c:pt>
                <c:pt idx="107">
                  <c:v>124.375575</c:v>
                </c:pt>
                <c:pt idx="108">
                  <c:v>139.09825000000001</c:v>
                </c:pt>
                <c:pt idx="109">
                  <c:v>139.13800000000001</c:v>
                </c:pt>
                <c:pt idx="110">
                  <c:v>137.67425</c:v>
                </c:pt>
                <c:pt idx="111">
                  <c:v>134.310925</c:v>
                </c:pt>
                <c:pt idx="112">
                  <c:v>131.10384999999999</c:v>
                </c:pt>
                <c:pt idx="113">
                  <c:v>135.864</c:v>
                </c:pt>
                <c:pt idx="114">
                  <c:v>131.20614999999998</c:v>
                </c:pt>
                <c:pt idx="115">
                  <c:v>136.96899999999999</c:v>
                </c:pt>
                <c:pt idx="116">
                  <c:v>145.84475</c:v>
                </c:pt>
                <c:pt idx="117">
                  <c:v>147.39699999999999</c:v>
                </c:pt>
                <c:pt idx="118">
                  <c:v>150.29949999999999</c:v>
                </c:pt>
                <c:pt idx="119">
                  <c:v>159.39150000000001</c:v>
                </c:pt>
                <c:pt idx="120">
                  <c:v>157.65124999999998</c:v>
                </c:pt>
                <c:pt idx="121">
                  <c:v>157.47925000000001</c:v>
                </c:pt>
              </c:numCache>
            </c:numRef>
          </c:val>
          <c:smooth val="0"/>
          <c:extLst>
            <c:ext xmlns:c16="http://schemas.microsoft.com/office/drawing/2014/chart" uri="{C3380CC4-5D6E-409C-BE32-E72D297353CC}">
              <c16:uniqueId val="{00000001-6E31-4BA0-925E-B66B213F59E7}"/>
            </c:ext>
          </c:extLst>
        </c:ser>
        <c:dLbls>
          <c:showLegendKey val="0"/>
          <c:showVal val="0"/>
          <c:showCatName val="0"/>
          <c:showSerName val="0"/>
          <c:showPercent val="0"/>
          <c:showBubbleSize val="0"/>
        </c:dLbls>
        <c:smooth val="0"/>
        <c:axId val="405411824"/>
        <c:axId val="405412304"/>
      </c:lineChart>
      <c:dateAx>
        <c:axId val="405411824"/>
        <c:scaling>
          <c:orientation val="minMax"/>
        </c:scaling>
        <c:delete val="0"/>
        <c:axPos val="b"/>
        <c:numFmt formatCode="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05412304"/>
        <c:crosses val="autoZero"/>
        <c:auto val="1"/>
        <c:lblOffset val="100"/>
        <c:baseTimeUnit val="days"/>
        <c:majorUnit val="1"/>
        <c:majorTimeUnit val="years"/>
      </c:dateAx>
      <c:valAx>
        <c:axId val="405412304"/>
        <c:scaling>
          <c:orientation val="minMax"/>
          <c:max val="180"/>
          <c:min val="40"/>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05411824"/>
        <c:crosses val="autoZero"/>
        <c:crossBetween val="between"/>
        <c:majorUnit val="40"/>
      </c:valAx>
      <c:spPr>
        <a:noFill/>
        <a:ln>
          <a:noFill/>
        </a:ln>
        <a:effectLst/>
      </c:spPr>
    </c:plotArea>
    <c:legend>
      <c:legendPos val="b"/>
      <c:layout>
        <c:manualLayout>
          <c:xMode val="edge"/>
          <c:yMode val="edge"/>
          <c:x val="5.1375898576640919E-2"/>
          <c:y val="0.80111808363971959"/>
          <c:w val="0.92137706133994413"/>
          <c:h val="0.198881916360280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0"/>
    <c:plotArea>
      <c:layout>
        <c:manualLayout>
          <c:layoutTarget val="inner"/>
          <c:xMode val="edge"/>
          <c:yMode val="edge"/>
          <c:x val="0.1039423053769655"/>
          <c:y val="5.1400554097404488E-2"/>
          <c:w val="0.78500012039779432"/>
          <c:h val="0.69826822371841191"/>
        </c:manualLayout>
      </c:layout>
      <c:lineChart>
        <c:grouping val="stacked"/>
        <c:varyColors val="0"/>
        <c:ser>
          <c:idx val="1"/>
          <c:order val="1"/>
          <c:tx>
            <c:strRef>
              <c:f>'[Copy of HOG.xlsx  -  version 18.0. 1.23.2026 6.xlsx]Charts'!$J$92</c:f>
              <c:strCache>
                <c:ptCount val="1"/>
                <c:pt idx="0">
                  <c:v>EBIT/share - L</c:v>
                </c:pt>
              </c:strCache>
            </c:strRef>
          </c:tx>
          <c:spPr>
            <a:ln>
              <a:solidFill>
                <a:schemeClr val="accent2">
                  <a:lumMod val="75000"/>
                </a:schemeClr>
              </a:solidFill>
              <a:prstDash val="sysDot"/>
            </a:ln>
          </c:spPr>
          <c:marker>
            <c:symbol val="none"/>
          </c:marker>
          <c:cat>
            <c:numRef>
              <c:f>[1]Charts!$K$89:$Q$89</c:f>
              <c:numCache>
                <c:formatCode>[$-409]mmm\-yy;@</c:formatCode>
                <c:ptCount val="7"/>
                <c:pt idx="0">
                  <c:v>44195</c:v>
                </c:pt>
                <c:pt idx="1">
                  <c:v>44560</c:v>
                </c:pt>
                <c:pt idx="2">
                  <c:v>44925</c:v>
                </c:pt>
                <c:pt idx="3">
                  <c:v>45291</c:v>
                </c:pt>
                <c:pt idx="4">
                  <c:v>45657</c:v>
                </c:pt>
                <c:pt idx="5">
                  <c:v>46022</c:v>
                </c:pt>
                <c:pt idx="6">
                  <c:v>46387</c:v>
                </c:pt>
              </c:numCache>
            </c:numRef>
          </c:cat>
          <c:val>
            <c:numRef>
              <c:f>[1]Charts!$K$92:$Q$92</c:f>
              <c:numCache>
                <c:formatCode>"$"#,##0.00_);\("$"#,##0.00\)</c:formatCode>
                <c:ptCount val="7"/>
                <c:pt idx="0">
                  <c:v>6.3290394298044853E-2</c:v>
                </c:pt>
                <c:pt idx="1">
                  <c:v>5.3619782509604743</c:v>
                </c:pt>
                <c:pt idx="2">
                  <c:v>6.2339092280268744</c:v>
                </c:pt>
                <c:pt idx="3">
                  <c:v>5.7155307754383387</c:v>
                </c:pt>
                <c:pt idx="4">
                  <c:v>3.3523253942710012</c:v>
                </c:pt>
                <c:pt idx="5">
                  <c:v>3.6589970300105743</c:v>
                </c:pt>
                <c:pt idx="6">
                  <c:v>7.0060286667856122</c:v>
                </c:pt>
              </c:numCache>
            </c:numRef>
          </c:val>
          <c:smooth val="0"/>
          <c:extLst>
            <c:ext xmlns:c16="http://schemas.microsoft.com/office/drawing/2014/chart" uri="{C3380CC4-5D6E-409C-BE32-E72D297353CC}">
              <c16:uniqueId val="{00000000-E1E6-4A0D-8009-7C45FDC127C9}"/>
            </c:ext>
          </c:extLst>
        </c:ser>
        <c:ser>
          <c:idx val="2"/>
          <c:order val="2"/>
          <c:tx>
            <c:strRef>
              <c:f>'[Copy of HOG.xlsx  -  version 18.0. 1.23.2026 6.xlsx]Charts'!$J$94</c:f>
              <c:strCache>
                <c:ptCount val="1"/>
                <c:pt idx="0">
                  <c:v>EPS - L</c:v>
                </c:pt>
              </c:strCache>
            </c:strRef>
          </c:tx>
          <c:spPr>
            <a:ln>
              <a:solidFill>
                <a:schemeClr val="accent2">
                  <a:lumMod val="75000"/>
                </a:schemeClr>
              </a:solidFill>
            </a:ln>
          </c:spPr>
          <c:marker>
            <c:symbol val="none"/>
          </c:marker>
          <c:cat>
            <c:numRef>
              <c:f>[1]Charts!$K$89:$Q$89</c:f>
              <c:numCache>
                <c:formatCode>[$-409]mmm\-yy;@</c:formatCode>
                <c:ptCount val="7"/>
                <c:pt idx="0">
                  <c:v>44195</c:v>
                </c:pt>
                <c:pt idx="1">
                  <c:v>44560</c:v>
                </c:pt>
                <c:pt idx="2">
                  <c:v>44925</c:v>
                </c:pt>
                <c:pt idx="3">
                  <c:v>45291</c:v>
                </c:pt>
                <c:pt idx="4">
                  <c:v>45657</c:v>
                </c:pt>
                <c:pt idx="5">
                  <c:v>46022</c:v>
                </c:pt>
                <c:pt idx="6">
                  <c:v>46387</c:v>
                </c:pt>
              </c:numCache>
            </c:numRef>
          </c:cat>
          <c:val>
            <c:numRef>
              <c:f>[1]Charts!$K$94:$Q$94</c:f>
              <c:numCache>
                <c:formatCode>"$"#,##0.00_);\("$"#,##0.00\)</c:formatCode>
                <c:ptCount val="7"/>
                <c:pt idx="0">
                  <c:v>8.4875433204734188E-3</c:v>
                </c:pt>
                <c:pt idx="1">
                  <c:v>4.2327537930585404</c:v>
                </c:pt>
                <c:pt idx="2">
                  <c:v>5.0679692856163445</c:v>
                </c:pt>
                <c:pt idx="3">
                  <c:v>5.0990096104467764</c:v>
                </c:pt>
                <c:pt idx="4">
                  <c:v>3.5820325072417125</c:v>
                </c:pt>
                <c:pt idx="5">
                  <c:v>2.0829654153931663</c:v>
                </c:pt>
                <c:pt idx="6">
                  <c:v>5.2775220671669434</c:v>
                </c:pt>
              </c:numCache>
            </c:numRef>
          </c:val>
          <c:smooth val="0"/>
          <c:extLst>
            <c:ext xmlns:c16="http://schemas.microsoft.com/office/drawing/2014/chart" uri="{C3380CC4-5D6E-409C-BE32-E72D297353CC}">
              <c16:uniqueId val="{00000001-E1E6-4A0D-8009-7C45FDC127C9}"/>
            </c:ext>
          </c:extLst>
        </c:ser>
        <c:dLbls>
          <c:showLegendKey val="0"/>
          <c:showVal val="0"/>
          <c:showCatName val="0"/>
          <c:showSerName val="0"/>
          <c:showPercent val="0"/>
          <c:showBubbleSize val="0"/>
        </c:dLbls>
        <c:marker val="1"/>
        <c:smooth val="0"/>
        <c:axId val="855223392"/>
        <c:axId val="855221040"/>
      </c:lineChart>
      <c:lineChart>
        <c:grouping val="stacked"/>
        <c:varyColors val="0"/>
        <c:ser>
          <c:idx val="0"/>
          <c:order val="0"/>
          <c:tx>
            <c:strRef>
              <c:f>'[Copy of HOG.xlsx  -  version 18.0. 1.23.2026 6.xlsx]Charts'!$J$90</c:f>
              <c:strCache>
                <c:ptCount val="1"/>
                <c:pt idx="0">
                  <c:v>SPS - R</c:v>
                </c:pt>
              </c:strCache>
            </c:strRef>
          </c:tx>
          <c:spPr>
            <a:ln>
              <a:solidFill>
                <a:schemeClr val="tx1"/>
              </a:solidFill>
              <a:prstDash val="dashDot"/>
            </a:ln>
          </c:spPr>
          <c:marker>
            <c:symbol val="none"/>
          </c:marker>
          <c:cat>
            <c:numRef>
              <c:f>[1]Charts!$L$89:$Q$89</c:f>
              <c:numCache>
                <c:formatCode>[$-409]mmm\-yy;@</c:formatCode>
                <c:ptCount val="6"/>
                <c:pt idx="0">
                  <c:v>44560</c:v>
                </c:pt>
                <c:pt idx="1">
                  <c:v>44925</c:v>
                </c:pt>
                <c:pt idx="2">
                  <c:v>45291</c:v>
                </c:pt>
                <c:pt idx="3">
                  <c:v>45657</c:v>
                </c:pt>
                <c:pt idx="4">
                  <c:v>46022</c:v>
                </c:pt>
                <c:pt idx="5">
                  <c:v>46387</c:v>
                </c:pt>
              </c:numCache>
            </c:numRef>
          </c:cat>
          <c:val>
            <c:numRef>
              <c:f>[1]Charts!$K$90:$Q$90</c:f>
              <c:numCache>
                <c:formatCode>"$"#,##0.00_);\("$"#,##0.00\)</c:formatCode>
                <c:ptCount val="7"/>
                <c:pt idx="0">
                  <c:v>26.511325443013142</c:v>
                </c:pt>
                <c:pt idx="1">
                  <c:v>34.748375333724034</c:v>
                </c:pt>
                <c:pt idx="2">
                  <c:v>39.456533662416014</c:v>
                </c:pt>
                <c:pt idx="3">
                  <c:v>42.817680287579783</c:v>
                </c:pt>
                <c:pt idx="4">
                  <c:v>41.734808496942385</c:v>
                </c:pt>
                <c:pt idx="5">
                  <c:v>48.786627066807661</c:v>
                </c:pt>
                <c:pt idx="6">
                  <c:v>70.060286667856118</c:v>
                </c:pt>
              </c:numCache>
            </c:numRef>
          </c:val>
          <c:smooth val="0"/>
          <c:extLst>
            <c:ext xmlns:c16="http://schemas.microsoft.com/office/drawing/2014/chart" uri="{C3380CC4-5D6E-409C-BE32-E72D297353CC}">
              <c16:uniqueId val="{00000002-E1E6-4A0D-8009-7C45FDC127C9}"/>
            </c:ext>
          </c:extLst>
        </c:ser>
        <c:dLbls>
          <c:showLegendKey val="0"/>
          <c:showVal val="0"/>
          <c:showCatName val="0"/>
          <c:showSerName val="0"/>
          <c:showPercent val="0"/>
          <c:showBubbleSize val="0"/>
        </c:dLbls>
        <c:marker val="1"/>
        <c:smooth val="0"/>
        <c:axId val="855221824"/>
        <c:axId val="855221432"/>
      </c:lineChart>
      <c:dateAx>
        <c:axId val="855223392"/>
        <c:scaling>
          <c:orientation val="minMax"/>
        </c:scaling>
        <c:delete val="0"/>
        <c:axPos val="b"/>
        <c:numFmt formatCode="yy\'" sourceLinked="0"/>
        <c:majorTickMark val="none"/>
        <c:minorTickMark val="none"/>
        <c:tickLblPos val="low"/>
        <c:spPr>
          <a:ln>
            <a:noFill/>
          </a:ln>
        </c:spPr>
        <c:txPr>
          <a:bodyPr/>
          <a:lstStyle/>
          <a:p>
            <a:pPr>
              <a:defRPr sz="900"/>
            </a:pPr>
            <a:endParaRPr lang="en-US"/>
          </a:p>
        </c:txPr>
        <c:crossAx val="855221040"/>
        <c:crosses val="autoZero"/>
        <c:auto val="1"/>
        <c:lblOffset val="100"/>
        <c:baseTimeUnit val="years"/>
      </c:dateAx>
      <c:valAx>
        <c:axId val="855221040"/>
        <c:scaling>
          <c:orientation val="minMax"/>
          <c:min val="-2"/>
        </c:scaling>
        <c:delete val="0"/>
        <c:axPos val="l"/>
        <c:majorGridlines>
          <c:spPr>
            <a:ln>
              <a:solidFill>
                <a:schemeClr val="bg2">
                  <a:lumMod val="90000"/>
                </a:schemeClr>
              </a:solidFill>
            </a:ln>
          </c:spPr>
        </c:majorGridlines>
        <c:numFmt formatCode="&quot;$&quot;#,##0_);\(&quot;$&quot;#,##0\)" sourceLinked="0"/>
        <c:majorTickMark val="none"/>
        <c:minorTickMark val="none"/>
        <c:tickLblPos val="nextTo"/>
        <c:spPr>
          <a:ln>
            <a:noFill/>
          </a:ln>
        </c:spPr>
        <c:txPr>
          <a:bodyPr/>
          <a:lstStyle/>
          <a:p>
            <a:pPr>
              <a:defRPr sz="900"/>
            </a:pPr>
            <a:endParaRPr lang="en-US"/>
          </a:p>
        </c:txPr>
        <c:crossAx val="855223392"/>
        <c:crosses val="autoZero"/>
        <c:crossBetween val="between"/>
        <c:majorUnit val="4"/>
      </c:valAx>
      <c:valAx>
        <c:axId val="855221432"/>
        <c:scaling>
          <c:orientation val="minMax"/>
        </c:scaling>
        <c:delete val="0"/>
        <c:axPos val="r"/>
        <c:numFmt formatCode="&quot;$&quot;#,##0_);\(&quot;$&quot;#,##0\)" sourceLinked="0"/>
        <c:majorTickMark val="none"/>
        <c:minorTickMark val="none"/>
        <c:tickLblPos val="nextTo"/>
        <c:spPr>
          <a:ln>
            <a:noFill/>
          </a:ln>
        </c:spPr>
        <c:crossAx val="855221824"/>
        <c:crosses val="max"/>
        <c:crossBetween val="between"/>
        <c:majorUnit val="20"/>
      </c:valAx>
      <c:dateAx>
        <c:axId val="855221824"/>
        <c:scaling>
          <c:orientation val="minMax"/>
        </c:scaling>
        <c:delete val="1"/>
        <c:axPos val="b"/>
        <c:numFmt formatCode="[$-409]mmm\-yy;@" sourceLinked="1"/>
        <c:majorTickMark val="out"/>
        <c:minorTickMark val="none"/>
        <c:tickLblPos val="none"/>
        <c:crossAx val="855221432"/>
        <c:crosses val="autoZero"/>
        <c:auto val="1"/>
        <c:lblOffset val="100"/>
        <c:baseTimeUnit val="years"/>
      </c:dateAx>
      <c:spPr>
        <a:noFill/>
        <a:ln w="28575">
          <a:noFill/>
        </a:ln>
      </c:spPr>
    </c:plotArea>
    <c:legend>
      <c:legendPos val="r"/>
      <c:layout>
        <c:manualLayout>
          <c:xMode val="edge"/>
          <c:yMode val="edge"/>
          <c:x val="3.9716978664887805E-2"/>
          <c:y val="0.82611190572802717"/>
          <c:w val="0.95643945696425681"/>
          <c:h val="0.17388819151229887"/>
        </c:manualLayout>
      </c:layout>
      <c:overlay val="0"/>
      <c:txPr>
        <a:bodyPr/>
        <a:lstStyle/>
        <a:p>
          <a:pPr>
            <a:defRPr sz="900"/>
          </a:pPr>
          <a:endParaRPr lang="en-US"/>
        </a:p>
      </c:txPr>
    </c:legend>
    <c:plotVisOnly val="1"/>
    <c:dispBlanksAs val="zero"/>
    <c:showDLblsOverMax val="0"/>
  </c:chart>
  <c:spPr>
    <a:ln>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2">
                <a:lumMod val="75000"/>
              </a:schemeClr>
            </a:solidFill>
            <a:ln>
              <a:noFill/>
            </a:ln>
            <a:effectLst/>
          </c:spPr>
          <c:invertIfNegative val="0"/>
          <c:trendline>
            <c:spPr>
              <a:ln w="19050" cap="rnd">
                <a:solidFill>
                  <a:schemeClr val="accent2">
                    <a:lumMod val="75000"/>
                  </a:schemeClr>
                </a:solidFill>
                <a:prstDash val="sysDot"/>
              </a:ln>
              <a:effectLst/>
            </c:spPr>
            <c:trendlineType val="exp"/>
            <c:dispRSqr val="0"/>
            <c:dispEq val="0"/>
          </c:trendline>
          <c:cat>
            <c:strRef>
              <c:f>Sheet3!$D$6:$L$6</c:f>
              <c:strCache>
                <c:ptCount val="8"/>
                <c:pt idx="0">
                  <c:v>22'</c:v>
                </c:pt>
                <c:pt idx="1">
                  <c:v>23'</c:v>
                </c:pt>
                <c:pt idx="2">
                  <c:v>24'</c:v>
                </c:pt>
                <c:pt idx="3">
                  <c:v>25'</c:v>
                </c:pt>
                <c:pt idx="4">
                  <c:v>26'E</c:v>
                </c:pt>
                <c:pt idx="5">
                  <c:v>27'E</c:v>
                </c:pt>
                <c:pt idx="6">
                  <c:v>28'E</c:v>
                </c:pt>
                <c:pt idx="7">
                  <c:v>29'E</c:v>
                </c:pt>
              </c:strCache>
            </c:strRef>
          </c:cat>
          <c:val>
            <c:numRef>
              <c:f>Sheet3!$D$7:$L$7</c:f>
              <c:numCache>
                <c:formatCode>General</c:formatCode>
                <c:ptCount val="9"/>
                <c:pt idx="0">
                  <c:v>47</c:v>
                </c:pt>
                <c:pt idx="1">
                  <c:v>38</c:v>
                </c:pt>
                <c:pt idx="2">
                  <c:v>26.6</c:v>
                </c:pt>
                <c:pt idx="3">
                  <c:v>20</c:v>
                </c:pt>
                <c:pt idx="4">
                  <c:v>30</c:v>
                </c:pt>
                <c:pt idx="5">
                  <c:v>45</c:v>
                </c:pt>
                <c:pt idx="6">
                  <c:v>67.5</c:v>
                </c:pt>
                <c:pt idx="7">
                  <c:v>101.25</c:v>
                </c:pt>
              </c:numCache>
            </c:numRef>
          </c:val>
          <c:extLst>
            <c:ext xmlns:c16="http://schemas.microsoft.com/office/drawing/2014/chart" uri="{C3380CC4-5D6E-409C-BE32-E72D297353CC}">
              <c16:uniqueId val="{00000001-E715-4ED5-A14F-490C89028C86}"/>
            </c:ext>
          </c:extLst>
        </c:ser>
        <c:dLbls>
          <c:showLegendKey val="0"/>
          <c:showVal val="0"/>
          <c:showCatName val="0"/>
          <c:showSerName val="0"/>
          <c:showPercent val="0"/>
          <c:showBubbleSize val="0"/>
        </c:dLbls>
        <c:gapWidth val="219"/>
        <c:overlap val="-27"/>
        <c:axId val="317905615"/>
        <c:axId val="317913295"/>
      </c:barChart>
      <c:catAx>
        <c:axId val="3179056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7913295"/>
        <c:crosses val="autoZero"/>
        <c:auto val="1"/>
        <c:lblAlgn val="ctr"/>
        <c:lblOffset val="100"/>
        <c:noMultiLvlLbl val="0"/>
      </c:catAx>
      <c:valAx>
        <c:axId val="317913295"/>
        <c:scaling>
          <c:orientation val="minMax"/>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7905615"/>
        <c:crosses val="autoZero"/>
        <c:crossBetween val="between"/>
        <c:majorUnit val="4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E97132">
                <a:lumMod val="75000"/>
              </a:srgbClr>
            </a:solidFill>
            <a:ln>
              <a:noFill/>
            </a:ln>
            <a:effectLst/>
          </c:spPr>
          <c:invertIfNegative val="0"/>
          <c:cat>
            <c:strRef>
              <c:f>Sheet1!$S$20:$W$20</c:f>
              <c:strCache>
                <c:ptCount val="5"/>
                <c:pt idx="0">
                  <c:v>2024</c:v>
                </c:pt>
                <c:pt idx="1">
                  <c:v>2025E</c:v>
                </c:pt>
                <c:pt idx="2">
                  <c:v>2026E</c:v>
                </c:pt>
                <c:pt idx="3">
                  <c:v>2027E</c:v>
                </c:pt>
                <c:pt idx="4">
                  <c:v>2028E</c:v>
                </c:pt>
              </c:strCache>
            </c:strRef>
          </c:cat>
          <c:val>
            <c:numRef>
              <c:f>Sheet1!$S$21:$W$21</c:f>
              <c:numCache>
                <c:formatCode>General</c:formatCode>
                <c:ptCount val="5"/>
                <c:pt idx="0">
                  <c:v>24.7</c:v>
                </c:pt>
                <c:pt idx="1">
                  <c:v>26.058499999999999</c:v>
                </c:pt>
                <c:pt idx="2">
                  <c:v>27.491717499999996</c:v>
                </c:pt>
                <c:pt idx="3">
                  <c:v>29.003761962499993</c:v>
                </c:pt>
                <c:pt idx="4">
                  <c:v>30.598968870437492</c:v>
                </c:pt>
              </c:numCache>
            </c:numRef>
          </c:val>
          <c:extLst>
            <c:ext xmlns:c16="http://schemas.microsoft.com/office/drawing/2014/chart" uri="{C3380CC4-5D6E-409C-BE32-E72D297353CC}">
              <c16:uniqueId val="{00000000-0C4C-4626-A776-5EC58B182B0A}"/>
            </c:ext>
          </c:extLst>
        </c:ser>
        <c:dLbls>
          <c:showLegendKey val="0"/>
          <c:showVal val="0"/>
          <c:showCatName val="0"/>
          <c:showSerName val="0"/>
          <c:showPercent val="0"/>
          <c:showBubbleSize val="0"/>
        </c:dLbls>
        <c:gapWidth val="219"/>
        <c:overlap val="-27"/>
        <c:axId val="674157887"/>
        <c:axId val="674171807"/>
      </c:barChart>
      <c:catAx>
        <c:axId val="674157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674171807"/>
        <c:crosses val="autoZero"/>
        <c:auto val="1"/>
        <c:lblAlgn val="ctr"/>
        <c:lblOffset val="100"/>
        <c:noMultiLvlLbl val="0"/>
      </c:catAx>
      <c:valAx>
        <c:axId val="674171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67415788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'Interest rates vs HOG sales'!$B$21</c:f>
              <c:strCache>
                <c:ptCount val="1"/>
                <c:pt idx="0">
                  <c:v>Interest Rates - R</c:v>
                </c:pt>
              </c:strCache>
            </c:strRef>
          </c:tx>
          <c:spPr>
            <a:ln w="28575" cap="rnd">
              <a:solidFill>
                <a:schemeClr val="accent2">
                  <a:lumMod val="75000"/>
                </a:schemeClr>
              </a:solidFill>
              <a:round/>
            </a:ln>
            <a:effectLst/>
          </c:spPr>
          <c:marker>
            <c:symbol val="none"/>
          </c:marker>
          <c:cat>
            <c:numRef>
              <c:f>'Interest rates vs HOG sales'!$A$22:$A$61</c:f>
              <c:numCache>
                <c:formatCode>mm/dd/yy</c:formatCode>
                <c:ptCount val="40"/>
                <c:pt idx="0">
                  <c:v>42460</c:v>
                </c:pt>
                <c:pt idx="1">
                  <c:v>42551</c:v>
                </c:pt>
                <c:pt idx="2">
                  <c:v>42643</c:v>
                </c:pt>
                <c:pt idx="3">
                  <c:v>42734</c:v>
                </c:pt>
                <c:pt idx="4">
                  <c:v>42825</c:v>
                </c:pt>
                <c:pt idx="5">
                  <c:v>42916</c:v>
                </c:pt>
                <c:pt idx="6">
                  <c:v>43007</c:v>
                </c:pt>
                <c:pt idx="7">
                  <c:v>43098</c:v>
                </c:pt>
                <c:pt idx="8">
                  <c:v>43189</c:v>
                </c:pt>
                <c:pt idx="9">
                  <c:v>43280</c:v>
                </c:pt>
                <c:pt idx="10">
                  <c:v>43371</c:v>
                </c:pt>
                <c:pt idx="11">
                  <c:v>43465</c:v>
                </c:pt>
                <c:pt idx="12">
                  <c:v>43553</c:v>
                </c:pt>
                <c:pt idx="13">
                  <c:v>43644</c:v>
                </c:pt>
                <c:pt idx="14">
                  <c:v>43738</c:v>
                </c:pt>
                <c:pt idx="15">
                  <c:v>43830</c:v>
                </c:pt>
                <c:pt idx="16">
                  <c:v>43921</c:v>
                </c:pt>
                <c:pt idx="17">
                  <c:v>44012</c:v>
                </c:pt>
                <c:pt idx="18">
                  <c:v>44104</c:v>
                </c:pt>
                <c:pt idx="19">
                  <c:v>44196</c:v>
                </c:pt>
                <c:pt idx="20">
                  <c:v>44286</c:v>
                </c:pt>
                <c:pt idx="21">
                  <c:v>44377</c:v>
                </c:pt>
                <c:pt idx="22">
                  <c:v>44469</c:v>
                </c:pt>
                <c:pt idx="23">
                  <c:v>44561</c:v>
                </c:pt>
                <c:pt idx="24">
                  <c:v>44651</c:v>
                </c:pt>
                <c:pt idx="25">
                  <c:v>44742</c:v>
                </c:pt>
                <c:pt idx="26">
                  <c:v>44834</c:v>
                </c:pt>
                <c:pt idx="27">
                  <c:v>44925</c:v>
                </c:pt>
                <c:pt idx="28">
                  <c:v>45016</c:v>
                </c:pt>
                <c:pt idx="29">
                  <c:v>45107</c:v>
                </c:pt>
                <c:pt idx="30">
                  <c:v>45198</c:v>
                </c:pt>
                <c:pt idx="31">
                  <c:v>45289</c:v>
                </c:pt>
                <c:pt idx="32">
                  <c:v>45380</c:v>
                </c:pt>
                <c:pt idx="33">
                  <c:v>45471</c:v>
                </c:pt>
                <c:pt idx="34">
                  <c:v>45565</c:v>
                </c:pt>
                <c:pt idx="35">
                  <c:v>45657</c:v>
                </c:pt>
                <c:pt idx="36">
                  <c:v>45747</c:v>
                </c:pt>
                <c:pt idx="37">
                  <c:v>45838</c:v>
                </c:pt>
                <c:pt idx="38">
                  <c:v>45930</c:v>
                </c:pt>
                <c:pt idx="39">
                  <c:v>46022</c:v>
                </c:pt>
              </c:numCache>
            </c:numRef>
          </c:cat>
          <c:val>
            <c:numRef>
              <c:f>'Interest rates vs HOG sales'!$B$22:$B$61</c:f>
              <c:numCache>
                <c:formatCode>#,##0.00</c:formatCode>
                <c:ptCount val="40"/>
                <c:pt idx="0">
                  <c:v>3.5999999999999999E-3</c:v>
                </c:pt>
                <c:pt idx="1">
                  <c:v>3.8E-3</c:v>
                </c:pt>
                <c:pt idx="2">
                  <c:v>4.0000000000000001E-3</c:v>
                </c:pt>
                <c:pt idx="3">
                  <c:v>5.4000000000000003E-3</c:v>
                </c:pt>
                <c:pt idx="4">
                  <c:v>7.9000000000000008E-3</c:v>
                </c:pt>
                <c:pt idx="5">
                  <c:v>1.0400000000000001E-2</c:v>
                </c:pt>
                <c:pt idx="6">
                  <c:v>1.15E-2</c:v>
                </c:pt>
                <c:pt idx="7">
                  <c:v>1.3000000000000001E-2</c:v>
                </c:pt>
                <c:pt idx="8">
                  <c:v>1.5100000000000001E-2</c:v>
                </c:pt>
                <c:pt idx="9">
                  <c:v>1.8200000000000001E-2</c:v>
                </c:pt>
                <c:pt idx="10">
                  <c:v>1.95E-2</c:v>
                </c:pt>
                <c:pt idx="11">
                  <c:v>2.2700000000000001E-2</c:v>
                </c:pt>
                <c:pt idx="12">
                  <c:v>2.4100000000000003E-2</c:v>
                </c:pt>
                <c:pt idx="13">
                  <c:v>2.3799999999999998E-2</c:v>
                </c:pt>
                <c:pt idx="14">
                  <c:v>2.0400000000000001E-2</c:v>
                </c:pt>
                <c:pt idx="15">
                  <c:v>1.5500000000000002E-2</c:v>
                </c:pt>
                <c:pt idx="16">
                  <c:v>6.5000000000000006E-3</c:v>
                </c:pt>
                <c:pt idx="17">
                  <c:v>8.0000000000000004E-4</c:v>
                </c:pt>
                <c:pt idx="18">
                  <c:v>8.9999999999999998E-4</c:v>
                </c:pt>
                <c:pt idx="19">
                  <c:v>8.9999999999999998E-4</c:v>
                </c:pt>
                <c:pt idx="20">
                  <c:v>7.000000000000001E-4</c:v>
                </c:pt>
                <c:pt idx="21">
                  <c:v>8.0000000000000004E-4</c:v>
                </c:pt>
                <c:pt idx="22">
                  <c:v>8.0000000000000004E-4</c:v>
                </c:pt>
                <c:pt idx="23">
                  <c:v>8.0000000000000004E-4</c:v>
                </c:pt>
                <c:pt idx="24">
                  <c:v>2E-3</c:v>
                </c:pt>
                <c:pt idx="25">
                  <c:v>1.21E-2</c:v>
                </c:pt>
                <c:pt idx="26">
                  <c:v>2.5600000000000001E-2</c:v>
                </c:pt>
                <c:pt idx="27">
                  <c:v>4.0999999999999995E-2</c:v>
                </c:pt>
                <c:pt idx="28">
                  <c:v>4.6500000000000007E-2</c:v>
                </c:pt>
                <c:pt idx="29">
                  <c:v>5.0800000000000005E-2</c:v>
                </c:pt>
                <c:pt idx="30">
                  <c:v>5.33E-2</c:v>
                </c:pt>
                <c:pt idx="31">
                  <c:v>5.33E-2</c:v>
                </c:pt>
                <c:pt idx="32">
                  <c:v>5.33E-2</c:v>
                </c:pt>
                <c:pt idx="33">
                  <c:v>5.33E-2</c:v>
                </c:pt>
                <c:pt idx="34">
                  <c:v>5.1299999999999998E-2</c:v>
                </c:pt>
                <c:pt idx="35">
                  <c:v>4.4800000000000006E-2</c:v>
                </c:pt>
                <c:pt idx="36">
                  <c:v>4.3299999999999998E-2</c:v>
                </c:pt>
                <c:pt idx="37">
                  <c:v>4.3299999999999998E-2</c:v>
                </c:pt>
                <c:pt idx="38">
                  <c:v>4.2200000000000001E-2</c:v>
                </c:pt>
                <c:pt idx="39">
                  <c:v>#N/A</c:v>
                </c:pt>
              </c:numCache>
            </c:numRef>
          </c:val>
          <c:smooth val="0"/>
          <c:extLst>
            <c:ext xmlns:c16="http://schemas.microsoft.com/office/drawing/2014/chart" uri="{C3380CC4-5D6E-409C-BE32-E72D297353CC}">
              <c16:uniqueId val="{00000000-482E-4964-AE13-FD5974DBB313}"/>
            </c:ext>
          </c:extLst>
        </c:ser>
        <c:dLbls>
          <c:showLegendKey val="0"/>
          <c:showVal val="0"/>
          <c:showCatName val="0"/>
          <c:showSerName val="0"/>
          <c:showPercent val="0"/>
          <c:showBubbleSize val="0"/>
        </c:dLbls>
        <c:marker val="1"/>
        <c:smooth val="0"/>
        <c:axId val="757127375"/>
        <c:axId val="757133615"/>
      </c:lineChart>
      <c:lineChart>
        <c:grouping val="standard"/>
        <c:varyColors val="0"/>
        <c:ser>
          <c:idx val="1"/>
          <c:order val="1"/>
          <c:tx>
            <c:strRef>
              <c:f>'Interest rates vs HOG sales'!$C$21</c:f>
              <c:strCache>
                <c:ptCount val="1"/>
                <c:pt idx="0">
                  <c:v>HOG Sales- R</c:v>
                </c:pt>
              </c:strCache>
            </c:strRef>
          </c:tx>
          <c:spPr>
            <a:ln w="28575" cap="rnd">
              <a:solidFill>
                <a:schemeClr val="tx1">
                  <a:lumMod val="95000"/>
                  <a:lumOff val="5000"/>
                </a:schemeClr>
              </a:solidFill>
              <a:round/>
            </a:ln>
            <a:effectLst/>
          </c:spPr>
          <c:marker>
            <c:symbol val="none"/>
          </c:marker>
          <c:cat>
            <c:numRef>
              <c:f>'Interest rates vs HOG sales'!$A$22:$A$61</c:f>
              <c:numCache>
                <c:formatCode>mm/dd/yy</c:formatCode>
                <c:ptCount val="40"/>
                <c:pt idx="0">
                  <c:v>42460</c:v>
                </c:pt>
                <c:pt idx="1">
                  <c:v>42551</c:v>
                </c:pt>
                <c:pt idx="2">
                  <c:v>42643</c:v>
                </c:pt>
                <c:pt idx="3">
                  <c:v>42734</c:v>
                </c:pt>
                <c:pt idx="4">
                  <c:v>42825</c:v>
                </c:pt>
                <c:pt idx="5">
                  <c:v>42916</c:v>
                </c:pt>
                <c:pt idx="6">
                  <c:v>43007</c:v>
                </c:pt>
                <c:pt idx="7">
                  <c:v>43098</c:v>
                </c:pt>
                <c:pt idx="8">
                  <c:v>43189</c:v>
                </c:pt>
                <c:pt idx="9">
                  <c:v>43280</c:v>
                </c:pt>
                <c:pt idx="10">
                  <c:v>43371</c:v>
                </c:pt>
                <c:pt idx="11">
                  <c:v>43465</c:v>
                </c:pt>
                <c:pt idx="12">
                  <c:v>43553</c:v>
                </c:pt>
                <c:pt idx="13">
                  <c:v>43644</c:v>
                </c:pt>
                <c:pt idx="14">
                  <c:v>43738</c:v>
                </c:pt>
                <c:pt idx="15">
                  <c:v>43830</c:v>
                </c:pt>
                <c:pt idx="16">
                  <c:v>43921</c:v>
                </c:pt>
                <c:pt idx="17">
                  <c:v>44012</c:v>
                </c:pt>
                <c:pt idx="18">
                  <c:v>44104</c:v>
                </c:pt>
                <c:pt idx="19">
                  <c:v>44196</c:v>
                </c:pt>
                <c:pt idx="20">
                  <c:v>44286</c:v>
                </c:pt>
                <c:pt idx="21">
                  <c:v>44377</c:v>
                </c:pt>
                <c:pt idx="22">
                  <c:v>44469</c:v>
                </c:pt>
                <c:pt idx="23">
                  <c:v>44561</c:v>
                </c:pt>
                <c:pt idx="24">
                  <c:v>44651</c:v>
                </c:pt>
                <c:pt idx="25">
                  <c:v>44742</c:v>
                </c:pt>
                <c:pt idx="26">
                  <c:v>44834</c:v>
                </c:pt>
                <c:pt idx="27">
                  <c:v>44925</c:v>
                </c:pt>
                <c:pt idx="28">
                  <c:v>45016</c:v>
                </c:pt>
                <c:pt idx="29">
                  <c:v>45107</c:v>
                </c:pt>
                <c:pt idx="30">
                  <c:v>45198</c:v>
                </c:pt>
                <c:pt idx="31">
                  <c:v>45289</c:v>
                </c:pt>
                <c:pt idx="32">
                  <c:v>45380</c:v>
                </c:pt>
                <c:pt idx="33">
                  <c:v>45471</c:v>
                </c:pt>
                <c:pt idx="34">
                  <c:v>45565</c:v>
                </c:pt>
                <c:pt idx="35">
                  <c:v>45657</c:v>
                </c:pt>
                <c:pt idx="36">
                  <c:v>45747</c:v>
                </c:pt>
                <c:pt idx="37">
                  <c:v>45838</c:v>
                </c:pt>
                <c:pt idx="38">
                  <c:v>45930</c:v>
                </c:pt>
                <c:pt idx="39">
                  <c:v>46022</c:v>
                </c:pt>
              </c:numCache>
            </c:numRef>
          </c:cat>
          <c:val>
            <c:numRef>
              <c:f>'Interest rates vs HOG sales'!$C$22:$C$61</c:f>
              <c:numCache>
                <c:formatCode>#,##0.00</c:formatCode>
                <c:ptCount val="40"/>
                <c:pt idx="0">
                  <c:v>5995.4</c:v>
                </c:pt>
                <c:pt idx="1">
                  <c:v>5995.4</c:v>
                </c:pt>
                <c:pt idx="2">
                  <c:v>5995.4</c:v>
                </c:pt>
                <c:pt idx="3">
                  <c:v>5996.45</c:v>
                </c:pt>
                <c:pt idx="4">
                  <c:v>5996.45</c:v>
                </c:pt>
                <c:pt idx="5">
                  <c:v>5996.45</c:v>
                </c:pt>
                <c:pt idx="6">
                  <c:v>5996.45</c:v>
                </c:pt>
                <c:pt idx="7">
                  <c:v>5647.22</c:v>
                </c:pt>
                <c:pt idx="8">
                  <c:v>5647.22</c:v>
                </c:pt>
                <c:pt idx="9">
                  <c:v>5647.22</c:v>
                </c:pt>
                <c:pt idx="10">
                  <c:v>5647.22</c:v>
                </c:pt>
                <c:pt idx="11">
                  <c:v>5716.87</c:v>
                </c:pt>
                <c:pt idx="12">
                  <c:v>5716.87</c:v>
                </c:pt>
                <c:pt idx="13">
                  <c:v>5716.87</c:v>
                </c:pt>
                <c:pt idx="14">
                  <c:v>5716.87</c:v>
                </c:pt>
                <c:pt idx="15">
                  <c:v>5361.78</c:v>
                </c:pt>
                <c:pt idx="16">
                  <c:v>5361.78</c:v>
                </c:pt>
                <c:pt idx="17">
                  <c:v>5361.78</c:v>
                </c:pt>
                <c:pt idx="18">
                  <c:v>5361.78</c:v>
                </c:pt>
                <c:pt idx="19">
                  <c:v>4054.37</c:v>
                </c:pt>
                <c:pt idx="20">
                  <c:v>4054.37</c:v>
                </c:pt>
                <c:pt idx="21">
                  <c:v>4054.37</c:v>
                </c:pt>
                <c:pt idx="22">
                  <c:v>4054.37</c:v>
                </c:pt>
                <c:pt idx="23">
                  <c:v>5336.3</c:v>
                </c:pt>
                <c:pt idx="24">
                  <c:v>5336.3</c:v>
                </c:pt>
                <c:pt idx="25">
                  <c:v>5336.3</c:v>
                </c:pt>
                <c:pt idx="26">
                  <c:v>5336.3</c:v>
                </c:pt>
                <c:pt idx="27">
                  <c:v>5755.13</c:v>
                </c:pt>
                <c:pt idx="28">
                  <c:v>5755.13</c:v>
                </c:pt>
                <c:pt idx="29">
                  <c:v>5755.13</c:v>
                </c:pt>
                <c:pt idx="30">
                  <c:v>5755.13</c:v>
                </c:pt>
                <c:pt idx="31">
                  <c:v>5836.47</c:v>
                </c:pt>
                <c:pt idx="32">
                  <c:v>5836.47</c:v>
                </c:pt>
                <c:pt idx="33">
                  <c:v>5836.47</c:v>
                </c:pt>
                <c:pt idx="34">
                  <c:v>5836.47</c:v>
                </c:pt>
                <c:pt idx="35">
                  <c:v>5186.8</c:v>
                </c:pt>
                <c:pt idx="36">
                  <c:v>5186.8</c:v>
                </c:pt>
                <c:pt idx="37">
                  <c:v>5186.8</c:v>
                </c:pt>
                <c:pt idx="38">
                  <c:v>5186.8</c:v>
                </c:pt>
                <c:pt idx="39">
                  <c:v>#N/A</c:v>
                </c:pt>
              </c:numCache>
            </c:numRef>
          </c:val>
          <c:smooth val="0"/>
          <c:extLst>
            <c:ext xmlns:c16="http://schemas.microsoft.com/office/drawing/2014/chart" uri="{C3380CC4-5D6E-409C-BE32-E72D297353CC}">
              <c16:uniqueId val="{00000001-482E-4964-AE13-FD5974DBB313}"/>
            </c:ext>
          </c:extLst>
        </c:ser>
        <c:dLbls>
          <c:showLegendKey val="0"/>
          <c:showVal val="0"/>
          <c:showCatName val="0"/>
          <c:showSerName val="0"/>
          <c:showPercent val="0"/>
          <c:showBubbleSize val="0"/>
        </c:dLbls>
        <c:marker val="1"/>
        <c:smooth val="0"/>
        <c:axId val="822865215"/>
        <c:axId val="822874335"/>
      </c:lineChart>
      <c:dateAx>
        <c:axId val="757127375"/>
        <c:scaling>
          <c:orientation val="minMax"/>
          <c:min val="43160"/>
        </c:scaling>
        <c:delete val="0"/>
        <c:axPos val="b"/>
        <c:numFmt formatCode="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7133615"/>
        <c:crosses val="autoZero"/>
        <c:auto val="1"/>
        <c:lblOffset val="100"/>
        <c:baseTimeUnit val="months"/>
        <c:majorUnit val="1"/>
        <c:majorTimeUnit val="years"/>
      </c:dateAx>
      <c:valAx>
        <c:axId val="75713361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7127375"/>
        <c:crosses val="autoZero"/>
        <c:crossBetween val="between"/>
      </c:valAx>
      <c:valAx>
        <c:axId val="822874335"/>
        <c:scaling>
          <c:orientation val="minMax"/>
          <c:min val="380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2865215"/>
        <c:crosses val="max"/>
        <c:crossBetween val="between"/>
      </c:valAx>
      <c:dateAx>
        <c:axId val="822865215"/>
        <c:scaling>
          <c:orientation val="minMax"/>
        </c:scaling>
        <c:delete val="1"/>
        <c:axPos val="b"/>
        <c:numFmt formatCode="mm/dd/yy" sourceLinked="1"/>
        <c:majorTickMark val="out"/>
        <c:minorTickMark val="none"/>
        <c:tickLblPos val="nextTo"/>
        <c:crossAx val="822874335"/>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2">
                <a:lumMod val="75000"/>
              </a:schemeClr>
            </a:solidFill>
            <a:ln>
              <a:noFill/>
            </a:ln>
            <a:effectLst/>
          </c:spPr>
          <c:invertIfNegative val="0"/>
          <c:cat>
            <c:strRef>
              <c:f>Sheet1!$B$6:$L$6</c:f>
              <c:strCache>
                <c:ptCount val="11"/>
                <c:pt idx="0">
                  <c:v>2020</c:v>
                </c:pt>
                <c:pt idx="1">
                  <c:v>2021</c:v>
                </c:pt>
                <c:pt idx="2">
                  <c:v>2022</c:v>
                </c:pt>
                <c:pt idx="3">
                  <c:v>2023</c:v>
                </c:pt>
                <c:pt idx="4">
                  <c:v>2024</c:v>
                </c:pt>
                <c:pt idx="5">
                  <c:v>2025E</c:v>
                </c:pt>
                <c:pt idx="6">
                  <c:v>2026E</c:v>
                </c:pt>
                <c:pt idx="7">
                  <c:v>2027E</c:v>
                </c:pt>
                <c:pt idx="8">
                  <c:v>2028E</c:v>
                </c:pt>
                <c:pt idx="9">
                  <c:v>2029E</c:v>
                </c:pt>
                <c:pt idx="10">
                  <c:v>2030E</c:v>
                </c:pt>
              </c:strCache>
            </c:strRef>
          </c:cat>
          <c:val>
            <c:numRef>
              <c:f>Sheet1!$B$7:$L$7</c:f>
              <c:numCache>
                <c:formatCode>"$"#,##0_);\("$"#,##0\)</c:formatCode>
                <c:ptCount val="11"/>
                <c:pt idx="0">
                  <c:v>4054.377</c:v>
                </c:pt>
                <c:pt idx="1">
                  <c:v>5336.308</c:v>
                </c:pt>
                <c:pt idx="2">
                  <c:v>5755.13</c:v>
                </c:pt>
                <c:pt idx="3">
                  <c:v>5836.4780000000001</c:v>
                </c:pt>
                <c:pt idx="4">
                  <c:v>5186.8019999999997</c:v>
                </c:pt>
                <c:pt idx="5">
                  <c:v>5186.8019999999997</c:v>
                </c:pt>
                <c:pt idx="6">
                  <c:v>5964.8222999999989</c:v>
                </c:pt>
                <c:pt idx="7">
                  <c:v>6859.5456449999983</c:v>
                </c:pt>
                <c:pt idx="8">
                  <c:v>7545.5002094999991</c:v>
                </c:pt>
                <c:pt idx="9">
                  <c:v>8300.0502304500005</c:v>
                </c:pt>
                <c:pt idx="10">
                  <c:v>9130.055253495002</c:v>
                </c:pt>
              </c:numCache>
            </c:numRef>
          </c:val>
          <c:extLst>
            <c:ext xmlns:c16="http://schemas.microsoft.com/office/drawing/2014/chart" uri="{C3380CC4-5D6E-409C-BE32-E72D297353CC}">
              <c16:uniqueId val="{00000000-E3C5-42FE-97E0-9F2D88A4B91B}"/>
            </c:ext>
          </c:extLst>
        </c:ser>
        <c:dLbls>
          <c:showLegendKey val="0"/>
          <c:showVal val="0"/>
          <c:showCatName val="0"/>
          <c:showSerName val="0"/>
          <c:showPercent val="0"/>
          <c:showBubbleSize val="0"/>
        </c:dLbls>
        <c:gapWidth val="219"/>
        <c:overlap val="-27"/>
        <c:axId val="1086323936"/>
        <c:axId val="1086340736"/>
      </c:barChart>
      <c:catAx>
        <c:axId val="1086323936"/>
        <c:scaling>
          <c:orientation val="minMax"/>
        </c:scaling>
        <c:delete val="0"/>
        <c:axPos val="b"/>
        <c:numFmt formatCode="General" sourceLinked="0"/>
        <c:majorTickMark val="none"/>
        <c:minorTickMark val="none"/>
        <c:tickLblPos val="low"/>
        <c:spPr>
          <a:noFill/>
          <a:ln w="9525" cap="flat" cmpd="sng" algn="ctr">
            <a:noFill/>
            <a:round/>
          </a:ln>
          <a:effectLst/>
        </c:spPr>
        <c:txPr>
          <a:bodyPr rot="-1800000" spcFirstLastPara="1" vertOverflow="ellipsis" wrap="square" anchor="ctr" anchorCtr="1"/>
          <a:lstStyle/>
          <a:p>
            <a:pPr>
              <a:defRPr sz="900" b="0" i="0" u="none" strike="noStrike" kern="1200" baseline="0">
                <a:solidFill>
                  <a:schemeClr val="tx1"/>
                </a:solidFill>
                <a:latin typeface="+mn-lt"/>
                <a:ea typeface="+mn-ea"/>
                <a:cs typeface="+mn-cs"/>
              </a:defRPr>
            </a:pPr>
            <a:endParaRPr lang="en-US"/>
          </a:p>
        </c:txPr>
        <c:crossAx val="1086340736"/>
        <c:crosses val="autoZero"/>
        <c:auto val="1"/>
        <c:lblAlgn val="ctr"/>
        <c:lblOffset val="100"/>
        <c:tickLblSkip val="2"/>
        <c:tickMarkSkip val="1"/>
        <c:noMultiLvlLbl val="0"/>
      </c:catAx>
      <c:valAx>
        <c:axId val="1086340736"/>
        <c:scaling>
          <c:orientation val="minMax"/>
          <c:max val="9000"/>
          <c:min val="3000"/>
        </c:scaling>
        <c:delete val="0"/>
        <c:axPos val="l"/>
        <c:majorGridlines>
          <c:spPr>
            <a:ln w="9525" cap="flat" cmpd="sng" algn="ctr">
              <a:solidFill>
                <a:schemeClr val="tx1"/>
              </a:solidFill>
              <a:round/>
            </a:ln>
            <a:effectLst/>
          </c:spPr>
        </c:majorGridlines>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86323936"/>
        <c:crosses val="autoZero"/>
        <c:crossBetween val="between"/>
      </c:valAx>
      <c:spPr>
        <a:solidFill>
          <a:schemeClr val="bg1"/>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0"/>
    <c:plotArea>
      <c:layout>
        <c:manualLayout>
          <c:layoutTarget val="inner"/>
          <c:xMode val="edge"/>
          <c:yMode val="edge"/>
          <c:x val="0.13948174564465771"/>
          <c:y val="0.12939847639215663"/>
          <c:w val="0.80509498476810482"/>
          <c:h val="0.60604213375763272"/>
        </c:manualLayout>
      </c:layout>
      <c:lineChart>
        <c:grouping val="stacked"/>
        <c:varyColors val="0"/>
        <c:ser>
          <c:idx val="1"/>
          <c:order val="0"/>
          <c:tx>
            <c:strRef>
              <c:f>Charts!$J$7</c:f>
              <c:strCache>
                <c:ptCount val="1"/>
                <c:pt idx="0">
                  <c:v>Net margin</c:v>
                </c:pt>
              </c:strCache>
            </c:strRef>
          </c:tx>
          <c:spPr>
            <a:ln>
              <a:solidFill>
                <a:schemeClr val="tx1">
                  <a:lumMod val="95000"/>
                  <a:lumOff val="5000"/>
                </a:schemeClr>
              </a:solidFill>
              <a:prstDash val="sysDot"/>
            </a:ln>
          </c:spPr>
          <c:marker>
            <c:symbol val="none"/>
          </c:marker>
          <c:dLbls>
            <c:dLbl>
              <c:idx val="1"/>
              <c:layout>
                <c:manualLayout>
                  <c:x val="3.1298904538341445E-3"/>
                  <c:y val="3.2206119162640899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C80-471F-8377-4F9E1AE78EB5}"/>
                </c:ext>
              </c:extLst>
            </c:dLbl>
            <c:dLbl>
              <c:idx val="2"/>
              <c:layout>
                <c:manualLayout>
                  <c:x val="0"/>
                  <c:y val="2.5764895330112583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C80-471F-8377-4F9E1AE78EB5}"/>
                </c:ext>
              </c:extLst>
            </c:dLbl>
            <c:dLbl>
              <c:idx val="3"/>
              <c:layout>
                <c:manualLayout>
                  <c:x val="1.2519561815336521E-2"/>
                  <c:y val="1.9323671497584877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C80-471F-8377-4F9E1AE78EB5}"/>
                </c:ext>
              </c:extLst>
            </c:dLbl>
            <c:dLbl>
              <c:idx val="4"/>
              <c:layout>
                <c:manualLayout>
                  <c:x val="9.3896713615023528E-3"/>
                  <c:y val="1.9323671497584877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C80-471F-8377-4F9E1AE78EB5}"/>
                </c:ext>
              </c:extLst>
            </c:dLbl>
            <c:dLbl>
              <c:idx val="5"/>
              <c:layout>
                <c:manualLayout>
                  <c:x val="6.2597809076682404E-3"/>
                  <c:y val="1.9323671497584877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C80-471F-8377-4F9E1AE78EB5}"/>
                </c:ext>
              </c:extLst>
            </c:dLbl>
            <c:dLbl>
              <c:idx val="9"/>
              <c:layout>
                <c:manualLayout>
                  <c:x val="-3.8970489794342818E-2"/>
                  <c:y val="-8.402087570513067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C80-471F-8377-4F9E1AE78EB5}"/>
                </c:ext>
              </c:extLst>
            </c:dLbl>
            <c:spPr>
              <a:noFill/>
              <a:ln>
                <a:noFill/>
              </a:ln>
              <a:effectLst/>
            </c:sp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Charts!$K$4:$U$4</c:f>
              <c:numCache>
                <c:formatCode>[$-409]mmm\-yy;@</c:formatCode>
                <c:ptCount val="11"/>
                <c:pt idx="0">
                  <c:v>44195</c:v>
                </c:pt>
                <c:pt idx="1">
                  <c:v>44560</c:v>
                </c:pt>
                <c:pt idx="2">
                  <c:v>44925</c:v>
                </c:pt>
                <c:pt idx="3">
                  <c:v>45291</c:v>
                </c:pt>
                <c:pt idx="4">
                  <c:v>45657</c:v>
                </c:pt>
                <c:pt idx="5">
                  <c:v>46022</c:v>
                </c:pt>
                <c:pt idx="6">
                  <c:v>46387</c:v>
                </c:pt>
                <c:pt idx="7">
                  <c:v>46752</c:v>
                </c:pt>
                <c:pt idx="8">
                  <c:v>47117</c:v>
                </c:pt>
                <c:pt idx="9">
                  <c:v>47482</c:v>
                </c:pt>
                <c:pt idx="10">
                  <c:v>47847</c:v>
                </c:pt>
              </c:numCache>
            </c:numRef>
          </c:cat>
          <c:val>
            <c:numRef>
              <c:f>Charts!$K$7:$U$7</c:f>
              <c:numCache>
                <c:formatCode>0.0%</c:formatCode>
                <c:ptCount val="11"/>
                <c:pt idx="0">
                  <c:v>3.201478303571671E-4</c:v>
                </c:pt>
                <c:pt idx="1">
                  <c:v>0.12181155960263164</c:v>
                </c:pt>
                <c:pt idx="2">
                  <c:v>0.12844436181285218</c:v>
                </c:pt>
                <c:pt idx="3">
                  <c:v>0.11908654500196866</c:v>
                </c:pt>
                <c:pt idx="4">
                  <c:v>8.5828416045185457E-2</c:v>
                </c:pt>
                <c:pt idx="5">
                  <c:v>4.2695417589348521E-2</c:v>
                </c:pt>
                <c:pt idx="6">
                  <c:v>7.5328296787975993E-2</c:v>
                </c:pt>
                <c:pt idx="7">
                  <c:v>9.1483365829420196E-2</c:v>
                </c:pt>
                <c:pt idx="8">
                  <c:v>9.1585099569744546E-2</c:v>
                </c:pt>
                <c:pt idx="9">
                  <c:v>9.1725886580045823E-2</c:v>
                </c:pt>
                <c:pt idx="10">
                  <c:v>9.1895346006633766E-2</c:v>
                </c:pt>
              </c:numCache>
            </c:numRef>
          </c:val>
          <c:smooth val="0"/>
          <c:extLst>
            <c:ext xmlns:c16="http://schemas.microsoft.com/office/drawing/2014/chart" uri="{C3380CC4-5D6E-409C-BE32-E72D297353CC}">
              <c16:uniqueId val="{00000005-BC80-471F-8377-4F9E1AE78EB5}"/>
            </c:ext>
          </c:extLst>
        </c:ser>
        <c:ser>
          <c:idx val="0"/>
          <c:order val="1"/>
          <c:tx>
            <c:strRef>
              <c:f>Charts!$J$6</c:f>
              <c:strCache>
                <c:ptCount val="1"/>
                <c:pt idx="0">
                  <c:v>Operating margin</c:v>
                </c:pt>
              </c:strCache>
            </c:strRef>
          </c:tx>
          <c:spPr>
            <a:ln>
              <a:solidFill>
                <a:schemeClr val="accent2"/>
              </a:solidFill>
            </a:ln>
          </c:spPr>
          <c:marker>
            <c:symbol val="none"/>
          </c:marker>
          <c:cat>
            <c:numRef>
              <c:f>Charts!$K$4:$U$4</c:f>
              <c:numCache>
                <c:formatCode>[$-409]mmm\-yy;@</c:formatCode>
                <c:ptCount val="11"/>
                <c:pt idx="0">
                  <c:v>44195</c:v>
                </c:pt>
                <c:pt idx="1">
                  <c:v>44560</c:v>
                </c:pt>
                <c:pt idx="2">
                  <c:v>44925</c:v>
                </c:pt>
                <c:pt idx="3">
                  <c:v>45291</c:v>
                </c:pt>
                <c:pt idx="4">
                  <c:v>45657</c:v>
                </c:pt>
                <c:pt idx="5">
                  <c:v>46022</c:v>
                </c:pt>
                <c:pt idx="6">
                  <c:v>46387</c:v>
                </c:pt>
                <c:pt idx="7">
                  <c:v>46752</c:v>
                </c:pt>
                <c:pt idx="8">
                  <c:v>47117</c:v>
                </c:pt>
                <c:pt idx="9">
                  <c:v>47482</c:v>
                </c:pt>
                <c:pt idx="10">
                  <c:v>47847</c:v>
                </c:pt>
              </c:numCache>
            </c:numRef>
          </c:cat>
          <c:val>
            <c:numRef>
              <c:f>Charts!$K$6:$U$6</c:f>
              <c:numCache>
                <c:formatCode>0.0%</c:formatCode>
                <c:ptCount val="11"/>
                <c:pt idx="0">
                  <c:v>2.3872964946279047E-3</c:v>
                </c:pt>
                <c:pt idx="1">
                  <c:v>0.15430874679647427</c:v>
                </c:pt>
                <c:pt idx="2">
                  <c:v>0.15799434591399325</c:v>
                </c:pt>
                <c:pt idx="3">
                  <c:v>0.13348529712610926</c:v>
                </c:pt>
                <c:pt idx="4">
                  <c:v>8.0324446547217349E-2</c:v>
                </c:pt>
                <c:pt idx="5">
                  <c:v>7.4999999999999997E-2</c:v>
                </c:pt>
                <c:pt idx="6">
                  <c:v>0.1</c:v>
                </c:pt>
                <c:pt idx="7">
                  <c:v>0.12</c:v>
                </c:pt>
                <c:pt idx="8">
                  <c:v>0.12</c:v>
                </c:pt>
                <c:pt idx="9">
                  <c:v>0.12</c:v>
                </c:pt>
                <c:pt idx="10">
                  <c:v>0.12</c:v>
                </c:pt>
              </c:numCache>
            </c:numRef>
          </c:val>
          <c:smooth val="0"/>
          <c:extLst>
            <c:ext xmlns:c16="http://schemas.microsoft.com/office/drawing/2014/chart" uri="{C3380CC4-5D6E-409C-BE32-E72D297353CC}">
              <c16:uniqueId val="{00000006-BC80-471F-8377-4F9E1AE78EB5}"/>
            </c:ext>
          </c:extLst>
        </c:ser>
        <c:ser>
          <c:idx val="2"/>
          <c:order val="2"/>
          <c:tx>
            <c:strRef>
              <c:f>Charts!$J$5</c:f>
              <c:strCache>
                <c:ptCount val="1"/>
                <c:pt idx="0">
                  <c:v>Gross margin</c:v>
                </c:pt>
              </c:strCache>
            </c:strRef>
          </c:tx>
          <c:spPr>
            <a:ln>
              <a:solidFill>
                <a:srgbClr val="1B1713"/>
              </a:solidFill>
            </a:ln>
          </c:spPr>
          <c:marker>
            <c:symbol val="none"/>
          </c:marker>
          <c:cat>
            <c:numRef>
              <c:f>Charts!$K$4:$U$4</c:f>
              <c:numCache>
                <c:formatCode>[$-409]mmm\-yy;@</c:formatCode>
                <c:ptCount val="11"/>
                <c:pt idx="0">
                  <c:v>44195</c:v>
                </c:pt>
                <c:pt idx="1">
                  <c:v>44560</c:v>
                </c:pt>
                <c:pt idx="2">
                  <c:v>44925</c:v>
                </c:pt>
                <c:pt idx="3">
                  <c:v>45291</c:v>
                </c:pt>
                <c:pt idx="4">
                  <c:v>45657</c:v>
                </c:pt>
                <c:pt idx="5">
                  <c:v>46022</c:v>
                </c:pt>
                <c:pt idx="6">
                  <c:v>46387</c:v>
                </c:pt>
                <c:pt idx="7">
                  <c:v>46752</c:v>
                </c:pt>
                <c:pt idx="8">
                  <c:v>47117</c:v>
                </c:pt>
                <c:pt idx="9">
                  <c:v>47482</c:v>
                </c:pt>
                <c:pt idx="10">
                  <c:v>47847</c:v>
                </c:pt>
              </c:numCache>
            </c:numRef>
          </c:cat>
          <c:val>
            <c:numRef>
              <c:f>Charts!$K$5:$U$5</c:f>
              <c:numCache>
                <c:formatCode>0.0%</c:formatCode>
                <c:ptCount val="11"/>
                <c:pt idx="0">
                  <c:v>0.29109281154663219</c:v>
                </c:pt>
                <c:pt idx="1">
                  <c:v>0.32732368521457156</c:v>
                </c:pt>
                <c:pt idx="2">
                  <c:v>0.33821998808019976</c:v>
                </c:pt>
                <c:pt idx="3">
                  <c:v>0.35583103371588143</c:v>
                </c:pt>
                <c:pt idx="4">
                  <c:v>0.34553082997962908</c:v>
                </c:pt>
                <c:pt idx="5">
                  <c:v>0.35</c:v>
                </c:pt>
                <c:pt idx="6">
                  <c:v>0.3</c:v>
                </c:pt>
                <c:pt idx="7">
                  <c:v>0.31</c:v>
                </c:pt>
                <c:pt idx="8">
                  <c:v>0.32</c:v>
                </c:pt>
                <c:pt idx="9">
                  <c:v>0.32</c:v>
                </c:pt>
                <c:pt idx="10">
                  <c:v>0.32</c:v>
                </c:pt>
              </c:numCache>
            </c:numRef>
          </c:val>
          <c:smooth val="0"/>
          <c:extLst>
            <c:ext xmlns:c16="http://schemas.microsoft.com/office/drawing/2014/chart" uri="{C3380CC4-5D6E-409C-BE32-E72D297353CC}">
              <c16:uniqueId val="{00000007-BC80-471F-8377-4F9E1AE78EB5}"/>
            </c:ext>
          </c:extLst>
        </c:ser>
        <c:dLbls>
          <c:showLegendKey val="0"/>
          <c:showVal val="0"/>
          <c:showCatName val="0"/>
          <c:showSerName val="0"/>
          <c:showPercent val="0"/>
          <c:showBubbleSize val="0"/>
        </c:dLbls>
        <c:smooth val="0"/>
        <c:axId val="855223000"/>
        <c:axId val="855222608"/>
      </c:lineChart>
      <c:dateAx>
        <c:axId val="855223000"/>
        <c:scaling>
          <c:orientation val="minMax"/>
          <c:max val="47119"/>
          <c:min val="45657"/>
        </c:scaling>
        <c:delete val="0"/>
        <c:axPos val="b"/>
        <c:numFmt formatCode="yy\'" sourceLinked="0"/>
        <c:majorTickMark val="none"/>
        <c:minorTickMark val="none"/>
        <c:tickLblPos val="low"/>
        <c:txPr>
          <a:bodyPr/>
          <a:lstStyle/>
          <a:p>
            <a:pPr>
              <a:defRPr sz="900"/>
            </a:pPr>
            <a:endParaRPr lang="en-US"/>
          </a:p>
        </c:txPr>
        <c:crossAx val="855222608"/>
        <c:crosses val="autoZero"/>
        <c:auto val="1"/>
        <c:lblOffset val="100"/>
        <c:baseTimeUnit val="years"/>
      </c:dateAx>
      <c:valAx>
        <c:axId val="855222608"/>
        <c:scaling>
          <c:orientation val="minMax"/>
        </c:scaling>
        <c:delete val="0"/>
        <c:axPos val="l"/>
        <c:majorGridlines/>
        <c:numFmt formatCode="0%" sourceLinked="0"/>
        <c:majorTickMark val="none"/>
        <c:minorTickMark val="none"/>
        <c:tickLblPos val="nextTo"/>
        <c:txPr>
          <a:bodyPr/>
          <a:lstStyle/>
          <a:p>
            <a:pPr>
              <a:defRPr sz="900"/>
            </a:pPr>
            <a:endParaRPr lang="en-US"/>
          </a:p>
        </c:txPr>
        <c:crossAx val="855223000"/>
        <c:crosses val="autoZero"/>
        <c:crossBetween val="between"/>
      </c:valAx>
      <c:spPr>
        <a:ln w="28575">
          <a:noFill/>
        </a:ln>
      </c:spPr>
    </c:plotArea>
    <c:legend>
      <c:legendPos val="r"/>
      <c:layout>
        <c:manualLayout>
          <c:xMode val="edge"/>
          <c:yMode val="edge"/>
          <c:x val="0"/>
          <c:y val="0.84427089539728672"/>
          <c:w val="1"/>
          <c:h val="0.11725375528509585"/>
        </c:manualLayout>
      </c:layout>
      <c:overlay val="0"/>
      <c:txPr>
        <a:bodyPr/>
        <a:lstStyle/>
        <a:p>
          <a:pPr>
            <a:defRPr sz="800">
              <a:solidFill>
                <a:schemeClr val="tx1"/>
              </a:solidFill>
            </a:defRPr>
          </a:pPr>
          <a:endParaRPr lang="en-US"/>
        </a:p>
      </c:txPr>
    </c:legend>
    <c:plotVisOnly val="1"/>
    <c:dispBlanksAs val="zero"/>
    <c:showDLblsOverMax val="0"/>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Sheet5!$B$2</c:f>
              <c:strCache>
                <c:ptCount val="1"/>
                <c:pt idx="0">
                  <c:v>Harley Sales</c:v>
                </c:pt>
              </c:strCache>
            </c:strRef>
          </c:tx>
          <c:spPr>
            <a:solidFill>
              <a:schemeClr val="accent2">
                <a:lumMod val="75000"/>
              </a:schemeClr>
            </a:solidFill>
            <a:ln>
              <a:solidFill>
                <a:schemeClr val="accent2"/>
              </a:solidFill>
            </a:ln>
            <a:effectLst/>
          </c:spPr>
          <c:invertIfNegative val="0"/>
          <c:cat>
            <c:strRef>
              <c:f>Sheet5!$A$7:$A$12</c:f>
              <c:strCache>
                <c:ptCount val="6"/>
                <c:pt idx="0">
                  <c:v>2024</c:v>
                </c:pt>
                <c:pt idx="1">
                  <c:v>2025</c:v>
                </c:pt>
                <c:pt idx="2">
                  <c:v>2026E</c:v>
                </c:pt>
                <c:pt idx="3">
                  <c:v>2027E</c:v>
                </c:pt>
                <c:pt idx="4">
                  <c:v>2028E</c:v>
                </c:pt>
                <c:pt idx="5">
                  <c:v>2029E</c:v>
                </c:pt>
              </c:strCache>
              <c:extLst/>
            </c:strRef>
          </c:cat>
          <c:val>
            <c:numRef>
              <c:f>Sheet5!$B$7:$B$12</c:f>
              <c:numCache>
                <c:formatCode>General</c:formatCode>
                <c:ptCount val="6"/>
                <c:pt idx="0">
                  <c:v>5186.8019999999997</c:v>
                </c:pt>
                <c:pt idx="1">
                  <c:v>5186.8019999999997</c:v>
                </c:pt>
                <c:pt idx="2">
                  <c:v>6379.7664599999998</c:v>
                </c:pt>
                <c:pt idx="3">
                  <c:v>6680.6009759999997</c:v>
                </c:pt>
                <c:pt idx="4">
                  <c:v>7482.2730931200003</c:v>
                </c:pt>
                <c:pt idx="5">
                  <c:v>8380.1458642944017</c:v>
                </c:pt>
              </c:numCache>
              <c:extLst/>
            </c:numRef>
          </c:val>
          <c:extLst>
            <c:ext xmlns:c16="http://schemas.microsoft.com/office/drawing/2014/chart" uri="{C3380CC4-5D6E-409C-BE32-E72D297353CC}">
              <c16:uniqueId val="{00000000-6782-4990-AFF7-A3377971AF3A}"/>
            </c:ext>
          </c:extLst>
        </c:ser>
        <c:dLbls>
          <c:showLegendKey val="0"/>
          <c:showVal val="0"/>
          <c:showCatName val="0"/>
          <c:showSerName val="0"/>
          <c:showPercent val="0"/>
          <c:showBubbleSize val="0"/>
        </c:dLbls>
        <c:gapWidth val="219"/>
        <c:overlap val="-27"/>
        <c:axId val="1266211744"/>
        <c:axId val="1266220384"/>
      </c:barChart>
      <c:catAx>
        <c:axId val="1266211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66220384"/>
        <c:crosses val="autoZero"/>
        <c:auto val="1"/>
        <c:lblAlgn val="ctr"/>
        <c:lblOffset val="100"/>
        <c:noMultiLvlLbl val="0"/>
      </c:catAx>
      <c:valAx>
        <c:axId val="1266220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662117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Sheet5!$A$34</c:f>
              <c:strCache>
                <c:ptCount val="1"/>
                <c:pt idx="0">
                  <c:v>Harley Sales</c:v>
                </c:pt>
              </c:strCache>
            </c:strRef>
          </c:tx>
          <c:spPr>
            <a:solidFill>
              <a:schemeClr val="accent2">
                <a:lumMod val="75000"/>
              </a:schemeClr>
            </a:solidFill>
            <a:ln>
              <a:solidFill>
                <a:schemeClr val="accent2"/>
              </a:solidFill>
            </a:ln>
            <a:effectLst/>
          </c:spPr>
          <c:invertIfNegative val="0"/>
          <c:cat>
            <c:strRef>
              <c:f>Sheet5!$B$33:$G$33</c:f>
              <c:strCache>
                <c:ptCount val="6"/>
                <c:pt idx="0">
                  <c:v>2024</c:v>
                </c:pt>
                <c:pt idx="1">
                  <c:v>2025</c:v>
                </c:pt>
                <c:pt idx="2">
                  <c:v>2026E</c:v>
                </c:pt>
                <c:pt idx="3">
                  <c:v>2027E</c:v>
                </c:pt>
                <c:pt idx="4">
                  <c:v>2028E</c:v>
                </c:pt>
                <c:pt idx="5">
                  <c:v>2029E</c:v>
                </c:pt>
              </c:strCache>
            </c:strRef>
          </c:cat>
          <c:val>
            <c:numRef>
              <c:f>Sheet5!$B$34:$G$34</c:f>
              <c:numCache>
                <c:formatCode>General</c:formatCode>
                <c:ptCount val="6"/>
                <c:pt idx="0">
                  <c:v>5186.8019999999997</c:v>
                </c:pt>
                <c:pt idx="1">
                  <c:v>5186.8019999999997</c:v>
                </c:pt>
                <c:pt idx="2">
                  <c:v>6379.7664599999998</c:v>
                </c:pt>
                <c:pt idx="3">
                  <c:v>7145.3384352000003</c:v>
                </c:pt>
                <c:pt idx="4">
                  <c:v>8002.779047424001</c:v>
                </c:pt>
                <c:pt idx="5">
                  <c:v>8963.1125331148814</c:v>
                </c:pt>
              </c:numCache>
            </c:numRef>
          </c:val>
          <c:extLst>
            <c:ext xmlns:c16="http://schemas.microsoft.com/office/drawing/2014/chart" uri="{C3380CC4-5D6E-409C-BE32-E72D297353CC}">
              <c16:uniqueId val="{00000000-E9D2-4D9F-A169-2329C7705C99}"/>
            </c:ext>
          </c:extLst>
        </c:ser>
        <c:dLbls>
          <c:showLegendKey val="0"/>
          <c:showVal val="0"/>
          <c:showCatName val="0"/>
          <c:showSerName val="0"/>
          <c:showPercent val="0"/>
          <c:showBubbleSize val="0"/>
        </c:dLbls>
        <c:gapWidth val="219"/>
        <c:overlap val="-27"/>
        <c:axId val="719003776"/>
        <c:axId val="719016256"/>
      </c:barChart>
      <c:catAx>
        <c:axId val="719003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719016256"/>
        <c:crosses val="autoZero"/>
        <c:auto val="1"/>
        <c:lblAlgn val="ctr"/>
        <c:lblOffset val="100"/>
        <c:noMultiLvlLbl val="0"/>
      </c:catAx>
      <c:valAx>
        <c:axId val="719016256"/>
        <c:scaling>
          <c:orientation val="minMax"/>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19003776"/>
        <c:crosses val="autoZero"/>
        <c:crossBetween val="between"/>
        <c:majorUnit val="2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668101244287956E-2"/>
          <c:y val="4.4725024339441484E-2"/>
          <c:w val="0.90137935703264793"/>
          <c:h val="0.93294287778799057"/>
        </c:manualLayout>
      </c:layout>
      <c:scatterChart>
        <c:scatterStyle val="lineMarker"/>
        <c:varyColors val="0"/>
        <c:ser>
          <c:idx val="0"/>
          <c:order val="0"/>
          <c:spPr>
            <a:ln w="28575" cap="rnd">
              <a:noFill/>
              <a:round/>
            </a:ln>
            <a:effectLst/>
          </c:spPr>
          <c:marker>
            <c:symbol val="circle"/>
            <c:size val="5"/>
            <c:spPr>
              <a:solidFill>
                <a:schemeClr val="accent1"/>
              </a:solidFill>
              <a:ln w="9525">
                <a:solidFill>
                  <a:schemeClr val="accent1"/>
                </a:solidFill>
              </a:ln>
              <a:effectLst/>
            </c:spPr>
          </c:marker>
          <c:dLbls>
            <c:dLbl>
              <c:idx val="0"/>
              <c:layout>
                <c:manualLayout>
                  <c:x val="5.1688750153811337E-3"/>
                  <c:y val="6.4459413916736708E-2"/>
                </c:manualLayout>
              </c:layout>
              <c:tx>
                <c:rich>
                  <a:bodyPr/>
                  <a:lstStyle/>
                  <a:p>
                    <a:r>
                      <a:rPr lang="en-US"/>
                      <a:t>Starting Price $</a:t>
                    </a:r>
                    <a:fld id="{F4BFE153-8EBE-48EC-9187-EEDD8CBACF38}" type="YVALUE">
                      <a:rPr lang="en-US" smtClean="0"/>
                      <a:pPr/>
                      <a:t>[Y VALUE]</a:t>
                    </a:fld>
                    <a:r>
                      <a:rPr lang="en-US"/>
                      <a:t>0</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8CC5-406B-BBA6-63C4AAC08792}"/>
                </c:ext>
              </c:extLst>
            </c:dLbl>
            <c:dLbl>
              <c:idx val="1"/>
              <c:layout>
                <c:manualLayout>
                  <c:x val="-0.38766562615358507"/>
                  <c:y val="-0.38943394510891682"/>
                </c:manualLayout>
              </c:layout>
              <c:tx>
                <c:rich>
                  <a:bodyPr/>
                  <a:lstStyle/>
                  <a:p>
                    <a:r>
                      <a:rPr lang="en-US"/>
                      <a:t>Bear Case $</a:t>
                    </a:r>
                    <a:fld id="{70BF3A2C-B486-4AF3-BB73-0D5C5A79BAF3}" type="YVALUE">
                      <a:rPr lang="en-US" smtClean="0"/>
                      <a:pPr/>
                      <a:t>[Y 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8CC5-406B-BBA6-63C4AAC08792}"/>
                </c:ext>
              </c:extLst>
            </c:dLbl>
            <c:dLbl>
              <c:idx val="2"/>
              <c:layout>
                <c:manualLayout>
                  <c:x val="-0.2343223340306114"/>
                  <c:y val="-0.29988496992666314"/>
                </c:manualLayout>
              </c:layout>
              <c:tx>
                <c:rich>
                  <a:bodyPr/>
                  <a:lstStyle/>
                  <a:p>
                    <a:r>
                      <a:rPr lang="en-US"/>
                      <a:t>Base Case $</a:t>
                    </a:r>
                    <a:fld id="{2DFF3562-524A-42D3-8758-94E1533FB2BA}" type="YVALUE">
                      <a:rPr lang="en-US" smtClean="0"/>
                      <a:pPr/>
                      <a:t>[Y 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8CC5-406B-BBA6-63C4AAC08792}"/>
                </c:ext>
              </c:extLst>
            </c:dLbl>
            <c:dLbl>
              <c:idx val="3"/>
              <c:layout>
                <c:manualLayout>
                  <c:x val="-8.6147916923018902E-2"/>
                  <c:y val="-7.7351296700084046E-2"/>
                </c:manualLayout>
              </c:layout>
              <c:tx>
                <c:rich>
                  <a:bodyPr/>
                  <a:lstStyle/>
                  <a:p>
                    <a:r>
                      <a:rPr lang="en-US"/>
                      <a:t>Bull Case $</a:t>
                    </a:r>
                    <a:fld id="{7488C436-3787-4D7F-935C-8061EF5DED88}" type="YVALUE">
                      <a:rPr lang="en-US" smtClean="0"/>
                      <a:pPr/>
                      <a:t>[Y VALUE]</a:t>
                    </a:fld>
                    <a:r>
                      <a:rPr lang="en-US"/>
                      <a:t>0</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CC5-406B-BBA6-63C4AAC08792}"/>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'Fin &amp; Val Info'!$V$504:$V$507</c:f>
              <c:numCache>
                <c:formatCode>General</c:formatCode>
                <c:ptCount val="4"/>
                <c:pt idx="0">
                  <c:v>1</c:v>
                </c:pt>
                <c:pt idx="1">
                  <c:v>2</c:v>
                </c:pt>
                <c:pt idx="2">
                  <c:v>2</c:v>
                </c:pt>
                <c:pt idx="3">
                  <c:v>2</c:v>
                </c:pt>
              </c:numCache>
            </c:numRef>
          </c:xVal>
          <c:yVal>
            <c:numRef>
              <c:f>'Fin &amp; Val Info'!$W$504:$W$507</c:f>
              <c:numCache>
                <c:formatCode>General</c:formatCode>
                <c:ptCount val="4"/>
                <c:pt idx="0">
                  <c:v>20.3</c:v>
                </c:pt>
                <c:pt idx="1">
                  <c:v>72.150000000000006</c:v>
                </c:pt>
                <c:pt idx="2">
                  <c:v>85.33</c:v>
                </c:pt>
                <c:pt idx="3">
                  <c:v>118.6</c:v>
                </c:pt>
              </c:numCache>
            </c:numRef>
          </c:yVal>
          <c:smooth val="0"/>
          <c:extLst>
            <c:ext xmlns:c16="http://schemas.microsoft.com/office/drawing/2014/chart" uri="{C3380CC4-5D6E-409C-BE32-E72D297353CC}">
              <c16:uniqueId val="{00000000-8CC5-406B-BBA6-63C4AAC08792}"/>
            </c:ext>
          </c:extLst>
        </c:ser>
        <c:dLbls>
          <c:showLegendKey val="0"/>
          <c:showVal val="0"/>
          <c:showCatName val="0"/>
          <c:showSerName val="0"/>
          <c:showPercent val="0"/>
          <c:showBubbleSize val="0"/>
        </c:dLbls>
        <c:axId val="177116800"/>
        <c:axId val="177119200"/>
      </c:scatterChart>
      <c:valAx>
        <c:axId val="177116800"/>
        <c:scaling>
          <c:orientation val="minMax"/>
          <c:max val="2"/>
          <c:min val="1"/>
        </c:scaling>
        <c:delete val="1"/>
        <c:axPos val="b"/>
        <c:numFmt formatCode="General" sourceLinked="1"/>
        <c:majorTickMark val="none"/>
        <c:minorTickMark val="none"/>
        <c:tickLblPos val="nextTo"/>
        <c:crossAx val="177119200"/>
        <c:crosses val="autoZero"/>
        <c:crossBetween val="midCat"/>
      </c:valAx>
      <c:valAx>
        <c:axId val="177119200"/>
        <c:scaling>
          <c:orientation val="minMax"/>
        </c:scaling>
        <c:delete val="0"/>
        <c:axPos val="l"/>
        <c:numFmt formatCode="&quot;$&quot;#,##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11680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64942485149282"/>
          <c:y val="9.8624003469923935E-2"/>
          <c:w val="0.57159199861411925"/>
          <c:h val="0.53915976334034399"/>
        </c:manualLayout>
      </c:layout>
      <c:pieChart>
        <c:varyColors val="1"/>
        <c:ser>
          <c:idx val="0"/>
          <c:order val="0"/>
          <c:spPr>
            <a:solidFill>
              <a:srgbClr val="EB7A41"/>
            </a:solidFill>
          </c:spPr>
          <c:dPt>
            <c:idx val="0"/>
            <c:bubble3D val="0"/>
            <c:spPr>
              <a:solidFill>
                <a:srgbClr val="EB7A41"/>
              </a:solidFill>
              <a:ln w="19050">
                <a:solidFill>
                  <a:schemeClr val="lt1"/>
                </a:solidFill>
              </a:ln>
              <a:effectLst/>
            </c:spPr>
            <c:extLst>
              <c:ext xmlns:c16="http://schemas.microsoft.com/office/drawing/2014/chart" uri="{C3380CC4-5D6E-409C-BE32-E72D297353CC}">
                <c16:uniqueId val="{00000001-CA31-467D-A407-5AE0EEF7AA54}"/>
              </c:ext>
            </c:extLst>
          </c:dPt>
          <c:dPt>
            <c:idx val="1"/>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3-CA31-467D-A407-5AE0EEF7AA54}"/>
              </c:ext>
            </c:extLst>
          </c:dPt>
          <c:dPt>
            <c:idx val="2"/>
            <c:bubble3D val="0"/>
            <c:spPr>
              <a:solidFill>
                <a:schemeClr val="bg2">
                  <a:lumMod val="25000"/>
                </a:schemeClr>
              </a:solidFill>
              <a:ln w="19050">
                <a:solidFill>
                  <a:schemeClr val="lt1"/>
                </a:solidFill>
              </a:ln>
              <a:effectLst/>
            </c:spPr>
            <c:extLst>
              <c:ext xmlns:c16="http://schemas.microsoft.com/office/drawing/2014/chart" uri="{C3380CC4-5D6E-409C-BE32-E72D297353CC}">
                <c16:uniqueId val="{00000005-CA31-467D-A407-5AE0EEF7AA54}"/>
              </c:ext>
            </c:extLst>
          </c:dPt>
          <c:dLbls>
            <c:dLbl>
              <c:idx val="0"/>
              <c:delete val="1"/>
              <c:extLst>
                <c:ext xmlns:c15="http://schemas.microsoft.com/office/drawing/2012/chart" uri="{CE6537A1-D6FC-4f65-9D91-7224C49458BB}"/>
                <c:ext xmlns:c16="http://schemas.microsoft.com/office/drawing/2014/chart" uri="{C3380CC4-5D6E-409C-BE32-E72D297353CC}">
                  <c16:uniqueId val="{00000001-CA31-467D-A407-5AE0EEF7AA54}"/>
                </c:ext>
              </c:extLst>
            </c:dLbl>
            <c:dLbl>
              <c:idx val="1"/>
              <c:layout>
                <c:manualLayout>
                  <c:x val="-3.0898116208019428E-2"/>
                  <c:y val="-6.1165316122269636E-2"/>
                </c:manualLayout>
              </c:layout>
              <c:tx>
                <c:rich>
                  <a:bodyPr rot="0" spcFirstLastPara="1" vertOverflow="clip" horzOverflow="clip"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r>
                      <a:rPr lang="en-US">
                        <a:solidFill>
                          <a:schemeClr val="tx1"/>
                        </a:solidFill>
                      </a:rPr>
                      <a:t>Fake Income</a:t>
                    </a:r>
                    <a:r>
                      <a:rPr lang="en-US" baseline="0">
                        <a:solidFill>
                          <a:schemeClr val="tx1"/>
                        </a:solidFill>
                      </a:rPr>
                      <a:t>, </a:t>
                    </a:r>
                    <a:fld id="{010F2A68-884E-4ACE-9FFD-AC31EF09FB67}" type="PERCENTAGE">
                      <a:rPr lang="en-US" baseline="0">
                        <a:solidFill>
                          <a:schemeClr val="tx1"/>
                        </a:solidFill>
                      </a:rPr>
                      <a:pPr>
                        <a:defRPr>
                          <a:solidFill>
                            <a:schemeClr val="tx1"/>
                          </a:solidFill>
                        </a:defRPr>
                      </a:pPr>
                      <a:t>[PERCENTAGE]</a:t>
                    </a:fld>
                    <a:endParaRPr lang="en-US" baseline="0">
                      <a:solidFill>
                        <a:schemeClr val="tx1"/>
                      </a:solidFill>
                    </a:endParaRPr>
                  </a:p>
                </c:rich>
              </c:tx>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128354"/>
                        <a:gd name="adj2" fmla="val -77434"/>
                      </a:avLst>
                    </a:prstGeom>
                    <a:noFill/>
                    <a:ln>
                      <a:noFill/>
                    </a:ln>
                  </c15:spPr>
                  <c15:dlblFieldTable/>
                  <c15:showDataLabelsRange val="0"/>
                </c:ext>
                <c:ext xmlns:c16="http://schemas.microsoft.com/office/drawing/2014/chart" uri="{C3380CC4-5D6E-409C-BE32-E72D297353CC}">
                  <c16:uniqueId val="{00000003-CA31-467D-A407-5AE0EEF7AA54}"/>
                </c:ext>
              </c:extLst>
            </c:dLbl>
            <c:dLbl>
              <c:idx val="2"/>
              <c:delete val="1"/>
              <c:extLst>
                <c:ext xmlns:c15="http://schemas.microsoft.com/office/drawing/2012/chart" uri="{CE6537A1-D6FC-4f65-9D91-7224C49458BB}"/>
                <c:ext xmlns:c16="http://schemas.microsoft.com/office/drawing/2014/chart" uri="{C3380CC4-5D6E-409C-BE32-E72D297353CC}">
                  <c16:uniqueId val="{00000005-CA31-467D-A407-5AE0EEF7AA54}"/>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Sheet1!$A$1:$A$3</c:f>
              <c:strCache>
                <c:ptCount val="3"/>
                <c:pt idx="0">
                  <c:v>HDFS</c:v>
                </c:pt>
                <c:pt idx="1">
                  <c:v>HDFS(Credit Loss Reversal)</c:v>
                </c:pt>
                <c:pt idx="2">
                  <c:v>HDMC</c:v>
                </c:pt>
              </c:strCache>
            </c:strRef>
          </c:cat>
          <c:val>
            <c:numRef>
              <c:f>Sheet1!$B$1:$B$3</c:f>
              <c:numCache>
                <c:formatCode>General</c:formatCode>
                <c:ptCount val="3"/>
                <c:pt idx="0">
                  <c:v>137820</c:v>
                </c:pt>
                <c:pt idx="1">
                  <c:v>301000</c:v>
                </c:pt>
                <c:pt idx="2" formatCode="#,##0">
                  <c:v>54119</c:v>
                </c:pt>
              </c:numCache>
            </c:numRef>
          </c:val>
          <c:extLst>
            <c:ext xmlns:c16="http://schemas.microsoft.com/office/drawing/2014/chart" uri="{C3380CC4-5D6E-409C-BE32-E72D297353CC}">
              <c16:uniqueId val="{00000006-CA31-467D-A407-5AE0EEF7AA54}"/>
            </c:ext>
          </c:extLst>
        </c:ser>
        <c:dLbls>
          <c:showLegendKey val="0"/>
          <c:showVal val="0"/>
          <c:showCatName val="0"/>
          <c:showSerName val="0"/>
          <c:showPercent val="0"/>
          <c:showBubbleSize val="0"/>
          <c:showLeaderLines val="0"/>
        </c:dLbls>
        <c:firstSliceAng val="0"/>
      </c:pieChart>
      <c:spPr>
        <a:noFill/>
        <a:ln>
          <a:noFill/>
        </a:ln>
        <a:effectLst/>
      </c:spPr>
    </c:plotArea>
    <c:legend>
      <c:legendPos val="b"/>
      <c:layout>
        <c:manualLayout>
          <c:xMode val="edge"/>
          <c:yMode val="edge"/>
          <c:x val="7.300621969882628E-4"/>
          <c:y val="0.73640777028019189"/>
          <c:w val="0.7298658106564333"/>
          <c:h val="0.2349021034154804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56189721471422"/>
          <c:y val="6.2596897488058648E-2"/>
          <c:w val="0.7087696247176436"/>
          <c:h val="0.6450841047792305"/>
        </c:manualLayout>
      </c:layout>
      <c:lineChart>
        <c:grouping val="standard"/>
        <c:varyColors val="0"/>
        <c:ser>
          <c:idx val="0"/>
          <c:order val="0"/>
          <c:tx>
            <c:strRef>
              <c:f>'Macro Risks'!$B$1</c:f>
              <c:strCache>
                <c:ptCount val="1"/>
                <c:pt idx="0">
                  <c:v>Unemployment Rate - L</c:v>
                </c:pt>
              </c:strCache>
            </c:strRef>
          </c:tx>
          <c:spPr>
            <a:ln w="28575" cap="rnd">
              <a:solidFill>
                <a:schemeClr val="accent2">
                  <a:lumMod val="75000"/>
                </a:schemeClr>
              </a:solidFill>
              <a:round/>
            </a:ln>
            <a:effectLst/>
          </c:spPr>
          <c:marker>
            <c:symbol val="none"/>
          </c:marker>
          <c:cat>
            <c:numRef>
              <c:f>'Macro Risks'!$A$2:$A$11</c:f>
              <c:numCache>
                <c:formatCode>mm/dd/yy</c:formatCode>
                <c:ptCount val="10"/>
                <c:pt idx="0">
                  <c:v>42734</c:v>
                </c:pt>
                <c:pt idx="1">
                  <c:v>43098</c:v>
                </c:pt>
                <c:pt idx="2">
                  <c:v>43465</c:v>
                </c:pt>
                <c:pt idx="3">
                  <c:v>43830</c:v>
                </c:pt>
                <c:pt idx="4">
                  <c:v>44196</c:v>
                </c:pt>
                <c:pt idx="5">
                  <c:v>44561</c:v>
                </c:pt>
                <c:pt idx="6">
                  <c:v>44925</c:v>
                </c:pt>
                <c:pt idx="7">
                  <c:v>45289</c:v>
                </c:pt>
                <c:pt idx="8">
                  <c:v>45657</c:v>
                </c:pt>
                <c:pt idx="9">
                  <c:v>46022</c:v>
                </c:pt>
              </c:numCache>
            </c:numRef>
          </c:cat>
          <c:val>
            <c:numRef>
              <c:f>'Macro Risks'!$B$2:$B$11</c:f>
              <c:numCache>
                <c:formatCode>#,##0.00</c:formatCode>
                <c:ptCount val="10"/>
                <c:pt idx="0">
                  <c:v>4.8750000000000002E-2</c:v>
                </c:pt>
                <c:pt idx="1">
                  <c:v>4.3750000000000004E-2</c:v>
                </c:pt>
                <c:pt idx="2">
                  <c:v>3.875E-2</c:v>
                </c:pt>
                <c:pt idx="3">
                  <c:v>3.6499999999999998E-2</c:v>
                </c:pt>
                <c:pt idx="4">
                  <c:v>8.0749999999999988E-2</c:v>
                </c:pt>
                <c:pt idx="5">
                  <c:v>5.3499999999999999E-2</c:v>
                </c:pt>
                <c:pt idx="6">
                  <c:v>3.6249999999999998E-2</c:v>
                </c:pt>
                <c:pt idx="7">
                  <c:v>3.6499999999999998E-2</c:v>
                </c:pt>
                <c:pt idx="8">
                  <c:v>4.0250000000000001E-2</c:v>
                </c:pt>
                <c:pt idx="9">
                  <c:v>#N/A</c:v>
                </c:pt>
              </c:numCache>
            </c:numRef>
          </c:val>
          <c:smooth val="0"/>
          <c:extLst>
            <c:ext xmlns:c16="http://schemas.microsoft.com/office/drawing/2014/chart" uri="{C3380CC4-5D6E-409C-BE32-E72D297353CC}">
              <c16:uniqueId val="{00000000-CF41-45C2-844A-A5B74F3DDD0C}"/>
            </c:ext>
          </c:extLst>
        </c:ser>
        <c:dLbls>
          <c:showLegendKey val="0"/>
          <c:showVal val="0"/>
          <c:showCatName val="0"/>
          <c:showSerName val="0"/>
          <c:showPercent val="0"/>
          <c:showBubbleSize val="0"/>
        </c:dLbls>
        <c:marker val="1"/>
        <c:smooth val="0"/>
        <c:axId val="458016063"/>
        <c:axId val="458016543"/>
      </c:lineChart>
      <c:lineChart>
        <c:grouping val="standard"/>
        <c:varyColors val="0"/>
        <c:ser>
          <c:idx val="1"/>
          <c:order val="1"/>
          <c:tx>
            <c:strRef>
              <c:f>'Macro Risks'!$C$1</c:f>
              <c:strCache>
                <c:ptCount val="1"/>
                <c:pt idx="0">
                  <c:v>HOG Sales - R</c:v>
                </c:pt>
              </c:strCache>
            </c:strRef>
          </c:tx>
          <c:spPr>
            <a:ln w="28575" cap="rnd">
              <a:solidFill>
                <a:schemeClr val="tx1"/>
              </a:solidFill>
              <a:round/>
            </a:ln>
            <a:effectLst/>
          </c:spPr>
          <c:marker>
            <c:symbol val="none"/>
          </c:marker>
          <c:cat>
            <c:numRef>
              <c:f>'Macro Risks'!$A$2:$A$11</c:f>
              <c:numCache>
                <c:formatCode>mm/dd/yy</c:formatCode>
                <c:ptCount val="10"/>
                <c:pt idx="0">
                  <c:v>42734</c:v>
                </c:pt>
                <c:pt idx="1">
                  <c:v>43098</c:v>
                </c:pt>
                <c:pt idx="2">
                  <c:v>43465</c:v>
                </c:pt>
                <c:pt idx="3">
                  <c:v>43830</c:v>
                </c:pt>
                <c:pt idx="4">
                  <c:v>44196</c:v>
                </c:pt>
                <c:pt idx="5">
                  <c:v>44561</c:v>
                </c:pt>
                <c:pt idx="6">
                  <c:v>44925</c:v>
                </c:pt>
                <c:pt idx="7">
                  <c:v>45289</c:v>
                </c:pt>
                <c:pt idx="8">
                  <c:v>45657</c:v>
                </c:pt>
                <c:pt idx="9">
                  <c:v>46022</c:v>
                </c:pt>
              </c:numCache>
            </c:numRef>
          </c:cat>
          <c:val>
            <c:numRef>
              <c:f>'Macro Risks'!$C$2:$C$11</c:f>
              <c:numCache>
                <c:formatCode>#,##0.00</c:formatCode>
                <c:ptCount val="10"/>
                <c:pt idx="0">
                  <c:v>5996.45</c:v>
                </c:pt>
                <c:pt idx="1">
                  <c:v>5647.22</c:v>
                </c:pt>
                <c:pt idx="2">
                  <c:v>5716.87</c:v>
                </c:pt>
                <c:pt idx="3">
                  <c:v>5361.78</c:v>
                </c:pt>
                <c:pt idx="4">
                  <c:v>4054.37</c:v>
                </c:pt>
                <c:pt idx="5">
                  <c:v>5336.3</c:v>
                </c:pt>
                <c:pt idx="6">
                  <c:v>5755.13</c:v>
                </c:pt>
                <c:pt idx="7">
                  <c:v>5836.47</c:v>
                </c:pt>
                <c:pt idx="8">
                  <c:v>5186.8</c:v>
                </c:pt>
                <c:pt idx="9">
                  <c:v>#N/A</c:v>
                </c:pt>
              </c:numCache>
            </c:numRef>
          </c:val>
          <c:smooth val="0"/>
          <c:extLst>
            <c:ext xmlns:c16="http://schemas.microsoft.com/office/drawing/2014/chart" uri="{C3380CC4-5D6E-409C-BE32-E72D297353CC}">
              <c16:uniqueId val="{00000001-CF41-45C2-844A-A5B74F3DDD0C}"/>
            </c:ext>
          </c:extLst>
        </c:ser>
        <c:dLbls>
          <c:showLegendKey val="0"/>
          <c:showVal val="0"/>
          <c:showCatName val="0"/>
          <c:showSerName val="0"/>
          <c:showPercent val="0"/>
          <c:showBubbleSize val="0"/>
        </c:dLbls>
        <c:marker val="1"/>
        <c:smooth val="0"/>
        <c:axId val="503938415"/>
        <c:axId val="503936975"/>
      </c:lineChart>
      <c:dateAx>
        <c:axId val="458016063"/>
        <c:scaling>
          <c:orientation val="minMax"/>
          <c:max val="45292"/>
        </c:scaling>
        <c:delete val="0"/>
        <c:axPos val="b"/>
        <c:numFmt formatCode="yy\'" sourceLinked="0"/>
        <c:majorTickMark val="none"/>
        <c:minorTickMark val="none"/>
        <c:tickLblPos val="nextTo"/>
        <c:spPr>
          <a:noFill/>
          <a:ln w="31750" cap="flat" cmpd="sng" algn="ctr">
            <a:no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58016543"/>
        <c:crosses val="autoZero"/>
        <c:auto val="1"/>
        <c:lblOffset val="100"/>
        <c:baseTimeUnit val="years"/>
        <c:majorUnit val="1"/>
        <c:majorTimeUnit val="years"/>
      </c:dateAx>
      <c:valAx>
        <c:axId val="45801654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w="31750">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58016063"/>
        <c:crosses val="autoZero"/>
        <c:crossBetween val="between"/>
      </c:valAx>
      <c:valAx>
        <c:axId val="503936975"/>
        <c:scaling>
          <c:orientation val="minMax"/>
        </c:scaling>
        <c:delete val="0"/>
        <c:axPos val="r"/>
        <c:numFmt formatCode="#,##0" sourceLinked="0"/>
        <c:majorTickMark val="none"/>
        <c:minorTickMark val="none"/>
        <c:tickLblPos val="nextTo"/>
        <c:spPr>
          <a:noFill/>
          <a:ln w="31750">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503938415"/>
        <c:crosses val="max"/>
        <c:crossBetween val="between"/>
      </c:valAx>
      <c:dateAx>
        <c:axId val="503938415"/>
        <c:scaling>
          <c:orientation val="minMax"/>
        </c:scaling>
        <c:delete val="1"/>
        <c:axPos val="b"/>
        <c:numFmt formatCode="mm/dd/yy" sourceLinked="1"/>
        <c:majorTickMark val="out"/>
        <c:minorTickMark val="none"/>
        <c:tickLblPos val="nextTo"/>
        <c:crossAx val="503936975"/>
        <c:crosses val="autoZero"/>
        <c:auto val="1"/>
        <c:lblOffset val="100"/>
        <c:baseTimeUnit val="months"/>
        <c:majorUnit val="1"/>
        <c:minorUnit val="1"/>
      </c:dateAx>
      <c:spPr>
        <a:noFill/>
        <a:ln w="31750">
          <a:noFill/>
        </a:ln>
        <a:effectLst/>
      </c:spPr>
    </c:plotArea>
    <c:legend>
      <c:legendPos val="b"/>
      <c:layout>
        <c:manualLayout>
          <c:xMode val="edge"/>
          <c:yMode val="edge"/>
          <c:x val="5.4515847915002712E-5"/>
          <c:y val="0.81319732585337012"/>
          <c:w val="0.99773324684538911"/>
          <c:h val="0.18111204710226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31750" cap="flat" cmpd="sng" algn="ctr">
      <a:noFill/>
      <a:round/>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433696884453792"/>
          <c:y val="0.17724053896332548"/>
          <c:w val="0.4318579099144978"/>
          <c:h val="0.66123755118610672"/>
        </c:manualLayout>
      </c:layout>
      <c:radarChart>
        <c:radarStyle val="marker"/>
        <c:varyColors val="0"/>
        <c:ser>
          <c:idx val="0"/>
          <c:order val="0"/>
          <c:spPr>
            <a:ln w="28575" cap="rnd">
              <a:solidFill>
                <a:schemeClr val="accent2">
                  <a:lumMod val="75000"/>
                </a:schemeClr>
              </a:solidFill>
              <a:round/>
            </a:ln>
            <a:effectLst/>
          </c:spPr>
          <c:marker>
            <c:symbol val="none"/>
          </c:marker>
          <c:cat>
            <c:strRef>
              <c:f>Sheet5!$B$9:$B$13</c:f>
              <c:strCache>
                <c:ptCount val="5"/>
                <c:pt idx="0">
                  <c:v>Threat of New Entrants</c:v>
                </c:pt>
                <c:pt idx="1">
                  <c:v>Rivalry Among Existing Competitors</c:v>
                </c:pt>
                <c:pt idx="2">
                  <c:v>Bargaining Power of Suppliers</c:v>
                </c:pt>
                <c:pt idx="3">
                  <c:v>Bargaining Power of Buyers</c:v>
                </c:pt>
                <c:pt idx="4">
                  <c:v>Threat of Substitutes</c:v>
                </c:pt>
              </c:strCache>
            </c:strRef>
          </c:cat>
          <c:val>
            <c:numRef>
              <c:f>Sheet5!$C$9:$C$13</c:f>
              <c:numCache>
                <c:formatCode>General</c:formatCode>
                <c:ptCount val="5"/>
                <c:pt idx="0">
                  <c:v>2</c:v>
                </c:pt>
                <c:pt idx="1">
                  <c:v>5</c:v>
                </c:pt>
                <c:pt idx="2">
                  <c:v>3</c:v>
                </c:pt>
                <c:pt idx="3">
                  <c:v>4</c:v>
                </c:pt>
                <c:pt idx="4">
                  <c:v>4</c:v>
                </c:pt>
              </c:numCache>
            </c:numRef>
          </c:val>
          <c:extLst>
            <c:ext xmlns:c16="http://schemas.microsoft.com/office/drawing/2014/chart" uri="{C3380CC4-5D6E-409C-BE32-E72D297353CC}">
              <c16:uniqueId val="{00000000-EE04-46DB-92B5-A43BA464E52F}"/>
            </c:ext>
          </c:extLst>
        </c:ser>
        <c:dLbls>
          <c:showLegendKey val="0"/>
          <c:showVal val="0"/>
          <c:showCatName val="0"/>
          <c:showSerName val="0"/>
          <c:showPercent val="0"/>
          <c:showBubbleSize val="0"/>
        </c:dLbls>
        <c:axId val="682508688"/>
        <c:axId val="682509648"/>
      </c:radarChart>
      <c:catAx>
        <c:axId val="682508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682509648"/>
        <c:crosses val="autoZero"/>
        <c:auto val="1"/>
        <c:lblAlgn val="ctr"/>
        <c:lblOffset val="100"/>
        <c:noMultiLvlLbl val="0"/>
      </c:catAx>
      <c:valAx>
        <c:axId val="68250964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825086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086873453556997"/>
          <c:y val="6.2164010642193832E-2"/>
          <c:w val="0.70688563035425456"/>
          <c:h val="0.63324079187248961"/>
        </c:manualLayout>
      </c:layout>
      <c:lineChart>
        <c:grouping val="standard"/>
        <c:varyColors val="0"/>
        <c:ser>
          <c:idx val="1"/>
          <c:order val="1"/>
          <c:tx>
            <c:strRef>
              <c:f>'consumer conf'!$P$1</c:f>
              <c:strCache>
                <c:ptCount val="1"/>
                <c:pt idx="0">
                  <c:v> Interest Rates - L</c:v>
                </c:pt>
              </c:strCache>
            </c:strRef>
          </c:tx>
          <c:spPr>
            <a:ln w="28575" cap="rnd">
              <a:solidFill>
                <a:schemeClr val="accent2">
                  <a:lumMod val="75000"/>
                </a:schemeClr>
              </a:solidFill>
              <a:round/>
            </a:ln>
            <a:effectLst/>
          </c:spPr>
          <c:marker>
            <c:symbol val="none"/>
          </c:marker>
          <c:cat>
            <c:numRef>
              <c:f>'consumer conf'!$O$2:$O$41</c:f>
              <c:numCache>
                <c:formatCode>m/d/yyyy</c:formatCode>
                <c:ptCount val="40"/>
                <c:pt idx="0">
                  <c:v>42460</c:v>
                </c:pt>
                <c:pt idx="1">
                  <c:v>42551</c:v>
                </c:pt>
                <c:pt idx="2">
                  <c:v>42643</c:v>
                </c:pt>
                <c:pt idx="3">
                  <c:v>42734</c:v>
                </c:pt>
                <c:pt idx="4">
                  <c:v>42825</c:v>
                </c:pt>
                <c:pt idx="5">
                  <c:v>42916</c:v>
                </c:pt>
                <c:pt idx="6">
                  <c:v>43007</c:v>
                </c:pt>
                <c:pt idx="7">
                  <c:v>43098</c:v>
                </c:pt>
                <c:pt idx="8">
                  <c:v>43189</c:v>
                </c:pt>
                <c:pt idx="9">
                  <c:v>43280</c:v>
                </c:pt>
                <c:pt idx="10">
                  <c:v>43371</c:v>
                </c:pt>
                <c:pt idx="11">
                  <c:v>43465</c:v>
                </c:pt>
                <c:pt idx="12">
                  <c:v>43553</c:v>
                </c:pt>
                <c:pt idx="13">
                  <c:v>43644</c:v>
                </c:pt>
                <c:pt idx="14">
                  <c:v>43738</c:v>
                </c:pt>
                <c:pt idx="15">
                  <c:v>43830</c:v>
                </c:pt>
                <c:pt idx="16">
                  <c:v>43921</c:v>
                </c:pt>
                <c:pt idx="17">
                  <c:v>44012</c:v>
                </c:pt>
                <c:pt idx="18">
                  <c:v>44104</c:v>
                </c:pt>
                <c:pt idx="19">
                  <c:v>44196</c:v>
                </c:pt>
                <c:pt idx="20">
                  <c:v>44286</c:v>
                </c:pt>
                <c:pt idx="21">
                  <c:v>44377</c:v>
                </c:pt>
                <c:pt idx="22">
                  <c:v>44469</c:v>
                </c:pt>
                <c:pt idx="23">
                  <c:v>44561</c:v>
                </c:pt>
                <c:pt idx="24">
                  <c:v>44651</c:v>
                </c:pt>
                <c:pt idx="25">
                  <c:v>44742</c:v>
                </c:pt>
                <c:pt idx="26">
                  <c:v>44834</c:v>
                </c:pt>
                <c:pt idx="27">
                  <c:v>44925</c:v>
                </c:pt>
                <c:pt idx="28">
                  <c:v>45016</c:v>
                </c:pt>
                <c:pt idx="29">
                  <c:v>45107</c:v>
                </c:pt>
                <c:pt idx="30">
                  <c:v>45198</c:v>
                </c:pt>
                <c:pt idx="31">
                  <c:v>45289</c:v>
                </c:pt>
                <c:pt idx="32">
                  <c:v>45380</c:v>
                </c:pt>
                <c:pt idx="33">
                  <c:v>45471</c:v>
                </c:pt>
                <c:pt idx="34">
                  <c:v>45565</c:v>
                </c:pt>
                <c:pt idx="35">
                  <c:v>45657</c:v>
                </c:pt>
                <c:pt idx="36">
                  <c:v>45747</c:v>
                </c:pt>
                <c:pt idx="37">
                  <c:v>45838</c:v>
                </c:pt>
                <c:pt idx="38">
                  <c:v>45930</c:v>
                </c:pt>
                <c:pt idx="39">
                  <c:v>46022</c:v>
                </c:pt>
              </c:numCache>
            </c:numRef>
          </c:cat>
          <c:val>
            <c:numRef>
              <c:f>'consumer conf'!$P$2:$P$41</c:f>
              <c:numCache>
                <c:formatCode>General</c:formatCode>
                <c:ptCount val="40"/>
                <c:pt idx="0">
                  <c:v>3.5999999999999999E-3</c:v>
                </c:pt>
                <c:pt idx="1">
                  <c:v>3.8E-3</c:v>
                </c:pt>
                <c:pt idx="2">
                  <c:v>4.0000000000000001E-3</c:v>
                </c:pt>
                <c:pt idx="3">
                  <c:v>5.4000000000000003E-3</c:v>
                </c:pt>
                <c:pt idx="4">
                  <c:v>7.9000000000000008E-3</c:v>
                </c:pt>
                <c:pt idx="5">
                  <c:v>1.0400000000000001E-2</c:v>
                </c:pt>
                <c:pt idx="6">
                  <c:v>1.15E-2</c:v>
                </c:pt>
                <c:pt idx="7">
                  <c:v>1.3000000000000001E-2</c:v>
                </c:pt>
                <c:pt idx="8">
                  <c:v>1.5100000000000001E-2</c:v>
                </c:pt>
                <c:pt idx="9">
                  <c:v>1.8200000000000001E-2</c:v>
                </c:pt>
                <c:pt idx="10">
                  <c:v>1.95E-2</c:v>
                </c:pt>
                <c:pt idx="11">
                  <c:v>2.2700000000000001E-2</c:v>
                </c:pt>
                <c:pt idx="12">
                  <c:v>2.4100000000000003E-2</c:v>
                </c:pt>
                <c:pt idx="13">
                  <c:v>2.3799999999999998E-2</c:v>
                </c:pt>
                <c:pt idx="14">
                  <c:v>2.0400000000000001E-2</c:v>
                </c:pt>
                <c:pt idx="15">
                  <c:v>1.5500000000000002E-2</c:v>
                </c:pt>
                <c:pt idx="16">
                  <c:v>6.5000000000000006E-3</c:v>
                </c:pt>
                <c:pt idx="17">
                  <c:v>8.0000000000000004E-4</c:v>
                </c:pt>
                <c:pt idx="18">
                  <c:v>8.9999999999999998E-4</c:v>
                </c:pt>
                <c:pt idx="19">
                  <c:v>8.9999999999999998E-4</c:v>
                </c:pt>
                <c:pt idx="20">
                  <c:v>7.000000000000001E-4</c:v>
                </c:pt>
                <c:pt idx="21">
                  <c:v>8.0000000000000004E-4</c:v>
                </c:pt>
                <c:pt idx="22">
                  <c:v>8.0000000000000004E-4</c:v>
                </c:pt>
                <c:pt idx="23">
                  <c:v>8.0000000000000004E-4</c:v>
                </c:pt>
                <c:pt idx="24">
                  <c:v>2E-3</c:v>
                </c:pt>
                <c:pt idx="25">
                  <c:v>1.21E-2</c:v>
                </c:pt>
                <c:pt idx="26">
                  <c:v>2.5600000000000001E-2</c:v>
                </c:pt>
                <c:pt idx="27">
                  <c:v>4.0999999999999995E-2</c:v>
                </c:pt>
                <c:pt idx="28">
                  <c:v>4.6500000000000007E-2</c:v>
                </c:pt>
                <c:pt idx="29">
                  <c:v>5.0800000000000005E-2</c:v>
                </c:pt>
                <c:pt idx="30">
                  <c:v>5.33E-2</c:v>
                </c:pt>
                <c:pt idx="31">
                  <c:v>5.33E-2</c:v>
                </c:pt>
                <c:pt idx="32">
                  <c:v>5.33E-2</c:v>
                </c:pt>
                <c:pt idx="33">
                  <c:v>5.33E-2</c:v>
                </c:pt>
                <c:pt idx="34">
                  <c:v>5.1299999999999998E-2</c:v>
                </c:pt>
                <c:pt idx="35">
                  <c:v>4.4800000000000006E-2</c:v>
                </c:pt>
                <c:pt idx="36">
                  <c:v>4.3299999999999998E-2</c:v>
                </c:pt>
                <c:pt idx="37">
                  <c:v>4.3299999999999998E-2</c:v>
                </c:pt>
                <c:pt idx="38">
                  <c:v>4.2200000000000001E-2</c:v>
                </c:pt>
                <c:pt idx="39">
                  <c:v>#N/A</c:v>
                </c:pt>
              </c:numCache>
            </c:numRef>
          </c:val>
          <c:smooth val="0"/>
          <c:extLst>
            <c:ext xmlns:c16="http://schemas.microsoft.com/office/drawing/2014/chart" uri="{C3380CC4-5D6E-409C-BE32-E72D297353CC}">
              <c16:uniqueId val="{00000000-A497-4523-BAE6-79AD49691EE5}"/>
            </c:ext>
          </c:extLst>
        </c:ser>
        <c:dLbls>
          <c:showLegendKey val="0"/>
          <c:showVal val="0"/>
          <c:showCatName val="0"/>
          <c:showSerName val="0"/>
          <c:showPercent val="0"/>
          <c:showBubbleSize val="0"/>
        </c:dLbls>
        <c:marker val="1"/>
        <c:smooth val="0"/>
        <c:axId val="307823855"/>
        <c:axId val="307824335"/>
        <c:extLst>
          <c:ext xmlns:c15="http://schemas.microsoft.com/office/drawing/2012/chart" uri="{02D57815-91ED-43cb-92C2-25804820EDAC}">
            <c15:filteredLineSeries>
              <c15:ser>
                <c:idx val="0"/>
                <c:order val="0"/>
                <c:tx>
                  <c:strRef>
                    <c:extLst>
                      <c:ext uri="{02D57815-91ED-43cb-92C2-25804820EDAC}">
                        <c15:formulaRef>
                          <c15:sqref>'consumer conf'!$O$1</c15:sqref>
                        </c15:formulaRef>
                      </c:ext>
                    </c:extLst>
                    <c:strCache>
                      <c:ptCount val="1"/>
                      <c:pt idx="0">
                        <c:v>Date</c:v>
                      </c:pt>
                    </c:strCache>
                  </c:strRef>
                </c:tx>
                <c:spPr>
                  <a:ln w="28575" cap="rnd">
                    <a:solidFill>
                      <a:schemeClr val="accent1"/>
                    </a:solidFill>
                    <a:round/>
                  </a:ln>
                  <a:effectLst/>
                </c:spPr>
                <c:marker>
                  <c:symbol val="none"/>
                </c:marker>
                <c:cat>
                  <c:numRef>
                    <c:extLst>
                      <c:ext uri="{02D57815-91ED-43cb-92C2-25804820EDAC}">
                        <c15:formulaRef>
                          <c15:sqref>'consumer conf'!$O$2:$O$41</c15:sqref>
                        </c15:formulaRef>
                      </c:ext>
                    </c:extLst>
                    <c:numCache>
                      <c:formatCode>m/d/yyyy</c:formatCode>
                      <c:ptCount val="40"/>
                      <c:pt idx="0">
                        <c:v>42460</c:v>
                      </c:pt>
                      <c:pt idx="1">
                        <c:v>42551</c:v>
                      </c:pt>
                      <c:pt idx="2">
                        <c:v>42643</c:v>
                      </c:pt>
                      <c:pt idx="3">
                        <c:v>42734</c:v>
                      </c:pt>
                      <c:pt idx="4">
                        <c:v>42825</c:v>
                      </c:pt>
                      <c:pt idx="5">
                        <c:v>42916</c:v>
                      </c:pt>
                      <c:pt idx="6">
                        <c:v>43007</c:v>
                      </c:pt>
                      <c:pt idx="7">
                        <c:v>43098</c:v>
                      </c:pt>
                      <c:pt idx="8">
                        <c:v>43189</c:v>
                      </c:pt>
                      <c:pt idx="9">
                        <c:v>43280</c:v>
                      </c:pt>
                      <c:pt idx="10">
                        <c:v>43371</c:v>
                      </c:pt>
                      <c:pt idx="11">
                        <c:v>43465</c:v>
                      </c:pt>
                      <c:pt idx="12">
                        <c:v>43553</c:v>
                      </c:pt>
                      <c:pt idx="13">
                        <c:v>43644</c:v>
                      </c:pt>
                      <c:pt idx="14">
                        <c:v>43738</c:v>
                      </c:pt>
                      <c:pt idx="15">
                        <c:v>43830</c:v>
                      </c:pt>
                      <c:pt idx="16">
                        <c:v>43921</c:v>
                      </c:pt>
                      <c:pt idx="17">
                        <c:v>44012</c:v>
                      </c:pt>
                      <c:pt idx="18">
                        <c:v>44104</c:v>
                      </c:pt>
                      <c:pt idx="19">
                        <c:v>44196</c:v>
                      </c:pt>
                      <c:pt idx="20">
                        <c:v>44286</c:v>
                      </c:pt>
                      <c:pt idx="21">
                        <c:v>44377</c:v>
                      </c:pt>
                      <c:pt idx="22">
                        <c:v>44469</c:v>
                      </c:pt>
                      <c:pt idx="23">
                        <c:v>44561</c:v>
                      </c:pt>
                      <c:pt idx="24">
                        <c:v>44651</c:v>
                      </c:pt>
                      <c:pt idx="25">
                        <c:v>44742</c:v>
                      </c:pt>
                      <c:pt idx="26">
                        <c:v>44834</c:v>
                      </c:pt>
                      <c:pt idx="27">
                        <c:v>44925</c:v>
                      </c:pt>
                      <c:pt idx="28">
                        <c:v>45016</c:v>
                      </c:pt>
                      <c:pt idx="29">
                        <c:v>45107</c:v>
                      </c:pt>
                      <c:pt idx="30">
                        <c:v>45198</c:v>
                      </c:pt>
                      <c:pt idx="31">
                        <c:v>45289</c:v>
                      </c:pt>
                      <c:pt idx="32">
                        <c:v>45380</c:v>
                      </c:pt>
                      <c:pt idx="33">
                        <c:v>45471</c:v>
                      </c:pt>
                      <c:pt idx="34">
                        <c:v>45565</c:v>
                      </c:pt>
                      <c:pt idx="35">
                        <c:v>45657</c:v>
                      </c:pt>
                      <c:pt idx="36">
                        <c:v>45747</c:v>
                      </c:pt>
                      <c:pt idx="37">
                        <c:v>45838</c:v>
                      </c:pt>
                      <c:pt idx="38">
                        <c:v>45930</c:v>
                      </c:pt>
                      <c:pt idx="39">
                        <c:v>46022</c:v>
                      </c:pt>
                    </c:numCache>
                  </c:numRef>
                </c:cat>
                <c:val>
                  <c:numRef>
                    <c:extLst>
                      <c:ext uri="{02D57815-91ED-43cb-92C2-25804820EDAC}">
                        <c15:formulaRef>
                          <c15:sqref>'consumer conf'!$O$2:$O$41</c15:sqref>
                        </c15:formulaRef>
                      </c:ext>
                    </c:extLst>
                    <c:numCache>
                      <c:formatCode>m/d/yyyy</c:formatCode>
                      <c:ptCount val="40"/>
                      <c:pt idx="0">
                        <c:v>42460</c:v>
                      </c:pt>
                      <c:pt idx="1">
                        <c:v>42551</c:v>
                      </c:pt>
                      <c:pt idx="2">
                        <c:v>42643</c:v>
                      </c:pt>
                      <c:pt idx="3">
                        <c:v>42734</c:v>
                      </c:pt>
                      <c:pt idx="4">
                        <c:v>42825</c:v>
                      </c:pt>
                      <c:pt idx="5">
                        <c:v>42916</c:v>
                      </c:pt>
                      <c:pt idx="6">
                        <c:v>43007</c:v>
                      </c:pt>
                      <c:pt idx="7">
                        <c:v>43098</c:v>
                      </c:pt>
                      <c:pt idx="8">
                        <c:v>43189</c:v>
                      </c:pt>
                      <c:pt idx="9">
                        <c:v>43280</c:v>
                      </c:pt>
                      <c:pt idx="10">
                        <c:v>43371</c:v>
                      </c:pt>
                      <c:pt idx="11">
                        <c:v>43465</c:v>
                      </c:pt>
                      <c:pt idx="12">
                        <c:v>43553</c:v>
                      </c:pt>
                      <c:pt idx="13">
                        <c:v>43644</c:v>
                      </c:pt>
                      <c:pt idx="14">
                        <c:v>43738</c:v>
                      </c:pt>
                      <c:pt idx="15">
                        <c:v>43830</c:v>
                      </c:pt>
                      <c:pt idx="16">
                        <c:v>43921</c:v>
                      </c:pt>
                      <c:pt idx="17">
                        <c:v>44012</c:v>
                      </c:pt>
                      <c:pt idx="18">
                        <c:v>44104</c:v>
                      </c:pt>
                      <c:pt idx="19">
                        <c:v>44196</c:v>
                      </c:pt>
                      <c:pt idx="20">
                        <c:v>44286</c:v>
                      </c:pt>
                      <c:pt idx="21">
                        <c:v>44377</c:v>
                      </c:pt>
                      <c:pt idx="22">
                        <c:v>44469</c:v>
                      </c:pt>
                      <c:pt idx="23">
                        <c:v>44561</c:v>
                      </c:pt>
                      <c:pt idx="24">
                        <c:v>44651</c:v>
                      </c:pt>
                      <c:pt idx="25">
                        <c:v>44742</c:v>
                      </c:pt>
                      <c:pt idx="26">
                        <c:v>44834</c:v>
                      </c:pt>
                      <c:pt idx="27">
                        <c:v>44925</c:v>
                      </c:pt>
                      <c:pt idx="28">
                        <c:v>45016</c:v>
                      </c:pt>
                      <c:pt idx="29">
                        <c:v>45107</c:v>
                      </c:pt>
                      <c:pt idx="30">
                        <c:v>45198</c:v>
                      </c:pt>
                      <c:pt idx="31">
                        <c:v>45289</c:v>
                      </c:pt>
                      <c:pt idx="32">
                        <c:v>45380</c:v>
                      </c:pt>
                      <c:pt idx="33">
                        <c:v>45471</c:v>
                      </c:pt>
                      <c:pt idx="34">
                        <c:v>45565</c:v>
                      </c:pt>
                      <c:pt idx="35">
                        <c:v>45657</c:v>
                      </c:pt>
                      <c:pt idx="36">
                        <c:v>45747</c:v>
                      </c:pt>
                      <c:pt idx="37">
                        <c:v>45838</c:v>
                      </c:pt>
                      <c:pt idx="38">
                        <c:v>45930</c:v>
                      </c:pt>
                      <c:pt idx="39">
                        <c:v>46022</c:v>
                      </c:pt>
                    </c:numCache>
                  </c:numRef>
                </c:val>
                <c:smooth val="0"/>
                <c:extLst>
                  <c:ext xmlns:c16="http://schemas.microsoft.com/office/drawing/2014/chart" uri="{C3380CC4-5D6E-409C-BE32-E72D297353CC}">
                    <c16:uniqueId val="{00000002-A497-4523-BAE6-79AD49691EE5}"/>
                  </c:ext>
                </c:extLst>
              </c15:ser>
            </c15:filteredLineSeries>
          </c:ext>
        </c:extLst>
      </c:lineChart>
      <c:lineChart>
        <c:grouping val="standard"/>
        <c:varyColors val="0"/>
        <c:ser>
          <c:idx val="2"/>
          <c:order val="2"/>
          <c:tx>
            <c:strRef>
              <c:f>'consumer conf'!$Q$1</c:f>
              <c:strCache>
                <c:ptCount val="1"/>
                <c:pt idx="0">
                  <c:v>Consumer Confidence Index - R</c:v>
                </c:pt>
              </c:strCache>
            </c:strRef>
          </c:tx>
          <c:spPr>
            <a:ln w="28575" cap="rnd">
              <a:solidFill>
                <a:schemeClr val="tx1"/>
              </a:solidFill>
              <a:round/>
            </a:ln>
            <a:effectLst/>
          </c:spPr>
          <c:marker>
            <c:symbol val="none"/>
          </c:marker>
          <c:cat>
            <c:numRef>
              <c:f>'consumer conf'!$O$2:$O$41</c:f>
              <c:numCache>
                <c:formatCode>m/d/yyyy</c:formatCode>
                <c:ptCount val="40"/>
                <c:pt idx="0">
                  <c:v>42460</c:v>
                </c:pt>
                <c:pt idx="1">
                  <c:v>42551</c:v>
                </c:pt>
                <c:pt idx="2">
                  <c:v>42643</c:v>
                </c:pt>
                <c:pt idx="3">
                  <c:v>42734</c:v>
                </c:pt>
                <c:pt idx="4">
                  <c:v>42825</c:v>
                </c:pt>
                <c:pt idx="5">
                  <c:v>42916</c:v>
                </c:pt>
                <c:pt idx="6">
                  <c:v>43007</c:v>
                </c:pt>
                <c:pt idx="7">
                  <c:v>43098</c:v>
                </c:pt>
                <c:pt idx="8">
                  <c:v>43189</c:v>
                </c:pt>
                <c:pt idx="9">
                  <c:v>43280</c:v>
                </c:pt>
                <c:pt idx="10">
                  <c:v>43371</c:v>
                </c:pt>
                <c:pt idx="11">
                  <c:v>43465</c:v>
                </c:pt>
                <c:pt idx="12">
                  <c:v>43553</c:v>
                </c:pt>
                <c:pt idx="13">
                  <c:v>43644</c:v>
                </c:pt>
                <c:pt idx="14">
                  <c:v>43738</c:v>
                </c:pt>
                <c:pt idx="15">
                  <c:v>43830</c:v>
                </c:pt>
                <c:pt idx="16">
                  <c:v>43921</c:v>
                </c:pt>
                <c:pt idx="17">
                  <c:v>44012</c:v>
                </c:pt>
                <c:pt idx="18">
                  <c:v>44104</c:v>
                </c:pt>
                <c:pt idx="19">
                  <c:v>44196</c:v>
                </c:pt>
                <c:pt idx="20">
                  <c:v>44286</c:v>
                </c:pt>
                <c:pt idx="21">
                  <c:v>44377</c:v>
                </c:pt>
                <c:pt idx="22">
                  <c:v>44469</c:v>
                </c:pt>
                <c:pt idx="23">
                  <c:v>44561</c:v>
                </c:pt>
                <c:pt idx="24">
                  <c:v>44651</c:v>
                </c:pt>
                <c:pt idx="25">
                  <c:v>44742</c:v>
                </c:pt>
                <c:pt idx="26">
                  <c:v>44834</c:v>
                </c:pt>
                <c:pt idx="27">
                  <c:v>44925</c:v>
                </c:pt>
                <c:pt idx="28">
                  <c:v>45016</c:v>
                </c:pt>
                <c:pt idx="29">
                  <c:v>45107</c:v>
                </c:pt>
                <c:pt idx="30">
                  <c:v>45198</c:v>
                </c:pt>
                <c:pt idx="31">
                  <c:v>45289</c:v>
                </c:pt>
                <c:pt idx="32">
                  <c:v>45380</c:v>
                </c:pt>
                <c:pt idx="33">
                  <c:v>45471</c:v>
                </c:pt>
                <c:pt idx="34">
                  <c:v>45565</c:v>
                </c:pt>
                <c:pt idx="35">
                  <c:v>45657</c:v>
                </c:pt>
                <c:pt idx="36">
                  <c:v>45747</c:v>
                </c:pt>
                <c:pt idx="37">
                  <c:v>45838</c:v>
                </c:pt>
                <c:pt idx="38">
                  <c:v>45930</c:v>
                </c:pt>
                <c:pt idx="39">
                  <c:v>46022</c:v>
                </c:pt>
              </c:numCache>
            </c:numRef>
          </c:cat>
          <c:val>
            <c:numRef>
              <c:f>'consumer conf'!$Q$2:$Q$41</c:f>
              <c:numCache>
                <c:formatCode>General</c:formatCode>
                <c:ptCount val="40"/>
                <c:pt idx="0">
                  <c:v>96.1</c:v>
                </c:pt>
                <c:pt idx="1">
                  <c:v>97.4</c:v>
                </c:pt>
                <c:pt idx="2">
                  <c:v>103.5</c:v>
                </c:pt>
                <c:pt idx="3">
                  <c:v>113.3</c:v>
                </c:pt>
                <c:pt idx="4">
                  <c:v>124.9</c:v>
                </c:pt>
                <c:pt idx="5">
                  <c:v>117.3</c:v>
                </c:pt>
                <c:pt idx="6">
                  <c:v>120.6</c:v>
                </c:pt>
                <c:pt idx="7">
                  <c:v>123.1</c:v>
                </c:pt>
                <c:pt idx="8">
                  <c:v>127</c:v>
                </c:pt>
                <c:pt idx="9">
                  <c:v>127.1</c:v>
                </c:pt>
                <c:pt idx="10">
                  <c:v>135.30000000000001</c:v>
                </c:pt>
                <c:pt idx="11">
                  <c:v>126.6</c:v>
                </c:pt>
                <c:pt idx="12">
                  <c:v>124.2</c:v>
                </c:pt>
                <c:pt idx="13">
                  <c:v>124.3</c:v>
                </c:pt>
                <c:pt idx="14">
                  <c:v>126.3</c:v>
                </c:pt>
                <c:pt idx="15">
                  <c:v>128.19999999999999</c:v>
                </c:pt>
                <c:pt idx="16">
                  <c:v>118.8</c:v>
                </c:pt>
                <c:pt idx="17">
                  <c:v>98.3</c:v>
                </c:pt>
                <c:pt idx="18">
                  <c:v>101.3</c:v>
                </c:pt>
                <c:pt idx="19">
                  <c:v>87.1</c:v>
                </c:pt>
                <c:pt idx="20">
                  <c:v>114.9</c:v>
                </c:pt>
                <c:pt idx="21">
                  <c:v>128.9</c:v>
                </c:pt>
                <c:pt idx="22">
                  <c:v>109.8</c:v>
                </c:pt>
                <c:pt idx="23">
                  <c:v>115.2</c:v>
                </c:pt>
                <c:pt idx="24">
                  <c:v>107.6</c:v>
                </c:pt>
                <c:pt idx="25">
                  <c:v>98.4</c:v>
                </c:pt>
                <c:pt idx="26">
                  <c:v>107.8</c:v>
                </c:pt>
                <c:pt idx="27">
                  <c:v>109</c:v>
                </c:pt>
                <c:pt idx="28">
                  <c:v>104</c:v>
                </c:pt>
                <c:pt idx="29">
                  <c:v>110.1</c:v>
                </c:pt>
                <c:pt idx="30">
                  <c:v>104.3</c:v>
                </c:pt>
                <c:pt idx="31">
                  <c:v>108</c:v>
                </c:pt>
                <c:pt idx="32">
                  <c:v>103.1</c:v>
                </c:pt>
                <c:pt idx="33">
                  <c:v>97.8</c:v>
                </c:pt>
                <c:pt idx="34">
                  <c:v>99.2</c:v>
                </c:pt>
                <c:pt idx="35">
                  <c:v>109.5</c:v>
                </c:pt>
                <c:pt idx="36">
                  <c:v>93.9</c:v>
                </c:pt>
                <c:pt idx="37">
                  <c:v>95.2</c:v>
                </c:pt>
                <c:pt idx="38">
                  <c:v>95.6</c:v>
                </c:pt>
                <c:pt idx="39">
                  <c:v>89.1</c:v>
                </c:pt>
              </c:numCache>
            </c:numRef>
          </c:val>
          <c:smooth val="0"/>
          <c:extLst>
            <c:ext xmlns:c16="http://schemas.microsoft.com/office/drawing/2014/chart" uri="{C3380CC4-5D6E-409C-BE32-E72D297353CC}">
              <c16:uniqueId val="{00000001-A497-4523-BAE6-79AD49691EE5}"/>
            </c:ext>
          </c:extLst>
        </c:ser>
        <c:dLbls>
          <c:showLegendKey val="0"/>
          <c:showVal val="0"/>
          <c:showCatName val="0"/>
          <c:showSerName val="0"/>
          <c:showPercent val="0"/>
          <c:showBubbleSize val="0"/>
        </c:dLbls>
        <c:marker val="1"/>
        <c:smooth val="0"/>
        <c:axId val="99360591"/>
        <c:axId val="99362031"/>
      </c:lineChart>
      <c:dateAx>
        <c:axId val="307823855"/>
        <c:scaling>
          <c:orientation val="minMax"/>
        </c:scaling>
        <c:delete val="0"/>
        <c:axPos val="b"/>
        <c:numFmt formatCode="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07824335"/>
        <c:crosses val="autoZero"/>
        <c:auto val="1"/>
        <c:lblOffset val="100"/>
        <c:baseTimeUnit val="months"/>
        <c:majorUnit val="1"/>
        <c:majorTimeUnit val="years"/>
      </c:dateAx>
      <c:valAx>
        <c:axId val="30782433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07823855"/>
        <c:crosses val="autoZero"/>
        <c:crossBetween val="between"/>
      </c:valAx>
      <c:valAx>
        <c:axId val="99362031"/>
        <c:scaling>
          <c:orientation val="minMax"/>
          <c:min val="8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360591"/>
        <c:crosses val="max"/>
        <c:crossBetween val="between"/>
        <c:majorUnit val="20"/>
      </c:valAx>
      <c:dateAx>
        <c:axId val="99360591"/>
        <c:scaling>
          <c:orientation val="minMax"/>
        </c:scaling>
        <c:delete val="1"/>
        <c:axPos val="b"/>
        <c:numFmt formatCode="m/d/yyyy" sourceLinked="1"/>
        <c:majorTickMark val="out"/>
        <c:minorTickMark val="none"/>
        <c:tickLblPos val="nextTo"/>
        <c:crossAx val="99362031"/>
        <c:crosses val="autoZero"/>
        <c:auto val="1"/>
        <c:lblOffset val="100"/>
        <c:baseTimeUnit val="months"/>
      </c:dateAx>
      <c:spPr>
        <a:noFill/>
        <a:ln>
          <a:noFill/>
        </a:ln>
        <a:effectLst/>
      </c:spPr>
    </c:plotArea>
    <c:legend>
      <c:legendPos val="b"/>
      <c:layout>
        <c:manualLayout>
          <c:xMode val="edge"/>
          <c:yMode val="edge"/>
          <c:x val="5.4521302220318028E-2"/>
          <c:y val="0.84035018317691468"/>
          <c:w val="0.91699155209065764"/>
          <c:h val="0.1200909009598710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tx1"/>
              </a:solidFill>
              <a:ln w="19050">
                <a:solidFill>
                  <a:schemeClr val="tx1"/>
                </a:solidFill>
              </a:ln>
              <a:effectLst/>
            </c:spPr>
            <c:extLst>
              <c:ext xmlns:c16="http://schemas.microsoft.com/office/drawing/2014/chart" uri="{C3380CC4-5D6E-409C-BE32-E72D297353CC}">
                <c16:uniqueId val="{00000001-AFE9-47B9-A28D-A7E33C51CA0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FE9-47B9-A28D-A7E33C51CA01}"/>
              </c:ext>
            </c:extLst>
          </c:dPt>
          <c:dPt>
            <c:idx val="2"/>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05-AFE9-47B9-A28D-A7E33C51CA01}"/>
              </c:ext>
            </c:extLst>
          </c:dPt>
          <c:dPt>
            <c:idx val="3"/>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7-AFE9-47B9-A28D-A7E33C51CA01}"/>
              </c:ext>
            </c:extLst>
          </c:dPt>
          <c:dPt>
            <c:idx val="4"/>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9-AFE9-47B9-A28D-A7E33C51CA01}"/>
              </c:ext>
            </c:extLst>
          </c:dPt>
          <c:dPt>
            <c:idx val="5"/>
            <c:bubble3D val="0"/>
            <c:spPr>
              <a:solidFill>
                <a:schemeClr val="tx1">
                  <a:lumMod val="65000"/>
                  <a:lumOff val="35000"/>
                </a:schemeClr>
              </a:solidFill>
              <a:ln w="19050">
                <a:solidFill>
                  <a:schemeClr val="lt1"/>
                </a:solidFill>
              </a:ln>
              <a:effectLst/>
            </c:spPr>
            <c:extLst>
              <c:ext xmlns:c16="http://schemas.microsoft.com/office/drawing/2014/chart" uri="{C3380CC4-5D6E-409C-BE32-E72D297353CC}">
                <c16:uniqueId val="{0000000B-AFE9-47B9-A28D-A7E33C51CA01}"/>
              </c:ext>
            </c:extLst>
          </c:dPt>
          <c:cat>
            <c:strRef>
              <c:f>'Geographic Rev'!$F$3:$K$3</c:f>
              <c:strCache>
                <c:ptCount val="6"/>
                <c:pt idx="0">
                  <c:v>United States</c:v>
                </c:pt>
                <c:pt idx="1">
                  <c:v>EMEA</c:v>
                </c:pt>
                <c:pt idx="2">
                  <c:v>Canada</c:v>
                </c:pt>
                <c:pt idx="3">
                  <c:v>Japan</c:v>
                </c:pt>
                <c:pt idx="4">
                  <c:v>Australia and New Zealand</c:v>
                </c:pt>
                <c:pt idx="5">
                  <c:v>Other Countries</c:v>
                </c:pt>
              </c:strCache>
            </c:strRef>
          </c:cat>
          <c:val>
            <c:numRef>
              <c:f>'Geographic Rev'!$F$4:$K$4</c:f>
              <c:numCache>
                <c:formatCode>#,##0</c:formatCode>
                <c:ptCount val="6"/>
                <c:pt idx="0" formatCode="&quot;$&quot;#,##0_);[Red]\(&quot;$&quot;#,##0\)">
                  <c:v>3842517</c:v>
                </c:pt>
                <c:pt idx="1">
                  <c:v>590993</c:v>
                </c:pt>
                <c:pt idx="2">
                  <c:v>231693</c:v>
                </c:pt>
                <c:pt idx="3">
                  <c:v>128432</c:v>
                </c:pt>
                <c:pt idx="4">
                  <c:v>119949</c:v>
                </c:pt>
                <c:pt idx="5">
                  <c:v>273218</c:v>
                </c:pt>
              </c:numCache>
            </c:numRef>
          </c:val>
          <c:extLst>
            <c:ext xmlns:c16="http://schemas.microsoft.com/office/drawing/2014/chart" uri="{C3380CC4-5D6E-409C-BE32-E72D297353CC}">
              <c16:uniqueId val="{0000000C-AFE9-47B9-A28D-A7E33C51CA01}"/>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59429986246646749"/>
          <c:y val="4.2018556770850972E-2"/>
          <c:w val="0.37451438853345947"/>
          <c:h val="0.944633323174517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31750" cap="flat" cmpd="sng" algn="ctr">
      <a:noFill/>
      <a:round/>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'age of rides'!$B$1</c:f>
              <c:strCache>
                <c:ptCount val="1"/>
                <c:pt idx="0">
                  <c:v>Percent of Riders</c:v>
                </c:pt>
              </c:strCache>
            </c:strRef>
          </c:tx>
          <c:spPr>
            <a:solidFill>
              <a:schemeClr val="accent2">
                <a:lumMod val="75000"/>
              </a:schemeClr>
            </a:solidFill>
            <a:ln>
              <a:solidFill>
                <a:schemeClr val="accent2">
                  <a:lumMod val="75000"/>
                </a:schemeClr>
              </a:solidFill>
            </a:ln>
            <a:effectLst/>
          </c:spPr>
          <c:invertIfNegative val="0"/>
          <c:dPt>
            <c:idx val="0"/>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1-1276-4862-B8AE-0FEE0D2FEAD4}"/>
              </c:ext>
            </c:extLst>
          </c:dPt>
          <c:dPt>
            <c:idx val="1"/>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3-1276-4862-B8AE-0FEE0D2FEAD4}"/>
              </c:ext>
            </c:extLst>
          </c:dPt>
          <c:dPt>
            <c:idx val="2"/>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5-1276-4862-B8AE-0FEE0D2FEAD4}"/>
              </c:ext>
            </c:extLst>
          </c:dPt>
          <c:dPt>
            <c:idx val="3"/>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7-1276-4862-B8AE-0FEE0D2FEAD4}"/>
              </c:ext>
            </c:extLst>
          </c:dPt>
          <c:dPt>
            <c:idx val="4"/>
            <c:invertIfNegative val="0"/>
            <c:bubble3D val="0"/>
            <c:spPr>
              <a:solidFill>
                <a:schemeClr val="accent2">
                  <a:lumMod val="75000"/>
                </a:schemeClr>
              </a:solidFill>
              <a:ln>
                <a:solidFill>
                  <a:schemeClr val="accent2">
                    <a:lumMod val="75000"/>
                  </a:schemeClr>
                </a:solidFill>
              </a:ln>
              <a:effectLst/>
            </c:spPr>
            <c:extLst>
              <c:ext xmlns:c16="http://schemas.microsoft.com/office/drawing/2014/chart" uri="{C3380CC4-5D6E-409C-BE32-E72D297353CC}">
                <c16:uniqueId val="{00000009-1276-4862-B8AE-0FEE0D2FEAD4}"/>
              </c:ext>
            </c:extLst>
          </c:dPt>
          <c:cat>
            <c:strRef>
              <c:f>'age of rides'!$A$2:$A$6</c:f>
              <c:strCache>
                <c:ptCount val="5"/>
                <c:pt idx="0">
                  <c:v>18-29 years</c:v>
                </c:pt>
                <c:pt idx="1">
                  <c:v>30-39 years</c:v>
                </c:pt>
                <c:pt idx="2">
                  <c:v>40-49 years</c:v>
                </c:pt>
                <c:pt idx="3">
                  <c:v>50-59 years</c:v>
                </c:pt>
                <c:pt idx="4">
                  <c:v>60+ years</c:v>
                </c:pt>
              </c:strCache>
            </c:strRef>
          </c:cat>
          <c:val>
            <c:numRef>
              <c:f>'age of rides'!$B$2:$B$6</c:f>
              <c:numCache>
                <c:formatCode>0%</c:formatCode>
                <c:ptCount val="5"/>
                <c:pt idx="0">
                  <c:v>0.13</c:v>
                </c:pt>
                <c:pt idx="1">
                  <c:v>0.18</c:v>
                </c:pt>
                <c:pt idx="2">
                  <c:v>0.22</c:v>
                </c:pt>
                <c:pt idx="3">
                  <c:v>0.25</c:v>
                </c:pt>
                <c:pt idx="4">
                  <c:v>0.23</c:v>
                </c:pt>
              </c:numCache>
            </c:numRef>
          </c:val>
          <c:extLst>
            <c:ext xmlns:c16="http://schemas.microsoft.com/office/drawing/2014/chart" uri="{C3380CC4-5D6E-409C-BE32-E72D297353CC}">
              <c16:uniqueId val="{0000000A-1276-4862-B8AE-0FEE0D2FEAD4}"/>
            </c:ext>
          </c:extLst>
        </c:ser>
        <c:dLbls>
          <c:showLegendKey val="0"/>
          <c:showVal val="0"/>
          <c:showCatName val="0"/>
          <c:showSerName val="0"/>
          <c:showPercent val="0"/>
          <c:showBubbleSize val="0"/>
        </c:dLbls>
        <c:gapWidth val="150"/>
        <c:axId val="752470992"/>
        <c:axId val="752475792"/>
      </c:barChart>
      <c:catAx>
        <c:axId val="752470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752475792"/>
        <c:crosses val="autoZero"/>
        <c:auto val="1"/>
        <c:lblAlgn val="ctr"/>
        <c:lblOffset val="100"/>
        <c:noMultiLvlLbl val="0"/>
      </c:catAx>
      <c:valAx>
        <c:axId val="7524757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752470992"/>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lumMod val="95000"/>
              <a:lumOff val="5000"/>
            </a:schemeClr>
          </a:solidFill>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599992249806512E-2"/>
          <c:y val="0.15615350604440834"/>
          <c:w val="0.46728659823310675"/>
          <c:h val="0.71310053486214886"/>
        </c:manualLayout>
      </c:layout>
      <c:pieChart>
        <c:varyColors val="1"/>
        <c:ser>
          <c:idx val="0"/>
          <c:order val="0"/>
          <c:spPr>
            <a:solidFill>
              <a:schemeClr val="tx1"/>
            </a:solidFill>
          </c:spPr>
          <c:explosion val="9"/>
          <c:dPt>
            <c:idx val="0"/>
            <c:bubble3D val="0"/>
            <c:explosion val="0"/>
            <c:spPr>
              <a:solidFill>
                <a:schemeClr val="tx1">
                  <a:lumMod val="85000"/>
                  <a:lumOff val="15000"/>
                </a:schemeClr>
              </a:solidFill>
              <a:ln w="19050">
                <a:solidFill>
                  <a:schemeClr val="lt1"/>
                </a:solidFill>
              </a:ln>
              <a:effectLst/>
            </c:spPr>
            <c:extLst>
              <c:ext xmlns:c16="http://schemas.microsoft.com/office/drawing/2014/chart" uri="{C3380CC4-5D6E-409C-BE32-E72D297353CC}">
                <c16:uniqueId val="{00000001-C3CB-4436-9051-E9544774A1C7}"/>
              </c:ext>
            </c:extLst>
          </c:dPt>
          <c:dPt>
            <c:idx val="1"/>
            <c:bubble3D val="0"/>
            <c:explosion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3-C3CB-4436-9051-E9544774A1C7}"/>
              </c:ext>
            </c:extLst>
          </c:dPt>
          <c:dLbls>
            <c:dLbl>
              <c:idx val="0"/>
              <c:layout>
                <c:manualLayout>
                  <c:x val="-8.0740679540649646E-2"/>
                  <c:y val="-0.34767579143189392"/>
                </c:manualLayout>
              </c:layout>
              <c:dLblPos val="bestFit"/>
              <c:showLegendKey val="0"/>
              <c:showVal val="0"/>
              <c:showCatName val="0"/>
              <c:showSerName val="0"/>
              <c:showPercent val="1"/>
              <c:showBubbleSize val="0"/>
              <c:extLst>
                <c:ext xmlns:c15="http://schemas.microsoft.com/office/drawing/2012/chart" uri="{CE6537A1-D6FC-4f65-9D91-7224C49458BB}">
                  <c15:layout>
                    <c:manualLayout>
                      <c:w val="0.16677627895183333"/>
                      <c:h val="0.11636378839503314"/>
                    </c:manualLayout>
                  </c15:layout>
                </c:ext>
                <c:ext xmlns:c16="http://schemas.microsoft.com/office/drawing/2014/chart" uri="{C3380CC4-5D6E-409C-BE32-E72D297353CC}">
                  <c16:uniqueId val="{00000001-C3CB-4436-9051-E9544774A1C7}"/>
                </c:ext>
              </c:extLst>
            </c:dLbl>
            <c:dLbl>
              <c:idx val="1"/>
              <c:layout>
                <c:manualLayout>
                  <c:x val="8.3496729053990828E-3"/>
                  <c:y val="0.35054467770537945"/>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3CB-4436-9051-E9544774A1C7}"/>
                </c:ext>
              </c:extLst>
            </c:dLbl>
            <c:spPr>
              <a:noFill/>
              <a:ln>
                <a:noFill/>
              </a:ln>
              <a:effectLst/>
            </c:spPr>
            <c:txPr>
              <a:bodyPr rot="0" spcFirstLastPara="1" vertOverflow="ellipsis" vert="horz" wrap="square" anchor="ctr" anchorCtr="0"/>
              <a:lstStyle/>
              <a:p>
                <a:pPr algn="ctr">
                  <a:defRPr lang="en-US" sz="1100" b="0" i="0" u="none" strike="noStrike" kern="1200" baseline="0">
                    <a:solidFill>
                      <a:schemeClr val="tx1"/>
                    </a:solidFill>
                    <a:latin typeface="Calibri" panose="020F0502020204030204" pitchFamily="34" charset="0"/>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solidFill>
                  <a:round/>
                </a:ln>
                <a:effectLst/>
              </c:spPr>
            </c:leaderLines>
            <c:extLst>
              <c:ext xmlns:c15="http://schemas.microsoft.com/office/drawing/2012/chart" uri="{CE6537A1-D6FC-4f65-9D91-7224C49458BB}"/>
            </c:extLst>
          </c:dLbls>
          <c:cat>
            <c:strRef>
              <c:f>Sheet1!$K$60:$K$61</c:f>
              <c:strCache>
                <c:ptCount val="2"/>
                <c:pt idx="0">
                  <c:v>Non-Diverse</c:v>
                </c:pt>
                <c:pt idx="1">
                  <c:v>Diverse (Female or Minority)</c:v>
                </c:pt>
              </c:strCache>
            </c:strRef>
          </c:cat>
          <c:val>
            <c:numRef>
              <c:f>Sheet1!$L$60:$L$61</c:f>
              <c:numCache>
                <c:formatCode>General</c:formatCode>
                <c:ptCount val="2"/>
                <c:pt idx="0">
                  <c:v>0.5</c:v>
                </c:pt>
                <c:pt idx="1">
                  <c:v>0.5</c:v>
                </c:pt>
              </c:numCache>
            </c:numRef>
          </c:val>
          <c:extLst>
            <c:ext xmlns:c16="http://schemas.microsoft.com/office/drawing/2014/chart" uri="{C3380CC4-5D6E-409C-BE32-E72D297353CC}">
              <c16:uniqueId val="{00000004-C3CB-4436-9051-E9544774A1C7}"/>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3245560614512142"/>
          <c:y val="0.21036862386945562"/>
          <c:w val="0.33988219609931342"/>
          <c:h val="0.65401334795104726"/>
        </c:manualLayout>
      </c:layout>
      <c:overlay val="0"/>
      <c:spPr>
        <a:noFill/>
        <a:ln>
          <a:noFill/>
        </a:ln>
        <a:effectLst/>
      </c:spPr>
      <c:txPr>
        <a:bodyPr rot="0" spcFirstLastPara="1" vertOverflow="ellipsis" vert="horz" wrap="square" anchor="ctr" anchorCtr="1"/>
        <a:lstStyle/>
        <a:p>
          <a:pPr>
            <a:defRPr lang="en-US" sz="1100" b="0" i="0" u="none" strike="noStrike" kern="1200" baseline="0">
              <a:solidFill>
                <a:schemeClr val="tx1"/>
              </a:solidFill>
              <a:latin typeface="Calibri" panose="020F050202020403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solidFill>
      <a:round/>
    </a:ln>
    <a:effectLst/>
  </c:spPr>
  <c:txPr>
    <a:bodyPr/>
    <a:lstStyle/>
    <a:p>
      <a:pPr algn="ctr">
        <a:defRPr lang="en-US" sz="1050" b="0" i="0" u="none" strike="noStrike" kern="1200" baseline="0">
          <a:solidFill>
            <a:schemeClr val="tx1"/>
          </a:solidFill>
          <a:latin typeface="Calibri" panose="020F0502020204030204" pitchFamily="34" charset="0"/>
          <a:ea typeface="+mn-ea"/>
          <a:cs typeface="+mn-cs"/>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11779463527784E-2"/>
          <c:y val="7.8919774027698675E-2"/>
          <c:w val="0.40950816470064172"/>
          <c:h val="0.80485005993183789"/>
        </c:manualLayout>
      </c:layout>
      <c:pieChart>
        <c:varyColors val="1"/>
        <c:ser>
          <c:idx val="0"/>
          <c:order val="0"/>
          <c:spPr>
            <a:solidFill>
              <a:schemeClr val="tx1"/>
            </a:solidFill>
          </c:spPr>
          <c:dPt>
            <c:idx val="0"/>
            <c:bubble3D val="0"/>
            <c:spPr>
              <a:solidFill>
                <a:schemeClr val="accent2">
                  <a:lumMod val="75000"/>
                </a:schemeClr>
              </a:solidFill>
              <a:ln w="19050">
                <a:solidFill>
                  <a:schemeClr val="lt1"/>
                </a:solidFill>
              </a:ln>
              <a:effectLst/>
            </c:spPr>
            <c:extLst>
              <c:ext xmlns:c16="http://schemas.microsoft.com/office/drawing/2014/chart" uri="{C3380CC4-5D6E-409C-BE32-E72D297353CC}">
                <c16:uniqueId val="{00000001-70AB-4138-8ED5-217BA658B182}"/>
              </c:ext>
            </c:extLst>
          </c:dPt>
          <c:dPt>
            <c:idx val="1"/>
            <c:bubble3D val="0"/>
            <c:spPr>
              <a:solidFill>
                <a:schemeClr val="bg2">
                  <a:lumMod val="10000"/>
                </a:schemeClr>
              </a:solidFill>
              <a:ln w="19050">
                <a:solidFill>
                  <a:schemeClr val="lt1"/>
                </a:solidFill>
              </a:ln>
              <a:effectLst/>
            </c:spPr>
            <c:extLst>
              <c:ext xmlns:c16="http://schemas.microsoft.com/office/drawing/2014/chart" uri="{C3380CC4-5D6E-409C-BE32-E72D297353CC}">
                <c16:uniqueId val="{00000003-70AB-4138-8ED5-217BA658B182}"/>
              </c:ext>
            </c:extLst>
          </c:dPt>
          <c:dLbls>
            <c:dLbl>
              <c:idx val="0"/>
              <c:layout>
                <c:manualLayout>
                  <c:x val="0.11197419166266763"/>
                  <c:y val="-0.12997820911516303"/>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0AB-4138-8ED5-217BA658B182}"/>
                </c:ext>
              </c:extLst>
            </c:dLbl>
            <c:dLbl>
              <c:idx val="1"/>
              <c:layout>
                <c:manualLayout>
                  <c:x val="-9.367413449112999E-2"/>
                  <c:y val="1.8431908972493641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0AB-4138-8ED5-217BA658B182}"/>
                </c:ext>
              </c:extLst>
            </c:dLbl>
            <c:spPr>
              <a:noFill/>
              <a:ln>
                <a:noFill/>
              </a:ln>
              <a:effectLst/>
            </c:spPr>
            <c:txPr>
              <a:bodyPr rot="0" spcFirstLastPara="1" vertOverflow="ellipsis" vert="horz" wrap="square" anchor="ctr" anchorCtr="1"/>
              <a:lstStyle/>
              <a:p>
                <a:pPr>
                  <a:defRPr lang="en-US" sz="1100" b="0" i="0" u="none" strike="noStrike" kern="1200" baseline="0">
                    <a:solidFill>
                      <a:schemeClr val="tx1"/>
                    </a:solidFill>
                    <a:latin typeface="Calibri" panose="020F0502020204030204" pitchFamily="34" charset="0"/>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solidFill>
                  <a:round/>
                </a:ln>
                <a:effectLst/>
              </c:spPr>
            </c:leaderLines>
            <c:extLst>
              <c:ext xmlns:c15="http://schemas.microsoft.com/office/drawing/2012/chart" uri="{CE6537A1-D6FC-4f65-9D91-7224C49458BB}"/>
            </c:extLst>
          </c:dLbls>
          <c:cat>
            <c:strRef>
              <c:f>Sheet1!$L$5:$L$6</c:f>
              <c:strCache>
                <c:ptCount val="2"/>
                <c:pt idx="0">
                  <c:v>Independent Directors</c:v>
                </c:pt>
                <c:pt idx="1">
                  <c:v>Non-Independent Directors</c:v>
                </c:pt>
              </c:strCache>
            </c:strRef>
          </c:cat>
          <c:val>
            <c:numRef>
              <c:f>Sheet1!$M$5:$M$6</c:f>
              <c:numCache>
                <c:formatCode>General</c:formatCode>
                <c:ptCount val="2"/>
                <c:pt idx="0">
                  <c:v>0.9</c:v>
                </c:pt>
                <c:pt idx="1">
                  <c:v>0.1</c:v>
                </c:pt>
              </c:numCache>
            </c:numRef>
          </c:val>
          <c:extLst>
            <c:ext xmlns:c16="http://schemas.microsoft.com/office/drawing/2014/chart" uri="{C3380CC4-5D6E-409C-BE32-E72D297353CC}">
              <c16:uniqueId val="{00000004-70AB-4138-8ED5-217BA658B182}"/>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57852701128724404"/>
          <c:y val="7.6096231802440475E-2"/>
          <c:w val="0.38340595992168858"/>
          <c:h val="0.76753996638205313"/>
        </c:manualLayout>
      </c:layout>
      <c:overlay val="0"/>
      <c:spPr>
        <a:noFill/>
        <a:ln>
          <a:noFill/>
        </a:ln>
        <a:effectLst/>
      </c:spPr>
      <c:txPr>
        <a:bodyPr rot="0" spcFirstLastPara="1" vertOverflow="ellipsis" vert="horz" wrap="square" anchor="ctr" anchorCtr="1"/>
        <a:lstStyle/>
        <a:p>
          <a:pPr>
            <a:defRPr lang="en-US" sz="1100" b="0" i="0" u="none" strike="noStrike" kern="1200" baseline="0">
              <a:solidFill>
                <a:schemeClr val="tx1"/>
              </a:solidFill>
              <a:latin typeface="Calibri" panose="020F050202020403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solidFill>
      <a:round/>
    </a:ln>
    <a:effectLst/>
  </c:spPr>
  <c:txPr>
    <a:bodyPr/>
    <a:lstStyle/>
    <a:p>
      <a:pPr>
        <a:defRPr lang="en-US" sz="1050" b="0" i="0" u="none" strike="noStrike" kern="1200" baseline="0">
          <a:solidFill>
            <a:schemeClr val="tx1"/>
          </a:solidFill>
          <a:latin typeface="Calibri" panose="020F0502020204030204" pitchFamily="34" charset="0"/>
          <a:ea typeface="+mn-ea"/>
          <a:cs typeface="+mn-cs"/>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353496461804608"/>
          <c:y val="6.9104136313765399E-2"/>
          <c:w val="0.80411939868980609"/>
          <c:h val="0.72002067686559179"/>
        </c:manualLayout>
      </c:layout>
      <c:barChart>
        <c:barDir val="col"/>
        <c:grouping val="clustered"/>
        <c:varyColors val="0"/>
        <c:ser>
          <c:idx val="0"/>
          <c:order val="0"/>
          <c:tx>
            <c:strRef>
              <c:f>Sheet1!$E$3</c:f>
              <c:strCache>
                <c:ptCount val="1"/>
                <c:pt idx="0">
                  <c:v>Percentage</c:v>
                </c:pt>
              </c:strCache>
            </c:strRef>
          </c:tx>
          <c:spPr>
            <a:solidFill>
              <a:srgbClr val="BE5014"/>
            </a:solidFill>
            <a:ln>
              <a:noFill/>
            </a:ln>
            <a:effectLst/>
          </c:spPr>
          <c:invertIfNegative val="0"/>
          <c:dPt>
            <c:idx val="0"/>
            <c:invertIfNegative val="0"/>
            <c:bubble3D val="0"/>
            <c:spPr>
              <a:solidFill>
                <a:srgbClr val="BE5014"/>
              </a:solidFill>
              <a:ln>
                <a:noFill/>
              </a:ln>
              <a:effectLst/>
            </c:spPr>
            <c:extLst>
              <c:ext xmlns:c16="http://schemas.microsoft.com/office/drawing/2014/chart" uri="{C3380CC4-5D6E-409C-BE32-E72D297353CC}">
                <c16:uniqueId val="{00000001-341E-4489-AA2E-4866879AB468}"/>
              </c:ext>
            </c:extLst>
          </c:dPt>
          <c:dPt>
            <c:idx val="1"/>
            <c:invertIfNegative val="0"/>
            <c:bubble3D val="0"/>
            <c:spPr>
              <a:solidFill>
                <a:srgbClr val="BE5014"/>
              </a:solidFill>
              <a:ln>
                <a:noFill/>
              </a:ln>
              <a:effectLst/>
            </c:spPr>
            <c:extLst>
              <c:ext xmlns:c16="http://schemas.microsoft.com/office/drawing/2014/chart" uri="{C3380CC4-5D6E-409C-BE32-E72D297353CC}">
                <c16:uniqueId val="{00000003-341E-4489-AA2E-4866879AB468}"/>
              </c:ext>
            </c:extLst>
          </c:dPt>
          <c:cat>
            <c:strRef>
              <c:f>Sheet1!$D$4:$D$5</c:f>
              <c:strCache>
                <c:ptCount val="2"/>
                <c:pt idx="0">
                  <c:v>Female Board Members</c:v>
                </c:pt>
                <c:pt idx="1">
                  <c:v>Female Mangement</c:v>
                </c:pt>
              </c:strCache>
            </c:strRef>
          </c:cat>
          <c:val>
            <c:numRef>
              <c:f>Sheet1!$E$4:$E$5</c:f>
              <c:numCache>
                <c:formatCode>General</c:formatCode>
                <c:ptCount val="2"/>
                <c:pt idx="0">
                  <c:v>0.25</c:v>
                </c:pt>
                <c:pt idx="1">
                  <c:v>0.1</c:v>
                </c:pt>
              </c:numCache>
            </c:numRef>
          </c:val>
          <c:extLst>
            <c:ext xmlns:c16="http://schemas.microsoft.com/office/drawing/2014/chart" uri="{C3380CC4-5D6E-409C-BE32-E72D297353CC}">
              <c16:uniqueId val="{00000004-7B6E-4415-815B-39A330603D35}"/>
            </c:ext>
          </c:extLst>
        </c:ser>
        <c:dLbls>
          <c:showLegendKey val="0"/>
          <c:showVal val="0"/>
          <c:showCatName val="0"/>
          <c:showSerName val="0"/>
          <c:showPercent val="0"/>
          <c:showBubbleSize val="0"/>
        </c:dLbls>
        <c:gapWidth val="219"/>
        <c:overlap val="-27"/>
        <c:axId val="684810447"/>
        <c:axId val="684829167"/>
      </c:barChart>
      <c:catAx>
        <c:axId val="684810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50" b="0" i="0" u="none" strike="noStrike" kern="1200" baseline="0">
                <a:solidFill>
                  <a:schemeClr val="tx1"/>
                </a:solidFill>
                <a:latin typeface="Calibri" panose="020F0502020204030204" pitchFamily="34" charset="0"/>
                <a:ea typeface="+mn-ea"/>
                <a:cs typeface="+mn-cs"/>
              </a:defRPr>
            </a:pPr>
            <a:endParaRPr lang="en-US"/>
          </a:p>
        </c:txPr>
        <c:crossAx val="684829167"/>
        <c:crosses val="autoZero"/>
        <c:auto val="1"/>
        <c:lblAlgn val="ctr"/>
        <c:lblOffset val="100"/>
        <c:noMultiLvlLbl val="0"/>
      </c:catAx>
      <c:valAx>
        <c:axId val="684829167"/>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Calibri" panose="020F0502020204030204" pitchFamily="34" charset="0"/>
                <a:ea typeface="+mn-ea"/>
                <a:cs typeface="+mn-cs"/>
              </a:defRPr>
            </a:pPr>
            <a:endParaRPr lang="en-US"/>
          </a:p>
        </c:txPr>
        <c:crossAx val="684810447"/>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solidFill>
      <a:round/>
    </a:ln>
    <a:effectLst/>
  </c:spPr>
  <c:txPr>
    <a:bodyPr/>
    <a:lstStyle/>
    <a:p>
      <a:pPr>
        <a:defRPr sz="1100" baseline="0">
          <a:latin typeface="Calibri" panose="020F0502020204030204" pitchFamily="34" charset="0"/>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753839126222662"/>
          <c:y val="0.19642443574606636"/>
          <c:w val="0.81599870813661457"/>
          <c:h val="0.58806327159289096"/>
        </c:manualLayout>
      </c:layout>
      <c:scatterChart>
        <c:scatterStyle val="lineMarker"/>
        <c:varyColors val="0"/>
        <c:ser>
          <c:idx val="0"/>
          <c:order val="0"/>
          <c:tx>
            <c:strRef>
              <c:f>Sheet2!$Y$100</c:f>
              <c:strCache>
                <c:ptCount val="1"/>
                <c:pt idx="0">
                  <c:v>EV/EBITDA</c:v>
                </c:pt>
              </c:strCache>
            </c:strRef>
          </c:tx>
          <c:spPr>
            <a:ln w="38100" cap="rnd">
              <a:noFill/>
              <a:round/>
            </a:ln>
            <a:effectLst/>
          </c:spPr>
          <c:marker>
            <c:symbol val="circle"/>
            <c:size val="5"/>
            <c:spPr>
              <a:solidFill>
                <a:schemeClr val="accent2">
                  <a:lumMod val="75000"/>
                </a:schemeClr>
              </a:solidFill>
              <a:ln w="9525">
                <a:solidFill>
                  <a:schemeClr val="accent2">
                    <a:lumMod val="75000"/>
                    <a:alpha val="99000"/>
                  </a:schemeClr>
                </a:solidFill>
              </a:ln>
              <a:effectLst/>
            </c:spPr>
          </c:marker>
          <c:dLbls>
            <c:dLbl>
              <c:idx val="0"/>
              <c:layout>
                <c:manualLayout>
                  <c:x val="1.1367674451285935E-2"/>
                  <c:y val="4.79554990230888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r>
                      <a:rPr lang="en-US">
                        <a:solidFill>
                          <a:schemeClr val="tx1"/>
                        </a:solidFill>
                      </a:rPr>
                      <a:t>HOG</a:t>
                    </a:r>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F7A-4DE3-86B3-8840E5B5691D}"/>
                </c:ext>
              </c:extLst>
            </c:dLbl>
            <c:dLbl>
              <c:idx val="1"/>
              <c:delete val="1"/>
              <c:extLst>
                <c:ext xmlns:c15="http://schemas.microsoft.com/office/drawing/2012/chart" uri="{CE6537A1-D6FC-4f65-9D91-7224C49458BB}"/>
                <c:ext xmlns:c16="http://schemas.microsoft.com/office/drawing/2014/chart" uri="{C3380CC4-5D6E-409C-BE32-E72D297353CC}">
                  <c16:uniqueId val="{00000001-BF7A-4DE3-86B3-8840E5B5691D}"/>
                </c:ext>
              </c:extLst>
            </c:dLbl>
            <c:dLbl>
              <c:idx val="2"/>
              <c:delete val="1"/>
              <c:extLst>
                <c:ext xmlns:c15="http://schemas.microsoft.com/office/drawing/2012/chart" uri="{CE6537A1-D6FC-4f65-9D91-7224C49458BB}"/>
                <c:ext xmlns:c16="http://schemas.microsoft.com/office/drawing/2014/chart" uri="{C3380CC4-5D6E-409C-BE32-E72D297353CC}">
                  <c16:uniqueId val="{00000002-BF7A-4DE3-86B3-8840E5B5691D}"/>
                </c:ext>
              </c:extLst>
            </c:dLbl>
            <c:dLbl>
              <c:idx val="3"/>
              <c:delete val="1"/>
              <c:extLst>
                <c:ext xmlns:c15="http://schemas.microsoft.com/office/drawing/2012/chart" uri="{CE6537A1-D6FC-4f65-9D91-7224C49458BB}"/>
                <c:ext xmlns:c16="http://schemas.microsoft.com/office/drawing/2014/chart" uri="{C3380CC4-5D6E-409C-BE32-E72D297353CC}">
                  <c16:uniqueId val="{00000003-BF7A-4DE3-86B3-8840E5B5691D}"/>
                </c:ext>
              </c:extLst>
            </c:dLbl>
            <c:dLbl>
              <c:idx val="4"/>
              <c:delete val="1"/>
              <c:extLst>
                <c:ext xmlns:c15="http://schemas.microsoft.com/office/drawing/2012/chart" uri="{CE6537A1-D6FC-4f65-9D91-7224C49458BB}"/>
                <c:ext xmlns:c16="http://schemas.microsoft.com/office/drawing/2014/chart" uri="{C3380CC4-5D6E-409C-BE32-E72D297353CC}">
                  <c16:uniqueId val="{00000004-BF7A-4DE3-86B3-8840E5B5691D}"/>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trendline>
            <c:spPr>
              <a:ln w="19050" cap="rnd">
                <a:solidFill>
                  <a:schemeClr val="bg2">
                    <a:lumMod val="25000"/>
                  </a:schemeClr>
                </a:solidFill>
                <a:prstDash val="solid"/>
              </a:ln>
              <a:effectLst/>
            </c:spPr>
            <c:trendlineType val="linear"/>
            <c:dispRSqr val="1"/>
            <c:dispEq val="0"/>
            <c:trendlineLbl>
              <c:layout>
                <c:manualLayout>
                  <c:x val="4.7458450018910497E-2"/>
                  <c:y val="-0.51278916599138868"/>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trendlineLbl>
          </c:trendline>
          <c:xVal>
            <c:numRef>
              <c:f>Sheet2!$X$101:$X$105</c:f>
              <c:numCache>
                <c:formatCode>General</c:formatCode>
                <c:ptCount val="5"/>
                <c:pt idx="0">
                  <c:v>54</c:v>
                </c:pt>
                <c:pt idx="1">
                  <c:v>68</c:v>
                </c:pt>
                <c:pt idx="2">
                  <c:v>62</c:v>
                </c:pt>
                <c:pt idx="3">
                  <c:v>60</c:v>
                </c:pt>
                <c:pt idx="4">
                  <c:v>75</c:v>
                </c:pt>
              </c:numCache>
            </c:numRef>
          </c:xVal>
          <c:yVal>
            <c:numRef>
              <c:f>Sheet2!$Y$101:$Y$105</c:f>
              <c:numCache>
                <c:formatCode>General</c:formatCode>
                <c:ptCount val="5"/>
                <c:pt idx="0">
                  <c:v>14.9</c:v>
                </c:pt>
                <c:pt idx="1">
                  <c:v>4.8099999999999996</c:v>
                </c:pt>
                <c:pt idx="2">
                  <c:v>7.63</c:v>
                </c:pt>
                <c:pt idx="3">
                  <c:v>4.76</c:v>
                </c:pt>
                <c:pt idx="4">
                  <c:v>6.96</c:v>
                </c:pt>
              </c:numCache>
            </c:numRef>
          </c:yVal>
          <c:smooth val="0"/>
          <c:extLst>
            <c:ext xmlns:c16="http://schemas.microsoft.com/office/drawing/2014/chart" uri="{C3380CC4-5D6E-409C-BE32-E72D297353CC}">
              <c16:uniqueId val="{00000006-BF7A-4DE3-86B3-8840E5B5691D}"/>
            </c:ext>
          </c:extLst>
        </c:ser>
        <c:dLbls>
          <c:showLegendKey val="0"/>
          <c:showVal val="0"/>
          <c:showCatName val="0"/>
          <c:showSerName val="0"/>
          <c:showPercent val="0"/>
          <c:showBubbleSize val="0"/>
        </c:dLbls>
        <c:axId val="2010043023"/>
        <c:axId val="2010043503"/>
      </c:scatterChart>
      <c:valAx>
        <c:axId val="201004302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US" b="1">
                    <a:solidFill>
                      <a:schemeClr val="tx1"/>
                    </a:solidFill>
                  </a:rPr>
                  <a:t>ESG</a:t>
                </a:r>
                <a:r>
                  <a:rPr lang="en-US" b="1" baseline="0">
                    <a:solidFill>
                      <a:schemeClr val="tx1"/>
                    </a:solidFill>
                  </a:rPr>
                  <a:t> Score</a:t>
                </a:r>
                <a:endParaRPr lang="en-US" b="1">
                  <a:solidFill>
                    <a:schemeClr val="tx1"/>
                  </a:solidFill>
                </a:endParaRPr>
              </a:p>
            </c:rich>
          </c:tx>
          <c:layout>
            <c:manualLayout>
              <c:xMode val="edge"/>
              <c:yMode val="edge"/>
              <c:x val="0.30024588962217247"/>
              <c:y val="0.49784089552747796"/>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010043503"/>
        <c:crosses val="autoZero"/>
        <c:crossBetween val="midCat"/>
      </c:valAx>
      <c:valAx>
        <c:axId val="20100435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b="1">
                    <a:solidFill>
                      <a:schemeClr val="tx1"/>
                    </a:solidFill>
                  </a:rPr>
                  <a:t>EV/EBITDA</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01004302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047BE-9F80-4FDE-AE64-04574DADF3CC}" type="datetimeFigureOut">
              <a:rPr lang="en-US" smtClean="0"/>
              <a:t>3/18/2026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B662DC-6529-4241-AE85-6D150B916F15}" type="slidenum">
              <a:rPr lang="en-US" smtClean="0"/>
              <a:t>‹#›</a:t>
            </a:fld>
            <a:endParaRPr lang="en-US"/>
          </a:p>
        </p:txBody>
      </p:sp>
    </p:spTree>
    <p:extLst>
      <p:ext uri="{BB962C8B-B14F-4D97-AF65-F5344CB8AC3E}">
        <p14:creationId xmlns:p14="http://schemas.microsoft.com/office/powerpoint/2010/main" val="283074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B662DC-6529-4241-AE85-6D150B916F15}" type="slidenum">
              <a:rPr lang="en-US" smtClean="0"/>
              <a:t>2</a:t>
            </a:fld>
            <a:endParaRPr lang="en-US"/>
          </a:p>
        </p:txBody>
      </p:sp>
    </p:spTree>
    <p:extLst>
      <p:ext uri="{BB962C8B-B14F-4D97-AF65-F5344CB8AC3E}">
        <p14:creationId xmlns:p14="http://schemas.microsoft.com/office/powerpoint/2010/main" val="1120581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B662DC-6529-4241-AE85-6D150B916F15}" type="slidenum">
              <a:rPr lang="en-US" smtClean="0"/>
              <a:t>5</a:t>
            </a:fld>
            <a:endParaRPr lang="en-US"/>
          </a:p>
        </p:txBody>
      </p:sp>
    </p:spTree>
    <p:extLst>
      <p:ext uri="{BB962C8B-B14F-4D97-AF65-F5344CB8AC3E}">
        <p14:creationId xmlns:p14="http://schemas.microsoft.com/office/powerpoint/2010/main" val="1905725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B662DC-6529-4241-AE85-6D150B916F15}" type="slidenum">
              <a:rPr lang="en-US" smtClean="0"/>
              <a:t>6</a:t>
            </a:fld>
            <a:endParaRPr lang="en-US"/>
          </a:p>
        </p:txBody>
      </p:sp>
    </p:spTree>
    <p:extLst>
      <p:ext uri="{BB962C8B-B14F-4D97-AF65-F5344CB8AC3E}">
        <p14:creationId xmlns:p14="http://schemas.microsoft.com/office/powerpoint/2010/main" val="3884969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B662DC-6529-4241-AE85-6D150B916F15}" type="slidenum">
              <a:rPr lang="en-US" smtClean="0"/>
              <a:t>9</a:t>
            </a:fld>
            <a:endParaRPr lang="en-US"/>
          </a:p>
        </p:txBody>
      </p:sp>
    </p:spTree>
    <p:extLst>
      <p:ext uri="{BB962C8B-B14F-4D97-AF65-F5344CB8AC3E}">
        <p14:creationId xmlns:p14="http://schemas.microsoft.com/office/powerpoint/2010/main" val="3478784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B662DC-6529-4241-AE85-6D150B916F15}" type="slidenum">
              <a:rPr lang="en-US" smtClean="0"/>
              <a:t>10</a:t>
            </a:fld>
            <a:endParaRPr lang="en-US"/>
          </a:p>
        </p:txBody>
      </p:sp>
    </p:spTree>
    <p:extLst>
      <p:ext uri="{BB962C8B-B14F-4D97-AF65-F5344CB8AC3E}">
        <p14:creationId xmlns:p14="http://schemas.microsoft.com/office/powerpoint/2010/main" val="98640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BE48E-325C-B59A-8B74-ADD450DF9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A16E4B-03C4-332C-2C7A-8DC77FA0D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6BF57B-4BDF-FC06-411D-2C3633531B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EC79C3-622E-B674-864A-28978CBB0D19}"/>
              </a:ext>
            </a:extLst>
          </p:cNvPr>
          <p:cNvSpPr>
            <a:spLocks noGrp="1"/>
          </p:cNvSpPr>
          <p:nvPr>
            <p:ph type="sldNum" sz="quarter" idx="5"/>
          </p:nvPr>
        </p:nvSpPr>
        <p:spPr/>
        <p:txBody>
          <a:bodyPr/>
          <a:lstStyle/>
          <a:p>
            <a:fld id="{48B662DC-6529-4241-AE85-6D150B916F15}" type="slidenum">
              <a:rPr lang="en-US" smtClean="0"/>
              <a:t>11</a:t>
            </a:fld>
            <a:endParaRPr lang="en-US"/>
          </a:p>
        </p:txBody>
      </p:sp>
    </p:spTree>
    <p:extLst>
      <p:ext uri="{BB962C8B-B14F-4D97-AF65-F5344CB8AC3E}">
        <p14:creationId xmlns:p14="http://schemas.microsoft.com/office/powerpoint/2010/main" val="3642110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p>
        </p:txBody>
      </p:sp>
      <p:sp>
        <p:nvSpPr>
          <p:cNvPr id="4" name="Date Placeholder 3"/>
          <p:cNvSpPr>
            <a:spLocks noGrp="1"/>
          </p:cNvSpPr>
          <p:nvPr>
            <p:ph type="dt" sz="half" idx="10"/>
          </p:nvPr>
        </p:nvSpPr>
        <p:spPr/>
        <p:txBody>
          <a:bodyPr/>
          <a:lstStyle/>
          <a:p>
            <a:fld id="{7B2AF2B7-7DD3-456C-8C66-5389DD39F783}" type="datetime1">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3262067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F0EC7E-7F33-44EF-B526-F17348E3A64B}" type="datetime1">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661433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tint val="82000"/>
                  </a:schemeClr>
                </a:solidFill>
              </a:defRPr>
            </a:lvl1pPr>
            <a:lvl2pPr marL="388620" indent="0">
              <a:buNone/>
              <a:defRPr sz="1700">
                <a:solidFill>
                  <a:schemeClr val="tx1">
                    <a:tint val="82000"/>
                  </a:schemeClr>
                </a:solidFill>
              </a:defRPr>
            </a:lvl2pPr>
            <a:lvl3pPr marL="777240" indent="0">
              <a:buNone/>
              <a:defRPr sz="1530">
                <a:solidFill>
                  <a:schemeClr val="tx1">
                    <a:tint val="82000"/>
                  </a:schemeClr>
                </a:solidFill>
              </a:defRPr>
            </a:lvl3pPr>
            <a:lvl4pPr marL="1165860" indent="0">
              <a:buNone/>
              <a:defRPr sz="1360">
                <a:solidFill>
                  <a:schemeClr val="tx1">
                    <a:tint val="82000"/>
                  </a:schemeClr>
                </a:solidFill>
              </a:defRPr>
            </a:lvl4pPr>
            <a:lvl5pPr marL="1554480" indent="0">
              <a:buNone/>
              <a:defRPr sz="1360">
                <a:solidFill>
                  <a:schemeClr val="tx1">
                    <a:tint val="82000"/>
                  </a:schemeClr>
                </a:solidFill>
              </a:defRPr>
            </a:lvl5pPr>
            <a:lvl6pPr marL="1943100" indent="0">
              <a:buNone/>
              <a:defRPr sz="1360">
                <a:solidFill>
                  <a:schemeClr val="tx1">
                    <a:tint val="82000"/>
                  </a:schemeClr>
                </a:solidFill>
              </a:defRPr>
            </a:lvl6pPr>
            <a:lvl7pPr marL="2331720" indent="0">
              <a:buNone/>
              <a:defRPr sz="1360">
                <a:solidFill>
                  <a:schemeClr val="tx1">
                    <a:tint val="82000"/>
                  </a:schemeClr>
                </a:solidFill>
              </a:defRPr>
            </a:lvl7pPr>
            <a:lvl8pPr marL="2720340" indent="0">
              <a:buNone/>
              <a:defRPr sz="1360">
                <a:solidFill>
                  <a:schemeClr val="tx1">
                    <a:tint val="82000"/>
                  </a:schemeClr>
                </a:solidFill>
              </a:defRPr>
            </a:lvl8pPr>
            <a:lvl9pPr marL="3108960" indent="0">
              <a:buNone/>
              <a:defRPr sz="13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8A393A-EA8C-40BD-9AC8-ACFFB86DEB57}" type="datetime1">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185011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680EA0-800A-452E-88A5-C5FD3092E873}" type="datetime1">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1370625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B6D8243-A6C6-4958-B923-21A296ABEBFA}" type="datetime1">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1296044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5C2DE5-0F90-48AE-8747-887DBC70BD82}" type="datetime1">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84005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CC3915-9C8F-49A7-9560-F7C0F6720E2D}" type="datetime1">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3478820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2C5BB9D1-428A-41BB-8623-724CB77DF1AB}" type="datetime1">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2015905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81851E03-52CA-4F21-8E55-F652B2FB5F35}" type="datetime1">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1769295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EC91C7-864C-458F-AFFA-9D3F8196475E}" type="datetime1">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1641123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D98288-BE70-4488-A125-147C0BDEC575}" type="datetime1">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704C4-59C5-42E7-8929-36A40117E498}" type="slidenum">
              <a:rPr lang="en-US" smtClean="0"/>
              <a:t>‹#›</a:t>
            </a:fld>
            <a:endParaRPr lang="en-US"/>
          </a:p>
        </p:txBody>
      </p:sp>
    </p:spTree>
    <p:extLst>
      <p:ext uri="{BB962C8B-B14F-4D97-AF65-F5344CB8AC3E}">
        <p14:creationId xmlns:p14="http://schemas.microsoft.com/office/powerpoint/2010/main" val="238641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82000"/>
                  </a:schemeClr>
                </a:solidFill>
              </a:defRPr>
            </a:lvl1pPr>
          </a:lstStyle>
          <a:p>
            <a:fld id="{D21B1DAD-EB5C-46BB-BE4E-C01FD7FE5463}" type="datetime1">
              <a:rPr lang="en-US" smtClean="0"/>
              <a:t>3/18/2026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82000"/>
                  </a:schemeClr>
                </a:solidFill>
              </a:defRPr>
            </a:lvl1pPr>
          </a:lstStyle>
          <a:p>
            <a:fld id="{84B704C4-59C5-42E7-8929-36A40117E498}" type="slidenum">
              <a:rPr lang="en-US" smtClean="0"/>
              <a:t>‹#›</a:t>
            </a:fld>
            <a:endParaRPr lang="en-US"/>
          </a:p>
        </p:txBody>
      </p:sp>
    </p:spTree>
    <p:extLst>
      <p:ext uri="{BB962C8B-B14F-4D97-AF65-F5344CB8AC3E}">
        <p14:creationId xmlns:p14="http://schemas.microsoft.com/office/powerpoint/2010/main" val="24974322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slideLayout" Target="../slideLayouts/slideLayout1.xml"/><Relationship Id="rId7" Type="http://schemas.openxmlformats.org/officeDocument/2006/relationships/chart" Target="../charts/char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chart" Target="../charts/chart1.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chart" Target="../charts/chart5.xml"/></Relationships>
</file>

<file path=ppt/slides/_rels/slide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xml"/><Relationship Id="rId5" Type="http://schemas.openxmlformats.org/officeDocument/2006/relationships/chart" Target="../charts/char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chart" Target="../charts/chart10.xml"/><Relationship Id="rId4" Type="http://schemas.openxmlformats.org/officeDocument/2006/relationships/chart" Target="../charts/chart9.xml"/></Relationships>
</file>

<file path=ppt/slides/_rels/slide6.xml.rels><?xml version="1.0" encoding="UTF-8" standalone="yes"?>
<Relationships xmlns="http://schemas.openxmlformats.org/package/2006/relationships"><Relationship Id="rId8" Type="http://schemas.openxmlformats.org/officeDocument/2006/relationships/chart" Target="../charts/chart12.xml"/><Relationship Id="rId3" Type="http://schemas.openxmlformats.org/officeDocument/2006/relationships/tags" Target="../tags/tag7.xml"/><Relationship Id="rId7" Type="http://schemas.openxmlformats.org/officeDocument/2006/relationships/chart" Target="../charts/chart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chart" Target="../charts/chart15.xml"/><Relationship Id="rId5" Type="http://schemas.openxmlformats.org/officeDocument/2006/relationships/chart" Target="../charts/chart14.xml"/><Relationship Id="rId4" Type="http://schemas.openxmlformats.org/officeDocument/2006/relationships/chart" Target="../charts/chart13.xml"/></Relationships>
</file>

<file path=ppt/slides/_rels/slide8.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hart" Target="../charts/chart19.xml"/><Relationship Id="rId4" Type="http://schemas.openxmlformats.org/officeDocument/2006/relationships/chart" Target="../charts/chart1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chart" Target="../charts/chart21.xml"/><Relationship Id="rId5" Type="http://schemas.openxmlformats.org/officeDocument/2006/relationships/chart" Target="../charts/chart20.xml"/><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8" Type="http://schemas.openxmlformats.org/officeDocument/2006/relationships/chart" Target="../charts/chart24.xml"/><Relationship Id="rId3" Type="http://schemas.openxmlformats.org/officeDocument/2006/relationships/tags" Target="../tags/tag16.xml"/><Relationship Id="rId7" Type="http://schemas.openxmlformats.org/officeDocument/2006/relationships/chart" Target="../charts/chart23.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chart" Target="../charts/chart22.xml"/><Relationship Id="rId5" Type="http://schemas.openxmlformats.org/officeDocument/2006/relationships/notesSlide" Target="../notesSlides/notesSlide6.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chart" Target="../charts/chart25.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8">
            <a:extLst>
              <a:ext uri="{FF2B5EF4-FFF2-40B4-BE49-F238E27FC236}">
                <a16:creationId xmlns:a16="http://schemas.microsoft.com/office/drawing/2014/main" id="{94385C7B-AA78-90CA-562A-B6CAE97340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0487" y="649057"/>
            <a:ext cx="5051425" cy="112077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5">
            <a:extLst>
              <a:ext uri="{FF2B5EF4-FFF2-40B4-BE49-F238E27FC236}">
                <a16:creationId xmlns:a16="http://schemas.microsoft.com/office/drawing/2014/main" id="{5E90642A-1477-F37F-63E6-7F3A6F3FD6CB}"/>
              </a:ext>
            </a:extLst>
          </p:cNvPr>
          <p:cNvSpPr>
            <a:spLocks noChangeArrowheads="1"/>
          </p:cNvSpPr>
          <p:nvPr/>
        </p:nvSpPr>
        <p:spPr bwMode="auto">
          <a:xfrm>
            <a:off x="772159" y="2485112"/>
            <a:ext cx="6228080" cy="958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26979" bIns="18726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000000"/>
                </a:solidFill>
                <a:effectLst/>
                <a:latin typeface="Georgia" panose="02040502050405020303" pitchFamily="18" charset="0"/>
                <a:ea typeface="Calibri" panose="020F0502020204030204" pitchFamily="34" charset="0"/>
                <a:cs typeface="Times New Roman" panose="02020603050405020304" pitchFamily="18" charset="0"/>
              </a:rPr>
              <a:t>CFA Institute Research Challenge</a:t>
            </a:r>
            <a:endParaRPr kumimoji="0" lang="en-US" altLang="en-US" sz="2000" b="0" i="0" u="none" strike="noStrike" cap="none" normalizeH="0" baseline="0">
              <a:ln>
                <a:noFill/>
              </a:ln>
              <a:solidFill>
                <a:schemeClr val="tx1"/>
              </a:solidFill>
              <a:effectLst/>
              <a:latin typeface="Georgia" panose="02040502050405020303"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a:ln>
                  <a:noFill/>
                </a:ln>
                <a:solidFill>
                  <a:srgbClr val="000000"/>
                </a:solidFill>
                <a:effectLst/>
                <a:latin typeface="Georgia" panose="02040502050405020303" pitchFamily="18" charset="0"/>
                <a:ea typeface="Calibri" panose="020F0502020204030204" pitchFamily="34" charset="0"/>
                <a:cs typeface="Times New Roman" panose="02020603050405020304" pitchFamily="18" charset="0"/>
              </a:rPr>
              <a:t>hosted by</a:t>
            </a:r>
          </a:p>
          <a:p>
            <a:pPr lvl="0" algn="ctr" defTabSz="914400"/>
            <a:r>
              <a:rPr kumimoji="0" lang="en-US" altLang="en-US" sz="1600" b="1" i="0" u="none" strike="noStrike" cap="none" normalizeH="0" baseline="0">
                <a:ln>
                  <a:noFill/>
                </a:ln>
                <a:solidFill>
                  <a:srgbClr val="000000"/>
                </a:solidFill>
                <a:effectLst/>
                <a:latin typeface="Georgia" panose="02040502050405020303" pitchFamily="18" charset="0"/>
                <a:ea typeface="Calibri" panose="020F0502020204030204" pitchFamily="34" charset="0"/>
                <a:cs typeface="Times New Roman" panose="02020603050405020304" pitchFamily="18" charset="0"/>
              </a:rPr>
              <a:t>Local Challenge CFA Society Madison</a:t>
            </a:r>
            <a:endParaRPr kumimoji="0" lang="en-US" altLang="en-US" sz="1600" b="0" i="0" u="none" strike="noStrike" cap="none" normalizeH="0" baseline="0">
              <a:ln>
                <a:noFill/>
              </a:ln>
              <a:solidFill>
                <a:schemeClr val="tx1"/>
              </a:solidFill>
              <a:effectLst/>
              <a:latin typeface="Georgia" panose="02040502050405020303" pitchFamily="18" charset="0"/>
              <a:cs typeface="Times New Roman" panose="02020603050405020304" pitchFamily="18" charset="0"/>
            </a:endParaRPr>
          </a:p>
        </p:txBody>
      </p:sp>
      <p:sp>
        <p:nvSpPr>
          <p:cNvPr id="11" name="Rectangle 6">
            <a:extLst>
              <a:ext uri="{FF2B5EF4-FFF2-40B4-BE49-F238E27FC236}">
                <a16:creationId xmlns:a16="http://schemas.microsoft.com/office/drawing/2014/main" id="{3C9A44D2-BA12-E2B6-726A-EA6DC3D0E968}"/>
              </a:ext>
            </a:extLst>
          </p:cNvPr>
          <p:cNvSpPr>
            <a:spLocks noChangeArrowheads="1"/>
          </p:cNvSpPr>
          <p:nvPr/>
        </p:nvSpPr>
        <p:spPr bwMode="auto">
          <a:xfrm>
            <a:off x="909733" y="3623156"/>
            <a:ext cx="5952931"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100">
                <a:latin typeface="Azo Sans"/>
              </a:rPr>
              <a:t>The CFA Institute Research Challenge is a global competition that tests the equity research and valuation, investment report writing, and presentation skills of university students. The following report was prepared by a team of university students as part of this annual educational initiative and should not be considered a professional report. </a:t>
            </a:r>
          </a:p>
          <a:p>
            <a:endParaRPr lang="en-US" sz="1100">
              <a:latin typeface="Azo Sans"/>
            </a:endParaRPr>
          </a:p>
          <a:p>
            <a:endParaRPr lang="en-US" sz="1100">
              <a:latin typeface="Azo Sans"/>
            </a:endParaRPr>
          </a:p>
          <a:p>
            <a:r>
              <a:rPr lang="en-US" sz="1400" b="1">
                <a:latin typeface="Georgia" panose="02040502050405020303" pitchFamily="18" charset="0"/>
              </a:rPr>
              <a:t>Disclosures: </a:t>
            </a:r>
            <a:endParaRPr lang="en-US" sz="1400">
              <a:latin typeface="Georgia" panose="02040502050405020303" pitchFamily="18" charset="0"/>
            </a:endParaRPr>
          </a:p>
          <a:p>
            <a:r>
              <a:rPr lang="en-US" sz="900" b="1">
                <a:latin typeface="Georgia" panose="02040502050405020303" pitchFamily="18" charset="0"/>
              </a:rPr>
              <a:t>Ownership and material conflicts of interest </a:t>
            </a:r>
            <a:endParaRPr lang="en-US" sz="900">
              <a:latin typeface="Georgia" panose="02040502050405020303" pitchFamily="18" charset="0"/>
            </a:endParaRPr>
          </a:p>
          <a:p>
            <a:r>
              <a:rPr lang="en-US" sz="900">
                <a:latin typeface="Azo Sans"/>
              </a:rPr>
              <a:t>The author(s), or a member of their household, of this report does not hold a financial interest in the securities of this company. </a:t>
            </a:r>
          </a:p>
          <a:p>
            <a:r>
              <a:rPr lang="en-US" sz="900">
                <a:latin typeface="Azo Sans"/>
              </a:rPr>
              <a:t>The author(s), or a member of their household, of this report does not know of the existence of any conflicts of interest that might bias the content or publication of this report. </a:t>
            </a:r>
          </a:p>
          <a:p>
            <a:r>
              <a:rPr lang="en-US" sz="900" b="1">
                <a:latin typeface="Georgia" panose="02040502050405020303" pitchFamily="18" charset="0"/>
              </a:rPr>
              <a:t>Receipt of compensation</a:t>
            </a:r>
            <a:endParaRPr lang="en-US" sz="900">
              <a:latin typeface="Georgia" panose="02040502050405020303" pitchFamily="18" charset="0"/>
            </a:endParaRPr>
          </a:p>
          <a:p>
            <a:r>
              <a:rPr lang="en-US" sz="900">
                <a:latin typeface="Azo Sans"/>
              </a:rPr>
              <a:t>Compensation of the author(s) of this report is not based on investment banking revenue. </a:t>
            </a:r>
          </a:p>
          <a:p>
            <a:r>
              <a:rPr lang="en-US" sz="900" b="1">
                <a:latin typeface="Georgia" panose="02040502050405020303" pitchFamily="18" charset="0"/>
              </a:rPr>
              <a:t>Position as an officer or director</a:t>
            </a:r>
            <a:endParaRPr lang="en-US" sz="900">
              <a:latin typeface="Georgia" panose="02040502050405020303" pitchFamily="18" charset="0"/>
            </a:endParaRPr>
          </a:p>
          <a:p>
            <a:r>
              <a:rPr lang="en-US" sz="900">
                <a:latin typeface="Azo Sans"/>
              </a:rPr>
              <a:t>The author(s), or a member of their household, does not serve as an officer, director, or advisory board member of the subject company. </a:t>
            </a:r>
          </a:p>
          <a:p>
            <a:r>
              <a:rPr lang="en-US" sz="900" b="1">
                <a:latin typeface="Georgia" panose="02040502050405020303" pitchFamily="18" charset="0"/>
              </a:rPr>
              <a:t>Marketing making</a:t>
            </a:r>
            <a:r>
              <a:rPr lang="en-US" sz="900">
                <a:latin typeface="Georgia" panose="02040502050405020303" pitchFamily="18" charset="0"/>
              </a:rPr>
              <a:t> </a:t>
            </a:r>
          </a:p>
          <a:p>
            <a:r>
              <a:rPr lang="en-US" sz="900">
                <a:latin typeface="Azo Sans"/>
              </a:rPr>
              <a:t>The author(s) does not act as a market maker in the subject company’s securities. </a:t>
            </a:r>
          </a:p>
          <a:p>
            <a:r>
              <a:rPr lang="en-US" sz="900" b="1">
                <a:latin typeface="Georgia" panose="02040502050405020303" pitchFamily="18" charset="0"/>
              </a:rPr>
              <a:t>Disclaimer</a:t>
            </a:r>
            <a:r>
              <a:rPr lang="en-US" sz="900">
                <a:latin typeface="Georgia" panose="02040502050405020303" pitchFamily="18" charset="0"/>
              </a:rPr>
              <a:t> </a:t>
            </a:r>
          </a:p>
          <a:p>
            <a:r>
              <a:rPr lang="en-US" sz="900">
                <a:latin typeface="Azo Sans"/>
              </a:rPr>
              <a:t>The information set forth herein has been obtained or derived from sources generally available to the public and believed by the author(s) to be reliable, but the author(s) does not make any representation or warranty, express or implied, as to its accuracy or completeness. The information is not intended to be used as the basis of any investment decisions by any person or entity. This information does not constitute investment advice, nor is it an offer or a solicitation of an offer to buy or sell any security. This report should not be considered to be a recommendation by any individual affiliated with CFA Society Milwaukee, CFA Institute, or the CFA Institute Research Challenge with regard to this company’s stock.</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5D574F6-294C-F61E-09CA-7229F41863F6}"/>
              </a:ext>
            </a:extLst>
          </p:cNvPr>
          <p:cNvSpPr txBox="1"/>
          <p:nvPr/>
        </p:nvSpPr>
        <p:spPr>
          <a:xfrm>
            <a:off x="772159" y="3253824"/>
            <a:ext cx="6228080" cy="369332"/>
          </a:xfrm>
          <a:prstGeom prst="rect">
            <a:avLst/>
          </a:prstGeom>
          <a:noFill/>
        </p:spPr>
        <p:txBody>
          <a:bodyPr wrap="square">
            <a:spAutoFit/>
          </a:bodyPr>
          <a:lstStyle/>
          <a:p>
            <a:r>
              <a:rPr lang="en-US" sz="1800" b="1" u="sng" kern="0">
                <a:solidFill>
                  <a:srgbClr val="777777"/>
                </a:solidFill>
                <a:effectLst/>
                <a:latin typeface="Azo Sans"/>
                <a:ea typeface="Calibri" panose="020F0502020204030204" pitchFamily="34" charset="0"/>
                <a:cs typeface="Arial" panose="020B0604020202020204" pitchFamily="34" charset="0"/>
              </a:rPr>
              <a:t>		</a:t>
            </a:r>
            <a:r>
              <a:rPr lang="en-US" b="1" u="sng"/>
              <a:t>											</a:t>
            </a:r>
            <a:endParaRPr lang="en-US"/>
          </a:p>
        </p:txBody>
      </p:sp>
    </p:spTree>
    <p:extLst>
      <p:ext uri="{BB962C8B-B14F-4D97-AF65-F5344CB8AC3E}">
        <p14:creationId xmlns:p14="http://schemas.microsoft.com/office/powerpoint/2010/main" val="4015965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1783330-F519-71C5-CF98-44D8202FE0A2}"/>
              </a:ext>
            </a:extLst>
          </p:cNvPr>
          <p:cNvSpPr txBox="1">
            <a:spLocks noChangeArrowheads="1"/>
          </p:cNvSpPr>
          <p:nvPr/>
        </p:nvSpPr>
        <p:spPr bwMode="auto">
          <a:xfrm>
            <a:off x="0" y="-3695"/>
            <a:ext cx="7772399" cy="847380"/>
          </a:xfrm>
          <a:prstGeom prst="rect">
            <a:avLst/>
          </a:prstGeom>
          <a:solidFill>
            <a:schemeClr val="accent2">
              <a:lumMod val="75000"/>
            </a:schemeClr>
          </a:solidFill>
          <a:ln w="19050">
            <a:solidFill>
              <a:schemeClr val="tx1"/>
            </a:solidFill>
            <a:miter lim="800000"/>
            <a:headEnd/>
            <a:tailEnd/>
          </a:ln>
        </p:spPr>
        <p:txBody>
          <a:bodyPr rot="0" vert="horz" wrap="square" lIns="91440" tIns="45720" rIns="91440" bIns="45720" anchor="t" anchorCtr="0">
            <a:noAutofit/>
          </a:bodyPr>
          <a:lstStyle/>
          <a:p>
            <a:pPr marL="0" marR="0">
              <a:lnSpc>
                <a:spcPct val="115000"/>
              </a:lnSpc>
              <a:spcAft>
                <a:spcPts val="800"/>
              </a:spcAft>
            </a:pPr>
            <a:r>
              <a:rPr lang="en-US" sz="1200" kern="100">
                <a:effectLst/>
                <a:highlight>
                  <a:srgbClr val="0066FF"/>
                </a:highlight>
                <a:latin typeface="Calibri" panose="020F0502020204030204" pitchFamily="34" charset="0"/>
                <a:ea typeface="DengXian" panose="02010600030101010101" pitchFamily="2" charset="-122"/>
                <a:cs typeface="Calibri" panose="020F0502020204030204" pitchFamily="34" charset="0"/>
              </a:rPr>
              <a:t> </a:t>
            </a:r>
          </a:p>
        </p:txBody>
      </p:sp>
      <p:sp>
        <p:nvSpPr>
          <p:cNvPr id="11" name="Text Box 2">
            <a:extLst>
              <a:ext uri="{FF2B5EF4-FFF2-40B4-BE49-F238E27FC236}">
                <a16:creationId xmlns:a16="http://schemas.microsoft.com/office/drawing/2014/main" id="{1DAB5092-C348-D5E3-B287-6E4D2323BCD3}"/>
              </a:ext>
            </a:extLst>
          </p:cNvPr>
          <p:cNvSpPr txBox="1">
            <a:spLocks noChangeArrowheads="1"/>
          </p:cNvSpPr>
          <p:nvPr/>
        </p:nvSpPr>
        <p:spPr bwMode="auto">
          <a:xfrm>
            <a:off x="2696742" y="941298"/>
            <a:ext cx="4853091" cy="707886"/>
          </a:xfrm>
          <a:prstGeom prst="rect">
            <a:avLst/>
          </a:prstGeom>
          <a:noFill/>
          <a:ln w="9525">
            <a:noFill/>
            <a:miter lim="800000"/>
            <a:headEnd/>
            <a:tailEnd/>
          </a:ln>
        </p:spPr>
        <p:txBody>
          <a:bodyPr rot="0" vert="horz" wrap="square" lIns="91440" tIns="45720" rIns="91440" bIns="45720" anchor="t" anchorCtr="0">
            <a:spAutoFit/>
          </a:bodyPr>
          <a:lstStyle/>
          <a:p>
            <a:pPr algn="just"/>
            <a:r>
              <a:rPr lang="en-US" sz="1000">
                <a:latin typeface="Calibri" panose="020F0502020204030204" pitchFamily="34" charset="0"/>
                <a:ea typeface="Calibri" panose="020F0502020204030204" pitchFamily="34" charset="0"/>
                <a:cs typeface="Calibri" panose="020F0502020204030204" pitchFamily="34" charset="0"/>
              </a:rPr>
              <a:t>Harley-Davidson is an iconic American motorcycle manufacturer historically known for its high-powered engines, distinctive look, and premium riding experience, catering to motorcycle enthusiasts. Beyond motorcycles, Harley-Davidson also has its financial services business to help its riders afford these bikes.  </a:t>
            </a:r>
          </a:p>
        </p:txBody>
      </p:sp>
      <p:sp>
        <p:nvSpPr>
          <p:cNvPr id="12" name="Text Box 11">
            <a:extLst>
              <a:ext uri="{FF2B5EF4-FFF2-40B4-BE49-F238E27FC236}">
                <a16:creationId xmlns:a16="http://schemas.microsoft.com/office/drawing/2014/main" id="{B71CDA93-30A4-5BDC-0570-625987B5FA2F}"/>
              </a:ext>
            </a:extLst>
          </p:cNvPr>
          <p:cNvSpPr txBox="1">
            <a:spLocks noChangeArrowheads="1"/>
          </p:cNvSpPr>
          <p:nvPr/>
        </p:nvSpPr>
        <p:spPr bwMode="auto">
          <a:xfrm>
            <a:off x="74929" y="942270"/>
            <a:ext cx="2458721" cy="12504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a:lnSpc>
                <a:spcPts val="1200"/>
              </a:lnSpc>
              <a:spcAft>
                <a:spcPts val="200"/>
              </a:spcAft>
            </a:pPr>
            <a:r>
              <a:rPr lang="en-US" sz="1600" b="1" kern="100">
                <a:effectLst/>
                <a:latin typeface="Calibri" panose="020F0502020204030204" pitchFamily="34" charset="0"/>
                <a:ea typeface="Cambria" panose="02040503050406030204" pitchFamily="18" charset="0"/>
                <a:cs typeface="Calibri" panose="020F0502020204030204" pitchFamily="34" charset="0"/>
              </a:rPr>
              <a:t>BUY</a:t>
            </a:r>
            <a:endParaRPr lang="en-US" sz="1600" kern="100">
              <a:effectLst/>
              <a:latin typeface="Calibri" panose="020F0502020204030204" pitchFamily="34" charset="0"/>
              <a:ea typeface="Cambria" panose="02040503050406030204" pitchFamily="18" charset="0"/>
              <a:cs typeface="Calibri" panose="020F0502020204030204" pitchFamily="34" charset="0"/>
            </a:endParaRPr>
          </a:p>
          <a:p>
            <a:pPr marL="0" marR="0">
              <a:lnSpc>
                <a:spcPts val="1200"/>
              </a:lnSpc>
              <a:spcAft>
                <a:spcPts val="200"/>
              </a:spcAft>
            </a:pPr>
            <a:r>
              <a:rPr lang="en-US" sz="1100" kern="100">
                <a:effectLst/>
                <a:latin typeface="Calibri" panose="020F0502020204030204" pitchFamily="34" charset="0"/>
                <a:ea typeface="DengXian" panose="02010600030101010101" pitchFamily="2" charset="-122"/>
                <a:cs typeface="Calibri" panose="020F0502020204030204" pitchFamily="34" charset="0"/>
              </a:rPr>
              <a:t>Current Price: $20.30</a:t>
            </a:r>
          </a:p>
          <a:p>
            <a:pPr marL="0" marR="0">
              <a:lnSpc>
                <a:spcPts val="1200"/>
              </a:lnSpc>
              <a:spcAft>
                <a:spcPts val="200"/>
              </a:spcAft>
            </a:pPr>
            <a:r>
              <a:rPr lang="en-US" sz="1100" kern="100">
                <a:effectLst/>
                <a:latin typeface="Calibri" panose="020F0502020204030204" pitchFamily="34" charset="0"/>
                <a:ea typeface="DengXian" panose="02010600030101010101" pitchFamily="2" charset="-122"/>
                <a:cs typeface="Calibri" panose="020F0502020204030204" pitchFamily="34" charset="0"/>
              </a:rPr>
              <a:t>Price Target:   $85.33</a:t>
            </a:r>
          </a:p>
          <a:p>
            <a:pPr marL="0" marR="0">
              <a:lnSpc>
                <a:spcPts val="1200"/>
              </a:lnSpc>
              <a:spcAft>
                <a:spcPts val="800"/>
              </a:spcAft>
            </a:pPr>
            <a:r>
              <a:rPr lang="en-US" sz="1100" i="1" kern="100">
                <a:effectLst/>
                <a:latin typeface="Calibri" panose="020F0502020204030204" pitchFamily="34" charset="0"/>
                <a:ea typeface="DengXian" panose="02010600030101010101" pitchFamily="2" charset="-122"/>
                <a:cs typeface="Calibri" panose="020F0502020204030204" pitchFamily="34" charset="0"/>
              </a:rPr>
              <a:t>Target price </a:t>
            </a:r>
            <a:r>
              <a:rPr lang="en-US" sz="1100" i="1" kern="100">
                <a:latin typeface="Calibri" panose="020F0502020204030204" pitchFamily="34" charset="0"/>
                <a:ea typeface="DengXian" panose="02010600030101010101" pitchFamily="2" charset="-122"/>
                <a:cs typeface="Calibri" panose="020F0502020204030204" pitchFamily="34" charset="0"/>
              </a:rPr>
              <a:t>represents </a:t>
            </a:r>
            <a:r>
              <a:rPr lang="en-US" sz="1100" i="1" kern="100">
                <a:effectLst/>
                <a:latin typeface="Calibri" panose="020F0502020204030204" pitchFamily="34" charset="0"/>
                <a:ea typeface="DengXian" panose="02010600030101010101" pitchFamily="2" charset="-122"/>
                <a:cs typeface="Calibri" panose="020F0502020204030204" pitchFamily="34" charset="0"/>
              </a:rPr>
              <a:t>next 12 months</a:t>
            </a:r>
            <a:endParaRPr lang="en-US" sz="1100" kern="100">
              <a:effectLst/>
              <a:latin typeface="Calibri" panose="020F0502020204030204" pitchFamily="34" charset="0"/>
              <a:ea typeface="DengXian" panose="02010600030101010101" pitchFamily="2" charset="-122"/>
              <a:cs typeface="Calibri" panose="020F0502020204030204" pitchFamily="34" charset="0"/>
            </a:endParaRPr>
          </a:p>
        </p:txBody>
      </p:sp>
      <p:graphicFrame>
        <p:nvGraphicFramePr>
          <p:cNvPr id="17" name="Table 16">
            <a:extLst>
              <a:ext uri="{FF2B5EF4-FFF2-40B4-BE49-F238E27FC236}">
                <a16:creationId xmlns:a16="http://schemas.microsoft.com/office/drawing/2014/main" id="{CA236C8F-A968-986C-A804-860D3D2AB55E}"/>
              </a:ext>
            </a:extLst>
          </p:cNvPr>
          <p:cNvGraphicFramePr>
            <a:graphicFrameLocks noGrp="1"/>
          </p:cNvGraphicFramePr>
          <p:nvPr>
            <p:custDataLst>
              <p:tags r:id="rId1"/>
            </p:custDataLst>
            <p:extLst>
              <p:ext uri="{D42A27DB-BD31-4B8C-83A1-F6EECF244321}">
                <p14:modId xmlns:p14="http://schemas.microsoft.com/office/powerpoint/2010/main" val="3195466218"/>
              </p:ext>
            </p:extLst>
          </p:nvPr>
        </p:nvGraphicFramePr>
        <p:xfrm>
          <a:off x="151324" y="1942519"/>
          <a:ext cx="2474579" cy="1836188"/>
        </p:xfrm>
        <a:graphic>
          <a:graphicData uri="http://schemas.openxmlformats.org/drawingml/2006/table">
            <a:tbl>
              <a:tblPr firstRow="1" bandRow="1">
                <a:tableStyleId>{5C22544A-7EE6-4342-B048-85BDC9FD1C3A}</a:tableStyleId>
              </a:tblPr>
              <a:tblGrid>
                <a:gridCol w="1632762">
                  <a:extLst>
                    <a:ext uri="{9D8B030D-6E8A-4147-A177-3AD203B41FA5}">
                      <a16:colId xmlns:a16="http://schemas.microsoft.com/office/drawing/2014/main" val="588870336"/>
                    </a:ext>
                  </a:extLst>
                </a:gridCol>
                <a:gridCol w="841817">
                  <a:extLst>
                    <a:ext uri="{9D8B030D-6E8A-4147-A177-3AD203B41FA5}">
                      <a16:colId xmlns:a16="http://schemas.microsoft.com/office/drawing/2014/main" val="3356352483"/>
                    </a:ext>
                  </a:extLst>
                </a:gridCol>
              </a:tblGrid>
              <a:tr h="212135">
                <a:tc>
                  <a:txBody>
                    <a:bodyPr/>
                    <a:lstStyle/>
                    <a:p>
                      <a:pPr algn="l"/>
                      <a:r>
                        <a:rPr lang="en-US" sz="1100">
                          <a:solidFill>
                            <a:schemeClr val="bg1"/>
                          </a:solidFill>
                          <a:latin typeface="Calibri"/>
                          <a:ea typeface="Cambria"/>
                          <a:cs typeface="Calibri"/>
                        </a:rPr>
                        <a:t> Price </a:t>
                      </a:r>
                    </a:p>
                  </a:txBody>
                  <a:tcPr marL="0" marR="0" marT="0" marB="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r"/>
                      <a:r>
                        <a:rPr lang="en-US" sz="1100">
                          <a:solidFill>
                            <a:schemeClr val="bg1"/>
                          </a:solidFill>
                          <a:latin typeface="Calibri"/>
                          <a:ea typeface="Cambria"/>
                          <a:cs typeface="Calibri"/>
                        </a:rPr>
                        <a:t>$20.30</a:t>
                      </a:r>
                    </a:p>
                  </a:txBody>
                  <a:tcPr marL="0" marR="0" marT="0" marB="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452159156"/>
                  </a:ext>
                </a:extLst>
              </a:tr>
              <a:tr h="351243">
                <a:tc>
                  <a:txBody>
                    <a:bodyPr/>
                    <a:lstStyle/>
                    <a:p>
                      <a:pPr algn="l"/>
                      <a:r>
                        <a:rPr lang="en-US" sz="1100">
                          <a:solidFill>
                            <a:schemeClr val="tx1"/>
                          </a:solidFill>
                          <a:latin typeface="Calibri"/>
                          <a:ea typeface="Cambria"/>
                          <a:cs typeface="Calibri"/>
                        </a:rPr>
                        <a:t> 52-Week Range</a:t>
                      </a:r>
                    </a:p>
                  </a:txBody>
                  <a:tcPr marL="0" marR="0" marT="0" marB="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100">
                          <a:solidFill>
                            <a:schemeClr val="tx1"/>
                          </a:solidFill>
                          <a:latin typeface="Calibri"/>
                          <a:ea typeface="Cambria"/>
                          <a:cs typeface="Calibri"/>
                        </a:rPr>
                        <a:t>$19.90-$31.25</a:t>
                      </a:r>
                    </a:p>
                  </a:txBody>
                  <a:tcPr marL="0" marR="0" marT="0" marB="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2343906"/>
                  </a:ext>
                </a:extLst>
              </a:tr>
              <a:tr h="212135">
                <a:tc>
                  <a:txBody>
                    <a:bodyPr/>
                    <a:lstStyle/>
                    <a:p>
                      <a:pPr algn="l"/>
                      <a:r>
                        <a:rPr lang="en-US" sz="1100">
                          <a:solidFill>
                            <a:schemeClr val="tx1"/>
                          </a:solidFill>
                          <a:latin typeface="Calibri"/>
                          <a:ea typeface="Cambria"/>
                          <a:cs typeface="Calibri"/>
                        </a:rPr>
                        <a:t> Market Cap</a:t>
                      </a:r>
                    </a:p>
                  </a:txBody>
                  <a:tcPr marL="0" marR="0" marT="0" marB="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r"/>
                      <a:r>
                        <a:rPr lang="en-US" sz="1100">
                          <a:solidFill>
                            <a:schemeClr val="tx1"/>
                          </a:solidFill>
                          <a:latin typeface="Calibri"/>
                          <a:ea typeface="Cambria"/>
                          <a:cs typeface="Calibri"/>
                        </a:rPr>
                        <a:t>$2,455,000</a:t>
                      </a:r>
                    </a:p>
                  </a:txBody>
                  <a:tcPr marL="0" marR="0" marT="0" marB="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037051292"/>
                  </a:ext>
                </a:extLst>
              </a:tr>
              <a:tr h="212135">
                <a:tc>
                  <a:txBody>
                    <a:bodyPr/>
                    <a:lstStyle/>
                    <a:p>
                      <a:pPr algn="l"/>
                      <a:r>
                        <a:rPr lang="en-US" sz="1100">
                          <a:solidFill>
                            <a:schemeClr val="tx1"/>
                          </a:solidFill>
                          <a:latin typeface="Calibri"/>
                          <a:ea typeface="Cambria"/>
                          <a:cs typeface="Calibri"/>
                        </a:rPr>
                        <a:t> Q4 EPS Est.</a:t>
                      </a:r>
                    </a:p>
                  </a:txBody>
                  <a:tcPr marL="0" marR="0" marT="0" marB="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100">
                          <a:solidFill>
                            <a:schemeClr val="tx1"/>
                          </a:solidFill>
                          <a:latin typeface="Calibri"/>
                          <a:ea typeface="Cambria"/>
                          <a:cs typeface="Calibri"/>
                        </a:rPr>
                        <a:t>0.89</a:t>
                      </a:r>
                    </a:p>
                  </a:txBody>
                  <a:tcPr marL="0" marR="0" marT="0" marB="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5803199"/>
                  </a:ext>
                </a:extLst>
              </a:tr>
              <a:tr h="212135">
                <a:tc>
                  <a:txBody>
                    <a:bodyPr/>
                    <a:lstStyle/>
                    <a:p>
                      <a:pPr marL="0" algn="l" defTabSz="777240" rtl="0" eaLnBrk="1" latinLnBrk="0" hangingPunct="1"/>
                      <a:r>
                        <a:rPr lang="en-US" sz="1100" kern="1200">
                          <a:solidFill>
                            <a:schemeClr val="tx1"/>
                          </a:solidFill>
                          <a:latin typeface="Calibri"/>
                          <a:ea typeface="Cambria"/>
                          <a:cs typeface="Calibri"/>
                        </a:rPr>
                        <a:t> Q4 Consensus EPS Est.</a:t>
                      </a:r>
                    </a:p>
                  </a:txBody>
                  <a:tcPr marL="0" marR="0" marT="0" marB="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r" defTabSz="777240" rtl="0" eaLnBrk="1" latinLnBrk="0" hangingPunct="1"/>
                      <a:r>
                        <a:rPr lang="en-US" sz="1100" kern="1200">
                          <a:solidFill>
                            <a:schemeClr val="tx1"/>
                          </a:solidFill>
                          <a:latin typeface="Calibri"/>
                          <a:ea typeface="Cambria"/>
                          <a:cs typeface="Calibri"/>
                        </a:rPr>
                        <a:t>(1.07)</a:t>
                      </a:r>
                    </a:p>
                  </a:txBody>
                  <a:tcPr marL="0" marR="0" marT="0" marB="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071904919"/>
                  </a:ext>
                </a:extLst>
              </a:tr>
              <a:tr h="212135">
                <a:tc>
                  <a:txBody>
                    <a:bodyPr/>
                    <a:lstStyle/>
                    <a:p>
                      <a:pPr algn="l"/>
                      <a:r>
                        <a:rPr lang="en-US" sz="1100">
                          <a:solidFill>
                            <a:schemeClr val="tx1"/>
                          </a:solidFill>
                          <a:latin typeface="Calibri"/>
                          <a:ea typeface="Cambria"/>
                          <a:cs typeface="Calibri"/>
                        </a:rPr>
                        <a:t>  Beta (3y Adj.) </a:t>
                      </a:r>
                    </a:p>
                  </a:txBody>
                  <a:tcPr marL="0" marR="0" marT="0" marB="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100">
                          <a:solidFill>
                            <a:schemeClr val="tx1"/>
                          </a:solidFill>
                          <a:latin typeface="Calibri"/>
                          <a:ea typeface="Cambria"/>
                          <a:cs typeface="Calibri"/>
                        </a:rPr>
                        <a:t>1.10</a:t>
                      </a:r>
                    </a:p>
                  </a:txBody>
                  <a:tcPr marL="0" marR="0" marT="0" marB="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9532138"/>
                  </a:ext>
                </a:extLst>
              </a:tr>
              <a:tr h="212135">
                <a:tc>
                  <a:txBody>
                    <a:bodyPr/>
                    <a:lstStyle/>
                    <a:p>
                      <a:pPr algn="l"/>
                      <a:r>
                        <a:rPr lang="en-US" sz="1100">
                          <a:solidFill>
                            <a:schemeClr val="tx1"/>
                          </a:solidFill>
                          <a:latin typeface="Calibri"/>
                          <a:ea typeface="Cambria"/>
                          <a:cs typeface="Calibri"/>
                        </a:rPr>
                        <a:t>  Price to Book</a:t>
                      </a:r>
                    </a:p>
                  </a:txBody>
                  <a:tcPr marL="0" marR="0" marT="0" marB="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r"/>
                      <a:r>
                        <a:rPr lang="en-US" sz="1100">
                          <a:solidFill>
                            <a:schemeClr val="tx1"/>
                          </a:solidFill>
                          <a:latin typeface="Calibri"/>
                          <a:ea typeface="Cambria"/>
                          <a:cs typeface="Calibri"/>
                        </a:rPr>
                        <a:t>0.8x</a:t>
                      </a:r>
                    </a:p>
                  </a:txBody>
                  <a:tcPr marL="0" marR="0" marT="0" marB="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301260422"/>
                  </a:ext>
                </a:extLst>
              </a:tr>
              <a:tr h="212135">
                <a:tc>
                  <a:txBody>
                    <a:bodyPr/>
                    <a:lstStyle/>
                    <a:p>
                      <a:pPr algn="l"/>
                      <a:r>
                        <a:rPr lang="en-US" sz="1100">
                          <a:solidFill>
                            <a:schemeClr val="tx1"/>
                          </a:solidFill>
                          <a:latin typeface="Calibri"/>
                          <a:ea typeface="Cambria"/>
                          <a:cs typeface="Calibri"/>
                        </a:rPr>
                        <a:t>  Price to Earnings</a:t>
                      </a:r>
                    </a:p>
                  </a:txBody>
                  <a:tcPr marL="0" marR="0" marT="0" marB="0"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100">
                          <a:solidFill>
                            <a:schemeClr val="tx1"/>
                          </a:solidFill>
                          <a:latin typeface="Calibri"/>
                          <a:ea typeface="Cambria"/>
                          <a:cs typeface="Calibri"/>
                        </a:rPr>
                        <a:t>5.04x</a:t>
                      </a:r>
                    </a:p>
                  </a:txBody>
                  <a:tcPr marL="0" marR="0" marT="0" marB="0"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3855709"/>
                  </a:ext>
                </a:extLst>
              </a:tr>
            </a:tbl>
          </a:graphicData>
        </a:graphic>
      </p:graphicFrame>
      <p:grpSp>
        <p:nvGrpSpPr>
          <p:cNvPr id="23" name="Group 22">
            <a:extLst>
              <a:ext uri="{FF2B5EF4-FFF2-40B4-BE49-F238E27FC236}">
                <a16:creationId xmlns:a16="http://schemas.microsoft.com/office/drawing/2014/main" id="{B2456857-CB53-436C-9645-B9084DF3503F}"/>
              </a:ext>
            </a:extLst>
          </p:cNvPr>
          <p:cNvGrpSpPr/>
          <p:nvPr/>
        </p:nvGrpSpPr>
        <p:grpSpPr>
          <a:xfrm>
            <a:off x="2696743" y="1662642"/>
            <a:ext cx="4853090" cy="1937142"/>
            <a:chOff x="2696743" y="1876646"/>
            <a:chExt cx="4853090" cy="1415354"/>
          </a:xfrm>
        </p:grpSpPr>
        <p:sp>
          <p:nvSpPr>
            <p:cNvPr id="19" name="TextBox 18">
              <a:extLst>
                <a:ext uri="{FF2B5EF4-FFF2-40B4-BE49-F238E27FC236}">
                  <a16:creationId xmlns:a16="http://schemas.microsoft.com/office/drawing/2014/main" id="{04BBC53C-96A8-80D2-63A9-7A1E53E9BFAC}"/>
                </a:ext>
              </a:extLst>
            </p:cNvPr>
            <p:cNvSpPr txBox="1">
              <a:spLocks noGrp="1" noRot="1" noMove="1" noResize="1" noEditPoints="1" noAdjustHandles="1" noChangeArrowheads="1" noChangeShapeType="1"/>
            </p:cNvSpPr>
            <p:nvPr/>
          </p:nvSpPr>
          <p:spPr>
            <a:xfrm>
              <a:off x="2756175" y="1876646"/>
              <a:ext cx="4793658"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HOG is undervalued, Strategic Shift Suggests Strong Upside</a:t>
              </a:r>
            </a:p>
          </p:txBody>
        </p:sp>
        <p:sp>
          <p:nvSpPr>
            <p:cNvPr id="2" name="Text Box 2">
              <a:extLst>
                <a:ext uri="{FF2B5EF4-FFF2-40B4-BE49-F238E27FC236}">
                  <a16:creationId xmlns:a16="http://schemas.microsoft.com/office/drawing/2014/main" id="{6C53D5FF-3490-DF81-CF69-3AA9EFAE792D}"/>
                </a:ext>
              </a:extLst>
            </p:cNvPr>
            <p:cNvSpPr txBox="1">
              <a:spLocks noGrp="1" noRot="1" noMove="1" noResize="1" noEditPoints="1" noAdjustHandles="1" noChangeArrowheads="1" noChangeShapeType="1"/>
            </p:cNvSpPr>
            <p:nvPr/>
          </p:nvSpPr>
          <p:spPr bwMode="auto">
            <a:xfrm>
              <a:off x="2696743" y="2100168"/>
              <a:ext cx="4847057" cy="1191832"/>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r>
                <a:rPr lang="en-US" sz="1100" kern="100">
                  <a:effectLst/>
                  <a:latin typeface="Calibri" panose="020F0502020204030204" pitchFamily="34" charset="0"/>
                  <a:ea typeface="Cambria" panose="02040503050406030204" pitchFamily="18" charset="0"/>
                  <a:cs typeface="Calibri" panose="020F0502020204030204" pitchFamily="34" charset="0"/>
                </a:rPr>
                <a:t>We initiate coverage on </a:t>
              </a:r>
              <a:r>
                <a:rPr lang="en-US" sz="1100" kern="100">
                  <a:latin typeface="Calibri" panose="020F0502020204030204" pitchFamily="34" charset="0"/>
                  <a:ea typeface="Cambria" panose="02040503050406030204" pitchFamily="18" charset="0"/>
                  <a:cs typeface="Calibri" panose="020F0502020204030204" pitchFamily="34" charset="0"/>
                </a:rPr>
                <a:t>Harley-Davidson, INC </a:t>
              </a:r>
              <a:r>
                <a:rPr lang="en-US" sz="1100" kern="100">
                  <a:effectLst/>
                  <a:latin typeface="Calibri" panose="020F0502020204030204" pitchFamily="34" charset="0"/>
                  <a:ea typeface="Cambria" panose="02040503050406030204" pitchFamily="18" charset="0"/>
                  <a:cs typeface="Calibri" panose="020F0502020204030204" pitchFamily="34" charset="0"/>
                </a:rPr>
                <a:t>(</a:t>
              </a:r>
              <a:r>
                <a:rPr lang="en-US" sz="1100" kern="100">
                  <a:latin typeface="Calibri" panose="020F0502020204030204" pitchFamily="34" charset="0"/>
                  <a:ea typeface="Cambria" panose="02040503050406030204" pitchFamily="18" charset="0"/>
                  <a:cs typeface="Calibri" panose="020F0502020204030204" pitchFamily="34" charset="0"/>
                </a:rPr>
                <a:t>HOG</a:t>
              </a:r>
              <a:r>
                <a:rPr lang="en-US" sz="1100" kern="100">
                  <a:effectLst/>
                  <a:latin typeface="Calibri" panose="020F0502020204030204" pitchFamily="34" charset="0"/>
                  <a:ea typeface="Cambria" panose="02040503050406030204" pitchFamily="18" charset="0"/>
                  <a:cs typeface="Calibri" panose="020F0502020204030204" pitchFamily="34" charset="0"/>
                </a:rPr>
                <a:t>) with a BUY</a:t>
              </a:r>
              <a:r>
                <a:rPr lang="en-US" sz="1100" kern="100">
                  <a:latin typeface="Calibri" panose="020F0502020204030204" pitchFamily="34" charset="0"/>
                  <a:ea typeface="Cambria" panose="02040503050406030204" pitchFamily="18" charset="0"/>
                  <a:cs typeface="Calibri" panose="020F0502020204030204" pitchFamily="34" charset="0"/>
                </a:rPr>
                <a:t> recommendation based on a 12-month price target of $85.33. This price target represents a 320.3% upside from the current price of $20.30. We came to this conclusion as a result of three main factors. First, the recent Harley-Davidson Financial Services (HDFS) transaction reduces idiosyncratic risk and provides the necessary financial bandwidth for our next factor, Harley’s expansion into entry level bikes. This new product line should increase top line revenue generously, which combined with a planned $500 million in share buybacks, will result in a higher EPS. Lastly, we expect the firm’s P/E multiple to reflect the reality of its improved financial position and come closer to industry standards.</a:t>
              </a:r>
              <a:endParaRPr lang="en-US" sz="1100" kern="100">
                <a:solidFill>
                  <a:schemeClr val="bg1"/>
                </a:solidFill>
                <a:latin typeface="Calibri" panose="020F0502020204030204" pitchFamily="34" charset="0"/>
                <a:ea typeface="Cambria" panose="02040503050406030204" pitchFamily="18" charset="0"/>
                <a:cs typeface="Calibri" panose="020F0502020204030204" pitchFamily="34" charset="0"/>
              </a:endParaRPr>
            </a:p>
          </p:txBody>
        </p:sp>
      </p:grpSp>
      <p:sp>
        <p:nvSpPr>
          <p:cNvPr id="30" name="TextBox 29">
            <a:extLst>
              <a:ext uri="{FF2B5EF4-FFF2-40B4-BE49-F238E27FC236}">
                <a16:creationId xmlns:a16="http://schemas.microsoft.com/office/drawing/2014/main" id="{C5516DDC-3685-09BB-3A32-52CD50D87AA7}"/>
              </a:ext>
            </a:extLst>
          </p:cNvPr>
          <p:cNvSpPr txBox="1"/>
          <p:nvPr/>
        </p:nvSpPr>
        <p:spPr>
          <a:xfrm>
            <a:off x="1814859" y="-21452"/>
            <a:ext cx="3360992" cy="869469"/>
          </a:xfrm>
          <a:prstGeom prst="rect">
            <a:avLst/>
          </a:prstGeom>
          <a:noFill/>
        </p:spPr>
        <p:txBody>
          <a:bodyPr wrap="square" rtlCol="0">
            <a:spAutoFit/>
          </a:bodyPr>
          <a:lstStyle/>
          <a:p>
            <a:r>
              <a:rPr lang="en-US" sz="1400" b="1">
                <a:solidFill>
                  <a:schemeClr val="bg1"/>
                </a:solidFill>
                <a:latin typeface="Calibri" panose="020F0502020204030204" pitchFamily="34" charset="0"/>
                <a:cs typeface="Calibri" panose="020F0502020204030204" pitchFamily="34" charset="0"/>
              </a:rPr>
              <a:t>Harley-Davidson, Inc. (HOG:NYSE)</a:t>
            </a:r>
          </a:p>
          <a:p>
            <a:r>
              <a:rPr lang="en-US" sz="1200" i="1">
                <a:solidFill>
                  <a:schemeClr val="bg1"/>
                </a:solidFill>
                <a:latin typeface="Calibri" panose="020F0502020204030204" pitchFamily="34" charset="0"/>
                <a:cs typeface="Calibri" panose="020F0502020204030204" pitchFamily="34" charset="0"/>
              </a:rPr>
              <a:t>Wisdom Seeds Success</a:t>
            </a:r>
          </a:p>
          <a:p>
            <a:endParaRPr lang="en-US" sz="400" i="1">
              <a:solidFill>
                <a:schemeClr val="bg1"/>
              </a:solidFill>
              <a:latin typeface="Calibri" panose="020F0502020204030204" pitchFamily="34" charset="0"/>
              <a:cs typeface="Calibri" panose="020F0502020204030204" pitchFamily="34" charset="0"/>
            </a:endParaRPr>
          </a:p>
          <a:p>
            <a:r>
              <a:rPr lang="en-US" sz="1050">
                <a:solidFill>
                  <a:schemeClr val="bg1"/>
                </a:solidFill>
                <a:latin typeface="Calibri" panose="020F0502020204030204" pitchFamily="34" charset="0"/>
                <a:cs typeface="Calibri" panose="020F0502020204030204" pitchFamily="34" charset="0"/>
              </a:rPr>
              <a:t>26</a:t>
            </a:r>
            <a:r>
              <a:rPr lang="en-US" sz="1050" baseline="30000">
                <a:solidFill>
                  <a:schemeClr val="bg1"/>
                </a:solidFill>
                <a:latin typeface="Calibri" panose="020F0502020204030204" pitchFamily="34" charset="0"/>
                <a:cs typeface="Calibri" panose="020F0502020204030204" pitchFamily="34" charset="0"/>
              </a:rPr>
              <a:t>th</a:t>
            </a:r>
            <a:r>
              <a:rPr lang="en-US" sz="1050">
                <a:solidFill>
                  <a:schemeClr val="bg1"/>
                </a:solidFill>
                <a:latin typeface="Calibri" panose="020F0502020204030204" pitchFamily="34" charset="0"/>
                <a:cs typeface="Calibri" panose="020F0502020204030204" pitchFamily="34" charset="0"/>
              </a:rPr>
              <a:t> January 2026</a:t>
            </a:r>
          </a:p>
          <a:p>
            <a:endParaRPr lang="en-US" sz="200">
              <a:solidFill>
                <a:schemeClr val="bg1"/>
              </a:solidFill>
              <a:latin typeface="Calibri" panose="020F0502020204030204" pitchFamily="34" charset="0"/>
              <a:cs typeface="Calibri" panose="020F0502020204030204" pitchFamily="34" charset="0"/>
            </a:endParaRPr>
          </a:p>
          <a:p>
            <a:r>
              <a:rPr lang="en-US" sz="800">
                <a:solidFill>
                  <a:schemeClr val="bg1"/>
                </a:solidFill>
                <a:latin typeface="Calibri" panose="020F0502020204030204" pitchFamily="34" charset="0"/>
                <a:cs typeface="Calibri" panose="020F0502020204030204" pitchFamily="34" charset="0"/>
              </a:rPr>
              <a:t>Figures in thousands unless otherwise stated</a:t>
            </a:r>
            <a:endParaRPr lang="en-US" sz="1200">
              <a:solidFill>
                <a:schemeClr val="bg1"/>
              </a:solidFill>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1B84463D-7AF5-ECC0-0A85-27370B797782}"/>
              </a:ext>
            </a:extLst>
          </p:cNvPr>
          <p:cNvSpPr txBox="1"/>
          <p:nvPr/>
        </p:nvSpPr>
        <p:spPr>
          <a:xfrm>
            <a:off x="5699493" y="6004"/>
            <a:ext cx="2103121" cy="415498"/>
          </a:xfrm>
          <a:prstGeom prst="rect">
            <a:avLst/>
          </a:prstGeom>
          <a:noFill/>
        </p:spPr>
        <p:txBody>
          <a:bodyPr wrap="square" rtlCol="0">
            <a:spAutoFit/>
          </a:bodyPr>
          <a:lstStyle/>
          <a:p>
            <a:pPr algn="ctr"/>
            <a:r>
              <a:rPr lang="en-US" sz="1050">
                <a:solidFill>
                  <a:schemeClr val="bg1"/>
                </a:solidFill>
                <a:latin typeface="Calibri" panose="020F0502020204030204" pitchFamily="34" charset="0"/>
                <a:cs typeface="Calibri" panose="020F0502020204030204" pitchFamily="34" charset="0"/>
              </a:rPr>
              <a:t>Sector: Motorcycle Manufacturing</a:t>
            </a:r>
          </a:p>
          <a:p>
            <a:pPr algn="ctr"/>
            <a:r>
              <a:rPr lang="en-US" sz="1050">
                <a:solidFill>
                  <a:schemeClr val="bg1"/>
                </a:solidFill>
                <a:latin typeface="Calibri" panose="020F0502020204030204" pitchFamily="34" charset="0"/>
                <a:cs typeface="Calibri" panose="020F0502020204030204" pitchFamily="34" charset="0"/>
              </a:rPr>
              <a:t>United States | NYSE: HOG</a:t>
            </a:r>
          </a:p>
        </p:txBody>
      </p:sp>
      <p:sp>
        <p:nvSpPr>
          <p:cNvPr id="26" name="TextBox 25">
            <a:extLst>
              <a:ext uri="{FF2B5EF4-FFF2-40B4-BE49-F238E27FC236}">
                <a16:creationId xmlns:a16="http://schemas.microsoft.com/office/drawing/2014/main" id="{08A99993-4498-88D2-8DE8-A7DFB1A2AC33}"/>
              </a:ext>
            </a:extLst>
          </p:cNvPr>
          <p:cNvSpPr txBox="1">
            <a:spLocks/>
          </p:cNvSpPr>
          <p:nvPr/>
        </p:nvSpPr>
        <p:spPr>
          <a:xfrm>
            <a:off x="2748920" y="6010900"/>
            <a:ext cx="4793658" cy="270652"/>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2. Changing Target Market</a:t>
            </a:r>
          </a:p>
        </p:txBody>
      </p:sp>
      <p:grpSp>
        <p:nvGrpSpPr>
          <p:cNvPr id="46" name="Group 45">
            <a:extLst>
              <a:ext uri="{FF2B5EF4-FFF2-40B4-BE49-F238E27FC236}">
                <a16:creationId xmlns:a16="http://schemas.microsoft.com/office/drawing/2014/main" id="{75F2040C-FF2E-D090-7E0B-B30EBB40802F}"/>
              </a:ext>
            </a:extLst>
          </p:cNvPr>
          <p:cNvGrpSpPr/>
          <p:nvPr/>
        </p:nvGrpSpPr>
        <p:grpSpPr>
          <a:xfrm>
            <a:off x="97189" y="6064013"/>
            <a:ext cx="2523227" cy="246221"/>
            <a:chOff x="129563" y="7474353"/>
            <a:chExt cx="2523227" cy="205086"/>
          </a:xfrm>
        </p:grpSpPr>
        <p:sp>
          <p:nvSpPr>
            <p:cNvPr id="41" name="TextBox 40">
              <a:extLst>
                <a:ext uri="{FF2B5EF4-FFF2-40B4-BE49-F238E27FC236}">
                  <a16:creationId xmlns:a16="http://schemas.microsoft.com/office/drawing/2014/main" id="{77BFBC64-1A49-D108-E307-4EA65158FBF0}"/>
                </a:ext>
              </a:extLst>
            </p:cNvPr>
            <p:cNvSpPr txBox="1"/>
            <p:nvPr/>
          </p:nvSpPr>
          <p:spPr>
            <a:xfrm>
              <a:off x="129563" y="7474353"/>
              <a:ext cx="2523227" cy="205086"/>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3: EPS Growth Estimate</a:t>
              </a:r>
            </a:p>
          </p:txBody>
        </p:sp>
        <p:cxnSp>
          <p:nvCxnSpPr>
            <p:cNvPr id="43" name="Straight Connector 42">
              <a:extLst>
                <a:ext uri="{FF2B5EF4-FFF2-40B4-BE49-F238E27FC236}">
                  <a16:creationId xmlns:a16="http://schemas.microsoft.com/office/drawing/2014/main" id="{19F0C32B-E78D-ECB0-C80F-C6FA14E332C6}"/>
                </a:ext>
              </a:extLst>
            </p:cNvPr>
            <p:cNvCxnSpPr/>
            <p:nvPr/>
          </p:nvCxnSpPr>
          <p:spPr>
            <a:xfrm>
              <a:off x="183698" y="7669944"/>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7" name="Group 26">
            <a:extLst>
              <a:ext uri="{FF2B5EF4-FFF2-40B4-BE49-F238E27FC236}">
                <a16:creationId xmlns:a16="http://schemas.microsoft.com/office/drawing/2014/main" id="{6ABC9513-7F1E-7412-F772-BF1062FE111D}"/>
              </a:ext>
            </a:extLst>
          </p:cNvPr>
          <p:cNvGrpSpPr>
            <a:grpSpLocks/>
          </p:cNvGrpSpPr>
          <p:nvPr/>
        </p:nvGrpSpPr>
        <p:grpSpPr>
          <a:xfrm>
            <a:off x="2756175" y="3626547"/>
            <a:ext cx="4863488" cy="2329600"/>
            <a:chOff x="2718610" y="5867153"/>
            <a:chExt cx="4863488" cy="2742723"/>
          </a:xfrm>
        </p:grpSpPr>
        <p:sp>
          <p:nvSpPr>
            <p:cNvPr id="38" name="TextBox 37">
              <a:extLst>
                <a:ext uri="{FF2B5EF4-FFF2-40B4-BE49-F238E27FC236}">
                  <a16:creationId xmlns:a16="http://schemas.microsoft.com/office/drawing/2014/main" id="{746655D6-83F8-551A-36D2-8B018E9DD590}"/>
                </a:ext>
              </a:extLst>
            </p:cNvPr>
            <p:cNvSpPr txBox="1">
              <a:spLocks/>
            </p:cNvSpPr>
            <p:nvPr/>
          </p:nvSpPr>
          <p:spPr>
            <a:xfrm>
              <a:off x="2746708" y="5867153"/>
              <a:ext cx="4797912" cy="270652"/>
            </a:xfrm>
            <a:prstGeom prst="rect">
              <a:avLst/>
            </a:prstGeom>
            <a:solidFill>
              <a:schemeClr val="accent2">
                <a:lumMod val="75000"/>
              </a:schemeClr>
            </a:solidFill>
            <a:ln>
              <a:solidFill>
                <a:schemeClr val="tx1"/>
              </a:solidFill>
            </a:ln>
          </p:spPr>
          <p:txBody>
            <a:bodyPr wrap="square" rtlCol="0" anchor="ctr">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1. Harley Davidson Financial Service Transaction</a:t>
              </a:r>
            </a:p>
          </p:txBody>
        </p:sp>
        <p:sp>
          <p:nvSpPr>
            <p:cNvPr id="44" name="Text Box 2">
              <a:extLst>
                <a:ext uri="{FF2B5EF4-FFF2-40B4-BE49-F238E27FC236}">
                  <a16:creationId xmlns:a16="http://schemas.microsoft.com/office/drawing/2014/main" id="{8816FD14-389A-4860-D97D-18F62C6017CF}"/>
                </a:ext>
              </a:extLst>
            </p:cNvPr>
            <p:cNvSpPr txBox="1">
              <a:spLocks/>
            </p:cNvSpPr>
            <p:nvPr/>
          </p:nvSpPr>
          <p:spPr bwMode="auto">
            <a:xfrm>
              <a:off x="2718610" y="6145625"/>
              <a:ext cx="4863488" cy="2464251"/>
            </a:xfrm>
            <a:prstGeom prst="rect">
              <a:avLst/>
            </a:prstGeom>
            <a:noFill/>
            <a:ln w="9525">
              <a:noFill/>
              <a:miter lim="800000"/>
              <a:headEnd/>
              <a:tailEnd/>
            </a:ln>
          </p:spPr>
          <p:txBody>
            <a:bodyPr rot="0" vert="horz" wrap="square" lIns="91440" tIns="45720" rIns="91440" bIns="45720" anchor="t" anchorCtr="0">
              <a:spAutoFit/>
            </a:bodyPr>
            <a:lstStyle/>
            <a:p>
              <a:pPr algn="just">
                <a:lnSpc>
                  <a:spcPts val="1200"/>
                </a:lnSpc>
              </a:pPr>
              <a:r>
                <a:rPr lang="en-US" sz="1100">
                  <a:latin typeface="Calibri" panose="020F0502020204030204" pitchFamily="34" charset="0"/>
                  <a:ea typeface="Calibri" panose="020F0502020204030204" pitchFamily="34" charset="0"/>
                  <a:cs typeface="Calibri" panose="020F0502020204030204" pitchFamily="34" charset="0"/>
                </a:rPr>
                <a:t>The Key Development for HDFS moving into 2026 is the sale of $6 Billion in retail loans from their back book along with a 9.8% ownership stake in HDFS and an agreement to sell two thirds of their loan originations for the next five years, all to two outside firms (PIMCO and KKR). This shifts their solely interest-based business model into one that is primarily fee based.</a:t>
              </a:r>
            </a:p>
            <a:p>
              <a:pPr marL="171450" indent="-171450" algn="just">
                <a:lnSpc>
                  <a:spcPts val="1200"/>
                </a:lnSpc>
                <a:buFont typeface="Arial" panose="020B0604020202020204" pitchFamily="34" charset="0"/>
                <a:buChar char="•"/>
              </a:pPr>
              <a:r>
                <a:rPr lang="en-US" sz="1100">
                  <a:latin typeface="Calibri" panose="020F0502020204030204" pitchFamily="34" charset="0"/>
                  <a:ea typeface="Calibri" panose="020F0502020204030204" pitchFamily="34" charset="0"/>
                  <a:cs typeface="Calibri" panose="020F0502020204030204" pitchFamily="34" charset="0"/>
                </a:rPr>
                <a:t>The loans will be immediately sold at a premium of 1 to 2.5%, generating immediate profits for the business</a:t>
              </a:r>
            </a:p>
            <a:p>
              <a:pPr marL="171450" indent="-171450" algn="just">
                <a:lnSpc>
                  <a:spcPts val="1200"/>
                </a:lnSpc>
                <a:buFont typeface="Arial" panose="020B0604020202020204" pitchFamily="34" charset="0"/>
                <a:buChar char="•"/>
              </a:pPr>
              <a:r>
                <a:rPr lang="en-US" sz="1100">
                  <a:latin typeface="Calibri" panose="020F0502020204030204" pitchFamily="34" charset="0"/>
                  <a:ea typeface="Calibri" panose="020F0502020204030204" pitchFamily="34" charset="0"/>
                  <a:cs typeface="Calibri" panose="020F0502020204030204" pitchFamily="34" charset="0"/>
                </a:rPr>
                <a:t>The deal unlocks $1.25 billion in cash</a:t>
              </a:r>
            </a:p>
            <a:p>
              <a:pPr marL="628650" lvl="1" indent="-171450" algn="just">
                <a:lnSpc>
                  <a:spcPts val="1200"/>
                </a:lnSpc>
                <a:buFont typeface="Arial" panose="020B0604020202020204" pitchFamily="34" charset="0"/>
                <a:buChar char="•"/>
              </a:pPr>
              <a:r>
                <a:rPr lang="en-US" sz="1100">
                  <a:latin typeface="Calibri" panose="020F0502020204030204" pitchFamily="34" charset="0"/>
                  <a:ea typeface="Calibri" panose="020F0502020204030204" pitchFamily="34" charset="0"/>
                  <a:cs typeface="Calibri" panose="020F0502020204030204" pitchFamily="34" charset="0"/>
                </a:rPr>
                <a:t>$500M will be allocated to share buybacks</a:t>
              </a:r>
            </a:p>
            <a:p>
              <a:pPr marL="628650" lvl="1" indent="-171450" algn="just">
                <a:lnSpc>
                  <a:spcPts val="1200"/>
                </a:lnSpc>
                <a:buFont typeface="Arial" panose="020B0604020202020204" pitchFamily="34" charset="0"/>
                <a:buChar char="•"/>
              </a:pPr>
              <a:r>
                <a:rPr lang="en-US" sz="1100">
                  <a:latin typeface="Calibri" panose="020F0502020204030204" pitchFamily="34" charset="0"/>
                  <a:ea typeface="Calibri" panose="020F0502020204030204" pitchFamily="34" charset="0"/>
                  <a:cs typeface="Calibri" panose="020F0502020204030204" pitchFamily="34" charset="0"/>
                </a:rPr>
                <a:t>$450M will be allocated to payoff motor segment debt</a:t>
              </a:r>
            </a:p>
            <a:p>
              <a:pPr marL="628650" lvl="1" indent="-171450" algn="just">
                <a:lnSpc>
                  <a:spcPts val="1200"/>
                </a:lnSpc>
                <a:buFont typeface="Arial" panose="020B0604020202020204" pitchFamily="34" charset="0"/>
                <a:buChar char="•"/>
              </a:pPr>
              <a:r>
                <a:rPr lang="en-US" sz="1100">
                  <a:latin typeface="Calibri" panose="020F0502020204030204" pitchFamily="34" charset="0"/>
                  <a:ea typeface="Calibri" panose="020F0502020204030204" pitchFamily="34" charset="0"/>
                  <a:cs typeface="Calibri" panose="020F0502020204030204" pitchFamily="34" charset="0"/>
                </a:rPr>
                <a:t>$300M will be allocated to investing into the motor segment</a:t>
              </a:r>
            </a:p>
            <a:p>
              <a:pPr algn="just">
                <a:lnSpc>
                  <a:spcPts val="1200"/>
                </a:lnSpc>
              </a:pPr>
              <a:r>
                <a:rPr lang="en-US" sz="1100">
                  <a:latin typeface="Calibri" panose="020F0502020204030204" pitchFamily="34" charset="0"/>
                  <a:ea typeface="Calibri" panose="020F0502020204030204" pitchFamily="34" charset="0"/>
                  <a:cs typeface="Calibri" panose="020F0502020204030204" pitchFamily="34" charset="0"/>
                </a:rPr>
                <a:t>Harley-Davidson's transaction with PIMCO and KKR meaningfully strengthen the company's financial position and creates additional upside opportunity.</a:t>
              </a:r>
            </a:p>
          </p:txBody>
        </p:sp>
      </p:grpSp>
      <p:sp>
        <p:nvSpPr>
          <p:cNvPr id="39" name="TextBox 38">
            <a:extLst>
              <a:ext uri="{FF2B5EF4-FFF2-40B4-BE49-F238E27FC236}">
                <a16:creationId xmlns:a16="http://schemas.microsoft.com/office/drawing/2014/main" id="{6DF6749B-DE17-8880-E752-5328CB9D5A8B}"/>
              </a:ext>
            </a:extLst>
          </p:cNvPr>
          <p:cNvSpPr txBox="1">
            <a:spLocks/>
          </p:cNvSpPr>
          <p:nvPr/>
        </p:nvSpPr>
        <p:spPr>
          <a:xfrm>
            <a:off x="2721315" y="7991423"/>
            <a:ext cx="4797912" cy="222926"/>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3. Multiples Expansion Represents Valuation Upside</a:t>
            </a:r>
          </a:p>
        </p:txBody>
      </p:sp>
      <p:graphicFrame>
        <p:nvGraphicFramePr>
          <p:cNvPr id="3" name="Table 2">
            <a:extLst>
              <a:ext uri="{FF2B5EF4-FFF2-40B4-BE49-F238E27FC236}">
                <a16:creationId xmlns:a16="http://schemas.microsoft.com/office/drawing/2014/main" id="{62D50742-87A8-FFAD-5194-8650D389F010}"/>
              </a:ext>
            </a:extLst>
          </p:cNvPr>
          <p:cNvGraphicFramePr>
            <a:graphicFrameLocks noGrp="1"/>
          </p:cNvGraphicFramePr>
          <p:nvPr>
            <p:custDataLst>
              <p:tags r:id="rId2"/>
            </p:custDataLst>
            <p:extLst>
              <p:ext uri="{D42A27DB-BD31-4B8C-83A1-F6EECF244321}">
                <p14:modId xmlns:p14="http://schemas.microsoft.com/office/powerpoint/2010/main" val="2607198841"/>
              </p:ext>
            </p:extLst>
          </p:nvPr>
        </p:nvGraphicFramePr>
        <p:xfrm>
          <a:off x="170654" y="8004718"/>
          <a:ext cx="2370616" cy="1479469"/>
        </p:xfrm>
        <a:graphic>
          <a:graphicData uri="http://schemas.openxmlformats.org/drawingml/2006/table">
            <a:tbl>
              <a:tblPr firstRow="1" bandRow="1">
                <a:tableStyleId>{21E4AEA4-8DFA-4A89-87EB-49C32662AFE0}</a:tableStyleId>
              </a:tblPr>
              <a:tblGrid>
                <a:gridCol w="1761016">
                  <a:extLst>
                    <a:ext uri="{9D8B030D-6E8A-4147-A177-3AD203B41FA5}">
                      <a16:colId xmlns:a16="http://schemas.microsoft.com/office/drawing/2014/main" val="588870336"/>
                    </a:ext>
                  </a:extLst>
                </a:gridCol>
                <a:gridCol w="609600">
                  <a:extLst>
                    <a:ext uri="{9D8B030D-6E8A-4147-A177-3AD203B41FA5}">
                      <a16:colId xmlns:a16="http://schemas.microsoft.com/office/drawing/2014/main" val="3356352483"/>
                    </a:ext>
                  </a:extLst>
                </a:gridCol>
              </a:tblGrid>
              <a:tr h="217077">
                <a:tc>
                  <a:txBody>
                    <a:bodyPr/>
                    <a:lstStyle/>
                    <a:p>
                      <a:pPr algn="l"/>
                      <a:r>
                        <a:rPr lang="en-US" sz="100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Figure 4: Valuation Summary</a:t>
                      </a:r>
                    </a:p>
                  </a:txBody>
                  <a:tcPr marL="0" marR="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r"/>
                      <a:endParaRPr lang="en-US" sz="11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945047964"/>
                  </a:ext>
                </a:extLst>
              </a:tr>
              <a:tr h="217077">
                <a:tc>
                  <a:txBody>
                    <a:bodyPr/>
                    <a:lstStyle/>
                    <a:p>
                      <a:pPr algn="l"/>
                      <a:r>
                        <a:rPr lang="en-US" sz="1100" b="0">
                          <a:solidFill>
                            <a:schemeClr val="tx1"/>
                          </a:solidFill>
                          <a:latin typeface="Calibri" panose="020F0502020204030204" pitchFamily="34" charset="0"/>
                          <a:ea typeface="Calibri" panose="020F0502020204030204" pitchFamily="34" charset="0"/>
                          <a:cs typeface="Calibri" panose="020F0502020204030204" pitchFamily="34" charset="0"/>
                        </a:rPr>
                        <a:t> DCF – Terminal Value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$73.29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52159156"/>
                  </a:ext>
                </a:extLst>
              </a:tr>
              <a:tr h="217077">
                <a:tc>
                  <a:txBody>
                    <a:bodyPr/>
                    <a:lstStyle/>
                    <a:p>
                      <a:pPr algn="l"/>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 Terminal TTM Price to Sales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0.52x</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2343906"/>
                  </a:ext>
                </a:extLst>
              </a:tr>
              <a:tr h="217077">
                <a:tc>
                  <a:txBody>
                    <a:bodyPr/>
                    <a:lstStyle/>
                    <a:p>
                      <a:pPr algn="l"/>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 TTM Net Margin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1556440"/>
                  </a:ext>
                </a:extLst>
              </a:tr>
              <a:tr h="217077">
                <a:tc>
                  <a:txBody>
                    <a:bodyPr/>
                    <a:lstStyle/>
                    <a:p>
                      <a:pPr algn="l"/>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 WACC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10.2%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9532138"/>
                  </a:ext>
                </a:extLst>
              </a:tr>
              <a:tr h="177007">
                <a:tc>
                  <a:txBody>
                    <a:bodyPr/>
                    <a:lstStyle/>
                    <a:p>
                      <a:pPr algn="l"/>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 Target Price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$85.33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301260422"/>
                  </a:ext>
                </a:extLst>
              </a:tr>
              <a:tr h="217077">
                <a:tc>
                  <a:txBody>
                    <a:bodyPr/>
                    <a:lstStyle/>
                    <a:p>
                      <a:pPr algn="l"/>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 Implied Return</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320.3%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3855709"/>
                  </a:ext>
                </a:extLst>
              </a:tr>
            </a:tbl>
          </a:graphicData>
        </a:graphic>
      </p:graphicFrame>
      <p:graphicFrame>
        <p:nvGraphicFramePr>
          <p:cNvPr id="10" name="Chart 9">
            <a:extLst>
              <a:ext uri="{FF2B5EF4-FFF2-40B4-BE49-F238E27FC236}">
                <a16:creationId xmlns:a16="http://schemas.microsoft.com/office/drawing/2014/main" id="{BF2033D7-BD7D-9F0C-A857-D63335C832DA}"/>
              </a:ext>
            </a:extLst>
          </p:cNvPr>
          <p:cNvGraphicFramePr>
            <a:graphicFrameLocks/>
          </p:cNvGraphicFramePr>
          <p:nvPr>
            <p:extLst>
              <p:ext uri="{D42A27DB-BD31-4B8C-83A1-F6EECF244321}">
                <p14:modId xmlns:p14="http://schemas.microsoft.com/office/powerpoint/2010/main" val="508388551"/>
              </p:ext>
            </p:extLst>
          </p:nvPr>
        </p:nvGraphicFramePr>
        <p:xfrm>
          <a:off x="-11246" y="6227246"/>
          <a:ext cx="2384185" cy="1930541"/>
        </p:xfrm>
        <a:graphic>
          <a:graphicData uri="http://schemas.openxmlformats.org/drawingml/2006/chart">
            <c:chart xmlns:c="http://schemas.openxmlformats.org/drawingml/2006/chart" xmlns:r="http://schemas.openxmlformats.org/officeDocument/2006/relationships" r:id="rId5"/>
          </a:graphicData>
        </a:graphic>
      </p:graphicFrame>
      <p:pic>
        <p:nvPicPr>
          <p:cNvPr id="25" name="Picture 24">
            <a:extLst>
              <a:ext uri="{FF2B5EF4-FFF2-40B4-BE49-F238E27FC236}">
                <a16:creationId xmlns:a16="http://schemas.microsoft.com/office/drawing/2014/main" id="{27DC9FF7-09AF-9F40-F8A7-73B135B7F5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347" y="-227566"/>
            <a:ext cx="1274076" cy="1274076"/>
          </a:xfrm>
          <a:prstGeom prst="rect">
            <a:avLst/>
          </a:prstGeom>
        </p:spPr>
      </p:pic>
      <p:graphicFrame>
        <p:nvGraphicFramePr>
          <p:cNvPr id="5" name="Chart 4">
            <a:extLst>
              <a:ext uri="{FF2B5EF4-FFF2-40B4-BE49-F238E27FC236}">
                <a16:creationId xmlns:a16="http://schemas.microsoft.com/office/drawing/2014/main" id="{CD298353-B19C-EB34-324C-2D067FF2132C}"/>
              </a:ext>
            </a:extLst>
          </p:cNvPr>
          <p:cNvGraphicFramePr>
            <a:graphicFrameLocks/>
          </p:cNvGraphicFramePr>
          <p:nvPr>
            <p:extLst>
              <p:ext uri="{D42A27DB-BD31-4B8C-83A1-F6EECF244321}">
                <p14:modId xmlns:p14="http://schemas.microsoft.com/office/powerpoint/2010/main" val="4222259586"/>
              </p:ext>
            </p:extLst>
          </p:nvPr>
        </p:nvGraphicFramePr>
        <p:xfrm>
          <a:off x="-11246" y="4154217"/>
          <a:ext cx="2631662" cy="1841881"/>
        </p:xfrm>
        <a:graphic>
          <a:graphicData uri="http://schemas.openxmlformats.org/drawingml/2006/chart">
            <c:chart xmlns:c="http://schemas.openxmlformats.org/drawingml/2006/chart" xmlns:r="http://schemas.openxmlformats.org/officeDocument/2006/relationships" r:id="rId7"/>
          </a:graphicData>
        </a:graphic>
      </p:graphicFrame>
      <p:sp>
        <p:nvSpPr>
          <p:cNvPr id="22" name="TextBox 21">
            <a:extLst>
              <a:ext uri="{FF2B5EF4-FFF2-40B4-BE49-F238E27FC236}">
                <a16:creationId xmlns:a16="http://schemas.microsoft.com/office/drawing/2014/main" id="{88FE7479-57C7-3FA7-0EDC-9704898EEF1C}"/>
              </a:ext>
            </a:extLst>
          </p:cNvPr>
          <p:cNvSpPr txBox="1"/>
          <p:nvPr/>
        </p:nvSpPr>
        <p:spPr>
          <a:xfrm>
            <a:off x="2669910" y="6254154"/>
            <a:ext cx="4847057" cy="1785104"/>
          </a:xfrm>
          <a:prstGeom prst="rect">
            <a:avLst/>
          </a:prstGeom>
          <a:noFill/>
        </p:spPr>
        <p:txBody>
          <a:bodyPr wrap="square" rtlCol="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For decades, management and analysts alike have watched dedicated riders age out of their riding years. Instead of solely catering to an aging demographic, new management has shifted its focus to getting younger riders in the door and in the Harley family with an affordable and high-quality entry level bike. In years prior, Harley used to manufacture a bike to fill this niche, but in the name of improving margins, this quintessential product was discontinued, leaving a meaningful void in the product lineup. We believe, along with many Harley riders themselves, that the future of Harley is in the next generation of bikers. The sprint bike will provide high sales volume, increasing topline revenue, which will flow into an improved 2026 EPS figure of $5.28. </a:t>
            </a:r>
          </a:p>
        </p:txBody>
      </p:sp>
      <p:sp>
        <p:nvSpPr>
          <p:cNvPr id="28" name="TextBox 27">
            <a:extLst>
              <a:ext uri="{FF2B5EF4-FFF2-40B4-BE49-F238E27FC236}">
                <a16:creationId xmlns:a16="http://schemas.microsoft.com/office/drawing/2014/main" id="{170D7065-52A8-AD3A-E0FE-698382F3A22E}"/>
              </a:ext>
            </a:extLst>
          </p:cNvPr>
          <p:cNvSpPr txBox="1"/>
          <p:nvPr/>
        </p:nvSpPr>
        <p:spPr>
          <a:xfrm>
            <a:off x="2702776" y="8182181"/>
            <a:ext cx="4847057" cy="1446550"/>
          </a:xfrm>
          <a:prstGeom prst="rect">
            <a:avLst/>
          </a:prstGeom>
          <a:noFill/>
        </p:spPr>
        <p:txBody>
          <a:bodyPr wrap="square" rtlCol="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Harley-Davidson has been tormented by a P/E (TTM) value of 4.9x that points towards imminent and catastrophic business failure. Based on our valuation and financial analysis, we firmly believe that this is not the case. For comparison, the average of Harley-Davidson’s comps are 14.5x on a TTM basis. Looking forward to the next twelve months, we expect that although investors may still be reluctant to believe in the future success of the company, we should see a multiples expansion to at least 10. This alone will fuel massive price appreciation with the possibility for future growth as investor sentiment warms. </a:t>
            </a:r>
          </a:p>
        </p:txBody>
      </p:sp>
      <p:graphicFrame>
        <p:nvGraphicFramePr>
          <p:cNvPr id="13" name="Chart 12">
            <a:extLst>
              <a:ext uri="{FF2B5EF4-FFF2-40B4-BE49-F238E27FC236}">
                <a16:creationId xmlns:a16="http://schemas.microsoft.com/office/drawing/2014/main" id="{A2ADBFD3-9817-51BC-E385-08B5597FAFFE}"/>
              </a:ext>
            </a:extLst>
          </p:cNvPr>
          <p:cNvGraphicFramePr>
            <a:graphicFrameLocks/>
          </p:cNvGraphicFramePr>
          <p:nvPr>
            <p:extLst>
              <p:ext uri="{D42A27DB-BD31-4B8C-83A1-F6EECF244321}">
                <p14:modId xmlns:p14="http://schemas.microsoft.com/office/powerpoint/2010/main" val="3168308429"/>
              </p:ext>
            </p:extLst>
          </p:nvPr>
        </p:nvGraphicFramePr>
        <p:xfrm>
          <a:off x="126623" y="6344898"/>
          <a:ext cx="2395432" cy="1699284"/>
        </p:xfrm>
        <a:graphic>
          <a:graphicData uri="http://schemas.openxmlformats.org/drawingml/2006/chart">
            <c:chart xmlns:c="http://schemas.openxmlformats.org/drawingml/2006/chart" xmlns:r="http://schemas.openxmlformats.org/officeDocument/2006/relationships" r:id="rId8"/>
          </a:graphicData>
        </a:graphic>
      </p:graphicFrame>
      <p:grpSp>
        <p:nvGrpSpPr>
          <p:cNvPr id="16" name="Group 15">
            <a:extLst>
              <a:ext uri="{FF2B5EF4-FFF2-40B4-BE49-F238E27FC236}">
                <a16:creationId xmlns:a16="http://schemas.microsoft.com/office/drawing/2014/main" id="{774B9C89-6D38-84FE-DD40-541187E4551F}"/>
              </a:ext>
            </a:extLst>
          </p:cNvPr>
          <p:cNvGrpSpPr/>
          <p:nvPr/>
        </p:nvGrpSpPr>
        <p:grpSpPr>
          <a:xfrm>
            <a:off x="40611" y="3837773"/>
            <a:ext cx="2523227" cy="257367"/>
            <a:chOff x="107449" y="7455574"/>
            <a:chExt cx="2523227" cy="214370"/>
          </a:xfrm>
        </p:grpSpPr>
        <p:sp>
          <p:nvSpPr>
            <p:cNvPr id="20" name="TextBox 19">
              <a:extLst>
                <a:ext uri="{FF2B5EF4-FFF2-40B4-BE49-F238E27FC236}">
                  <a16:creationId xmlns:a16="http://schemas.microsoft.com/office/drawing/2014/main" id="{1A72255D-15B9-4373-2624-CB0EC8BE6C50}"/>
                </a:ext>
              </a:extLst>
            </p:cNvPr>
            <p:cNvSpPr txBox="1"/>
            <p:nvPr/>
          </p:nvSpPr>
          <p:spPr>
            <a:xfrm>
              <a:off x="107449" y="7455574"/>
              <a:ext cx="2523227" cy="205086"/>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2 : Harley vs Comps Price (Indexed)</a:t>
              </a:r>
            </a:p>
          </p:txBody>
        </p:sp>
        <p:cxnSp>
          <p:nvCxnSpPr>
            <p:cNvPr id="32" name="Straight Connector 31">
              <a:extLst>
                <a:ext uri="{FF2B5EF4-FFF2-40B4-BE49-F238E27FC236}">
                  <a16:creationId xmlns:a16="http://schemas.microsoft.com/office/drawing/2014/main" id="{E7188B96-72DE-5C57-4BBE-8ABB4A87ED93}"/>
                </a:ext>
              </a:extLst>
            </p:cNvPr>
            <p:cNvCxnSpPr/>
            <p:nvPr/>
          </p:nvCxnSpPr>
          <p:spPr>
            <a:xfrm>
              <a:off x="183698" y="7669944"/>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F3BC3218-5D9E-61CF-4E29-157857E8322E}"/>
              </a:ext>
            </a:extLst>
          </p:cNvPr>
          <p:cNvSpPr txBox="1">
            <a:spLocks/>
          </p:cNvSpPr>
          <p:nvPr/>
        </p:nvSpPr>
        <p:spPr>
          <a:xfrm>
            <a:off x="7436169" y="9756767"/>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1</a:t>
            </a:r>
          </a:p>
        </p:txBody>
      </p:sp>
      <p:sp>
        <p:nvSpPr>
          <p:cNvPr id="7" name="TextBox 6">
            <a:extLst>
              <a:ext uri="{FF2B5EF4-FFF2-40B4-BE49-F238E27FC236}">
                <a16:creationId xmlns:a16="http://schemas.microsoft.com/office/drawing/2014/main" id="{6EB15081-51B9-EC3A-A025-5DAC7930A5BA}"/>
              </a:ext>
            </a:extLst>
          </p:cNvPr>
          <p:cNvSpPr txBox="1"/>
          <p:nvPr/>
        </p:nvSpPr>
        <p:spPr>
          <a:xfrm>
            <a:off x="108380" y="1726103"/>
            <a:ext cx="2523227"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1 : Market Data</a:t>
            </a:r>
          </a:p>
        </p:txBody>
      </p:sp>
      <p:sp>
        <p:nvSpPr>
          <p:cNvPr id="8" name="TextBox 7">
            <a:extLst>
              <a:ext uri="{FF2B5EF4-FFF2-40B4-BE49-F238E27FC236}">
                <a16:creationId xmlns:a16="http://schemas.microsoft.com/office/drawing/2014/main" id="{CB6245BD-7B0E-B9F7-5970-B80F4D2BA7C3}"/>
              </a:ext>
            </a:extLst>
          </p:cNvPr>
          <p:cNvSpPr txBox="1"/>
          <p:nvPr/>
        </p:nvSpPr>
        <p:spPr>
          <a:xfrm>
            <a:off x="-1" y="9853219"/>
            <a:ext cx="5737835"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FactSet, HOG 2025 Q1-Q3 10-Q, FY24 10-K, 2024 DEF 14A, 2024-2025 Earnings Transcripts &amp; Presentations</a:t>
            </a:r>
          </a:p>
        </p:txBody>
      </p:sp>
    </p:spTree>
    <p:extLst>
      <p:ext uri="{BB962C8B-B14F-4D97-AF65-F5344CB8AC3E}">
        <p14:creationId xmlns:p14="http://schemas.microsoft.com/office/powerpoint/2010/main" val="874145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BE86F-C171-209F-DE01-93DE3E7E9576}"/>
            </a:ext>
          </a:extLst>
        </p:cNvPr>
        <p:cNvGrpSpPr/>
        <p:nvPr/>
      </p:nvGrpSpPr>
      <p:grpSpPr>
        <a:xfrm>
          <a:off x="0" y="0"/>
          <a:ext cx="0" cy="0"/>
          <a:chOff x="0" y="0"/>
          <a:chExt cx="0" cy="0"/>
        </a:xfrm>
      </p:grpSpPr>
      <p:sp>
        <p:nvSpPr>
          <p:cNvPr id="12" name="Text Box 2">
            <a:extLst>
              <a:ext uri="{FF2B5EF4-FFF2-40B4-BE49-F238E27FC236}">
                <a16:creationId xmlns:a16="http://schemas.microsoft.com/office/drawing/2014/main" id="{75A04EC9-C883-5F08-4C65-151BDED7CFD3}"/>
              </a:ext>
            </a:extLst>
          </p:cNvPr>
          <p:cNvSpPr txBox="1">
            <a:spLocks/>
          </p:cNvSpPr>
          <p:nvPr/>
        </p:nvSpPr>
        <p:spPr bwMode="auto">
          <a:xfrm>
            <a:off x="2692267" y="1917157"/>
            <a:ext cx="4897114" cy="3016210"/>
          </a:xfrm>
          <a:prstGeom prst="rect">
            <a:avLst/>
          </a:prstGeom>
          <a:noFill/>
          <a:ln w="9525">
            <a:noFill/>
            <a:miter lim="800000"/>
            <a:headEnd/>
            <a:tailEnd/>
          </a:ln>
        </p:spPr>
        <p:txBody>
          <a:bodyPr rot="0" vert="horz" wrap="square" lIns="91440" tIns="45720" rIns="91440" bIns="45720" anchor="t" anchorCtr="0">
            <a:spAutoFit/>
          </a:bodyPr>
          <a:lstStyle/>
          <a:p>
            <a:pPr algn="just">
              <a:lnSpc>
                <a:spcPts val="1200"/>
              </a:lnSpc>
              <a:spcAft>
                <a:spcPts val="600"/>
              </a:spcAft>
            </a:pPr>
            <a:r>
              <a:rPr lang="en-US" sz="1100">
                <a:latin typeface="Calibri" panose="020F0502020204030204" pitchFamily="34" charset="0"/>
                <a:ea typeface="Calibri" panose="020F0502020204030204" pitchFamily="34" charset="0"/>
                <a:cs typeface="Calibri" panose="020F0502020204030204" pitchFamily="34" charset="0"/>
              </a:rPr>
              <a:t>The financial services pillar of Harley-Davidson is focused on the following three roles- motorcycle financing, insurance and protection, and credit cards. Although this part of the business only comprises about 20% of Harley-Davidson’s total revenue, in recent years the segment has been responsible for nearly half of total income. Strategically, it plays an important role in offering financial flexibility to dealerships and driving sales volume for HDMC.  Given the fact that Harley-Davidson motorcycles are typically more expensive than others in the industry, HDFS makes purchases more manageable for consumers by extending leases and up to 72-month loans. The insurance side offers motorcycle insurance, extended service plans for repairs, and gap protection. The credit card business partners with US Bank to offer credit cards that earn reward points redeemable for Harley-Davidson gift cards and gear. </a:t>
            </a:r>
          </a:p>
          <a:p>
            <a:pPr algn="just">
              <a:lnSpc>
                <a:spcPts val="1200"/>
              </a:lnSpc>
              <a:spcAft>
                <a:spcPts val="600"/>
              </a:spcAft>
            </a:pPr>
            <a:r>
              <a:rPr lang="en-US" sz="1100">
                <a:latin typeface="Calibri" panose="020F0502020204030204" pitchFamily="34" charset="0"/>
                <a:ea typeface="Calibri" panose="020F0502020204030204" pitchFamily="34" charset="0"/>
                <a:cs typeface="Calibri" panose="020F0502020204030204" pitchFamily="34" charset="0"/>
              </a:rPr>
              <a:t>The Key Development for HDFS moving into 2026 is the sale of $6 Billion in retail loans from their back book along with a 9.8% ownership stake in HDFS and an agreement to sell two thirds of their loan originations for the next five years, all to two outside firms. This shifts their solely interest-based business model into one that is primarily fee based.</a:t>
            </a:r>
          </a:p>
          <a:p>
            <a:pPr marL="0" marR="0" algn="just">
              <a:lnSpc>
                <a:spcPts val="1200"/>
              </a:lnSpc>
              <a:spcAft>
                <a:spcPts val="600"/>
              </a:spcAft>
            </a:pPr>
            <a:endParaRPr lang="en-US" sz="1100" kern="100">
              <a:solidFill>
                <a:schemeClr val="bg1"/>
              </a:solidFill>
              <a:highlight>
                <a:srgbClr val="00FF00"/>
              </a:highlight>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836B4B36-03D7-4580-BCA8-02984A881A29}"/>
              </a:ext>
            </a:extLst>
          </p:cNvPr>
          <p:cNvSpPr txBox="1">
            <a:spLocks/>
          </p:cNvSpPr>
          <p:nvPr/>
        </p:nvSpPr>
        <p:spPr>
          <a:xfrm>
            <a:off x="2762523" y="4674739"/>
            <a:ext cx="4781278"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The Motor Company (HDMC)</a:t>
            </a:r>
          </a:p>
        </p:txBody>
      </p:sp>
      <p:sp>
        <p:nvSpPr>
          <p:cNvPr id="26" name="Text Box 2">
            <a:extLst>
              <a:ext uri="{FF2B5EF4-FFF2-40B4-BE49-F238E27FC236}">
                <a16:creationId xmlns:a16="http://schemas.microsoft.com/office/drawing/2014/main" id="{B019178D-BED7-952A-82B4-4503DCB45F1A}"/>
              </a:ext>
            </a:extLst>
          </p:cNvPr>
          <p:cNvSpPr txBox="1">
            <a:spLocks/>
          </p:cNvSpPr>
          <p:nvPr/>
        </p:nvSpPr>
        <p:spPr bwMode="auto">
          <a:xfrm>
            <a:off x="2727394" y="4874533"/>
            <a:ext cx="4897114" cy="1785104"/>
          </a:xfrm>
          <a:prstGeom prst="rect">
            <a:avLst/>
          </a:prstGeom>
          <a:noFill/>
          <a:ln w="9525">
            <a:noFill/>
            <a:miter lim="800000"/>
            <a:headEnd/>
            <a:tailEnd/>
          </a:ln>
        </p:spPr>
        <p:txBody>
          <a:bodyPr rot="0" vert="horz" wrap="square" lIns="91440" tIns="45720" rIns="91440" bIns="45720" anchor="t" anchorCtr="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Today, HDMC is a clear market leader in the Touring, Cruiser, and Trike space, but struggles with both the low growth of those parts of the motorcycle industry, and an old and further aging customer base. Artie Starrs was brought on as the new CEO in October of 2025. Faced with the clarity that Harley needs an influx of new riders to maintain and grow its position in the motorcycle world, and that no bike in Harley’s current lineup fulfills the low-ticket niche that brings new riders to the brand, there was an obvious decision to be made. Harley-Davidson is expected to bring a low displacement bike that costs under $6,000 to market in the first half of 2026. This would effectively fill the void in the lineup and slowly introduce more and more recurring customers each year.</a:t>
            </a:r>
          </a:p>
        </p:txBody>
      </p:sp>
      <p:grpSp>
        <p:nvGrpSpPr>
          <p:cNvPr id="20" name="Group 19">
            <a:extLst>
              <a:ext uri="{FF2B5EF4-FFF2-40B4-BE49-F238E27FC236}">
                <a16:creationId xmlns:a16="http://schemas.microsoft.com/office/drawing/2014/main" id="{D75BA5F4-8D43-818E-6B48-51A07761EFA4}"/>
              </a:ext>
            </a:extLst>
          </p:cNvPr>
          <p:cNvGrpSpPr>
            <a:grpSpLocks/>
          </p:cNvGrpSpPr>
          <p:nvPr/>
        </p:nvGrpSpPr>
        <p:grpSpPr>
          <a:xfrm>
            <a:off x="2651618" y="226792"/>
            <a:ext cx="4947125" cy="261867"/>
            <a:chOff x="2670668" y="1936150"/>
            <a:chExt cx="4947125" cy="261867"/>
          </a:xfrm>
        </p:grpSpPr>
        <p:sp>
          <p:nvSpPr>
            <p:cNvPr id="21" name="Text Box 2">
              <a:extLst>
                <a:ext uri="{FF2B5EF4-FFF2-40B4-BE49-F238E27FC236}">
                  <a16:creationId xmlns:a16="http://schemas.microsoft.com/office/drawing/2014/main" id="{A975FEB6-1DB3-A06A-030E-46FADB690B25}"/>
                </a:ext>
              </a:extLst>
            </p:cNvPr>
            <p:cNvSpPr txBox="1">
              <a:spLocks/>
            </p:cNvSpPr>
            <p:nvPr/>
          </p:nvSpPr>
          <p:spPr bwMode="auto">
            <a:xfrm>
              <a:off x="2670668" y="1936150"/>
              <a:ext cx="4947125" cy="261867"/>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r>
                <a:rPr lang="en-US" sz="1600" b="1" kern="100">
                  <a:latin typeface="Calibri" panose="020F0502020204030204" pitchFamily="34" charset="0"/>
                  <a:ea typeface="Cambria" panose="02040503050406030204" pitchFamily="18" charset="0"/>
                  <a:cs typeface="Calibri" panose="020F0502020204030204" pitchFamily="34" charset="0"/>
                </a:rPr>
                <a:t>Business Description</a:t>
              </a:r>
            </a:p>
          </p:txBody>
        </p:sp>
        <p:cxnSp>
          <p:nvCxnSpPr>
            <p:cNvPr id="22" name="Straight Connector 21">
              <a:extLst>
                <a:ext uri="{FF2B5EF4-FFF2-40B4-BE49-F238E27FC236}">
                  <a16:creationId xmlns:a16="http://schemas.microsoft.com/office/drawing/2014/main" id="{D8CE5BBF-CA53-4075-666E-269B7633254B}"/>
                </a:ext>
              </a:extLst>
            </p:cNvPr>
            <p:cNvCxnSpPr>
              <a:cxnSpLocks/>
            </p:cNvCxnSpPr>
            <p:nvPr/>
          </p:nvCxnSpPr>
          <p:spPr>
            <a:xfrm>
              <a:off x="2781572" y="2198017"/>
              <a:ext cx="475914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3" name="TextBox 22">
            <a:extLst>
              <a:ext uri="{FF2B5EF4-FFF2-40B4-BE49-F238E27FC236}">
                <a16:creationId xmlns:a16="http://schemas.microsoft.com/office/drawing/2014/main" id="{A9A4C32C-598C-BD37-2C81-BBEF55A9831C}"/>
              </a:ext>
            </a:extLst>
          </p:cNvPr>
          <p:cNvSpPr txBox="1">
            <a:spLocks/>
          </p:cNvSpPr>
          <p:nvPr/>
        </p:nvSpPr>
        <p:spPr>
          <a:xfrm>
            <a:off x="7436169" y="9756767"/>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2</a:t>
            </a:r>
          </a:p>
        </p:txBody>
      </p:sp>
      <p:grpSp>
        <p:nvGrpSpPr>
          <p:cNvPr id="29" name="Group 28">
            <a:extLst>
              <a:ext uri="{FF2B5EF4-FFF2-40B4-BE49-F238E27FC236}">
                <a16:creationId xmlns:a16="http://schemas.microsoft.com/office/drawing/2014/main" id="{46EE34A9-69FC-0944-B5B0-9E39F2F7DEAC}"/>
              </a:ext>
            </a:extLst>
          </p:cNvPr>
          <p:cNvGrpSpPr>
            <a:grpSpLocks/>
          </p:cNvGrpSpPr>
          <p:nvPr/>
        </p:nvGrpSpPr>
        <p:grpSpPr>
          <a:xfrm>
            <a:off x="131856" y="243159"/>
            <a:ext cx="2410549" cy="246221"/>
            <a:chOff x="3122772" y="6590994"/>
            <a:chExt cx="2410549" cy="228605"/>
          </a:xfrm>
        </p:grpSpPr>
        <p:sp>
          <p:nvSpPr>
            <p:cNvPr id="30" name="TextBox 29">
              <a:extLst>
                <a:ext uri="{FF2B5EF4-FFF2-40B4-BE49-F238E27FC236}">
                  <a16:creationId xmlns:a16="http://schemas.microsoft.com/office/drawing/2014/main" id="{4EA18E25-1F00-EBAC-0280-6A7E7CB1EC83}"/>
                </a:ext>
              </a:extLst>
            </p:cNvPr>
            <p:cNvSpPr txBox="1">
              <a:spLocks/>
            </p:cNvSpPr>
            <p:nvPr/>
          </p:nvSpPr>
          <p:spPr>
            <a:xfrm>
              <a:off x="3122772" y="6590994"/>
              <a:ext cx="2370616" cy="228605"/>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5: A Small percentage of Revenue </a:t>
              </a:r>
            </a:p>
          </p:txBody>
        </p:sp>
        <p:cxnSp>
          <p:nvCxnSpPr>
            <p:cNvPr id="31" name="Straight Connector 30">
              <a:extLst>
                <a:ext uri="{FF2B5EF4-FFF2-40B4-BE49-F238E27FC236}">
                  <a16:creationId xmlns:a16="http://schemas.microsoft.com/office/drawing/2014/main" id="{F865F79C-303D-649A-5DC8-3A9BB0AC94FC}"/>
                </a:ext>
              </a:extLst>
            </p:cNvPr>
            <p:cNvCxnSpPr>
              <a:cxnSpLocks/>
            </p:cNvCxnSpPr>
            <p:nvPr/>
          </p:nvCxnSpPr>
          <p:spPr>
            <a:xfrm>
              <a:off x="3162590" y="6819599"/>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B6497233-722F-4D87-4617-BADE9CD0B38C}"/>
              </a:ext>
            </a:extLst>
          </p:cNvPr>
          <p:cNvGrpSpPr>
            <a:grpSpLocks/>
          </p:cNvGrpSpPr>
          <p:nvPr/>
        </p:nvGrpSpPr>
        <p:grpSpPr>
          <a:xfrm>
            <a:off x="164076" y="2419597"/>
            <a:ext cx="2544565" cy="263900"/>
            <a:chOff x="3122772" y="6590988"/>
            <a:chExt cx="2463220" cy="243201"/>
          </a:xfrm>
          <a:solidFill>
            <a:srgbClr val="3BB0FF"/>
          </a:solidFill>
        </p:grpSpPr>
        <p:sp>
          <p:nvSpPr>
            <p:cNvPr id="50" name="TextBox 49">
              <a:extLst>
                <a:ext uri="{FF2B5EF4-FFF2-40B4-BE49-F238E27FC236}">
                  <a16:creationId xmlns:a16="http://schemas.microsoft.com/office/drawing/2014/main" id="{C211D7EE-3C40-4862-B32C-46EA7A3FC6F9}"/>
                </a:ext>
              </a:extLst>
            </p:cNvPr>
            <p:cNvSpPr txBox="1">
              <a:spLocks/>
            </p:cNvSpPr>
            <p:nvPr/>
          </p:nvSpPr>
          <p:spPr>
            <a:xfrm>
              <a:off x="3122772" y="6590988"/>
              <a:ext cx="2463220" cy="226908"/>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6: Meaningful Earnings Contributer</a:t>
              </a:r>
            </a:p>
          </p:txBody>
        </p:sp>
        <p:cxnSp>
          <p:nvCxnSpPr>
            <p:cNvPr id="51" name="Straight Connector 50">
              <a:extLst>
                <a:ext uri="{FF2B5EF4-FFF2-40B4-BE49-F238E27FC236}">
                  <a16:creationId xmlns:a16="http://schemas.microsoft.com/office/drawing/2014/main" id="{B5512B9B-3E07-CD95-CF90-7172886BA96F}"/>
                </a:ext>
              </a:extLst>
            </p:cNvPr>
            <p:cNvCxnSpPr>
              <a:cxnSpLocks/>
            </p:cNvCxnSpPr>
            <p:nvPr/>
          </p:nvCxnSpPr>
          <p:spPr>
            <a:xfrm>
              <a:off x="3154046" y="6834189"/>
              <a:ext cx="2427593" cy="0"/>
            </a:xfrm>
            <a:prstGeom prst="line">
              <a:avLst/>
            </a:prstGeom>
            <a:grpFill/>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9" name="Text Box 2">
            <a:extLst>
              <a:ext uri="{FF2B5EF4-FFF2-40B4-BE49-F238E27FC236}">
                <a16:creationId xmlns:a16="http://schemas.microsoft.com/office/drawing/2014/main" id="{4132CB7C-EF76-33C7-51EE-B61290915708}"/>
              </a:ext>
            </a:extLst>
          </p:cNvPr>
          <p:cNvSpPr txBox="1">
            <a:spLocks/>
          </p:cNvSpPr>
          <p:nvPr/>
        </p:nvSpPr>
        <p:spPr bwMode="auto">
          <a:xfrm>
            <a:off x="2681849" y="754206"/>
            <a:ext cx="4897114" cy="1015663"/>
          </a:xfrm>
          <a:prstGeom prst="rect">
            <a:avLst/>
          </a:prstGeom>
          <a:noFill/>
          <a:ln w="9525">
            <a:noFill/>
            <a:miter lim="800000"/>
            <a:headEnd/>
            <a:tailEnd/>
          </a:ln>
        </p:spPr>
        <p:txBody>
          <a:bodyPr rot="0" vert="horz" wrap="square" lIns="91440" tIns="45720" rIns="91440" bIns="45720" anchor="t" anchorCtr="0">
            <a:spAutoFit/>
          </a:bodyPr>
          <a:lstStyle/>
          <a:p>
            <a:pPr algn="just">
              <a:lnSpc>
                <a:spcPts val="1200"/>
              </a:lnSpc>
              <a:spcAft>
                <a:spcPts val="600"/>
              </a:spcAft>
            </a:pPr>
            <a:r>
              <a:rPr lang="en-US" sz="1100">
                <a:latin typeface="Calibri" panose="020F0502020204030204" pitchFamily="34" charset="0"/>
                <a:ea typeface="Calibri" panose="020F0502020204030204" pitchFamily="34" charset="0"/>
                <a:cs typeface="Calibri" panose="020F0502020204030204" pitchFamily="34" charset="0"/>
              </a:rPr>
              <a:t>Harley-Davidson is a heritage focused motorcycle manufacturing company that is held up by two segments – Harley-Davidson Motor Company(HDMC) and Harley-Davidson Financial Services(HDFS). If you look a little deeper, though, you will find a culture whose value is hard to put a number on, a bond shared between man and his machine, and a web of communities that feel something special when they see that bar and shield.</a:t>
            </a:r>
          </a:p>
        </p:txBody>
      </p:sp>
      <p:sp>
        <p:nvSpPr>
          <p:cNvPr id="18" name="TextBox 17">
            <a:extLst>
              <a:ext uri="{FF2B5EF4-FFF2-40B4-BE49-F238E27FC236}">
                <a16:creationId xmlns:a16="http://schemas.microsoft.com/office/drawing/2014/main" id="{02F8C80C-8ACF-AFFD-C5EE-9B4A45DFF756}"/>
              </a:ext>
            </a:extLst>
          </p:cNvPr>
          <p:cNvSpPr txBox="1">
            <a:spLocks/>
          </p:cNvSpPr>
          <p:nvPr/>
        </p:nvSpPr>
        <p:spPr>
          <a:xfrm>
            <a:off x="2755699" y="562729"/>
            <a:ext cx="4788102" cy="219355"/>
          </a:xfrm>
          <a:prstGeom prst="rect">
            <a:avLst/>
          </a:prstGeom>
          <a:solidFill>
            <a:schemeClr val="accent2">
              <a:lumMod val="75000"/>
            </a:schemeClr>
          </a:solidFill>
          <a:ln>
            <a:solidFill>
              <a:schemeClr val="tx1"/>
            </a:solidFill>
          </a:ln>
        </p:spPr>
        <p:txBody>
          <a:bodyPr wrap="square" rtlCol="0" anchor="b">
            <a:spAutoFit/>
          </a:bodyPr>
          <a:lstStyle>
            <a:defPPr>
              <a:defRPr lang="en-US"/>
            </a:defPPr>
            <a:lvl1pPr>
              <a:lnSpc>
                <a:spcPts val="400"/>
              </a:lnSpc>
              <a:defRPr sz="1100" b="1">
                <a:solidFill>
                  <a:schemeClr val="bg1"/>
                </a:solidFill>
                <a:latin typeface="Calibri" panose="020F0502020204030204" pitchFamily="34" charset="0"/>
                <a:ea typeface="Cambria" panose="02040503050406030204" pitchFamily="18" charset="0"/>
                <a:cs typeface="Calibri" panose="020F0502020204030204" pitchFamily="34" charset="0"/>
              </a:defRPr>
            </a:lvl1pPr>
          </a:lstStyle>
          <a:p>
            <a:endParaRPr lang="en-US"/>
          </a:p>
          <a:p>
            <a:r>
              <a:rPr lang="en-US"/>
              <a:t>More Than Just a Name</a:t>
            </a:r>
          </a:p>
        </p:txBody>
      </p:sp>
      <p:sp>
        <p:nvSpPr>
          <p:cNvPr id="59" name="TextBox 58">
            <a:extLst>
              <a:ext uri="{FF2B5EF4-FFF2-40B4-BE49-F238E27FC236}">
                <a16:creationId xmlns:a16="http://schemas.microsoft.com/office/drawing/2014/main" id="{AE51C98B-36C2-0E12-2BD4-4D83353F6023}"/>
              </a:ext>
            </a:extLst>
          </p:cNvPr>
          <p:cNvSpPr txBox="1">
            <a:spLocks/>
          </p:cNvSpPr>
          <p:nvPr/>
        </p:nvSpPr>
        <p:spPr>
          <a:xfrm>
            <a:off x="2768991" y="1726089"/>
            <a:ext cx="4794630" cy="219355"/>
          </a:xfrm>
          <a:prstGeom prst="rect">
            <a:avLst/>
          </a:prstGeom>
          <a:solidFill>
            <a:schemeClr val="accent2">
              <a:lumMod val="75000"/>
            </a:schemeClr>
          </a:solidFill>
          <a:ln>
            <a:solidFill>
              <a:schemeClr val="tx1"/>
            </a:solidFill>
          </a:ln>
        </p:spPr>
        <p:txBody>
          <a:bodyPr wrap="square" rtlCol="0" anchor="b">
            <a:spAutoFit/>
          </a:bodyPr>
          <a:lstStyle>
            <a:defPPr>
              <a:defRPr lang="en-US"/>
            </a:defPPr>
            <a:lvl1pPr>
              <a:lnSpc>
                <a:spcPts val="400"/>
              </a:lnSpc>
              <a:defRPr sz="1100" b="1">
                <a:solidFill>
                  <a:schemeClr val="bg1"/>
                </a:solidFill>
                <a:latin typeface="Calibri" panose="020F0502020204030204" pitchFamily="34" charset="0"/>
                <a:ea typeface="Cambria" panose="02040503050406030204" pitchFamily="18" charset="0"/>
                <a:cs typeface="Calibri" panose="020F0502020204030204" pitchFamily="34" charset="0"/>
              </a:defRPr>
            </a:lvl1pPr>
          </a:lstStyle>
          <a:p>
            <a:endParaRPr lang="en-US"/>
          </a:p>
          <a:p>
            <a:r>
              <a:rPr lang="en-US"/>
              <a:t>Harley-Davidson Financial Services (HDFS)</a:t>
            </a:r>
          </a:p>
        </p:txBody>
      </p:sp>
      <p:graphicFrame>
        <p:nvGraphicFramePr>
          <p:cNvPr id="47" name="Chart 46">
            <a:extLst>
              <a:ext uri="{FF2B5EF4-FFF2-40B4-BE49-F238E27FC236}">
                <a16:creationId xmlns:a16="http://schemas.microsoft.com/office/drawing/2014/main" id="{E4829E9D-9DD8-6E4A-8020-07395C6E3FA9}"/>
              </a:ext>
            </a:extLst>
          </p:cNvPr>
          <p:cNvGraphicFramePr>
            <a:graphicFrameLocks/>
          </p:cNvGraphicFramePr>
          <p:nvPr/>
        </p:nvGraphicFramePr>
        <p:xfrm>
          <a:off x="-549905" y="2764292"/>
          <a:ext cx="3775520" cy="174256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4" name="Chart 53">
            <a:extLst>
              <a:ext uri="{FF2B5EF4-FFF2-40B4-BE49-F238E27FC236}">
                <a16:creationId xmlns:a16="http://schemas.microsoft.com/office/drawing/2014/main" id="{13AA13FF-7F36-3037-72B1-8F59B97CA949}"/>
              </a:ext>
            </a:extLst>
          </p:cNvPr>
          <p:cNvGraphicFramePr>
            <a:graphicFrameLocks/>
          </p:cNvGraphicFramePr>
          <p:nvPr/>
        </p:nvGraphicFramePr>
        <p:xfrm>
          <a:off x="121942" y="441743"/>
          <a:ext cx="2544565" cy="190280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Table 1">
            <a:extLst>
              <a:ext uri="{FF2B5EF4-FFF2-40B4-BE49-F238E27FC236}">
                <a16:creationId xmlns:a16="http://schemas.microsoft.com/office/drawing/2014/main" id="{85F349AC-4676-2C56-4B10-2DD027A4F792}"/>
              </a:ext>
            </a:extLst>
          </p:cNvPr>
          <p:cNvGraphicFramePr>
            <a:graphicFrameLocks noGrp="1"/>
          </p:cNvGraphicFramePr>
          <p:nvPr>
            <p:custDataLst>
              <p:tags r:id="rId1"/>
            </p:custDataLst>
            <p:extLst>
              <p:ext uri="{D42A27DB-BD31-4B8C-83A1-F6EECF244321}">
                <p14:modId xmlns:p14="http://schemas.microsoft.com/office/powerpoint/2010/main" val="3281105342"/>
              </p:ext>
            </p:extLst>
          </p:nvPr>
        </p:nvGraphicFramePr>
        <p:xfrm>
          <a:off x="171674" y="6730936"/>
          <a:ext cx="7402419" cy="2895600"/>
        </p:xfrm>
        <a:graphic>
          <a:graphicData uri="http://schemas.openxmlformats.org/drawingml/2006/table">
            <a:tbl>
              <a:tblPr firstRow="1" bandRow="1">
                <a:tableStyleId>{5C22544A-7EE6-4342-B048-85BDC9FD1C3A}</a:tableStyleId>
              </a:tblPr>
              <a:tblGrid>
                <a:gridCol w="1682167">
                  <a:extLst>
                    <a:ext uri="{9D8B030D-6E8A-4147-A177-3AD203B41FA5}">
                      <a16:colId xmlns:a16="http://schemas.microsoft.com/office/drawing/2014/main" val="3931037874"/>
                    </a:ext>
                  </a:extLst>
                </a:gridCol>
                <a:gridCol w="1342417">
                  <a:extLst>
                    <a:ext uri="{9D8B030D-6E8A-4147-A177-3AD203B41FA5}">
                      <a16:colId xmlns:a16="http://schemas.microsoft.com/office/drawing/2014/main" val="3247024255"/>
                    </a:ext>
                  </a:extLst>
                </a:gridCol>
                <a:gridCol w="1515647">
                  <a:extLst>
                    <a:ext uri="{9D8B030D-6E8A-4147-A177-3AD203B41FA5}">
                      <a16:colId xmlns:a16="http://schemas.microsoft.com/office/drawing/2014/main" val="3468531836"/>
                    </a:ext>
                  </a:extLst>
                </a:gridCol>
                <a:gridCol w="1431094">
                  <a:extLst>
                    <a:ext uri="{9D8B030D-6E8A-4147-A177-3AD203B41FA5}">
                      <a16:colId xmlns:a16="http://schemas.microsoft.com/office/drawing/2014/main" val="2103341800"/>
                    </a:ext>
                  </a:extLst>
                </a:gridCol>
                <a:gridCol w="1431094">
                  <a:extLst>
                    <a:ext uri="{9D8B030D-6E8A-4147-A177-3AD203B41FA5}">
                      <a16:colId xmlns:a16="http://schemas.microsoft.com/office/drawing/2014/main" val="1170300108"/>
                    </a:ext>
                  </a:extLst>
                </a:gridCol>
              </a:tblGrid>
              <a:tr h="250889">
                <a:tc>
                  <a:txBody>
                    <a:bodyPr/>
                    <a:lstStyle/>
                    <a:p>
                      <a:pPr algn="ct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Strategies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More Roads</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Rewire</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Hardwire</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Starrs Era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3531492634"/>
                  </a:ext>
                </a:extLst>
              </a:tr>
              <a:tr h="176855">
                <a:tc>
                  <a:txBody>
                    <a:bodyPr/>
                    <a:lstStyle/>
                    <a:p>
                      <a:pPr marL="0" algn="l" defTabSz="777240" rtl="0" eaLnBrk="1" latinLnBrk="0" hangingPunct="1"/>
                      <a:r>
                        <a:rPr lang="en-US" sz="1100" b="1" kern="1200">
                          <a:solidFill>
                            <a:schemeClr val="dk1"/>
                          </a:solidFill>
                          <a:latin typeface="Calibri" panose="020F0502020204030204" pitchFamily="34" charset="0"/>
                          <a:ea typeface="Calibri" panose="020F0502020204030204" pitchFamily="34" charset="0"/>
                          <a:cs typeface="Calibri" panose="020F0502020204030204" pitchFamily="34"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2018-2020</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2020</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Late 2020- Late 2025</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Late 2025- Today</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9029356"/>
                  </a:ext>
                </a:extLst>
              </a:tr>
              <a:tr h="244304">
                <a:tc>
                  <a:txBody>
                    <a:bodyPr/>
                    <a:lstStyle/>
                    <a:p>
                      <a:pPr marL="0" algn="l" defTabSz="777240" rtl="0" eaLnBrk="1" latinLnBrk="0" hangingPunct="1"/>
                      <a:r>
                        <a:rPr lang="en-US" sz="1100" b="1" kern="1200">
                          <a:solidFill>
                            <a:schemeClr val="dk1"/>
                          </a:solidFill>
                          <a:latin typeface="Calibri" panose="020F0502020204030204" pitchFamily="34" charset="0"/>
                          <a:ea typeface="Calibri" panose="020F0502020204030204" pitchFamily="34" charset="0"/>
                          <a:cs typeface="Calibri" panose="020F0502020204030204" pitchFamily="34" charset="0"/>
                        </a:rPr>
                        <a:t>Philosophy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Aggressive Volume Growth</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Reset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Premium Positioning and Profitability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Restructuring for a New Era</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11027071"/>
                  </a:ext>
                </a:extLst>
              </a:tr>
              <a:tr h="176545">
                <a:tc>
                  <a:txBody>
                    <a:bodyPr/>
                    <a:lstStyle/>
                    <a:p>
                      <a:pPr marL="0" algn="l" defTabSz="777240" rtl="0" eaLnBrk="1" latinLnBrk="0" hangingPunct="1"/>
                      <a:r>
                        <a:rPr lang="en-US" sz="1100" b="1" kern="1200">
                          <a:solidFill>
                            <a:schemeClr val="dk1"/>
                          </a:solidFill>
                          <a:latin typeface="Calibri" panose="020F0502020204030204" pitchFamily="34" charset="0"/>
                          <a:ea typeface="Calibri" panose="020F0502020204030204" pitchFamily="34" charset="0"/>
                          <a:cs typeface="Calibri" panose="020F0502020204030204" pitchFamily="34" charset="0"/>
                        </a:rPr>
                        <a:t>Product Strategy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100 New Models By 2027</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Few and Profitable Models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High Ticket Cruisers, Trikes and Touring Bikes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Growth Through Affordable Entry Level Models</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5716801"/>
                  </a:ext>
                </a:extLst>
              </a:tr>
              <a:tr h="256309">
                <a:tc>
                  <a:txBody>
                    <a:bodyPr/>
                    <a:lstStyle/>
                    <a:p>
                      <a:pPr marL="0" algn="l" defTabSz="777240" rtl="0" eaLnBrk="1" latinLnBrk="0" hangingPunct="1"/>
                      <a:r>
                        <a:rPr lang="en-US" sz="1100" b="1" kern="1200">
                          <a:solidFill>
                            <a:schemeClr val="dk1"/>
                          </a:solidFill>
                          <a:latin typeface="Calibri" panose="020F0502020204030204" pitchFamily="34" charset="0"/>
                          <a:ea typeface="Calibri" panose="020F0502020204030204" pitchFamily="34" charset="0"/>
                          <a:cs typeface="Calibri" panose="020F0502020204030204" pitchFamily="34" charset="0"/>
                        </a:rPr>
                        <a:t>How Success Was Measured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New Rider Growth And Market share</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Cash Flow and Inventory Reduction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Revenue Per Unit and Operating Margins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TBD</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44381843"/>
                  </a:ext>
                </a:extLst>
              </a:tr>
              <a:tr h="493970">
                <a:tc>
                  <a:txBody>
                    <a:bodyPr/>
                    <a:lstStyle/>
                    <a:p>
                      <a:pPr marL="0" algn="l" defTabSz="777240" rtl="0" eaLnBrk="1" latinLnBrk="0" hangingPunct="1"/>
                      <a:r>
                        <a:rPr lang="en-US" sz="1100" b="1" kern="1200">
                          <a:solidFill>
                            <a:schemeClr val="dk1"/>
                          </a:solidFill>
                          <a:latin typeface="Calibri" panose="020F0502020204030204" pitchFamily="34" charset="0"/>
                          <a:ea typeface="Calibri" panose="020F0502020204030204" pitchFamily="34" charset="0"/>
                          <a:cs typeface="Calibri" panose="020F0502020204030204" pitchFamily="34" charset="0"/>
                        </a:rPr>
                        <a:t>The Problem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Lack of Financial Discipline, and Advertising Alienated Core Customers</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While Cutting Models, A Highly Anticipated Model Was Scrapped</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Little was done to bring new riders in, and prices became too high for most to afford</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a:latin typeface="Calibri" panose="020F0502020204030204" pitchFamily="34" charset="0"/>
                          <a:ea typeface="Calibri" panose="020F0502020204030204" pitchFamily="34" charset="0"/>
                          <a:cs typeface="Calibri" panose="020F0502020204030204" pitchFamily="34" charset="0"/>
                        </a:rPr>
                        <a:t>Hopefully, None</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4253894"/>
                  </a:ext>
                </a:extLst>
              </a:tr>
            </a:tbl>
          </a:graphicData>
        </a:graphic>
      </p:graphicFrame>
      <p:pic>
        <p:nvPicPr>
          <p:cNvPr id="3" name="Picture 2">
            <a:extLst>
              <a:ext uri="{FF2B5EF4-FFF2-40B4-BE49-F238E27FC236}">
                <a16:creationId xmlns:a16="http://schemas.microsoft.com/office/drawing/2014/main" id="{08980451-48BA-5FFB-714F-AD7D25638FA2}"/>
              </a:ext>
            </a:extLst>
          </p:cNvPr>
          <p:cNvPicPr>
            <a:picLocks noChangeAspect="1"/>
          </p:cNvPicPr>
          <p:nvPr/>
        </p:nvPicPr>
        <p:blipFill>
          <a:blip r:embed="rId5"/>
          <a:stretch>
            <a:fillRect/>
          </a:stretch>
        </p:blipFill>
        <p:spPr>
          <a:xfrm>
            <a:off x="194370" y="5024874"/>
            <a:ext cx="2308102" cy="1224275"/>
          </a:xfrm>
          <a:prstGeom prst="rect">
            <a:avLst/>
          </a:prstGeom>
        </p:spPr>
      </p:pic>
      <p:grpSp>
        <p:nvGrpSpPr>
          <p:cNvPr id="4" name="Group 3">
            <a:extLst>
              <a:ext uri="{FF2B5EF4-FFF2-40B4-BE49-F238E27FC236}">
                <a16:creationId xmlns:a16="http://schemas.microsoft.com/office/drawing/2014/main" id="{531F5A62-8E5E-ACD8-BE63-1D916D1DBE33}"/>
              </a:ext>
            </a:extLst>
          </p:cNvPr>
          <p:cNvGrpSpPr>
            <a:grpSpLocks/>
          </p:cNvGrpSpPr>
          <p:nvPr/>
        </p:nvGrpSpPr>
        <p:grpSpPr>
          <a:xfrm>
            <a:off x="144893" y="4623117"/>
            <a:ext cx="2385924" cy="263900"/>
            <a:chOff x="3122772" y="6590988"/>
            <a:chExt cx="2463220" cy="243201"/>
          </a:xfrm>
          <a:solidFill>
            <a:srgbClr val="3BB0FF"/>
          </a:solidFill>
        </p:grpSpPr>
        <p:sp>
          <p:nvSpPr>
            <p:cNvPr id="5" name="TextBox 4">
              <a:extLst>
                <a:ext uri="{FF2B5EF4-FFF2-40B4-BE49-F238E27FC236}">
                  <a16:creationId xmlns:a16="http://schemas.microsoft.com/office/drawing/2014/main" id="{1DEF3391-3893-C3D5-3E0B-4DDBA2B0AC69}"/>
                </a:ext>
              </a:extLst>
            </p:cNvPr>
            <p:cNvSpPr txBox="1">
              <a:spLocks/>
            </p:cNvSpPr>
            <p:nvPr/>
          </p:nvSpPr>
          <p:spPr>
            <a:xfrm>
              <a:off x="3122772" y="6590988"/>
              <a:ext cx="2463220" cy="226910"/>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7: Sprint Motorcycle</a:t>
              </a:r>
            </a:p>
          </p:txBody>
        </p:sp>
        <p:cxnSp>
          <p:nvCxnSpPr>
            <p:cNvPr id="7" name="Straight Connector 6">
              <a:extLst>
                <a:ext uri="{FF2B5EF4-FFF2-40B4-BE49-F238E27FC236}">
                  <a16:creationId xmlns:a16="http://schemas.microsoft.com/office/drawing/2014/main" id="{992A491E-38D8-9C6E-EFAA-9DF49A860D4A}"/>
                </a:ext>
              </a:extLst>
            </p:cNvPr>
            <p:cNvCxnSpPr>
              <a:cxnSpLocks/>
            </p:cNvCxnSpPr>
            <p:nvPr/>
          </p:nvCxnSpPr>
          <p:spPr>
            <a:xfrm>
              <a:off x="3154046" y="6834189"/>
              <a:ext cx="2427593" cy="0"/>
            </a:xfrm>
            <a:prstGeom prst="line">
              <a:avLst/>
            </a:prstGeom>
            <a:grpFill/>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3" name="Straight Connector 12">
            <a:extLst>
              <a:ext uri="{FF2B5EF4-FFF2-40B4-BE49-F238E27FC236}">
                <a16:creationId xmlns:a16="http://schemas.microsoft.com/office/drawing/2014/main" id="{38825AAA-31F0-AF03-EA57-ADDEFC7E670A}"/>
              </a:ext>
            </a:extLst>
          </p:cNvPr>
          <p:cNvCxnSpPr>
            <a:cxnSpLocks/>
          </p:cNvCxnSpPr>
          <p:nvPr/>
        </p:nvCxnSpPr>
        <p:spPr>
          <a:xfrm>
            <a:off x="161332" y="6613378"/>
            <a:ext cx="2351415" cy="0"/>
          </a:xfrm>
          <a:prstGeom prst="line">
            <a:avLst/>
          </a:prstGeom>
          <a:solidFill>
            <a:srgbClr val="3BB0FF"/>
          </a:solidFill>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CABD18-4D29-7ACF-CF45-91F5B98AEF06}"/>
              </a:ext>
            </a:extLst>
          </p:cNvPr>
          <p:cNvSpPr txBox="1">
            <a:spLocks/>
          </p:cNvSpPr>
          <p:nvPr/>
        </p:nvSpPr>
        <p:spPr>
          <a:xfrm>
            <a:off x="194370" y="6367391"/>
            <a:ext cx="2385924" cy="246222"/>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8: Winding Road</a:t>
            </a:r>
          </a:p>
        </p:txBody>
      </p:sp>
      <p:sp>
        <p:nvSpPr>
          <p:cNvPr id="6" name="TextBox 5">
            <a:extLst>
              <a:ext uri="{FF2B5EF4-FFF2-40B4-BE49-F238E27FC236}">
                <a16:creationId xmlns:a16="http://schemas.microsoft.com/office/drawing/2014/main" id="{65487050-DBAD-A07B-A05C-5A4E53087613}"/>
              </a:ext>
            </a:extLst>
          </p:cNvPr>
          <p:cNvSpPr txBox="1"/>
          <p:nvPr/>
        </p:nvSpPr>
        <p:spPr>
          <a:xfrm>
            <a:off x="-1" y="9853219"/>
            <a:ext cx="5737835"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FactSet, HOG 2025 Q1-Q3 10-Q, FY24 10-K, 2024 DEF 14A, 2024-2025 Earnings Transcripts &amp; Presentations</a:t>
            </a:r>
          </a:p>
        </p:txBody>
      </p:sp>
    </p:spTree>
    <p:extLst>
      <p:ext uri="{BB962C8B-B14F-4D97-AF65-F5344CB8AC3E}">
        <p14:creationId xmlns:p14="http://schemas.microsoft.com/office/powerpoint/2010/main" val="2237149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504D0-44EE-07E5-3730-2A1E510E5FD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9E10653-BD86-1C33-0C21-8087E2F90637}"/>
              </a:ext>
            </a:extLst>
          </p:cNvPr>
          <p:cNvSpPr txBox="1"/>
          <p:nvPr/>
        </p:nvSpPr>
        <p:spPr>
          <a:xfrm>
            <a:off x="7521843" y="9796790"/>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4</a:t>
            </a:r>
          </a:p>
        </p:txBody>
      </p:sp>
      <p:cxnSp>
        <p:nvCxnSpPr>
          <p:cNvPr id="20" name="Straight Connector 19">
            <a:extLst>
              <a:ext uri="{FF2B5EF4-FFF2-40B4-BE49-F238E27FC236}">
                <a16:creationId xmlns:a16="http://schemas.microsoft.com/office/drawing/2014/main" id="{59D35E55-A152-404F-48F5-BD7F3C8F4B1F}"/>
              </a:ext>
            </a:extLst>
          </p:cNvPr>
          <p:cNvCxnSpPr/>
          <p:nvPr/>
        </p:nvCxnSpPr>
        <p:spPr>
          <a:xfrm>
            <a:off x="5373666" y="7683873"/>
            <a:ext cx="2280543" cy="0"/>
          </a:xfrm>
          <a:prstGeom prst="line">
            <a:avLst/>
          </a:prstGeom>
          <a:ln w="12700">
            <a:no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784793D6-3899-7FE4-D03C-125327CC4145}"/>
              </a:ext>
            </a:extLst>
          </p:cNvPr>
          <p:cNvGrpSpPr/>
          <p:nvPr/>
        </p:nvGrpSpPr>
        <p:grpSpPr>
          <a:xfrm>
            <a:off x="154272" y="250365"/>
            <a:ext cx="2476215" cy="246221"/>
            <a:chOff x="99501" y="3929654"/>
            <a:chExt cx="2476215" cy="246221"/>
          </a:xfrm>
        </p:grpSpPr>
        <p:sp>
          <p:nvSpPr>
            <p:cNvPr id="22" name="TextBox 21">
              <a:extLst>
                <a:ext uri="{FF2B5EF4-FFF2-40B4-BE49-F238E27FC236}">
                  <a16:creationId xmlns:a16="http://schemas.microsoft.com/office/drawing/2014/main" id="{2E0F8EA7-61A3-5164-1152-9F5F8EC87506}"/>
                </a:ext>
              </a:extLst>
            </p:cNvPr>
            <p:cNvSpPr txBox="1"/>
            <p:nvPr/>
          </p:nvSpPr>
          <p:spPr>
            <a:xfrm>
              <a:off x="99501" y="3929654"/>
              <a:ext cx="2476215"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12: Underperformance vs Peers</a:t>
              </a:r>
            </a:p>
          </p:txBody>
        </p:sp>
        <p:cxnSp>
          <p:nvCxnSpPr>
            <p:cNvPr id="23" name="Straight Connector 22">
              <a:extLst>
                <a:ext uri="{FF2B5EF4-FFF2-40B4-BE49-F238E27FC236}">
                  <a16:creationId xmlns:a16="http://schemas.microsoft.com/office/drawing/2014/main" id="{EBA2F2BA-2BED-5354-863F-045E78E57A87}"/>
                </a:ext>
              </a:extLst>
            </p:cNvPr>
            <p:cNvCxnSpPr/>
            <p:nvPr/>
          </p:nvCxnSpPr>
          <p:spPr>
            <a:xfrm>
              <a:off x="163036" y="4160497"/>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EA4FE6F8-C126-3E7A-2CD8-D4A26068883E}"/>
              </a:ext>
            </a:extLst>
          </p:cNvPr>
          <p:cNvGrpSpPr/>
          <p:nvPr/>
        </p:nvGrpSpPr>
        <p:grpSpPr>
          <a:xfrm>
            <a:off x="2679100" y="234719"/>
            <a:ext cx="4996209" cy="261867"/>
            <a:chOff x="2670668" y="2236403"/>
            <a:chExt cx="4947125" cy="261867"/>
          </a:xfrm>
        </p:grpSpPr>
        <p:sp>
          <p:nvSpPr>
            <p:cNvPr id="35" name="Text Box 2">
              <a:extLst>
                <a:ext uri="{FF2B5EF4-FFF2-40B4-BE49-F238E27FC236}">
                  <a16:creationId xmlns:a16="http://schemas.microsoft.com/office/drawing/2014/main" id="{997F82BC-F012-0AED-D112-4F128ABE044E}"/>
                </a:ext>
              </a:extLst>
            </p:cNvPr>
            <p:cNvSpPr txBox="1">
              <a:spLocks noChangeArrowheads="1"/>
            </p:cNvSpPr>
            <p:nvPr/>
          </p:nvSpPr>
          <p:spPr bwMode="auto">
            <a:xfrm>
              <a:off x="2670668" y="2236403"/>
              <a:ext cx="4947125" cy="261867"/>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r>
                <a:rPr lang="en-US" sz="1600" b="1" kern="100">
                  <a:latin typeface="Calibri" panose="020F0502020204030204" pitchFamily="34" charset="0"/>
                  <a:ea typeface="Cambria" panose="02040503050406030204" pitchFamily="18" charset="0"/>
                  <a:cs typeface="Calibri" panose="020F0502020204030204" pitchFamily="34" charset="0"/>
                </a:rPr>
                <a:t>Investment Summary</a:t>
              </a:r>
            </a:p>
          </p:txBody>
        </p:sp>
        <p:cxnSp>
          <p:nvCxnSpPr>
            <p:cNvPr id="36" name="Straight Connector 35">
              <a:extLst>
                <a:ext uri="{FF2B5EF4-FFF2-40B4-BE49-F238E27FC236}">
                  <a16:creationId xmlns:a16="http://schemas.microsoft.com/office/drawing/2014/main" id="{CA0239A8-51A4-EBB3-8959-66121E743C65}"/>
                </a:ext>
              </a:extLst>
            </p:cNvPr>
            <p:cNvCxnSpPr>
              <a:cxnSpLocks/>
            </p:cNvCxnSpPr>
            <p:nvPr/>
          </p:nvCxnSpPr>
          <p:spPr>
            <a:xfrm>
              <a:off x="2729953" y="2483277"/>
              <a:ext cx="475762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7" name="TextBox 36">
            <a:extLst>
              <a:ext uri="{FF2B5EF4-FFF2-40B4-BE49-F238E27FC236}">
                <a16:creationId xmlns:a16="http://schemas.microsoft.com/office/drawing/2014/main" id="{5F140469-BC94-54FD-E367-63077DB8E879}"/>
              </a:ext>
            </a:extLst>
          </p:cNvPr>
          <p:cNvSpPr txBox="1"/>
          <p:nvPr/>
        </p:nvSpPr>
        <p:spPr>
          <a:xfrm>
            <a:off x="2730199" y="519751"/>
            <a:ext cx="4791644"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    </a:t>
            </a: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Investment Thesis </a:t>
            </a:r>
          </a:p>
        </p:txBody>
      </p:sp>
      <p:sp>
        <p:nvSpPr>
          <p:cNvPr id="39" name="TextBox 38">
            <a:extLst>
              <a:ext uri="{FF2B5EF4-FFF2-40B4-BE49-F238E27FC236}">
                <a16:creationId xmlns:a16="http://schemas.microsoft.com/office/drawing/2014/main" id="{4C7A34DB-46DE-7DB8-A1BE-18B6756FB210}"/>
              </a:ext>
            </a:extLst>
          </p:cNvPr>
          <p:cNvSpPr txBox="1"/>
          <p:nvPr/>
        </p:nvSpPr>
        <p:spPr>
          <a:xfrm>
            <a:off x="248560" y="4930526"/>
            <a:ext cx="2370616"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14: EPS, SPS, &amp; EBIT/Share</a:t>
            </a:r>
          </a:p>
        </p:txBody>
      </p:sp>
      <p:cxnSp>
        <p:nvCxnSpPr>
          <p:cNvPr id="40" name="Straight Connector 39">
            <a:extLst>
              <a:ext uri="{FF2B5EF4-FFF2-40B4-BE49-F238E27FC236}">
                <a16:creationId xmlns:a16="http://schemas.microsoft.com/office/drawing/2014/main" id="{334AC049-0CD8-20A7-D51E-38FF0B09CD6F}"/>
              </a:ext>
            </a:extLst>
          </p:cNvPr>
          <p:cNvCxnSpPr/>
          <p:nvPr/>
        </p:nvCxnSpPr>
        <p:spPr>
          <a:xfrm>
            <a:off x="184121" y="5198105"/>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735433C3-A5B6-82D5-9300-E16D63AC7DFF}"/>
              </a:ext>
            </a:extLst>
          </p:cNvPr>
          <p:cNvSpPr txBox="1"/>
          <p:nvPr/>
        </p:nvSpPr>
        <p:spPr>
          <a:xfrm>
            <a:off x="188342" y="2373992"/>
            <a:ext cx="2490758"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13: Livewire Sales Growth Estimate </a:t>
            </a:r>
          </a:p>
        </p:txBody>
      </p:sp>
      <p:cxnSp>
        <p:nvCxnSpPr>
          <p:cNvPr id="42" name="Straight Connector 41">
            <a:extLst>
              <a:ext uri="{FF2B5EF4-FFF2-40B4-BE49-F238E27FC236}">
                <a16:creationId xmlns:a16="http://schemas.microsoft.com/office/drawing/2014/main" id="{8E58A862-CDDF-BF3C-3ADD-B26B3E29A83C}"/>
              </a:ext>
            </a:extLst>
          </p:cNvPr>
          <p:cNvCxnSpPr/>
          <p:nvPr/>
        </p:nvCxnSpPr>
        <p:spPr>
          <a:xfrm>
            <a:off x="207013" y="2620213"/>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CC27A861-D6C3-FD35-F6FF-687EEC9C65CC}"/>
              </a:ext>
            </a:extLst>
          </p:cNvPr>
          <p:cNvSpPr txBox="1"/>
          <p:nvPr/>
        </p:nvSpPr>
        <p:spPr>
          <a:xfrm>
            <a:off x="2694645" y="544131"/>
            <a:ext cx="4942982" cy="5740033"/>
          </a:xfrm>
          <a:prstGeom prst="rect">
            <a:avLst/>
          </a:prstGeom>
          <a:noFill/>
        </p:spPr>
        <p:txBody>
          <a:bodyPr wrap="square" lIns="91440" tIns="45720" rIns="91440" bIns="45720" rtlCol="0" anchor="t">
            <a:spAutoFit/>
          </a:bodyPr>
          <a:lstStyle/>
          <a:p>
            <a:pPr algn="just"/>
            <a:r>
              <a:rPr lang="en-US" sz="1100"/>
              <a:t> </a:t>
            </a:r>
          </a:p>
          <a:p>
            <a:pPr algn="just"/>
            <a:r>
              <a:rPr lang="en-US" sz="1100">
                <a:latin typeface="Calibri" panose="020F0502020204030204" pitchFamily="34" charset="0"/>
                <a:ea typeface="Calibri" panose="020F0502020204030204" pitchFamily="34" charset="0"/>
                <a:cs typeface="Calibri" panose="020F0502020204030204" pitchFamily="34" charset="0"/>
              </a:rPr>
              <a:t>We believe that Harley-Davidson is a BUY given its strategic outlook and newfound financial flexibility. For decades, management and analysts alike have watched dedicated riders age out of their riding years. Instead of trying to cater to riders who need an extra wheel, Harley-Davidson has shifted focus to getting younger riders in the door with an affordable, high-quality, entry-level bike(the Sprint). In prior years, management was reluctant to make this change as it would take valuable attention and resources away from their more profitable touring bike business, not to mention that making a short-term sacrifice for long-term success is always a tough pill to swallow. If it weren’t for HDMC sitting on three hundred million dollars from the recent HDFS deal, we may be inclined to agree with them; however, this transaction gives Harley-Davidson the financial bandwidth to incorporate these new growth initiatives. </a:t>
            </a:r>
          </a:p>
          <a:p>
            <a:pPr algn="just"/>
            <a:endParaRPr lang="en-US" sz="1100">
              <a:latin typeface="Calibri" panose="020F0502020204030204" pitchFamily="34" charset="0"/>
              <a:ea typeface="Calibri" panose="020F0502020204030204" pitchFamily="34" charset="0"/>
              <a:cs typeface="Calibri" panose="020F0502020204030204" pitchFamily="34" charset="0"/>
            </a:endParaRPr>
          </a:p>
          <a:p>
            <a:pPr algn="just"/>
            <a:r>
              <a:rPr lang="en-US" sz="1100">
                <a:latin typeface="Calibri" panose="020F0502020204030204" pitchFamily="34" charset="0"/>
                <a:ea typeface="Calibri" panose="020F0502020204030204" pitchFamily="34" charset="0"/>
                <a:cs typeface="Calibri" panose="020F0502020204030204" pitchFamily="34" charset="0"/>
              </a:rPr>
              <a:t>This increased bandwidth also allows Harley-Davidson to take its next steps without missing a beat in its iconic premium segments. The new riders introduced by the Sprint bike will eventually be looking for a high-displacement motorcycle, because at the end of the day, all roads lead to Harley, and all riders end up on bigger bikes. We expect these lower-priced products to move more units, in turn leading to more loan originations for the HDFS business. Two-thirds of all loans originated will be immediately sold at a premium(1 to 2.5%) per the HDFS agreement, generating immediate profits for the business. The other one-third will serve to grow the back book and, along with the newly introduced servicing fees, be a source of recurring revenue for the firm. </a:t>
            </a:r>
          </a:p>
          <a:p>
            <a:pPr algn="just"/>
            <a:endParaRPr lang="en-US" sz="1100">
              <a:latin typeface="Calibri" panose="020F0502020204030204" pitchFamily="34" charset="0"/>
              <a:ea typeface="Calibri" panose="020F0502020204030204" pitchFamily="34" charset="0"/>
              <a:cs typeface="Calibri" panose="020F0502020204030204" pitchFamily="34" charset="0"/>
            </a:endParaRPr>
          </a:p>
          <a:p>
            <a:pPr algn="just"/>
            <a:r>
              <a:rPr lang="en-US" sz="1100">
                <a:latin typeface="Calibri" panose="020F0502020204030204" pitchFamily="34" charset="0"/>
                <a:ea typeface="Calibri" panose="020F0502020204030204" pitchFamily="34" charset="0"/>
                <a:cs typeface="Calibri" panose="020F0502020204030204" pitchFamily="34" charset="0"/>
              </a:rPr>
              <a:t>Despite its ESG positioning being nothing to write home about in years past, Harley-Davidson's controlling stake in Livewire represents a strong commitment to improving its environmental footprint moving into 2026. Their current ESG structure allows future growth to take place without having to worry about being bottlenecked.</a:t>
            </a:r>
          </a:p>
          <a:p>
            <a:pPr algn="just"/>
            <a:endParaRPr lang="en-US" sz="1100"/>
          </a:p>
          <a:p>
            <a:pPr algn="just"/>
            <a:endParaRPr lang="en-US" sz="1100"/>
          </a:p>
          <a:p>
            <a:pPr algn="just"/>
            <a:endParaRPr lang="en-US" sz="1100"/>
          </a:p>
          <a:p>
            <a:pPr algn="just"/>
            <a:endParaRPr lang="en-US" sz="400"/>
          </a:p>
        </p:txBody>
      </p:sp>
      <p:graphicFrame>
        <p:nvGraphicFramePr>
          <p:cNvPr id="33" name="Chart 32">
            <a:extLst>
              <a:ext uri="{FF2B5EF4-FFF2-40B4-BE49-F238E27FC236}">
                <a16:creationId xmlns:a16="http://schemas.microsoft.com/office/drawing/2014/main" id="{FCEA100A-13FE-5A5D-7054-9B95DDDD700D}"/>
              </a:ext>
            </a:extLst>
          </p:cNvPr>
          <p:cNvGraphicFramePr>
            <a:graphicFrameLocks/>
          </p:cNvGraphicFramePr>
          <p:nvPr>
            <p:extLst>
              <p:ext uri="{D42A27DB-BD31-4B8C-83A1-F6EECF244321}">
                <p14:modId xmlns:p14="http://schemas.microsoft.com/office/powerpoint/2010/main" val="4249587401"/>
              </p:ext>
            </p:extLst>
          </p:nvPr>
        </p:nvGraphicFramePr>
        <p:xfrm>
          <a:off x="62983" y="528472"/>
          <a:ext cx="2631662" cy="1676261"/>
        </p:xfrm>
        <a:graphic>
          <a:graphicData uri="http://schemas.openxmlformats.org/drawingml/2006/chart">
            <c:chart xmlns:c="http://schemas.openxmlformats.org/drawingml/2006/chart" xmlns:r="http://schemas.openxmlformats.org/officeDocument/2006/relationships" r:id="rId2"/>
          </a:graphicData>
        </a:graphic>
      </p:graphicFrame>
      <p:sp>
        <p:nvSpPr>
          <p:cNvPr id="44" name="TextBox 43">
            <a:extLst>
              <a:ext uri="{FF2B5EF4-FFF2-40B4-BE49-F238E27FC236}">
                <a16:creationId xmlns:a16="http://schemas.microsoft.com/office/drawing/2014/main" id="{52F8644C-ACBE-E930-3C82-F2031E64853F}"/>
              </a:ext>
            </a:extLst>
          </p:cNvPr>
          <p:cNvSpPr txBox="1"/>
          <p:nvPr/>
        </p:nvSpPr>
        <p:spPr>
          <a:xfrm>
            <a:off x="2781382" y="5684926"/>
            <a:ext cx="4791644"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    </a:t>
            </a: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Conclusion</a:t>
            </a:r>
          </a:p>
        </p:txBody>
      </p:sp>
      <p:sp>
        <p:nvSpPr>
          <p:cNvPr id="46" name="TextBox 45">
            <a:extLst>
              <a:ext uri="{FF2B5EF4-FFF2-40B4-BE49-F238E27FC236}">
                <a16:creationId xmlns:a16="http://schemas.microsoft.com/office/drawing/2014/main" id="{BB8C3053-3DDB-3CC2-9873-1AB4E9D78344}"/>
              </a:ext>
            </a:extLst>
          </p:cNvPr>
          <p:cNvSpPr txBox="1"/>
          <p:nvPr/>
        </p:nvSpPr>
        <p:spPr>
          <a:xfrm>
            <a:off x="2763436" y="5902440"/>
            <a:ext cx="4855112" cy="1446550"/>
          </a:xfrm>
          <a:prstGeom prst="rect">
            <a:avLst/>
          </a:prstGeom>
          <a:noFill/>
        </p:spPr>
        <p:txBody>
          <a:bodyPr wrap="square" rtlCol="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We give Harley-Davidson (HOG) a BUY recommendation based on our rigorous valuation methodology, which values the company at </a:t>
            </a:r>
            <a:r>
              <a:rPr lang="en-US" sz="1100" b="1">
                <a:latin typeface="Calibri" panose="020F0502020204030204" pitchFamily="34" charset="0"/>
                <a:ea typeface="Calibri" panose="020F0502020204030204" pitchFamily="34" charset="0"/>
                <a:cs typeface="Calibri" panose="020F0502020204030204" pitchFamily="34" charset="0"/>
              </a:rPr>
              <a:t>$85.33/share</a:t>
            </a:r>
            <a:r>
              <a:rPr lang="en-US" sz="1100">
                <a:latin typeface="Calibri" panose="020F0502020204030204" pitchFamily="34" charset="0"/>
                <a:ea typeface="Calibri" panose="020F0502020204030204" pitchFamily="34" charset="0"/>
                <a:cs typeface="Calibri" panose="020F0502020204030204" pitchFamily="34" charset="0"/>
              </a:rPr>
              <a:t>. This price target represents a 320.3% upside from the current price. This is evidenced by the HDFS business derisking causing </a:t>
            </a:r>
            <a:r>
              <a:rPr lang="en-US" sz="1100" b="1">
                <a:latin typeface="Calibri" panose="020F0502020204030204" pitchFamily="34" charset="0"/>
                <a:ea typeface="Calibri" panose="020F0502020204030204" pitchFamily="34" charset="0"/>
                <a:cs typeface="Calibri" panose="020F0502020204030204" pitchFamily="34" charset="0"/>
              </a:rPr>
              <a:t>idiosyncratic risk to decrease</a:t>
            </a:r>
            <a:r>
              <a:rPr lang="en-US" sz="1100">
                <a:latin typeface="Calibri" panose="020F0502020204030204" pitchFamily="34" charset="0"/>
                <a:ea typeface="Calibri" panose="020F0502020204030204" pitchFamily="34" charset="0"/>
                <a:cs typeface="Calibri" panose="020F0502020204030204" pitchFamily="34" charset="0"/>
              </a:rPr>
              <a:t>, increased sales related to new product lines, and share buybacks leading to </a:t>
            </a:r>
            <a:r>
              <a:rPr lang="en-US" sz="1100" b="1">
                <a:latin typeface="Calibri" panose="020F0502020204030204" pitchFamily="34" charset="0"/>
                <a:ea typeface="Calibri" panose="020F0502020204030204" pitchFamily="34" charset="0"/>
                <a:cs typeface="Calibri" panose="020F0502020204030204" pitchFamily="34" charset="0"/>
              </a:rPr>
              <a:t>EPS growth</a:t>
            </a:r>
            <a:r>
              <a:rPr lang="en-US" sz="1100">
                <a:latin typeface="Calibri" panose="020F0502020204030204" pitchFamily="34" charset="0"/>
                <a:ea typeface="Calibri" panose="020F0502020204030204" pitchFamily="34" charset="0"/>
                <a:cs typeface="Calibri" panose="020F0502020204030204" pitchFamily="34" charset="0"/>
              </a:rPr>
              <a:t>, and an </a:t>
            </a:r>
            <a:r>
              <a:rPr lang="en-US" sz="1100" b="1">
                <a:latin typeface="Calibri" panose="020F0502020204030204" pitchFamily="34" charset="0"/>
                <a:ea typeface="Calibri" panose="020F0502020204030204" pitchFamily="34" charset="0"/>
                <a:cs typeface="Calibri" panose="020F0502020204030204" pitchFamily="34" charset="0"/>
              </a:rPr>
              <a:t>improved</a:t>
            </a:r>
            <a:r>
              <a:rPr lang="en-US" sz="1100">
                <a:latin typeface="Calibri" panose="020F0502020204030204" pitchFamily="34" charset="0"/>
                <a:ea typeface="Calibri" panose="020F0502020204030204" pitchFamily="34" charset="0"/>
                <a:cs typeface="Calibri" panose="020F0502020204030204" pitchFamily="34" charset="0"/>
              </a:rPr>
              <a:t> </a:t>
            </a:r>
            <a:r>
              <a:rPr lang="en-US" sz="1100" b="1">
                <a:latin typeface="Calibri" panose="020F0502020204030204" pitchFamily="34" charset="0"/>
                <a:ea typeface="Calibri" panose="020F0502020204030204" pitchFamily="34" charset="0"/>
                <a:cs typeface="Calibri" panose="020F0502020204030204" pitchFamily="34" charset="0"/>
              </a:rPr>
              <a:t>P/E multiple</a:t>
            </a:r>
            <a:r>
              <a:rPr lang="en-US" sz="1100">
                <a:latin typeface="Calibri" panose="020F0502020204030204" pitchFamily="34" charset="0"/>
                <a:ea typeface="Calibri" panose="020F0502020204030204" pitchFamily="34" charset="0"/>
                <a:cs typeface="Calibri" panose="020F0502020204030204" pitchFamily="34" charset="0"/>
              </a:rPr>
              <a:t> bringing it closer to its competitor’s multiples. This is all compounded by new leadership that uses knowledge of the past to strategically combat the problems of the present, bringing new life to an old legend. </a:t>
            </a:r>
          </a:p>
        </p:txBody>
      </p:sp>
      <p:sp>
        <p:nvSpPr>
          <p:cNvPr id="3" name="TextBox 2">
            <a:extLst>
              <a:ext uri="{FF2B5EF4-FFF2-40B4-BE49-F238E27FC236}">
                <a16:creationId xmlns:a16="http://schemas.microsoft.com/office/drawing/2014/main" id="{B701AC46-3997-1457-B20E-719D60B50948}"/>
              </a:ext>
            </a:extLst>
          </p:cNvPr>
          <p:cNvSpPr txBox="1">
            <a:spLocks/>
          </p:cNvSpPr>
          <p:nvPr/>
        </p:nvSpPr>
        <p:spPr>
          <a:xfrm>
            <a:off x="2781382" y="7394511"/>
            <a:ext cx="4796339"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Additional Upside</a:t>
            </a:r>
          </a:p>
        </p:txBody>
      </p:sp>
      <p:sp>
        <p:nvSpPr>
          <p:cNvPr id="4" name="TextBox 3">
            <a:extLst>
              <a:ext uri="{FF2B5EF4-FFF2-40B4-BE49-F238E27FC236}">
                <a16:creationId xmlns:a16="http://schemas.microsoft.com/office/drawing/2014/main" id="{AE422DF4-AE6A-7BE9-8F68-C23CD61A7E79}"/>
              </a:ext>
            </a:extLst>
          </p:cNvPr>
          <p:cNvSpPr txBox="1"/>
          <p:nvPr/>
        </p:nvSpPr>
        <p:spPr>
          <a:xfrm>
            <a:off x="2703779" y="7580844"/>
            <a:ext cx="4904663" cy="2569934"/>
          </a:xfrm>
          <a:prstGeom prst="rect">
            <a:avLst/>
          </a:prstGeom>
          <a:noFill/>
        </p:spPr>
        <p:txBody>
          <a:bodyPr wrap="square" rtlCol="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One of the most compelling additional upsides is Livewire’s expansion into electric scooters, which broadens Harley-Davidson's exposure to faster-growing, more entry-level markets where scooters dominate two-wheeled transportation in places like Europe and Asia. By targeting this new demographic, Livewire expands its total addressable market and introduces new demographics to Harley-Davidson. Successful market penetration would validate Livewires electric platform at higher volumes and increase equity value for Harley-Davidson, a majority shareholder offering upside with low risk. Beyond this, we have little information on the direction of Harley-Davidson proper that we haven’t mentioned already, except for Harley’s growing presence in high-displacement motorcycle racing throughout late 2025. Perhaps this will lead Harley-Davidson to improve the performance of its lineup, or even hint at a standard or sports bike in the future, exposing the company to more high-growth segments of the motorcycle industry</a:t>
            </a:r>
          </a:p>
          <a:p>
            <a:pPr algn="just"/>
            <a:endParaRPr lang="en-US"/>
          </a:p>
        </p:txBody>
      </p:sp>
      <p:graphicFrame>
        <p:nvGraphicFramePr>
          <p:cNvPr id="6" name="Chart 5">
            <a:extLst>
              <a:ext uri="{FF2B5EF4-FFF2-40B4-BE49-F238E27FC236}">
                <a16:creationId xmlns:a16="http://schemas.microsoft.com/office/drawing/2014/main" id="{E53A427B-5D0F-4085-869F-D1E673D11050}"/>
              </a:ext>
            </a:extLst>
          </p:cNvPr>
          <p:cNvGraphicFramePr>
            <a:graphicFrameLocks/>
          </p:cNvGraphicFramePr>
          <p:nvPr>
            <p:extLst>
              <p:ext uri="{D42A27DB-BD31-4B8C-83A1-F6EECF244321}">
                <p14:modId xmlns:p14="http://schemas.microsoft.com/office/powerpoint/2010/main" val="1810565220"/>
              </p:ext>
            </p:extLst>
          </p:nvPr>
        </p:nvGraphicFramePr>
        <p:xfrm>
          <a:off x="132718" y="5308027"/>
          <a:ext cx="2561927" cy="2225391"/>
        </p:xfrm>
        <a:graphic>
          <a:graphicData uri="http://schemas.openxmlformats.org/drawingml/2006/chart">
            <c:chart xmlns:c="http://schemas.openxmlformats.org/drawingml/2006/chart" xmlns:r="http://schemas.openxmlformats.org/officeDocument/2006/relationships" r:id="rId3"/>
          </a:graphicData>
        </a:graphic>
      </p:graphicFrame>
      <p:pic>
        <p:nvPicPr>
          <p:cNvPr id="11" name="Picture 10">
            <a:extLst>
              <a:ext uri="{FF2B5EF4-FFF2-40B4-BE49-F238E27FC236}">
                <a16:creationId xmlns:a16="http://schemas.microsoft.com/office/drawing/2014/main" id="{0D5B84D6-D0AA-446A-9DDD-5EB9C056EB2E}"/>
              </a:ext>
            </a:extLst>
          </p:cNvPr>
          <p:cNvPicPr>
            <a:picLocks noChangeAspect="1"/>
          </p:cNvPicPr>
          <p:nvPr/>
        </p:nvPicPr>
        <p:blipFill>
          <a:blip r:embed="rId4"/>
          <a:srcRect l="7763" r="5854"/>
          <a:stretch>
            <a:fillRect/>
          </a:stretch>
        </p:blipFill>
        <p:spPr>
          <a:xfrm>
            <a:off x="152424" y="7963622"/>
            <a:ext cx="2526676" cy="1713509"/>
          </a:xfrm>
          <a:prstGeom prst="rect">
            <a:avLst/>
          </a:prstGeom>
        </p:spPr>
      </p:pic>
      <p:cxnSp>
        <p:nvCxnSpPr>
          <p:cNvPr id="13" name="Straight Connector 12">
            <a:extLst>
              <a:ext uri="{FF2B5EF4-FFF2-40B4-BE49-F238E27FC236}">
                <a16:creationId xmlns:a16="http://schemas.microsoft.com/office/drawing/2014/main" id="{96D9A5B7-6ED3-C2E2-98E5-652085C542CF}"/>
              </a:ext>
            </a:extLst>
          </p:cNvPr>
          <p:cNvCxnSpPr/>
          <p:nvPr/>
        </p:nvCxnSpPr>
        <p:spPr>
          <a:xfrm>
            <a:off x="163958" y="7811350"/>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78F6C3F-2553-7F92-4861-4001590070A6}"/>
              </a:ext>
            </a:extLst>
          </p:cNvPr>
          <p:cNvSpPr txBox="1"/>
          <p:nvPr/>
        </p:nvSpPr>
        <p:spPr>
          <a:xfrm>
            <a:off x="195761" y="7580842"/>
            <a:ext cx="2476215"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15: Livewire Maxi Scooter</a:t>
            </a:r>
          </a:p>
        </p:txBody>
      </p:sp>
      <p:sp>
        <p:nvSpPr>
          <p:cNvPr id="7" name="TextBox 6">
            <a:extLst>
              <a:ext uri="{FF2B5EF4-FFF2-40B4-BE49-F238E27FC236}">
                <a16:creationId xmlns:a16="http://schemas.microsoft.com/office/drawing/2014/main" id="{84BA0A55-7191-F228-E822-B55D1F38D109}"/>
              </a:ext>
            </a:extLst>
          </p:cNvPr>
          <p:cNvSpPr txBox="1"/>
          <p:nvPr/>
        </p:nvSpPr>
        <p:spPr>
          <a:xfrm>
            <a:off x="0" y="9842956"/>
            <a:ext cx="7618548"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FactSet, HOG 2025 Q1-Q3 10-Q, FY24 10-K, 2024-2025 Earnings Transcripts &amp; Presentations</a:t>
            </a:r>
          </a:p>
        </p:txBody>
      </p:sp>
      <p:graphicFrame>
        <p:nvGraphicFramePr>
          <p:cNvPr id="16" name="Chart 15">
            <a:extLst>
              <a:ext uri="{FF2B5EF4-FFF2-40B4-BE49-F238E27FC236}">
                <a16:creationId xmlns:a16="http://schemas.microsoft.com/office/drawing/2014/main" id="{09F34459-5B6D-9019-99A2-08ABDB79115F}"/>
              </a:ext>
            </a:extLst>
          </p:cNvPr>
          <p:cNvGraphicFramePr>
            <a:graphicFrameLocks/>
          </p:cNvGraphicFramePr>
          <p:nvPr>
            <p:extLst>
              <p:ext uri="{D42A27DB-BD31-4B8C-83A1-F6EECF244321}">
                <p14:modId xmlns:p14="http://schemas.microsoft.com/office/powerpoint/2010/main" val="65484353"/>
              </p:ext>
            </p:extLst>
          </p:nvPr>
        </p:nvGraphicFramePr>
        <p:xfrm>
          <a:off x="62983" y="2718265"/>
          <a:ext cx="2576830" cy="221226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809162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5909B-CB55-A3E4-E43E-4169AD2F2582}"/>
            </a:ext>
          </a:extLst>
        </p:cNvPr>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7B243BB0-FF0E-1734-F7E2-76E05484E55B}"/>
              </a:ext>
            </a:extLst>
          </p:cNvPr>
          <p:cNvGraphicFramePr>
            <a:graphicFrameLocks/>
          </p:cNvGraphicFramePr>
          <p:nvPr>
            <p:extLst>
              <p:ext uri="{D42A27DB-BD31-4B8C-83A1-F6EECF244321}">
                <p14:modId xmlns:p14="http://schemas.microsoft.com/office/powerpoint/2010/main" val="3654110467"/>
              </p:ext>
            </p:extLst>
          </p:nvPr>
        </p:nvGraphicFramePr>
        <p:xfrm>
          <a:off x="76224" y="593525"/>
          <a:ext cx="2610864" cy="1548681"/>
        </p:xfrm>
        <a:graphic>
          <a:graphicData uri="http://schemas.openxmlformats.org/drawingml/2006/chart">
            <c:chart xmlns:c="http://schemas.openxmlformats.org/drawingml/2006/chart" xmlns:r="http://schemas.openxmlformats.org/officeDocument/2006/relationships" r:id="rId4"/>
          </a:graphicData>
        </a:graphic>
      </p:graphicFrame>
      <p:cxnSp>
        <p:nvCxnSpPr>
          <p:cNvPr id="27" name="Straight Arrow Connector 26">
            <a:extLst>
              <a:ext uri="{FF2B5EF4-FFF2-40B4-BE49-F238E27FC236}">
                <a16:creationId xmlns:a16="http://schemas.microsoft.com/office/drawing/2014/main" id="{BE9D0E1B-882F-E24C-9788-40B208AA9020}"/>
              </a:ext>
            </a:extLst>
          </p:cNvPr>
          <p:cNvCxnSpPr>
            <a:cxnSpLocks/>
          </p:cNvCxnSpPr>
          <p:nvPr/>
        </p:nvCxnSpPr>
        <p:spPr>
          <a:xfrm flipV="1">
            <a:off x="868017" y="803048"/>
            <a:ext cx="1234766" cy="1762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TextBox 1">
            <a:extLst>
              <a:ext uri="{FF2B5EF4-FFF2-40B4-BE49-F238E27FC236}">
                <a16:creationId xmlns:a16="http://schemas.microsoft.com/office/drawing/2014/main" id="{47D01D24-7EB2-E95A-94E9-222575AE95D3}"/>
              </a:ext>
            </a:extLst>
          </p:cNvPr>
          <p:cNvSpPr txBox="1"/>
          <p:nvPr/>
        </p:nvSpPr>
        <p:spPr>
          <a:xfrm>
            <a:off x="7433013" y="9780017"/>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3</a:t>
            </a:r>
          </a:p>
        </p:txBody>
      </p:sp>
      <p:sp>
        <p:nvSpPr>
          <p:cNvPr id="7" name="Text Box 2">
            <a:extLst>
              <a:ext uri="{FF2B5EF4-FFF2-40B4-BE49-F238E27FC236}">
                <a16:creationId xmlns:a16="http://schemas.microsoft.com/office/drawing/2014/main" id="{A5E76712-5E9E-C688-DA23-1EFC29DA5B10}"/>
              </a:ext>
            </a:extLst>
          </p:cNvPr>
          <p:cNvSpPr txBox="1">
            <a:spLocks noChangeArrowheads="1"/>
          </p:cNvSpPr>
          <p:nvPr/>
        </p:nvSpPr>
        <p:spPr bwMode="auto">
          <a:xfrm>
            <a:off x="2669575" y="301918"/>
            <a:ext cx="4947125" cy="246221"/>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endParaRPr lang="en-US" sz="1100" kern="100">
              <a:highlight>
                <a:srgbClr val="FFFF00"/>
              </a:highlight>
              <a:latin typeface="Calibri" panose="020F0502020204030204" pitchFamily="34" charset="0"/>
              <a:ea typeface="Cambria" panose="02040503050406030204" pitchFamily="18" charset="0"/>
              <a:cs typeface="Calibri" panose="020F0502020204030204" pitchFamily="34" charset="0"/>
            </a:endParaRPr>
          </a:p>
        </p:txBody>
      </p:sp>
      <p:sp>
        <p:nvSpPr>
          <p:cNvPr id="4" name="TextBox 3">
            <a:extLst>
              <a:ext uri="{FF2B5EF4-FFF2-40B4-BE49-F238E27FC236}">
                <a16:creationId xmlns:a16="http://schemas.microsoft.com/office/drawing/2014/main" id="{30D843F0-552E-5C09-2907-1E78140B05A1}"/>
              </a:ext>
            </a:extLst>
          </p:cNvPr>
          <p:cNvSpPr txBox="1">
            <a:spLocks/>
          </p:cNvSpPr>
          <p:nvPr/>
        </p:nvSpPr>
        <p:spPr>
          <a:xfrm>
            <a:off x="2732409" y="1809656"/>
            <a:ext cx="4796043"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mbria" panose="02040503050406030204" pitchFamily="18"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Improving Consumer Health and Easing Credit Conditions</a:t>
            </a:r>
          </a:p>
        </p:txBody>
      </p:sp>
      <p:grpSp>
        <p:nvGrpSpPr>
          <p:cNvPr id="14" name="Group 13">
            <a:extLst>
              <a:ext uri="{FF2B5EF4-FFF2-40B4-BE49-F238E27FC236}">
                <a16:creationId xmlns:a16="http://schemas.microsoft.com/office/drawing/2014/main" id="{CE9EF2D0-F944-BD5A-024F-61AD94D50BD7}"/>
              </a:ext>
            </a:extLst>
          </p:cNvPr>
          <p:cNvGrpSpPr>
            <a:grpSpLocks noGrp="1" noUngrp="1" noRot="1" noMove="1" noResize="1"/>
          </p:cNvGrpSpPr>
          <p:nvPr/>
        </p:nvGrpSpPr>
        <p:grpSpPr>
          <a:xfrm>
            <a:off x="2687088" y="280451"/>
            <a:ext cx="4922275" cy="261867"/>
            <a:chOff x="2687088" y="7539454"/>
            <a:chExt cx="4922275" cy="261867"/>
          </a:xfrm>
        </p:grpSpPr>
        <p:cxnSp>
          <p:nvCxnSpPr>
            <p:cNvPr id="57" name="Straight Connector 56">
              <a:extLst>
                <a:ext uri="{FF2B5EF4-FFF2-40B4-BE49-F238E27FC236}">
                  <a16:creationId xmlns:a16="http://schemas.microsoft.com/office/drawing/2014/main" id="{226C87D9-B2EA-4ECB-91B3-0B0DFD95A1CC}"/>
                </a:ext>
              </a:extLst>
            </p:cNvPr>
            <p:cNvCxnSpPr>
              <a:cxnSpLocks noGrp="1" noRot="1" noMove="1" noResize="1" noEditPoints="1" noAdjustHandles="1" noChangeArrowheads="1" noChangeShapeType="1"/>
            </p:cNvCxnSpPr>
            <p:nvPr/>
          </p:nvCxnSpPr>
          <p:spPr>
            <a:xfrm>
              <a:off x="2754582" y="7773217"/>
              <a:ext cx="477170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48" name="Text Box 2">
              <a:extLst>
                <a:ext uri="{FF2B5EF4-FFF2-40B4-BE49-F238E27FC236}">
                  <a16:creationId xmlns:a16="http://schemas.microsoft.com/office/drawing/2014/main" id="{D65FC5C2-C96F-4462-42A8-50A558F5EDAE}"/>
                </a:ext>
              </a:extLst>
            </p:cNvPr>
            <p:cNvSpPr txBox="1">
              <a:spLocks noGrp="1" noRot="1" noMove="1" noResize="1" noEditPoints="1" noAdjustHandles="1" noChangeArrowheads="1" noChangeShapeType="1"/>
            </p:cNvSpPr>
            <p:nvPr/>
          </p:nvSpPr>
          <p:spPr bwMode="auto">
            <a:xfrm>
              <a:off x="2687088" y="7539454"/>
              <a:ext cx="4922275" cy="261867"/>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r>
                <a:rPr lang="en-US" sz="1600" b="1" kern="100">
                  <a:latin typeface="Calibri" panose="020F0502020204030204" pitchFamily="34" charset="0"/>
                  <a:ea typeface="Cambria" panose="02040503050406030204" pitchFamily="18" charset="0"/>
                  <a:cs typeface="Calibri" panose="020F0502020204030204" pitchFamily="34" charset="0"/>
                </a:rPr>
                <a:t>Industry Overview</a:t>
              </a:r>
            </a:p>
          </p:txBody>
        </p:sp>
      </p:grpSp>
      <p:sp>
        <p:nvSpPr>
          <p:cNvPr id="10" name="TextBox 9">
            <a:extLst>
              <a:ext uri="{FF2B5EF4-FFF2-40B4-BE49-F238E27FC236}">
                <a16:creationId xmlns:a16="http://schemas.microsoft.com/office/drawing/2014/main" id="{6DA5C6D6-971B-9617-C615-47F37ACF0346}"/>
              </a:ext>
            </a:extLst>
          </p:cNvPr>
          <p:cNvSpPr txBox="1"/>
          <p:nvPr/>
        </p:nvSpPr>
        <p:spPr>
          <a:xfrm>
            <a:off x="223990" y="269557"/>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9: Heavyweight Market Growing</a:t>
            </a:r>
          </a:p>
        </p:txBody>
      </p:sp>
      <p:cxnSp>
        <p:nvCxnSpPr>
          <p:cNvPr id="15" name="Straight Connector 14">
            <a:extLst>
              <a:ext uri="{FF2B5EF4-FFF2-40B4-BE49-F238E27FC236}">
                <a16:creationId xmlns:a16="http://schemas.microsoft.com/office/drawing/2014/main" id="{1378EEA8-E6A0-5263-7125-B38EB648CFA8}"/>
              </a:ext>
            </a:extLst>
          </p:cNvPr>
          <p:cNvCxnSpPr>
            <a:cxnSpLocks/>
          </p:cNvCxnSpPr>
          <p:nvPr/>
        </p:nvCxnSpPr>
        <p:spPr>
          <a:xfrm>
            <a:off x="220320" y="514214"/>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00B8481-06B5-6E6C-864B-847462BF330B}"/>
              </a:ext>
            </a:extLst>
          </p:cNvPr>
          <p:cNvSpPr txBox="1"/>
          <p:nvPr/>
        </p:nvSpPr>
        <p:spPr>
          <a:xfrm>
            <a:off x="2678875" y="548139"/>
            <a:ext cx="4832503" cy="1107996"/>
          </a:xfrm>
          <a:prstGeom prst="rect">
            <a:avLst/>
          </a:prstGeom>
          <a:noFill/>
        </p:spPr>
        <p:txBody>
          <a:bodyPr wrap="square" rtlCol="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The Motorcycle Manufacturing industry is cyclical and highly sensitive to macroeconomic factors such as interest rates, fuel prices, and discretionary income. Notably, demand patterns in the U.S., Harley’s largest market, are shaped by attachments to biker culture, while growth opportunities in Asia and Latin America are linked to rising middle-class incomes and mobility needs. Harley controls 37% of the global heavyweight industry. </a:t>
            </a:r>
          </a:p>
        </p:txBody>
      </p:sp>
      <p:sp>
        <p:nvSpPr>
          <p:cNvPr id="22" name="TextBox 21">
            <a:extLst>
              <a:ext uri="{FF2B5EF4-FFF2-40B4-BE49-F238E27FC236}">
                <a16:creationId xmlns:a16="http://schemas.microsoft.com/office/drawing/2014/main" id="{03036B1F-B969-3166-9D17-B1D26D5ED6F1}"/>
              </a:ext>
            </a:extLst>
          </p:cNvPr>
          <p:cNvSpPr txBox="1"/>
          <p:nvPr/>
        </p:nvSpPr>
        <p:spPr>
          <a:xfrm>
            <a:off x="2676961" y="2074398"/>
            <a:ext cx="4929704" cy="1615827"/>
          </a:xfrm>
          <a:prstGeom prst="rect">
            <a:avLst/>
          </a:prstGeom>
          <a:noFill/>
        </p:spPr>
        <p:txBody>
          <a:bodyPr wrap="square" rtlCol="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Harley Davidson Motorcycles are typically financed and purchased through HDFS, making demand sensitive to interest rates. The easing of rates would be critically important for Harley because it would support its secondary market of used motorcycles. High interest rates have hurt Harley significantly in the past especially in 2023 and throughout 2024. As rates have come down in 2025 and there is a possibility of 2 more rate cuts in 2026, liquidity would return to the used motorcycle market. This creates a positive loop for Harley, a trade in of a used bike would decrease the amount of money a customer would spend on an  upgrade of a new bike, while Harley would be subsiding new unit sales.</a:t>
            </a:r>
          </a:p>
        </p:txBody>
      </p:sp>
      <p:sp>
        <p:nvSpPr>
          <p:cNvPr id="31" name="TextBox 30">
            <a:extLst>
              <a:ext uri="{FF2B5EF4-FFF2-40B4-BE49-F238E27FC236}">
                <a16:creationId xmlns:a16="http://schemas.microsoft.com/office/drawing/2014/main" id="{8D18BA91-A145-C3E1-276B-EAE7E67E88CA}"/>
              </a:ext>
            </a:extLst>
          </p:cNvPr>
          <p:cNvSpPr txBox="1"/>
          <p:nvPr/>
        </p:nvSpPr>
        <p:spPr>
          <a:xfrm>
            <a:off x="2137894" y="611220"/>
            <a:ext cx="505870" cy="261610"/>
          </a:xfrm>
          <a:prstGeom prst="rect">
            <a:avLst/>
          </a:prstGeom>
          <a:noFill/>
        </p:spPr>
        <p:txBody>
          <a:bodyPr wrap="square" rtlCol="0">
            <a:spAutoFit/>
          </a:bodyPr>
          <a:lstStyle/>
          <a:p>
            <a:r>
              <a:rPr lang="en-US" sz="1100">
                <a:latin typeface="Calibri" panose="020F0502020204030204" pitchFamily="34" charset="0"/>
                <a:ea typeface="Calibri" panose="020F0502020204030204" pitchFamily="34" charset="0"/>
                <a:cs typeface="Calibri" panose="020F0502020204030204" pitchFamily="34" charset="0"/>
              </a:rPr>
              <a:t>30.6b</a:t>
            </a:r>
          </a:p>
        </p:txBody>
      </p:sp>
      <p:sp>
        <p:nvSpPr>
          <p:cNvPr id="3" name="TextBox 2">
            <a:extLst>
              <a:ext uri="{FF2B5EF4-FFF2-40B4-BE49-F238E27FC236}">
                <a16:creationId xmlns:a16="http://schemas.microsoft.com/office/drawing/2014/main" id="{D6363922-6A51-1DC8-D2FE-E55CF3389B79}"/>
              </a:ext>
            </a:extLst>
          </p:cNvPr>
          <p:cNvSpPr txBox="1"/>
          <p:nvPr/>
        </p:nvSpPr>
        <p:spPr>
          <a:xfrm>
            <a:off x="129152" y="4020330"/>
            <a:ext cx="7266767" cy="1892826"/>
          </a:xfrm>
          <a:prstGeom prst="rect">
            <a:avLst/>
          </a:prstGeom>
          <a:noFill/>
        </p:spPr>
        <p:txBody>
          <a:bodyPr wrap="square" rtlCol="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Here in the United States, the most common way to become licensed to ride a motorcycle is to pass your Motorcycle Safety Foundations(MSF) course, often hosed at your local Harley Davidson dealership. This is preferable for the MSF instructor, as the company provides the venue and the motorcycles for the students to ride. From 2000 to 2009, Harley-Davidson through it’s subsidiary “Buell”, produced an affordable low displacement motorcycle called the blast. This was the motorcycle that they provided for the MSF instructors to teach on, which  meant that any riders who attained their MSF certification at a Harley dealership could have the opportunity to purchase the exact motorcycle that they learned on with very little financial commitment. This served to bring New riders into the Harley family, turning them into lifelong Harley customers- the very same customers who are today moving on to the high margin cruisers, baggers, and trikes that are the bread and butter of the business. Now, The Sprint will fill the same role with management hinting at it’s role in rider education.</a:t>
            </a:r>
          </a:p>
          <a:p>
            <a:endParaRPr lang="en-US"/>
          </a:p>
        </p:txBody>
      </p:sp>
      <p:sp>
        <p:nvSpPr>
          <p:cNvPr id="5" name="TextBox 4">
            <a:extLst>
              <a:ext uri="{FF2B5EF4-FFF2-40B4-BE49-F238E27FC236}">
                <a16:creationId xmlns:a16="http://schemas.microsoft.com/office/drawing/2014/main" id="{50375B7D-6D39-84D7-7643-AD2B9373656D}"/>
              </a:ext>
            </a:extLst>
          </p:cNvPr>
          <p:cNvSpPr txBox="1">
            <a:spLocks/>
          </p:cNvSpPr>
          <p:nvPr/>
        </p:nvSpPr>
        <p:spPr>
          <a:xfrm>
            <a:off x="220320" y="3800694"/>
            <a:ext cx="7305965" cy="219356"/>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mbria" panose="02040503050406030204" pitchFamily="18"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From Pedestrian to Biker</a:t>
            </a:r>
          </a:p>
        </p:txBody>
      </p:sp>
      <p:cxnSp>
        <p:nvCxnSpPr>
          <p:cNvPr id="23" name="Straight Connector 22">
            <a:extLst>
              <a:ext uri="{FF2B5EF4-FFF2-40B4-BE49-F238E27FC236}">
                <a16:creationId xmlns:a16="http://schemas.microsoft.com/office/drawing/2014/main" id="{FC6B56D0-83DE-539D-0AE1-6D1A9D546776}"/>
              </a:ext>
            </a:extLst>
          </p:cNvPr>
          <p:cNvCxnSpPr>
            <a:cxnSpLocks/>
          </p:cNvCxnSpPr>
          <p:nvPr/>
        </p:nvCxnSpPr>
        <p:spPr>
          <a:xfrm>
            <a:off x="165735" y="2360676"/>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12DF8E7-DDB2-2184-05DE-37FDD11A046A}"/>
              </a:ext>
            </a:extLst>
          </p:cNvPr>
          <p:cNvSpPr txBox="1"/>
          <p:nvPr/>
        </p:nvSpPr>
        <p:spPr>
          <a:xfrm>
            <a:off x="113172" y="2153953"/>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10: Interest Rates - L vs HOG Sales - R</a:t>
            </a:r>
          </a:p>
        </p:txBody>
      </p:sp>
      <p:sp>
        <p:nvSpPr>
          <p:cNvPr id="30" name="TextBox 29">
            <a:extLst>
              <a:ext uri="{FF2B5EF4-FFF2-40B4-BE49-F238E27FC236}">
                <a16:creationId xmlns:a16="http://schemas.microsoft.com/office/drawing/2014/main" id="{8568766B-B7A7-2EBF-2CD8-EF768C49D626}"/>
              </a:ext>
            </a:extLst>
          </p:cNvPr>
          <p:cNvSpPr txBox="1">
            <a:spLocks/>
          </p:cNvSpPr>
          <p:nvPr/>
        </p:nvSpPr>
        <p:spPr>
          <a:xfrm>
            <a:off x="2715040" y="5695143"/>
            <a:ext cx="4796339"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Strong Book and Shareholder Return</a:t>
            </a:r>
          </a:p>
        </p:txBody>
      </p:sp>
      <p:sp>
        <p:nvSpPr>
          <p:cNvPr id="32" name="Text Box 2">
            <a:extLst>
              <a:ext uri="{FF2B5EF4-FFF2-40B4-BE49-F238E27FC236}">
                <a16:creationId xmlns:a16="http://schemas.microsoft.com/office/drawing/2014/main" id="{30F75369-E1F7-0A87-2B64-0C3C3B288A2C}"/>
              </a:ext>
            </a:extLst>
          </p:cNvPr>
          <p:cNvSpPr txBox="1">
            <a:spLocks noChangeArrowheads="1"/>
          </p:cNvSpPr>
          <p:nvPr/>
        </p:nvSpPr>
        <p:spPr bwMode="auto">
          <a:xfrm>
            <a:off x="2648507" y="5899607"/>
            <a:ext cx="4968193" cy="1938992"/>
          </a:xfrm>
          <a:prstGeom prst="rect">
            <a:avLst/>
          </a:prstGeom>
          <a:noFill/>
          <a:ln w="9525">
            <a:noFill/>
            <a:miter lim="800000"/>
            <a:headEnd/>
            <a:tailEnd/>
          </a:ln>
        </p:spPr>
        <p:txBody>
          <a:bodyPr rot="0" vert="horz" wrap="square" lIns="91440" tIns="45720" rIns="91440" bIns="45720" anchor="t" anchorCtr="0">
            <a:spAutoFit/>
          </a:bodyPr>
          <a:lstStyle/>
          <a:p>
            <a:pPr algn="just">
              <a:lnSpc>
                <a:spcPts val="1200"/>
              </a:lnSpc>
              <a:spcAft>
                <a:spcPts val="600"/>
              </a:spcAft>
            </a:pPr>
            <a:r>
              <a:rPr lang="en-US" sz="1100">
                <a:latin typeface="Calibri" panose="020F0502020204030204" pitchFamily="34" charset="0"/>
                <a:ea typeface="Calibri" panose="020F0502020204030204" pitchFamily="34" charset="0"/>
                <a:cs typeface="Calibri" panose="020F0502020204030204" pitchFamily="34" charset="0"/>
              </a:rPr>
              <a:t>Harley robust cash flow supports ongoing share repurchases (1 billion dollars' worth of shares to be bought back by 2026) and dividends of $0.72 per share, enhancing shareholder value even during cyclical downturns. The balance sheet also was transformed by partnering with KRR and PIMCO to offload their loan receivables. This transition will give approximately $1.25 billion in discretionary cash and value HDFS at 1.75x book value after transaction. It will allow Harley to reduce $450 million in debt while giving $500 million in return to shareholders. While Suzuki dominates India and Yamaha dominates the marine market, Harley dominates the touring market in the U.S. holding roughly 75% of the touring bike market. While Harley may only be trading at 5x earnings it’s FCF yield is significantly higher than competitors. The market may be pricing it as a dying company, but we think it is a mature company that is undervalued.</a:t>
            </a:r>
            <a:endParaRPr lang="en-US" sz="1100" kern="1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0E4CA590-EB83-841E-2B33-1DD0872E9B4B}"/>
              </a:ext>
            </a:extLst>
          </p:cNvPr>
          <p:cNvSpPr txBox="1">
            <a:spLocks/>
          </p:cNvSpPr>
          <p:nvPr/>
        </p:nvSpPr>
        <p:spPr>
          <a:xfrm>
            <a:off x="220319" y="7861734"/>
            <a:ext cx="7291059"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Competitive Positioning</a:t>
            </a:r>
          </a:p>
        </p:txBody>
      </p:sp>
      <p:sp>
        <p:nvSpPr>
          <p:cNvPr id="34" name="TextBox 33">
            <a:extLst>
              <a:ext uri="{FF2B5EF4-FFF2-40B4-BE49-F238E27FC236}">
                <a16:creationId xmlns:a16="http://schemas.microsoft.com/office/drawing/2014/main" id="{960879B6-8823-ACA0-C8A8-5291818F68CF}"/>
              </a:ext>
            </a:extLst>
          </p:cNvPr>
          <p:cNvSpPr txBox="1"/>
          <p:nvPr/>
        </p:nvSpPr>
        <p:spPr>
          <a:xfrm>
            <a:off x="220320" y="8081089"/>
            <a:ext cx="7291057" cy="1785104"/>
          </a:xfrm>
          <a:prstGeom prst="rect">
            <a:avLst/>
          </a:prstGeom>
          <a:noFill/>
        </p:spPr>
        <p:txBody>
          <a:bodyPr wrap="square" rtlCol="0">
            <a:spAutoFit/>
          </a:bodyPr>
          <a:lstStyle/>
          <a:p>
            <a:pPr algn="just" fontAlgn="base"/>
            <a:r>
              <a:rPr lang="en-US" sz="1100">
                <a:latin typeface="Calibri" panose="020F0502020204030204" pitchFamily="34" charset="0"/>
                <a:ea typeface="Calibri" panose="020F0502020204030204" pitchFamily="34" charset="0"/>
                <a:cs typeface="Calibri" panose="020F0502020204030204" pitchFamily="34" charset="0"/>
              </a:rPr>
              <a:t>Harley operates in a mature and competitive motorcycle industry; however, the company maintains a distinct competitive advantage through brand strength and loyalty, and premium positioning. Despite competitors eroding at Harley’s stake in the mid displacement market with cheaper bikes, and the ongoing poor management of its electric segment, Livewire, Harley maintains a stranglehold over the premium traditional touring market. The company has built one of the most recognizable lifestyles brands in the world with strong engagement across social media, traditional media, and events. Harley has benefited from having a uniquely loyal consumer base, with their apparel making  up 4.6% of its total revenue. While touring the Harley-Davidson headquarters, we couldn’t help but be amazed by the heartwarming stories of hardened Harley owners being brought to tears by being in the same place that their most prized possession was made in. You don’t find that brand loyalty anywhere else. </a:t>
            </a:r>
            <a:endParaRPr lang="en-US" sz="1100"/>
          </a:p>
          <a:p>
            <a:pPr fontAlgn="base"/>
            <a:endParaRPr lang="en-US" sz="1100"/>
          </a:p>
        </p:txBody>
      </p:sp>
      <p:sp>
        <p:nvSpPr>
          <p:cNvPr id="28" name="TextBox 27">
            <a:extLst>
              <a:ext uri="{FF2B5EF4-FFF2-40B4-BE49-F238E27FC236}">
                <a16:creationId xmlns:a16="http://schemas.microsoft.com/office/drawing/2014/main" id="{A81FF075-022D-3022-0D5D-B0786C13E6AE}"/>
              </a:ext>
            </a:extLst>
          </p:cNvPr>
          <p:cNvSpPr txBox="1"/>
          <p:nvPr/>
        </p:nvSpPr>
        <p:spPr>
          <a:xfrm>
            <a:off x="369759" y="848478"/>
            <a:ext cx="1175657" cy="261610"/>
          </a:xfrm>
          <a:prstGeom prst="rect">
            <a:avLst/>
          </a:prstGeom>
          <a:noFill/>
        </p:spPr>
        <p:txBody>
          <a:bodyPr wrap="square" rtlCol="0">
            <a:spAutoFit/>
          </a:bodyPr>
          <a:lstStyle/>
          <a:p>
            <a:r>
              <a:rPr lang="en-US" sz="1100">
                <a:latin typeface="Calibri" panose="020F0502020204030204" pitchFamily="34" charset="0"/>
                <a:ea typeface="Calibri" panose="020F0502020204030204" pitchFamily="34" charset="0"/>
                <a:cs typeface="Calibri" panose="020F0502020204030204" pitchFamily="34" charset="0"/>
              </a:rPr>
              <a:t>24.7b</a:t>
            </a:r>
          </a:p>
        </p:txBody>
      </p:sp>
      <p:graphicFrame>
        <p:nvGraphicFramePr>
          <p:cNvPr id="18" name="Table 17">
            <a:extLst>
              <a:ext uri="{FF2B5EF4-FFF2-40B4-BE49-F238E27FC236}">
                <a16:creationId xmlns:a16="http://schemas.microsoft.com/office/drawing/2014/main" id="{FC264139-8A44-A160-895F-99175E7D5184}"/>
              </a:ext>
            </a:extLst>
          </p:cNvPr>
          <p:cNvGraphicFramePr>
            <a:graphicFrameLocks noGrp="1"/>
          </p:cNvGraphicFramePr>
          <p:nvPr>
            <p:custDataLst>
              <p:tags r:id="rId1"/>
            </p:custDataLst>
            <p:extLst>
              <p:ext uri="{D42A27DB-BD31-4B8C-83A1-F6EECF244321}">
                <p14:modId xmlns:p14="http://schemas.microsoft.com/office/powerpoint/2010/main" val="2033918331"/>
              </p:ext>
            </p:extLst>
          </p:nvPr>
        </p:nvGraphicFramePr>
        <p:xfrm>
          <a:off x="257160" y="5976362"/>
          <a:ext cx="2407572" cy="1673352"/>
        </p:xfrm>
        <a:graphic>
          <a:graphicData uri="http://schemas.openxmlformats.org/drawingml/2006/table">
            <a:tbl>
              <a:tblPr>
                <a:tableStyleId>{5C22544A-7EE6-4342-B048-85BDC9FD1C3A}</a:tableStyleId>
              </a:tblPr>
              <a:tblGrid>
                <a:gridCol w="511910">
                  <a:extLst>
                    <a:ext uri="{9D8B030D-6E8A-4147-A177-3AD203B41FA5}">
                      <a16:colId xmlns:a16="http://schemas.microsoft.com/office/drawing/2014/main" val="4043232667"/>
                    </a:ext>
                  </a:extLst>
                </a:gridCol>
                <a:gridCol w="530476">
                  <a:extLst>
                    <a:ext uri="{9D8B030D-6E8A-4147-A177-3AD203B41FA5}">
                      <a16:colId xmlns:a16="http://schemas.microsoft.com/office/drawing/2014/main" val="1903691040"/>
                    </a:ext>
                  </a:extLst>
                </a:gridCol>
                <a:gridCol w="807653">
                  <a:extLst>
                    <a:ext uri="{9D8B030D-6E8A-4147-A177-3AD203B41FA5}">
                      <a16:colId xmlns:a16="http://schemas.microsoft.com/office/drawing/2014/main" val="1164460496"/>
                    </a:ext>
                  </a:extLst>
                </a:gridCol>
                <a:gridCol w="557533">
                  <a:extLst>
                    <a:ext uri="{9D8B030D-6E8A-4147-A177-3AD203B41FA5}">
                      <a16:colId xmlns:a16="http://schemas.microsoft.com/office/drawing/2014/main" val="574005727"/>
                    </a:ext>
                  </a:extLst>
                </a:gridCol>
              </a:tblGrid>
              <a:tr h="301752">
                <a:tc>
                  <a:txBody>
                    <a:bodyPr/>
                    <a:lstStyle/>
                    <a:p>
                      <a:pPr algn="ctr" fontAlgn="b">
                        <a:buNone/>
                      </a:pPr>
                      <a:r>
                        <a:rPr lang="en-US" sz="90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Company</a:t>
                      </a:r>
                      <a:endParaRPr lang="en-US" sz="9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90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Exchange</a:t>
                      </a:r>
                      <a:endParaRPr lang="en-US" sz="9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90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Dividend Yield</a:t>
                      </a:r>
                      <a:endParaRPr lang="en-US" sz="9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90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FCF Yield</a:t>
                      </a:r>
                      <a:endParaRPr lang="en-US" sz="9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86675202"/>
                  </a:ext>
                </a:extLst>
              </a:tr>
              <a:tr h="274320">
                <a:tc>
                  <a:txBody>
                    <a:bodyPr/>
                    <a:lstStyle/>
                    <a:p>
                      <a:pPr algn="l"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 Harley</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NYSE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3.53%</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21.67%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57344141"/>
                  </a:ext>
                </a:extLst>
              </a:tr>
              <a:tr h="274320">
                <a:tc>
                  <a:txBody>
                    <a:bodyPr/>
                    <a:lstStyle/>
                    <a:p>
                      <a:pPr algn="l"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 BMW</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Xetra</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4.91%</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-9.75%</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8610919"/>
                  </a:ext>
                </a:extLst>
              </a:tr>
              <a:tr h="274320">
                <a:tc>
                  <a:txBody>
                    <a:bodyPr/>
                    <a:lstStyle/>
                    <a:p>
                      <a:pPr algn="l"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 Honda</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TSE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4.27%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-3.49%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62285168"/>
                  </a:ext>
                </a:extLst>
              </a:tr>
              <a:tr h="274320">
                <a:tc>
                  <a:txBody>
                    <a:bodyPr/>
                    <a:lstStyle/>
                    <a:p>
                      <a:pPr algn="l"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 Suzuki</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TSE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2.02%</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9.31%</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7178489"/>
                  </a:ext>
                </a:extLst>
              </a:tr>
              <a:tr h="274320">
                <a:tc>
                  <a:txBody>
                    <a:bodyPr/>
                    <a:lstStyle/>
                    <a:p>
                      <a:pPr algn="l"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 Yamaha</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TSE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4.09%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4.42%</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872259645"/>
                  </a:ext>
                </a:extLst>
              </a:tr>
            </a:tbl>
          </a:graphicData>
        </a:graphic>
      </p:graphicFrame>
      <p:sp>
        <p:nvSpPr>
          <p:cNvPr id="21" name="TextBox 20">
            <a:extLst>
              <a:ext uri="{FF2B5EF4-FFF2-40B4-BE49-F238E27FC236}">
                <a16:creationId xmlns:a16="http://schemas.microsoft.com/office/drawing/2014/main" id="{F1FED01A-53E2-6513-C5F5-C5902324C011}"/>
              </a:ext>
            </a:extLst>
          </p:cNvPr>
          <p:cNvSpPr txBox="1"/>
          <p:nvPr/>
        </p:nvSpPr>
        <p:spPr>
          <a:xfrm>
            <a:off x="-3" y="9839680"/>
            <a:ext cx="6360711"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FactSet, HOG 2025 Q1-Q3 10-Q, FY24 10-K, 2024 DEF 14A, 2024-2025 Earnings Transcripts &amp; Presentations, Global Market Insights</a:t>
            </a:r>
          </a:p>
        </p:txBody>
      </p:sp>
      <p:graphicFrame>
        <p:nvGraphicFramePr>
          <p:cNvPr id="39" name="Chart 38">
            <a:extLst>
              <a:ext uri="{FF2B5EF4-FFF2-40B4-BE49-F238E27FC236}">
                <a16:creationId xmlns:a16="http://schemas.microsoft.com/office/drawing/2014/main" id="{3AA7569E-2F84-AA4D-226B-EE7B6224BD0C}"/>
              </a:ext>
            </a:extLst>
          </p:cNvPr>
          <p:cNvGraphicFramePr>
            <a:graphicFrameLocks/>
          </p:cNvGraphicFramePr>
          <p:nvPr>
            <p:extLst>
              <p:ext uri="{D42A27DB-BD31-4B8C-83A1-F6EECF244321}">
                <p14:modId xmlns:p14="http://schemas.microsoft.com/office/powerpoint/2010/main" val="1118616696"/>
              </p:ext>
            </p:extLst>
          </p:nvPr>
        </p:nvGraphicFramePr>
        <p:xfrm>
          <a:off x="171655" y="2359343"/>
          <a:ext cx="2417373" cy="1510772"/>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8">
            <a:extLst>
              <a:ext uri="{FF2B5EF4-FFF2-40B4-BE49-F238E27FC236}">
                <a16:creationId xmlns:a16="http://schemas.microsoft.com/office/drawing/2014/main" id="{61283B95-3738-A76B-54F2-3F1F16DB10AA}"/>
              </a:ext>
            </a:extLst>
          </p:cNvPr>
          <p:cNvSpPr txBox="1"/>
          <p:nvPr/>
        </p:nvSpPr>
        <p:spPr>
          <a:xfrm>
            <a:off x="201817" y="5695582"/>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11: Comp Chart</a:t>
            </a:r>
          </a:p>
        </p:txBody>
      </p:sp>
      <p:cxnSp>
        <p:nvCxnSpPr>
          <p:cNvPr id="11" name="Straight Connector 10">
            <a:extLst>
              <a:ext uri="{FF2B5EF4-FFF2-40B4-BE49-F238E27FC236}">
                <a16:creationId xmlns:a16="http://schemas.microsoft.com/office/drawing/2014/main" id="{3AE94041-88B7-A6C8-0350-29B31538DDE3}"/>
              </a:ext>
            </a:extLst>
          </p:cNvPr>
          <p:cNvCxnSpPr>
            <a:cxnSpLocks/>
          </p:cNvCxnSpPr>
          <p:nvPr/>
        </p:nvCxnSpPr>
        <p:spPr>
          <a:xfrm>
            <a:off x="257160" y="5920486"/>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8986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2F60A-4A76-E99D-7BAC-9712178D4D19}"/>
            </a:ext>
          </a:extLst>
        </p:cNvPr>
        <p:cNvGrpSpPr/>
        <p:nvPr/>
      </p:nvGrpSpPr>
      <p:grpSpPr>
        <a:xfrm>
          <a:off x="0" y="0"/>
          <a:ext cx="0" cy="0"/>
          <a:chOff x="0" y="0"/>
          <a:chExt cx="0" cy="0"/>
        </a:xfrm>
      </p:grpSpPr>
      <p:sp>
        <p:nvSpPr>
          <p:cNvPr id="43" name="Text Box 2">
            <a:extLst>
              <a:ext uri="{FF2B5EF4-FFF2-40B4-BE49-F238E27FC236}">
                <a16:creationId xmlns:a16="http://schemas.microsoft.com/office/drawing/2014/main" id="{02BE4817-356F-7094-2A48-D6D02D53CBF2}"/>
              </a:ext>
            </a:extLst>
          </p:cNvPr>
          <p:cNvSpPr txBox="1">
            <a:spLocks/>
          </p:cNvSpPr>
          <p:nvPr/>
        </p:nvSpPr>
        <p:spPr bwMode="auto">
          <a:xfrm>
            <a:off x="2684665" y="4751879"/>
            <a:ext cx="4919134" cy="5421997"/>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r>
              <a:rPr lang="en-US" sz="1100" kern="100">
                <a:effectLst/>
                <a:latin typeface="Calibri" panose="020F0502020204030204" pitchFamily="34" charset="0"/>
                <a:ea typeface="Cambria" panose="02040503050406030204" pitchFamily="18" charset="0"/>
                <a:cs typeface="Calibri" panose="020F0502020204030204" pitchFamily="34" charset="0"/>
              </a:rPr>
              <a:t>We believe that relative valuation is an appropriate measure</a:t>
            </a:r>
            <a:r>
              <a:rPr lang="en-US" sz="1100" kern="100">
                <a:latin typeface="Calibri" panose="020F0502020204030204" pitchFamily="34" charset="0"/>
                <a:ea typeface="Cambria" panose="02040503050406030204" pitchFamily="18" charset="0"/>
                <a:cs typeface="Calibri" panose="020F0502020204030204" pitchFamily="34" charset="0"/>
              </a:rPr>
              <a:t> in determining a valuation for HOG. </a:t>
            </a:r>
            <a:r>
              <a:rPr lang="en-US" sz="1100" kern="100">
                <a:effectLst/>
                <a:latin typeface="Calibri" panose="020F0502020204030204" pitchFamily="34" charset="0"/>
                <a:ea typeface="Cambria" panose="02040503050406030204" pitchFamily="18" charset="0"/>
                <a:cs typeface="Calibri" panose="020F0502020204030204" pitchFamily="34" charset="0"/>
              </a:rPr>
              <a:t>We chose to exclude P/S because of how it ignores probability and debt. The motorcycle and automotive industry will take on large portions of debt and </a:t>
            </a:r>
            <a:r>
              <a:rPr lang="en-US" sz="1100" kern="100">
                <a:latin typeface="Calibri" panose="020F0502020204030204" pitchFamily="34" charset="0"/>
                <a:ea typeface="Cambria" panose="02040503050406030204" pitchFamily="18" charset="0"/>
                <a:cs typeface="Calibri" panose="020F0502020204030204" pitchFamily="34" charset="0"/>
              </a:rPr>
              <a:t>have higher margins but P/S will value a company with similar sales and lower margins the same m</a:t>
            </a:r>
            <a:r>
              <a:rPr lang="en-US" sz="1100" kern="100">
                <a:effectLst/>
                <a:latin typeface="Calibri" panose="020F0502020204030204" pitchFamily="34" charset="0"/>
                <a:ea typeface="Cambria" panose="02040503050406030204" pitchFamily="18" charset="0"/>
                <a:cs typeface="Calibri" panose="020F0502020204030204" pitchFamily="34" charset="0"/>
              </a:rPr>
              <a:t>aking metrics useless in relative valuation. Due to the nature of the industry, we believe that a valuation based on the P/E multiple would provide the</a:t>
            </a:r>
            <a:r>
              <a:rPr lang="en-US" sz="1100" kern="100">
                <a:latin typeface="Calibri" panose="020F0502020204030204" pitchFamily="34" charset="0"/>
                <a:ea typeface="Cambria" panose="02040503050406030204" pitchFamily="18" charset="0"/>
                <a:cs typeface="Calibri" panose="020F0502020204030204" pitchFamily="34" charset="0"/>
              </a:rPr>
              <a:t> most accurate valuation. By comparing it to competitors HOG is relatively on the cheaper end for P/E because of its last earnings beating estimates by $1.72. Wallstreet is still not confident in HOG while we think it is extremely undervalued. In our model we think that a P/E of 10 is fair for Harley.</a:t>
            </a:r>
          </a:p>
          <a:p>
            <a:pPr algn="just"/>
            <a:endParaRPr lang="en-US" sz="1100" kern="100">
              <a:solidFill>
                <a:schemeClr val="bg1"/>
              </a:solidFill>
              <a:highlight>
                <a:srgbClr val="FF00FF"/>
              </a:highlight>
              <a:latin typeface="Calibri" panose="020F0502020204030204" pitchFamily="34" charset="0"/>
              <a:ea typeface="Cambria" panose="02040503050406030204" pitchFamily="18" charset="0"/>
              <a:cs typeface="Calibri" panose="020F0502020204030204" pitchFamily="34" charset="0"/>
            </a:endParaRPr>
          </a:p>
          <a:p>
            <a:pPr algn="just"/>
            <a:r>
              <a:rPr lang="en-US" sz="1100" b="1" kern="100">
                <a:latin typeface="Calibri" panose="020F0502020204030204" pitchFamily="34" charset="0"/>
                <a:ea typeface="Calibri" panose="020F0502020204030204" pitchFamily="34" charset="0"/>
                <a:cs typeface="Calibri" panose="020F0502020204030204" pitchFamily="34" charset="0"/>
              </a:rPr>
              <a:t>Sales</a:t>
            </a:r>
            <a:r>
              <a:rPr lang="en-US" sz="1100" kern="100">
                <a:latin typeface="Calibri" panose="020F0502020204030204" pitchFamily="34" charset="0"/>
                <a:ea typeface="Calibri" panose="020F0502020204030204" pitchFamily="34" charset="0"/>
                <a:cs typeface="Calibri" panose="020F0502020204030204" pitchFamily="34" charset="0"/>
              </a:rPr>
              <a:t>: </a:t>
            </a:r>
            <a:r>
              <a:rPr lang="en-US" sz="1100">
                <a:latin typeface="Calibri" panose="020F0502020204030204" pitchFamily="34" charset="0"/>
                <a:ea typeface="Calibri" panose="020F0502020204030204" pitchFamily="34" charset="0"/>
                <a:cs typeface="Calibri" panose="020F0502020204030204" pitchFamily="34" charset="0"/>
              </a:rPr>
              <a:t>A key Driver for our valuation is our expectation of an initial jump in sales as Harley-Davidson enters a new market, followed by slower future growth once demand normalizes. Harley-Davidson has historically underrepresented in the lower-displacement motorcycle segment. We expect Harley-Davidson to expand its total addressable market and increase market share through the release of the Sprint Bike. Our valuation shows an initial short-term jump in sales, supported by longer customer retention in the future </a:t>
            </a:r>
          </a:p>
          <a:p>
            <a:pPr algn="just"/>
            <a:endParaRPr lang="en-US" sz="500">
              <a:latin typeface="Calibri" panose="020F0502020204030204" pitchFamily="34" charset="0"/>
              <a:ea typeface="Calibri" panose="020F0502020204030204" pitchFamily="34" charset="0"/>
              <a:cs typeface="Calibri" panose="020F0502020204030204" pitchFamily="34" charset="0"/>
            </a:endParaRPr>
          </a:p>
          <a:p>
            <a:pPr marL="0" marR="0" algn="just">
              <a:spcAft>
                <a:spcPts val="800"/>
              </a:spcAft>
              <a:buNone/>
            </a:pPr>
            <a:r>
              <a:rPr lang="en-US" sz="1100" b="1" kern="100">
                <a:latin typeface="Calibri" panose="020F0502020204030204" pitchFamily="34" charset="0"/>
                <a:ea typeface="Calibri" panose="020F0502020204030204" pitchFamily="34" charset="0"/>
                <a:cs typeface="Calibri" panose="020F0502020204030204" pitchFamily="34" charset="0"/>
              </a:rPr>
              <a:t>Financial Flexibility</a:t>
            </a:r>
            <a:r>
              <a:rPr lang="en-US" sz="1100" kern="100">
                <a:latin typeface="Calibri" panose="020F0502020204030204" pitchFamily="34" charset="0"/>
                <a:ea typeface="Calibri" panose="020F0502020204030204" pitchFamily="34" charset="0"/>
                <a:cs typeface="Calibri" panose="020F0502020204030204" pitchFamily="34" charset="0"/>
              </a:rPr>
              <a:t>: </a:t>
            </a:r>
            <a:r>
              <a:rPr lang="en-US" sz="1100" kern="100">
                <a:effectLst/>
                <a:latin typeface="Calibri" panose="020F0502020204030204" pitchFamily="34" charset="0"/>
                <a:ea typeface="Calibri" panose="020F0502020204030204" pitchFamily="34" charset="0"/>
                <a:cs typeface="Calibri" panose="020F0502020204030204" pitchFamily="34" charset="0"/>
              </a:rPr>
              <a:t>Another contributor to our valuation is the financial flexibility unlocked through Harley-Davidson's transaction with PIMCO and KKR. The deal allowed Harley to payoff $450M in debt, accelerate their share buyback system, and reinvest the remaining money in projects like the sprint bike. This deal not only strengthens the balance sheet but also </a:t>
            </a:r>
            <a:r>
              <a:rPr lang="en-US" sz="1100" kern="100">
                <a:latin typeface="Calibri" panose="020F0502020204030204" pitchFamily="34" charset="0"/>
                <a:ea typeface="Calibri" panose="020F0502020204030204" pitchFamily="34" charset="0"/>
                <a:cs typeface="Calibri" panose="020F0502020204030204" pitchFamily="34" charset="0"/>
              </a:rPr>
              <a:t>brings in reoccurring revenue streams.</a:t>
            </a:r>
            <a:endParaRPr lang="en-US" sz="1100" kern="100">
              <a:effectLst/>
              <a:latin typeface="Calibri" panose="020F0502020204030204" pitchFamily="34" charset="0"/>
              <a:ea typeface="Calibri" panose="020F0502020204030204" pitchFamily="34" charset="0"/>
              <a:cs typeface="Calibri" panose="020F0502020204030204" pitchFamily="34" charset="0"/>
            </a:endParaRPr>
          </a:p>
          <a:p>
            <a:pPr marL="0" marR="0" algn="just">
              <a:spcAft>
                <a:spcPts val="800"/>
              </a:spcAft>
              <a:buNone/>
            </a:pPr>
            <a:r>
              <a:rPr lang="en-US" sz="1100" b="1" kern="100">
                <a:latin typeface="Calibri" panose="020F0502020204030204" pitchFamily="34" charset="0"/>
                <a:ea typeface="Calibri" panose="020F0502020204030204" pitchFamily="34" charset="0"/>
                <a:cs typeface="Calibri" panose="020F0502020204030204" pitchFamily="34" charset="0"/>
              </a:rPr>
              <a:t>Margin Discipline: </a:t>
            </a:r>
            <a:r>
              <a:rPr lang="en-US" sz="1100">
                <a:latin typeface="Calibri" panose="020F0502020204030204" pitchFamily="34" charset="0"/>
                <a:ea typeface="Calibri" panose="020F0502020204030204" pitchFamily="34" charset="0"/>
                <a:cs typeface="Calibri" panose="020F0502020204030204" pitchFamily="34" charset="0"/>
              </a:rPr>
              <a:t> As Harley-Davidson expands into the smaller-displacement motorcycle segment, disciplined inventory management becomes even more important due to the lower profit margins associated with these cheaper products. Maintaining tight control over dealer inventory and production will be critical in preserving profitability as Harley-Davidson enters this new market. </a:t>
            </a:r>
          </a:p>
          <a:p>
            <a:pPr algn="just">
              <a:spcAft>
                <a:spcPts val="600"/>
              </a:spcAft>
            </a:pPr>
            <a:endParaRPr lang="en-US" sz="1000" kern="10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marR="0" algn="just">
              <a:lnSpc>
                <a:spcPts val="1200"/>
              </a:lnSpc>
              <a:spcAft>
                <a:spcPts val="600"/>
              </a:spcAft>
            </a:pPr>
            <a:endParaRPr lang="en-US" sz="1100" kern="100">
              <a:solidFill>
                <a:schemeClr val="bg1"/>
              </a:solidFill>
              <a:latin typeface="Calibri" panose="020F0502020204030204" pitchFamily="34" charset="0"/>
              <a:ea typeface="Cambria" panose="02040503050406030204" pitchFamily="18" charset="0"/>
              <a:cs typeface="Calibri" panose="020F0502020204030204" pitchFamily="34" charset="0"/>
            </a:endParaRPr>
          </a:p>
        </p:txBody>
      </p:sp>
      <p:sp>
        <p:nvSpPr>
          <p:cNvPr id="23" name="Text Box 2">
            <a:extLst>
              <a:ext uri="{FF2B5EF4-FFF2-40B4-BE49-F238E27FC236}">
                <a16:creationId xmlns:a16="http://schemas.microsoft.com/office/drawing/2014/main" id="{3C1EAB2B-889E-A11C-19D2-DDEE62D0FBBE}"/>
              </a:ext>
            </a:extLst>
          </p:cNvPr>
          <p:cNvSpPr txBox="1">
            <a:spLocks noChangeArrowheads="1"/>
          </p:cNvSpPr>
          <p:nvPr/>
        </p:nvSpPr>
        <p:spPr bwMode="auto">
          <a:xfrm>
            <a:off x="2670670" y="515544"/>
            <a:ext cx="4919133" cy="1169551"/>
          </a:xfrm>
          <a:prstGeom prst="rect">
            <a:avLst/>
          </a:prstGeom>
          <a:noFill/>
          <a:ln w="9525">
            <a:noFill/>
            <a:miter lim="800000"/>
            <a:headEnd/>
            <a:tailEnd/>
          </a:ln>
        </p:spPr>
        <p:txBody>
          <a:bodyPr rot="0" vert="horz" wrap="square" lIns="91440" tIns="45720" rIns="91440" bIns="45720" anchor="t" anchorCtr="0">
            <a:spAutoFit/>
          </a:bodyPr>
          <a:lstStyle/>
          <a:p>
            <a:pPr algn="just">
              <a:lnSpc>
                <a:spcPts val="1200"/>
              </a:lnSpc>
              <a:spcAft>
                <a:spcPts val="600"/>
              </a:spcAft>
            </a:pPr>
            <a:r>
              <a:rPr lang="en-US" sz="1100" kern="100">
                <a:effectLst/>
                <a:latin typeface="Calibri"/>
                <a:ea typeface="Cambria"/>
                <a:cs typeface="Calibri"/>
              </a:rPr>
              <a:t>We value </a:t>
            </a:r>
            <a:r>
              <a:rPr lang="en-US" sz="1100" kern="100">
                <a:latin typeface="Calibri"/>
                <a:ea typeface="Cambria"/>
                <a:cs typeface="Calibri"/>
              </a:rPr>
              <a:t>Harley’s</a:t>
            </a:r>
            <a:r>
              <a:rPr lang="en-US" sz="1100" kern="100">
                <a:effectLst/>
                <a:latin typeface="Calibri"/>
                <a:ea typeface="Cambria"/>
                <a:cs typeface="Calibri"/>
              </a:rPr>
              <a:t> common equity at $85.33 per share, which implies a 12-month </a:t>
            </a:r>
            <a:r>
              <a:rPr lang="en-US" sz="1100" kern="100">
                <a:latin typeface="Calibri"/>
                <a:ea typeface="Cambria"/>
                <a:cs typeface="Calibri"/>
              </a:rPr>
              <a:t>up</a:t>
            </a:r>
            <a:r>
              <a:rPr lang="en-US" sz="1100" kern="100">
                <a:effectLst/>
                <a:latin typeface="Calibri"/>
                <a:ea typeface="Cambria"/>
                <a:cs typeface="Calibri"/>
              </a:rPr>
              <a:t>side of </a:t>
            </a:r>
            <a:r>
              <a:rPr lang="en-US" sz="1100" kern="100">
                <a:latin typeface="Calibri"/>
                <a:ea typeface="Cambria"/>
                <a:cs typeface="Calibri"/>
              </a:rPr>
              <a:t>320.34%</a:t>
            </a:r>
            <a:r>
              <a:rPr lang="en-US" sz="1100" kern="100">
                <a:effectLst/>
                <a:latin typeface="Calibri"/>
                <a:ea typeface="Cambria"/>
                <a:cs typeface="Calibri"/>
              </a:rPr>
              <a:t>.  This valuation is based off a terminal </a:t>
            </a:r>
            <a:r>
              <a:rPr lang="en-US" sz="1100" kern="100">
                <a:latin typeface="Calibri"/>
                <a:ea typeface="Cambria"/>
                <a:cs typeface="Calibri"/>
              </a:rPr>
              <a:t>Price-to-Earnings of 10x vs an average competitor P/E of 14.5x. We discounted future cash flows at a WACC of 10.20% to reach a present value of $12.72, then calculated the company’s estimated terminal value through a P/E and EPS multiple. After arriving at the terminal value, we used a discount factor of .60 leading us to a discounted terminal value of $72.61.</a:t>
            </a:r>
            <a:endParaRPr lang="en-US">
              <a:latin typeface="Calibri"/>
              <a:ea typeface="Cambria"/>
              <a:cs typeface="Calibri"/>
            </a:endParaRPr>
          </a:p>
        </p:txBody>
      </p:sp>
      <p:sp>
        <p:nvSpPr>
          <p:cNvPr id="5" name="TextBox 4">
            <a:extLst>
              <a:ext uri="{FF2B5EF4-FFF2-40B4-BE49-F238E27FC236}">
                <a16:creationId xmlns:a16="http://schemas.microsoft.com/office/drawing/2014/main" id="{3F9F320B-96D9-23DB-FF05-D6D968362D79}"/>
              </a:ext>
            </a:extLst>
          </p:cNvPr>
          <p:cNvSpPr txBox="1"/>
          <p:nvPr/>
        </p:nvSpPr>
        <p:spPr>
          <a:xfrm>
            <a:off x="7427381" y="9824740"/>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   5</a:t>
            </a:r>
          </a:p>
        </p:txBody>
      </p:sp>
      <p:sp>
        <p:nvSpPr>
          <p:cNvPr id="3" name="TextBox 2">
            <a:extLst>
              <a:ext uri="{FF2B5EF4-FFF2-40B4-BE49-F238E27FC236}">
                <a16:creationId xmlns:a16="http://schemas.microsoft.com/office/drawing/2014/main" id="{2CF037C3-B312-9E21-B88E-E3472E14C651}"/>
              </a:ext>
            </a:extLst>
          </p:cNvPr>
          <p:cNvSpPr txBox="1"/>
          <p:nvPr/>
        </p:nvSpPr>
        <p:spPr>
          <a:xfrm>
            <a:off x="2760587" y="3338736"/>
            <a:ext cx="4793008" cy="219355"/>
          </a:xfrm>
          <a:prstGeom prst="rect">
            <a:avLst/>
          </a:prstGeom>
          <a:solidFill>
            <a:schemeClr val="accent2">
              <a:lumMod val="75000"/>
            </a:schemeClr>
          </a:solidFill>
          <a:ln>
            <a:solidFill>
              <a:schemeClr val="tx1"/>
            </a:solidFill>
          </a:ln>
        </p:spPr>
        <p:txBody>
          <a:bodyPr wrap="square" lIns="91440" tIns="45720" rIns="91440" bIns="45720" rtlCol="0" anchor="b">
            <a:spAutoFit/>
          </a:bodyPr>
          <a:lstStyle/>
          <a:p>
            <a:pPr>
              <a:lnSpc>
                <a:spcPts val="400"/>
              </a:lnSpc>
            </a:pPr>
            <a:endParaRPr lang="en-US" sz="1100" b="1">
              <a:solidFill>
                <a:srgbClr val="FFFFFF"/>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rgbClr val="FFFFFF"/>
                </a:solidFill>
                <a:latin typeface="Calibri"/>
                <a:ea typeface="Cambria"/>
                <a:cs typeface="Calibri"/>
              </a:rPr>
              <a:t>Weighted Average Cost of Capital</a:t>
            </a:r>
          </a:p>
        </p:txBody>
      </p:sp>
      <p:sp>
        <p:nvSpPr>
          <p:cNvPr id="9" name="Text Box 2">
            <a:extLst>
              <a:ext uri="{FF2B5EF4-FFF2-40B4-BE49-F238E27FC236}">
                <a16:creationId xmlns:a16="http://schemas.microsoft.com/office/drawing/2014/main" id="{E9AFAA9D-E114-8989-CD8F-419D11B43E11}"/>
              </a:ext>
            </a:extLst>
          </p:cNvPr>
          <p:cNvSpPr txBox="1">
            <a:spLocks noChangeArrowheads="1"/>
          </p:cNvSpPr>
          <p:nvPr/>
        </p:nvSpPr>
        <p:spPr bwMode="auto">
          <a:xfrm>
            <a:off x="2690463" y="3551061"/>
            <a:ext cx="4919133" cy="938719"/>
          </a:xfrm>
          <a:prstGeom prst="rect">
            <a:avLst/>
          </a:prstGeom>
          <a:noFill/>
          <a:ln w="9525">
            <a:noFill/>
            <a:miter lim="800000"/>
            <a:headEnd/>
            <a:tailEnd/>
          </a:ln>
        </p:spPr>
        <p:txBody>
          <a:bodyPr rot="0" vert="horz" wrap="square" lIns="91440" tIns="45720" rIns="91440" bIns="45720" anchor="t" anchorCtr="0">
            <a:spAutoFit/>
          </a:bodyPr>
          <a:lstStyle/>
          <a:p>
            <a:r>
              <a:rPr lang="en-US" sz="1100">
                <a:latin typeface="Calibri" panose="020F0502020204030204" pitchFamily="34" charset="0"/>
                <a:ea typeface="Calibri" panose="020F0502020204030204" pitchFamily="34" charset="0"/>
                <a:cs typeface="Calibri" panose="020F0502020204030204" pitchFamily="34" charset="0"/>
              </a:rPr>
              <a:t>We estimate Harley-Davidson’s weighted average cost of capital to be 10.2%. We utilized a Capital Asset Pricing Model to find our cost of equity financing of 11% and our cost of debt of 3.82%. After analyzing Harley-Davidson’s Balance Sheet, we found the weight of debt to be 10.8% and the weight of equity 89.2%. when taking a weighted average of these, we calculated our WACC of 10.20%</a:t>
            </a:r>
          </a:p>
        </p:txBody>
      </p:sp>
      <p:grpSp>
        <p:nvGrpSpPr>
          <p:cNvPr id="20" name="Group 19">
            <a:extLst>
              <a:ext uri="{FF2B5EF4-FFF2-40B4-BE49-F238E27FC236}">
                <a16:creationId xmlns:a16="http://schemas.microsoft.com/office/drawing/2014/main" id="{117D3A8E-F9CF-7BD4-DC38-28D491B8140B}"/>
              </a:ext>
            </a:extLst>
          </p:cNvPr>
          <p:cNvGrpSpPr/>
          <p:nvPr/>
        </p:nvGrpSpPr>
        <p:grpSpPr>
          <a:xfrm>
            <a:off x="2670670" y="266256"/>
            <a:ext cx="4947125" cy="265187"/>
            <a:chOff x="2670668" y="1936150"/>
            <a:chExt cx="4947125" cy="265187"/>
          </a:xfrm>
        </p:grpSpPr>
        <p:sp>
          <p:nvSpPr>
            <p:cNvPr id="21" name="Text Box 2">
              <a:extLst>
                <a:ext uri="{FF2B5EF4-FFF2-40B4-BE49-F238E27FC236}">
                  <a16:creationId xmlns:a16="http://schemas.microsoft.com/office/drawing/2014/main" id="{0BCB4935-A7EC-DCF2-53B4-6917DEC2D62B}"/>
                </a:ext>
              </a:extLst>
            </p:cNvPr>
            <p:cNvSpPr txBox="1">
              <a:spLocks noChangeArrowheads="1"/>
            </p:cNvSpPr>
            <p:nvPr/>
          </p:nvSpPr>
          <p:spPr bwMode="auto">
            <a:xfrm>
              <a:off x="2670668" y="1936150"/>
              <a:ext cx="4947125" cy="261867"/>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r>
                <a:rPr lang="en-US" sz="1600" b="1" kern="100">
                  <a:latin typeface="Calibri" panose="020F0502020204030204" pitchFamily="34" charset="0"/>
                  <a:ea typeface="Cambria" panose="02040503050406030204" pitchFamily="18" charset="0"/>
                  <a:cs typeface="Calibri" panose="020F0502020204030204" pitchFamily="34" charset="0"/>
                </a:rPr>
                <a:t>Valuation</a:t>
              </a:r>
            </a:p>
          </p:txBody>
        </p:sp>
        <p:cxnSp>
          <p:nvCxnSpPr>
            <p:cNvPr id="22" name="Straight Connector 21">
              <a:extLst>
                <a:ext uri="{FF2B5EF4-FFF2-40B4-BE49-F238E27FC236}">
                  <a16:creationId xmlns:a16="http://schemas.microsoft.com/office/drawing/2014/main" id="{AC2250EB-2736-CCE2-624A-A06512BB2FD5}"/>
                </a:ext>
              </a:extLst>
            </p:cNvPr>
            <p:cNvCxnSpPr>
              <a:cxnSpLocks/>
            </p:cNvCxnSpPr>
            <p:nvPr/>
          </p:nvCxnSpPr>
          <p:spPr>
            <a:xfrm>
              <a:off x="2760585" y="2201337"/>
              <a:ext cx="477170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67D10D5C-6002-44EC-B5C7-4D866F28FFBC}"/>
              </a:ext>
            </a:extLst>
          </p:cNvPr>
          <p:cNvGrpSpPr/>
          <p:nvPr/>
        </p:nvGrpSpPr>
        <p:grpSpPr>
          <a:xfrm>
            <a:off x="126293" y="6004380"/>
            <a:ext cx="2530592" cy="246221"/>
            <a:chOff x="126293" y="1911729"/>
            <a:chExt cx="2530592" cy="347485"/>
          </a:xfrm>
        </p:grpSpPr>
        <p:sp>
          <p:nvSpPr>
            <p:cNvPr id="4" name="TextBox 3">
              <a:extLst>
                <a:ext uri="{FF2B5EF4-FFF2-40B4-BE49-F238E27FC236}">
                  <a16:creationId xmlns:a16="http://schemas.microsoft.com/office/drawing/2014/main" id="{1616B9D6-FB70-5D90-EC63-2082AE1CDDBF}"/>
                </a:ext>
              </a:extLst>
            </p:cNvPr>
            <p:cNvSpPr txBox="1"/>
            <p:nvPr/>
          </p:nvSpPr>
          <p:spPr>
            <a:xfrm>
              <a:off x="126293" y="1911729"/>
              <a:ext cx="2530592" cy="347485"/>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20: Margin Estimates </a:t>
              </a:r>
            </a:p>
          </p:txBody>
        </p:sp>
        <p:cxnSp>
          <p:nvCxnSpPr>
            <p:cNvPr id="25" name="Straight Connector 24">
              <a:extLst>
                <a:ext uri="{FF2B5EF4-FFF2-40B4-BE49-F238E27FC236}">
                  <a16:creationId xmlns:a16="http://schemas.microsoft.com/office/drawing/2014/main" id="{0AE0CF56-9F49-5929-CCF0-3C8959877296}"/>
                </a:ext>
              </a:extLst>
            </p:cNvPr>
            <p:cNvCxnSpPr/>
            <p:nvPr/>
          </p:nvCxnSpPr>
          <p:spPr>
            <a:xfrm>
              <a:off x="162804" y="2236079"/>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aphicFrame>
        <p:nvGraphicFramePr>
          <p:cNvPr id="31" name="Table 30">
            <a:extLst>
              <a:ext uri="{FF2B5EF4-FFF2-40B4-BE49-F238E27FC236}">
                <a16:creationId xmlns:a16="http://schemas.microsoft.com/office/drawing/2014/main" id="{59F92A92-843F-E914-F0AC-9147D212DFB0}"/>
              </a:ext>
            </a:extLst>
          </p:cNvPr>
          <p:cNvGraphicFramePr>
            <a:graphicFrameLocks noGrp="1"/>
          </p:cNvGraphicFramePr>
          <p:nvPr>
            <p:custDataLst>
              <p:tags r:id="rId1"/>
            </p:custDataLst>
            <p:extLst>
              <p:ext uri="{D42A27DB-BD31-4B8C-83A1-F6EECF244321}">
                <p14:modId xmlns:p14="http://schemas.microsoft.com/office/powerpoint/2010/main" val="2705612339"/>
              </p:ext>
            </p:extLst>
          </p:nvPr>
        </p:nvGraphicFramePr>
        <p:xfrm>
          <a:off x="151659" y="4774024"/>
          <a:ext cx="2417372" cy="1224001"/>
        </p:xfrm>
        <a:graphic>
          <a:graphicData uri="http://schemas.openxmlformats.org/drawingml/2006/table">
            <a:tbl>
              <a:tblPr>
                <a:tableStyleId>{5C22544A-7EE6-4342-B048-85BDC9FD1C3A}</a:tableStyleId>
              </a:tblPr>
              <a:tblGrid>
                <a:gridCol w="949221">
                  <a:extLst>
                    <a:ext uri="{9D8B030D-6E8A-4147-A177-3AD203B41FA5}">
                      <a16:colId xmlns:a16="http://schemas.microsoft.com/office/drawing/2014/main" val="749176421"/>
                    </a:ext>
                  </a:extLst>
                </a:gridCol>
                <a:gridCol w="762364">
                  <a:extLst>
                    <a:ext uri="{9D8B030D-6E8A-4147-A177-3AD203B41FA5}">
                      <a16:colId xmlns:a16="http://schemas.microsoft.com/office/drawing/2014/main" val="2677028977"/>
                    </a:ext>
                  </a:extLst>
                </a:gridCol>
                <a:gridCol w="705787">
                  <a:extLst>
                    <a:ext uri="{9D8B030D-6E8A-4147-A177-3AD203B41FA5}">
                      <a16:colId xmlns:a16="http://schemas.microsoft.com/office/drawing/2014/main" val="2528942"/>
                    </a:ext>
                  </a:extLst>
                </a:gridCol>
              </a:tblGrid>
              <a:tr h="261786">
                <a:tc gridSpan="3">
                  <a:txBody>
                    <a:bodyPr/>
                    <a:lstStyle/>
                    <a:p>
                      <a:pPr algn="l" fontAlgn="b"/>
                      <a:r>
                        <a:rPr lang="en-US" sz="1000" b="1">
                          <a:solidFill>
                            <a:schemeClr val="bg1"/>
                          </a:solidFill>
                          <a:latin typeface="Calibri"/>
                          <a:cs typeface="Calibri"/>
                        </a:rPr>
                        <a:t> Figure 19: WACC Calculation</a:t>
                      </a:r>
                    </a:p>
                    <a:p>
                      <a:pPr algn="l" fontAlgn="b"/>
                      <a:endParaRPr lang="en-US" sz="3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03368194"/>
                  </a:ext>
                </a:extLst>
              </a:tr>
              <a:tr h="192443">
                <a:tc>
                  <a:txBody>
                    <a:bodyPr/>
                    <a:lstStyle/>
                    <a:p>
                      <a:pPr algn="l" fontAlgn="b"/>
                      <a:r>
                        <a:rPr lang="en-US" sz="1000" u="none" strike="noStrike">
                          <a:effectLst/>
                          <a:latin typeface="Calibri"/>
                          <a:cs typeface="Calibri"/>
                        </a:rPr>
                        <a:t>AT - Cost of Debt</a:t>
                      </a:r>
                      <a:endParaRPr lang="en-US" sz="1000" b="0" i="0" u="none" strike="noStrike">
                        <a:solidFill>
                          <a:srgbClr val="000000"/>
                        </a:solidFill>
                        <a:effectLst/>
                        <a:latin typeface="Calibri"/>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u="none" strike="noStrike">
                          <a:effectLst/>
                          <a:latin typeface="Calibri"/>
                          <a:cs typeface="Calibri"/>
                        </a:rPr>
                        <a:t>3.82%</a:t>
                      </a:r>
                      <a:endParaRPr lang="en-US" sz="1000" b="0" i="0" u="none" strike="noStrike">
                        <a:solidFill>
                          <a:srgbClr val="000000"/>
                        </a:solidFill>
                        <a:effectLst/>
                        <a:latin typeface="Calibri"/>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3448610"/>
                  </a:ext>
                </a:extLst>
              </a:tr>
              <a:tr h="192443">
                <a:tc>
                  <a:txBody>
                    <a:bodyPr/>
                    <a:lstStyle/>
                    <a:p>
                      <a:pPr algn="l" fontAlgn="b"/>
                      <a:r>
                        <a:rPr lang="en-US" sz="1000" u="none" strike="noStrike">
                          <a:effectLst/>
                          <a:latin typeface="Calibri"/>
                          <a:cs typeface="Calibri"/>
                        </a:rPr>
                        <a:t>Cost of Equity</a:t>
                      </a:r>
                      <a:endParaRPr lang="en-US" sz="1000" b="0" i="0" u="none" strike="noStrike">
                        <a:solidFill>
                          <a:srgbClr val="000000"/>
                        </a:solidFill>
                        <a:effectLst/>
                        <a:latin typeface="Calibri"/>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r" fontAlgn="b"/>
                      <a:r>
                        <a:rPr lang="en-US" sz="1000" u="none" strike="noStrike">
                          <a:effectLst/>
                          <a:latin typeface="Calibri"/>
                          <a:cs typeface="Calibri"/>
                        </a:rPr>
                        <a:t>11%</a:t>
                      </a:r>
                      <a:endParaRPr lang="en-US" sz="1000" b="0" i="0" u="none" strike="noStrike">
                        <a:solidFill>
                          <a:srgbClr val="000000"/>
                        </a:solidFill>
                        <a:effectLst/>
                        <a:latin typeface="Calibri"/>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4764584"/>
                  </a:ext>
                </a:extLst>
              </a:tr>
              <a:tr h="192443">
                <a:tc>
                  <a:txBody>
                    <a:bodyPr/>
                    <a:lstStyle/>
                    <a:p>
                      <a:pPr algn="l" fontAlgn="b"/>
                      <a:r>
                        <a:rPr lang="en-US" sz="1000" u="none" strike="noStrike">
                          <a:effectLst/>
                          <a:latin typeface="Calibri"/>
                          <a:cs typeface="Calibri"/>
                        </a:rPr>
                        <a:t>Weight of Debt</a:t>
                      </a:r>
                      <a:endParaRPr lang="en-US" sz="1000" b="0" i="0" u="none" strike="noStrike">
                        <a:solidFill>
                          <a:srgbClr val="000000"/>
                        </a:solidFill>
                        <a:effectLst/>
                        <a:latin typeface="Calibri"/>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u="none" strike="noStrike">
                          <a:effectLst/>
                          <a:latin typeface="Calibri"/>
                          <a:cs typeface="Calibri"/>
                        </a:rPr>
                        <a:t>10.80%</a:t>
                      </a:r>
                      <a:endParaRPr lang="en-US" sz="1000" b="0" i="0" u="none" strike="noStrike">
                        <a:solidFill>
                          <a:srgbClr val="000000"/>
                        </a:solidFill>
                        <a:effectLst/>
                        <a:latin typeface="Calibri"/>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15239072"/>
                  </a:ext>
                </a:extLst>
              </a:tr>
              <a:tr h="192443">
                <a:tc>
                  <a:txBody>
                    <a:bodyPr/>
                    <a:lstStyle/>
                    <a:p>
                      <a:pPr algn="l" fontAlgn="b"/>
                      <a:r>
                        <a:rPr lang="en-US" sz="1000" u="none" strike="noStrike">
                          <a:effectLst/>
                          <a:latin typeface="Calibri"/>
                          <a:cs typeface="Calibri"/>
                        </a:rPr>
                        <a:t>Weight of Equity</a:t>
                      </a:r>
                      <a:endParaRPr lang="en-US" sz="1000" b="0" i="0" u="none" strike="noStrike">
                        <a:solidFill>
                          <a:srgbClr val="000000"/>
                        </a:solidFill>
                        <a:effectLst/>
                        <a:latin typeface="Calibri"/>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r" fontAlgn="b"/>
                      <a:r>
                        <a:rPr lang="en-US" sz="1000" u="none" strike="noStrike">
                          <a:effectLst/>
                          <a:latin typeface="Calibri"/>
                          <a:cs typeface="Calibri"/>
                        </a:rPr>
                        <a:t>89.20%</a:t>
                      </a:r>
                      <a:endParaRPr lang="en-US" sz="1000" b="0" i="0" u="none" strike="noStrike">
                        <a:solidFill>
                          <a:srgbClr val="000000"/>
                        </a:solidFill>
                        <a:effectLst/>
                        <a:latin typeface="Calibri"/>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8414371"/>
                  </a:ext>
                </a:extLst>
              </a:tr>
              <a:tr h="192443">
                <a:tc>
                  <a:txBody>
                    <a:bodyPr/>
                    <a:lstStyle/>
                    <a:p>
                      <a:pPr algn="l" fontAlgn="b"/>
                      <a:r>
                        <a:rPr lang="en-US" sz="1000" u="none" strike="noStrike">
                          <a:effectLst/>
                          <a:latin typeface="Calibri"/>
                          <a:cs typeface="Calibri"/>
                        </a:rPr>
                        <a:t>WACC</a:t>
                      </a:r>
                      <a:endParaRPr lang="en-US" sz="1000" b="0" i="0" u="none" strike="noStrike">
                        <a:solidFill>
                          <a:srgbClr val="000000"/>
                        </a:solidFill>
                        <a:effectLst/>
                        <a:latin typeface="Calibri"/>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u="none" strike="noStrike">
                          <a:effectLst/>
                          <a:latin typeface="Calibri"/>
                          <a:cs typeface="Calibri"/>
                        </a:rPr>
                        <a:t>10.20%</a:t>
                      </a:r>
                      <a:endParaRPr lang="en-US" sz="1000" b="0" i="0" u="none" strike="noStrike">
                        <a:solidFill>
                          <a:srgbClr val="000000"/>
                        </a:solidFill>
                        <a:effectLst/>
                        <a:latin typeface="Calibri"/>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051531461"/>
                  </a:ext>
                </a:extLst>
              </a:tr>
            </a:tbl>
          </a:graphicData>
        </a:graphic>
      </p:graphicFrame>
      <p:sp>
        <p:nvSpPr>
          <p:cNvPr id="42" name="TextBox 41">
            <a:extLst>
              <a:ext uri="{FF2B5EF4-FFF2-40B4-BE49-F238E27FC236}">
                <a16:creationId xmlns:a16="http://schemas.microsoft.com/office/drawing/2014/main" id="{A46C174E-80CF-C945-0A6B-7CDEC864D1E6}"/>
              </a:ext>
            </a:extLst>
          </p:cNvPr>
          <p:cNvSpPr txBox="1">
            <a:spLocks/>
          </p:cNvSpPr>
          <p:nvPr/>
        </p:nvSpPr>
        <p:spPr>
          <a:xfrm>
            <a:off x="2747006" y="4520967"/>
            <a:ext cx="4794451" cy="219355"/>
          </a:xfrm>
          <a:prstGeom prst="rect">
            <a:avLst/>
          </a:prstGeom>
          <a:solidFill>
            <a:schemeClr val="accent2">
              <a:lumMod val="75000"/>
            </a:schemeClr>
          </a:solidFill>
          <a:ln>
            <a:solidFill>
              <a:schemeClr val="tx1"/>
            </a:solidFill>
          </a:ln>
        </p:spPr>
        <p:txBody>
          <a:bodyPr wrap="square" lIns="91440" tIns="45720" rIns="91440" bIns="45720"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rgbClr val="FFFFFF"/>
                </a:solidFill>
                <a:latin typeface="Calibri"/>
                <a:ea typeface="Cambria"/>
                <a:cs typeface="Calibri"/>
              </a:rPr>
              <a:t>Relative Valuation</a:t>
            </a:r>
          </a:p>
        </p:txBody>
      </p:sp>
      <p:graphicFrame>
        <p:nvGraphicFramePr>
          <p:cNvPr id="8" name="Table 7">
            <a:extLst>
              <a:ext uri="{FF2B5EF4-FFF2-40B4-BE49-F238E27FC236}">
                <a16:creationId xmlns:a16="http://schemas.microsoft.com/office/drawing/2014/main" id="{06925805-D0E9-3F44-9E45-0D63C9327CD9}"/>
              </a:ext>
            </a:extLst>
          </p:cNvPr>
          <p:cNvGraphicFramePr>
            <a:graphicFrameLocks noGrp="1"/>
          </p:cNvGraphicFramePr>
          <p:nvPr>
            <p:custDataLst>
              <p:tags r:id="rId2"/>
            </p:custDataLst>
            <p:extLst>
              <p:ext uri="{D42A27DB-BD31-4B8C-83A1-F6EECF244321}">
                <p14:modId xmlns:p14="http://schemas.microsoft.com/office/powerpoint/2010/main" val="1018282766"/>
              </p:ext>
            </p:extLst>
          </p:nvPr>
        </p:nvGraphicFramePr>
        <p:xfrm>
          <a:off x="127308" y="587159"/>
          <a:ext cx="2406227" cy="664545"/>
        </p:xfrm>
        <a:graphic>
          <a:graphicData uri="http://schemas.openxmlformats.org/drawingml/2006/table">
            <a:tbl>
              <a:tblPr>
                <a:tableStyleId>{5C22544A-7EE6-4342-B048-85BDC9FD1C3A}</a:tableStyleId>
              </a:tblPr>
              <a:tblGrid>
                <a:gridCol w="1377530">
                  <a:extLst>
                    <a:ext uri="{9D8B030D-6E8A-4147-A177-3AD203B41FA5}">
                      <a16:colId xmlns:a16="http://schemas.microsoft.com/office/drawing/2014/main" val="749176421"/>
                    </a:ext>
                  </a:extLst>
                </a:gridCol>
                <a:gridCol w="1028697">
                  <a:extLst>
                    <a:ext uri="{9D8B030D-6E8A-4147-A177-3AD203B41FA5}">
                      <a16:colId xmlns:a16="http://schemas.microsoft.com/office/drawing/2014/main" val="2677028977"/>
                    </a:ext>
                  </a:extLst>
                </a:gridCol>
              </a:tblGrid>
              <a:tr h="221515">
                <a:tc>
                  <a:txBody>
                    <a:bodyPr/>
                    <a:lstStyle/>
                    <a:p>
                      <a:pPr algn="l" fontAlgn="b"/>
                      <a:r>
                        <a:rPr lang="en-US" sz="1000" b="0" i="0" u="none" strike="noStrike">
                          <a:solidFill>
                            <a:schemeClr val="tx1"/>
                          </a:solidFill>
                          <a:effectLst/>
                          <a:latin typeface="Calibri"/>
                          <a:cs typeface="Calibri"/>
                        </a:rPr>
                        <a:t> PV Cash Flows </a:t>
                      </a:r>
                    </a:p>
                  </a:txBody>
                  <a:tcPr marL="0" marR="0" marT="0" marB="0" anchor="b">
                    <a:lnL w="12700" cap="flat" cmpd="sng" algn="ctr">
                      <a:solidFill>
                        <a:schemeClr val="tx1"/>
                      </a:solidFill>
                      <a:prstDash val="solid"/>
                      <a:round/>
                      <a:headEnd type="none" w="med" len="med"/>
                      <a:tailEnd type="none" w="med" len="med"/>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r>
                        <a:rPr lang="en-US" sz="1000" b="0" i="0" u="none" strike="noStrike">
                          <a:solidFill>
                            <a:schemeClr val="tx1"/>
                          </a:solidFill>
                          <a:effectLst/>
                          <a:latin typeface="Calibri"/>
                          <a:cs typeface="Calibri"/>
                        </a:rPr>
                        <a:t>12.72</a:t>
                      </a:r>
                    </a:p>
                  </a:txBody>
                  <a:tcPr marL="0" marR="0" marT="0" marB="0" anchor="b">
                    <a:lnL w="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15239072"/>
                  </a:ext>
                </a:extLst>
              </a:tr>
              <a:tr h="221515">
                <a:tc>
                  <a:txBody>
                    <a:bodyPr/>
                    <a:lstStyle/>
                    <a:p>
                      <a:pPr algn="l" fontAlgn="b"/>
                      <a:r>
                        <a:rPr lang="en-US" sz="1000" b="0" i="0" u="none" strike="noStrike">
                          <a:solidFill>
                            <a:srgbClr val="000000"/>
                          </a:solidFill>
                          <a:effectLst/>
                          <a:latin typeface="Calibri"/>
                          <a:cs typeface="Calibri"/>
                        </a:rPr>
                        <a:t> Terminal Value</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000" b="0" i="0" u="none" strike="noStrike">
                          <a:solidFill>
                            <a:srgbClr val="000000"/>
                          </a:solidFill>
                          <a:effectLst/>
                          <a:latin typeface="Calibri"/>
                          <a:cs typeface="Calibri"/>
                        </a:rPr>
                        <a:t>72.61</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8414371"/>
                  </a:ext>
                </a:extLst>
              </a:tr>
              <a:tr h="221515">
                <a:tc>
                  <a:txBody>
                    <a:bodyPr/>
                    <a:lstStyle/>
                    <a:p>
                      <a:pPr algn="l" fontAlgn="b"/>
                      <a:r>
                        <a:rPr lang="en-US" sz="1000" b="0" i="0" u="none" strike="noStrike">
                          <a:solidFill>
                            <a:srgbClr val="000000"/>
                          </a:solidFill>
                          <a:effectLst/>
                          <a:latin typeface="Calibri"/>
                          <a:cs typeface="Calibri"/>
                        </a:rPr>
                        <a:t>Price Target</a:t>
                      </a:r>
                    </a:p>
                  </a:txBody>
                  <a:tcPr marL="0" marR="0" marT="0" marB="0" anchor="b">
                    <a:lnL w="12700" cap="flat" cmpd="sng" algn="ctr">
                      <a:solidFill>
                        <a:schemeClr val="tx1"/>
                      </a:solidFill>
                      <a:prstDash val="solid"/>
                      <a:round/>
                      <a:headEnd type="none" w="med" len="med"/>
                      <a:tailEnd type="none" w="med" len="med"/>
                    </a:lnL>
                    <a:lnR w="0" cmpd="sng">
                      <a:noFill/>
                    </a:lnR>
                    <a:lnT w="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r>
                        <a:rPr lang="en-US" sz="1000" b="0" i="0" u="none" strike="noStrike">
                          <a:solidFill>
                            <a:srgbClr val="000000"/>
                          </a:solidFill>
                          <a:effectLst/>
                          <a:latin typeface="Calibri"/>
                          <a:cs typeface="Calibri"/>
                        </a:rPr>
                        <a:t>85.33</a:t>
                      </a:r>
                    </a:p>
                  </a:txBody>
                  <a:tcPr marL="0" marR="0" marT="0" marB="0" anchor="b">
                    <a:lnL w="0" cmpd="sng">
                      <a:noFill/>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051531461"/>
                  </a:ext>
                </a:extLst>
              </a:tr>
            </a:tbl>
          </a:graphicData>
        </a:graphic>
      </p:graphicFrame>
      <p:sp>
        <p:nvSpPr>
          <p:cNvPr id="15" name="TextBox 14">
            <a:extLst>
              <a:ext uri="{FF2B5EF4-FFF2-40B4-BE49-F238E27FC236}">
                <a16:creationId xmlns:a16="http://schemas.microsoft.com/office/drawing/2014/main" id="{11B7B2E9-333F-5302-E762-59E932AE09D8}"/>
              </a:ext>
            </a:extLst>
          </p:cNvPr>
          <p:cNvSpPr txBox="1"/>
          <p:nvPr/>
        </p:nvSpPr>
        <p:spPr>
          <a:xfrm>
            <a:off x="2759143" y="6322558"/>
            <a:ext cx="4794452" cy="219355"/>
          </a:xfrm>
          <a:prstGeom prst="rect">
            <a:avLst/>
          </a:prstGeom>
          <a:solidFill>
            <a:schemeClr val="accent2">
              <a:lumMod val="75000"/>
            </a:schemeClr>
          </a:solidFill>
          <a:ln>
            <a:solidFill>
              <a:schemeClr val="tx1"/>
            </a:solidFill>
          </a:ln>
        </p:spPr>
        <p:txBody>
          <a:bodyPr wrap="square" lIns="91440" tIns="45720" rIns="91440" bIns="45720"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rgbClr val="FFFFFF"/>
                </a:solidFill>
                <a:latin typeface="Calibri"/>
                <a:ea typeface="Cambria"/>
                <a:cs typeface="Calibri"/>
              </a:rPr>
              <a:t>Key Assumptions</a:t>
            </a:r>
          </a:p>
        </p:txBody>
      </p:sp>
      <p:sp>
        <p:nvSpPr>
          <p:cNvPr id="10" name="TextBox 9">
            <a:extLst>
              <a:ext uri="{FF2B5EF4-FFF2-40B4-BE49-F238E27FC236}">
                <a16:creationId xmlns:a16="http://schemas.microsoft.com/office/drawing/2014/main" id="{E7B0333C-2FE9-3F6B-DED2-071B746469F3}"/>
              </a:ext>
            </a:extLst>
          </p:cNvPr>
          <p:cNvSpPr txBox="1"/>
          <p:nvPr/>
        </p:nvSpPr>
        <p:spPr>
          <a:xfrm>
            <a:off x="126293" y="8060942"/>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21: Sales Growth Estimates</a:t>
            </a:r>
          </a:p>
        </p:txBody>
      </p:sp>
      <p:cxnSp>
        <p:nvCxnSpPr>
          <p:cNvPr id="11" name="Straight Connector 10">
            <a:extLst>
              <a:ext uri="{FF2B5EF4-FFF2-40B4-BE49-F238E27FC236}">
                <a16:creationId xmlns:a16="http://schemas.microsoft.com/office/drawing/2014/main" id="{BFA3B689-23D1-0282-B11B-8C94B907FB24}"/>
              </a:ext>
            </a:extLst>
          </p:cNvPr>
          <p:cNvCxnSpPr/>
          <p:nvPr/>
        </p:nvCxnSpPr>
        <p:spPr>
          <a:xfrm>
            <a:off x="162804" y="8266938"/>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4" name="Chart 13">
            <a:extLst>
              <a:ext uri="{FF2B5EF4-FFF2-40B4-BE49-F238E27FC236}">
                <a16:creationId xmlns:a16="http://schemas.microsoft.com/office/drawing/2014/main" id="{3F1B638B-FCAE-A486-9A50-C8D4ECC1FA49}"/>
              </a:ext>
            </a:extLst>
          </p:cNvPr>
          <p:cNvGraphicFramePr>
            <a:graphicFrameLocks/>
          </p:cNvGraphicFramePr>
          <p:nvPr>
            <p:extLst>
              <p:ext uri="{D42A27DB-BD31-4B8C-83A1-F6EECF244321}">
                <p14:modId xmlns:p14="http://schemas.microsoft.com/office/powerpoint/2010/main" val="809909891"/>
              </p:ext>
            </p:extLst>
          </p:nvPr>
        </p:nvGraphicFramePr>
        <p:xfrm>
          <a:off x="123012" y="8235964"/>
          <a:ext cx="2446019" cy="174017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0" name="Table 39">
            <a:extLst>
              <a:ext uri="{FF2B5EF4-FFF2-40B4-BE49-F238E27FC236}">
                <a16:creationId xmlns:a16="http://schemas.microsoft.com/office/drawing/2014/main" id="{074770C7-4E90-930D-E5D5-6D2C1186C150}"/>
              </a:ext>
            </a:extLst>
          </p:cNvPr>
          <p:cNvGraphicFramePr>
            <a:graphicFrameLocks noGrp="1"/>
          </p:cNvGraphicFramePr>
          <p:nvPr>
            <p:custDataLst>
              <p:tags r:id="rId3"/>
            </p:custDataLst>
            <p:extLst>
              <p:ext uri="{D42A27DB-BD31-4B8C-83A1-F6EECF244321}">
                <p14:modId xmlns:p14="http://schemas.microsoft.com/office/powerpoint/2010/main" val="1165084233"/>
              </p:ext>
            </p:extLst>
          </p:nvPr>
        </p:nvGraphicFramePr>
        <p:xfrm>
          <a:off x="162804" y="3366427"/>
          <a:ext cx="2406227" cy="1326709"/>
        </p:xfrm>
        <a:graphic>
          <a:graphicData uri="http://schemas.openxmlformats.org/drawingml/2006/table">
            <a:tbl>
              <a:tblPr>
                <a:tableStyleId>{5C22544A-7EE6-4342-B048-85BDC9FD1C3A}</a:tableStyleId>
              </a:tblPr>
              <a:tblGrid>
                <a:gridCol w="1041875">
                  <a:extLst>
                    <a:ext uri="{9D8B030D-6E8A-4147-A177-3AD203B41FA5}">
                      <a16:colId xmlns:a16="http://schemas.microsoft.com/office/drawing/2014/main" val="749176421"/>
                    </a:ext>
                  </a:extLst>
                </a:gridCol>
                <a:gridCol w="661819">
                  <a:extLst>
                    <a:ext uri="{9D8B030D-6E8A-4147-A177-3AD203B41FA5}">
                      <a16:colId xmlns:a16="http://schemas.microsoft.com/office/drawing/2014/main" val="2677028977"/>
                    </a:ext>
                  </a:extLst>
                </a:gridCol>
                <a:gridCol w="702533">
                  <a:extLst>
                    <a:ext uri="{9D8B030D-6E8A-4147-A177-3AD203B41FA5}">
                      <a16:colId xmlns:a16="http://schemas.microsoft.com/office/drawing/2014/main" val="2528942"/>
                    </a:ext>
                  </a:extLst>
                </a:gridCol>
              </a:tblGrid>
              <a:tr h="205322">
                <a:tc gridSpan="3">
                  <a:txBody>
                    <a:bodyPr/>
                    <a:lstStyle/>
                    <a:p>
                      <a:pPr algn="l" fontAlgn="b"/>
                      <a:r>
                        <a:rPr lang="en-US" sz="1000" b="1">
                          <a:solidFill>
                            <a:schemeClr val="bg1"/>
                          </a:solidFill>
                          <a:latin typeface="Calibri"/>
                          <a:cs typeface="Calibri"/>
                        </a:rPr>
                        <a:t> Figure 18: Cost of Equity </a:t>
                      </a:r>
                    </a:p>
                    <a:p>
                      <a:pPr algn="l" fontAlgn="b"/>
                      <a:endParaRPr lang="en-US" sz="300" b="0" i="0" u="none" strike="noStrike">
                        <a:solidFill>
                          <a:srgbClr val="000000"/>
                        </a:solidFill>
                        <a:effectLst/>
                        <a:latin typeface="Aptos Narrow" panose="020B00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03368194"/>
                  </a:ext>
                </a:extLst>
              </a:tr>
              <a:tr h="185117">
                <a:tc>
                  <a:txBody>
                    <a:bodyPr/>
                    <a:lstStyle/>
                    <a:p>
                      <a:pPr algn="l" fontAlgn="b"/>
                      <a:r>
                        <a:rPr lang="en-US" sz="1000" u="none" strike="noStrike">
                          <a:effectLst/>
                          <a:latin typeface="Calibri"/>
                          <a:cs typeface="Calibri"/>
                        </a:rPr>
                        <a:t>Market Return </a:t>
                      </a:r>
                      <a:endParaRPr lang="en-US" sz="1000" b="0" i="0" u="none" strike="noStrike">
                        <a:solidFill>
                          <a:srgbClr val="000000"/>
                        </a:solidFill>
                        <a:effectLst/>
                        <a:latin typeface="Calibri"/>
                        <a:cs typeface="Calibri"/>
                      </a:endParaRPr>
                    </a:p>
                  </a:txBody>
                  <a:tcPr marL="0" marR="0" marT="0" marB="0" anchor="b">
                    <a:lnL w="12700" cap="flat" cmpd="sng" algn="ctr">
                      <a:solidFill>
                        <a:schemeClr val="tx1"/>
                      </a:solidFill>
                      <a:prstDash val="solid"/>
                      <a:round/>
                      <a:headEnd type="none" w="med" len="med"/>
                      <a:tailEnd type="none" w="med" len="med"/>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u="none" strike="noStrike">
                          <a:effectLst/>
                          <a:latin typeface="Calibri"/>
                          <a:cs typeface="Calibri"/>
                        </a:rPr>
                        <a:t>10.0%</a:t>
                      </a:r>
                      <a:endParaRPr lang="en-US" sz="1000" b="0" i="0" u="none" strike="noStrike">
                        <a:solidFill>
                          <a:srgbClr val="000000"/>
                        </a:solidFill>
                        <a:effectLst/>
                        <a:latin typeface="Calibri"/>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3448610"/>
                  </a:ext>
                </a:extLst>
              </a:tr>
              <a:tr h="185117">
                <a:tc>
                  <a:txBody>
                    <a:bodyPr/>
                    <a:lstStyle/>
                    <a:p>
                      <a:pPr algn="l" fontAlgn="b"/>
                      <a:r>
                        <a:rPr lang="en-US" sz="1000" b="0" i="0" u="none" strike="noStrike">
                          <a:solidFill>
                            <a:srgbClr val="000000"/>
                          </a:solidFill>
                          <a:effectLst/>
                          <a:latin typeface="Calibri"/>
                          <a:cs typeface="Calibri"/>
                        </a:rPr>
                        <a:t>Risk Free Rate</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r" fontAlgn="b"/>
                      <a:r>
                        <a:rPr lang="en-US" sz="1000" u="none" strike="noStrike">
                          <a:effectLst/>
                          <a:latin typeface="Calibri"/>
                          <a:cs typeface="Calibri"/>
                        </a:rPr>
                        <a:t>4.24%</a:t>
                      </a:r>
                      <a:endParaRPr lang="en-US" sz="1000" b="0" i="0" u="none" strike="noStrike">
                        <a:solidFill>
                          <a:srgbClr val="000000"/>
                        </a:solidFill>
                        <a:effectLst/>
                        <a:latin typeface="Calibri"/>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4764584"/>
                  </a:ext>
                </a:extLst>
              </a:tr>
              <a:tr h="195802">
                <a:tc>
                  <a:txBody>
                    <a:bodyPr/>
                    <a:lstStyle/>
                    <a:p>
                      <a:pPr algn="l" fontAlgn="b"/>
                      <a:r>
                        <a:rPr lang="en-US" sz="1000" b="0" i="0" u="none" strike="noStrike">
                          <a:solidFill>
                            <a:srgbClr val="000000"/>
                          </a:solidFill>
                          <a:effectLst/>
                          <a:latin typeface="Calibri"/>
                          <a:cs typeface="Calibri"/>
                        </a:rPr>
                        <a:t>Market Risk Prem.</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u="none" strike="noStrike">
                          <a:effectLst/>
                          <a:latin typeface="Calibri"/>
                          <a:cs typeface="Calibri"/>
                        </a:rPr>
                        <a:t>5.8%</a:t>
                      </a:r>
                      <a:endParaRPr lang="en-US" sz="1000" b="0" i="0" u="none" strike="noStrike">
                        <a:solidFill>
                          <a:srgbClr val="000000"/>
                        </a:solidFill>
                        <a:effectLst/>
                        <a:latin typeface="Calibri"/>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15239072"/>
                  </a:ext>
                </a:extLst>
              </a:tr>
              <a:tr h="185117">
                <a:tc>
                  <a:txBody>
                    <a:bodyPr/>
                    <a:lstStyle/>
                    <a:p>
                      <a:pPr algn="l" fontAlgn="b"/>
                      <a:r>
                        <a:rPr lang="en-US" sz="1000" b="0" i="0" u="none" strike="noStrike">
                          <a:solidFill>
                            <a:srgbClr val="000000"/>
                          </a:solidFill>
                          <a:effectLst/>
                          <a:latin typeface="Calibri"/>
                          <a:cs typeface="Calibri"/>
                        </a:rPr>
                        <a:t>Beta</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bg1"/>
                    </a:solidFill>
                  </a:tcPr>
                </a:tc>
                <a:tc>
                  <a:txBody>
                    <a:bodyPr/>
                    <a:lstStyle/>
                    <a:p>
                      <a:pPr algn="r" fontAlgn="b"/>
                      <a:r>
                        <a:rPr lang="en-US" sz="1000" b="0" i="0" u="none" strike="noStrike">
                          <a:solidFill>
                            <a:srgbClr val="000000"/>
                          </a:solidFill>
                          <a:effectLst/>
                          <a:latin typeface="Calibri"/>
                          <a:cs typeface="Calibri"/>
                        </a:rPr>
                        <a:t>1.17</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8414371"/>
                  </a:ext>
                </a:extLst>
              </a:tr>
              <a:tr h="185117">
                <a:tc>
                  <a:txBody>
                    <a:bodyPr/>
                    <a:lstStyle/>
                    <a:p>
                      <a:pPr algn="l" fontAlgn="b"/>
                      <a:r>
                        <a:rPr lang="en-US" sz="1000" b="0" i="0" u="none" strike="noStrike">
                          <a:solidFill>
                            <a:srgbClr val="000000"/>
                          </a:solidFill>
                          <a:effectLst/>
                          <a:latin typeface="Calibri"/>
                          <a:cs typeface="Calibri"/>
                        </a:rPr>
                        <a:t>Stock Risk Premium</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en-US" sz="1000" b="0" i="0" u="none" strike="noStrike">
                        <a:solidFill>
                          <a:srgbClr val="000000"/>
                        </a:solidFill>
                        <a:effectLst/>
                        <a:latin typeface="Calibri"/>
                        <a:cs typeface="Calibri"/>
                      </a:endParaRPr>
                    </a:p>
                  </a:txBody>
                  <a:tcPr marL="0" marR="0" marT="0" marB="0" anchor="b">
                    <a:lnL w="0" cmpd="sng">
                      <a:noFill/>
                    </a:lnL>
                    <a:lnR w="0" cmpd="sng">
                      <a:noFill/>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r" fontAlgn="b"/>
                      <a:r>
                        <a:rPr lang="en-US" sz="1000" u="none" strike="noStrike">
                          <a:effectLst/>
                          <a:latin typeface="Calibri"/>
                          <a:cs typeface="Calibri"/>
                        </a:rPr>
                        <a:t>6.7%</a:t>
                      </a:r>
                      <a:endParaRPr lang="en-US" sz="1000" b="0" i="0" u="none" strike="noStrike">
                        <a:solidFill>
                          <a:srgbClr val="000000"/>
                        </a:solidFill>
                        <a:effectLst/>
                        <a:latin typeface="Calibri"/>
                        <a:cs typeface="Calibri"/>
                      </a:endParaRP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051531461"/>
                  </a:ext>
                </a:extLst>
              </a:tr>
              <a:tr h="185117">
                <a:tc>
                  <a:txBody>
                    <a:bodyPr/>
                    <a:lstStyle/>
                    <a:p>
                      <a:pPr algn="l" fontAlgn="b"/>
                      <a:r>
                        <a:rPr lang="en-US" sz="1000" b="0" i="0" u="none" strike="noStrike">
                          <a:solidFill>
                            <a:srgbClr val="000000"/>
                          </a:solidFill>
                          <a:effectLst/>
                          <a:latin typeface="Calibri"/>
                          <a:cs typeface="Calibri"/>
                        </a:rPr>
                        <a:t> r = rf + stock RP</a:t>
                      </a:r>
                    </a:p>
                  </a:txBody>
                  <a:tcPr marL="0" marR="0" marT="0" marB="0" anchor="b">
                    <a:lnL w="12700" cap="flat" cmpd="sng" algn="ctr">
                      <a:solidFill>
                        <a:schemeClr val="tx1"/>
                      </a:solidFill>
                      <a:prstDash val="solid"/>
                      <a:round/>
                      <a:headEnd type="none" w="med" len="med"/>
                      <a:tailEnd type="none" w="med" len="med"/>
                    </a:lnL>
                    <a:lnR w="0" cmpd="sng">
                      <a:noFill/>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US" sz="1000" b="0" i="0" u="none" strike="noStrike">
                        <a:solidFill>
                          <a:srgbClr val="000000"/>
                        </a:solidFill>
                        <a:effectLst/>
                        <a:latin typeface="Calibri" panose="020F0502020204030204" pitchFamily="34" charset="0"/>
                        <a:cs typeface="Calibri" panose="020F0502020204030204" pitchFamily="34" charset="0"/>
                      </a:endParaRPr>
                    </a:p>
                  </a:txBody>
                  <a:tcPr marL="0" marR="0" marT="0" marB="0" anchor="b">
                    <a:lnL w="0" cmpd="sng">
                      <a:noFill/>
                    </a:lnL>
                    <a:lnR w="0" cmpd="sng">
                      <a:noFill/>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000" b="0" i="0" u="none" strike="noStrike">
                          <a:solidFill>
                            <a:srgbClr val="000000"/>
                          </a:solidFill>
                          <a:effectLst/>
                          <a:latin typeface="Calibri"/>
                          <a:cs typeface="Calibri"/>
                        </a:rPr>
                        <a:t>10.98%</a:t>
                      </a:r>
                    </a:p>
                  </a:txBody>
                  <a:tcPr marL="0" marR="0" marT="0" marB="0" anchor="b">
                    <a:lnL w="0" cmpd="sng">
                      <a:noFill/>
                    </a:lnL>
                    <a:lnR w="12700" cap="flat" cmpd="sng" algn="ctr">
                      <a:solidFill>
                        <a:schemeClr val="tx1"/>
                      </a:solidFill>
                      <a:prstDash val="solid"/>
                      <a:round/>
                      <a:headEnd type="none" w="med" len="med"/>
                      <a:tailEnd type="none" w="med" len="med"/>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10295208"/>
                  </a:ext>
                </a:extLst>
              </a:tr>
            </a:tbl>
          </a:graphicData>
        </a:graphic>
      </p:graphicFrame>
      <p:graphicFrame>
        <p:nvGraphicFramePr>
          <p:cNvPr id="16" name="Table 15">
            <a:extLst>
              <a:ext uri="{FF2B5EF4-FFF2-40B4-BE49-F238E27FC236}">
                <a16:creationId xmlns:a16="http://schemas.microsoft.com/office/drawing/2014/main" id="{D2ACDAB0-23E8-D5E4-3242-353371DA44B7}"/>
              </a:ext>
            </a:extLst>
          </p:cNvPr>
          <p:cNvGraphicFramePr>
            <a:graphicFrameLocks noGrp="1"/>
          </p:cNvGraphicFramePr>
          <p:nvPr>
            <p:custDataLst>
              <p:tags r:id="rId4"/>
            </p:custDataLst>
            <p:extLst>
              <p:ext uri="{D42A27DB-BD31-4B8C-83A1-F6EECF244321}">
                <p14:modId xmlns:p14="http://schemas.microsoft.com/office/powerpoint/2010/main" val="1894032581"/>
              </p:ext>
            </p:extLst>
          </p:nvPr>
        </p:nvGraphicFramePr>
        <p:xfrm>
          <a:off x="162802" y="1636683"/>
          <a:ext cx="7390793" cy="1554480"/>
        </p:xfrm>
        <a:graphic>
          <a:graphicData uri="http://schemas.openxmlformats.org/drawingml/2006/table">
            <a:tbl>
              <a:tblPr>
                <a:tableStyleId>{5C22544A-7EE6-4342-B048-85BDC9FD1C3A}</a:tableStyleId>
              </a:tblPr>
              <a:tblGrid>
                <a:gridCol w="557592">
                  <a:extLst>
                    <a:ext uri="{9D8B030D-6E8A-4147-A177-3AD203B41FA5}">
                      <a16:colId xmlns:a16="http://schemas.microsoft.com/office/drawing/2014/main" val="1174912129"/>
                    </a:ext>
                  </a:extLst>
                </a:gridCol>
                <a:gridCol w="1650901">
                  <a:extLst>
                    <a:ext uri="{9D8B030D-6E8A-4147-A177-3AD203B41FA5}">
                      <a16:colId xmlns:a16="http://schemas.microsoft.com/office/drawing/2014/main" val="4203859756"/>
                    </a:ext>
                  </a:extLst>
                </a:gridCol>
                <a:gridCol w="743451">
                  <a:extLst>
                    <a:ext uri="{9D8B030D-6E8A-4147-A177-3AD203B41FA5}">
                      <a16:colId xmlns:a16="http://schemas.microsoft.com/office/drawing/2014/main" val="1521045090"/>
                    </a:ext>
                  </a:extLst>
                </a:gridCol>
                <a:gridCol w="524790">
                  <a:extLst>
                    <a:ext uri="{9D8B030D-6E8A-4147-A177-3AD203B41FA5}">
                      <a16:colId xmlns:a16="http://schemas.microsoft.com/office/drawing/2014/main" val="4103451502"/>
                    </a:ext>
                  </a:extLst>
                </a:gridCol>
                <a:gridCol w="524790">
                  <a:extLst>
                    <a:ext uri="{9D8B030D-6E8A-4147-A177-3AD203B41FA5}">
                      <a16:colId xmlns:a16="http://schemas.microsoft.com/office/drawing/2014/main" val="248581468"/>
                    </a:ext>
                  </a:extLst>
                </a:gridCol>
                <a:gridCol w="645055">
                  <a:extLst>
                    <a:ext uri="{9D8B030D-6E8A-4147-A177-3AD203B41FA5}">
                      <a16:colId xmlns:a16="http://schemas.microsoft.com/office/drawing/2014/main" val="1851677471"/>
                    </a:ext>
                  </a:extLst>
                </a:gridCol>
                <a:gridCol w="612256">
                  <a:extLst>
                    <a:ext uri="{9D8B030D-6E8A-4147-A177-3AD203B41FA5}">
                      <a16:colId xmlns:a16="http://schemas.microsoft.com/office/drawing/2014/main" val="1563439396"/>
                    </a:ext>
                  </a:extLst>
                </a:gridCol>
                <a:gridCol w="524790">
                  <a:extLst>
                    <a:ext uri="{9D8B030D-6E8A-4147-A177-3AD203B41FA5}">
                      <a16:colId xmlns:a16="http://schemas.microsoft.com/office/drawing/2014/main" val="3470676410"/>
                    </a:ext>
                  </a:extLst>
                </a:gridCol>
                <a:gridCol w="1038645">
                  <a:extLst>
                    <a:ext uri="{9D8B030D-6E8A-4147-A177-3AD203B41FA5}">
                      <a16:colId xmlns:a16="http://schemas.microsoft.com/office/drawing/2014/main" val="1344022729"/>
                    </a:ext>
                  </a:extLst>
                </a:gridCol>
                <a:gridCol w="568523">
                  <a:extLst>
                    <a:ext uri="{9D8B030D-6E8A-4147-A177-3AD203B41FA5}">
                      <a16:colId xmlns:a16="http://schemas.microsoft.com/office/drawing/2014/main" val="3352499543"/>
                    </a:ext>
                  </a:extLst>
                </a:gridCol>
              </a:tblGrid>
              <a:tr h="139264">
                <a:tc>
                  <a:txBody>
                    <a:bodyPr/>
                    <a:lstStyle/>
                    <a:p>
                      <a:pPr algn="ctr" rtl="0" fontAlgn="b">
                        <a:buNone/>
                      </a:pPr>
                      <a:r>
                        <a:rPr lang="en-US" sz="1000" b="1" i="0" u="none" strike="noStrike">
                          <a:solidFill>
                            <a:srgbClr val="FFFFFF"/>
                          </a:solidFill>
                          <a:effectLst/>
                          <a:latin typeface="Calibri" panose="020F0502020204030204" pitchFamily="34" charset="0"/>
                        </a:rPr>
                        <a:t>Ticker</a:t>
                      </a:r>
                    </a:p>
                  </a:txBody>
                  <a:tcPr marL="9525" marR="9525" marT="9525" marB="0" anchor="b">
                    <a:lnL w="12700" cap="flat" cmpd="sng" algn="ctr">
                      <a:solidFill>
                        <a:schemeClr val="tx1"/>
                      </a:solidFill>
                      <a:prstDash val="solid"/>
                      <a:round/>
                      <a:headEnd type="none" w="med" len="med"/>
                      <a:tailEnd type="none" w="med" len="med"/>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1000" b="1" i="0" u="none" strike="noStrike">
                          <a:solidFill>
                            <a:srgbClr val="FFFFFF"/>
                          </a:solidFill>
                          <a:effectLst/>
                          <a:latin typeface="Calibri" panose="020F0502020204030204" pitchFamily="34" charset="0"/>
                        </a:rPr>
                        <a:t>Name</a:t>
                      </a:r>
                    </a:p>
                  </a:txBody>
                  <a:tcPr marL="9525" marR="9525" marT="9525" marB="0" anchor="b">
                    <a:lnL w="0" cmpd="sng">
                      <a:noFill/>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1000" b="1" i="0" u="none" strike="noStrike">
                          <a:solidFill>
                            <a:srgbClr val="FFFFFF"/>
                          </a:solidFill>
                          <a:effectLst/>
                          <a:latin typeface="Calibri" panose="020F0502020204030204" pitchFamily="34" charset="0"/>
                        </a:rPr>
                        <a:t>Market Value</a:t>
                      </a:r>
                    </a:p>
                  </a:txBody>
                  <a:tcPr marL="9525" marR="9525" marT="9525" marB="0" anchor="b">
                    <a:lnL w="0" cmpd="sng">
                      <a:noFill/>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1000" b="1" i="0" u="none" strike="noStrike">
                          <a:solidFill>
                            <a:srgbClr val="FFFFFF"/>
                          </a:solidFill>
                          <a:effectLst/>
                          <a:latin typeface="Calibri" panose="020F0502020204030204" pitchFamily="34" charset="0"/>
                        </a:rPr>
                        <a:t>P/E TTM</a:t>
                      </a:r>
                    </a:p>
                  </a:txBody>
                  <a:tcPr marL="9525" marR="9525" marT="9525" marB="0" anchor="b">
                    <a:lnL w="0" cmpd="sng">
                      <a:noFill/>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1000" b="1" i="0" u="none" strike="noStrike">
                          <a:solidFill>
                            <a:srgbClr val="FFFFFF"/>
                          </a:solidFill>
                          <a:effectLst/>
                          <a:latin typeface="Calibri" panose="020F0502020204030204" pitchFamily="34" charset="0"/>
                        </a:rPr>
                        <a:t>P/B</a:t>
                      </a:r>
                    </a:p>
                  </a:txBody>
                  <a:tcPr marL="9525" marR="9525" marT="9525" marB="0" anchor="b">
                    <a:lnL w="0" cmpd="sng">
                      <a:noFill/>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1000" b="1" i="0" u="none" strike="noStrike">
                          <a:solidFill>
                            <a:srgbClr val="FFFFFF"/>
                          </a:solidFill>
                          <a:effectLst/>
                          <a:latin typeface="Calibri" panose="020F0502020204030204" pitchFamily="34" charset="0"/>
                        </a:rPr>
                        <a:t>EV/EBITDA</a:t>
                      </a:r>
                    </a:p>
                  </a:txBody>
                  <a:tcPr marL="9525" marR="9525" marT="9525" marB="0" anchor="b">
                    <a:lnL w="0" cmpd="sng">
                      <a:noFill/>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1000" b="1" i="0" u="none" strike="noStrike">
                          <a:solidFill>
                            <a:srgbClr val="FFFFFF"/>
                          </a:solidFill>
                          <a:effectLst/>
                          <a:latin typeface="Calibri" panose="020F0502020204030204" pitchFamily="34" charset="0"/>
                        </a:rPr>
                        <a:t>Net Margin</a:t>
                      </a:r>
                    </a:p>
                  </a:txBody>
                  <a:tcPr marL="9525" marR="9525" marT="9525" marB="0" anchor="b">
                    <a:lnL w="0" cmpd="sng">
                      <a:noFill/>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1000" b="1" i="0" u="none" strike="noStrike">
                          <a:solidFill>
                            <a:srgbClr val="FFFFFF"/>
                          </a:solidFill>
                          <a:effectLst/>
                          <a:latin typeface="Calibri" panose="020F0502020204030204" pitchFamily="34" charset="0"/>
                        </a:rPr>
                        <a:t>ROIC</a:t>
                      </a:r>
                    </a:p>
                  </a:txBody>
                  <a:tcPr marL="9525" marR="9525" marT="9525" marB="0" anchor="b">
                    <a:lnL w="0" cmpd="sng">
                      <a:noFill/>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1000" b="1" i="0" u="none" strike="noStrike">
                          <a:solidFill>
                            <a:srgbClr val="FFFFFF"/>
                          </a:solidFill>
                          <a:effectLst/>
                          <a:latin typeface="Calibri" panose="020F0502020204030204" pitchFamily="34" charset="0"/>
                        </a:rPr>
                        <a:t>ROE</a:t>
                      </a:r>
                    </a:p>
                  </a:txBody>
                  <a:tcPr marL="9525" marR="9525" marT="9525" marB="0" anchor="b">
                    <a:lnL w="0" cmpd="sng">
                      <a:noFill/>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b">
                        <a:buNone/>
                      </a:pPr>
                      <a:r>
                        <a:rPr lang="en-US" sz="1000" b="1" i="0" u="none" strike="noStrike">
                          <a:solidFill>
                            <a:srgbClr val="FFFFFF"/>
                          </a:solidFill>
                          <a:effectLst/>
                          <a:latin typeface="Calibri" panose="020F0502020204030204" pitchFamily="34" charset="0"/>
                        </a:rPr>
                        <a:t>LTM Sales</a:t>
                      </a:r>
                    </a:p>
                  </a:txBody>
                  <a:tcPr marL="9525" marR="9525" marT="9525" marB="0" anchor="b">
                    <a:lnL w="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2644902718"/>
                  </a:ext>
                </a:extLst>
              </a:tr>
              <a:tr h="158617">
                <a:tc>
                  <a:txBody>
                    <a:bodyPr/>
                    <a:lstStyle/>
                    <a:p>
                      <a:pPr algn="ctr" rtl="0" fontAlgn="b">
                        <a:buNone/>
                      </a:pPr>
                      <a:r>
                        <a:rPr lang="en-US" sz="1100" b="0" i="0" u="none" strike="noStrike">
                          <a:solidFill>
                            <a:srgbClr val="000000"/>
                          </a:solidFill>
                          <a:effectLst/>
                          <a:latin typeface="Calibri" panose="020F0502020204030204" pitchFamily="34" charset="0"/>
                        </a:rPr>
                        <a:t>HOG</a:t>
                      </a:r>
                    </a:p>
                  </a:txBody>
                  <a:tcPr marL="9525" marR="9525" marT="9525"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Harley</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$2,398 </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4.9</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1.18</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14.9</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8.80%</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5.70%</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14.20%</a:t>
                      </a:r>
                    </a:p>
                  </a:txBody>
                  <a:tcPr marL="9525" marR="9525" marT="9525"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4.665</a:t>
                      </a:r>
                    </a:p>
                  </a:txBody>
                  <a:tcPr marL="9525" marR="9525" marT="9525"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053376112"/>
                  </a:ext>
                </a:extLst>
              </a:tr>
              <a:tr h="171172">
                <a:tc>
                  <a:txBody>
                    <a:bodyPr/>
                    <a:lstStyle/>
                    <a:p>
                      <a:pPr algn="ctr" rtl="0" fontAlgn="b">
                        <a:buNone/>
                      </a:pPr>
                      <a:r>
                        <a:rPr lang="en-US" sz="1100" b="0" i="0" u="none" strike="noStrike">
                          <a:solidFill>
                            <a:srgbClr val="000000"/>
                          </a:solidFill>
                          <a:effectLst/>
                          <a:latin typeface="Calibri" panose="020F0502020204030204" pitchFamily="34" charset="0"/>
                        </a:rPr>
                        <a:t>HMC</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Honda</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$39,783 </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10.2</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0.47</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4.81</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3.90%</a:t>
                      </a:r>
                    </a:p>
                  </a:txBody>
                  <a:tcPr marL="9525" marR="9525" marT="9525" marB="0" anchor="b">
                    <a:lnL w="12700" cmpd="sng">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4.30%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6.60%</a:t>
                      </a:r>
                    </a:p>
                  </a:txBody>
                  <a:tcPr marL="9525" marR="9525" marT="9525" marB="0" anchor="b">
                    <a:lnL w="12700" cap="flat" cmpd="sng" algn="ctr">
                      <a:no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144.3</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9543373"/>
                  </a:ext>
                </a:extLst>
              </a:tr>
              <a:tr h="158617">
                <a:tc>
                  <a:txBody>
                    <a:bodyPr/>
                    <a:lstStyle/>
                    <a:p>
                      <a:pPr algn="ctr" rtl="0" fontAlgn="b">
                        <a:buNone/>
                      </a:pPr>
                      <a:r>
                        <a:rPr lang="en-US" sz="1100" b="0" i="0" u="none" strike="noStrike">
                          <a:solidFill>
                            <a:srgbClr val="000000"/>
                          </a:solidFill>
                          <a:effectLst/>
                          <a:latin typeface="Calibri" panose="020F0502020204030204" pitchFamily="34" charset="0"/>
                        </a:rPr>
                        <a:t>YAMHF</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Yamaha</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$3,328 </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28.9</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1.18</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7.63</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4.20%</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7.40%</a:t>
                      </a: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9.66%</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16.84</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547996003"/>
                  </a:ext>
                </a:extLst>
              </a:tr>
              <a:tr h="158617">
                <a:tc>
                  <a:txBody>
                    <a:bodyPr/>
                    <a:lstStyle/>
                    <a:p>
                      <a:pPr algn="ctr" rtl="0" fontAlgn="b">
                        <a:buNone/>
                      </a:pPr>
                      <a:r>
                        <a:rPr lang="en-US" sz="1100" b="0" i="0" u="none" strike="noStrike">
                          <a:solidFill>
                            <a:srgbClr val="000000"/>
                          </a:solidFill>
                          <a:effectLst/>
                          <a:latin typeface="Calibri" panose="020F0502020204030204" pitchFamily="34" charset="0"/>
                        </a:rPr>
                        <a:t>SZKMF</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Suzuki</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$27,606 </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10.5</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1.12</a:t>
                      </a:r>
                    </a:p>
                  </a:txBody>
                  <a:tcPr marL="9525" marR="9525" marT="9525" marB="0" anchor="b">
                    <a:lnL w="12700" cmpd="sng">
                      <a:noFill/>
                    </a:lnL>
                    <a:lnR w="12700" cmpd="sng">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4.76</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7.10%</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12.80%</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14.60%</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39.11</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7863227"/>
                  </a:ext>
                </a:extLst>
              </a:tr>
              <a:tr h="174960">
                <a:tc>
                  <a:txBody>
                    <a:bodyPr/>
                    <a:lstStyle/>
                    <a:p>
                      <a:pPr algn="ctr" rtl="0" fontAlgn="b">
                        <a:buNone/>
                      </a:pPr>
                      <a:r>
                        <a:rPr lang="en-US" sz="1100" b="0" i="0" u="none" strike="noStrike">
                          <a:solidFill>
                            <a:srgbClr val="000000"/>
                          </a:solidFill>
                          <a:effectLst/>
                          <a:latin typeface="Calibri" panose="020F0502020204030204" pitchFamily="34" charset="0"/>
                        </a:rPr>
                        <a:t>BAMXF</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BMW</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$62,823 </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8.2</a:t>
                      </a:r>
                    </a:p>
                  </a:txBody>
                  <a:tcPr marL="9525" marR="9525" marT="9525" marB="0" anchor="b">
                    <a:lnL w="12700" cmpd="sng">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0.62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6.96</a:t>
                      </a:r>
                    </a:p>
                  </a:txBody>
                  <a:tcPr marL="9525" marR="9525" marT="9525" marB="0" anchor="b">
                    <a:lnL w="12700" cap="flat" cmpd="sng" algn="ctr">
                      <a:no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5.10%</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5.00%</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8.00%</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150.6</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61120913"/>
                  </a:ext>
                </a:extLst>
              </a:tr>
              <a:tr h="158617">
                <a:tc>
                  <a:txBody>
                    <a:bodyPr/>
                    <a:lstStyle/>
                    <a:p>
                      <a:pPr algn="ctr" rtl="0" fontAlgn="b">
                        <a:buNone/>
                      </a:pPr>
                      <a:r>
                        <a:rPr lang="en-US" sz="1100" b="0" i="0" u="none" strike="noStrike">
                          <a:solidFill>
                            <a:srgbClr val="000000"/>
                          </a:solidFill>
                          <a:effectLst/>
                          <a:latin typeface="Calibri" panose="020F0502020204030204" pitchFamily="34" charset="0"/>
                        </a:rPr>
                        <a:t>Average</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$27,188</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12.5</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0.91</a:t>
                      </a:r>
                    </a:p>
                  </a:txBody>
                  <a:tcPr marL="9525" marR="9525" marT="9525" marB="0" anchor="b">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7.81</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5.82%</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7.04%</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10.61%</a:t>
                      </a:r>
                    </a:p>
                  </a:txBody>
                  <a:tcPr marL="9525" marR="9525" marT="9525"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71.10</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82142818"/>
                  </a:ext>
                </a:extLst>
              </a:tr>
              <a:tr h="158617">
                <a:tc>
                  <a:txBody>
                    <a:bodyPr/>
                    <a:lstStyle/>
                    <a:p>
                      <a:pPr algn="ctr" rtl="0" fontAlgn="b">
                        <a:buNone/>
                      </a:pPr>
                      <a:r>
                        <a:rPr lang="en-US" sz="1100" b="0" i="0" u="none" strike="noStrike">
                          <a:solidFill>
                            <a:srgbClr val="000000"/>
                          </a:solidFill>
                          <a:effectLst/>
                          <a:latin typeface="Calibri" panose="020F0502020204030204" pitchFamily="34" charset="0"/>
                        </a:rPr>
                        <a:t>Median</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a:t>
                      </a:r>
                    </a:p>
                  </a:txBody>
                  <a:tcPr marL="9525" marR="9525" marT="9525" marB="0" anchor="b">
                    <a:lnL w="12700" cmpd="sng">
                      <a:noFill/>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$27,606</a:t>
                      </a:r>
                    </a:p>
                  </a:txBody>
                  <a:tcPr marL="9525" marR="9525" marT="9525" marB="0" anchor="b">
                    <a:lnL w="12700" cmpd="sng">
                      <a:noFill/>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10.2</a:t>
                      </a:r>
                    </a:p>
                  </a:txBody>
                  <a:tcPr marL="9525" marR="9525" marT="9525" marB="0" anchor="b">
                    <a:lnL w="12700" cmpd="sng">
                      <a:noFill/>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1.12</a:t>
                      </a:r>
                    </a:p>
                  </a:txBody>
                  <a:tcPr marL="9525" marR="9525" marT="9525" marB="0" anchor="b">
                    <a:lnL w="12700" cmpd="sng">
                      <a:noFill/>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6.96</a:t>
                      </a:r>
                    </a:p>
                  </a:txBody>
                  <a:tcPr marL="9525" marR="9525" marT="9525" marB="0" anchor="b">
                    <a:lnL w="12700" cmpd="sng">
                      <a:noFill/>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5.10%</a:t>
                      </a:r>
                    </a:p>
                  </a:txBody>
                  <a:tcPr marL="9525" marR="9525" marT="9525" marB="0" anchor="b">
                    <a:lnL w="12700" cmpd="sng">
                      <a:noFill/>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5.70%</a:t>
                      </a:r>
                    </a:p>
                  </a:txBody>
                  <a:tcPr marL="9525" marR="9525" marT="9525" marB="0" anchor="b">
                    <a:lnL w="12700" cmpd="sng">
                      <a:noFill/>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9.66%</a:t>
                      </a:r>
                    </a:p>
                  </a:txBody>
                  <a:tcPr marL="9525" marR="9525" marT="9525" marB="0" anchor="b">
                    <a:lnL w="12700" cmpd="sng">
                      <a:noFill/>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39.11</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23698080"/>
                  </a:ext>
                </a:extLst>
              </a:tr>
            </a:tbl>
          </a:graphicData>
        </a:graphic>
      </p:graphicFrame>
      <p:sp>
        <p:nvSpPr>
          <p:cNvPr id="2" name="TextBox 1">
            <a:extLst>
              <a:ext uri="{FF2B5EF4-FFF2-40B4-BE49-F238E27FC236}">
                <a16:creationId xmlns:a16="http://schemas.microsoft.com/office/drawing/2014/main" id="{2BDE0835-7207-7078-525B-4D4FD774B368}"/>
              </a:ext>
            </a:extLst>
          </p:cNvPr>
          <p:cNvSpPr txBox="1"/>
          <p:nvPr/>
        </p:nvSpPr>
        <p:spPr>
          <a:xfrm>
            <a:off x="0" y="9846006"/>
            <a:ext cx="5737835"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FactSet, HOG 2025 Q1-Q3 10-Q, FY24 10-K, 2024 DEF 14A, 2024-2025 Earnings Transcripts &amp; Presentations</a:t>
            </a:r>
          </a:p>
        </p:txBody>
      </p:sp>
      <p:graphicFrame>
        <p:nvGraphicFramePr>
          <p:cNvPr id="17" name="Chart 16">
            <a:extLst>
              <a:ext uri="{FF2B5EF4-FFF2-40B4-BE49-F238E27FC236}">
                <a16:creationId xmlns:a16="http://schemas.microsoft.com/office/drawing/2014/main" id="{00000000-0008-0000-1200-000006000000}"/>
              </a:ext>
            </a:extLst>
          </p:cNvPr>
          <p:cNvGraphicFramePr>
            <a:graphicFrameLocks/>
          </p:cNvGraphicFramePr>
          <p:nvPr>
            <p:extLst>
              <p:ext uri="{D42A27DB-BD31-4B8C-83A1-F6EECF244321}">
                <p14:modId xmlns:p14="http://schemas.microsoft.com/office/powerpoint/2010/main" val="3128525296"/>
              </p:ext>
            </p:extLst>
          </p:nvPr>
        </p:nvGraphicFramePr>
        <p:xfrm>
          <a:off x="98514" y="6126821"/>
          <a:ext cx="2435022" cy="1980484"/>
        </p:xfrm>
        <a:graphic>
          <a:graphicData uri="http://schemas.openxmlformats.org/drawingml/2006/chart">
            <c:chart xmlns:c="http://schemas.openxmlformats.org/drawingml/2006/chart" xmlns:r="http://schemas.openxmlformats.org/officeDocument/2006/relationships" r:id="rId8"/>
          </a:graphicData>
        </a:graphic>
      </p:graphicFrame>
      <p:sp>
        <p:nvSpPr>
          <p:cNvPr id="18" name="TextBox 17">
            <a:extLst>
              <a:ext uri="{FF2B5EF4-FFF2-40B4-BE49-F238E27FC236}">
                <a16:creationId xmlns:a16="http://schemas.microsoft.com/office/drawing/2014/main" id="{6C80BB55-180C-1522-0089-2A8E0AFD115A}"/>
              </a:ext>
            </a:extLst>
          </p:cNvPr>
          <p:cNvSpPr txBox="1"/>
          <p:nvPr/>
        </p:nvSpPr>
        <p:spPr>
          <a:xfrm>
            <a:off x="123012" y="1592237"/>
            <a:ext cx="2530592" cy="246221"/>
          </a:xfrm>
          <a:prstGeom prst="rect">
            <a:avLst/>
          </a:prstGeom>
          <a:noFill/>
        </p:spPr>
        <p:txBody>
          <a:bodyPr wrap="square" rtlCol="0">
            <a:spAutoFit/>
          </a:bodyPr>
          <a:lstStyle/>
          <a:p>
            <a:r>
              <a:rPr lang="en-US" sz="1000" b="1">
                <a:solidFill>
                  <a:schemeClr val="bg1"/>
                </a:solidFill>
                <a:latin typeface="Calibri" panose="020F0502020204030204" pitchFamily="34" charset="0"/>
                <a:cs typeface="Calibri" panose="020F0502020204030204" pitchFamily="34" charset="0"/>
              </a:rPr>
              <a:t>Figure 17: HOG vs Comps: Valuation</a:t>
            </a:r>
          </a:p>
        </p:txBody>
      </p:sp>
      <p:sp>
        <p:nvSpPr>
          <p:cNvPr id="19" name="TextBox 18">
            <a:extLst>
              <a:ext uri="{FF2B5EF4-FFF2-40B4-BE49-F238E27FC236}">
                <a16:creationId xmlns:a16="http://schemas.microsoft.com/office/drawing/2014/main" id="{F8DF8497-EECD-CE63-0D47-847F4CE756A1}"/>
              </a:ext>
            </a:extLst>
          </p:cNvPr>
          <p:cNvSpPr txBox="1"/>
          <p:nvPr/>
        </p:nvSpPr>
        <p:spPr>
          <a:xfrm>
            <a:off x="65125" y="363130"/>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16: Price Target Calculation</a:t>
            </a:r>
          </a:p>
        </p:txBody>
      </p:sp>
    </p:spTree>
    <p:extLst>
      <p:ext uri="{BB962C8B-B14F-4D97-AF65-F5344CB8AC3E}">
        <p14:creationId xmlns:p14="http://schemas.microsoft.com/office/powerpoint/2010/main" val="355316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55000"/>
          </a:schemeClr>
        </a:solidFill>
        <a:effectLst/>
      </p:bgPr>
    </p:bg>
    <p:spTree>
      <p:nvGrpSpPr>
        <p:cNvPr id="1" name="">
          <a:extLst>
            <a:ext uri="{FF2B5EF4-FFF2-40B4-BE49-F238E27FC236}">
              <a16:creationId xmlns:a16="http://schemas.microsoft.com/office/drawing/2014/main" id="{1A17714A-F5F1-DE86-4721-D74DFFFDBFA0}"/>
            </a:ext>
          </a:extLst>
        </p:cNvPr>
        <p:cNvGrpSpPr/>
        <p:nvPr/>
      </p:nvGrpSpPr>
      <p:grpSpPr>
        <a:xfrm>
          <a:off x="0" y="0"/>
          <a:ext cx="0" cy="0"/>
          <a:chOff x="0" y="0"/>
          <a:chExt cx="0" cy="0"/>
        </a:xfrm>
      </p:grpSpPr>
      <p:sp>
        <p:nvSpPr>
          <p:cNvPr id="30" name="Isosceles Triangle 29">
            <a:extLst>
              <a:ext uri="{FF2B5EF4-FFF2-40B4-BE49-F238E27FC236}">
                <a16:creationId xmlns:a16="http://schemas.microsoft.com/office/drawing/2014/main" id="{018ED978-2F63-D160-E42F-D1E485D17F5C}"/>
              </a:ext>
            </a:extLst>
          </p:cNvPr>
          <p:cNvSpPr/>
          <p:nvPr/>
        </p:nvSpPr>
        <p:spPr>
          <a:xfrm>
            <a:off x="755763" y="6945683"/>
            <a:ext cx="6702077" cy="2092015"/>
          </a:xfrm>
          <a:custGeom>
            <a:avLst/>
            <a:gdLst>
              <a:gd name="csX0" fmla="*/ 0 w 6638925"/>
              <a:gd name="csY0" fmla="*/ 386806 h 386806"/>
              <a:gd name="csX1" fmla="*/ 6638925 w 6638925"/>
              <a:gd name="csY1" fmla="*/ 0 h 386806"/>
              <a:gd name="csX2" fmla="*/ 6638925 w 6638925"/>
              <a:gd name="csY2" fmla="*/ 386806 h 386806"/>
              <a:gd name="csX3" fmla="*/ 0 w 6638925"/>
              <a:gd name="csY3" fmla="*/ 386806 h 386806"/>
              <a:gd name="csX0" fmla="*/ 0 w 6661785"/>
              <a:gd name="csY0" fmla="*/ 386806 h 386806"/>
              <a:gd name="csX1" fmla="*/ 6638925 w 6661785"/>
              <a:gd name="csY1" fmla="*/ 0 h 386806"/>
              <a:gd name="csX2" fmla="*/ 6661785 w 6661785"/>
              <a:gd name="csY2" fmla="*/ 386806 h 386806"/>
              <a:gd name="csX3" fmla="*/ 0 w 6661785"/>
              <a:gd name="csY3" fmla="*/ 386806 h 386806"/>
              <a:gd name="csX0" fmla="*/ 0 w 6677025"/>
              <a:gd name="csY0" fmla="*/ 1186906 h 1186906"/>
              <a:gd name="csX1" fmla="*/ 6654165 w 6677025"/>
              <a:gd name="csY1" fmla="*/ 0 h 1186906"/>
              <a:gd name="csX2" fmla="*/ 6677025 w 6677025"/>
              <a:gd name="csY2" fmla="*/ 386806 h 1186906"/>
              <a:gd name="csX3" fmla="*/ 0 w 6677025"/>
              <a:gd name="csY3" fmla="*/ 1186906 h 1186906"/>
              <a:gd name="csX0" fmla="*/ 0 w 6661785"/>
              <a:gd name="csY0" fmla="*/ 1186906 h 1186906"/>
              <a:gd name="csX1" fmla="*/ 6654165 w 6661785"/>
              <a:gd name="csY1" fmla="*/ 0 h 1186906"/>
              <a:gd name="csX2" fmla="*/ 6661785 w 6661785"/>
              <a:gd name="csY2" fmla="*/ 402046 h 1186906"/>
              <a:gd name="csX3" fmla="*/ 0 w 6661785"/>
              <a:gd name="csY3" fmla="*/ 1186906 h 1186906"/>
              <a:gd name="csX0" fmla="*/ 0 w 6684645"/>
              <a:gd name="csY0" fmla="*/ 1156426 h 1156426"/>
              <a:gd name="csX1" fmla="*/ 6684645 w 6684645"/>
              <a:gd name="csY1" fmla="*/ 0 h 1156426"/>
              <a:gd name="csX2" fmla="*/ 6661785 w 6684645"/>
              <a:gd name="csY2" fmla="*/ 371566 h 1156426"/>
              <a:gd name="csX3" fmla="*/ 0 w 6684645"/>
              <a:gd name="csY3" fmla="*/ 1156426 h 1156426"/>
              <a:gd name="csX0" fmla="*/ 0 w 6661785"/>
              <a:gd name="csY0" fmla="*/ 1164046 h 1164046"/>
              <a:gd name="csX1" fmla="*/ 6661785 w 6661785"/>
              <a:gd name="csY1" fmla="*/ 0 h 1164046"/>
              <a:gd name="csX2" fmla="*/ 6661785 w 6661785"/>
              <a:gd name="csY2" fmla="*/ 379186 h 1164046"/>
              <a:gd name="csX3" fmla="*/ 0 w 6661785"/>
              <a:gd name="csY3" fmla="*/ 1164046 h 1164046"/>
              <a:gd name="csX0" fmla="*/ 0 w 6661785"/>
              <a:gd name="csY0" fmla="*/ 1171666 h 1171666"/>
              <a:gd name="csX1" fmla="*/ 6661785 w 6661785"/>
              <a:gd name="csY1" fmla="*/ 0 h 1171666"/>
              <a:gd name="csX2" fmla="*/ 6661785 w 6661785"/>
              <a:gd name="csY2" fmla="*/ 386806 h 1171666"/>
              <a:gd name="csX3" fmla="*/ 0 w 6661785"/>
              <a:gd name="csY3" fmla="*/ 1171666 h 1171666"/>
              <a:gd name="csX0" fmla="*/ 0 w 6661785"/>
              <a:gd name="csY0" fmla="*/ 1171666 h 1171666"/>
              <a:gd name="csX1" fmla="*/ 6661785 w 6661785"/>
              <a:gd name="csY1" fmla="*/ 0 h 1171666"/>
              <a:gd name="csX2" fmla="*/ 6661785 w 6661785"/>
              <a:gd name="csY2" fmla="*/ 531586 h 1171666"/>
              <a:gd name="csX3" fmla="*/ 0 w 6661785"/>
              <a:gd name="csY3" fmla="*/ 1171666 h 1171666"/>
              <a:gd name="csX0" fmla="*/ 0 w 6684645"/>
              <a:gd name="csY0" fmla="*/ 1171666 h 1171666"/>
              <a:gd name="csX1" fmla="*/ 6661785 w 6684645"/>
              <a:gd name="csY1" fmla="*/ 0 h 1171666"/>
              <a:gd name="csX2" fmla="*/ 6684645 w 6684645"/>
              <a:gd name="csY2" fmla="*/ 562066 h 1171666"/>
              <a:gd name="csX3" fmla="*/ 0 w 6684645"/>
              <a:gd name="csY3" fmla="*/ 1171666 h 1171666"/>
              <a:gd name="csX0" fmla="*/ 0 w 6684645"/>
              <a:gd name="csY0" fmla="*/ 1209766 h 1209766"/>
              <a:gd name="csX1" fmla="*/ 6677025 w 6684645"/>
              <a:gd name="csY1" fmla="*/ 0 h 1209766"/>
              <a:gd name="csX2" fmla="*/ 6684645 w 6684645"/>
              <a:gd name="csY2" fmla="*/ 600166 h 1209766"/>
              <a:gd name="csX3" fmla="*/ 0 w 6684645"/>
              <a:gd name="csY3" fmla="*/ 1209766 h 1209766"/>
              <a:gd name="csX0" fmla="*/ 0 w 6692265"/>
              <a:gd name="csY0" fmla="*/ 1209766 h 1209766"/>
              <a:gd name="csX1" fmla="*/ 6677025 w 6692265"/>
              <a:gd name="csY1" fmla="*/ 0 h 1209766"/>
              <a:gd name="csX2" fmla="*/ 6692265 w 6692265"/>
              <a:gd name="csY2" fmla="*/ 630646 h 1209766"/>
              <a:gd name="csX3" fmla="*/ 0 w 6692265"/>
              <a:gd name="csY3" fmla="*/ 1209766 h 1209766"/>
              <a:gd name="csX0" fmla="*/ 0 w 6677025"/>
              <a:gd name="csY0" fmla="*/ 1209766 h 1209766"/>
              <a:gd name="csX1" fmla="*/ 6677025 w 6677025"/>
              <a:gd name="csY1" fmla="*/ 0 h 1209766"/>
              <a:gd name="csX2" fmla="*/ 6661785 w 6677025"/>
              <a:gd name="csY2" fmla="*/ 615406 h 1209766"/>
              <a:gd name="csX3" fmla="*/ 0 w 6677025"/>
              <a:gd name="csY3" fmla="*/ 1209766 h 1209766"/>
              <a:gd name="csX0" fmla="*/ 0 w 6684645"/>
              <a:gd name="csY0" fmla="*/ 1209766 h 1209766"/>
              <a:gd name="csX1" fmla="*/ 6677025 w 6684645"/>
              <a:gd name="csY1" fmla="*/ 0 h 1209766"/>
              <a:gd name="csX2" fmla="*/ 6684645 w 6684645"/>
              <a:gd name="csY2" fmla="*/ 607786 h 1209766"/>
              <a:gd name="csX3" fmla="*/ 0 w 6684645"/>
              <a:gd name="csY3" fmla="*/ 1209766 h 1209766"/>
              <a:gd name="csX0" fmla="*/ 0 w 6677025"/>
              <a:gd name="csY0" fmla="*/ 1209766 h 1209766"/>
              <a:gd name="csX1" fmla="*/ 6677025 w 6677025"/>
              <a:gd name="csY1" fmla="*/ 0 h 1209766"/>
              <a:gd name="csX2" fmla="*/ 6661785 w 6677025"/>
              <a:gd name="csY2" fmla="*/ 607786 h 1209766"/>
              <a:gd name="csX3" fmla="*/ 0 w 6677025"/>
              <a:gd name="csY3" fmla="*/ 1209766 h 1209766"/>
              <a:gd name="csX0" fmla="*/ 0 w 6684645"/>
              <a:gd name="csY0" fmla="*/ 1209766 h 1209766"/>
              <a:gd name="csX1" fmla="*/ 6677025 w 6684645"/>
              <a:gd name="csY1" fmla="*/ 0 h 1209766"/>
              <a:gd name="csX2" fmla="*/ 6684645 w 6684645"/>
              <a:gd name="csY2" fmla="*/ 623026 h 1209766"/>
              <a:gd name="csX3" fmla="*/ 0 w 6684645"/>
              <a:gd name="csY3" fmla="*/ 1209766 h 1209766"/>
              <a:gd name="csX0" fmla="*/ 0 w 6677025"/>
              <a:gd name="csY0" fmla="*/ 1209766 h 1209766"/>
              <a:gd name="csX1" fmla="*/ 6677025 w 6677025"/>
              <a:gd name="csY1" fmla="*/ 0 h 1209766"/>
              <a:gd name="csX2" fmla="*/ 6654165 w 6677025"/>
              <a:gd name="csY2" fmla="*/ 600166 h 1209766"/>
              <a:gd name="csX3" fmla="*/ 0 w 6677025"/>
              <a:gd name="csY3" fmla="*/ 1209766 h 1209766"/>
              <a:gd name="csX0" fmla="*/ 0 w 6677025"/>
              <a:gd name="csY0" fmla="*/ 1209766 h 1209766"/>
              <a:gd name="csX1" fmla="*/ 6677025 w 6677025"/>
              <a:gd name="csY1" fmla="*/ 0 h 1209766"/>
              <a:gd name="csX2" fmla="*/ 6669405 w 6677025"/>
              <a:gd name="csY2" fmla="*/ 623026 h 1209766"/>
              <a:gd name="csX3" fmla="*/ 0 w 6677025"/>
              <a:gd name="csY3" fmla="*/ 1209766 h 1209766"/>
              <a:gd name="csX0" fmla="*/ 0 w 6684645"/>
              <a:gd name="csY0" fmla="*/ 1240246 h 1240246"/>
              <a:gd name="csX1" fmla="*/ 6684645 w 6684645"/>
              <a:gd name="csY1" fmla="*/ 0 h 1240246"/>
              <a:gd name="csX2" fmla="*/ 6669405 w 6684645"/>
              <a:gd name="csY2" fmla="*/ 653506 h 1240246"/>
              <a:gd name="csX3" fmla="*/ 0 w 6684645"/>
              <a:gd name="csY3" fmla="*/ 1240246 h 1240246"/>
              <a:gd name="csX0" fmla="*/ 0 w 6684645"/>
              <a:gd name="csY0" fmla="*/ 1240246 h 1240246"/>
              <a:gd name="csX1" fmla="*/ 6684645 w 6684645"/>
              <a:gd name="csY1" fmla="*/ 0 h 1240246"/>
              <a:gd name="csX2" fmla="*/ 6677025 w 6684645"/>
              <a:gd name="csY2" fmla="*/ 683986 h 1240246"/>
              <a:gd name="csX3" fmla="*/ 0 w 6684645"/>
              <a:gd name="csY3" fmla="*/ 1240246 h 1240246"/>
              <a:gd name="csX0" fmla="*/ 0 w 6739655"/>
              <a:gd name="csY0" fmla="*/ 1240246 h 1240246"/>
              <a:gd name="csX1" fmla="*/ 6684645 w 6739655"/>
              <a:gd name="csY1" fmla="*/ 0 h 1240246"/>
              <a:gd name="csX2" fmla="*/ 6739655 w 6739655"/>
              <a:gd name="csY2" fmla="*/ 1172501 h 1240246"/>
              <a:gd name="csX3" fmla="*/ 0 w 6739655"/>
              <a:gd name="csY3" fmla="*/ 1240246 h 1240246"/>
              <a:gd name="csX0" fmla="*/ 0 w 6739655"/>
              <a:gd name="csY0" fmla="*/ 1039829 h 1039829"/>
              <a:gd name="csX1" fmla="*/ 6546859 w 6739655"/>
              <a:gd name="csY1" fmla="*/ 0 h 1039829"/>
              <a:gd name="csX2" fmla="*/ 6739655 w 6739655"/>
              <a:gd name="csY2" fmla="*/ 972084 h 1039829"/>
              <a:gd name="csX3" fmla="*/ 0 w 6739655"/>
              <a:gd name="csY3" fmla="*/ 1039829 h 1039829"/>
              <a:gd name="csX0" fmla="*/ 0 w 6739655"/>
              <a:gd name="csY0" fmla="*/ 1152563 h 1152563"/>
              <a:gd name="csX1" fmla="*/ 6734749 w 6739655"/>
              <a:gd name="csY1" fmla="*/ 0 h 1152563"/>
              <a:gd name="csX2" fmla="*/ 6739655 w 6739655"/>
              <a:gd name="csY2" fmla="*/ 1084818 h 1152563"/>
              <a:gd name="csX3" fmla="*/ 0 w 6739655"/>
              <a:gd name="csY3" fmla="*/ 1152563 h 1152563"/>
              <a:gd name="csX0" fmla="*/ 0 w 5374318"/>
              <a:gd name="csY0" fmla="*/ 1365505 h 1365505"/>
              <a:gd name="csX1" fmla="*/ 5369412 w 5374318"/>
              <a:gd name="csY1" fmla="*/ 0 h 1365505"/>
              <a:gd name="csX2" fmla="*/ 5374318 w 5374318"/>
              <a:gd name="csY2" fmla="*/ 1084818 h 1365505"/>
              <a:gd name="csX3" fmla="*/ 0 w 5374318"/>
              <a:gd name="csY3" fmla="*/ 1365505 h 1365505"/>
              <a:gd name="csX0" fmla="*/ 0 w 5369417"/>
              <a:gd name="csY0" fmla="*/ 1365505 h 1365505"/>
              <a:gd name="csX1" fmla="*/ 5369412 w 5369417"/>
              <a:gd name="csY1" fmla="*/ 0 h 1365505"/>
              <a:gd name="csX2" fmla="*/ 4986011 w 5369417"/>
              <a:gd name="csY2" fmla="*/ 846823 h 1365505"/>
              <a:gd name="csX3" fmla="*/ 0 w 5369417"/>
              <a:gd name="csY3" fmla="*/ 1365505 h 1365505"/>
              <a:gd name="csX0" fmla="*/ 0 w 5374318"/>
              <a:gd name="csY0" fmla="*/ 1365505 h 1365505"/>
              <a:gd name="csX1" fmla="*/ 5369412 w 5374318"/>
              <a:gd name="csY1" fmla="*/ 0 h 1365505"/>
              <a:gd name="csX2" fmla="*/ 5374318 w 5374318"/>
              <a:gd name="csY2" fmla="*/ 1097344 h 1365505"/>
              <a:gd name="csX3" fmla="*/ 0 w 5374318"/>
              <a:gd name="csY3" fmla="*/ 1365505 h 1365505"/>
              <a:gd name="csX0" fmla="*/ 0 w 6739655"/>
              <a:gd name="csY0" fmla="*/ 2117067 h 2117067"/>
              <a:gd name="csX1" fmla="*/ 6734749 w 6739655"/>
              <a:gd name="csY1" fmla="*/ 0 h 2117067"/>
              <a:gd name="csX2" fmla="*/ 6739655 w 6739655"/>
              <a:gd name="csY2" fmla="*/ 1097344 h 2117067"/>
              <a:gd name="csX3" fmla="*/ 0 w 6739655"/>
              <a:gd name="csY3" fmla="*/ 2117067 h 2117067"/>
              <a:gd name="csX0" fmla="*/ 0 w 6702077"/>
              <a:gd name="csY0" fmla="*/ 2054437 h 2054437"/>
              <a:gd name="csX1" fmla="*/ 6697171 w 6702077"/>
              <a:gd name="csY1" fmla="*/ 0 h 2054437"/>
              <a:gd name="csX2" fmla="*/ 6702077 w 6702077"/>
              <a:gd name="csY2" fmla="*/ 1097344 h 2054437"/>
              <a:gd name="csX3" fmla="*/ 0 w 6702077"/>
              <a:gd name="csY3" fmla="*/ 2054437 h 2054437"/>
              <a:gd name="csX0" fmla="*/ 0 w 6601869"/>
              <a:gd name="csY0" fmla="*/ 1728760 h 1728760"/>
              <a:gd name="csX1" fmla="*/ 6596963 w 6601869"/>
              <a:gd name="csY1" fmla="*/ 0 h 1728760"/>
              <a:gd name="csX2" fmla="*/ 6601869 w 6601869"/>
              <a:gd name="csY2" fmla="*/ 1097344 h 1728760"/>
              <a:gd name="csX3" fmla="*/ 0 w 6601869"/>
              <a:gd name="csY3" fmla="*/ 1728760 h 1728760"/>
              <a:gd name="csX0" fmla="*/ 0 w 6639447"/>
              <a:gd name="csY0" fmla="*/ 2016859 h 2016859"/>
              <a:gd name="csX1" fmla="*/ 6634541 w 6639447"/>
              <a:gd name="csY1" fmla="*/ 0 h 2016859"/>
              <a:gd name="csX2" fmla="*/ 6639447 w 6639447"/>
              <a:gd name="csY2" fmla="*/ 1097344 h 2016859"/>
              <a:gd name="csX3" fmla="*/ 0 w 6639447"/>
              <a:gd name="csY3" fmla="*/ 2016859 h 2016859"/>
              <a:gd name="csX0" fmla="*/ 0 w 6702077"/>
              <a:gd name="csY0" fmla="*/ 2092015 h 2092015"/>
              <a:gd name="csX1" fmla="*/ 6697171 w 6702077"/>
              <a:gd name="csY1" fmla="*/ 0 h 2092015"/>
              <a:gd name="csX2" fmla="*/ 6702077 w 6702077"/>
              <a:gd name="csY2" fmla="*/ 1097344 h 2092015"/>
              <a:gd name="csX3" fmla="*/ 0 w 6702077"/>
              <a:gd name="csY3" fmla="*/ 2092015 h 2092015"/>
            </a:gdLst>
            <a:ahLst/>
            <a:cxnLst>
              <a:cxn ang="0">
                <a:pos x="csX0" y="csY0"/>
              </a:cxn>
              <a:cxn ang="0">
                <a:pos x="csX1" y="csY1"/>
              </a:cxn>
              <a:cxn ang="0">
                <a:pos x="csX2" y="csY2"/>
              </a:cxn>
              <a:cxn ang="0">
                <a:pos x="csX3" y="csY3"/>
              </a:cxn>
            </a:cxnLst>
            <a:rect l="l" t="t" r="r" b="b"/>
            <a:pathLst>
              <a:path w="6702077" h="2092015">
                <a:moveTo>
                  <a:pt x="0" y="2092015"/>
                </a:moveTo>
                <a:lnTo>
                  <a:pt x="6697171" y="0"/>
                </a:lnTo>
                <a:cubicBezTo>
                  <a:pt x="6698806" y="361606"/>
                  <a:pt x="6700442" y="735738"/>
                  <a:pt x="6702077" y="1097344"/>
                </a:cubicBezTo>
                <a:lnTo>
                  <a:pt x="0" y="2092015"/>
                </a:lnTo>
                <a:close/>
              </a:path>
            </a:pathLst>
          </a:custGeom>
          <a:gradFill flip="none" rotWithShape="1">
            <a:gsLst>
              <a:gs pos="87144">
                <a:schemeClr val="accent6">
                  <a:lumMod val="60000"/>
                  <a:lumOff val="40000"/>
                </a:schemeClr>
              </a:gs>
              <a:gs pos="0">
                <a:srgbClr val="C00000"/>
              </a:gs>
              <a:gs pos="34000">
                <a:schemeClr val="accent6">
                  <a:lumMod val="20000"/>
                  <a:lumOff val="80000"/>
                </a:schemeClr>
              </a:gs>
              <a:gs pos="65000">
                <a:schemeClr val="accent6">
                  <a:lumMod val="40000"/>
                  <a:lumOff val="60000"/>
                </a:schemeClr>
              </a:gs>
              <a:gs pos="97000">
                <a:schemeClr val="accent6">
                  <a:lumMod val="50000"/>
                </a:schemeClr>
              </a:gs>
            </a:gsLst>
            <a:path path="circle">
              <a:fillToRect t="100000" r="100000"/>
            </a:path>
            <a:tileRect l="-100000" b="-100000"/>
          </a:gradFill>
          <a:ln>
            <a:solidFill>
              <a:schemeClr val="accent1">
                <a:shade val="15000"/>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746EC40-48C6-56F4-42CD-C4BC92DCDE6C}"/>
              </a:ext>
            </a:extLst>
          </p:cNvPr>
          <p:cNvSpPr txBox="1"/>
          <p:nvPr/>
        </p:nvSpPr>
        <p:spPr>
          <a:xfrm>
            <a:off x="7526141" y="9820715"/>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6</a:t>
            </a:r>
          </a:p>
        </p:txBody>
      </p:sp>
      <p:sp>
        <p:nvSpPr>
          <p:cNvPr id="1038" name="TextBox 1037">
            <a:extLst>
              <a:ext uri="{FF2B5EF4-FFF2-40B4-BE49-F238E27FC236}">
                <a16:creationId xmlns:a16="http://schemas.microsoft.com/office/drawing/2014/main" id="{BC2525DB-2CCE-5E98-879B-FC6BF09C2B4F}"/>
              </a:ext>
            </a:extLst>
          </p:cNvPr>
          <p:cNvSpPr txBox="1">
            <a:spLocks/>
          </p:cNvSpPr>
          <p:nvPr/>
        </p:nvSpPr>
        <p:spPr>
          <a:xfrm>
            <a:off x="2749283" y="287324"/>
            <a:ext cx="4792306" cy="228076"/>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Bull Case Valuation</a:t>
            </a:r>
          </a:p>
        </p:txBody>
      </p:sp>
      <p:sp>
        <p:nvSpPr>
          <p:cNvPr id="1039" name="Text Box 2">
            <a:extLst>
              <a:ext uri="{FF2B5EF4-FFF2-40B4-BE49-F238E27FC236}">
                <a16:creationId xmlns:a16="http://schemas.microsoft.com/office/drawing/2014/main" id="{B3C8DDDD-9D9A-8B18-83CE-AB1D5F0A4C89}"/>
              </a:ext>
            </a:extLst>
          </p:cNvPr>
          <p:cNvSpPr txBox="1">
            <a:spLocks/>
          </p:cNvSpPr>
          <p:nvPr/>
        </p:nvSpPr>
        <p:spPr bwMode="auto">
          <a:xfrm>
            <a:off x="2656885" y="502301"/>
            <a:ext cx="4940165" cy="2292935"/>
          </a:xfrm>
          <a:prstGeom prst="rect">
            <a:avLst/>
          </a:prstGeom>
          <a:noFill/>
          <a:ln w="9525">
            <a:noFill/>
            <a:miter lim="800000"/>
            <a:headEnd/>
            <a:tailEnd/>
          </a:ln>
        </p:spPr>
        <p:txBody>
          <a:bodyPr rot="0" vert="horz" wrap="square" lIns="91440" tIns="45720" rIns="91440" bIns="45720" anchor="t" anchorCtr="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Our 12-month bull case valuation </a:t>
            </a:r>
            <a:r>
              <a:rPr lang="en-US" sz="1100" b="1">
                <a:latin typeface="Calibri" panose="020F0502020204030204" pitchFamily="34" charset="0"/>
                <a:ea typeface="Calibri" panose="020F0502020204030204" pitchFamily="34" charset="0"/>
                <a:cs typeface="Calibri" panose="020F0502020204030204" pitchFamily="34" charset="0"/>
              </a:rPr>
              <a:t>of $118.60 </a:t>
            </a:r>
            <a:r>
              <a:rPr lang="en-US" sz="1100">
                <a:latin typeface="Calibri" panose="020F0502020204030204" pitchFamily="34" charset="0"/>
                <a:ea typeface="Calibri" panose="020F0502020204030204" pitchFamily="34" charset="0"/>
                <a:cs typeface="Calibri" panose="020F0502020204030204" pitchFamily="34" charset="0"/>
              </a:rPr>
              <a:t>is driven by strong top-line growth in Harley-Davidson's motorcycle business and stable earnings from its de-risked financial services segment. We assume successful execution of the sprint bike, expanding Harley-Davidson’s TAM by penetrating the small-displacement segment of motorcycles, a demographic that Harley-Davidson has historically underserved. We model a </a:t>
            </a:r>
            <a:r>
              <a:rPr lang="en-US" sz="1100" b="1">
                <a:latin typeface="Calibri" panose="020F0502020204030204" pitchFamily="34" charset="0"/>
                <a:ea typeface="Calibri" panose="020F0502020204030204" pitchFamily="34" charset="0"/>
                <a:cs typeface="Calibri" panose="020F0502020204030204" pitchFamily="34" charset="0"/>
              </a:rPr>
              <a:t>23% sales increase in 2026</a:t>
            </a:r>
            <a:r>
              <a:rPr lang="en-US" sz="1100">
                <a:latin typeface="Calibri" panose="020F0502020204030204" pitchFamily="34" charset="0"/>
                <a:ea typeface="Calibri" panose="020F0502020204030204" pitchFamily="34" charset="0"/>
                <a:cs typeface="Calibri" panose="020F0502020204030204" pitchFamily="34" charset="0"/>
              </a:rPr>
              <a:t>, driven by market share gains and a younger demographic, followed by a </a:t>
            </a:r>
            <a:r>
              <a:rPr lang="en-US" sz="1100" b="1">
                <a:latin typeface="Calibri" panose="020F0502020204030204" pitchFamily="34" charset="0"/>
                <a:ea typeface="Calibri" panose="020F0502020204030204" pitchFamily="34" charset="0"/>
                <a:cs typeface="Calibri" panose="020F0502020204030204" pitchFamily="34" charset="0"/>
              </a:rPr>
              <a:t>move to a moderate CAGR of 12%</a:t>
            </a:r>
            <a:r>
              <a:rPr lang="en-US" sz="1100">
                <a:latin typeface="Calibri" panose="020F0502020204030204" pitchFamily="34" charset="0"/>
                <a:ea typeface="Calibri" panose="020F0502020204030204" pitchFamily="34" charset="0"/>
                <a:cs typeface="Calibri" panose="020F0502020204030204" pitchFamily="34" charset="0"/>
              </a:rPr>
              <a:t> in the years thereafter, as demand normalizes. In addition, the restructuring of HDFS means this growth is supported by the Harley Davidson Financial Services, a de-risked HDFS platform after the sale of 2/3 of their current and future contracts, creating a much safer segment while still providing financing to new riders. Together</a:t>
            </a:r>
            <a:r>
              <a:rPr lang="en-US" sz="1100" b="1">
                <a:latin typeface="Calibri" panose="020F0502020204030204" pitchFamily="34" charset="0"/>
                <a:ea typeface="Calibri" panose="020F0502020204030204" pitchFamily="34" charset="0"/>
                <a:cs typeface="Calibri" panose="020F0502020204030204" pitchFamily="34" charset="0"/>
              </a:rPr>
              <a:t>, higher motorcycle volumes paired with reduced idiosyncratic risk</a:t>
            </a:r>
            <a:r>
              <a:rPr lang="en-US" sz="1100">
                <a:latin typeface="Calibri" panose="020F0502020204030204" pitchFamily="34" charset="0"/>
                <a:ea typeface="Calibri" panose="020F0502020204030204" pitchFamily="34" charset="0"/>
                <a:cs typeface="Calibri" panose="020F0502020204030204" pitchFamily="34" charset="0"/>
              </a:rPr>
              <a:t> and a higher P/E multiple justify the upside in our Bull Case.</a:t>
            </a:r>
          </a:p>
        </p:txBody>
      </p:sp>
      <p:sp>
        <p:nvSpPr>
          <p:cNvPr id="1041" name="TextBox 1040">
            <a:extLst>
              <a:ext uri="{FF2B5EF4-FFF2-40B4-BE49-F238E27FC236}">
                <a16:creationId xmlns:a16="http://schemas.microsoft.com/office/drawing/2014/main" id="{CC0A0AB9-B96A-C006-0FAB-CED59A709F3D}"/>
              </a:ext>
            </a:extLst>
          </p:cNvPr>
          <p:cNvSpPr txBox="1"/>
          <p:nvPr/>
        </p:nvSpPr>
        <p:spPr>
          <a:xfrm>
            <a:off x="2749283" y="3514837"/>
            <a:ext cx="4799895"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Bear Case Valuation</a:t>
            </a:r>
          </a:p>
        </p:txBody>
      </p:sp>
      <p:sp>
        <p:nvSpPr>
          <p:cNvPr id="1042" name="Text Box 2">
            <a:extLst>
              <a:ext uri="{FF2B5EF4-FFF2-40B4-BE49-F238E27FC236}">
                <a16:creationId xmlns:a16="http://schemas.microsoft.com/office/drawing/2014/main" id="{5AFE8A79-5508-608D-3C68-D3DC60D9A0E8}"/>
              </a:ext>
            </a:extLst>
          </p:cNvPr>
          <p:cNvSpPr txBox="1">
            <a:spLocks/>
          </p:cNvSpPr>
          <p:nvPr/>
        </p:nvSpPr>
        <p:spPr bwMode="auto">
          <a:xfrm>
            <a:off x="2749283" y="3716531"/>
            <a:ext cx="4903470" cy="2123658"/>
          </a:xfrm>
          <a:prstGeom prst="rect">
            <a:avLst/>
          </a:prstGeom>
          <a:noFill/>
          <a:ln w="9525">
            <a:noFill/>
            <a:miter lim="800000"/>
            <a:headEnd/>
            <a:tailEnd/>
          </a:ln>
        </p:spPr>
        <p:txBody>
          <a:bodyPr rot="0" vert="horz" wrap="square" lIns="91440" tIns="45720" rIns="91440" bIns="45720" anchor="t" anchorCtr="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To many, this is a “boy who cried wolf” situation. Harley-Davidson has struggled to find successful growth initiatives for decades. This partially explains why the market’s expectations are so low but doesn’t explain the </a:t>
            </a:r>
            <a:r>
              <a:rPr lang="en-US" sz="1100" b="1">
                <a:latin typeface="Calibri" panose="020F0502020204030204" pitchFamily="34" charset="0"/>
                <a:ea typeface="Calibri" panose="020F0502020204030204" pitchFamily="34" charset="0"/>
                <a:cs typeface="Calibri" panose="020F0502020204030204" pitchFamily="34" charset="0"/>
              </a:rPr>
              <a:t>catastrophically depressed P/E multiple of 4.92</a:t>
            </a:r>
            <a:r>
              <a:rPr lang="en-US" sz="1100">
                <a:latin typeface="Calibri" panose="020F0502020204030204" pitchFamily="34" charset="0"/>
                <a:ea typeface="Calibri" panose="020F0502020204030204" pitchFamily="34" charset="0"/>
                <a:cs typeface="Calibri" panose="020F0502020204030204" pitchFamily="34" charset="0"/>
              </a:rPr>
              <a:t>, which is indicative of a business facing extreme risk of bankruptcy. Even with conservative growth estimates, we value this company at </a:t>
            </a:r>
            <a:r>
              <a:rPr lang="en-US" sz="1100" b="1">
                <a:latin typeface="Calibri" panose="020F0502020204030204" pitchFamily="34" charset="0"/>
                <a:ea typeface="Calibri" panose="020F0502020204030204" pitchFamily="34" charset="0"/>
                <a:cs typeface="Calibri" panose="020F0502020204030204" pitchFamily="34" charset="0"/>
              </a:rPr>
              <a:t>$72.15 </a:t>
            </a:r>
            <a:r>
              <a:rPr lang="en-US" sz="1100">
                <a:latin typeface="Calibri" panose="020F0502020204030204" pitchFamily="34" charset="0"/>
                <a:ea typeface="Calibri" panose="020F0502020204030204" pitchFamily="34" charset="0"/>
                <a:cs typeface="Calibri" panose="020F0502020204030204" pitchFamily="34" charset="0"/>
              </a:rPr>
              <a:t>driven by a lackluster sprint launch only marginally improving revenue. Assuming that the sprint bike isn’t that successful, we still model </a:t>
            </a:r>
            <a:r>
              <a:rPr lang="en-US" sz="1100" b="1">
                <a:latin typeface="Calibri" panose="020F0502020204030204" pitchFamily="34" charset="0"/>
                <a:ea typeface="Calibri" panose="020F0502020204030204" pitchFamily="34" charset="0"/>
                <a:cs typeface="Calibri" panose="020F0502020204030204" pitchFamily="34" charset="0"/>
              </a:rPr>
              <a:t>a 10% sales increase in 2026</a:t>
            </a:r>
            <a:r>
              <a:rPr lang="en-US" sz="1100">
                <a:latin typeface="Calibri" panose="020F0502020204030204" pitchFamily="34" charset="0"/>
                <a:ea typeface="Calibri" panose="020F0502020204030204" pitchFamily="34" charset="0"/>
                <a:cs typeface="Calibri" panose="020F0502020204030204" pitchFamily="34" charset="0"/>
              </a:rPr>
              <a:t>, driven by a steady demand in Harley’s core heavyweight cruiser segment rebounding sales in a more stable macroeconomic environment along with a low for the industry </a:t>
            </a:r>
            <a:r>
              <a:rPr lang="en-US" sz="1100" b="1">
                <a:latin typeface="Calibri" panose="020F0502020204030204" pitchFamily="34" charset="0"/>
                <a:ea typeface="Calibri" panose="020F0502020204030204" pitchFamily="34" charset="0"/>
                <a:cs typeface="Calibri" panose="020F0502020204030204" pitchFamily="34" charset="0"/>
              </a:rPr>
              <a:t>P/E multiple of 8</a:t>
            </a:r>
            <a:r>
              <a:rPr lang="en-US" sz="1100">
                <a:latin typeface="Calibri" panose="020F0502020204030204" pitchFamily="34" charset="0"/>
                <a:ea typeface="Calibri" panose="020F0502020204030204" pitchFamily="34" charset="0"/>
                <a:cs typeface="Calibri" panose="020F0502020204030204" pitchFamily="34" charset="0"/>
              </a:rPr>
              <a:t>. Additionally, HDFS’ new revenue streams will provide stable fee-based income. With this as a foundation we believe Harley will sustain a </a:t>
            </a:r>
            <a:r>
              <a:rPr lang="en-US" sz="1100" b="1">
                <a:latin typeface="Calibri" panose="020F0502020204030204" pitchFamily="34" charset="0"/>
                <a:ea typeface="Calibri" panose="020F0502020204030204" pitchFamily="34" charset="0"/>
                <a:cs typeface="Calibri" panose="020F0502020204030204" pitchFamily="34" charset="0"/>
              </a:rPr>
              <a:t>CAGR of 9%</a:t>
            </a:r>
            <a:r>
              <a:rPr lang="en-US" sz="1100">
                <a:latin typeface="Calibri" panose="020F0502020204030204" pitchFamily="34" charset="0"/>
                <a:ea typeface="Calibri" panose="020F0502020204030204" pitchFamily="34" charset="0"/>
                <a:cs typeface="Calibri" panose="020F0502020204030204" pitchFamily="34" charset="0"/>
              </a:rPr>
              <a:t>.</a:t>
            </a:r>
          </a:p>
        </p:txBody>
      </p:sp>
      <p:graphicFrame>
        <p:nvGraphicFramePr>
          <p:cNvPr id="1053" name="Table 1052">
            <a:extLst>
              <a:ext uri="{FF2B5EF4-FFF2-40B4-BE49-F238E27FC236}">
                <a16:creationId xmlns:a16="http://schemas.microsoft.com/office/drawing/2014/main" id="{010904DA-D011-139C-5790-C28EF4CC86A6}"/>
              </a:ext>
            </a:extLst>
          </p:cNvPr>
          <p:cNvGraphicFramePr>
            <a:graphicFrameLocks noGrp="1"/>
          </p:cNvGraphicFramePr>
          <p:nvPr>
            <p:custDataLst>
              <p:tags r:id="rId1"/>
            </p:custDataLst>
            <p:extLst>
              <p:ext uri="{D42A27DB-BD31-4B8C-83A1-F6EECF244321}">
                <p14:modId xmlns:p14="http://schemas.microsoft.com/office/powerpoint/2010/main" val="1233459925"/>
              </p:ext>
            </p:extLst>
          </p:nvPr>
        </p:nvGraphicFramePr>
        <p:xfrm>
          <a:off x="175350" y="106317"/>
          <a:ext cx="2370731" cy="1012605"/>
        </p:xfrm>
        <a:graphic>
          <a:graphicData uri="http://schemas.openxmlformats.org/drawingml/2006/table">
            <a:tbl>
              <a:tblPr>
                <a:tableStyleId>{5C22544A-7EE6-4342-B048-85BDC9FD1C3A}</a:tableStyleId>
              </a:tblPr>
              <a:tblGrid>
                <a:gridCol w="1357208">
                  <a:extLst>
                    <a:ext uri="{9D8B030D-6E8A-4147-A177-3AD203B41FA5}">
                      <a16:colId xmlns:a16="http://schemas.microsoft.com/office/drawing/2014/main" val="749176421"/>
                    </a:ext>
                  </a:extLst>
                </a:gridCol>
                <a:gridCol w="1013523">
                  <a:extLst>
                    <a:ext uri="{9D8B030D-6E8A-4147-A177-3AD203B41FA5}">
                      <a16:colId xmlns:a16="http://schemas.microsoft.com/office/drawing/2014/main" val="2677028977"/>
                    </a:ext>
                  </a:extLst>
                </a:gridCol>
              </a:tblGrid>
              <a:tr h="202521">
                <a:tc gridSpan="2">
                  <a:txBody>
                    <a:bodyPr/>
                    <a:lstStyle/>
                    <a:p>
                      <a:pPr algn="l" fontAlgn="b"/>
                      <a:r>
                        <a:rPr lang="en-US" sz="1050" b="1">
                          <a:latin typeface="Calibri" panose="020F0502020204030204" pitchFamily="34" charset="0"/>
                          <a:cs typeface="Calibri" panose="020F0502020204030204" pitchFamily="34" charset="0"/>
                        </a:rPr>
                        <a:t> Figure 22: Bull / Bear / Base</a:t>
                      </a:r>
                    </a:p>
                    <a:p>
                      <a:pPr algn="l" fontAlgn="b"/>
                      <a:endParaRPr lang="en-US" sz="2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4203368194"/>
                  </a:ext>
                </a:extLst>
              </a:tr>
              <a:tr h="202521">
                <a:tc>
                  <a:txBody>
                    <a:bodyPr/>
                    <a:lstStyle/>
                    <a:p>
                      <a:pPr algn="l" fontAlgn="b"/>
                      <a:endParaRPr lang="en-US" sz="1000" b="0" i="0" u="none" strike="noStrike">
                        <a:solidFill>
                          <a:schemeClr val="bg1"/>
                        </a:solidFill>
                        <a:effectLst/>
                        <a:latin typeface="Calibri" panose="020F0502020204030204" pitchFamily="34" charset="0"/>
                        <a:cs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r>
                        <a:rPr lang="en-US" sz="1000" b="1" i="0" u="none" strike="noStrike">
                          <a:solidFill>
                            <a:schemeClr val="bg1"/>
                          </a:solidFill>
                          <a:effectLst/>
                          <a:latin typeface="Calibri" panose="020F0502020204030204" pitchFamily="34" charset="0"/>
                          <a:cs typeface="Calibri" panose="020F0502020204030204" pitchFamily="34" charset="0"/>
                        </a:rPr>
                        <a:t>Price Target</a:t>
                      </a:r>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152884977"/>
                  </a:ext>
                </a:extLst>
              </a:tr>
              <a:tr h="202521">
                <a:tc>
                  <a:txBody>
                    <a:bodyPr/>
                    <a:lstStyle/>
                    <a:p>
                      <a:pPr algn="l" fontAlgn="b"/>
                      <a:r>
                        <a:rPr lang="en-US" sz="1000" b="0" i="0" u="none" strike="noStrike">
                          <a:solidFill>
                            <a:srgbClr val="000000"/>
                          </a:solidFill>
                          <a:effectLst/>
                          <a:latin typeface="Calibri" panose="020F0502020204030204" pitchFamily="34" charset="0"/>
                          <a:cs typeface="Calibri" panose="020F0502020204030204" pitchFamily="34" charset="0"/>
                        </a:rPr>
                        <a:t>Bull Case Valuation</a:t>
                      </a:r>
                    </a:p>
                  </a:txBody>
                  <a:tcPr marL="0" marR="0" marT="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r>
                        <a:rPr lang="en-US" sz="1000" b="0" i="0" u="none" strike="noStrike">
                          <a:solidFill>
                            <a:srgbClr val="000000"/>
                          </a:solidFill>
                          <a:effectLst/>
                          <a:latin typeface="Calibri" panose="020F0502020204030204" pitchFamily="34" charset="0"/>
                          <a:cs typeface="Calibri" panose="020F0502020204030204" pitchFamily="34" charset="0"/>
                        </a:rPr>
                        <a:t>$118.60</a:t>
                      </a:r>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15239072"/>
                  </a:ext>
                </a:extLst>
              </a:tr>
              <a:tr h="202521">
                <a:tc>
                  <a:txBody>
                    <a:bodyPr/>
                    <a:lstStyle/>
                    <a:p>
                      <a:pPr algn="l" fontAlgn="b"/>
                      <a:r>
                        <a:rPr lang="en-US" sz="1000" b="0" i="0" u="none" strike="noStrike">
                          <a:solidFill>
                            <a:srgbClr val="000000"/>
                          </a:solidFill>
                          <a:effectLst/>
                          <a:latin typeface="Calibri" panose="020F0502020204030204" pitchFamily="34" charset="0"/>
                          <a:cs typeface="Calibri" panose="020F0502020204030204" pitchFamily="34" charset="0"/>
                        </a:rPr>
                        <a:t>Base Case Valuation</a:t>
                      </a:r>
                    </a:p>
                  </a:txBody>
                  <a:tcPr marL="0" marR="0" marT="0" marB="0" anchor="b">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1000" b="0" i="0" u="none" strike="noStrike">
                          <a:solidFill>
                            <a:srgbClr val="000000"/>
                          </a:solidFill>
                          <a:effectLst/>
                          <a:latin typeface="Calibri" panose="020F0502020204030204" pitchFamily="34" charset="0"/>
                          <a:cs typeface="Calibri" panose="020F0502020204030204" pitchFamily="34" charset="0"/>
                        </a:rPr>
                        <a:t>$85.33</a:t>
                      </a:r>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8414371"/>
                  </a:ext>
                </a:extLst>
              </a:tr>
              <a:tr h="202521">
                <a:tc>
                  <a:txBody>
                    <a:bodyPr/>
                    <a:lstStyle/>
                    <a:p>
                      <a:pPr algn="l" fontAlgn="b"/>
                      <a:r>
                        <a:rPr lang="en-US" sz="1000" b="0" i="0" u="none" strike="noStrike">
                          <a:solidFill>
                            <a:srgbClr val="000000"/>
                          </a:solidFill>
                          <a:effectLst/>
                          <a:latin typeface="Calibri" panose="020F0502020204030204" pitchFamily="34" charset="0"/>
                          <a:cs typeface="Calibri" panose="020F0502020204030204" pitchFamily="34" charset="0"/>
                        </a:rPr>
                        <a:t>Bear Case Valuation</a:t>
                      </a:r>
                    </a:p>
                  </a:txBody>
                  <a:tcPr marL="0" marR="0" marT="0" marB="0" anchor="b">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r>
                        <a:rPr lang="en-US" sz="1000" b="0" i="0" u="none" strike="noStrike">
                          <a:solidFill>
                            <a:srgbClr val="000000"/>
                          </a:solidFill>
                          <a:effectLst/>
                          <a:latin typeface="Calibri" panose="020F0502020204030204" pitchFamily="34" charset="0"/>
                          <a:cs typeface="Calibri" panose="020F0502020204030204" pitchFamily="34" charset="0"/>
                        </a:rPr>
                        <a:t>$72.15</a:t>
                      </a:r>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051531461"/>
                  </a:ext>
                </a:extLst>
              </a:tr>
            </a:tbl>
          </a:graphicData>
        </a:graphic>
      </p:graphicFrame>
      <p:sp>
        <p:nvSpPr>
          <p:cNvPr id="20" name="TextBox 19">
            <a:extLst>
              <a:ext uri="{FF2B5EF4-FFF2-40B4-BE49-F238E27FC236}">
                <a16:creationId xmlns:a16="http://schemas.microsoft.com/office/drawing/2014/main" id="{0375F071-797B-9BDF-190E-A792C8FEE6A0}"/>
              </a:ext>
            </a:extLst>
          </p:cNvPr>
          <p:cNvSpPr txBox="1"/>
          <p:nvPr/>
        </p:nvSpPr>
        <p:spPr>
          <a:xfrm>
            <a:off x="136111" y="1268026"/>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23: Bull Case Sales Estimates</a:t>
            </a:r>
          </a:p>
        </p:txBody>
      </p:sp>
      <p:cxnSp>
        <p:nvCxnSpPr>
          <p:cNvPr id="23" name="Straight Connector 22">
            <a:extLst>
              <a:ext uri="{FF2B5EF4-FFF2-40B4-BE49-F238E27FC236}">
                <a16:creationId xmlns:a16="http://schemas.microsoft.com/office/drawing/2014/main" id="{E97954A3-842D-507B-628E-514B31AA943E}"/>
              </a:ext>
            </a:extLst>
          </p:cNvPr>
          <p:cNvCxnSpPr>
            <a:cxnSpLocks/>
          </p:cNvCxnSpPr>
          <p:nvPr/>
        </p:nvCxnSpPr>
        <p:spPr>
          <a:xfrm>
            <a:off x="155098" y="1483675"/>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08E49A2C-4191-912F-1AD6-6803052807E5}"/>
              </a:ext>
            </a:extLst>
          </p:cNvPr>
          <p:cNvGrpSpPr/>
          <p:nvPr/>
        </p:nvGrpSpPr>
        <p:grpSpPr>
          <a:xfrm>
            <a:off x="155098" y="3741213"/>
            <a:ext cx="2530592" cy="246351"/>
            <a:chOff x="123302" y="4020419"/>
            <a:chExt cx="2530592" cy="246351"/>
          </a:xfrm>
        </p:grpSpPr>
        <p:sp>
          <p:nvSpPr>
            <p:cNvPr id="27" name="TextBox 26">
              <a:extLst>
                <a:ext uri="{FF2B5EF4-FFF2-40B4-BE49-F238E27FC236}">
                  <a16:creationId xmlns:a16="http://schemas.microsoft.com/office/drawing/2014/main" id="{BF2675F7-D75C-A877-5CC4-28AF6459B08A}"/>
                </a:ext>
              </a:extLst>
            </p:cNvPr>
            <p:cNvSpPr txBox="1"/>
            <p:nvPr/>
          </p:nvSpPr>
          <p:spPr>
            <a:xfrm>
              <a:off x="123302" y="4020419"/>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25: Bear Case Sales Estimates</a:t>
              </a:r>
            </a:p>
          </p:txBody>
        </p:sp>
        <p:cxnSp>
          <p:nvCxnSpPr>
            <p:cNvPr id="28" name="Straight Connector 27">
              <a:extLst>
                <a:ext uri="{FF2B5EF4-FFF2-40B4-BE49-F238E27FC236}">
                  <a16:creationId xmlns:a16="http://schemas.microsoft.com/office/drawing/2014/main" id="{5D13AD37-BE84-39F4-38D8-15741DE17A21}"/>
                </a:ext>
              </a:extLst>
            </p:cNvPr>
            <p:cNvCxnSpPr>
              <a:cxnSpLocks/>
            </p:cNvCxnSpPr>
            <p:nvPr/>
          </p:nvCxnSpPr>
          <p:spPr>
            <a:xfrm>
              <a:off x="162194" y="4266770"/>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aphicFrame>
        <p:nvGraphicFramePr>
          <p:cNvPr id="10" name="Chart 9">
            <a:extLst>
              <a:ext uri="{FF2B5EF4-FFF2-40B4-BE49-F238E27FC236}">
                <a16:creationId xmlns:a16="http://schemas.microsoft.com/office/drawing/2014/main" id="{591AF1A2-250C-3B71-A09C-27C8A102B925}"/>
              </a:ext>
            </a:extLst>
          </p:cNvPr>
          <p:cNvGraphicFramePr>
            <a:graphicFrameLocks/>
          </p:cNvGraphicFramePr>
          <p:nvPr>
            <p:extLst>
              <p:ext uri="{D42A27DB-BD31-4B8C-83A1-F6EECF244321}">
                <p14:modId xmlns:p14="http://schemas.microsoft.com/office/powerpoint/2010/main" val="3878824114"/>
              </p:ext>
            </p:extLst>
          </p:nvPr>
        </p:nvGraphicFramePr>
        <p:xfrm>
          <a:off x="50696" y="4060078"/>
          <a:ext cx="2698587" cy="19783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Table 1">
            <a:extLst>
              <a:ext uri="{FF2B5EF4-FFF2-40B4-BE49-F238E27FC236}">
                <a16:creationId xmlns:a16="http://schemas.microsoft.com/office/drawing/2014/main" id="{8289733A-1B1E-F8B2-9610-E2FBD9B18153}"/>
              </a:ext>
            </a:extLst>
          </p:cNvPr>
          <p:cNvGraphicFramePr>
            <a:graphicFrameLocks noGrp="1"/>
          </p:cNvGraphicFramePr>
          <p:nvPr>
            <p:extLst>
              <p:ext uri="{D42A27DB-BD31-4B8C-83A1-F6EECF244321}">
                <p14:modId xmlns:p14="http://schemas.microsoft.com/office/powerpoint/2010/main" val="450648056"/>
              </p:ext>
            </p:extLst>
          </p:nvPr>
        </p:nvGraphicFramePr>
        <p:xfrm>
          <a:off x="3533874" y="5995972"/>
          <a:ext cx="3143051" cy="456250"/>
        </p:xfrm>
        <a:graphic>
          <a:graphicData uri="http://schemas.openxmlformats.org/drawingml/2006/table">
            <a:tbl>
              <a:tblPr firstRow="1">
                <a:tableStyleId>{21E4AEA4-8DFA-4A89-87EB-49C32662AFE0}</a:tableStyleId>
              </a:tblPr>
              <a:tblGrid>
                <a:gridCol w="927948">
                  <a:extLst>
                    <a:ext uri="{9D8B030D-6E8A-4147-A177-3AD203B41FA5}">
                      <a16:colId xmlns:a16="http://schemas.microsoft.com/office/drawing/2014/main" val="3840430540"/>
                    </a:ext>
                  </a:extLst>
                </a:gridCol>
                <a:gridCol w="1227287">
                  <a:extLst>
                    <a:ext uri="{9D8B030D-6E8A-4147-A177-3AD203B41FA5}">
                      <a16:colId xmlns:a16="http://schemas.microsoft.com/office/drawing/2014/main" val="993467110"/>
                    </a:ext>
                  </a:extLst>
                </a:gridCol>
                <a:gridCol w="987816">
                  <a:extLst>
                    <a:ext uri="{9D8B030D-6E8A-4147-A177-3AD203B41FA5}">
                      <a16:colId xmlns:a16="http://schemas.microsoft.com/office/drawing/2014/main" val="3709175087"/>
                    </a:ext>
                  </a:extLst>
                </a:gridCol>
              </a:tblGrid>
              <a:tr h="228125">
                <a:tc>
                  <a:txBody>
                    <a:bodyPr/>
                    <a:lstStyle/>
                    <a:p>
                      <a:pPr algn="ctr" fontAlgn="b">
                        <a:buNone/>
                      </a:pPr>
                      <a:r>
                        <a:rPr lang="en-US" sz="1100" u="none" strike="noStrike">
                          <a:effectLst/>
                        </a:rPr>
                        <a:t>First stage</a:t>
                      </a:r>
                      <a:endParaRPr lang="en-US" sz="1100" b="1" i="0" u="none" strike="noStrike">
                        <a:solidFill>
                          <a:srgbClr val="FFFFFF"/>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100" u="none" strike="noStrike">
                          <a:effectLst/>
                        </a:rPr>
                        <a:t>Terminal value</a:t>
                      </a:r>
                      <a:endParaRPr lang="en-US" sz="1100" b="1" i="0" u="none" strike="noStrike">
                        <a:solidFill>
                          <a:srgbClr val="FFFFFF"/>
                        </a:solidFill>
                        <a:effectLst/>
                        <a:latin typeface="Aptos Narrow" panose="020B0004020202020204" pitchFamily="34" charset="0"/>
                      </a:endParaRPr>
                    </a:p>
                  </a:txBody>
                  <a:tcPr marL="7620" marR="7620" marT="762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100" u="none" strike="noStrike">
                          <a:effectLst/>
                        </a:rPr>
                        <a:t>Value (P/E)</a:t>
                      </a:r>
                      <a:endParaRPr lang="en-US" sz="1100" b="1" i="0" u="none" strike="noStrike">
                        <a:solidFill>
                          <a:srgbClr val="FFFFFF"/>
                        </a:solidFill>
                        <a:effectLst/>
                        <a:latin typeface="Aptos Narrow" panose="020B0004020202020204" pitchFamily="34" charset="0"/>
                      </a:endParaRPr>
                    </a:p>
                  </a:txBody>
                  <a:tcPr marL="7620" marR="7620" marT="762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770915170"/>
                  </a:ext>
                </a:extLst>
              </a:tr>
              <a:tr h="228125">
                <a:tc>
                  <a:txBody>
                    <a:bodyPr/>
                    <a:lstStyle/>
                    <a:p>
                      <a:pPr algn="ctr" fontAlgn="b">
                        <a:buNone/>
                      </a:pPr>
                      <a:r>
                        <a:rPr lang="en-US" sz="1100" u="none" strike="noStrike">
                          <a:effectLst/>
                        </a:rPr>
                        <a:t>21.12</a:t>
                      </a:r>
                      <a:endParaRPr lang="en-US" sz="1100" b="0"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100" u="none" strike="noStrike">
                          <a:effectLst/>
                        </a:rPr>
                        <a:t>51.03</a:t>
                      </a:r>
                      <a:endParaRPr lang="en-US" sz="1100" b="0" i="0" u="none" strike="noStrike">
                        <a:solidFill>
                          <a:srgbClr val="000000"/>
                        </a:solidFill>
                        <a:effectLst/>
                        <a:latin typeface="Aptos Narrow" panose="020B0004020202020204" pitchFamily="34" charset="0"/>
                      </a:endParaRPr>
                    </a:p>
                  </a:txBody>
                  <a:tcPr marL="7620" marR="7620" marT="762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100" u="none" strike="noStrike">
                          <a:effectLst/>
                        </a:rPr>
                        <a:t>72.15</a:t>
                      </a:r>
                      <a:endParaRPr lang="en-US" sz="1100" b="0" i="0" u="none" strike="noStrike">
                        <a:solidFill>
                          <a:srgbClr val="000000"/>
                        </a:solidFill>
                        <a:effectLst/>
                        <a:latin typeface="Aptos Narrow" panose="020B0004020202020204" pitchFamily="34" charset="0"/>
                      </a:endParaRPr>
                    </a:p>
                  </a:txBody>
                  <a:tcPr marL="7620" marR="7620" marT="762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0939896"/>
                  </a:ext>
                </a:extLst>
              </a:tr>
            </a:tbl>
          </a:graphicData>
        </a:graphic>
      </p:graphicFrame>
      <p:graphicFrame>
        <p:nvGraphicFramePr>
          <p:cNvPr id="3" name="Table 2">
            <a:extLst>
              <a:ext uri="{FF2B5EF4-FFF2-40B4-BE49-F238E27FC236}">
                <a16:creationId xmlns:a16="http://schemas.microsoft.com/office/drawing/2014/main" id="{9BC4C20C-28E8-0C96-5946-BD4723E23BF4}"/>
              </a:ext>
            </a:extLst>
          </p:cNvPr>
          <p:cNvGraphicFramePr>
            <a:graphicFrameLocks noGrp="1"/>
          </p:cNvGraphicFramePr>
          <p:nvPr>
            <p:custDataLst>
              <p:tags r:id="rId2"/>
            </p:custDataLst>
            <p:extLst>
              <p:ext uri="{D42A27DB-BD31-4B8C-83A1-F6EECF244321}">
                <p14:modId xmlns:p14="http://schemas.microsoft.com/office/powerpoint/2010/main" val="3564779289"/>
              </p:ext>
            </p:extLst>
          </p:nvPr>
        </p:nvGraphicFramePr>
        <p:xfrm>
          <a:off x="3541424" y="2971403"/>
          <a:ext cx="3143051" cy="463461"/>
        </p:xfrm>
        <a:graphic>
          <a:graphicData uri="http://schemas.openxmlformats.org/drawingml/2006/table">
            <a:tbl>
              <a:tblPr firstRow="1">
                <a:tableStyleId>{21E4AEA4-8DFA-4A89-87EB-49C32662AFE0}</a:tableStyleId>
              </a:tblPr>
              <a:tblGrid>
                <a:gridCol w="927948">
                  <a:extLst>
                    <a:ext uri="{9D8B030D-6E8A-4147-A177-3AD203B41FA5}">
                      <a16:colId xmlns:a16="http://schemas.microsoft.com/office/drawing/2014/main" val="13466138"/>
                    </a:ext>
                  </a:extLst>
                </a:gridCol>
                <a:gridCol w="1227287">
                  <a:extLst>
                    <a:ext uri="{9D8B030D-6E8A-4147-A177-3AD203B41FA5}">
                      <a16:colId xmlns:a16="http://schemas.microsoft.com/office/drawing/2014/main" val="837738794"/>
                    </a:ext>
                  </a:extLst>
                </a:gridCol>
                <a:gridCol w="987816">
                  <a:extLst>
                    <a:ext uri="{9D8B030D-6E8A-4147-A177-3AD203B41FA5}">
                      <a16:colId xmlns:a16="http://schemas.microsoft.com/office/drawing/2014/main" val="1974866748"/>
                    </a:ext>
                  </a:extLst>
                </a:gridCol>
              </a:tblGrid>
              <a:tr h="242476">
                <a:tc>
                  <a:txBody>
                    <a:bodyPr/>
                    <a:lstStyle/>
                    <a:p>
                      <a:pPr algn="ctr" fontAlgn="b">
                        <a:buNone/>
                      </a:pPr>
                      <a:r>
                        <a:rPr lang="en-US" sz="1100" u="none" strike="noStrike">
                          <a:effectLst/>
                        </a:rPr>
                        <a:t>First stage</a:t>
                      </a:r>
                      <a:endParaRPr lang="en-US" sz="1100" b="1" i="0" u="none" strike="noStrike">
                        <a:solidFill>
                          <a:srgbClr val="FFFFFF"/>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100" u="none" strike="noStrike">
                          <a:effectLst/>
                        </a:rPr>
                        <a:t>Terminal value</a:t>
                      </a:r>
                      <a:endParaRPr lang="en-US" sz="1100" b="1" i="0" u="none" strike="noStrike">
                        <a:solidFill>
                          <a:srgbClr val="FFFFFF"/>
                        </a:solidFill>
                        <a:effectLst/>
                        <a:latin typeface="Aptos Narrow" panose="020B0004020202020204" pitchFamily="34" charset="0"/>
                      </a:endParaRPr>
                    </a:p>
                  </a:txBody>
                  <a:tcPr marL="7620" marR="7620" marT="762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100" u="none" strike="noStrike">
                          <a:effectLst/>
                        </a:rPr>
                        <a:t>Value (P/E)</a:t>
                      </a:r>
                      <a:endParaRPr lang="en-US" sz="1100" b="1" i="0" u="none" strike="noStrike">
                        <a:solidFill>
                          <a:srgbClr val="FFFFFF"/>
                        </a:solidFill>
                        <a:effectLst/>
                        <a:latin typeface="Aptos Narrow" panose="020B0004020202020204" pitchFamily="34" charset="0"/>
                      </a:endParaRPr>
                    </a:p>
                  </a:txBody>
                  <a:tcPr marL="7620" marR="7620" marT="762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3715899367"/>
                  </a:ext>
                </a:extLst>
              </a:tr>
              <a:tr h="220985">
                <a:tc>
                  <a:txBody>
                    <a:bodyPr/>
                    <a:lstStyle/>
                    <a:p>
                      <a:pPr algn="ctr" fontAlgn="b">
                        <a:buNone/>
                      </a:pPr>
                      <a:r>
                        <a:rPr lang="en-US" sz="1100" u="none" strike="noStrike">
                          <a:effectLst/>
                        </a:rPr>
                        <a:t>3.35</a:t>
                      </a:r>
                      <a:endParaRPr lang="en-US" sz="1100" b="0"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100" u="none" strike="noStrike">
                          <a:effectLst/>
                        </a:rPr>
                        <a:t>115.25</a:t>
                      </a:r>
                      <a:endParaRPr lang="en-US" sz="1100" b="0" i="0" u="none" strike="noStrike">
                        <a:solidFill>
                          <a:srgbClr val="000000"/>
                        </a:solidFill>
                        <a:effectLst/>
                        <a:latin typeface="Aptos Narrow" panose="020B0004020202020204" pitchFamily="34" charset="0"/>
                      </a:endParaRPr>
                    </a:p>
                  </a:txBody>
                  <a:tcPr marL="7620" marR="7620" marT="762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100" u="none" strike="noStrike">
                          <a:effectLst/>
                        </a:rPr>
                        <a:t>118.60</a:t>
                      </a:r>
                      <a:endParaRPr lang="en-US" sz="1100" b="0" i="0" u="none" strike="noStrike">
                        <a:solidFill>
                          <a:srgbClr val="000000"/>
                        </a:solidFill>
                        <a:effectLst/>
                        <a:latin typeface="Aptos Narrow" panose="020B0004020202020204" pitchFamily="34" charset="0"/>
                      </a:endParaRPr>
                    </a:p>
                  </a:txBody>
                  <a:tcPr marL="7620" marR="7620" marT="762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82096936"/>
                  </a:ext>
                </a:extLst>
              </a:tr>
            </a:tbl>
          </a:graphicData>
        </a:graphic>
      </p:graphicFrame>
      <p:graphicFrame>
        <p:nvGraphicFramePr>
          <p:cNvPr id="6" name="Chart 5">
            <a:extLst>
              <a:ext uri="{FF2B5EF4-FFF2-40B4-BE49-F238E27FC236}">
                <a16:creationId xmlns:a16="http://schemas.microsoft.com/office/drawing/2014/main" id="{F8594BAA-DABC-8C47-14E2-1360FF6E28CF}"/>
              </a:ext>
            </a:extLst>
          </p:cNvPr>
          <p:cNvGraphicFramePr>
            <a:graphicFrameLocks/>
          </p:cNvGraphicFramePr>
          <p:nvPr>
            <p:extLst>
              <p:ext uri="{D42A27DB-BD31-4B8C-83A1-F6EECF244321}">
                <p14:modId xmlns:p14="http://schemas.microsoft.com/office/powerpoint/2010/main" val="3702422662"/>
              </p:ext>
            </p:extLst>
          </p:nvPr>
        </p:nvGraphicFramePr>
        <p:xfrm>
          <a:off x="38892" y="1561279"/>
          <a:ext cx="2525829" cy="212365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Chart 28">
            <a:extLst>
              <a:ext uri="{FF2B5EF4-FFF2-40B4-BE49-F238E27FC236}">
                <a16:creationId xmlns:a16="http://schemas.microsoft.com/office/drawing/2014/main" id="{3ACF82DA-A331-CEDC-7DB5-332D8DBDD458}"/>
              </a:ext>
            </a:extLst>
          </p:cNvPr>
          <p:cNvGraphicFramePr>
            <a:graphicFrameLocks/>
          </p:cNvGraphicFramePr>
          <p:nvPr>
            <p:extLst>
              <p:ext uri="{D42A27DB-BD31-4B8C-83A1-F6EECF244321}">
                <p14:modId xmlns:p14="http://schemas.microsoft.com/office/powerpoint/2010/main" val="243578772"/>
              </p:ext>
            </p:extLst>
          </p:nvPr>
        </p:nvGraphicFramePr>
        <p:xfrm>
          <a:off x="178135" y="6406194"/>
          <a:ext cx="7371043" cy="3123531"/>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Box 10">
            <a:extLst>
              <a:ext uri="{FF2B5EF4-FFF2-40B4-BE49-F238E27FC236}">
                <a16:creationId xmlns:a16="http://schemas.microsoft.com/office/drawing/2014/main" id="{2DF41D19-71F4-A8E5-0635-FFAEDC828274}"/>
              </a:ext>
            </a:extLst>
          </p:cNvPr>
          <p:cNvSpPr txBox="1"/>
          <p:nvPr/>
        </p:nvSpPr>
        <p:spPr>
          <a:xfrm>
            <a:off x="-1" y="9853219"/>
            <a:ext cx="5737835"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FactSet, HOG 2025 Q1-Q3 10-Q, FY24 10-K, 2024 DEF 14A, 2024-2025 Earnings Transcripts &amp; Presentations</a:t>
            </a:r>
          </a:p>
        </p:txBody>
      </p:sp>
      <p:sp>
        <p:nvSpPr>
          <p:cNvPr id="18" name="TextBox 17">
            <a:extLst>
              <a:ext uri="{FF2B5EF4-FFF2-40B4-BE49-F238E27FC236}">
                <a16:creationId xmlns:a16="http://schemas.microsoft.com/office/drawing/2014/main" id="{3F0FED0F-CBB9-F7CC-A737-7198B3ABBBC9}"/>
              </a:ext>
            </a:extLst>
          </p:cNvPr>
          <p:cNvSpPr txBox="1"/>
          <p:nvPr/>
        </p:nvSpPr>
        <p:spPr>
          <a:xfrm>
            <a:off x="3816071" y="2756426"/>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24: Bull Case Price Target Calculation</a:t>
            </a:r>
          </a:p>
        </p:txBody>
      </p:sp>
      <p:sp>
        <p:nvSpPr>
          <p:cNvPr id="22" name="TextBox 21">
            <a:extLst>
              <a:ext uri="{FF2B5EF4-FFF2-40B4-BE49-F238E27FC236}">
                <a16:creationId xmlns:a16="http://schemas.microsoft.com/office/drawing/2014/main" id="{B3DE7248-F711-B102-3953-81966EC96140}"/>
              </a:ext>
            </a:extLst>
          </p:cNvPr>
          <p:cNvSpPr txBox="1"/>
          <p:nvPr/>
        </p:nvSpPr>
        <p:spPr>
          <a:xfrm>
            <a:off x="3847653" y="5794970"/>
            <a:ext cx="2530592" cy="246221"/>
          </a:xfrm>
          <a:prstGeom prst="rect">
            <a:avLst/>
          </a:prstGeom>
          <a:noFill/>
        </p:spPr>
        <p:txBody>
          <a:bodyPr wrap="square" lIns="91440" tIns="45720" rIns="91440" bIns="45720" rtlCol="0" anchor="t">
            <a:spAutoFit/>
          </a:bodyPr>
          <a:lstStyle/>
          <a:p>
            <a:r>
              <a:rPr lang="en-US" sz="1000" b="1">
                <a:latin typeface="Calibri"/>
                <a:ea typeface="Calibri"/>
                <a:cs typeface="Calibri"/>
              </a:rPr>
              <a:t>Figure 27: Bear Case Price Target Calculation</a:t>
            </a:r>
          </a:p>
        </p:txBody>
      </p:sp>
      <p:grpSp>
        <p:nvGrpSpPr>
          <p:cNvPr id="32" name="Group 31">
            <a:extLst>
              <a:ext uri="{FF2B5EF4-FFF2-40B4-BE49-F238E27FC236}">
                <a16:creationId xmlns:a16="http://schemas.microsoft.com/office/drawing/2014/main" id="{58E031DA-C87D-CB20-5BE5-5DA9FD93327F}"/>
              </a:ext>
            </a:extLst>
          </p:cNvPr>
          <p:cNvGrpSpPr/>
          <p:nvPr/>
        </p:nvGrpSpPr>
        <p:grpSpPr>
          <a:xfrm>
            <a:off x="223222" y="6207925"/>
            <a:ext cx="2530592" cy="246351"/>
            <a:chOff x="123302" y="4020419"/>
            <a:chExt cx="2530592" cy="246351"/>
          </a:xfrm>
        </p:grpSpPr>
        <p:sp>
          <p:nvSpPr>
            <p:cNvPr id="33" name="TextBox 32">
              <a:extLst>
                <a:ext uri="{FF2B5EF4-FFF2-40B4-BE49-F238E27FC236}">
                  <a16:creationId xmlns:a16="http://schemas.microsoft.com/office/drawing/2014/main" id="{935F629D-5D14-6B8C-5295-5DEDA8F68A5F}"/>
                </a:ext>
              </a:extLst>
            </p:cNvPr>
            <p:cNvSpPr txBox="1"/>
            <p:nvPr/>
          </p:nvSpPr>
          <p:spPr>
            <a:xfrm>
              <a:off x="123302" y="4020419"/>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26: Scenarios Upside Potential</a:t>
              </a:r>
            </a:p>
          </p:txBody>
        </p:sp>
        <p:cxnSp>
          <p:nvCxnSpPr>
            <p:cNvPr id="34" name="Straight Connector 33">
              <a:extLst>
                <a:ext uri="{FF2B5EF4-FFF2-40B4-BE49-F238E27FC236}">
                  <a16:creationId xmlns:a16="http://schemas.microsoft.com/office/drawing/2014/main" id="{60CE53AD-D190-9463-0B15-A24530AA9A2F}"/>
                </a:ext>
              </a:extLst>
            </p:cNvPr>
            <p:cNvCxnSpPr>
              <a:cxnSpLocks/>
            </p:cNvCxnSpPr>
            <p:nvPr/>
          </p:nvCxnSpPr>
          <p:spPr>
            <a:xfrm>
              <a:off x="162194" y="4266770"/>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63092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339F5-B195-71BB-DAFD-E182B29EDF12}"/>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8A309131-B1C2-7EEB-CBB7-034BA20EEF41}"/>
              </a:ext>
            </a:extLst>
          </p:cNvPr>
          <p:cNvSpPr txBox="1"/>
          <p:nvPr/>
        </p:nvSpPr>
        <p:spPr>
          <a:xfrm>
            <a:off x="85838" y="582008"/>
            <a:ext cx="7538084" cy="7771358"/>
          </a:xfrm>
          <a:prstGeom prst="rect">
            <a:avLst/>
          </a:prstGeom>
          <a:noFill/>
        </p:spPr>
        <p:txBody>
          <a:bodyPr wrap="square" lIns="91440" tIns="45720" rIns="91440" bIns="45720" rtlCol="0" anchor="t">
            <a:spAutoFit/>
          </a:bodyPr>
          <a:lstStyle/>
          <a:p>
            <a:pPr algn="just"/>
            <a:endParaRPr lang="en-US" sz="1100">
              <a:latin typeface="Calibri" panose="020F0502020204030204" pitchFamily="34" charset="0"/>
              <a:ea typeface="Calibri" panose="020F0502020204030204" pitchFamily="34" charset="0"/>
              <a:cs typeface="Calibri" panose="020F0502020204030204" pitchFamily="34" charset="0"/>
            </a:endParaRPr>
          </a:p>
          <a:p>
            <a:pPr algn="just"/>
            <a:r>
              <a:rPr lang="en-US" sz="1100">
                <a:latin typeface="Calibri"/>
                <a:ea typeface="Calibri"/>
                <a:cs typeface="Calibri"/>
              </a:rPr>
              <a:t>At first glance, Harley-Davidson's 2025 Q3 financial statements show a dramatic year-over-year increase in profitability, though it was largely driven by a one-time strategic maneuver rather than a surge in consumer retail demand. The event in question is the first step in the HDFS transaction. Based on the management discussion in the latest earnings report, the deal will take place over three quarters (Q3-4 of 2025 and Q1 2026), meaning that no one quarter’s figures will encapsulate the full effects until the dust had settled in 2026. </a:t>
            </a:r>
          </a:p>
          <a:p>
            <a:pPr algn="just"/>
            <a:r>
              <a:rPr lang="en-US" sz="1100">
                <a:latin typeface="Calibri"/>
                <a:ea typeface="Calibri"/>
                <a:cs typeface="Calibri"/>
              </a:rPr>
              <a:t>	The only two impacts on Q3 was the </a:t>
            </a:r>
            <a:r>
              <a:rPr lang="en-US" sz="1100" b="1">
                <a:latin typeface="Calibri"/>
                <a:ea typeface="Calibri"/>
                <a:cs typeface="Calibri"/>
              </a:rPr>
              <a:t>removal of $1.7 Billion from the balance sheet</a:t>
            </a:r>
            <a:r>
              <a:rPr lang="en-US" sz="1100">
                <a:latin typeface="Calibri"/>
                <a:ea typeface="Calibri"/>
                <a:cs typeface="Calibri"/>
              </a:rPr>
              <a:t>, and separately, the </a:t>
            </a:r>
            <a:r>
              <a:rPr lang="en-US" sz="1100" b="1">
                <a:latin typeface="Calibri"/>
                <a:ea typeface="Calibri"/>
                <a:cs typeface="Calibri"/>
              </a:rPr>
              <a:t>$301 million credit loss reversal</a:t>
            </a:r>
            <a:r>
              <a:rPr lang="en-US" sz="1100">
                <a:latin typeface="Calibri"/>
                <a:ea typeface="Calibri"/>
                <a:cs typeface="Calibri"/>
              </a:rPr>
              <a:t> on HDFS’ books as it reclassified another </a:t>
            </a:r>
            <a:r>
              <a:rPr lang="en-US" sz="1100" b="1">
                <a:latin typeface="Calibri"/>
                <a:ea typeface="Calibri"/>
                <a:cs typeface="Calibri"/>
              </a:rPr>
              <a:t>$4.1 billion in loans</a:t>
            </a:r>
            <a:r>
              <a:rPr lang="en-US" sz="1100">
                <a:latin typeface="Calibri"/>
                <a:ea typeface="Calibri"/>
                <a:cs typeface="Calibri"/>
              </a:rPr>
              <a:t> as "held-for-sale“. This change in recognition increased income for the financial services segment which throws off a lot of the metrics that we usually trust to tell us how a company is doing. To avoid any confusion, we have adjusted the figures provided by Harley-Davidson to the values in the chart at the bottom of the page. </a:t>
            </a:r>
          </a:p>
          <a:p>
            <a:pPr algn="just"/>
            <a:r>
              <a:rPr lang="en-US" sz="1100">
                <a:latin typeface="Calibri"/>
                <a:ea typeface="Calibri"/>
                <a:cs typeface="Calibri"/>
              </a:rPr>
              <a:t>	The most striking figure in the report was the suspiciously high Earnings Per Share (EPS) of $3.10, a 241% increase from $0.91 the previous year. This is based off of a net income figure of $377 million, which should actually be just $76 million. When we adjust for the reversal, we are left with an </a:t>
            </a:r>
            <a:r>
              <a:rPr lang="en-US" sz="1100" b="1">
                <a:latin typeface="Calibri"/>
                <a:ea typeface="Calibri"/>
                <a:cs typeface="Calibri"/>
              </a:rPr>
              <a:t>EPS of only $0.62 representing a 32% decrease YOY</a:t>
            </a:r>
            <a:r>
              <a:rPr lang="en-US" sz="1100">
                <a:latin typeface="Calibri"/>
                <a:ea typeface="Calibri"/>
                <a:cs typeface="Calibri"/>
              </a:rPr>
              <a:t>.</a:t>
            </a:r>
            <a:endParaRPr lang="en-US" sz="1100" b="1">
              <a:latin typeface="Calibri"/>
              <a:ea typeface="Calibri"/>
              <a:cs typeface="Calibri"/>
            </a:endParaRPr>
          </a:p>
          <a:p>
            <a:pPr lvl="0" algn="just" defTabSz="914400" eaLnBrk="0" fontAlgn="base" hangingPunct="0">
              <a:spcBef>
                <a:spcPct val="0"/>
              </a:spcBef>
              <a:spcAft>
                <a:spcPct val="0"/>
              </a:spcAft>
            </a:pPr>
            <a:r>
              <a:rPr lang="en-US" altLang="en-US" sz="1100">
                <a:latin typeface="Calibri"/>
                <a:ea typeface="Calibri"/>
                <a:cs typeface="Calibri"/>
              </a:rPr>
              <a:t>	HDFS isn’t alone in having its figures obscured. </a:t>
            </a:r>
            <a:r>
              <a:rPr lang="en-US" altLang="en-US" sz="1100" b="1">
                <a:latin typeface="Calibri"/>
                <a:ea typeface="Calibri"/>
                <a:cs typeface="Calibri"/>
              </a:rPr>
              <a:t>The motor segment reported a 23% increase in revenue</a:t>
            </a:r>
            <a:r>
              <a:rPr lang="en-US" altLang="en-US" sz="1100">
                <a:latin typeface="Calibri"/>
                <a:ea typeface="Calibri"/>
                <a:cs typeface="Calibri"/>
              </a:rPr>
              <a:t>, but most of this is simply large wholesale shipments. To get a better grasp on how the segment is doing we can turn to their </a:t>
            </a:r>
            <a:r>
              <a:rPr lang="en-US" altLang="en-US" sz="1100" b="1">
                <a:latin typeface="Calibri"/>
                <a:ea typeface="Calibri"/>
                <a:cs typeface="Calibri"/>
              </a:rPr>
              <a:t>retail sales, which dropped by 6% YOY</a:t>
            </a:r>
            <a:r>
              <a:rPr lang="en-US" altLang="en-US" sz="1100">
                <a:latin typeface="Calibri"/>
                <a:ea typeface="Calibri"/>
                <a:cs typeface="Calibri"/>
              </a:rPr>
              <a:t>. </a:t>
            </a:r>
            <a:r>
              <a:rPr lang="en-US" sz="1100">
                <a:latin typeface="Calibri"/>
                <a:ea typeface="Calibri"/>
                <a:cs typeface="Calibri"/>
              </a:rPr>
              <a:t>Shipping more bikes to dealers while customer demand is falling is a risky strategy. While it helps short-term revenue, it risks bloating dealer inventory. In addition to lower sales, profitability is also taking a hit. The company took a </a:t>
            </a:r>
            <a:r>
              <a:rPr lang="en-US" sz="1100" b="1">
                <a:latin typeface="Calibri"/>
                <a:ea typeface="Calibri"/>
                <a:cs typeface="Calibri"/>
              </a:rPr>
              <a:t>$27 million hit from tariffs in Q3 alone</a:t>
            </a:r>
            <a:r>
              <a:rPr lang="en-US" sz="1100">
                <a:latin typeface="Calibri"/>
                <a:ea typeface="Calibri"/>
                <a:cs typeface="Calibri"/>
              </a:rPr>
              <a:t>. Management expects the </a:t>
            </a:r>
            <a:r>
              <a:rPr lang="en-US" sz="1100" b="1">
                <a:latin typeface="Calibri"/>
                <a:ea typeface="Calibri"/>
                <a:cs typeface="Calibri"/>
              </a:rPr>
              <a:t>full-year 2025 tariff impact to be between $55 million and $75 million</a:t>
            </a:r>
            <a:r>
              <a:rPr lang="en-US" sz="1100">
                <a:latin typeface="Calibri"/>
                <a:ea typeface="Calibri"/>
                <a:cs typeface="Calibri"/>
              </a:rPr>
              <a:t>. This added expense is reflected in a </a:t>
            </a:r>
            <a:r>
              <a:rPr lang="en-US" sz="1100" b="1">
                <a:latin typeface="Calibri"/>
                <a:ea typeface="Calibri"/>
                <a:cs typeface="Calibri"/>
              </a:rPr>
              <a:t>gross margin of 26.4%, down from 30.1%  a year ago</a:t>
            </a:r>
            <a:r>
              <a:rPr lang="en-US" sz="1100">
                <a:latin typeface="Calibri"/>
                <a:ea typeface="Calibri"/>
                <a:cs typeface="Calibri"/>
              </a:rPr>
              <a:t>. Inventories at the end of Q3 were also down 13% year over year, but this point could be explained by the fact that management would like to begin introducing next year models to the dealership floors in Q3 of the prior year instead of January of the model year, starting late 2026 with select models. This could also help us understand why the large volume of bikes was sold to dealerships, as they may be aiming to get rid of their 2025 and 2026 models as quickly as possible to make sure that there is room to store the 2027 models and eventually sell them to dealerships in Q3 of 2026.</a:t>
            </a:r>
          </a:p>
          <a:p>
            <a:pPr lvl="0" algn="just" defTabSz="914400" eaLnBrk="0" fontAlgn="base" hangingPunct="0">
              <a:spcBef>
                <a:spcPct val="0"/>
              </a:spcBef>
              <a:spcAft>
                <a:spcPct val="0"/>
              </a:spcAft>
            </a:pPr>
            <a:r>
              <a:rPr lang="en-US" altLang="en-US" sz="1100">
                <a:latin typeface="Calibri"/>
                <a:ea typeface="Calibri"/>
                <a:cs typeface="Calibri"/>
              </a:rPr>
              <a:t>	Impressively, Livewire boasted a </a:t>
            </a:r>
            <a:r>
              <a:rPr lang="en-US" altLang="en-US" sz="1100" b="1">
                <a:latin typeface="Calibri"/>
                <a:ea typeface="Calibri"/>
                <a:cs typeface="Calibri"/>
              </a:rPr>
              <a:t>unit sales increase of 86% </a:t>
            </a:r>
            <a:r>
              <a:rPr lang="en-US" altLang="en-US" sz="1100">
                <a:latin typeface="Calibri"/>
                <a:ea typeface="Calibri"/>
                <a:cs typeface="Calibri"/>
              </a:rPr>
              <a:t>YOY, although it continues to hurt overall profitability with a </a:t>
            </a:r>
            <a:r>
              <a:rPr lang="en-US" altLang="en-US" sz="1100" b="1">
                <a:latin typeface="Calibri"/>
                <a:ea typeface="Calibri"/>
                <a:cs typeface="Calibri"/>
              </a:rPr>
              <a:t>loss of $18 Million in Q3</a:t>
            </a:r>
            <a:r>
              <a:rPr lang="en-US" altLang="en-US" sz="1100">
                <a:latin typeface="Calibri"/>
                <a:ea typeface="Calibri"/>
                <a:cs typeface="Calibri"/>
              </a:rPr>
              <a:t>. </a:t>
            </a:r>
            <a:r>
              <a:rPr lang="en-US" sz="1100">
                <a:latin typeface="Calibri"/>
                <a:ea typeface="Calibri"/>
                <a:cs typeface="Calibri"/>
              </a:rPr>
              <a:t>The segment has lost $56 Million through the third quarter and is on track to </a:t>
            </a:r>
            <a:r>
              <a:rPr lang="en-US" sz="1100" b="1">
                <a:latin typeface="Calibri"/>
                <a:ea typeface="Calibri"/>
                <a:cs typeface="Calibri"/>
              </a:rPr>
              <a:t>lose a total of $77 million for 2025</a:t>
            </a:r>
            <a:r>
              <a:rPr lang="en-US" sz="1100">
                <a:latin typeface="Calibri"/>
                <a:ea typeface="Calibri"/>
                <a:cs typeface="Calibri"/>
              </a:rPr>
              <a:t>. Although this is an improvement over the $110.4 Million Loss in 2024, the change is driven by cutting costs, not generating more income. </a:t>
            </a:r>
            <a:r>
              <a:rPr lang="en-US" altLang="en-US" sz="1100">
                <a:latin typeface="Calibri"/>
                <a:ea typeface="Calibri"/>
                <a:cs typeface="Calibri"/>
              </a:rPr>
              <a:t>The positive here is that a lot of it’s spend has been used to finalize models which will be released in 2026, including a highly anticipated performance electric scooter in partnership with KYMCO that would massively increase Livewire’s TAM by breaking into the City Commuter demographic.</a:t>
            </a:r>
          </a:p>
          <a:p>
            <a:pPr algn="just"/>
            <a:endParaRPr lang="en-US" altLang="en-US" sz="1100">
              <a:latin typeface="Calibri" panose="020F0502020204030204" pitchFamily="34" charset="0"/>
              <a:ea typeface="Calibri" panose="020F0502020204030204" pitchFamily="34" charset="0"/>
              <a:cs typeface="Calibri" panose="020F0502020204030204" pitchFamily="34" charset="0"/>
            </a:endParaRPr>
          </a:p>
          <a:p>
            <a:pPr algn="just"/>
            <a:endParaRPr lang="en-US" altLang="en-US" sz="1100">
              <a:latin typeface="Calibri" panose="020F0502020204030204" pitchFamily="34" charset="0"/>
              <a:ea typeface="Calibri" panose="020F0502020204030204" pitchFamily="34" charset="0"/>
              <a:cs typeface="Calibri" panose="020F0502020204030204" pitchFamily="34" charset="0"/>
            </a:endParaRPr>
          </a:p>
          <a:p>
            <a:pPr algn="just"/>
            <a:r>
              <a:rPr lang="en-US" altLang="en-US" sz="1100">
                <a:latin typeface="Calibri"/>
                <a:ea typeface="Calibri"/>
                <a:cs typeface="Calibri"/>
              </a:rPr>
              <a:t>The biggest problem we see here is definitely the declining sales growth. With so many bikes being shipped to dealerships, it’s crucial for them to move through that inventory to make way for their new models that hold the keys to Harley’s next phase. The numbers that we’ve seen here look scary, but it’s crucial to understand that not only is this a transitional period for both of it’s core segments and livewire, but 2025 has also been an </a:t>
            </a:r>
            <a:r>
              <a:rPr lang="en-US" sz="1100">
                <a:latin typeface="Calibri"/>
                <a:ea typeface="Calibri"/>
                <a:cs typeface="Calibri"/>
              </a:rPr>
              <a:t>uncertain year for consumers, particularly in the "big-ticket" discretionary market where Harley-Davidson operates. From tariff wars to the longest government shutdown in U.S. history,  customers were primed to just  hit the pause button on large, non-essential purchases. This aligns perfectly with Harley's report of a 6% drop in retail sales—the customers were still there, but they were too nervous to pull the trigger.</a:t>
            </a:r>
          </a:p>
          <a:p>
            <a:pPr algn="just"/>
            <a:endParaRPr lang="en-US" sz="1100"/>
          </a:p>
          <a:p>
            <a:pPr algn="just"/>
            <a:endParaRPr lang="en-US" sz="1100"/>
          </a:p>
          <a:p>
            <a:pPr algn="just"/>
            <a:endParaRPr lang="en-US" sz="1100"/>
          </a:p>
          <a:p>
            <a:pPr algn="just"/>
            <a:endParaRPr lang="en-US" sz="1100"/>
          </a:p>
          <a:p>
            <a:pPr algn="just"/>
            <a:endParaRPr lang="en-US" sz="400"/>
          </a:p>
        </p:txBody>
      </p:sp>
      <p:sp>
        <p:nvSpPr>
          <p:cNvPr id="5" name="TextBox 4">
            <a:extLst>
              <a:ext uri="{FF2B5EF4-FFF2-40B4-BE49-F238E27FC236}">
                <a16:creationId xmlns:a16="http://schemas.microsoft.com/office/drawing/2014/main" id="{64BB8095-EB00-130F-AC71-B0B14A8AF0CD}"/>
              </a:ext>
            </a:extLst>
          </p:cNvPr>
          <p:cNvSpPr txBox="1"/>
          <p:nvPr/>
        </p:nvSpPr>
        <p:spPr>
          <a:xfrm>
            <a:off x="7521843" y="9823681"/>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7</a:t>
            </a:r>
          </a:p>
        </p:txBody>
      </p:sp>
      <p:grpSp>
        <p:nvGrpSpPr>
          <p:cNvPr id="34" name="Group 33">
            <a:extLst>
              <a:ext uri="{FF2B5EF4-FFF2-40B4-BE49-F238E27FC236}">
                <a16:creationId xmlns:a16="http://schemas.microsoft.com/office/drawing/2014/main" id="{A314CED5-60DB-DBDA-0745-C5A8C6A51095}"/>
              </a:ext>
            </a:extLst>
          </p:cNvPr>
          <p:cNvGrpSpPr/>
          <p:nvPr/>
        </p:nvGrpSpPr>
        <p:grpSpPr>
          <a:xfrm>
            <a:off x="152424" y="234720"/>
            <a:ext cx="7522885" cy="273377"/>
            <a:chOff x="168815" y="2236404"/>
            <a:chExt cx="7448978" cy="273377"/>
          </a:xfrm>
        </p:grpSpPr>
        <p:sp>
          <p:nvSpPr>
            <p:cNvPr id="35" name="Text Box 2">
              <a:extLst>
                <a:ext uri="{FF2B5EF4-FFF2-40B4-BE49-F238E27FC236}">
                  <a16:creationId xmlns:a16="http://schemas.microsoft.com/office/drawing/2014/main" id="{7277D162-33E8-1AEA-9344-601E5C5FD25F}"/>
                </a:ext>
              </a:extLst>
            </p:cNvPr>
            <p:cNvSpPr txBox="1">
              <a:spLocks noChangeArrowheads="1"/>
            </p:cNvSpPr>
            <p:nvPr/>
          </p:nvSpPr>
          <p:spPr bwMode="auto">
            <a:xfrm>
              <a:off x="168815" y="2236404"/>
              <a:ext cx="7448978" cy="261610"/>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r>
                <a:rPr lang="en-US" sz="1600" b="1" kern="100">
                  <a:latin typeface="Calibri" panose="020F0502020204030204" pitchFamily="34" charset="0"/>
                  <a:ea typeface="Cambria" panose="02040503050406030204" pitchFamily="18" charset="0"/>
                  <a:cs typeface="Calibri" panose="020F0502020204030204" pitchFamily="34" charset="0"/>
                </a:rPr>
                <a:t>Financial Analysis</a:t>
              </a:r>
            </a:p>
          </p:txBody>
        </p:sp>
        <p:cxnSp>
          <p:nvCxnSpPr>
            <p:cNvPr id="36" name="Straight Connector 35">
              <a:extLst>
                <a:ext uri="{FF2B5EF4-FFF2-40B4-BE49-F238E27FC236}">
                  <a16:creationId xmlns:a16="http://schemas.microsoft.com/office/drawing/2014/main" id="{B211C2ED-3D7D-49EC-3BFF-5D235A31A3D3}"/>
                </a:ext>
              </a:extLst>
            </p:cNvPr>
            <p:cNvCxnSpPr>
              <a:cxnSpLocks/>
            </p:cNvCxnSpPr>
            <p:nvPr/>
          </p:nvCxnSpPr>
          <p:spPr>
            <a:xfrm>
              <a:off x="2729953" y="2509781"/>
              <a:ext cx="475762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7" name="TextBox 36">
            <a:extLst>
              <a:ext uri="{FF2B5EF4-FFF2-40B4-BE49-F238E27FC236}">
                <a16:creationId xmlns:a16="http://schemas.microsoft.com/office/drawing/2014/main" id="{1F701D85-F8B5-7529-9243-6672EF80EE94}"/>
              </a:ext>
            </a:extLst>
          </p:cNvPr>
          <p:cNvSpPr txBox="1"/>
          <p:nvPr/>
        </p:nvSpPr>
        <p:spPr>
          <a:xfrm>
            <a:off x="116125" y="559498"/>
            <a:ext cx="7570437"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    </a:t>
            </a: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A Warped View</a:t>
            </a:r>
          </a:p>
        </p:txBody>
      </p:sp>
      <p:cxnSp>
        <p:nvCxnSpPr>
          <p:cNvPr id="42" name="Straight Connector 41">
            <a:extLst>
              <a:ext uri="{FF2B5EF4-FFF2-40B4-BE49-F238E27FC236}">
                <a16:creationId xmlns:a16="http://schemas.microsoft.com/office/drawing/2014/main" id="{88437E03-E7B5-CE56-CAC1-ED08E696D9E4}"/>
              </a:ext>
            </a:extLst>
          </p:cNvPr>
          <p:cNvCxnSpPr/>
          <p:nvPr/>
        </p:nvCxnSpPr>
        <p:spPr>
          <a:xfrm>
            <a:off x="152424" y="498743"/>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7" name="Table 6">
            <a:extLst>
              <a:ext uri="{FF2B5EF4-FFF2-40B4-BE49-F238E27FC236}">
                <a16:creationId xmlns:a16="http://schemas.microsoft.com/office/drawing/2014/main" id="{41C4B37C-9EE8-3AF0-D258-B7235B290615}"/>
              </a:ext>
            </a:extLst>
          </p:cNvPr>
          <p:cNvGraphicFramePr>
            <a:graphicFrameLocks noGrp="1"/>
          </p:cNvGraphicFramePr>
          <p:nvPr>
            <p:custDataLst>
              <p:tags r:id="rId1"/>
            </p:custDataLst>
            <p:extLst>
              <p:ext uri="{D42A27DB-BD31-4B8C-83A1-F6EECF244321}">
                <p14:modId xmlns:p14="http://schemas.microsoft.com/office/powerpoint/2010/main" val="3739249678"/>
              </p:ext>
            </p:extLst>
          </p:nvPr>
        </p:nvGraphicFramePr>
        <p:xfrm>
          <a:off x="2244136" y="7441805"/>
          <a:ext cx="5228418" cy="2433567"/>
        </p:xfrm>
        <a:graphic>
          <a:graphicData uri="http://schemas.openxmlformats.org/drawingml/2006/table">
            <a:tbl>
              <a:tblPr firstRow="1" bandRow="1">
                <a:tableStyleId>{5C22544A-7EE6-4342-B048-85BDC9FD1C3A}</a:tableStyleId>
              </a:tblPr>
              <a:tblGrid>
                <a:gridCol w="1122022">
                  <a:extLst>
                    <a:ext uri="{9D8B030D-6E8A-4147-A177-3AD203B41FA5}">
                      <a16:colId xmlns:a16="http://schemas.microsoft.com/office/drawing/2014/main" val="1913663222"/>
                    </a:ext>
                  </a:extLst>
                </a:gridCol>
                <a:gridCol w="842042">
                  <a:extLst>
                    <a:ext uri="{9D8B030D-6E8A-4147-A177-3AD203B41FA5}">
                      <a16:colId xmlns:a16="http://schemas.microsoft.com/office/drawing/2014/main" val="2878123810"/>
                    </a:ext>
                  </a:extLst>
                </a:gridCol>
                <a:gridCol w="842042">
                  <a:extLst>
                    <a:ext uri="{9D8B030D-6E8A-4147-A177-3AD203B41FA5}">
                      <a16:colId xmlns:a16="http://schemas.microsoft.com/office/drawing/2014/main" val="414380528"/>
                    </a:ext>
                  </a:extLst>
                </a:gridCol>
                <a:gridCol w="899716">
                  <a:extLst>
                    <a:ext uri="{9D8B030D-6E8A-4147-A177-3AD203B41FA5}">
                      <a16:colId xmlns:a16="http://schemas.microsoft.com/office/drawing/2014/main" val="4227438148"/>
                    </a:ext>
                  </a:extLst>
                </a:gridCol>
                <a:gridCol w="667079">
                  <a:extLst>
                    <a:ext uri="{9D8B030D-6E8A-4147-A177-3AD203B41FA5}">
                      <a16:colId xmlns:a16="http://schemas.microsoft.com/office/drawing/2014/main" val="152878797"/>
                    </a:ext>
                  </a:extLst>
                </a:gridCol>
                <a:gridCol w="855517">
                  <a:extLst>
                    <a:ext uri="{9D8B030D-6E8A-4147-A177-3AD203B41FA5}">
                      <a16:colId xmlns:a16="http://schemas.microsoft.com/office/drawing/2014/main" val="318840051"/>
                    </a:ext>
                  </a:extLst>
                </a:gridCol>
              </a:tblGrid>
              <a:tr h="523487">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Metric</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Q3 2025</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Adjusted Q3 2025</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Q3 2024</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Change</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Adjusted Change</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3919129943"/>
                  </a:ext>
                </a:extLst>
              </a:tr>
              <a:tr h="370840">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Consolidated Revenue</a:t>
                      </a:r>
                      <a:endParaRPr lang="en-US" sz="110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$1.34 Billion</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$1.34 Billion</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$1.15 Billion</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+17%</a:t>
                      </a:r>
                      <a:endParaRPr lang="en-US" sz="1100">
                        <a:latin typeface="Calibri" panose="020F050202020403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+17%</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352739594"/>
                  </a:ext>
                </a:extLst>
              </a:tr>
              <a:tr h="306990">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Net Income</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$377 Million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$76 Million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$119 Million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+217%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-36%</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1138712"/>
                  </a:ext>
                </a:extLst>
              </a:tr>
              <a:tr h="253650">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Diluted EPS</a:t>
                      </a:r>
                      <a:endParaRPr lang="en-US" sz="110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$3.10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$0.62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$0.91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+241%</a:t>
                      </a:r>
                      <a:endParaRPr lang="en-US" sz="1100">
                        <a:latin typeface="Calibri" panose="020F050202020403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-32%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659067654"/>
                  </a:ext>
                </a:extLst>
              </a:tr>
              <a:tr h="370840">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Global Retail Sales</a:t>
                      </a:r>
                      <a:endParaRPr lang="en-US" sz="110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34,000 units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100">
                          <a:latin typeface="Calibri" panose="020F0502020204030204" pitchFamily="34" charset="0"/>
                          <a:ea typeface="Calibri" panose="020F0502020204030204" pitchFamily="34" charset="0"/>
                          <a:cs typeface="Calibri" panose="020F0502020204030204" pitchFamily="34" charset="0"/>
                        </a:rPr>
                        <a:t>34,000 units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36,200 units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-6%</a:t>
                      </a:r>
                      <a:endParaRPr lang="en-US" sz="1100">
                        <a:latin typeface="Calibri" panose="020F050202020403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-6%</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01694212"/>
                  </a:ext>
                </a:extLst>
              </a:tr>
              <a:tr h="370840">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Cash Position</a:t>
                      </a:r>
                      <a:endParaRPr lang="en-US" sz="110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$1.8 Billion</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100">
                          <a:latin typeface="Calibri" panose="020F0502020204030204" pitchFamily="34" charset="0"/>
                          <a:ea typeface="Calibri" panose="020F0502020204030204" pitchFamily="34" charset="0"/>
                          <a:cs typeface="Calibri" panose="020F0502020204030204" pitchFamily="34" charset="0"/>
                        </a:rPr>
                        <a:t>$1.8 Billion</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a:latin typeface="Calibri" panose="020F0502020204030204" pitchFamily="34" charset="0"/>
                          <a:ea typeface="Calibri" panose="020F0502020204030204" pitchFamily="34" charset="0"/>
                          <a:cs typeface="Calibri" panose="020F0502020204030204" pitchFamily="34" charset="0"/>
                        </a:rPr>
                        <a:t>$2.2 Billion</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-18%</a:t>
                      </a:r>
                      <a:endParaRPr lang="en-US" sz="1100">
                        <a:latin typeface="Calibri" panose="020F050202020403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100" b="1">
                          <a:latin typeface="Calibri" panose="020F0502020204030204" pitchFamily="34" charset="0"/>
                          <a:ea typeface="Calibri" panose="020F0502020204030204" pitchFamily="34" charset="0"/>
                          <a:cs typeface="Calibri" panose="020F0502020204030204" pitchFamily="34" charset="0"/>
                        </a:rPr>
                        <a:t>-18%</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90038720"/>
                  </a:ext>
                </a:extLst>
              </a:tr>
            </a:tbl>
          </a:graphicData>
        </a:graphic>
      </p:graphicFrame>
      <p:sp>
        <p:nvSpPr>
          <p:cNvPr id="10" name="TextBox 9">
            <a:extLst>
              <a:ext uri="{FF2B5EF4-FFF2-40B4-BE49-F238E27FC236}">
                <a16:creationId xmlns:a16="http://schemas.microsoft.com/office/drawing/2014/main" id="{B37407B4-29AB-00B6-A3F6-E1DE28462699}"/>
              </a:ext>
            </a:extLst>
          </p:cNvPr>
          <p:cNvSpPr txBox="1"/>
          <p:nvPr/>
        </p:nvSpPr>
        <p:spPr>
          <a:xfrm>
            <a:off x="112470" y="5897080"/>
            <a:ext cx="7602792" cy="219354"/>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    </a:t>
            </a: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Analysis</a:t>
            </a:r>
          </a:p>
        </p:txBody>
      </p:sp>
      <p:graphicFrame>
        <p:nvGraphicFramePr>
          <p:cNvPr id="11" name="Chart 10">
            <a:extLst>
              <a:ext uri="{FF2B5EF4-FFF2-40B4-BE49-F238E27FC236}">
                <a16:creationId xmlns:a16="http://schemas.microsoft.com/office/drawing/2014/main" id="{8E7114FF-ADC5-19EC-3558-1AB7D7C1A8B3}"/>
              </a:ext>
            </a:extLst>
          </p:cNvPr>
          <p:cNvGraphicFramePr>
            <a:graphicFrameLocks/>
          </p:cNvGraphicFramePr>
          <p:nvPr>
            <p:extLst>
              <p:ext uri="{D42A27DB-BD31-4B8C-83A1-F6EECF244321}">
                <p14:modId xmlns:p14="http://schemas.microsoft.com/office/powerpoint/2010/main" val="3469304281"/>
              </p:ext>
            </p:extLst>
          </p:nvPr>
        </p:nvGraphicFramePr>
        <p:xfrm>
          <a:off x="-39442" y="7372818"/>
          <a:ext cx="2505567" cy="2610657"/>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05352494-BB82-D8ED-BDF2-BA44AAF6BB68}"/>
              </a:ext>
            </a:extLst>
          </p:cNvPr>
          <p:cNvSpPr txBox="1"/>
          <p:nvPr/>
        </p:nvSpPr>
        <p:spPr>
          <a:xfrm>
            <a:off x="-1" y="9853219"/>
            <a:ext cx="5737835"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FactSet, HOG 2025 Q1-Q3 10-Q, FY24 10-K, 2024 DEF 14A, 2024-2025 Earnings Transcripts &amp; Presentations</a:t>
            </a:r>
          </a:p>
        </p:txBody>
      </p:sp>
      <p:sp>
        <p:nvSpPr>
          <p:cNvPr id="8" name="TextBox 7">
            <a:extLst>
              <a:ext uri="{FF2B5EF4-FFF2-40B4-BE49-F238E27FC236}">
                <a16:creationId xmlns:a16="http://schemas.microsoft.com/office/drawing/2014/main" id="{351B309C-C741-CBC2-8804-C596144FAC8D}"/>
              </a:ext>
            </a:extLst>
          </p:cNvPr>
          <p:cNvSpPr txBox="1"/>
          <p:nvPr/>
        </p:nvSpPr>
        <p:spPr>
          <a:xfrm>
            <a:off x="2237080" y="7394972"/>
            <a:ext cx="2530592" cy="246221"/>
          </a:xfrm>
          <a:prstGeom prst="rect">
            <a:avLst/>
          </a:prstGeom>
          <a:noFill/>
        </p:spPr>
        <p:txBody>
          <a:bodyPr wrap="square" rtlCol="0">
            <a:spAutoFit/>
          </a:bodyPr>
          <a:lstStyle/>
          <a:p>
            <a:r>
              <a:rPr lang="en-US" sz="1000" b="1">
                <a:solidFill>
                  <a:schemeClr val="bg1"/>
                </a:solidFill>
                <a:latin typeface="Calibri" panose="020F0502020204030204" pitchFamily="34" charset="0"/>
                <a:cs typeface="Calibri" panose="020F0502020204030204" pitchFamily="34" charset="0"/>
              </a:rPr>
              <a:t>Figure 29: Adjusted Figures</a:t>
            </a:r>
          </a:p>
        </p:txBody>
      </p:sp>
      <p:sp>
        <p:nvSpPr>
          <p:cNvPr id="16" name="TextBox 15">
            <a:extLst>
              <a:ext uri="{FF2B5EF4-FFF2-40B4-BE49-F238E27FC236}">
                <a16:creationId xmlns:a16="http://schemas.microsoft.com/office/drawing/2014/main" id="{52124153-07FE-6CF0-BA8D-D28E13094BF3}"/>
              </a:ext>
            </a:extLst>
          </p:cNvPr>
          <p:cNvSpPr txBox="1"/>
          <p:nvPr/>
        </p:nvSpPr>
        <p:spPr>
          <a:xfrm>
            <a:off x="23198" y="7372819"/>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28: The Empty Slice</a:t>
            </a:r>
          </a:p>
        </p:txBody>
      </p:sp>
    </p:spTree>
    <p:extLst>
      <p:ext uri="{BB962C8B-B14F-4D97-AF65-F5344CB8AC3E}">
        <p14:creationId xmlns:p14="http://schemas.microsoft.com/office/powerpoint/2010/main" val="2034836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2F5B6-6483-F0BE-8F89-3B2EE8531A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AAD3C6-6999-1EB7-43D3-49E9B34F00C6}"/>
              </a:ext>
            </a:extLst>
          </p:cNvPr>
          <p:cNvSpPr txBox="1"/>
          <p:nvPr/>
        </p:nvSpPr>
        <p:spPr>
          <a:xfrm>
            <a:off x="7520941" y="9801344"/>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8</a:t>
            </a:r>
          </a:p>
        </p:txBody>
      </p:sp>
      <p:sp>
        <p:nvSpPr>
          <p:cNvPr id="16" name="Text Box 2">
            <a:extLst>
              <a:ext uri="{FF2B5EF4-FFF2-40B4-BE49-F238E27FC236}">
                <a16:creationId xmlns:a16="http://schemas.microsoft.com/office/drawing/2014/main" id="{329AE8C0-9D75-3FA2-E4D4-E9B5C7224369}"/>
              </a:ext>
            </a:extLst>
          </p:cNvPr>
          <p:cNvSpPr txBox="1">
            <a:spLocks noChangeArrowheads="1"/>
          </p:cNvSpPr>
          <p:nvPr/>
        </p:nvSpPr>
        <p:spPr bwMode="auto">
          <a:xfrm>
            <a:off x="2781095" y="1262853"/>
            <a:ext cx="4832549" cy="5847755"/>
          </a:xfrm>
          <a:prstGeom prst="rect">
            <a:avLst/>
          </a:prstGeom>
          <a:noFill/>
          <a:ln w="9525">
            <a:noFill/>
            <a:miter lim="800000"/>
            <a:headEnd/>
            <a:tailEnd/>
          </a:ln>
        </p:spPr>
        <p:txBody>
          <a:bodyPr rot="0" vert="horz" wrap="square" lIns="91440" tIns="45720" rIns="91440" bIns="45720" anchor="t" anchorCtr="0">
            <a:spAutoFit/>
          </a:bodyPr>
          <a:lstStyle/>
          <a:p>
            <a:pPr algn="just"/>
            <a:r>
              <a:rPr lang="en-US" sz="1100" b="1">
                <a:latin typeface="Calibri"/>
                <a:ea typeface="Calibri"/>
                <a:cs typeface="Calibri"/>
              </a:rPr>
              <a:t>Threat of New Entrants: </a:t>
            </a:r>
            <a:r>
              <a:rPr lang="en-US" sz="1100">
                <a:latin typeface="Calibri"/>
                <a:ea typeface="Calibri"/>
                <a:cs typeface="Calibri"/>
              </a:rPr>
              <a:t>We rate the threat of new entrants a 2/5 risk score. We believe that Harley-Davidson has a strong brand loyalty and an active community of 1 million members partaking in the Harley Owners Group. The cost of capital to enter the market Is high and the need of a global dealer network makes it challenging to enter the market.</a:t>
            </a:r>
          </a:p>
          <a:p>
            <a:pPr algn="just"/>
            <a:endParaRPr lang="en-US" sz="1100">
              <a:latin typeface="Calibri" panose="020F0502020204030204" pitchFamily="34" charset="0"/>
              <a:ea typeface="Calibri" panose="020F0502020204030204" pitchFamily="34" charset="0"/>
              <a:cs typeface="Calibri" panose="020F0502020204030204" pitchFamily="34" charset="0"/>
            </a:endParaRPr>
          </a:p>
          <a:p>
            <a:pPr lvl="0" algn="just"/>
            <a:r>
              <a:rPr lang="en-US" sz="1100" b="1">
                <a:latin typeface="Calibri"/>
                <a:ea typeface="Calibri"/>
                <a:cs typeface="Calibri"/>
              </a:rPr>
              <a:t>Threat of Substitutes: </a:t>
            </a:r>
            <a:r>
              <a:rPr lang="en-US" sz="1100">
                <a:latin typeface="Calibri"/>
                <a:ea typeface="Calibri"/>
                <a:cs typeface="Calibri"/>
              </a:rPr>
              <a:t>We rate the threat of substitutes a 4/5 risk score. Heavyweight motorcycles are discretionary luxury products that compete with other lifestyle expenditures such as RVs, boats, and travel. For daily transportation, cars and public transit serve as practical substitutes. Among younger consumers, the growing preference for scooters, and smaller, more affordable motorcycles further increases substitute risks.</a:t>
            </a:r>
          </a:p>
          <a:p>
            <a:pPr lvl="0" algn="just"/>
            <a:endParaRPr lang="en-US" sz="1100">
              <a:latin typeface="Calibri" panose="020F0502020204030204" pitchFamily="34" charset="0"/>
              <a:ea typeface="Calibri" panose="020F0502020204030204" pitchFamily="34" charset="0"/>
              <a:cs typeface="Calibri" panose="020F0502020204030204" pitchFamily="34" charset="0"/>
            </a:endParaRPr>
          </a:p>
          <a:p>
            <a:pPr lvl="0" algn="just"/>
            <a:r>
              <a:rPr lang="en-US" sz="1100" b="1">
                <a:latin typeface="Calibri"/>
                <a:ea typeface="Calibri"/>
                <a:cs typeface="Calibri"/>
              </a:rPr>
              <a:t>Bargaining Power of Buyers: </a:t>
            </a:r>
            <a:r>
              <a:rPr lang="en-US" sz="1100">
                <a:latin typeface="Calibri"/>
                <a:ea typeface="Calibri"/>
                <a:cs typeface="Calibri"/>
              </a:rPr>
              <a:t>We rate the bargaining power of buyers a 4/5 risk score. Buyer power is high because motorcycles are usually financed, and high interest rates makes customers more price‑sensitive. With online tools, buyers can easily compare prices, promotions, and motorcycle models. Therefore, if Harley’s total cost feels too high buyers can choose alternatives from other brands that fit their budget better.</a:t>
            </a:r>
          </a:p>
          <a:p>
            <a:pPr lvl="0" algn="just"/>
            <a:endParaRPr lang="en-US" sz="1100">
              <a:latin typeface="Calibri" panose="020F0502020204030204" pitchFamily="34" charset="0"/>
              <a:ea typeface="Calibri" panose="020F0502020204030204" pitchFamily="34" charset="0"/>
              <a:cs typeface="Calibri" panose="020F0502020204030204" pitchFamily="34" charset="0"/>
            </a:endParaRPr>
          </a:p>
          <a:p>
            <a:pPr lvl="0" algn="just"/>
            <a:r>
              <a:rPr lang="en-US" sz="1100" b="1">
                <a:latin typeface="Calibri"/>
                <a:ea typeface="Calibri"/>
                <a:cs typeface="Calibri"/>
              </a:rPr>
              <a:t>Bargaining Power of Suppliers: </a:t>
            </a:r>
            <a:r>
              <a:rPr lang="en-US" sz="1100">
                <a:latin typeface="Calibri"/>
                <a:ea typeface="Calibri"/>
                <a:cs typeface="Calibri"/>
              </a:rPr>
              <a:t>We rate the bargaining power of suppliers a 3/5 risk score. Harley maintains a diversified global supplier base, which helps limit dependency on any single region or supplier. However, the company remains exposed to geopolitical conflicts, trade tensions, tariffs, and raw material price volatility. </a:t>
            </a:r>
          </a:p>
          <a:p>
            <a:pPr lvl="0" algn="just"/>
            <a:endParaRPr lang="en-US" sz="1100">
              <a:latin typeface="Calibri" panose="020F0502020204030204" pitchFamily="34" charset="0"/>
              <a:ea typeface="Calibri" panose="020F0502020204030204" pitchFamily="34" charset="0"/>
              <a:cs typeface="Calibri" panose="020F0502020204030204" pitchFamily="34" charset="0"/>
            </a:endParaRPr>
          </a:p>
          <a:p>
            <a:pPr lvl="0" algn="just"/>
            <a:r>
              <a:rPr lang="en-US" sz="1100" b="1">
                <a:latin typeface="Calibri"/>
                <a:ea typeface="Calibri"/>
                <a:cs typeface="Calibri"/>
              </a:rPr>
              <a:t>Rivalry Among Existing Competitors: </a:t>
            </a:r>
            <a:r>
              <a:rPr lang="en-US" sz="1100">
                <a:latin typeface="Calibri"/>
                <a:ea typeface="Calibri"/>
                <a:cs typeface="Calibri"/>
              </a:rPr>
              <a:t>We rate the rivalry among existing competitors a 5/5 risk score. Harley operates in a highly competitive market with other established brands like Honda, Kawasaki, and Yamaha. While Harley differentiates itself with brand loyalty and an active community competitors offer competitive pricing and meet the market demand for middleweight cruisers.</a:t>
            </a:r>
          </a:p>
          <a:p>
            <a:pPr algn="just"/>
            <a:endParaRPr lang="en-US" sz="1100" b="1"/>
          </a:p>
          <a:p>
            <a:pPr algn="just"/>
            <a:endParaRPr lang="en-US" sz="1100" kern="100">
              <a:latin typeface="Calibri" panose="020F0502020204030204" pitchFamily="34" charset="0"/>
              <a:ea typeface="Cambria" panose="02040503050406030204" pitchFamily="18" charset="0"/>
              <a:cs typeface="Calibri" panose="020F0502020204030204" pitchFamily="34" charset="0"/>
            </a:endParaRPr>
          </a:p>
        </p:txBody>
      </p:sp>
      <p:sp>
        <p:nvSpPr>
          <p:cNvPr id="1047" name="Text Box 2">
            <a:extLst>
              <a:ext uri="{FF2B5EF4-FFF2-40B4-BE49-F238E27FC236}">
                <a16:creationId xmlns:a16="http://schemas.microsoft.com/office/drawing/2014/main" id="{22C5FE46-0962-AB0A-8D7A-0D6486C4A955}"/>
              </a:ext>
            </a:extLst>
          </p:cNvPr>
          <p:cNvSpPr txBox="1">
            <a:spLocks noChangeArrowheads="1"/>
          </p:cNvSpPr>
          <p:nvPr/>
        </p:nvSpPr>
        <p:spPr bwMode="auto">
          <a:xfrm>
            <a:off x="2786218" y="6812338"/>
            <a:ext cx="4835310" cy="2970044"/>
          </a:xfrm>
          <a:prstGeom prst="rect">
            <a:avLst/>
          </a:prstGeom>
          <a:noFill/>
          <a:ln w="9525">
            <a:noFill/>
            <a:miter lim="800000"/>
            <a:headEnd/>
            <a:tailEnd/>
          </a:ln>
        </p:spPr>
        <p:txBody>
          <a:bodyPr rot="0" vert="horz" wrap="square" lIns="91440" tIns="45720" rIns="91440" bIns="45720" anchor="t" anchorCtr="0">
            <a:spAutoFit/>
          </a:bodyPr>
          <a:lstStyle/>
          <a:p>
            <a:pPr algn="just"/>
            <a:r>
              <a:rPr lang="en-US" sz="1100" b="1">
                <a:latin typeface="Calibri" panose="020F0502020204030204" pitchFamily="34" charset="0"/>
                <a:ea typeface="Calibri" panose="020F0502020204030204" pitchFamily="34" charset="0"/>
                <a:cs typeface="Calibri" panose="020F0502020204030204" pitchFamily="34" charset="0"/>
              </a:rPr>
              <a:t>[M1] Macro and Consumer Risks:</a:t>
            </a:r>
            <a:r>
              <a:rPr lang="en-US" sz="1100">
                <a:latin typeface="Calibri" panose="020F0502020204030204" pitchFamily="34" charset="0"/>
                <a:ea typeface="Calibri" panose="020F0502020204030204" pitchFamily="34" charset="0"/>
                <a:cs typeface="Calibri" panose="020F0502020204030204" pitchFamily="34" charset="0"/>
              </a:rPr>
              <a:t> Harley-Davidson is a cyclical company where rising interest rates directly impact consumer confidence. If government monetary policies favor high interest rates, financing costs for motorcycles increase, leading to a sharp decrease in demand for discretionary goods. </a:t>
            </a:r>
            <a:r>
              <a:rPr lang="en-US" sz="1100" b="1">
                <a:latin typeface="Calibri" panose="020F0502020204030204" pitchFamily="34" charset="0"/>
                <a:ea typeface="Calibri" panose="020F0502020204030204" pitchFamily="34" charset="0"/>
                <a:cs typeface="Calibri" panose="020F0502020204030204" pitchFamily="34" charset="0"/>
              </a:rPr>
              <a:t>Mitigation:</a:t>
            </a:r>
            <a:r>
              <a:rPr lang="en-US" sz="1100">
                <a:latin typeface="Calibri" panose="020F0502020204030204" pitchFamily="34" charset="0"/>
                <a:ea typeface="Calibri" panose="020F0502020204030204" pitchFamily="34" charset="0"/>
                <a:cs typeface="Calibri" panose="020F0502020204030204" pitchFamily="34" charset="0"/>
              </a:rPr>
              <a:t> Implementation of flexible financing terms through HDFS to offset high market rates for qualified buyers.</a:t>
            </a:r>
            <a:r>
              <a:rPr lang="en-US" sz="1100" b="1">
                <a:latin typeface="Calibri" panose="020F0502020204030204" pitchFamily="34" charset="0"/>
                <a:ea typeface="Calibri" panose="020F0502020204030204" pitchFamily="34" charset="0"/>
                <a:cs typeface="Calibri" panose="020F0502020204030204" pitchFamily="34" charset="0"/>
              </a:rPr>
              <a:t> </a:t>
            </a:r>
          </a:p>
          <a:p>
            <a:pPr algn="just"/>
            <a:r>
              <a:rPr lang="en-US" sz="1100" b="1">
                <a:latin typeface="Calibri" panose="020F0502020204030204" pitchFamily="34" charset="0"/>
                <a:ea typeface="Calibri" panose="020F0502020204030204" pitchFamily="34" charset="0"/>
                <a:cs typeface="Calibri" panose="020F0502020204030204" pitchFamily="34" charset="0"/>
              </a:rPr>
              <a:t>[M2] HDFS and Credit Risk:</a:t>
            </a:r>
            <a:r>
              <a:rPr lang="en-US" sz="1100">
                <a:latin typeface="Calibri" panose="020F0502020204030204" pitchFamily="34" charset="0"/>
                <a:ea typeface="Calibri" panose="020F0502020204030204" pitchFamily="34" charset="0"/>
                <a:cs typeface="Calibri" panose="020F0502020204030204" pitchFamily="34" charset="0"/>
              </a:rPr>
              <a:t> The HDFS segment depends on the company's ability to enter capital markets at competitive rates. Unemployment, inflation, and recessionary conditions can cause wholesale dealers and retail customers to fall behind on payments, leading to credit losses. </a:t>
            </a:r>
            <a:r>
              <a:rPr lang="en-US" sz="1100" b="1">
                <a:latin typeface="Calibri" panose="020F0502020204030204" pitchFamily="34" charset="0"/>
                <a:ea typeface="Calibri" panose="020F0502020204030204" pitchFamily="34" charset="0"/>
                <a:cs typeface="Calibri" panose="020F0502020204030204" pitchFamily="34" charset="0"/>
              </a:rPr>
              <a:t>Mitigation:</a:t>
            </a:r>
            <a:r>
              <a:rPr lang="en-US" sz="1100">
                <a:latin typeface="Calibri" panose="020F0502020204030204" pitchFamily="34" charset="0"/>
                <a:ea typeface="Calibri" panose="020F0502020204030204" pitchFamily="34" charset="0"/>
                <a:cs typeface="Calibri" panose="020F0502020204030204" pitchFamily="34" charset="0"/>
              </a:rPr>
              <a:t> Maintaining high credit standards for loan originations and utilizing strategies like the partnership with PIMCO to sell portions of the loan portfolio, shifting credit risk to third-party investors. </a:t>
            </a:r>
          </a:p>
          <a:p>
            <a:pPr algn="just"/>
            <a:r>
              <a:rPr lang="en-US" sz="1100" b="1">
                <a:latin typeface="Calibri" panose="020F0502020204030204" pitchFamily="34" charset="0"/>
                <a:ea typeface="Calibri" panose="020F0502020204030204" pitchFamily="34" charset="0"/>
                <a:cs typeface="Calibri" panose="020F0502020204030204" pitchFamily="34" charset="0"/>
              </a:rPr>
              <a:t>[M3] Currency Exchange Risk:</a:t>
            </a:r>
            <a:r>
              <a:rPr lang="en-US" sz="1100">
                <a:latin typeface="Calibri" panose="020F0502020204030204" pitchFamily="34" charset="0"/>
                <a:ea typeface="Calibri" panose="020F0502020204030204" pitchFamily="34" charset="0"/>
                <a:cs typeface="Calibri" panose="020F0502020204030204" pitchFamily="34" charset="0"/>
              </a:rPr>
              <a:t> Significant exposure exists when foreign currencies fluctuate against the U.S. This volatility directly impacts international revenue and manufacturing margins.</a:t>
            </a:r>
            <a:r>
              <a:rPr lang="en-US" sz="1100" b="1">
                <a:latin typeface="Calibri" panose="020F0502020204030204" pitchFamily="34" charset="0"/>
                <a:ea typeface="Calibri" panose="020F0502020204030204" pitchFamily="34" charset="0"/>
                <a:cs typeface="Calibri" panose="020F0502020204030204" pitchFamily="34" charset="0"/>
              </a:rPr>
              <a:t> Mitigation:</a:t>
            </a:r>
            <a:r>
              <a:rPr lang="en-US" sz="1100">
                <a:latin typeface="Calibri" panose="020F0502020204030204" pitchFamily="34" charset="0"/>
                <a:ea typeface="Calibri" panose="020F0502020204030204" pitchFamily="34" charset="0"/>
                <a:cs typeface="Calibri" panose="020F0502020204030204" pitchFamily="34" charset="0"/>
              </a:rPr>
              <a:t> Increasing local-currency sourcing.</a:t>
            </a:r>
          </a:p>
          <a:p>
            <a:pPr algn="just"/>
            <a:endParaRPr lang="en-US" sz="1100"/>
          </a:p>
        </p:txBody>
      </p:sp>
      <p:sp>
        <p:nvSpPr>
          <p:cNvPr id="1048" name="TextBox 1047">
            <a:extLst>
              <a:ext uri="{FF2B5EF4-FFF2-40B4-BE49-F238E27FC236}">
                <a16:creationId xmlns:a16="http://schemas.microsoft.com/office/drawing/2014/main" id="{F80138DC-FF84-9DEA-D541-AC767C142589}"/>
              </a:ext>
            </a:extLst>
          </p:cNvPr>
          <p:cNvSpPr txBox="1"/>
          <p:nvPr/>
        </p:nvSpPr>
        <p:spPr>
          <a:xfrm>
            <a:off x="2752751" y="6598769"/>
            <a:ext cx="4791050"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Market Risks</a:t>
            </a:r>
          </a:p>
        </p:txBody>
      </p:sp>
      <p:graphicFrame>
        <p:nvGraphicFramePr>
          <p:cNvPr id="48" name="Chart 47">
            <a:extLst>
              <a:ext uri="{FF2B5EF4-FFF2-40B4-BE49-F238E27FC236}">
                <a16:creationId xmlns:a16="http://schemas.microsoft.com/office/drawing/2014/main" id="{8D062513-C86D-EC09-9660-52F6BFD376A0}"/>
              </a:ext>
            </a:extLst>
          </p:cNvPr>
          <p:cNvGraphicFramePr>
            <a:graphicFrameLocks/>
          </p:cNvGraphicFramePr>
          <p:nvPr>
            <p:extLst>
              <p:ext uri="{D42A27DB-BD31-4B8C-83A1-F6EECF244321}">
                <p14:modId xmlns:p14="http://schemas.microsoft.com/office/powerpoint/2010/main" val="2225300667"/>
              </p:ext>
            </p:extLst>
          </p:nvPr>
        </p:nvGraphicFramePr>
        <p:xfrm>
          <a:off x="124088" y="7544195"/>
          <a:ext cx="2628663" cy="2117798"/>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a:extLst>
              <a:ext uri="{FF2B5EF4-FFF2-40B4-BE49-F238E27FC236}">
                <a16:creationId xmlns:a16="http://schemas.microsoft.com/office/drawing/2014/main" id="{E46E414B-D97E-5DA3-D5AB-E1F4919ADA3C}"/>
              </a:ext>
            </a:extLst>
          </p:cNvPr>
          <p:cNvSpPr/>
          <p:nvPr/>
        </p:nvSpPr>
        <p:spPr>
          <a:xfrm>
            <a:off x="187057" y="2449834"/>
            <a:ext cx="2431238" cy="1973270"/>
          </a:xfrm>
          <a:prstGeom prst="rect">
            <a:avLst/>
          </a:prstGeom>
          <a:gradFill flip="none" rotWithShape="1">
            <a:gsLst>
              <a:gs pos="50000">
                <a:srgbClr val="FFFF00">
                  <a:lumMod val="100000"/>
                </a:srgbClr>
              </a:gs>
              <a:gs pos="0">
                <a:srgbClr val="3BB00F"/>
              </a:gs>
              <a:gs pos="100000">
                <a:srgbClr val="FF0000"/>
              </a:gs>
            </a:gsLst>
            <a:lin ang="18600000" scaled="0"/>
            <a:tileRect/>
          </a:gra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a:t>c</a:t>
            </a:r>
          </a:p>
        </p:txBody>
      </p:sp>
      <p:sp>
        <p:nvSpPr>
          <p:cNvPr id="4" name="Oval 3">
            <a:extLst>
              <a:ext uri="{FF2B5EF4-FFF2-40B4-BE49-F238E27FC236}">
                <a16:creationId xmlns:a16="http://schemas.microsoft.com/office/drawing/2014/main" id="{300EEEAC-C2B6-E962-6073-C3BFA93D2F39}"/>
              </a:ext>
            </a:extLst>
          </p:cNvPr>
          <p:cNvSpPr/>
          <p:nvPr/>
        </p:nvSpPr>
        <p:spPr>
          <a:xfrm>
            <a:off x="1630712" y="3691824"/>
            <a:ext cx="407796" cy="39537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sz="600">
                <a:solidFill>
                  <a:schemeClr val="bg1"/>
                </a:solidFill>
                <a:latin typeface="Calibri" panose="020F0502020204030204" pitchFamily="34" charset="0"/>
                <a:cs typeface="Calibri" panose="020F0502020204030204" pitchFamily="34" charset="0"/>
              </a:rPr>
              <a:t>M1</a:t>
            </a:r>
          </a:p>
        </p:txBody>
      </p:sp>
      <p:sp>
        <p:nvSpPr>
          <p:cNvPr id="6" name="Oval 5">
            <a:extLst>
              <a:ext uri="{FF2B5EF4-FFF2-40B4-BE49-F238E27FC236}">
                <a16:creationId xmlns:a16="http://schemas.microsoft.com/office/drawing/2014/main" id="{4D1F4B8E-A831-5AB8-512C-B83D18290FDB}"/>
              </a:ext>
            </a:extLst>
          </p:cNvPr>
          <p:cNvSpPr/>
          <p:nvPr/>
        </p:nvSpPr>
        <p:spPr>
          <a:xfrm>
            <a:off x="964279" y="2760758"/>
            <a:ext cx="407796" cy="39537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sz="600">
                <a:solidFill>
                  <a:schemeClr val="bg1"/>
                </a:solidFill>
                <a:latin typeface="Calibri" panose="020F0502020204030204" pitchFamily="34" charset="0"/>
                <a:cs typeface="Calibri" panose="020F0502020204030204" pitchFamily="34" charset="0"/>
              </a:rPr>
              <a:t>M3</a:t>
            </a:r>
          </a:p>
        </p:txBody>
      </p:sp>
      <p:sp>
        <p:nvSpPr>
          <p:cNvPr id="7" name="Oval 6">
            <a:extLst>
              <a:ext uri="{FF2B5EF4-FFF2-40B4-BE49-F238E27FC236}">
                <a16:creationId xmlns:a16="http://schemas.microsoft.com/office/drawing/2014/main" id="{B235164A-BFDB-9AE4-FB7A-B0250E682DFC}"/>
              </a:ext>
            </a:extLst>
          </p:cNvPr>
          <p:cNvSpPr/>
          <p:nvPr/>
        </p:nvSpPr>
        <p:spPr>
          <a:xfrm>
            <a:off x="498016" y="2713980"/>
            <a:ext cx="407796" cy="39537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sz="600">
                <a:solidFill>
                  <a:schemeClr val="bg1"/>
                </a:solidFill>
                <a:latin typeface="Calibri" panose="020F0502020204030204" pitchFamily="34" charset="0"/>
                <a:cs typeface="Calibri" panose="020F0502020204030204" pitchFamily="34" charset="0"/>
              </a:rPr>
              <a:t>M2</a:t>
            </a:r>
          </a:p>
        </p:txBody>
      </p:sp>
      <p:sp>
        <p:nvSpPr>
          <p:cNvPr id="8" name="Oval 7">
            <a:extLst>
              <a:ext uri="{FF2B5EF4-FFF2-40B4-BE49-F238E27FC236}">
                <a16:creationId xmlns:a16="http://schemas.microsoft.com/office/drawing/2014/main" id="{E02EFDE2-4876-E41C-BDD5-CEF6DE4DD4C9}"/>
              </a:ext>
            </a:extLst>
          </p:cNvPr>
          <p:cNvSpPr/>
          <p:nvPr/>
        </p:nvSpPr>
        <p:spPr>
          <a:xfrm>
            <a:off x="1876537" y="2938615"/>
            <a:ext cx="407796" cy="39537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sz="600">
                <a:solidFill>
                  <a:schemeClr val="bg1"/>
                </a:solidFill>
                <a:latin typeface="Calibri" panose="020F0502020204030204" pitchFamily="34" charset="0"/>
                <a:cs typeface="Calibri" panose="020F0502020204030204" pitchFamily="34" charset="0"/>
              </a:rPr>
              <a:t>M4</a:t>
            </a:r>
          </a:p>
        </p:txBody>
      </p:sp>
      <p:sp>
        <p:nvSpPr>
          <p:cNvPr id="10" name="Oval 9">
            <a:extLst>
              <a:ext uri="{FF2B5EF4-FFF2-40B4-BE49-F238E27FC236}">
                <a16:creationId xmlns:a16="http://schemas.microsoft.com/office/drawing/2014/main" id="{1E705160-5103-FB4B-29E5-3B2A4E45A0F3}"/>
              </a:ext>
            </a:extLst>
          </p:cNvPr>
          <p:cNvSpPr/>
          <p:nvPr/>
        </p:nvSpPr>
        <p:spPr>
          <a:xfrm>
            <a:off x="1561635" y="3230121"/>
            <a:ext cx="407796" cy="39537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sz="600">
                <a:solidFill>
                  <a:schemeClr val="bg1"/>
                </a:solidFill>
                <a:latin typeface="Calibri" panose="020F0502020204030204" pitchFamily="34" charset="0"/>
                <a:cs typeface="Calibri" panose="020F0502020204030204" pitchFamily="34" charset="0"/>
              </a:rPr>
              <a:t>O1</a:t>
            </a:r>
          </a:p>
        </p:txBody>
      </p:sp>
      <p:sp>
        <p:nvSpPr>
          <p:cNvPr id="11" name="Oval 10">
            <a:extLst>
              <a:ext uri="{FF2B5EF4-FFF2-40B4-BE49-F238E27FC236}">
                <a16:creationId xmlns:a16="http://schemas.microsoft.com/office/drawing/2014/main" id="{C3EE5ED8-5FD6-D3DC-00C4-376D4EBE254D}"/>
              </a:ext>
            </a:extLst>
          </p:cNvPr>
          <p:cNvSpPr/>
          <p:nvPr/>
        </p:nvSpPr>
        <p:spPr>
          <a:xfrm>
            <a:off x="1401796" y="2824337"/>
            <a:ext cx="407796" cy="39537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sz="600">
                <a:solidFill>
                  <a:schemeClr val="bg1"/>
                </a:solidFill>
                <a:latin typeface="Calibri" panose="020F0502020204030204" pitchFamily="34" charset="0"/>
                <a:cs typeface="Calibri" panose="020F0502020204030204" pitchFamily="34" charset="0"/>
              </a:rPr>
              <a:t>O2</a:t>
            </a:r>
          </a:p>
        </p:txBody>
      </p:sp>
      <p:sp>
        <p:nvSpPr>
          <p:cNvPr id="12" name="Oval 11">
            <a:extLst>
              <a:ext uri="{FF2B5EF4-FFF2-40B4-BE49-F238E27FC236}">
                <a16:creationId xmlns:a16="http://schemas.microsoft.com/office/drawing/2014/main" id="{6C56FA8D-16EC-3EA7-60C3-DDD83DF08582}"/>
              </a:ext>
            </a:extLst>
          </p:cNvPr>
          <p:cNvSpPr/>
          <p:nvPr/>
        </p:nvSpPr>
        <p:spPr>
          <a:xfrm>
            <a:off x="620468" y="3568542"/>
            <a:ext cx="407796" cy="39537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sz="600">
                <a:solidFill>
                  <a:schemeClr val="bg1"/>
                </a:solidFill>
                <a:latin typeface="Calibri" panose="020F0502020204030204" pitchFamily="34" charset="0"/>
                <a:cs typeface="Calibri" panose="020F0502020204030204" pitchFamily="34" charset="0"/>
              </a:rPr>
              <a:t>O3</a:t>
            </a:r>
          </a:p>
        </p:txBody>
      </p:sp>
      <p:sp>
        <p:nvSpPr>
          <p:cNvPr id="13" name="Oval 12">
            <a:extLst>
              <a:ext uri="{FF2B5EF4-FFF2-40B4-BE49-F238E27FC236}">
                <a16:creationId xmlns:a16="http://schemas.microsoft.com/office/drawing/2014/main" id="{33CE231A-12CD-883A-52FC-BCCBF7B54ADC}"/>
              </a:ext>
            </a:extLst>
          </p:cNvPr>
          <p:cNvSpPr/>
          <p:nvPr/>
        </p:nvSpPr>
        <p:spPr>
          <a:xfrm>
            <a:off x="1111912" y="3231126"/>
            <a:ext cx="407796" cy="39537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sz="600">
                <a:solidFill>
                  <a:schemeClr val="bg1"/>
                </a:solidFill>
                <a:latin typeface="Calibri" panose="020F0502020204030204" pitchFamily="34" charset="0"/>
                <a:cs typeface="Calibri" panose="020F0502020204030204" pitchFamily="34" charset="0"/>
              </a:rPr>
              <a:t>O4</a:t>
            </a:r>
          </a:p>
        </p:txBody>
      </p:sp>
      <p:sp>
        <p:nvSpPr>
          <p:cNvPr id="15" name="TextBox 14">
            <a:extLst>
              <a:ext uri="{FF2B5EF4-FFF2-40B4-BE49-F238E27FC236}">
                <a16:creationId xmlns:a16="http://schemas.microsoft.com/office/drawing/2014/main" id="{34933A30-FBCD-D6B3-0FE3-00C9C0A9AA01}"/>
              </a:ext>
            </a:extLst>
          </p:cNvPr>
          <p:cNvSpPr txBox="1"/>
          <p:nvPr/>
        </p:nvSpPr>
        <p:spPr>
          <a:xfrm>
            <a:off x="221377" y="4448851"/>
            <a:ext cx="2341776" cy="230832"/>
          </a:xfrm>
          <a:prstGeom prst="rect">
            <a:avLst/>
          </a:prstGeom>
          <a:noFill/>
        </p:spPr>
        <p:txBody>
          <a:bodyPr wrap="square" rtlCol="0">
            <a:spAutoFit/>
          </a:bodyPr>
          <a:lstStyle/>
          <a:p>
            <a:pPr algn="ctr"/>
            <a:r>
              <a:rPr lang="en-US" sz="900">
                <a:latin typeface="Calibri" panose="020F0502020204030204" pitchFamily="34" charset="0"/>
                <a:ea typeface="Calibri" panose="020F0502020204030204" pitchFamily="34" charset="0"/>
                <a:cs typeface="Calibri" panose="020F0502020204030204" pitchFamily="34" charset="0"/>
              </a:rPr>
              <a:t>Impact</a:t>
            </a:r>
          </a:p>
        </p:txBody>
      </p:sp>
      <p:sp>
        <p:nvSpPr>
          <p:cNvPr id="17" name="TextBox 16">
            <a:extLst>
              <a:ext uri="{FF2B5EF4-FFF2-40B4-BE49-F238E27FC236}">
                <a16:creationId xmlns:a16="http://schemas.microsoft.com/office/drawing/2014/main" id="{E0043AAE-9465-C39C-AD49-1B4E10E775F5}"/>
              </a:ext>
            </a:extLst>
          </p:cNvPr>
          <p:cNvSpPr txBox="1"/>
          <p:nvPr/>
        </p:nvSpPr>
        <p:spPr>
          <a:xfrm>
            <a:off x="-58768" y="2514205"/>
            <a:ext cx="323165" cy="1540375"/>
          </a:xfrm>
          <a:prstGeom prst="rect">
            <a:avLst/>
          </a:prstGeom>
          <a:noFill/>
        </p:spPr>
        <p:txBody>
          <a:bodyPr vert="vert270" wrap="square" rtlCol="0">
            <a:spAutoFit/>
          </a:bodyPr>
          <a:lstStyle/>
          <a:p>
            <a:pPr algn="ctr"/>
            <a:r>
              <a:rPr lang="en-US" sz="900">
                <a:latin typeface="Calibri" panose="020F0502020204030204" pitchFamily="34" charset="0"/>
                <a:ea typeface="Calibri" panose="020F0502020204030204" pitchFamily="34" charset="0"/>
                <a:cs typeface="Calibri" panose="020F0502020204030204" pitchFamily="34" charset="0"/>
              </a:rPr>
              <a:t>Risk</a:t>
            </a:r>
          </a:p>
        </p:txBody>
      </p:sp>
      <p:sp>
        <p:nvSpPr>
          <p:cNvPr id="18" name="TextBox 17">
            <a:extLst>
              <a:ext uri="{FF2B5EF4-FFF2-40B4-BE49-F238E27FC236}">
                <a16:creationId xmlns:a16="http://schemas.microsoft.com/office/drawing/2014/main" id="{CDC2375B-78C2-9741-0BD0-06F6E1FFA01F}"/>
              </a:ext>
            </a:extLst>
          </p:cNvPr>
          <p:cNvSpPr txBox="1"/>
          <p:nvPr/>
        </p:nvSpPr>
        <p:spPr>
          <a:xfrm>
            <a:off x="2767799" y="1061226"/>
            <a:ext cx="4792305" cy="219355"/>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Porter Five Forces</a:t>
            </a:r>
          </a:p>
        </p:txBody>
      </p:sp>
      <p:grpSp>
        <p:nvGrpSpPr>
          <p:cNvPr id="19" name="Group 18">
            <a:extLst>
              <a:ext uri="{FF2B5EF4-FFF2-40B4-BE49-F238E27FC236}">
                <a16:creationId xmlns:a16="http://schemas.microsoft.com/office/drawing/2014/main" id="{B10B32D0-E179-1C16-84C7-324DF676A143}"/>
              </a:ext>
            </a:extLst>
          </p:cNvPr>
          <p:cNvGrpSpPr/>
          <p:nvPr/>
        </p:nvGrpSpPr>
        <p:grpSpPr>
          <a:xfrm>
            <a:off x="2759916" y="324826"/>
            <a:ext cx="4861612" cy="261867"/>
            <a:chOff x="2752015" y="824960"/>
            <a:chExt cx="4947125" cy="261867"/>
          </a:xfrm>
        </p:grpSpPr>
        <p:sp>
          <p:nvSpPr>
            <p:cNvPr id="20" name="Text Box 2">
              <a:extLst>
                <a:ext uri="{FF2B5EF4-FFF2-40B4-BE49-F238E27FC236}">
                  <a16:creationId xmlns:a16="http://schemas.microsoft.com/office/drawing/2014/main" id="{51077E58-4AF0-4AA6-3FF7-7B33A92B5BA3}"/>
                </a:ext>
              </a:extLst>
            </p:cNvPr>
            <p:cNvSpPr txBox="1">
              <a:spLocks noChangeArrowheads="1"/>
            </p:cNvSpPr>
            <p:nvPr/>
          </p:nvSpPr>
          <p:spPr bwMode="auto">
            <a:xfrm>
              <a:off x="2752015" y="824960"/>
              <a:ext cx="4947125" cy="261867"/>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r>
                <a:rPr lang="en-US" sz="1600" b="1" kern="100">
                  <a:latin typeface="Calibri" panose="020F0502020204030204" pitchFamily="34" charset="0"/>
                  <a:ea typeface="Cambria" panose="02040503050406030204" pitchFamily="18" charset="0"/>
                  <a:cs typeface="Calibri" panose="020F0502020204030204" pitchFamily="34" charset="0"/>
                </a:rPr>
                <a:t>Investment Risks</a:t>
              </a:r>
            </a:p>
          </p:txBody>
        </p:sp>
        <p:cxnSp>
          <p:nvCxnSpPr>
            <p:cNvPr id="21" name="Straight Connector 20">
              <a:extLst>
                <a:ext uri="{FF2B5EF4-FFF2-40B4-BE49-F238E27FC236}">
                  <a16:creationId xmlns:a16="http://schemas.microsoft.com/office/drawing/2014/main" id="{8B58878F-EBB2-4B1F-CCFD-605722D4CC6C}"/>
                </a:ext>
              </a:extLst>
            </p:cNvPr>
            <p:cNvCxnSpPr>
              <a:cxnSpLocks/>
            </p:cNvCxnSpPr>
            <p:nvPr/>
          </p:nvCxnSpPr>
          <p:spPr>
            <a:xfrm>
              <a:off x="2778780" y="1086827"/>
              <a:ext cx="477170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83C312F7-845C-64DD-90E0-DA30193F2A93}"/>
              </a:ext>
            </a:extLst>
          </p:cNvPr>
          <p:cNvGrpSpPr/>
          <p:nvPr/>
        </p:nvGrpSpPr>
        <p:grpSpPr>
          <a:xfrm>
            <a:off x="9201" y="4651481"/>
            <a:ext cx="2924428" cy="400110"/>
            <a:chOff x="-4093" y="7195116"/>
            <a:chExt cx="2738339" cy="400110"/>
          </a:xfrm>
        </p:grpSpPr>
        <p:sp>
          <p:nvSpPr>
            <p:cNvPr id="27" name="TextBox 26">
              <a:extLst>
                <a:ext uri="{FF2B5EF4-FFF2-40B4-BE49-F238E27FC236}">
                  <a16:creationId xmlns:a16="http://schemas.microsoft.com/office/drawing/2014/main" id="{814E17B4-A13B-C028-BD18-8882B2D33C24}"/>
                </a:ext>
              </a:extLst>
            </p:cNvPr>
            <p:cNvSpPr txBox="1"/>
            <p:nvPr/>
          </p:nvSpPr>
          <p:spPr>
            <a:xfrm>
              <a:off x="-4093" y="7195116"/>
              <a:ext cx="2738339" cy="400110"/>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32: Interest Rates vs Consumer Confidence </a:t>
              </a:r>
            </a:p>
          </p:txBody>
        </p:sp>
        <p:cxnSp>
          <p:nvCxnSpPr>
            <p:cNvPr id="28" name="Straight Connector 27">
              <a:extLst>
                <a:ext uri="{FF2B5EF4-FFF2-40B4-BE49-F238E27FC236}">
                  <a16:creationId xmlns:a16="http://schemas.microsoft.com/office/drawing/2014/main" id="{921B6D31-AE61-17C7-D503-A8C32EA06CF4}"/>
                </a:ext>
              </a:extLst>
            </p:cNvPr>
            <p:cNvCxnSpPr>
              <a:cxnSpLocks/>
            </p:cNvCxnSpPr>
            <p:nvPr/>
          </p:nvCxnSpPr>
          <p:spPr>
            <a:xfrm>
              <a:off x="165539" y="7439434"/>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2B71FCFC-583A-A4FC-7BAF-2B547159F6C8}"/>
              </a:ext>
            </a:extLst>
          </p:cNvPr>
          <p:cNvGrpSpPr/>
          <p:nvPr/>
        </p:nvGrpSpPr>
        <p:grpSpPr>
          <a:xfrm>
            <a:off x="148908" y="7224429"/>
            <a:ext cx="2530592" cy="254257"/>
            <a:chOff x="85608" y="7185177"/>
            <a:chExt cx="2530592" cy="254257"/>
          </a:xfrm>
        </p:grpSpPr>
        <p:sp>
          <p:nvSpPr>
            <p:cNvPr id="30" name="TextBox 29">
              <a:extLst>
                <a:ext uri="{FF2B5EF4-FFF2-40B4-BE49-F238E27FC236}">
                  <a16:creationId xmlns:a16="http://schemas.microsoft.com/office/drawing/2014/main" id="{23D6DEB9-E5BA-2481-177A-14CA1CB8A6EC}"/>
                </a:ext>
              </a:extLst>
            </p:cNvPr>
            <p:cNvSpPr txBox="1"/>
            <p:nvPr/>
          </p:nvSpPr>
          <p:spPr>
            <a:xfrm>
              <a:off x="85608" y="7185177"/>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33: Unemployment vs HOG Revenue</a:t>
              </a:r>
            </a:p>
          </p:txBody>
        </p:sp>
        <p:cxnSp>
          <p:nvCxnSpPr>
            <p:cNvPr id="31" name="Straight Connector 30">
              <a:extLst>
                <a:ext uri="{FF2B5EF4-FFF2-40B4-BE49-F238E27FC236}">
                  <a16:creationId xmlns:a16="http://schemas.microsoft.com/office/drawing/2014/main" id="{4C3A148D-99BF-5513-5E91-C069E6435D51}"/>
                </a:ext>
              </a:extLst>
            </p:cNvPr>
            <p:cNvCxnSpPr>
              <a:cxnSpLocks/>
            </p:cNvCxnSpPr>
            <p:nvPr/>
          </p:nvCxnSpPr>
          <p:spPr>
            <a:xfrm>
              <a:off x="165539" y="7439434"/>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34" name="Straight Connector 33">
            <a:extLst>
              <a:ext uri="{FF2B5EF4-FFF2-40B4-BE49-F238E27FC236}">
                <a16:creationId xmlns:a16="http://schemas.microsoft.com/office/drawing/2014/main" id="{3AA45129-6649-9809-07D9-34EC241D79BA}"/>
              </a:ext>
            </a:extLst>
          </p:cNvPr>
          <p:cNvCxnSpPr>
            <a:cxnSpLocks/>
          </p:cNvCxnSpPr>
          <p:nvPr/>
        </p:nvCxnSpPr>
        <p:spPr>
          <a:xfrm>
            <a:off x="245856" y="2389711"/>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35" name="Chart 34">
            <a:extLst>
              <a:ext uri="{FF2B5EF4-FFF2-40B4-BE49-F238E27FC236}">
                <a16:creationId xmlns:a16="http://schemas.microsoft.com/office/drawing/2014/main" id="{3B42AF8E-0FEE-0BB8-6F60-124E23603A77}"/>
              </a:ext>
            </a:extLst>
          </p:cNvPr>
          <p:cNvGraphicFramePr>
            <a:graphicFrameLocks/>
          </p:cNvGraphicFramePr>
          <p:nvPr>
            <p:extLst>
              <p:ext uri="{D42A27DB-BD31-4B8C-83A1-F6EECF244321}">
                <p14:modId xmlns:p14="http://schemas.microsoft.com/office/powerpoint/2010/main" val="1542526750"/>
              </p:ext>
            </p:extLst>
          </p:nvPr>
        </p:nvGraphicFramePr>
        <p:xfrm>
          <a:off x="1" y="633991"/>
          <a:ext cx="2640130" cy="1615916"/>
        </p:xfrm>
        <a:graphic>
          <a:graphicData uri="http://schemas.openxmlformats.org/drawingml/2006/chart">
            <c:chart xmlns:c="http://schemas.openxmlformats.org/drawingml/2006/chart" xmlns:r="http://schemas.openxmlformats.org/officeDocument/2006/relationships" r:id="rId4"/>
          </a:graphicData>
        </a:graphic>
      </p:graphicFrame>
      <p:grpSp>
        <p:nvGrpSpPr>
          <p:cNvPr id="36" name="Group 35">
            <a:extLst>
              <a:ext uri="{FF2B5EF4-FFF2-40B4-BE49-F238E27FC236}">
                <a16:creationId xmlns:a16="http://schemas.microsoft.com/office/drawing/2014/main" id="{3604E87C-E126-0162-E337-AFDD67C851C6}"/>
              </a:ext>
            </a:extLst>
          </p:cNvPr>
          <p:cNvGrpSpPr/>
          <p:nvPr/>
        </p:nvGrpSpPr>
        <p:grpSpPr>
          <a:xfrm>
            <a:off x="206119" y="332436"/>
            <a:ext cx="2530592" cy="254257"/>
            <a:chOff x="85608" y="7185177"/>
            <a:chExt cx="2530592" cy="254257"/>
          </a:xfrm>
        </p:grpSpPr>
        <p:sp>
          <p:nvSpPr>
            <p:cNvPr id="37" name="TextBox 36">
              <a:extLst>
                <a:ext uri="{FF2B5EF4-FFF2-40B4-BE49-F238E27FC236}">
                  <a16:creationId xmlns:a16="http://schemas.microsoft.com/office/drawing/2014/main" id="{723804E9-88AB-6147-267C-3FB52C66BEEF}"/>
                </a:ext>
              </a:extLst>
            </p:cNvPr>
            <p:cNvSpPr txBox="1"/>
            <p:nvPr/>
          </p:nvSpPr>
          <p:spPr>
            <a:xfrm>
              <a:off x="85608" y="7185177"/>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30: Porter Five Forces </a:t>
              </a:r>
            </a:p>
          </p:txBody>
        </p:sp>
        <p:cxnSp>
          <p:nvCxnSpPr>
            <p:cNvPr id="38" name="Straight Connector 37">
              <a:extLst>
                <a:ext uri="{FF2B5EF4-FFF2-40B4-BE49-F238E27FC236}">
                  <a16:creationId xmlns:a16="http://schemas.microsoft.com/office/drawing/2014/main" id="{7A22E09E-CBD9-712A-433D-D4D3BC3CB699}"/>
                </a:ext>
              </a:extLst>
            </p:cNvPr>
            <p:cNvCxnSpPr>
              <a:cxnSpLocks/>
            </p:cNvCxnSpPr>
            <p:nvPr/>
          </p:nvCxnSpPr>
          <p:spPr>
            <a:xfrm>
              <a:off x="165539" y="7439434"/>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A3BDEF5A-4ADD-0E92-6D82-1B944EEDDBBF}"/>
              </a:ext>
            </a:extLst>
          </p:cNvPr>
          <p:cNvSpPr txBox="1"/>
          <p:nvPr/>
        </p:nvSpPr>
        <p:spPr>
          <a:xfrm>
            <a:off x="165925" y="2135454"/>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31: Risk Heat Map </a:t>
            </a:r>
          </a:p>
        </p:txBody>
      </p:sp>
      <p:sp>
        <p:nvSpPr>
          <p:cNvPr id="41" name="TextBox 40">
            <a:extLst>
              <a:ext uri="{FF2B5EF4-FFF2-40B4-BE49-F238E27FC236}">
                <a16:creationId xmlns:a16="http://schemas.microsoft.com/office/drawing/2014/main" id="{26D0D2E4-605C-9FB1-2439-E714B85BFF7E}"/>
              </a:ext>
            </a:extLst>
          </p:cNvPr>
          <p:cNvSpPr txBox="1"/>
          <p:nvPr/>
        </p:nvSpPr>
        <p:spPr>
          <a:xfrm>
            <a:off x="2734471" y="575406"/>
            <a:ext cx="4792716" cy="430887"/>
          </a:xfrm>
          <a:prstGeom prst="rect">
            <a:avLst/>
          </a:prstGeom>
          <a:noFill/>
        </p:spPr>
        <p:txBody>
          <a:bodyPr wrap="square">
            <a:spAutoFit/>
          </a:bodyPr>
          <a:lstStyle/>
          <a:p>
            <a:pPr algn="just"/>
            <a:r>
              <a:rPr lang="en-US" sz="1100" kern="100">
                <a:latin typeface="Calibri" panose="020F0502020204030204" pitchFamily="34" charset="0"/>
                <a:ea typeface="Cambria" panose="02040503050406030204" pitchFamily="18" charset="0"/>
                <a:cs typeface="Calibri" panose="020F0502020204030204" pitchFamily="34" charset="0"/>
              </a:rPr>
              <a:t>Harley faces several market, operational, and political risks, but through its strategic actions, a great portion of the risks posed are actively being mitigated.</a:t>
            </a:r>
            <a:endParaRPr lang="en-US" sz="1100"/>
          </a:p>
        </p:txBody>
      </p:sp>
      <p:sp>
        <p:nvSpPr>
          <p:cNvPr id="2" name="TextBox 1">
            <a:extLst>
              <a:ext uri="{FF2B5EF4-FFF2-40B4-BE49-F238E27FC236}">
                <a16:creationId xmlns:a16="http://schemas.microsoft.com/office/drawing/2014/main" id="{10F15DC0-8DB9-42A3-30EB-EBF8C3809884}"/>
              </a:ext>
            </a:extLst>
          </p:cNvPr>
          <p:cNvSpPr txBox="1"/>
          <p:nvPr/>
        </p:nvSpPr>
        <p:spPr>
          <a:xfrm>
            <a:off x="-1" y="9853219"/>
            <a:ext cx="5737835"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FactSet, HOG 2025 Q1-Q3 10-Q, FY24 10-K, 2024 DEF 14A, 2024-2025 Earnings Transcripts &amp; Presentations</a:t>
            </a:r>
          </a:p>
        </p:txBody>
      </p:sp>
      <p:graphicFrame>
        <p:nvGraphicFramePr>
          <p:cNvPr id="42" name="Chart 41">
            <a:extLst>
              <a:ext uri="{FF2B5EF4-FFF2-40B4-BE49-F238E27FC236}">
                <a16:creationId xmlns:a16="http://schemas.microsoft.com/office/drawing/2014/main" id="{35CEBD78-AE76-2C23-DDDE-1254989646B0}"/>
              </a:ext>
            </a:extLst>
          </p:cNvPr>
          <p:cNvGraphicFramePr>
            <a:graphicFrameLocks/>
          </p:cNvGraphicFramePr>
          <p:nvPr>
            <p:extLst>
              <p:ext uri="{D42A27DB-BD31-4B8C-83A1-F6EECF244321}">
                <p14:modId xmlns:p14="http://schemas.microsoft.com/office/powerpoint/2010/main" val="4148722456"/>
              </p:ext>
            </p:extLst>
          </p:nvPr>
        </p:nvGraphicFramePr>
        <p:xfrm>
          <a:off x="124088" y="4935035"/>
          <a:ext cx="2516043" cy="222233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03511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4C44A-FFAB-97A8-B303-A32C049E1D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72BC53D-7F51-DF6A-D383-42819C7D3C06}"/>
              </a:ext>
            </a:extLst>
          </p:cNvPr>
          <p:cNvSpPr txBox="1"/>
          <p:nvPr/>
        </p:nvSpPr>
        <p:spPr>
          <a:xfrm>
            <a:off x="7459029" y="9817023"/>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9</a:t>
            </a:r>
          </a:p>
        </p:txBody>
      </p:sp>
      <p:grpSp>
        <p:nvGrpSpPr>
          <p:cNvPr id="12" name="Group 11">
            <a:extLst>
              <a:ext uri="{FF2B5EF4-FFF2-40B4-BE49-F238E27FC236}">
                <a16:creationId xmlns:a16="http://schemas.microsoft.com/office/drawing/2014/main" id="{197904B9-CF1E-9FB8-FE2D-C5D74C5EA85C}"/>
              </a:ext>
            </a:extLst>
          </p:cNvPr>
          <p:cNvGrpSpPr/>
          <p:nvPr/>
        </p:nvGrpSpPr>
        <p:grpSpPr>
          <a:xfrm>
            <a:off x="-442273" y="2077986"/>
            <a:ext cx="3134753" cy="36200458"/>
            <a:chOff x="-543575" y="7217821"/>
            <a:chExt cx="3134753" cy="36200458"/>
          </a:xfrm>
        </p:grpSpPr>
        <p:sp>
          <p:nvSpPr>
            <p:cNvPr id="13" name="TextBox 12">
              <a:extLst>
                <a:ext uri="{FF2B5EF4-FFF2-40B4-BE49-F238E27FC236}">
                  <a16:creationId xmlns:a16="http://schemas.microsoft.com/office/drawing/2014/main" id="{B341F633-EE87-A77B-B7BF-3A13ED445F09}"/>
                </a:ext>
              </a:extLst>
            </p:cNvPr>
            <p:cNvSpPr txBox="1"/>
            <p:nvPr/>
          </p:nvSpPr>
          <p:spPr>
            <a:xfrm>
              <a:off x="60586" y="7217821"/>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35: Geographic Revenue</a:t>
              </a:r>
            </a:p>
          </p:txBody>
        </p:sp>
        <p:cxnSp>
          <p:nvCxnSpPr>
            <p:cNvPr id="15" name="Straight Connector 14">
              <a:extLst>
                <a:ext uri="{FF2B5EF4-FFF2-40B4-BE49-F238E27FC236}">
                  <a16:creationId xmlns:a16="http://schemas.microsoft.com/office/drawing/2014/main" id="{349577DB-D61E-A90A-C319-D52752C83676}"/>
                </a:ext>
              </a:extLst>
            </p:cNvPr>
            <p:cNvCxnSpPr>
              <a:cxnSpLocks/>
            </p:cNvCxnSpPr>
            <p:nvPr/>
          </p:nvCxnSpPr>
          <p:spPr>
            <a:xfrm>
              <a:off x="-543575" y="43418279"/>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6" name="Group 55">
            <a:extLst>
              <a:ext uri="{FF2B5EF4-FFF2-40B4-BE49-F238E27FC236}">
                <a16:creationId xmlns:a16="http://schemas.microsoft.com/office/drawing/2014/main" id="{49781279-0740-10C9-3C96-24B6CFA63D28}"/>
              </a:ext>
            </a:extLst>
          </p:cNvPr>
          <p:cNvGrpSpPr/>
          <p:nvPr/>
        </p:nvGrpSpPr>
        <p:grpSpPr>
          <a:xfrm>
            <a:off x="1524" y="6533643"/>
            <a:ext cx="2694077" cy="246221"/>
            <a:chOff x="85608" y="7127867"/>
            <a:chExt cx="2694077" cy="246221"/>
          </a:xfrm>
        </p:grpSpPr>
        <p:sp>
          <p:nvSpPr>
            <p:cNvPr id="57" name="TextBox 56">
              <a:extLst>
                <a:ext uri="{FF2B5EF4-FFF2-40B4-BE49-F238E27FC236}">
                  <a16:creationId xmlns:a16="http://schemas.microsoft.com/office/drawing/2014/main" id="{21756A11-857F-C9C2-9054-D52AC2407577}"/>
                </a:ext>
              </a:extLst>
            </p:cNvPr>
            <p:cNvSpPr txBox="1"/>
            <p:nvPr/>
          </p:nvSpPr>
          <p:spPr>
            <a:xfrm>
              <a:off x="85608" y="7127867"/>
              <a:ext cx="2530592" cy="246221"/>
            </a:xfrm>
            <a:prstGeom prst="rect">
              <a:avLst/>
            </a:prstGeom>
            <a:noFill/>
          </p:spPr>
          <p:txBody>
            <a:bodyPr wrap="square" lIns="91440" tIns="45720" rIns="91440" bIns="45720" rtlCol="0" anchor="t">
              <a:spAutoFit/>
            </a:bodyPr>
            <a:lstStyle/>
            <a:p>
              <a:r>
                <a:rPr lang="en-US" sz="1000" b="1">
                  <a:latin typeface="Calibri"/>
                  <a:ea typeface="Calibri"/>
                  <a:cs typeface="Calibri"/>
                </a:rPr>
                <a:t>Figure 37: Key Environmental Focus Areas</a:t>
              </a:r>
              <a:endParaRPr lang="en-US" sz="1000" b="1">
                <a:latin typeface="Calibri" panose="020F0502020204030204" pitchFamily="34" charset="0"/>
                <a:cs typeface="Calibri" panose="020F0502020204030204" pitchFamily="34" charset="0"/>
              </a:endParaRPr>
            </a:p>
          </p:txBody>
        </p:sp>
        <p:cxnSp>
          <p:nvCxnSpPr>
            <p:cNvPr id="58" name="Straight Connector 57">
              <a:extLst>
                <a:ext uri="{FF2B5EF4-FFF2-40B4-BE49-F238E27FC236}">
                  <a16:creationId xmlns:a16="http://schemas.microsoft.com/office/drawing/2014/main" id="{287603B6-F429-01E3-A4B1-F948495B6D10}"/>
                </a:ext>
              </a:extLst>
            </p:cNvPr>
            <p:cNvCxnSpPr>
              <a:cxnSpLocks/>
            </p:cNvCxnSpPr>
            <p:nvPr/>
          </p:nvCxnSpPr>
          <p:spPr>
            <a:xfrm>
              <a:off x="150246" y="7352822"/>
              <a:ext cx="2629439"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 name="Text Box 2">
            <a:extLst>
              <a:ext uri="{FF2B5EF4-FFF2-40B4-BE49-F238E27FC236}">
                <a16:creationId xmlns:a16="http://schemas.microsoft.com/office/drawing/2014/main" id="{FDBF4555-2994-2333-2C7E-6039DCE381DA}"/>
              </a:ext>
            </a:extLst>
          </p:cNvPr>
          <p:cNvSpPr txBox="1">
            <a:spLocks noChangeArrowheads="1"/>
          </p:cNvSpPr>
          <p:nvPr/>
        </p:nvSpPr>
        <p:spPr bwMode="auto">
          <a:xfrm>
            <a:off x="2832926" y="1753646"/>
            <a:ext cx="4777586" cy="3985706"/>
          </a:xfrm>
          <a:prstGeom prst="rect">
            <a:avLst/>
          </a:prstGeom>
          <a:noFill/>
          <a:ln w="9525">
            <a:noFill/>
            <a:miter lim="800000"/>
            <a:headEnd/>
            <a:tailEnd/>
          </a:ln>
        </p:spPr>
        <p:txBody>
          <a:bodyPr rot="0" vert="horz" wrap="square" lIns="91440" tIns="45720" rIns="91440" bIns="45720" anchor="t" anchorCtr="0">
            <a:spAutoFit/>
          </a:bodyPr>
          <a:lstStyle/>
          <a:p>
            <a:pPr algn="just"/>
            <a:r>
              <a:rPr lang="en-US" sz="1100" b="1">
                <a:latin typeface="Calibri" panose="020F0502020204030204" pitchFamily="34" charset="0"/>
                <a:ea typeface="Calibri" panose="020F0502020204030204" pitchFamily="34" charset="0"/>
                <a:cs typeface="Calibri" panose="020F0502020204030204" pitchFamily="34" charset="0"/>
              </a:rPr>
              <a:t>[O1] Supply Chain: </a:t>
            </a:r>
            <a:r>
              <a:rPr lang="en-US" sz="1100">
                <a:latin typeface="Calibri" panose="020F0502020204030204" pitchFamily="34" charset="0"/>
                <a:ea typeface="Calibri" panose="020F0502020204030204" pitchFamily="34" charset="0"/>
                <a:cs typeface="Calibri" panose="020F0502020204030204" pitchFamily="34" charset="0"/>
              </a:rPr>
              <a:t>International conflicts specifically the Israel-Hamas war, the Ukraine war, and the Red Sea conflict disrupt global logistics and commodity pricing. These tensions increase the cost of raw materials needed for production. </a:t>
            </a:r>
            <a:r>
              <a:rPr lang="en-US" sz="1100" b="1">
                <a:latin typeface="Calibri" panose="020F0502020204030204" pitchFamily="34" charset="0"/>
                <a:ea typeface="Calibri" panose="020F0502020204030204" pitchFamily="34" charset="0"/>
                <a:cs typeface="Calibri" panose="020F0502020204030204" pitchFamily="34" charset="0"/>
              </a:rPr>
              <a:t>Mitigation:</a:t>
            </a:r>
            <a:r>
              <a:rPr lang="en-US" sz="1100">
                <a:latin typeface="Calibri" panose="020F0502020204030204" pitchFamily="34" charset="0"/>
                <a:ea typeface="Calibri" panose="020F0502020204030204" pitchFamily="34" charset="0"/>
                <a:cs typeface="Calibri" panose="020F0502020204030204" pitchFamily="34" charset="0"/>
              </a:rPr>
              <a:t> Actively utilizing Thailand assembly plant to serve markets in Asia and non-European countries which aid in the volatile Red Sea shipping routes that are high in cost and unreliable. Harley’s diversification of the global supplier base helps buffer against geopolitical conflicts.</a:t>
            </a:r>
            <a:endParaRPr lang="en-US" sz="1100" b="1">
              <a:latin typeface="Calibri" panose="020F0502020204030204" pitchFamily="34" charset="0"/>
              <a:ea typeface="Calibri" panose="020F0502020204030204" pitchFamily="34" charset="0"/>
              <a:cs typeface="Calibri" panose="020F0502020204030204" pitchFamily="34" charset="0"/>
            </a:endParaRPr>
          </a:p>
          <a:p>
            <a:pPr algn="just"/>
            <a:r>
              <a:rPr lang="en-US" sz="1100" b="1">
                <a:latin typeface="Calibri" panose="020F0502020204030204" pitchFamily="34" charset="0"/>
                <a:ea typeface="Calibri" panose="020F0502020204030204" pitchFamily="34" charset="0"/>
                <a:cs typeface="Calibri" panose="020F0502020204030204" pitchFamily="34" charset="0"/>
              </a:rPr>
              <a:t>[O2] Trade and Tariffs:</a:t>
            </a:r>
            <a:r>
              <a:rPr lang="en-US" sz="1100">
                <a:latin typeface="Calibri" panose="020F0502020204030204" pitchFamily="34" charset="0"/>
                <a:ea typeface="Calibri" panose="020F0502020204030204" pitchFamily="34" charset="0"/>
                <a:cs typeface="Calibri" panose="020F0502020204030204" pitchFamily="34" charset="0"/>
              </a:rPr>
              <a:t> Volatile trade policies and retaliatory tariffs particularly in Europe of 50% as of April 2025 remain a primary risk in the European market.</a:t>
            </a:r>
            <a:r>
              <a:rPr lang="en-US" sz="1100" b="1">
                <a:latin typeface="Calibri" panose="020F0502020204030204" pitchFamily="34" charset="0"/>
                <a:ea typeface="Calibri" panose="020F0502020204030204" pitchFamily="34" charset="0"/>
                <a:cs typeface="Calibri" panose="020F0502020204030204" pitchFamily="34" charset="0"/>
              </a:rPr>
              <a:t> Mitigation</a:t>
            </a:r>
            <a:r>
              <a:rPr lang="en-US" sz="1100">
                <a:latin typeface="Calibri" panose="020F0502020204030204" pitchFamily="34" charset="0"/>
                <a:ea typeface="Calibri" panose="020F0502020204030204" pitchFamily="34" charset="0"/>
                <a:cs typeface="Calibri" panose="020F0502020204030204" pitchFamily="34" charset="0"/>
              </a:rPr>
              <a:t>: Establishing an assembly facility in Europe to achieve European Union origin status which will effectively eliminate the 50% retaliatory tariffs applied to U.S. exported motorcycles.</a:t>
            </a:r>
            <a:endParaRPr lang="en-US" sz="1100" b="1">
              <a:latin typeface="Calibri" panose="020F0502020204030204" pitchFamily="34" charset="0"/>
              <a:ea typeface="Calibri" panose="020F0502020204030204" pitchFamily="34" charset="0"/>
              <a:cs typeface="Calibri" panose="020F0502020204030204" pitchFamily="34" charset="0"/>
            </a:endParaRPr>
          </a:p>
          <a:p>
            <a:pPr algn="just"/>
            <a:r>
              <a:rPr lang="en-US" sz="1100" b="1">
                <a:latin typeface="Calibri" panose="020F0502020204030204" pitchFamily="34" charset="0"/>
                <a:ea typeface="Calibri" panose="020F0502020204030204" pitchFamily="34" charset="0"/>
                <a:cs typeface="Calibri" panose="020F0502020204030204" pitchFamily="34" charset="0"/>
              </a:rPr>
              <a:t>[O3] Product and Innovation (Livewire):</a:t>
            </a:r>
            <a:r>
              <a:rPr lang="en-US" sz="1100">
                <a:latin typeface="Calibri" panose="020F0502020204030204" pitchFamily="34" charset="0"/>
                <a:ea typeface="Calibri" panose="020F0502020204030204" pitchFamily="34" charset="0"/>
                <a:cs typeface="Calibri" panose="020F0502020204030204" pitchFamily="34" charset="0"/>
              </a:rPr>
              <a:t> The adoption of electric vehicles (EV) via the Livewire brand is capital-intensive with an EPS in Q3 of $-.10. Harley is still scaling, leading to persistent operating losses in this segment. </a:t>
            </a:r>
            <a:r>
              <a:rPr lang="en-US" sz="1100" b="1">
                <a:latin typeface="Calibri" panose="020F0502020204030204" pitchFamily="34" charset="0"/>
                <a:ea typeface="Calibri" panose="020F0502020204030204" pitchFamily="34" charset="0"/>
                <a:cs typeface="Calibri" panose="020F0502020204030204" pitchFamily="34" charset="0"/>
              </a:rPr>
              <a:t>Mitigation:</a:t>
            </a:r>
            <a:r>
              <a:rPr lang="en-US" sz="1100">
                <a:latin typeface="Calibri" panose="020F0502020204030204" pitchFamily="34" charset="0"/>
                <a:ea typeface="Calibri" panose="020F0502020204030204" pitchFamily="34" charset="0"/>
                <a:cs typeface="Calibri" panose="020F0502020204030204" pitchFamily="34" charset="0"/>
              </a:rPr>
              <a:t> By entering the electric scooter market Harley will diversify their electric motorcycle segment. This strategy aims to reduce capital intensity per unit while targeting the younger riders who are price-sensitive and more likely to adopt the electric scooter for commuting than for long-range touring.</a:t>
            </a:r>
            <a:endParaRPr lang="en-US" sz="1100" b="1">
              <a:latin typeface="Calibri" panose="020F0502020204030204" pitchFamily="34" charset="0"/>
              <a:ea typeface="Calibri" panose="020F0502020204030204" pitchFamily="34" charset="0"/>
              <a:cs typeface="Calibri" panose="020F0502020204030204" pitchFamily="34" charset="0"/>
            </a:endParaRPr>
          </a:p>
          <a:p>
            <a:pPr algn="just"/>
            <a:r>
              <a:rPr lang="en-US" sz="1100" b="1">
                <a:latin typeface="Calibri" panose="020F0502020204030204" pitchFamily="34" charset="0"/>
                <a:ea typeface="Calibri" panose="020F0502020204030204" pitchFamily="34" charset="0"/>
                <a:cs typeface="Calibri" panose="020F0502020204030204" pitchFamily="34" charset="0"/>
              </a:rPr>
              <a:t>[O4] Competitive Risks:</a:t>
            </a:r>
            <a:r>
              <a:rPr lang="en-US" sz="1100">
                <a:latin typeface="Calibri" panose="020F0502020204030204" pitchFamily="34" charset="0"/>
                <a:ea typeface="Calibri" panose="020F0502020204030204" pitchFamily="34" charset="0"/>
                <a:cs typeface="Calibri" panose="020F0502020204030204" pitchFamily="34" charset="0"/>
              </a:rPr>
              <a:t> Heavy dependency on heavyweight cruisers remains a risk as the market shifts towards smaller models. </a:t>
            </a:r>
            <a:r>
              <a:rPr lang="en-US" sz="1100" b="1">
                <a:latin typeface="Calibri" panose="020F0502020204030204" pitchFamily="34" charset="0"/>
                <a:ea typeface="Calibri" panose="020F0502020204030204" pitchFamily="34" charset="0"/>
                <a:cs typeface="Calibri" panose="020F0502020204030204" pitchFamily="34" charset="0"/>
              </a:rPr>
              <a:t>Mitigation:</a:t>
            </a:r>
            <a:r>
              <a:rPr lang="en-US" sz="1100">
                <a:latin typeface="Calibri" panose="020F0502020204030204" pitchFamily="34" charset="0"/>
                <a:ea typeface="Calibri" panose="020F0502020204030204" pitchFamily="34" charset="0"/>
                <a:cs typeface="Calibri" panose="020F0502020204030204" pitchFamily="34" charset="0"/>
              </a:rPr>
              <a:t> To meet market demand Harley is actively investing into smaller motorcycle through the Sprint.</a:t>
            </a:r>
            <a:endParaRPr lang="en-US" sz="1100" kern="100">
              <a:latin typeface="Calibri" panose="020F0502020204030204" pitchFamily="34" charset="0"/>
              <a:ea typeface="Calibri" panose="020F0502020204030204" pitchFamily="34" charset="0"/>
              <a:cs typeface="Calibri" panose="020F0502020204030204" pitchFamily="34" charset="0"/>
            </a:endParaRPr>
          </a:p>
          <a:p>
            <a:pPr marL="171450" indent="-171450" algn="just">
              <a:buFont typeface="Wingdings" panose="05000000000000000000" pitchFamily="2" charset="2"/>
              <a:buChar char="Ø"/>
            </a:pPr>
            <a:endParaRPr lang="en-US" sz="1100" kern="100">
              <a:latin typeface="Calibri" panose="020F0502020204030204" pitchFamily="34" charset="0"/>
              <a:ea typeface="Cambria" panose="02040503050406030204" pitchFamily="18" charset="0"/>
              <a:cs typeface="Calibri" panose="020F0502020204030204" pitchFamily="34" charset="0"/>
            </a:endParaRPr>
          </a:p>
        </p:txBody>
      </p:sp>
      <p:sp>
        <p:nvSpPr>
          <p:cNvPr id="4" name="TextBox 3">
            <a:extLst>
              <a:ext uri="{FF2B5EF4-FFF2-40B4-BE49-F238E27FC236}">
                <a16:creationId xmlns:a16="http://schemas.microsoft.com/office/drawing/2014/main" id="{25129BBB-B449-151E-9F09-9C460E9E6B91}"/>
              </a:ext>
            </a:extLst>
          </p:cNvPr>
          <p:cNvSpPr txBox="1"/>
          <p:nvPr/>
        </p:nvSpPr>
        <p:spPr>
          <a:xfrm>
            <a:off x="2832925" y="1507114"/>
            <a:ext cx="4794450" cy="224682"/>
          </a:xfrm>
          <a:prstGeom prst="rect">
            <a:avLst/>
          </a:prstGeom>
          <a:solidFill>
            <a:schemeClr val="accent2">
              <a:lumMod val="75000"/>
            </a:schemeClr>
          </a:solidFill>
          <a:ln>
            <a:solidFill>
              <a:schemeClr val="tx1"/>
            </a:solidFill>
          </a:ln>
        </p:spPr>
        <p:txBody>
          <a:bodyPr wrap="square"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Operational &amp; Political Risks</a:t>
            </a:r>
          </a:p>
        </p:txBody>
      </p:sp>
      <p:grpSp>
        <p:nvGrpSpPr>
          <p:cNvPr id="18" name="Group 17">
            <a:extLst>
              <a:ext uri="{FF2B5EF4-FFF2-40B4-BE49-F238E27FC236}">
                <a16:creationId xmlns:a16="http://schemas.microsoft.com/office/drawing/2014/main" id="{3CC0F729-D7A9-02A6-51A0-9DEBB806CC6A}"/>
              </a:ext>
            </a:extLst>
          </p:cNvPr>
          <p:cNvGrpSpPr/>
          <p:nvPr/>
        </p:nvGrpSpPr>
        <p:grpSpPr>
          <a:xfrm>
            <a:off x="83119" y="5081389"/>
            <a:ext cx="7661400" cy="4685590"/>
            <a:chOff x="27403" y="4094051"/>
            <a:chExt cx="7661400" cy="4947710"/>
          </a:xfrm>
        </p:grpSpPr>
        <p:grpSp>
          <p:nvGrpSpPr>
            <p:cNvPr id="10" name="Group 9">
              <a:extLst>
                <a:ext uri="{FF2B5EF4-FFF2-40B4-BE49-F238E27FC236}">
                  <a16:creationId xmlns:a16="http://schemas.microsoft.com/office/drawing/2014/main" id="{7DB97630-31B8-DADA-3A9A-6113F3FCBE7E}"/>
                </a:ext>
              </a:extLst>
            </p:cNvPr>
            <p:cNvGrpSpPr/>
            <p:nvPr/>
          </p:nvGrpSpPr>
          <p:grpSpPr>
            <a:xfrm>
              <a:off x="2659266" y="4094051"/>
              <a:ext cx="5029356" cy="1849159"/>
              <a:chOff x="2653517" y="-246079"/>
              <a:chExt cx="5029356" cy="1849159"/>
            </a:xfrm>
          </p:grpSpPr>
          <p:sp>
            <p:nvSpPr>
              <p:cNvPr id="11" name="TextBox 10">
                <a:extLst>
                  <a:ext uri="{FF2B5EF4-FFF2-40B4-BE49-F238E27FC236}">
                    <a16:creationId xmlns:a16="http://schemas.microsoft.com/office/drawing/2014/main" id="{49B785C8-BB7E-4A47-899A-EEC47382B7DB}"/>
                  </a:ext>
                </a:extLst>
              </p:cNvPr>
              <p:cNvSpPr txBox="1"/>
              <p:nvPr/>
            </p:nvSpPr>
            <p:spPr>
              <a:xfrm>
                <a:off x="2888423" y="1313414"/>
                <a:ext cx="4794450" cy="289666"/>
              </a:xfrm>
              <a:prstGeom prst="rect">
                <a:avLst/>
              </a:prstGeom>
              <a:solidFill>
                <a:schemeClr val="accent2">
                  <a:lumMod val="75000"/>
                </a:schemeClr>
              </a:solidFill>
              <a:ln>
                <a:solidFill>
                  <a:schemeClr val="tx1"/>
                </a:solidFill>
              </a:ln>
            </p:spPr>
            <p:txBody>
              <a:bodyPr wrap="square" lIns="91440" tIns="45720" rIns="91440" bIns="45720"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a:ea typeface="Cambria"/>
                    <a:cs typeface="Calibri"/>
                  </a:rPr>
                  <a:t>Moderate Environmental Initiatives – Score: (60.0%)</a:t>
                </a:r>
              </a:p>
            </p:txBody>
          </p:sp>
          <p:sp>
            <p:nvSpPr>
              <p:cNvPr id="14" name="Text Box 2">
                <a:extLst>
                  <a:ext uri="{FF2B5EF4-FFF2-40B4-BE49-F238E27FC236}">
                    <a16:creationId xmlns:a16="http://schemas.microsoft.com/office/drawing/2014/main" id="{0CD60C5E-382B-20F6-10AD-B084C306EADA}"/>
                  </a:ext>
                </a:extLst>
              </p:cNvPr>
              <p:cNvSpPr txBox="1">
                <a:spLocks noChangeArrowheads="1"/>
              </p:cNvSpPr>
              <p:nvPr/>
            </p:nvSpPr>
            <p:spPr bwMode="auto">
              <a:xfrm>
                <a:off x="2653517" y="-246079"/>
                <a:ext cx="4947125" cy="553998"/>
              </a:xfrm>
              <a:prstGeom prst="rect">
                <a:avLst/>
              </a:prstGeom>
              <a:noFill/>
              <a:ln w="9525">
                <a:noFill/>
                <a:miter lim="800000"/>
                <a:headEnd/>
                <a:tailEnd/>
              </a:ln>
            </p:spPr>
            <p:txBody>
              <a:bodyPr rot="0" vert="horz" wrap="square" lIns="91440" tIns="45720" rIns="91440" bIns="45720" anchor="t" anchorCtr="0">
                <a:spAutoFit/>
              </a:bodyPr>
              <a:lstStyle/>
              <a:p>
                <a:pPr algn="just">
                  <a:lnSpc>
                    <a:spcPts val="1200"/>
                  </a:lnSpc>
                  <a:spcAft>
                    <a:spcPts val="600"/>
                  </a:spcAft>
                </a:pPr>
                <a:br>
                  <a:rPr lang="en-US" sz="1100" kern="100">
                    <a:effectLst/>
                    <a:latin typeface="Calibri" panose="020F0502020204030204" pitchFamily="34" charset="0"/>
                    <a:ea typeface="Cambria" panose="02040503050406030204" pitchFamily="18" charset="0"/>
                    <a:cs typeface="Calibri" panose="020F0502020204030204" pitchFamily="34" charset="0"/>
                  </a:rPr>
                </a:br>
                <a:br>
                  <a:rPr lang="en-US" sz="1100" kern="100">
                    <a:effectLst/>
                    <a:latin typeface="Calibri" panose="020F0502020204030204" pitchFamily="34" charset="0"/>
                    <a:ea typeface="Cambria" panose="02040503050406030204" pitchFamily="18" charset="0"/>
                    <a:cs typeface="Calibri" panose="020F0502020204030204" pitchFamily="34" charset="0"/>
                  </a:rPr>
                </a:br>
                <a:endParaRPr lang="en-US" sz="1100" kern="100">
                  <a:solidFill>
                    <a:schemeClr val="bg1"/>
                  </a:solidFill>
                  <a:latin typeface="Calibri" panose="020F0502020204030204" pitchFamily="34" charset="0"/>
                  <a:ea typeface="Cambria" panose="02040503050406030204" pitchFamily="18" charset="0"/>
                  <a:cs typeface="Calibri" panose="020F0502020204030204" pitchFamily="34" charset="0"/>
                </a:endParaRPr>
              </a:p>
            </p:txBody>
          </p:sp>
        </p:grpSp>
        <p:sp>
          <p:nvSpPr>
            <p:cNvPr id="16" name="Text Box 2">
              <a:extLst>
                <a:ext uri="{FF2B5EF4-FFF2-40B4-BE49-F238E27FC236}">
                  <a16:creationId xmlns:a16="http://schemas.microsoft.com/office/drawing/2014/main" id="{D2D2D5FD-CEF0-0B08-DAD2-E5847360F3EE}"/>
                </a:ext>
              </a:extLst>
            </p:cNvPr>
            <p:cNvSpPr txBox="1"/>
            <p:nvPr/>
          </p:nvSpPr>
          <p:spPr bwMode="auto">
            <a:xfrm>
              <a:off x="2817420" y="5905567"/>
              <a:ext cx="4871383" cy="3136194"/>
            </a:xfrm>
            <a:prstGeom prst="rect">
              <a:avLst/>
            </a:prstGeom>
            <a:noFill/>
            <a:ln w="9525">
              <a:noFill/>
              <a:miter lim="800000"/>
              <a:headEnd/>
              <a:tailEnd/>
            </a:ln>
          </p:spPr>
          <p:txBody>
            <a:bodyPr rot="0" vert="horz" wrap="square" lIns="91440" tIns="45720" rIns="91440" bIns="45720" anchor="t" anchorCtr="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Harley-Davidson’s environmental profile reflects a moderate approach focused primarily on product design, lifecycle, and the expansion of electric offerings through its Livewire brand, opposed to overall emissions reduction. The Company’s most significant environmental considerations are focused on manufacturing efficiency, materials sourcing, regulatory compliance, and the development of electric motorcycles, where no significant environmental controversies or violations have been identified. While Harley-Davidson does not disclose comprehensive Scope 1–3 emissions data or formal long-term emissions reduction targets, we view this as a transparency limitation rather than a material operational risk, particularly as Livewire supports incremental reductions in emissions. The Company is not directly exposed to fossil fuel extraction activities and operates within an environment that remains manageable.</a:t>
              </a:r>
              <a:br>
                <a:rPr lang="en-US" sz="1100">
                  <a:latin typeface="Calibri" panose="020F0502020204030204" pitchFamily="34" charset="0"/>
                  <a:ea typeface="Calibri" panose="020F0502020204030204" pitchFamily="34" charset="0"/>
                  <a:cs typeface="Calibri" panose="020F0502020204030204" pitchFamily="34" charset="0"/>
                </a:rPr>
              </a:br>
              <a:r>
                <a:rPr lang="en-US" sz="1100">
                  <a:latin typeface="Calibri" panose="020F0502020204030204" pitchFamily="34" charset="0"/>
                  <a:ea typeface="Calibri" panose="020F0502020204030204" pitchFamily="34" charset="0"/>
                  <a:cs typeface="Calibri" panose="020F0502020204030204" pitchFamily="34" charset="0"/>
                </a:rPr>
                <a:t>We believe Harley-Davidson’s environmental practices, supported by Livewire’s role in lowering operational and product-related emissions, are sufficient to support ongoing operations and regulatory compliance. However, enhanced disclosure and more defined environmental targets could further improve ESG positioning.</a:t>
              </a:r>
            </a:p>
          </p:txBody>
        </p:sp>
        <p:grpSp>
          <p:nvGrpSpPr>
            <p:cNvPr id="17" name="Group 16">
              <a:extLst>
                <a:ext uri="{FF2B5EF4-FFF2-40B4-BE49-F238E27FC236}">
                  <a16:creationId xmlns:a16="http://schemas.microsoft.com/office/drawing/2014/main" id="{0AFEC054-06C4-201B-7CBF-0AC61775F6E8}"/>
                </a:ext>
              </a:extLst>
            </p:cNvPr>
            <p:cNvGrpSpPr/>
            <p:nvPr/>
          </p:nvGrpSpPr>
          <p:grpSpPr>
            <a:xfrm>
              <a:off x="27403" y="4657020"/>
              <a:ext cx="7536456" cy="276516"/>
              <a:chOff x="18680" y="2330839"/>
              <a:chExt cx="7536456" cy="276516"/>
            </a:xfrm>
          </p:grpSpPr>
          <p:sp>
            <p:nvSpPr>
              <p:cNvPr id="19" name="Text Box 2">
                <a:extLst>
                  <a:ext uri="{FF2B5EF4-FFF2-40B4-BE49-F238E27FC236}">
                    <a16:creationId xmlns:a16="http://schemas.microsoft.com/office/drawing/2014/main" id="{2230D5E7-6711-8B87-ABE3-2B69F99EFBD8}"/>
                  </a:ext>
                </a:extLst>
              </p:cNvPr>
              <p:cNvSpPr txBox="1">
                <a:spLocks noChangeArrowheads="1"/>
              </p:cNvSpPr>
              <p:nvPr/>
            </p:nvSpPr>
            <p:spPr bwMode="auto">
              <a:xfrm>
                <a:off x="18680" y="2330839"/>
                <a:ext cx="4947125" cy="276516"/>
              </a:xfrm>
              <a:prstGeom prst="rect">
                <a:avLst/>
              </a:prstGeom>
              <a:noFill/>
              <a:ln w="9525">
                <a:noFill/>
                <a:miter lim="800000"/>
                <a:headEnd/>
                <a:tailEnd/>
              </a:ln>
            </p:spPr>
            <p:txBody>
              <a:bodyPr rot="0" vert="horz" wrap="square" lIns="91440" tIns="45720" rIns="91440" bIns="45720" anchor="t" anchorCtr="0">
                <a:spAutoFit/>
              </a:bodyPr>
              <a:lstStyle/>
              <a:p>
                <a:pPr marL="0" marR="0" algn="just">
                  <a:lnSpc>
                    <a:spcPts val="1200"/>
                  </a:lnSpc>
                  <a:spcAft>
                    <a:spcPts val="600"/>
                  </a:spcAft>
                </a:pPr>
                <a:r>
                  <a:rPr lang="en-US" sz="1600" b="1" kern="100">
                    <a:latin typeface="Calibri" panose="020F0502020204030204" pitchFamily="34" charset="0"/>
                    <a:ea typeface="Cambria" panose="02040503050406030204" pitchFamily="18" charset="0"/>
                    <a:cs typeface="Calibri" panose="020F0502020204030204" pitchFamily="34" charset="0"/>
                  </a:rPr>
                  <a:t>Environmental, Social, and Governance (ESG)</a:t>
                </a:r>
              </a:p>
            </p:txBody>
          </p:sp>
          <p:cxnSp>
            <p:nvCxnSpPr>
              <p:cNvPr id="27" name="Straight Connector 26">
                <a:extLst>
                  <a:ext uri="{FF2B5EF4-FFF2-40B4-BE49-F238E27FC236}">
                    <a16:creationId xmlns:a16="http://schemas.microsoft.com/office/drawing/2014/main" id="{0DBEACCA-DEDF-BE66-A911-EB023E139DE4}"/>
                  </a:ext>
                </a:extLst>
              </p:cNvPr>
              <p:cNvCxnSpPr>
                <a:cxnSpLocks/>
              </p:cNvCxnSpPr>
              <p:nvPr/>
            </p:nvCxnSpPr>
            <p:spPr>
              <a:xfrm flipV="1">
                <a:off x="36869" y="2542634"/>
                <a:ext cx="7518267" cy="1994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7" name="TextBox 6">
            <a:extLst>
              <a:ext uri="{FF2B5EF4-FFF2-40B4-BE49-F238E27FC236}">
                <a16:creationId xmlns:a16="http://schemas.microsoft.com/office/drawing/2014/main" id="{DCDA0394-4D25-EA84-C35E-9101A3203E6C}"/>
              </a:ext>
            </a:extLst>
          </p:cNvPr>
          <p:cNvSpPr txBox="1"/>
          <p:nvPr/>
        </p:nvSpPr>
        <p:spPr>
          <a:xfrm>
            <a:off x="12156" y="5805667"/>
            <a:ext cx="7575519" cy="769441"/>
          </a:xfrm>
          <a:prstGeom prst="rect">
            <a:avLst/>
          </a:prstGeom>
          <a:noFill/>
        </p:spPr>
        <p:txBody>
          <a:bodyPr wrap="square" rtlCol="0">
            <a:spAutoFit/>
          </a:bodyPr>
          <a:lstStyle/>
          <a:p>
            <a:pPr algn="just"/>
            <a:r>
              <a:rPr lang="en-US" sz="1100">
                <a:latin typeface="Calibri" panose="020F0502020204030204" pitchFamily="34" charset="0"/>
                <a:ea typeface="Calibri" panose="020F0502020204030204" pitchFamily="34" charset="0"/>
                <a:cs typeface="Calibri" panose="020F0502020204030204" pitchFamily="34" charset="0"/>
              </a:rPr>
              <a:t>HOG scores 54.44% in ESG according to our internal framework (Appendix 11). While the Company’s environmental practices are generally sufficient to support ongoing operations, the overall score is moderated by limited disclosure depth and conservative assessments in social and governance categories rather than material operational or financial risks. We view these ESG considerations as controllable and not a constraint on Harley-Davidson’s long-term value creation or investment appeal.</a:t>
            </a: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0DCBB4F-C117-7FF7-B57C-667DB417E7DB}"/>
              </a:ext>
            </a:extLst>
          </p:cNvPr>
          <p:cNvSpPr txBox="1"/>
          <p:nvPr/>
        </p:nvSpPr>
        <p:spPr>
          <a:xfrm>
            <a:off x="-26050" y="9840106"/>
            <a:ext cx="7476947" cy="215444"/>
          </a:xfrm>
          <a:prstGeom prst="rect">
            <a:avLst/>
          </a:prstGeom>
          <a:noFill/>
        </p:spPr>
        <p:txBody>
          <a:bodyPr wrap="square" lIns="91440" tIns="45720" rIns="91440" bIns="45720" rtlCol="0" anchor="t">
            <a:spAutoFit/>
          </a:bodyPr>
          <a:lstStyle/>
          <a:p>
            <a:r>
              <a:rPr lang="en-US" sz="800" i="1">
                <a:latin typeface="Calibri"/>
                <a:ea typeface="Calibri"/>
                <a:cs typeface="Calibri"/>
              </a:rPr>
              <a:t>Sources: Motor and Wheels (2023), Harley-Davidson Inc. Form 10-K (FY 2023–2024), Form 10-Q (2024–2025), DEF 14A Proxy Statement (2025); FactSet ESG, UBS HOLT Lens</a:t>
            </a:r>
          </a:p>
        </p:txBody>
      </p:sp>
      <p:graphicFrame>
        <p:nvGraphicFramePr>
          <p:cNvPr id="40" name="Table 39">
            <a:extLst>
              <a:ext uri="{FF2B5EF4-FFF2-40B4-BE49-F238E27FC236}">
                <a16:creationId xmlns:a16="http://schemas.microsoft.com/office/drawing/2014/main" id="{A11EEB92-99BC-BFC7-B38D-84919C85B2FB}"/>
              </a:ext>
            </a:extLst>
          </p:cNvPr>
          <p:cNvGraphicFramePr>
            <a:graphicFrameLocks noGrp="1"/>
          </p:cNvGraphicFramePr>
          <p:nvPr>
            <p:custDataLst>
              <p:tags r:id="rId1"/>
            </p:custDataLst>
            <p:extLst>
              <p:ext uri="{D42A27DB-BD31-4B8C-83A1-F6EECF244321}">
                <p14:modId xmlns:p14="http://schemas.microsoft.com/office/powerpoint/2010/main" val="2290726318"/>
              </p:ext>
            </p:extLst>
          </p:nvPr>
        </p:nvGraphicFramePr>
        <p:xfrm>
          <a:off x="235450" y="4403912"/>
          <a:ext cx="2457030" cy="1028700"/>
        </p:xfrm>
        <a:graphic>
          <a:graphicData uri="http://schemas.openxmlformats.org/drawingml/2006/table">
            <a:tbl>
              <a:tblPr/>
              <a:tblGrid>
                <a:gridCol w="917060">
                  <a:extLst>
                    <a:ext uri="{9D8B030D-6E8A-4147-A177-3AD203B41FA5}">
                      <a16:colId xmlns:a16="http://schemas.microsoft.com/office/drawing/2014/main" val="2879506052"/>
                    </a:ext>
                  </a:extLst>
                </a:gridCol>
                <a:gridCol w="648864">
                  <a:extLst>
                    <a:ext uri="{9D8B030D-6E8A-4147-A177-3AD203B41FA5}">
                      <a16:colId xmlns:a16="http://schemas.microsoft.com/office/drawing/2014/main" val="695310032"/>
                    </a:ext>
                  </a:extLst>
                </a:gridCol>
                <a:gridCol w="891106">
                  <a:extLst>
                    <a:ext uri="{9D8B030D-6E8A-4147-A177-3AD203B41FA5}">
                      <a16:colId xmlns:a16="http://schemas.microsoft.com/office/drawing/2014/main" val="2864048039"/>
                    </a:ext>
                  </a:extLst>
                </a:gridCol>
              </a:tblGrid>
              <a:tr h="307267">
                <a:tc>
                  <a:txBody>
                    <a:bodyPr/>
                    <a:lstStyle/>
                    <a:p>
                      <a:pPr algn="ctr" fontAlgn="b">
                        <a:buNone/>
                      </a:pPr>
                      <a:r>
                        <a:rPr lang="en-US" sz="1100" b="1" i="0" u="none" strike="noStrike">
                          <a:solidFill>
                            <a:srgbClr val="FFFFFF"/>
                          </a:solidFill>
                          <a:effectLst/>
                          <a:latin typeface="Aptos Narrow" panose="020B0004020202020204" pitchFamily="34" charset="0"/>
                        </a:rPr>
                        <a:t> </a:t>
                      </a:r>
                    </a:p>
                  </a:txBody>
                  <a:tcPr marL="7620" marR="7620" marT="762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100" b="1" i="0" u="none" strike="noStrike">
                          <a:solidFill>
                            <a:srgbClr val="FFFFFF"/>
                          </a:solidFill>
                          <a:effectLst/>
                          <a:latin typeface="Aptos Narrow" panose="020B0004020202020204" pitchFamily="34" charset="0"/>
                        </a:rPr>
                        <a:t>Harley Prices</a:t>
                      </a:r>
                    </a:p>
                  </a:txBody>
                  <a:tcPr marL="7620" marR="7620" marT="7620"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b">
                        <a:buNone/>
                      </a:pPr>
                      <a:r>
                        <a:rPr lang="en-US" sz="1100" b="1" i="0" u="none" strike="noStrike">
                          <a:solidFill>
                            <a:srgbClr val="FFFFFF"/>
                          </a:solidFill>
                          <a:effectLst/>
                          <a:latin typeface="Aptos Narrow" panose="020B0004020202020204" pitchFamily="34" charset="0"/>
                        </a:rPr>
                        <a:t>Peer Average Prices</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1777417856"/>
                  </a:ext>
                </a:extLst>
              </a:tr>
              <a:tr h="320047">
                <a:tc>
                  <a:txBody>
                    <a:bodyPr/>
                    <a:lstStyle/>
                    <a:p>
                      <a:pPr algn="ctr" fontAlgn="b">
                        <a:buNone/>
                      </a:pPr>
                      <a:r>
                        <a:rPr lang="en-US" sz="1100" b="1" i="0" u="none" strike="noStrike">
                          <a:solidFill>
                            <a:srgbClr val="FFFFFF"/>
                          </a:solidFill>
                          <a:effectLst/>
                          <a:latin typeface="Aptos Narrow" panose="020B0004020202020204" pitchFamily="34" charset="0"/>
                        </a:rPr>
                        <a:t>Heavyweight Cruisers</a:t>
                      </a:r>
                    </a:p>
                  </a:txBody>
                  <a:tcPr marL="7620" marR="7620" marT="762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100" b="0" i="0" u="none" strike="noStrike">
                          <a:solidFill>
                            <a:srgbClr val="000000"/>
                          </a:solidFill>
                          <a:effectLst/>
                          <a:latin typeface="Aptos Narrow" panose="020B0004020202020204" pitchFamily="34" charset="0"/>
                        </a:rPr>
                        <a:t>15k - 24k</a:t>
                      </a:r>
                    </a:p>
                  </a:txBody>
                  <a:tcPr marL="7620" marR="7620" marT="7620"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tc>
                  <a:txBody>
                    <a:bodyPr/>
                    <a:lstStyle/>
                    <a:p>
                      <a:pPr algn="ctr" fontAlgn="b">
                        <a:buNone/>
                      </a:pPr>
                      <a:r>
                        <a:rPr lang="en-US" sz="1100" b="0" i="0" u="none" strike="noStrike">
                          <a:solidFill>
                            <a:srgbClr val="000000"/>
                          </a:solidFill>
                          <a:effectLst/>
                          <a:latin typeface="Aptos Narrow" panose="020B0004020202020204" pitchFamily="34" charset="0"/>
                        </a:rPr>
                        <a:t>9.5k - 17k</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1A983"/>
                      </a:solidFill>
                      <a:prstDash val="solid"/>
                      <a:round/>
                      <a:headEnd type="none" w="med" len="med"/>
                      <a:tailEnd type="none" w="med" len="med"/>
                    </a:lnB>
                    <a:solidFill>
                      <a:srgbClr val="FBE2D5"/>
                    </a:solidFill>
                  </a:tcPr>
                </a:tc>
                <a:extLst>
                  <a:ext uri="{0D108BD9-81ED-4DB2-BD59-A6C34878D82A}">
                    <a16:rowId xmlns:a16="http://schemas.microsoft.com/office/drawing/2014/main" val="2041031962"/>
                  </a:ext>
                </a:extLst>
              </a:tr>
              <a:tr h="320047">
                <a:tc>
                  <a:txBody>
                    <a:bodyPr/>
                    <a:lstStyle/>
                    <a:p>
                      <a:pPr algn="ctr" fontAlgn="b">
                        <a:buNone/>
                      </a:pPr>
                      <a:r>
                        <a:rPr lang="en-US" sz="1100" b="1" i="0" u="none" strike="noStrike">
                          <a:solidFill>
                            <a:srgbClr val="FFFFFF"/>
                          </a:solidFill>
                          <a:effectLst/>
                          <a:latin typeface="Aptos Narrow" panose="020B0004020202020204" pitchFamily="34" charset="0"/>
                        </a:rPr>
                        <a:t>Middleweight Cruisers</a:t>
                      </a:r>
                    </a:p>
                  </a:txBody>
                  <a:tcPr marL="7620" marR="7620" marT="7620" marB="0" anchor="b">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r>
                        <a:rPr lang="en-US" sz="1100" b="0" i="0" u="none" strike="noStrike">
                          <a:solidFill>
                            <a:srgbClr val="000000"/>
                          </a:solidFill>
                          <a:effectLst/>
                          <a:latin typeface="Aptos Narrow" panose="020B0004020202020204" pitchFamily="34" charset="0"/>
                        </a:rPr>
                        <a:t>8k - 14k</a:t>
                      </a:r>
                    </a:p>
                  </a:txBody>
                  <a:tcPr marL="7620" marR="7620" marT="7620" marB="0" anchor="b">
                    <a:lnL>
                      <a:noFill/>
                    </a:lnL>
                    <a:lnR w="12700" cap="flat" cmpd="sng" algn="ctr">
                      <a:solidFill>
                        <a:schemeClr val="tx1"/>
                      </a:solidFill>
                      <a:prstDash val="solid"/>
                      <a:round/>
                      <a:headEnd type="none" w="med" len="med"/>
                      <a:tailEnd type="none" w="med" len="med"/>
                    </a:lnR>
                    <a:lnT w="6350" cap="flat" cmpd="sng" algn="ctr">
                      <a:solidFill>
                        <a:srgbClr val="F1A98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6k - 11.5k</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1A98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4165239"/>
                  </a:ext>
                </a:extLst>
              </a:tr>
            </a:tbl>
          </a:graphicData>
        </a:graphic>
      </p:graphicFrame>
      <p:graphicFrame>
        <p:nvGraphicFramePr>
          <p:cNvPr id="41" name="Chart 40">
            <a:extLst>
              <a:ext uri="{FF2B5EF4-FFF2-40B4-BE49-F238E27FC236}">
                <a16:creationId xmlns:a16="http://schemas.microsoft.com/office/drawing/2014/main" id="{D88DC607-F99A-9160-9300-6713827F3922}"/>
              </a:ext>
            </a:extLst>
          </p:cNvPr>
          <p:cNvGraphicFramePr>
            <a:graphicFrameLocks/>
          </p:cNvGraphicFramePr>
          <p:nvPr>
            <p:extLst>
              <p:ext uri="{D42A27DB-BD31-4B8C-83A1-F6EECF244321}">
                <p14:modId xmlns:p14="http://schemas.microsoft.com/office/powerpoint/2010/main" val="2267989675"/>
              </p:ext>
            </p:extLst>
          </p:nvPr>
        </p:nvGraphicFramePr>
        <p:xfrm>
          <a:off x="235451" y="2291563"/>
          <a:ext cx="2438678" cy="1771860"/>
        </p:xfrm>
        <a:graphic>
          <a:graphicData uri="http://schemas.openxmlformats.org/drawingml/2006/chart">
            <c:chart xmlns:c="http://schemas.openxmlformats.org/drawingml/2006/chart" xmlns:r="http://schemas.openxmlformats.org/officeDocument/2006/relationships" r:id="rId5"/>
          </a:graphicData>
        </a:graphic>
      </p:graphicFrame>
      <p:grpSp>
        <p:nvGrpSpPr>
          <p:cNvPr id="46" name="Group 45">
            <a:extLst>
              <a:ext uri="{FF2B5EF4-FFF2-40B4-BE49-F238E27FC236}">
                <a16:creationId xmlns:a16="http://schemas.microsoft.com/office/drawing/2014/main" id="{BC1DFADF-FC99-BCC6-8301-9810D8E371E1}"/>
              </a:ext>
            </a:extLst>
          </p:cNvPr>
          <p:cNvGrpSpPr/>
          <p:nvPr/>
        </p:nvGrpSpPr>
        <p:grpSpPr>
          <a:xfrm>
            <a:off x="222936" y="4099610"/>
            <a:ext cx="2650200" cy="220841"/>
            <a:chOff x="159636" y="7203846"/>
            <a:chExt cx="2530592" cy="246221"/>
          </a:xfrm>
        </p:grpSpPr>
        <p:sp>
          <p:nvSpPr>
            <p:cNvPr id="47" name="TextBox 46">
              <a:extLst>
                <a:ext uri="{FF2B5EF4-FFF2-40B4-BE49-F238E27FC236}">
                  <a16:creationId xmlns:a16="http://schemas.microsoft.com/office/drawing/2014/main" id="{89310FB8-B003-E459-9A20-93BE02D4D0D4}"/>
                </a:ext>
              </a:extLst>
            </p:cNvPr>
            <p:cNvSpPr txBox="1"/>
            <p:nvPr/>
          </p:nvSpPr>
          <p:spPr>
            <a:xfrm>
              <a:off x="159636" y="7203846"/>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36: Harley vs Peers Price Estimate</a:t>
              </a:r>
            </a:p>
          </p:txBody>
        </p:sp>
        <p:cxnSp>
          <p:nvCxnSpPr>
            <p:cNvPr id="48" name="Straight Connector 47">
              <a:extLst>
                <a:ext uri="{FF2B5EF4-FFF2-40B4-BE49-F238E27FC236}">
                  <a16:creationId xmlns:a16="http://schemas.microsoft.com/office/drawing/2014/main" id="{A2912739-BC04-4C03-D069-40D1BC94103D}"/>
                </a:ext>
              </a:extLst>
            </p:cNvPr>
            <p:cNvCxnSpPr>
              <a:cxnSpLocks/>
            </p:cNvCxnSpPr>
            <p:nvPr/>
          </p:nvCxnSpPr>
          <p:spPr>
            <a:xfrm>
              <a:off x="165539" y="7439434"/>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8" name="TextBox 7">
            <a:extLst>
              <a:ext uri="{FF2B5EF4-FFF2-40B4-BE49-F238E27FC236}">
                <a16:creationId xmlns:a16="http://schemas.microsoft.com/office/drawing/2014/main" id="{F35FD78B-00EC-C98A-4727-5850BAB7D67A}"/>
              </a:ext>
            </a:extLst>
          </p:cNvPr>
          <p:cNvSpPr txBox="1"/>
          <p:nvPr/>
        </p:nvSpPr>
        <p:spPr>
          <a:xfrm>
            <a:off x="2837190" y="281953"/>
            <a:ext cx="4824917" cy="1107996"/>
          </a:xfrm>
          <a:prstGeom prst="rect">
            <a:avLst/>
          </a:prstGeom>
          <a:noFill/>
        </p:spPr>
        <p:txBody>
          <a:bodyPr wrap="square">
            <a:spAutoFit/>
          </a:bodyPr>
          <a:lstStyle/>
          <a:p>
            <a:pPr algn="just"/>
            <a:r>
              <a:rPr lang="en-US" sz="1100" b="1">
                <a:latin typeface="Calibri" panose="020F0502020204030204" pitchFamily="34" charset="0"/>
                <a:ea typeface="Calibri" panose="020F0502020204030204" pitchFamily="34" charset="0"/>
                <a:cs typeface="Calibri" panose="020F0502020204030204" pitchFamily="34" charset="0"/>
              </a:rPr>
              <a:t>[M4] Demographic Risks:</a:t>
            </a:r>
            <a:r>
              <a:rPr lang="en-US" sz="1100">
                <a:latin typeface="Calibri" panose="020F0502020204030204" pitchFamily="34" charset="0"/>
                <a:ea typeface="Calibri" panose="020F0502020204030204" pitchFamily="34" charset="0"/>
                <a:cs typeface="Calibri" panose="020F0502020204030204" pitchFamily="34" charset="0"/>
              </a:rPr>
              <a:t> Harley’s riders are aging out, and the brand faces pressure to reach younger riders who often have lower disposable income and different motorcycle style preferences. The high cost of heavyweight cruisers creates a barrier for the younger generation. </a:t>
            </a:r>
            <a:r>
              <a:rPr lang="en-US" sz="1100" b="1">
                <a:latin typeface="Calibri" panose="020F0502020204030204" pitchFamily="34" charset="0"/>
                <a:ea typeface="Calibri" panose="020F0502020204030204" pitchFamily="34" charset="0"/>
                <a:cs typeface="Calibri" panose="020F0502020204030204" pitchFamily="34" charset="0"/>
              </a:rPr>
              <a:t>Mitigation:</a:t>
            </a:r>
            <a:r>
              <a:rPr lang="en-US" sz="1100">
                <a:latin typeface="Calibri" panose="020F0502020204030204" pitchFamily="34" charset="0"/>
                <a:ea typeface="Calibri" panose="020F0502020204030204" pitchFamily="34" charset="0"/>
                <a:cs typeface="Calibri" panose="020F0502020204030204" pitchFamily="34" charset="0"/>
              </a:rPr>
              <a:t> Active investment into entry motorcycles through the Sprint line and expanding the electric motorcycle line will aid in attracting younger riders.</a:t>
            </a:r>
          </a:p>
        </p:txBody>
      </p:sp>
      <p:graphicFrame>
        <p:nvGraphicFramePr>
          <p:cNvPr id="20" name="Chart 19">
            <a:extLst>
              <a:ext uri="{FF2B5EF4-FFF2-40B4-BE49-F238E27FC236}">
                <a16:creationId xmlns:a16="http://schemas.microsoft.com/office/drawing/2014/main" id="{DC944554-7077-5BB8-A217-DE849820E773}"/>
              </a:ext>
            </a:extLst>
          </p:cNvPr>
          <p:cNvGraphicFramePr>
            <a:graphicFrameLocks/>
          </p:cNvGraphicFramePr>
          <p:nvPr>
            <p:extLst>
              <p:ext uri="{D42A27DB-BD31-4B8C-83A1-F6EECF244321}">
                <p14:modId xmlns:p14="http://schemas.microsoft.com/office/powerpoint/2010/main" val="4190716856"/>
              </p:ext>
            </p:extLst>
          </p:nvPr>
        </p:nvGraphicFramePr>
        <p:xfrm>
          <a:off x="228838" y="503123"/>
          <a:ext cx="2381009" cy="160613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9" name="Table 8">
            <a:extLst>
              <a:ext uri="{FF2B5EF4-FFF2-40B4-BE49-F238E27FC236}">
                <a16:creationId xmlns:a16="http://schemas.microsoft.com/office/drawing/2014/main" id="{F468BA1B-901B-BB35-9047-10565D0B76DF}"/>
              </a:ext>
            </a:extLst>
          </p:cNvPr>
          <p:cNvGraphicFramePr>
            <a:graphicFrameLocks noGrp="1"/>
          </p:cNvGraphicFramePr>
          <p:nvPr>
            <p:custDataLst>
              <p:tags r:id="rId2"/>
            </p:custDataLst>
            <p:extLst>
              <p:ext uri="{D42A27DB-BD31-4B8C-83A1-F6EECF244321}">
                <p14:modId xmlns:p14="http://schemas.microsoft.com/office/powerpoint/2010/main" val="3873854746"/>
              </p:ext>
            </p:extLst>
          </p:nvPr>
        </p:nvGraphicFramePr>
        <p:xfrm>
          <a:off x="64633" y="6816526"/>
          <a:ext cx="2641600" cy="1357819"/>
        </p:xfrm>
        <a:graphic>
          <a:graphicData uri="http://schemas.openxmlformats.org/drawingml/2006/table">
            <a:tbl>
              <a:tblPr>
                <a:tableStyleId>{5C22544A-7EE6-4342-B048-85BDC9FD1C3A}</a:tableStyleId>
              </a:tblPr>
              <a:tblGrid>
                <a:gridCol w="1855145">
                  <a:extLst>
                    <a:ext uri="{9D8B030D-6E8A-4147-A177-3AD203B41FA5}">
                      <a16:colId xmlns:a16="http://schemas.microsoft.com/office/drawing/2014/main" val="816221513"/>
                    </a:ext>
                  </a:extLst>
                </a:gridCol>
                <a:gridCol w="786455">
                  <a:extLst>
                    <a:ext uri="{9D8B030D-6E8A-4147-A177-3AD203B41FA5}">
                      <a16:colId xmlns:a16="http://schemas.microsoft.com/office/drawing/2014/main" val="3111792944"/>
                    </a:ext>
                  </a:extLst>
                </a:gridCol>
              </a:tblGrid>
              <a:tr h="261119">
                <a:tc>
                  <a:txBody>
                    <a:bodyPr/>
                    <a:lstStyle/>
                    <a:p>
                      <a:pPr algn="l" rtl="0" fontAlgn="ctr">
                        <a:buNone/>
                      </a:pPr>
                      <a:r>
                        <a:rPr lang="en-US" sz="105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Area </a:t>
                      </a:r>
                      <a:endParaRPr lang="en-US" sz="105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ctr">
                        <a:buNone/>
                      </a:pPr>
                      <a:r>
                        <a:rPr lang="en-US" sz="105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Assessment </a:t>
                      </a:r>
                      <a:endParaRPr lang="en-US" sz="105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4178124653"/>
                  </a:ext>
                </a:extLst>
              </a:tr>
              <a:tr h="261119">
                <a:tc>
                  <a:txBody>
                    <a:bodyPr/>
                    <a:lstStyle/>
                    <a:p>
                      <a:pPr algn="l" rtl="0" fontAlgn="ctr">
                        <a:buNone/>
                      </a:pPr>
                      <a:r>
                        <a:rPr lang="en-US" sz="1050" u="none" strike="noStrike">
                          <a:effectLst/>
                          <a:latin typeface="Calibri" panose="020F0502020204030204" pitchFamily="34" charset="0"/>
                          <a:ea typeface="Calibri" panose="020F0502020204030204" pitchFamily="34" charset="0"/>
                          <a:cs typeface="Calibri" panose="020F0502020204030204" pitchFamily="34" charset="0"/>
                        </a:rPr>
                        <a:t> Product Design &amp; Lifecycle </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050" u="none" strike="noStrike">
                          <a:effectLst/>
                          <a:latin typeface="Calibri" panose="020F0502020204030204" pitchFamily="34" charset="0"/>
                          <a:ea typeface="Calibri" panose="020F0502020204030204" pitchFamily="34" charset="0"/>
                          <a:cs typeface="Calibri" panose="020F0502020204030204" pitchFamily="34" charset="0"/>
                        </a:rPr>
                        <a:t>Moderate </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206776413"/>
                  </a:ext>
                </a:extLst>
              </a:tr>
              <a:tr h="261119">
                <a:tc>
                  <a:txBody>
                    <a:bodyPr/>
                    <a:lstStyle/>
                    <a:p>
                      <a:pPr algn="l" rtl="0" fontAlgn="ctr">
                        <a:buNone/>
                      </a:pPr>
                      <a:r>
                        <a:rPr lang="en-US" sz="1050" u="none" strike="noStrike">
                          <a:effectLst/>
                          <a:latin typeface="Calibri" panose="020F0502020204030204" pitchFamily="34" charset="0"/>
                          <a:ea typeface="Calibri" panose="020F0502020204030204" pitchFamily="34" charset="0"/>
                          <a:cs typeface="Calibri" panose="020F0502020204030204" pitchFamily="34" charset="0"/>
                        </a:rPr>
                        <a:t> Materials Sourcing &amp; Efficiency </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rtl="0" fontAlgn="ctr">
                        <a:buNone/>
                      </a:pPr>
                      <a:r>
                        <a:rPr lang="en-US" sz="1050" u="none" strike="noStrike">
                          <a:effectLst/>
                          <a:latin typeface="Calibri" panose="020F0502020204030204" pitchFamily="34" charset="0"/>
                          <a:ea typeface="Calibri" panose="020F0502020204030204" pitchFamily="34" charset="0"/>
                          <a:cs typeface="Calibri" panose="020F0502020204030204" pitchFamily="34" charset="0"/>
                        </a:rPr>
                        <a:t>Moderate </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5626550"/>
                  </a:ext>
                </a:extLst>
              </a:tr>
              <a:tr h="313343">
                <a:tc>
                  <a:txBody>
                    <a:bodyPr/>
                    <a:lstStyle/>
                    <a:p>
                      <a:pPr algn="l" rtl="0" fontAlgn="ctr">
                        <a:buNone/>
                      </a:pPr>
                      <a:r>
                        <a:rPr lang="en-US" sz="1050" u="none" strike="noStrike">
                          <a:effectLst/>
                          <a:latin typeface="Calibri" panose="020F0502020204030204" pitchFamily="34" charset="0"/>
                          <a:ea typeface="Calibri" panose="020F0502020204030204" pitchFamily="34" charset="0"/>
                          <a:cs typeface="Calibri" panose="020F0502020204030204" pitchFamily="34" charset="0"/>
                        </a:rPr>
                        <a:t> Emissions Transparency </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050" u="none" strike="noStrike">
                          <a:effectLst/>
                          <a:latin typeface="Calibri" panose="020F0502020204030204" pitchFamily="34" charset="0"/>
                          <a:ea typeface="Calibri" panose="020F0502020204030204" pitchFamily="34" charset="0"/>
                          <a:cs typeface="Calibri" panose="020F0502020204030204" pitchFamily="34" charset="0"/>
                        </a:rPr>
                        <a:t>Limited </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177301971"/>
                  </a:ext>
                </a:extLst>
              </a:tr>
              <a:tr h="261119">
                <a:tc>
                  <a:txBody>
                    <a:bodyPr/>
                    <a:lstStyle/>
                    <a:p>
                      <a:pPr algn="l" rtl="0" fontAlgn="ctr">
                        <a:buNone/>
                      </a:pPr>
                      <a:r>
                        <a:rPr lang="en-US" sz="1050" u="none" strike="noStrike">
                          <a:effectLst/>
                          <a:latin typeface="Calibri" panose="020F0502020204030204" pitchFamily="34" charset="0"/>
                          <a:ea typeface="Calibri" panose="020F0502020204030204" pitchFamily="34" charset="0"/>
                          <a:cs typeface="Calibri" panose="020F0502020204030204" pitchFamily="34" charset="0"/>
                        </a:rPr>
                        <a:t> Regulatory Environmental Risk </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50" u="none" strike="noStrike">
                          <a:effectLst/>
                          <a:latin typeface="Calibri" panose="020F0502020204030204" pitchFamily="34" charset="0"/>
                          <a:ea typeface="Calibri" panose="020F0502020204030204" pitchFamily="34" charset="0"/>
                          <a:cs typeface="Calibri" panose="020F0502020204030204" pitchFamily="34" charset="0"/>
                        </a:rPr>
                        <a:t>Low </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4384765"/>
                  </a:ext>
                </a:extLst>
              </a:tr>
            </a:tbl>
          </a:graphicData>
        </a:graphic>
      </p:graphicFrame>
      <p:sp>
        <p:nvSpPr>
          <p:cNvPr id="26" name="TextBox 25">
            <a:extLst>
              <a:ext uri="{FF2B5EF4-FFF2-40B4-BE49-F238E27FC236}">
                <a16:creationId xmlns:a16="http://schemas.microsoft.com/office/drawing/2014/main" id="{0596EF06-CDC5-00BE-D6F5-AF0E6BF1C969}"/>
              </a:ext>
            </a:extLst>
          </p:cNvPr>
          <p:cNvSpPr txBox="1"/>
          <p:nvPr/>
        </p:nvSpPr>
        <p:spPr>
          <a:xfrm>
            <a:off x="-21386" y="8290480"/>
            <a:ext cx="3127091" cy="1715854"/>
          </a:xfrm>
          <a:prstGeom prst="rect">
            <a:avLst/>
          </a:prstGeom>
          <a:noFill/>
        </p:spPr>
        <p:txBody>
          <a:bodyPr wrap="square" rtlCol="0">
            <a:spAutoFit/>
          </a:bodyPr>
          <a:lstStyle/>
          <a:p>
            <a:r>
              <a:rPr lang="en-US" sz="1000" b="1">
                <a:latin typeface="Calibri" panose="020F0502020204030204" pitchFamily="34" charset="0"/>
                <a:ea typeface="Calibri" panose="020F0502020204030204" pitchFamily="34" charset="0"/>
                <a:cs typeface="Calibri" panose="020F0502020204030204" pitchFamily="34" charset="0"/>
              </a:rPr>
              <a:t>Environmental Improvement Priorities (2026-2028)</a:t>
            </a:r>
          </a:p>
          <a:p>
            <a:endParaRPr lang="en-US" sz="100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000">
                <a:latin typeface="Calibri" panose="020F0502020204030204" pitchFamily="34" charset="0"/>
                <a:ea typeface="Calibri" panose="020F0502020204030204" pitchFamily="34" charset="0"/>
                <a:cs typeface="Calibri" panose="020F0502020204030204" pitchFamily="34" charset="0"/>
              </a:rPr>
              <a:t>• Expand Scope 1–3 emissions disclosure</a:t>
            </a:r>
            <a:br>
              <a:rPr lang="en-US" sz="1000">
                <a:latin typeface="Calibri" panose="020F0502020204030204" pitchFamily="34" charset="0"/>
                <a:ea typeface="Calibri" panose="020F0502020204030204" pitchFamily="34" charset="0"/>
                <a:cs typeface="Calibri" panose="020F0502020204030204" pitchFamily="34" charset="0"/>
              </a:rPr>
            </a:br>
            <a:r>
              <a:rPr lang="en-US" sz="1000">
                <a:latin typeface="Calibri" panose="020F0502020204030204" pitchFamily="34" charset="0"/>
                <a:ea typeface="Calibri" panose="020F0502020204030204" pitchFamily="34" charset="0"/>
                <a:cs typeface="Calibri" panose="020F0502020204030204" pitchFamily="34" charset="0"/>
              </a:rPr>
              <a:t>• Formalize long-term emissions reduction targets</a:t>
            </a:r>
            <a:br>
              <a:rPr lang="en-US" sz="1000">
                <a:latin typeface="Calibri" panose="020F0502020204030204" pitchFamily="34" charset="0"/>
                <a:ea typeface="Calibri" panose="020F0502020204030204" pitchFamily="34" charset="0"/>
                <a:cs typeface="Calibri" panose="020F0502020204030204" pitchFamily="34" charset="0"/>
              </a:rPr>
            </a:br>
            <a:r>
              <a:rPr lang="en-US" sz="1000">
                <a:latin typeface="Calibri" panose="020F0502020204030204" pitchFamily="34" charset="0"/>
                <a:ea typeface="Calibri" panose="020F0502020204030204" pitchFamily="34" charset="0"/>
                <a:cs typeface="Calibri" panose="020F0502020204030204" pitchFamily="34" charset="0"/>
              </a:rPr>
              <a:t>• Scale Livewire production to lower fleet emissions</a:t>
            </a:r>
            <a:br>
              <a:rPr lang="en-US" sz="1000">
                <a:latin typeface="Calibri" panose="020F0502020204030204" pitchFamily="34" charset="0"/>
                <a:ea typeface="Calibri" panose="020F0502020204030204" pitchFamily="34" charset="0"/>
                <a:cs typeface="Calibri" panose="020F0502020204030204" pitchFamily="34" charset="0"/>
              </a:rPr>
            </a:br>
            <a:r>
              <a:rPr lang="en-US" sz="1000">
                <a:latin typeface="Calibri" panose="020F0502020204030204" pitchFamily="34" charset="0"/>
                <a:ea typeface="Calibri" panose="020F0502020204030204" pitchFamily="34" charset="0"/>
                <a:cs typeface="Calibri" panose="020F0502020204030204" pitchFamily="34" charset="0"/>
              </a:rPr>
              <a:t>• Increase recycled material usage in manufacturing</a:t>
            </a:r>
            <a:br>
              <a:rPr lang="en-US" sz="1000">
                <a:latin typeface="Calibri" panose="020F0502020204030204" pitchFamily="34" charset="0"/>
                <a:ea typeface="Calibri" panose="020F0502020204030204" pitchFamily="34" charset="0"/>
                <a:cs typeface="Calibri" panose="020F0502020204030204" pitchFamily="34" charset="0"/>
              </a:rPr>
            </a:br>
            <a:r>
              <a:rPr lang="en-US" sz="1000">
                <a:latin typeface="Calibri" panose="020F0502020204030204" pitchFamily="34" charset="0"/>
                <a:ea typeface="Calibri" panose="020F0502020204030204" pitchFamily="34" charset="0"/>
                <a:cs typeface="Calibri" panose="020F0502020204030204" pitchFamily="34" charset="0"/>
              </a:rPr>
              <a:t>• Enhance supplier environmental audits</a:t>
            </a:r>
          </a:p>
          <a:p>
            <a:endParaRPr lang="en-US" sz="1050">
              <a:latin typeface="Calibri" panose="020F0502020204030204" pitchFamily="34" charset="0"/>
              <a:ea typeface="Calibri" panose="020F0502020204030204" pitchFamily="34" charset="0"/>
              <a:cs typeface="Calibri" panose="020F0502020204030204" pitchFamily="34" charset="0"/>
            </a:endParaRPr>
          </a:p>
        </p:txBody>
      </p:sp>
      <p:cxnSp>
        <p:nvCxnSpPr>
          <p:cNvPr id="21" name="Straight Connector 20">
            <a:extLst>
              <a:ext uri="{FF2B5EF4-FFF2-40B4-BE49-F238E27FC236}">
                <a16:creationId xmlns:a16="http://schemas.microsoft.com/office/drawing/2014/main" id="{600DBA58-CA6A-136A-4DBB-DF4870BC5162}"/>
              </a:ext>
            </a:extLst>
          </p:cNvPr>
          <p:cNvCxnSpPr>
            <a:cxnSpLocks/>
          </p:cNvCxnSpPr>
          <p:nvPr/>
        </p:nvCxnSpPr>
        <p:spPr>
          <a:xfrm>
            <a:off x="235450" y="2300558"/>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5D3ECCA-8409-EFD4-4179-C0CB2020DF20}"/>
              </a:ext>
            </a:extLst>
          </p:cNvPr>
          <p:cNvCxnSpPr>
            <a:cxnSpLocks/>
          </p:cNvCxnSpPr>
          <p:nvPr/>
        </p:nvCxnSpPr>
        <p:spPr>
          <a:xfrm>
            <a:off x="303398" y="512380"/>
            <a:ext cx="23707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2B736B9E-09EC-04B9-9AF8-86442C61F188}"/>
              </a:ext>
            </a:extLst>
          </p:cNvPr>
          <p:cNvSpPr txBox="1"/>
          <p:nvPr/>
        </p:nvSpPr>
        <p:spPr>
          <a:xfrm>
            <a:off x="148908" y="287447"/>
            <a:ext cx="2800980"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34: Percent of Motorcycles Owned vs Age </a:t>
            </a:r>
          </a:p>
        </p:txBody>
      </p:sp>
    </p:spTree>
    <p:extLst>
      <p:ext uri="{BB962C8B-B14F-4D97-AF65-F5344CB8AC3E}">
        <p14:creationId xmlns:p14="http://schemas.microsoft.com/office/powerpoint/2010/main" val="1118671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49761-7C98-0C13-7479-F5B6339EB7A2}"/>
            </a:ext>
          </a:extLst>
        </p:cNvPr>
        <p:cNvGrpSpPr/>
        <p:nvPr/>
      </p:nvGrpSpPr>
      <p:grpSpPr>
        <a:xfrm>
          <a:off x="0" y="0"/>
          <a:ext cx="0" cy="0"/>
          <a:chOff x="0" y="0"/>
          <a:chExt cx="0" cy="0"/>
        </a:xfrm>
      </p:grpSpPr>
      <p:sp>
        <p:nvSpPr>
          <p:cNvPr id="47" name="Text Box 2">
            <a:extLst>
              <a:ext uri="{FF2B5EF4-FFF2-40B4-BE49-F238E27FC236}">
                <a16:creationId xmlns:a16="http://schemas.microsoft.com/office/drawing/2014/main" id="{76FDB3CB-00EF-12D3-32CE-68E4CAEEE530}"/>
              </a:ext>
            </a:extLst>
          </p:cNvPr>
          <p:cNvSpPr txBox="1"/>
          <p:nvPr/>
        </p:nvSpPr>
        <p:spPr bwMode="auto">
          <a:xfrm>
            <a:off x="3111190" y="528586"/>
            <a:ext cx="4520402" cy="4493538"/>
          </a:xfrm>
          <a:prstGeom prst="rect">
            <a:avLst/>
          </a:prstGeom>
          <a:noFill/>
          <a:ln w="9525">
            <a:noFill/>
            <a:miter lim="800000"/>
            <a:headEnd/>
            <a:tailEnd/>
          </a:ln>
        </p:spPr>
        <p:txBody>
          <a:bodyPr rot="0" vert="horz" wrap="square" lIns="91440" tIns="45720" rIns="91440" bIns="45720" anchor="t" anchorCtr="0">
            <a:spAutoFit/>
          </a:bodyPr>
          <a:lstStyle/>
          <a:p>
            <a:pPr algn="just"/>
            <a:r>
              <a:rPr lang="en-US" sz="1100">
                <a:latin typeface="Calibri"/>
                <a:ea typeface="Calibri"/>
                <a:cs typeface="Calibri"/>
              </a:rPr>
              <a:t>We believe Harley-Davidson’s social profile reflects a balance of strengths and limitations. The Company demonstrates compliance to core social governance standards, including safety policies, anti-corruption measures, and the absence of material regulatory, sanctions, or human rights violations. These factors reduce social risk and support operational stability across Harley-Davidson’s workforce and supplier base.</a:t>
            </a:r>
          </a:p>
          <a:p>
            <a:pPr algn="just"/>
            <a:r>
              <a:rPr lang="en-US" sz="1100">
                <a:latin typeface="Calibri"/>
                <a:ea typeface="Calibri"/>
                <a:cs typeface="Calibri"/>
              </a:rPr>
              <a:t>At the same time, opportunities for improvement remain, particularly in leadership diversity. While women represent approximately 25% of the Board, female representation at the management level remains lower. We view this as an area for incremental progress rather than a material risk, particularly given current board refreshment and leadership development initiatives.</a:t>
            </a:r>
          </a:p>
          <a:p>
            <a:pPr algn="just"/>
            <a:endParaRPr lang="en-US" sz="1100">
              <a:latin typeface="Calibri"/>
              <a:ea typeface="Calibri"/>
              <a:cs typeface="Calibri"/>
            </a:endParaRPr>
          </a:p>
          <a:p>
            <a:pPr algn="just"/>
            <a:r>
              <a:rPr lang="en-US" sz="1100">
                <a:latin typeface="Calibri"/>
                <a:ea typeface="Calibri"/>
                <a:cs typeface="Calibri"/>
              </a:rPr>
              <a:t>Additionally, we view Harley-Davidson’s social risk profile as insulated due to the nature of its business and customer base. The Company operates in a discretionary market driven by brand, with limited exposure to high-risk labor practices, consumer data misuse, or essential service obligations that could elevate social risk for other industrial companies. As a result, social considerations are unlikely to disrupt revenue generation or operating continuity in the near to medium term.</a:t>
            </a:r>
          </a:p>
          <a:p>
            <a:pPr algn="just"/>
            <a:r>
              <a:rPr lang="en-US" sz="1100">
                <a:latin typeface="Calibri"/>
                <a:ea typeface="Calibri"/>
                <a:cs typeface="Calibri"/>
              </a:rPr>
              <a:t>As a result, we believe Harley-Davidson’s social practices are sufficient to support ongoing operations and brand strength, though continued focus on leadership diversity and talent development could enhance stakeholder alignment.</a:t>
            </a:r>
          </a:p>
          <a:p>
            <a:pPr marL="171450" indent="-171450" algn="just">
              <a:buFont typeface="Wingdings,Sans-Serif"/>
              <a:buChar char="Ø"/>
            </a:pPr>
            <a:endParaRPr lang="en-US" sz="1100">
              <a:latin typeface="Calibri"/>
              <a:ea typeface="Calibri"/>
              <a:cs typeface="Calibri"/>
            </a:endParaRPr>
          </a:p>
          <a:p>
            <a:pPr marL="171450" indent="-171450" algn="just">
              <a:buFont typeface="Wingdings,Sans-Serif"/>
              <a:buChar char="Ø"/>
            </a:pPr>
            <a:endParaRPr lang="en-US" sz="1100">
              <a:latin typeface="Calibri"/>
              <a:ea typeface="Calibri"/>
              <a:cs typeface="Calibri"/>
            </a:endParaRPr>
          </a:p>
        </p:txBody>
      </p:sp>
      <p:sp>
        <p:nvSpPr>
          <p:cNvPr id="5" name="TextBox 4">
            <a:extLst>
              <a:ext uri="{FF2B5EF4-FFF2-40B4-BE49-F238E27FC236}">
                <a16:creationId xmlns:a16="http://schemas.microsoft.com/office/drawing/2014/main" id="{FEE7F771-9C4F-601E-C698-D7F454C1F669}"/>
              </a:ext>
            </a:extLst>
          </p:cNvPr>
          <p:cNvSpPr txBox="1"/>
          <p:nvPr/>
        </p:nvSpPr>
        <p:spPr>
          <a:xfrm>
            <a:off x="7436678" y="9796790"/>
            <a:ext cx="2006283" cy="261610"/>
          </a:xfrm>
          <a:prstGeom prst="rect">
            <a:avLst/>
          </a:prstGeom>
          <a:noFill/>
        </p:spPr>
        <p:txBody>
          <a:bodyPr wrap="square" lIns="91440" tIns="45720" rIns="91440" bIns="45720" rtlCol="0" anchor="t">
            <a:spAutoFit/>
          </a:bodyPr>
          <a:lstStyle/>
          <a:p>
            <a:r>
              <a:rPr lang="en-US" sz="1100">
                <a:latin typeface="Calibri"/>
                <a:ea typeface="Calibri"/>
                <a:cs typeface="Calibri"/>
              </a:rPr>
              <a:t>10</a:t>
            </a:r>
          </a:p>
        </p:txBody>
      </p:sp>
      <p:sp>
        <p:nvSpPr>
          <p:cNvPr id="2" name="TextBox 1">
            <a:extLst>
              <a:ext uri="{FF2B5EF4-FFF2-40B4-BE49-F238E27FC236}">
                <a16:creationId xmlns:a16="http://schemas.microsoft.com/office/drawing/2014/main" id="{F3E2115D-6399-7B01-0740-581875C6DFFD}"/>
              </a:ext>
            </a:extLst>
          </p:cNvPr>
          <p:cNvSpPr txBox="1"/>
          <p:nvPr/>
        </p:nvSpPr>
        <p:spPr>
          <a:xfrm>
            <a:off x="-26049" y="9840106"/>
            <a:ext cx="6162154" cy="215444"/>
          </a:xfrm>
          <a:prstGeom prst="rect">
            <a:avLst/>
          </a:prstGeom>
          <a:noFill/>
        </p:spPr>
        <p:txBody>
          <a:bodyPr wrap="square" lIns="91440" tIns="45720" rIns="91440" bIns="45720" rtlCol="0" anchor="t">
            <a:spAutoFit/>
          </a:bodyPr>
          <a:lstStyle/>
          <a:p>
            <a:r>
              <a:rPr lang="en-US" sz="800" i="1">
                <a:latin typeface="Calibri"/>
                <a:ea typeface="Calibri"/>
                <a:cs typeface="Calibri"/>
              </a:rPr>
              <a:t>Sources: Harley-Davidson Inc. Form 10-K (FY 2023–2024), Form 10-Q (2024–2025), DEF 14A Proxy Statement (2025); FactSet ESG, UBS HOLT Lens</a:t>
            </a:r>
          </a:p>
        </p:txBody>
      </p:sp>
      <p:grpSp>
        <p:nvGrpSpPr>
          <p:cNvPr id="8" name="Group 7">
            <a:extLst>
              <a:ext uri="{FF2B5EF4-FFF2-40B4-BE49-F238E27FC236}">
                <a16:creationId xmlns:a16="http://schemas.microsoft.com/office/drawing/2014/main" id="{76BE656C-EB6C-BEDA-8BDE-85EFB5AB83D0}"/>
              </a:ext>
            </a:extLst>
          </p:cNvPr>
          <p:cNvGrpSpPr/>
          <p:nvPr/>
        </p:nvGrpSpPr>
        <p:grpSpPr>
          <a:xfrm>
            <a:off x="3117224" y="4668170"/>
            <a:ext cx="4488412" cy="1811378"/>
            <a:chOff x="2679244" y="1529389"/>
            <a:chExt cx="4963114" cy="591436"/>
          </a:xfrm>
        </p:grpSpPr>
        <p:sp>
          <p:nvSpPr>
            <p:cNvPr id="31" name="TextBox 30">
              <a:extLst>
                <a:ext uri="{FF2B5EF4-FFF2-40B4-BE49-F238E27FC236}">
                  <a16:creationId xmlns:a16="http://schemas.microsoft.com/office/drawing/2014/main" id="{FD8CB998-B492-AD0E-52ED-B9F1B67DCDFE}"/>
                </a:ext>
              </a:extLst>
            </p:cNvPr>
            <p:cNvSpPr txBox="1">
              <a:spLocks/>
            </p:cNvSpPr>
            <p:nvPr/>
          </p:nvSpPr>
          <p:spPr>
            <a:xfrm>
              <a:off x="2752952" y="1529389"/>
              <a:ext cx="4845636" cy="84734"/>
            </a:xfrm>
            <a:prstGeom prst="rect">
              <a:avLst/>
            </a:prstGeom>
            <a:solidFill>
              <a:schemeClr val="accent2">
                <a:lumMod val="75000"/>
              </a:schemeClr>
            </a:solidFill>
            <a:ln>
              <a:solidFill>
                <a:schemeClr val="tx1"/>
              </a:solidFill>
            </a:ln>
          </p:spPr>
          <p:txBody>
            <a:bodyPr wrap="square" lIns="91440" tIns="45720" rIns="91440" bIns="45720" rtlCol="0" anchor="b">
              <a:spAutoFit/>
            </a:bodyPr>
            <a:lstStyle/>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Governance Overview Score: (50.0%)</a:t>
              </a:r>
            </a:p>
          </p:txBody>
        </p:sp>
        <p:sp>
          <p:nvSpPr>
            <p:cNvPr id="16" name="Text Box 2">
              <a:extLst>
                <a:ext uri="{FF2B5EF4-FFF2-40B4-BE49-F238E27FC236}">
                  <a16:creationId xmlns:a16="http://schemas.microsoft.com/office/drawing/2014/main" id="{458D1D6B-D248-64A7-0EEE-A7C62924CCA6}"/>
                </a:ext>
              </a:extLst>
            </p:cNvPr>
            <p:cNvSpPr txBox="1">
              <a:spLocks noChangeArrowheads="1"/>
            </p:cNvSpPr>
            <p:nvPr/>
          </p:nvSpPr>
          <p:spPr bwMode="auto">
            <a:xfrm>
              <a:off x="2679244" y="1720715"/>
              <a:ext cx="4963114" cy="400110"/>
            </a:xfrm>
            <a:prstGeom prst="rect">
              <a:avLst/>
            </a:prstGeom>
            <a:noFill/>
            <a:ln w="9525">
              <a:noFill/>
              <a:miter lim="800000"/>
              <a:headEnd/>
              <a:tailEnd/>
            </a:ln>
          </p:spPr>
          <p:txBody>
            <a:bodyPr rot="0" vert="horz" wrap="square" lIns="91440" tIns="45720" rIns="91440" bIns="45720" anchor="t" anchorCtr="0">
              <a:spAutoFit/>
            </a:bodyPr>
            <a:lstStyle/>
            <a:p>
              <a:pPr marR="0" lvl="0" algn="just">
                <a:lnSpc>
                  <a:spcPts val="1200"/>
                </a:lnSpc>
              </a:pPr>
              <a:endParaRPr lang="en-US" sz="1100" kern="100">
                <a:effectLst/>
                <a:latin typeface="Calibri"/>
                <a:ea typeface="Cambria"/>
                <a:cs typeface="Calibri"/>
              </a:endParaRPr>
            </a:p>
            <a:p>
              <a:pPr marL="0" marR="0" algn="just">
                <a:lnSpc>
                  <a:spcPts val="1200"/>
                </a:lnSpc>
              </a:pPr>
              <a:endParaRPr lang="en-US" sz="1100" kern="100">
                <a:latin typeface="Calibri" panose="020F0502020204030204" pitchFamily="34" charset="0"/>
                <a:ea typeface="Cambria" panose="02040503050406030204" pitchFamily="18" charset="0"/>
                <a:cs typeface="Calibri" panose="020F0502020204030204" pitchFamily="34" charset="0"/>
              </a:endParaRPr>
            </a:p>
          </p:txBody>
        </p:sp>
      </p:grpSp>
      <p:sp>
        <p:nvSpPr>
          <p:cNvPr id="9" name="TextBox 8">
            <a:extLst>
              <a:ext uri="{FF2B5EF4-FFF2-40B4-BE49-F238E27FC236}">
                <a16:creationId xmlns:a16="http://schemas.microsoft.com/office/drawing/2014/main" id="{94F6D2F0-58AF-76AF-196A-0242889405B9}"/>
              </a:ext>
            </a:extLst>
          </p:cNvPr>
          <p:cNvSpPr txBox="1"/>
          <p:nvPr/>
        </p:nvSpPr>
        <p:spPr>
          <a:xfrm>
            <a:off x="3177388" y="286029"/>
            <a:ext cx="4428247" cy="274320"/>
          </a:xfrm>
          <a:prstGeom prst="rect">
            <a:avLst/>
          </a:prstGeom>
          <a:solidFill>
            <a:schemeClr val="accent2">
              <a:lumMod val="75000"/>
            </a:schemeClr>
          </a:solidFill>
          <a:ln>
            <a:solidFill>
              <a:schemeClr val="tx1"/>
            </a:solidFill>
          </a:ln>
        </p:spPr>
        <p:txBody>
          <a:bodyPr wrap="square" lIns="91440" tIns="45720" rIns="91440" bIns="45720" rtlCol="0" anchor="b">
            <a:spAutoFit/>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a:ea typeface="Cambria"/>
                <a:cs typeface="Calibri"/>
              </a:rPr>
              <a:t>Social Initiatives  Score: (53.0%)</a:t>
            </a:r>
          </a:p>
        </p:txBody>
      </p:sp>
      <p:graphicFrame>
        <p:nvGraphicFramePr>
          <p:cNvPr id="6" name="Table 5">
            <a:extLst>
              <a:ext uri="{FF2B5EF4-FFF2-40B4-BE49-F238E27FC236}">
                <a16:creationId xmlns:a16="http://schemas.microsoft.com/office/drawing/2014/main" id="{ABA3481C-BC12-F4F2-3F74-6A0CE41DC822}"/>
              </a:ext>
            </a:extLst>
          </p:cNvPr>
          <p:cNvGraphicFramePr>
            <a:graphicFrameLocks noGrp="1"/>
          </p:cNvGraphicFramePr>
          <p:nvPr>
            <p:custDataLst>
              <p:tags r:id="rId1"/>
            </p:custDataLst>
            <p:extLst>
              <p:ext uri="{D42A27DB-BD31-4B8C-83A1-F6EECF244321}">
                <p14:modId xmlns:p14="http://schemas.microsoft.com/office/powerpoint/2010/main" val="2400189266"/>
              </p:ext>
            </p:extLst>
          </p:nvPr>
        </p:nvGraphicFramePr>
        <p:xfrm>
          <a:off x="108325" y="4959630"/>
          <a:ext cx="2995050" cy="1669146"/>
        </p:xfrm>
        <a:graphic>
          <a:graphicData uri="http://schemas.openxmlformats.org/drawingml/2006/table">
            <a:tbl>
              <a:tblPr bandRow="1">
                <a:tableStyleId>{5C22544A-7EE6-4342-B048-85BDC9FD1C3A}</a:tableStyleId>
              </a:tblPr>
              <a:tblGrid>
                <a:gridCol w="2339379">
                  <a:extLst>
                    <a:ext uri="{9D8B030D-6E8A-4147-A177-3AD203B41FA5}">
                      <a16:colId xmlns:a16="http://schemas.microsoft.com/office/drawing/2014/main" val="3544325812"/>
                    </a:ext>
                  </a:extLst>
                </a:gridCol>
                <a:gridCol w="655671">
                  <a:extLst>
                    <a:ext uri="{9D8B030D-6E8A-4147-A177-3AD203B41FA5}">
                      <a16:colId xmlns:a16="http://schemas.microsoft.com/office/drawing/2014/main" val="3645292905"/>
                    </a:ext>
                  </a:extLst>
                </a:gridCol>
              </a:tblGrid>
              <a:tr h="248355">
                <a:tc>
                  <a:txBody>
                    <a:bodyPr/>
                    <a:lstStyle/>
                    <a:p>
                      <a:pPr rtl="0" fontAlgn="base">
                        <a:lnSpc>
                          <a:spcPts val="1482"/>
                        </a:lnSpc>
                        <a:buNone/>
                      </a:pPr>
                      <a:endParaRPr lang="en-US" sz="1050" b="1">
                        <a:solidFill>
                          <a:srgbClr val="FFFFFF"/>
                        </a:solidFill>
                        <a:effectLst/>
                        <a:latin typeface="Calibri"/>
                      </a:endParaRP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rtl="0" fontAlgn="base">
                        <a:lnSpc>
                          <a:spcPts val="1133"/>
                        </a:lnSpc>
                        <a:buNone/>
                      </a:pPr>
                      <a:r>
                        <a:rPr lang="en-US" sz="1050" b="1">
                          <a:solidFill>
                            <a:srgbClr val="FFFFFF"/>
                          </a:solidFill>
                          <a:effectLst/>
                          <a:latin typeface="Calibri"/>
                        </a:rPr>
                        <a:t>Yes / No</a:t>
                      </a:r>
                      <a:r>
                        <a:rPr lang="en-US" sz="1050">
                          <a:solidFill>
                            <a:srgbClr val="FFFFFF"/>
                          </a:solidFill>
                          <a:effectLst/>
                          <a:latin typeface="Calibri"/>
                        </a:rPr>
                        <a:t>   </a:t>
                      </a:r>
                      <a:endParaRPr lang="en-US" sz="1050">
                        <a:effectLst/>
                        <a:latin typeface="Calibri"/>
                      </a:endParaRP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1856878308"/>
                  </a:ext>
                </a:extLst>
              </a:tr>
              <a:tr h="227531">
                <a:tc>
                  <a:txBody>
                    <a:bodyPr/>
                    <a:lstStyle/>
                    <a:p>
                      <a:pPr rtl="0" fontAlgn="base">
                        <a:lnSpc>
                          <a:spcPts val="1482"/>
                        </a:lnSpc>
                        <a:buNone/>
                      </a:pPr>
                      <a:r>
                        <a:rPr lang="en-US" sz="1050">
                          <a:effectLst/>
                          <a:latin typeface="Calibri"/>
                        </a:rPr>
                        <a:t> Majority Vote to Elect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solidFill>
                      <a:schemeClr val="accent2">
                        <a:lumMod val="20000"/>
                        <a:lumOff val="80000"/>
                      </a:schemeClr>
                    </a:solidFill>
                  </a:tcPr>
                </a:tc>
                <a:tc>
                  <a:txBody>
                    <a:bodyPr/>
                    <a:lstStyle/>
                    <a:p>
                      <a:pPr algn="ctr" rtl="0" fontAlgn="base">
                        <a:lnSpc>
                          <a:spcPts val="1482"/>
                        </a:lnSpc>
                        <a:buNone/>
                      </a:pPr>
                      <a:r>
                        <a:rPr lang="en-US" sz="1050">
                          <a:effectLst/>
                          <a:latin typeface="Calibri"/>
                        </a:rPr>
                        <a:t>Yes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05005084"/>
                  </a:ext>
                </a:extLst>
              </a:tr>
              <a:tr h="236832">
                <a:tc>
                  <a:txBody>
                    <a:bodyPr/>
                    <a:lstStyle/>
                    <a:p>
                      <a:pPr rtl="0" fontAlgn="base">
                        <a:lnSpc>
                          <a:spcPts val="1482"/>
                        </a:lnSpc>
                        <a:buNone/>
                      </a:pPr>
                      <a:r>
                        <a:rPr lang="en-US" sz="1050">
                          <a:effectLst/>
                          <a:latin typeface="Calibri"/>
                        </a:rPr>
                        <a:t> Directors Removed Only for Cause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rtl="0" fontAlgn="base">
                        <a:lnSpc>
                          <a:spcPts val="1482"/>
                        </a:lnSpc>
                        <a:buNone/>
                      </a:pPr>
                      <a:r>
                        <a:rPr lang="en-US" sz="1050">
                          <a:effectLst/>
                          <a:latin typeface="Calibri"/>
                        </a:rPr>
                        <a:t>No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2678894349"/>
                  </a:ext>
                </a:extLst>
              </a:tr>
              <a:tr h="250763">
                <a:tc>
                  <a:txBody>
                    <a:bodyPr/>
                    <a:lstStyle/>
                    <a:p>
                      <a:pPr marL="0" algn="l" defTabSz="777240" rtl="0" eaLnBrk="1" fontAlgn="base" latinLnBrk="0" hangingPunct="1">
                        <a:lnSpc>
                          <a:spcPts val="1482"/>
                        </a:lnSpc>
                        <a:buNone/>
                      </a:pPr>
                      <a:r>
                        <a:rPr lang="en-US" sz="1050" kern="1200">
                          <a:solidFill>
                            <a:schemeClr val="dk1"/>
                          </a:solidFill>
                          <a:effectLst/>
                          <a:latin typeface="Calibri"/>
                          <a:ea typeface="+mn-ea"/>
                          <a:cs typeface="+mn-cs"/>
                        </a:rPr>
                        <a:t> Supermajority Vote to Remove Directors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2">
                        <a:lumMod val="20000"/>
                        <a:lumOff val="80000"/>
                      </a:schemeClr>
                    </a:solidFill>
                  </a:tcPr>
                </a:tc>
                <a:tc>
                  <a:txBody>
                    <a:bodyPr/>
                    <a:lstStyle/>
                    <a:p>
                      <a:pPr marL="0" algn="ctr" defTabSz="777240" rtl="0" eaLnBrk="1" fontAlgn="base" latinLnBrk="0" hangingPunct="1">
                        <a:lnSpc>
                          <a:spcPts val="1482"/>
                        </a:lnSpc>
                        <a:buNone/>
                      </a:pPr>
                      <a:r>
                        <a:rPr lang="en-US" sz="1050" kern="1200">
                          <a:solidFill>
                            <a:schemeClr val="dk1"/>
                          </a:solidFill>
                          <a:effectLst/>
                          <a:latin typeface="Calibri"/>
                          <a:ea typeface="+mn-ea"/>
                          <a:cs typeface="+mn-cs"/>
                        </a:rPr>
                        <a:t>No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9721373"/>
                  </a:ext>
                </a:extLst>
              </a:tr>
              <a:tr h="227531">
                <a:tc>
                  <a:txBody>
                    <a:bodyPr/>
                    <a:lstStyle/>
                    <a:p>
                      <a:pPr rtl="0" fontAlgn="base">
                        <a:lnSpc>
                          <a:spcPts val="1482"/>
                        </a:lnSpc>
                        <a:buNone/>
                      </a:pPr>
                      <a:r>
                        <a:rPr lang="en-US" sz="1050">
                          <a:effectLst/>
                          <a:latin typeface="Calibri"/>
                        </a:rPr>
                        <a:t> Supermajority to Amend Charter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tc>
                  <a:txBody>
                    <a:bodyPr/>
                    <a:lstStyle/>
                    <a:p>
                      <a:pPr algn="ctr" rtl="0" fontAlgn="base">
                        <a:lnSpc>
                          <a:spcPts val="1482"/>
                        </a:lnSpc>
                        <a:buNone/>
                      </a:pPr>
                      <a:r>
                        <a:rPr lang="en-US" sz="1050">
                          <a:effectLst/>
                          <a:latin typeface="Calibri"/>
                        </a:rPr>
                        <a:t>No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3101021590"/>
                  </a:ext>
                </a:extLst>
              </a:tr>
              <a:tr h="227531">
                <a:tc>
                  <a:txBody>
                    <a:bodyPr/>
                    <a:lstStyle/>
                    <a:p>
                      <a:pPr marL="0" algn="l" defTabSz="777240" rtl="0" eaLnBrk="1" fontAlgn="base" latinLnBrk="0" hangingPunct="1">
                        <a:lnSpc>
                          <a:spcPts val="1482"/>
                        </a:lnSpc>
                        <a:buNone/>
                      </a:pPr>
                      <a:r>
                        <a:rPr lang="en-US" sz="1050" kern="1200">
                          <a:solidFill>
                            <a:schemeClr val="dk1"/>
                          </a:solidFill>
                          <a:effectLst/>
                          <a:latin typeface="Calibri"/>
                          <a:ea typeface="+mn-ea"/>
                          <a:cs typeface="+mn-cs"/>
                        </a:rPr>
                        <a:t> Supermajority to Amend Bylaws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2">
                        <a:lumMod val="20000"/>
                        <a:lumOff val="80000"/>
                      </a:schemeClr>
                    </a:solidFill>
                  </a:tcPr>
                </a:tc>
                <a:tc>
                  <a:txBody>
                    <a:bodyPr/>
                    <a:lstStyle/>
                    <a:p>
                      <a:pPr marL="0" algn="ctr" defTabSz="777240" rtl="0" eaLnBrk="1" fontAlgn="base" latinLnBrk="0" hangingPunct="1">
                        <a:lnSpc>
                          <a:spcPts val="1482"/>
                        </a:lnSpc>
                        <a:buNone/>
                      </a:pPr>
                      <a:r>
                        <a:rPr lang="en-US" sz="1050" kern="1200">
                          <a:solidFill>
                            <a:schemeClr val="dk1"/>
                          </a:solidFill>
                          <a:effectLst/>
                          <a:latin typeface="Calibri"/>
                          <a:ea typeface="+mn-ea"/>
                          <a:cs typeface="+mn-cs"/>
                        </a:rPr>
                        <a:t>No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90681031"/>
                  </a:ext>
                </a:extLst>
              </a:tr>
              <a:tr h="227531">
                <a:tc>
                  <a:txBody>
                    <a:bodyPr/>
                    <a:lstStyle/>
                    <a:p>
                      <a:pPr rtl="0" fontAlgn="base">
                        <a:lnSpc>
                          <a:spcPts val="1482"/>
                        </a:lnSpc>
                        <a:buNone/>
                      </a:pPr>
                      <a:r>
                        <a:rPr lang="en-US" sz="1050">
                          <a:effectLst/>
                          <a:latin typeface="Calibri"/>
                        </a:rPr>
                        <a:t> Proxy Access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lnSpc>
                          <a:spcPts val="1482"/>
                        </a:lnSpc>
                        <a:buNone/>
                      </a:pPr>
                      <a:r>
                        <a:rPr lang="en-US" sz="1050">
                          <a:effectLst/>
                          <a:latin typeface="Calibri"/>
                        </a:rPr>
                        <a:t>Yes   </a:t>
                      </a:r>
                    </a:p>
                  </a:txBody>
                  <a:tcPr marL="9525" marR="9525" marT="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8668469"/>
                  </a:ext>
                </a:extLst>
              </a:tr>
            </a:tbl>
          </a:graphicData>
        </a:graphic>
      </p:graphicFrame>
      <p:sp>
        <p:nvSpPr>
          <p:cNvPr id="15" name="TextBox 14">
            <a:extLst>
              <a:ext uri="{FF2B5EF4-FFF2-40B4-BE49-F238E27FC236}">
                <a16:creationId xmlns:a16="http://schemas.microsoft.com/office/drawing/2014/main" id="{871ADD31-4D20-75A6-6B19-18EBDCB8C33A}"/>
              </a:ext>
            </a:extLst>
          </p:cNvPr>
          <p:cNvSpPr txBox="1"/>
          <p:nvPr/>
        </p:nvSpPr>
        <p:spPr>
          <a:xfrm>
            <a:off x="3117166" y="4926080"/>
            <a:ext cx="4550232" cy="53399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100" kern="100">
                <a:latin typeface="Calibri"/>
                <a:ea typeface="Cambria"/>
                <a:cs typeface="Calibri"/>
              </a:rPr>
              <a:t>It's clear that Harley-Davidson maintains a shareholder-friendly governance structure with strong protections in place. The Company employs annual director elections, a majority voting standard, proxy access, and does not utilize a dual class share structure or supermajority voting provisions. Additionally, the Board is ninety percent independent and fifty percent diverse, supporting effective oversight and alignment with modern governance standards.</a:t>
            </a:r>
          </a:p>
          <a:p>
            <a:pPr algn="just"/>
            <a:endParaRPr lang="en-US" sz="1100">
              <a:latin typeface="Calibri"/>
              <a:ea typeface="Cambria"/>
              <a:cs typeface="Calibri"/>
            </a:endParaRPr>
          </a:p>
          <a:p>
            <a:pPr algn="just"/>
            <a:r>
              <a:rPr lang="en-US" sz="1100" kern="100">
                <a:latin typeface="Calibri"/>
                <a:ea typeface="Cambria"/>
                <a:cs typeface="Calibri"/>
              </a:rPr>
              <a:t>Governance risk at Harley-Davidson is primarily tied to business execution rather than weaknesses in the Company’s governance structure. Specifically, execution risk relates to management’s ability to sustain motorcycle demand in a higher interest rate environment, effectively manage pricing and inventory levels, and drive profitability through cost control and capital allocation. Recent activist involvement reflects heightened investor focus on these performance areas and leadership decisions, but we believe existing governance mechanisms provide sufficient oversight and accountability. As a result, we view governance related risk as manageable and not a barrier to long-term value creation. Therefore, Harley-Davidson’s governance framework supports long-term value creation and provides sufficient checks to lower downside risk, consistent with our recommendation. </a:t>
            </a:r>
          </a:p>
          <a:p>
            <a:pPr algn="just"/>
            <a:endParaRPr lang="en-US" sz="1100" kern="100">
              <a:latin typeface="Calibri"/>
              <a:ea typeface="Cambria"/>
              <a:cs typeface="Calibri"/>
            </a:endParaRPr>
          </a:p>
          <a:p>
            <a:pPr algn="just"/>
            <a:r>
              <a:rPr lang="en-US" sz="1100" kern="100">
                <a:latin typeface="Calibri"/>
                <a:ea typeface="Cambria"/>
                <a:cs typeface="Calibri"/>
              </a:rPr>
              <a:t>Additionally, we believe Harley-Davidson’s governance framework provides appropriate flexibility to navigate operational challenges while maintaining strategic discipline. The Board’s composition, independence, and established oversight processes support management accountability without constraining decision-making, allowing leadership to respond to evolving market conditions and investor expectations. This balance between oversight and execution reinforces our view that governance risk is limited and does not detract from the Company’s long-term value proposition.</a:t>
            </a:r>
          </a:p>
          <a:p>
            <a:pPr algn="just"/>
            <a:endParaRPr lang="en-US" sz="1100" kern="100">
              <a:latin typeface="Calibri"/>
              <a:ea typeface="Cambria"/>
              <a:cs typeface="Calibri"/>
            </a:endParaRPr>
          </a:p>
          <a:p>
            <a:pPr algn="just"/>
            <a:endParaRPr lang="en-US" sz="1100" kern="100">
              <a:latin typeface="Calibri" panose="020F0502020204030204" pitchFamily="34" charset="0"/>
              <a:ea typeface="Cambria" panose="02040503050406030204" pitchFamily="18" charset="0"/>
              <a:cs typeface="Calibri" panose="020F0502020204030204" pitchFamily="34" charset="0"/>
            </a:endParaRPr>
          </a:p>
        </p:txBody>
      </p:sp>
      <p:grpSp>
        <p:nvGrpSpPr>
          <p:cNvPr id="3" name="Group 2">
            <a:extLst>
              <a:ext uri="{FF2B5EF4-FFF2-40B4-BE49-F238E27FC236}">
                <a16:creationId xmlns:a16="http://schemas.microsoft.com/office/drawing/2014/main" id="{8F4FC2F0-2FB7-E2AD-E3FC-060B12ADE491}"/>
              </a:ext>
            </a:extLst>
          </p:cNvPr>
          <p:cNvGrpSpPr/>
          <p:nvPr/>
        </p:nvGrpSpPr>
        <p:grpSpPr>
          <a:xfrm>
            <a:off x="45740" y="71925"/>
            <a:ext cx="2530592" cy="246221"/>
            <a:chOff x="69566" y="7243329"/>
            <a:chExt cx="2530592" cy="246221"/>
          </a:xfrm>
        </p:grpSpPr>
        <p:sp>
          <p:nvSpPr>
            <p:cNvPr id="4" name="TextBox 3">
              <a:extLst>
                <a:ext uri="{FF2B5EF4-FFF2-40B4-BE49-F238E27FC236}">
                  <a16:creationId xmlns:a16="http://schemas.microsoft.com/office/drawing/2014/main" id="{104DF8DB-6A74-908F-8C58-525DC29C0078}"/>
                </a:ext>
              </a:extLst>
            </p:cNvPr>
            <p:cNvSpPr txBox="1"/>
            <p:nvPr/>
          </p:nvSpPr>
          <p:spPr>
            <a:xfrm>
              <a:off x="69566" y="7243329"/>
              <a:ext cx="2530592" cy="246221"/>
            </a:xfrm>
            <a:prstGeom prst="rect">
              <a:avLst/>
            </a:prstGeom>
            <a:noFill/>
            <a:ln>
              <a:solidFill>
                <a:schemeClr val="bg1"/>
              </a:solidFill>
            </a:ln>
          </p:spPr>
          <p:txBody>
            <a:bodyPr wrap="square" rtlCol="0">
              <a:spAutoFit/>
            </a:bodyPr>
            <a:lstStyle/>
            <a:p>
              <a:r>
                <a:rPr lang="en-US" sz="1000" b="1">
                  <a:latin typeface="Calibri" panose="020F0502020204030204" pitchFamily="34" charset="0"/>
                  <a:cs typeface="Calibri" panose="020F0502020204030204" pitchFamily="34" charset="0"/>
                </a:rPr>
                <a:t>Figure 38: Key Social Risk indicators</a:t>
              </a:r>
            </a:p>
          </p:txBody>
        </p:sp>
        <p:cxnSp>
          <p:nvCxnSpPr>
            <p:cNvPr id="7" name="Straight Connector 6">
              <a:extLst>
                <a:ext uri="{FF2B5EF4-FFF2-40B4-BE49-F238E27FC236}">
                  <a16:creationId xmlns:a16="http://schemas.microsoft.com/office/drawing/2014/main" id="{44374D78-EF8D-802F-0CA9-07F94B5CCE5D}"/>
                </a:ext>
              </a:extLst>
            </p:cNvPr>
            <p:cNvCxnSpPr>
              <a:cxnSpLocks/>
            </p:cNvCxnSpPr>
            <p:nvPr/>
          </p:nvCxnSpPr>
          <p:spPr>
            <a:xfrm>
              <a:off x="165539" y="7439434"/>
              <a:ext cx="2370731"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704ABF4D-65B4-289B-4493-BEF51EC04644}"/>
              </a:ext>
            </a:extLst>
          </p:cNvPr>
          <p:cNvGrpSpPr/>
          <p:nvPr/>
        </p:nvGrpSpPr>
        <p:grpSpPr>
          <a:xfrm>
            <a:off x="42156" y="2894033"/>
            <a:ext cx="2766533" cy="7705108"/>
            <a:chOff x="75882" y="7304860"/>
            <a:chExt cx="2530592" cy="5573312"/>
          </a:xfrm>
        </p:grpSpPr>
        <p:sp>
          <p:nvSpPr>
            <p:cNvPr id="12" name="TextBox 11">
              <a:extLst>
                <a:ext uri="{FF2B5EF4-FFF2-40B4-BE49-F238E27FC236}">
                  <a16:creationId xmlns:a16="http://schemas.microsoft.com/office/drawing/2014/main" id="{E9CF7B46-DA15-3F64-4FE4-885B41C76E18}"/>
                </a:ext>
              </a:extLst>
            </p:cNvPr>
            <p:cNvSpPr txBox="1"/>
            <p:nvPr/>
          </p:nvSpPr>
          <p:spPr>
            <a:xfrm>
              <a:off x="75882" y="7304860"/>
              <a:ext cx="2530592" cy="178099"/>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40:  Leadership Gender Representation</a:t>
              </a:r>
            </a:p>
          </p:txBody>
        </p:sp>
        <p:cxnSp>
          <p:nvCxnSpPr>
            <p:cNvPr id="13" name="Straight Connector 12">
              <a:extLst>
                <a:ext uri="{FF2B5EF4-FFF2-40B4-BE49-F238E27FC236}">
                  <a16:creationId xmlns:a16="http://schemas.microsoft.com/office/drawing/2014/main" id="{A001903B-C4F1-158B-3E8E-D0B21F764E62}"/>
                </a:ext>
              </a:extLst>
            </p:cNvPr>
            <p:cNvCxnSpPr>
              <a:cxnSpLocks/>
            </p:cNvCxnSpPr>
            <p:nvPr/>
          </p:nvCxnSpPr>
          <p:spPr>
            <a:xfrm>
              <a:off x="203550" y="12878172"/>
              <a:ext cx="22715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F8FF531E-58DD-1780-433A-7F1BA45A75D0}"/>
              </a:ext>
            </a:extLst>
          </p:cNvPr>
          <p:cNvGrpSpPr/>
          <p:nvPr/>
        </p:nvGrpSpPr>
        <p:grpSpPr>
          <a:xfrm>
            <a:off x="65612" y="4643256"/>
            <a:ext cx="3034148" cy="253916"/>
            <a:chOff x="85608" y="7208037"/>
            <a:chExt cx="3034148" cy="253916"/>
          </a:xfrm>
        </p:grpSpPr>
        <p:sp>
          <p:nvSpPr>
            <p:cNvPr id="17" name="TextBox 16">
              <a:extLst>
                <a:ext uri="{FF2B5EF4-FFF2-40B4-BE49-F238E27FC236}">
                  <a16:creationId xmlns:a16="http://schemas.microsoft.com/office/drawing/2014/main" id="{091DE3E0-373A-1A45-6528-69B38A01DC7A}"/>
                </a:ext>
              </a:extLst>
            </p:cNvPr>
            <p:cNvSpPr txBox="1"/>
            <p:nvPr/>
          </p:nvSpPr>
          <p:spPr>
            <a:xfrm>
              <a:off x="85608" y="7208037"/>
              <a:ext cx="2530592" cy="253916"/>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41: </a:t>
              </a:r>
              <a:r>
                <a:rPr lang="en-US" sz="1000" b="1" kern="100">
                  <a:latin typeface="Calibri"/>
                  <a:ea typeface="Cambria"/>
                  <a:cs typeface="Calibri"/>
                </a:rPr>
                <a:t>Corporate Governance Principles</a:t>
              </a:r>
              <a:endParaRPr lang="en-US" sz="1000" b="1">
                <a:latin typeface="Calibri" panose="020F0502020204030204" pitchFamily="34" charset="0"/>
                <a:cs typeface="Calibri" panose="020F0502020204030204" pitchFamily="34" charset="0"/>
              </a:endParaRPr>
            </a:p>
          </p:txBody>
        </p:sp>
        <p:cxnSp>
          <p:nvCxnSpPr>
            <p:cNvPr id="18" name="Straight Connector 17">
              <a:extLst>
                <a:ext uri="{FF2B5EF4-FFF2-40B4-BE49-F238E27FC236}">
                  <a16:creationId xmlns:a16="http://schemas.microsoft.com/office/drawing/2014/main" id="{4E391DA9-F4EC-DA42-9FEA-3E5EA97526C9}"/>
                </a:ext>
              </a:extLst>
            </p:cNvPr>
            <p:cNvCxnSpPr>
              <a:cxnSpLocks/>
            </p:cNvCxnSpPr>
            <p:nvPr/>
          </p:nvCxnSpPr>
          <p:spPr>
            <a:xfrm>
              <a:off x="119819" y="7439434"/>
              <a:ext cx="2999937"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0FD365EB-8812-0BAF-AF7E-46BD17AA3B07}"/>
              </a:ext>
            </a:extLst>
          </p:cNvPr>
          <p:cNvGrpSpPr/>
          <p:nvPr/>
        </p:nvGrpSpPr>
        <p:grpSpPr>
          <a:xfrm>
            <a:off x="134220" y="262400"/>
            <a:ext cx="2951013" cy="209545"/>
            <a:chOff x="18799" y="6323319"/>
            <a:chExt cx="2597401" cy="1121185"/>
          </a:xfrm>
        </p:grpSpPr>
        <p:sp>
          <p:nvSpPr>
            <p:cNvPr id="20" name="TextBox 19">
              <a:extLst>
                <a:ext uri="{FF2B5EF4-FFF2-40B4-BE49-F238E27FC236}">
                  <a16:creationId xmlns:a16="http://schemas.microsoft.com/office/drawing/2014/main" id="{C61AD572-F951-351D-24BE-7A7BF8E7FAE8}"/>
                </a:ext>
              </a:extLst>
            </p:cNvPr>
            <p:cNvSpPr txBox="1"/>
            <p:nvPr/>
          </p:nvSpPr>
          <p:spPr>
            <a:xfrm>
              <a:off x="85608" y="7266405"/>
              <a:ext cx="2530592" cy="178099"/>
            </a:xfrm>
            <a:prstGeom prst="rect">
              <a:avLst/>
            </a:prstGeom>
            <a:noFill/>
          </p:spPr>
          <p:txBody>
            <a:bodyPr wrap="square" rtlCol="0">
              <a:spAutoFit/>
            </a:bodyPr>
            <a:lstStyle/>
            <a:p>
              <a:endParaRPr lang="en-US" sz="1000" b="1">
                <a:latin typeface="Calibri" panose="020F0502020204030204" pitchFamily="34" charset="0"/>
                <a:cs typeface="Calibri" panose="020F0502020204030204" pitchFamily="34" charset="0"/>
              </a:endParaRPr>
            </a:p>
          </p:txBody>
        </p:sp>
        <p:cxnSp>
          <p:nvCxnSpPr>
            <p:cNvPr id="21" name="Straight Connector 20">
              <a:extLst>
                <a:ext uri="{FF2B5EF4-FFF2-40B4-BE49-F238E27FC236}">
                  <a16:creationId xmlns:a16="http://schemas.microsoft.com/office/drawing/2014/main" id="{AC13054E-B302-A527-A36D-1D80BB887401}"/>
                </a:ext>
              </a:extLst>
            </p:cNvPr>
            <p:cNvCxnSpPr>
              <a:cxnSpLocks/>
            </p:cNvCxnSpPr>
            <p:nvPr/>
          </p:nvCxnSpPr>
          <p:spPr>
            <a:xfrm>
              <a:off x="18799" y="6323319"/>
              <a:ext cx="2597401" cy="167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aphicFrame>
        <p:nvGraphicFramePr>
          <p:cNvPr id="27" name="Chart 26">
            <a:extLst>
              <a:ext uri="{FF2B5EF4-FFF2-40B4-BE49-F238E27FC236}">
                <a16:creationId xmlns:a16="http://schemas.microsoft.com/office/drawing/2014/main" id="{C9B00137-1F5E-AE11-D65A-20AB76804DCD}"/>
              </a:ext>
            </a:extLst>
          </p:cNvPr>
          <p:cNvGraphicFramePr>
            <a:graphicFrameLocks/>
          </p:cNvGraphicFramePr>
          <p:nvPr>
            <p:extLst>
              <p:ext uri="{D42A27DB-BD31-4B8C-83A1-F6EECF244321}">
                <p14:modId xmlns:p14="http://schemas.microsoft.com/office/powerpoint/2010/main" val="3486321105"/>
              </p:ext>
            </p:extLst>
          </p:nvPr>
        </p:nvGraphicFramePr>
        <p:xfrm>
          <a:off x="91911" y="6960058"/>
          <a:ext cx="2812833" cy="148951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27">
            <a:extLst>
              <a:ext uri="{FF2B5EF4-FFF2-40B4-BE49-F238E27FC236}">
                <a16:creationId xmlns:a16="http://schemas.microsoft.com/office/drawing/2014/main" id="{723AD344-9AC8-BD36-B243-73F1B8C76A82}"/>
              </a:ext>
            </a:extLst>
          </p:cNvPr>
          <p:cNvGraphicFramePr>
            <a:graphicFrameLocks/>
          </p:cNvGraphicFramePr>
          <p:nvPr>
            <p:extLst>
              <p:ext uri="{D42A27DB-BD31-4B8C-83A1-F6EECF244321}">
                <p14:modId xmlns:p14="http://schemas.microsoft.com/office/powerpoint/2010/main" val="981846193"/>
              </p:ext>
            </p:extLst>
          </p:nvPr>
        </p:nvGraphicFramePr>
        <p:xfrm>
          <a:off x="82650" y="8730234"/>
          <a:ext cx="2959184" cy="116485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0" name="Chart 29">
            <a:extLst>
              <a:ext uri="{FF2B5EF4-FFF2-40B4-BE49-F238E27FC236}">
                <a16:creationId xmlns:a16="http://schemas.microsoft.com/office/drawing/2014/main" id="{E072106D-625B-0F5E-4AF6-083B67F731C6}"/>
              </a:ext>
            </a:extLst>
          </p:cNvPr>
          <p:cNvGraphicFramePr>
            <a:graphicFrameLocks/>
          </p:cNvGraphicFramePr>
          <p:nvPr>
            <p:extLst>
              <p:ext uri="{D42A27DB-BD31-4B8C-83A1-F6EECF244321}">
                <p14:modId xmlns:p14="http://schemas.microsoft.com/office/powerpoint/2010/main" val="1517158618"/>
              </p:ext>
            </p:extLst>
          </p:nvPr>
        </p:nvGraphicFramePr>
        <p:xfrm>
          <a:off x="105629" y="3167224"/>
          <a:ext cx="3071759" cy="1524409"/>
        </p:xfrm>
        <a:graphic>
          <a:graphicData uri="http://schemas.openxmlformats.org/drawingml/2006/chart">
            <c:chart xmlns:c="http://schemas.openxmlformats.org/drawingml/2006/chart" xmlns:r="http://schemas.openxmlformats.org/officeDocument/2006/relationships" r:id="rId8"/>
          </a:graphicData>
        </a:graphic>
      </p:graphicFrame>
      <p:grpSp>
        <p:nvGrpSpPr>
          <p:cNvPr id="36" name="Group 35">
            <a:extLst>
              <a:ext uri="{FF2B5EF4-FFF2-40B4-BE49-F238E27FC236}">
                <a16:creationId xmlns:a16="http://schemas.microsoft.com/office/drawing/2014/main" id="{AA73D670-239E-0D82-95B4-F4A4AE6EC7E0}"/>
              </a:ext>
            </a:extLst>
          </p:cNvPr>
          <p:cNvGrpSpPr/>
          <p:nvPr/>
        </p:nvGrpSpPr>
        <p:grpSpPr>
          <a:xfrm>
            <a:off x="33713" y="6676619"/>
            <a:ext cx="3070992" cy="246221"/>
            <a:chOff x="85608" y="7175238"/>
            <a:chExt cx="3070992" cy="246221"/>
          </a:xfrm>
        </p:grpSpPr>
        <p:sp>
          <p:nvSpPr>
            <p:cNvPr id="37" name="TextBox 36">
              <a:extLst>
                <a:ext uri="{FF2B5EF4-FFF2-40B4-BE49-F238E27FC236}">
                  <a16:creationId xmlns:a16="http://schemas.microsoft.com/office/drawing/2014/main" id="{E0A179E6-36FA-1FAB-4D2A-49D53992EA71}"/>
                </a:ext>
              </a:extLst>
            </p:cNvPr>
            <p:cNvSpPr txBox="1"/>
            <p:nvPr/>
          </p:nvSpPr>
          <p:spPr>
            <a:xfrm>
              <a:off x="85608" y="7175238"/>
              <a:ext cx="2530592" cy="246221"/>
            </a:xfrm>
            <a:prstGeom prst="rect">
              <a:avLst/>
            </a:prstGeom>
            <a:noFill/>
          </p:spPr>
          <p:txBody>
            <a:bodyPr wrap="square" rtlCol="0">
              <a:spAutoFit/>
            </a:bodyPr>
            <a:lstStyle/>
            <a:p>
              <a:r>
                <a:rPr lang="en-US" sz="1000" b="1">
                  <a:latin typeface="Calibri" panose="020F0502020204030204" pitchFamily="34" charset="0"/>
                  <a:cs typeface="Calibri" panose="020F0502020204030204" pitchFamily="34" charset="0"/>
                </a:rPr>
                <a:t>Figure 42: Board Diversity Composition</a:t>
              </a:r>
            </a:p>
          </p:txBody>
        </p:sp>
        <p:cxnSp>
          <p:nvCxnSpPr>
            <p:cNvPr id="38" name="Straight Connector 37">
              <a:extLst>
                <a:ext uri="{FF2B5EF4-FFF2-40B4-BE49-F238E27FC236}">
                  <a16:creationId xmlns:a16="http://schemas.microsoft.com/office/drawing/2014/main" id="{8A0C3332-57EE-1111-0278-8C99A5640E55}"/>
                </a:ext>
              </a:extLst>
            </p:cNvPr>
            <p:cNvCxnSpPr>
              <a:cxnSpLocks/>
            </p:cNvCxnSpPr>
            <p:nvPr/>
          </p:nvCxnSpPr>
          <p:spPr>
            <a:xfrm flipV="1">
              <a:off x="165539" y="7403028"/>
              <a:ext cx="2991061" cy="3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55546855-8F16-A231-620B-5349969278DB}"/>
              </a:ext>
            </a:extLst>
          </p:cNvPr>
          <p:cNvGrpSpPr/>
          <p:nvPr/>
        </p:nvGrpSpPr>
        <p:grpSpPr>
          <a:xfrm>
            <a:off x="33713" y="8443186"/>
            <a:ext cx="3070992" cy="246221"/>
            <a:chOff x="85608" y="7211303"/>
            <a:chExt cx="3070992" cy="246221"/>
          </a:xfrm>
        </p:grpSpPr>
        <p:sp>
          <p:nvSpPr>
            <p:cNvPr id="40" name="TextBox 39">
              <a:extLst>
                <a:ext uri="{FF2B5EF4-FFF2-40B4-BE49-F238E27FC236}">
                  <a16:creationId xmlns:a16="http://schemas.microsoft.com/office/drawing/2014/main" id="{190444A0-74E9-6EEB-FBA1-D0378A22FAC4}"/>
                </a:ext>
              </a:extLst>
            </p:cNvPr>
            <p:cNvSpPr txBox="1"/>
            <p:nvPr/>
          </p:nvSpPr>
          <p:spPr>
            <a:xfrm>
              <a:off x="85608" y="7211303"/>
              <a:ext cx="2530592" cy="246221"/>
            </a:xfrm>
            <a:prstGeom prst="rect">
              <a:avLst/>
            </a:prstGeom>
            <a:noFill/>
          </p:spPr>
          <p:txBody>
            <a:bodyPr wrap="square" rtlCol="0">
              <a:spAutoFit/>
            </a:bodyPr>
            <a:lstStyle/>
            <a:p>
              <a:r>
                <a:rPr lang="en-US" sz="1000" b="1">
                  <a:latin typeface="Calibri" panose="020F0502020204030204" pitchFamily="34" charset="0"/>
                  <a:ea typeface="Calibri" panose="020F0502020204030204" pitchFamily="34" charset="0"/>
                  <a:cs typeface="Calibri" panose="020F0502020204030204" pitchFamily="34" charset="0"/>
                </a:rPr>
                <a:t>Figure 43: Board Independence Structure</a:t>
              </a:r>
            </a:p>
          </p:txBody>
        </p:sp>
        <p:cxnSp>
          <p:nvCxnSpPr>
            <p:cNvPr id="42" name="Straight Connector 41">
              <a:extLst>
                <a:ext uri="{FF2B5EF4-FFF2-40B4-BE49-F238E27FC236}">
                  <a16:creationId xmlns:a16="http://schemas.microsoft.com/office/drawing/2014/main" id="{88A06656-1CB5-A234-20C9-8409A8F97FC7}"/>
                </a:ext>
              </a:extLst>
            </p:cNvPr>
            <p:cNvCxnSpPr>
              <a:cxnSpLocks/>
            </p:cNvCxnSpPr>
            <p:nvPr/>
          </p:nvCxnSpPr>
          <p:spPr>
            <a:xfrm flipV="1">
              <a:off x="165539" y="7439093"/>
              <a:ext cx="2991061" cy="3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aphicFrame>
        <p:nvGraphicFramePr>
          <p:cNvPr id="26" name="Table 25">
            <a:extLst>
              <a:ext uri="{FF2B5EF4-FFF2-40B4-BE49-F238E27FC236}">
                <a16:creationId xmlns:a16="http://schemas.microsoft.com/office/drawing/2014/main" id="{895FC4E8-537C-11FA-530C-5702B89A24AC}"/>
              </a:ext>
            </a:extLst>
          </p:cNvPr>
          <p:cNvGraphicFramePr>
            <a:graphicFrameLocks noGrp="1"/>
          </p:cNvGraphicFramePr>
          <p:nvPr>
            <p:custDataLst>
              <p:tags r:id="rId2"/>
            </p:custDataLst>
            <p:extLst>
              <p:ext uri="{D42A27DB-BD31-4B8C-83A1-F6EECF244321}">
                <p14:modId xmlns:p14="http://schemas.microsoft.com/office/powerpoint/2010/main" val="2110948787"/>
              </p:ext>
            </p:extLst>
          </p:nvPr>
        </p:nvGraphicFramePr>
        <p:xfrm>
          <a:off x="123221" y="1676979"/>
          <a:ext cx="2976539" cy="1222247"/>
        </p:xfrm>
        <a:graphic>
          <a:graphicData uri="http://schemas.openxmlformats.org/drawingml/2006/table">
            <a:tbl>
              <a:tblPr>
                <a:tableStyleId>{5C22544A-7EE6-4342-B048-85BDC9FD1C3A}</a:tableStyleId>
              </a:tblPr>
              <a:tblGrid>
                <a:gridCol w="2013731">
                  <a:extLst>
                    <a:ext uri="{9D8B030D-6E8A-4147-A177-3AD203B41FA5}">
                      <a16:colId xmlns:a16="http://schemas.microsoft.com/office/drawing/2014/main" val="2241738452"/>
                    </a:ext>
                  </a:extLst>
                </a:gridCol>
                <a:gridCol w="962808">
                  <a:extLst>
                    <a:ext uri="{9D8B030D-6E8A-4147-A177-3AD203B41FA5}">
                      <a16:colId xmlns:a16="http://schemas.microsoft.com/office/drawing/2014/main" val="3713398329"/>
                    </a:ext>
                  </a:extLst>
                </a:gridCol>
              </a:tblGrid>
              <a:tr h="253558">
                <a:tc>
                  <a:txBody>
                    <a:bodyPr/>
                    <a:lstStyle/>
                    <a:p>
                      <a:pPr algn="l" fontAlgn="ctr">
                        <a:buNone/>
                      </a:pPr>
                      <a:r>
                        <a:rPr lang="en-US" sz="110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Area</a:t>
                      </a:r>
                      <a:endPar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ctr">
                        <a:buNone/>
                      </a:pPr>
                      <a:r>
                        <a:rPr lang="en-US" sz="110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Risk Level</a:t>
                      </a:r>
                      <a:endPar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2971497602"/>
                  </a:ext>
                </a:extLst>
              </a:tr>
              <a:tr h="199307">
                <a:tc>
                  <a:txBody>
                    <a:bodyPr/>
                    <a:lstStyle/>
                    <a:p>
                      <a:pPr algn="l"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 Compliance</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Low</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686948138"/>
                  </a:ext>
                </a:extLst>
              </a:tr>
              <a:tr h="199307">
                <a:tc>
                  <a:txBody>
                    <a:bodyPr/>
                    <a:lstStyle/>
                    <a:p>
                      <a:pPr algn="l"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 Safety</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Low</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2398958"/>
                  </a:ext>
                </a:extLst>
              </a:tr>
              <a:tr h="199307">
                <a:tc>
                  <a:txBody>
                    <a:bodyPr/>
                    <a:lstStyle/>
                    <a:p>
                      <a:pPr algn="l"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 Diversity</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Moderate</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699310969"/>
                  </a:ext>
                </a:extLst>
              </a:tr>
              <a:tr h="181485">
                <a:tc>
                  <a:txBody>
                    <a:bodyPr/>
                    <a:lstStyle/>
                    <a:p>
                      <a:pPr algn="l"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 Transparency</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Moderate</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92975851"/>
                  </a:ext>
                </a:extLst>
              </a:tr>
              <a:tr h="189283">
                <a:tc>
                  <a:txBody>
                    <a:bodyPr/>
                    <a:lstStyle/>
                    <a:p>
                      <a:pPr algn="l"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 Labor Practices</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Low</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788550074"/>
                  </a:ext>
                </a:extLst>
              </a:tr>
            </a:tbl>
          </a:graphicData>
        </a:graphic>
      </p:graphicFrame>
      <p:graphicFrame>
        <p:nvGraphicFramePr>
          <p:cNvPr id="29" name="Table 28">
            <a:extLst>
              <a:ext uri="{FF2B5EF4-FFF2-40B4-BE49-F238E27FC236}">
                <a16:creationId xmlns:a16="http://schemas.microsoft.com/office/drawing/2014/main" id="{817D2B06-5C4D-D3A9-D30B-E17C0F206AF0}"/>
              </a:ext>
            </a:extLst>
          </p:cNvPr>
          <p:cNvGraphicFramePr>
            <a:graphicFrameLocks noGrp="1"/>
          </p:cNvGraphicFramePr>
          <p:nvPr>
            <p:custDataLst>
              <p:tags r:id="rId3"/>
            </p:custDataLst>
            <p:extLst>
              <p:ext uri="{D42A27DB-BD31-4B8C-83A1-F6EECF244321}">
                <p14:modId xmlns:p14="http://schemas.microsoft.com/office/powerpoint/2010/main" val="3494064046"/>
              </p:ext>
            </p:extLst>
          </p:nvPr>
        </p:nvGraphicFramePr>
        <p:xfrm>
          <a:off x="123221" y="302840"/>
          <a:ext cx="2962012" cy="1125262"/>
        </p:xfrm>
        <a:graphic>
          <a:graphicData uri="http://schemas.openxmlformats.org/drawingml/2006/table">
            <a:tbl>
              <a:tblPr>
                <a:tableStyleId>{5C22544A-7EE6-4342-B048-85BDC9FD1C3A}</a:tableStyleId>
              </a:tblPr>
              <a:tblGrid>
                <a:gridCol w="2008144">
                  <a:extLst>
                    <a:ext uri="{9D8B030D-6E8A-4147-A177-3AD203B41FA5}">
                      <a16:colId xmlns:a16="http://schemas.microsoft.com/office/drawing/2014/main" val="4095734053"/>
                    </a:ext>
                  </a:extLst>
                </a:gridCol>
                <a:gridCol w="953868">
                  <a:extLst>
                    <a:ext uri="{9D8B030D-6E8A-4147-A177-3AD203B41FA5}">
                      <a16:colId xmlns:a16="http://schemas.microsoft.com/office/drawing/2014/main" val="703798169"/>
                    </a:ext>
                  </a:extLst>
                </a:gridCol>
              </a:tblGrid>
              <a:tr h="260684">
                <a:tc>
                  <a:txBody>
                    <a:bodyPr/>
                    <a:lstStyle/>
                    <a:p>
                      <a:pPr algn="l" rtl="0" fontAlgn="ctr">
                        <a:buNone/>
                      </a:pPr>
                      <a:r>
                        <a:rPr lang="en-US" sz="110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Indicator </a:t>
                      </a:r>
                      <a:endPar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rtl="0" fontAlgn="ctr">
                        <a:buNone/>
                      </a:pPr>
                      <a:r>
                        <a:rPr lang="en-US" sz="110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Status </a:t>
                      </a:r>
                      <a:endPar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778334846"/>
                  </a:ext>
                </a:extLst>
              </a:tr>
              <a:tr h="208498">
                <a:tc>
                  <a:txBody>
                    <a:bodyPr/>
                    <a:lstStyle/>
                    <a:p>
                      <a:pPr algn="l" rtl="0"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 Sanctions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No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575221089"/>
                  </a:ext>
                </a:extLst>
              </a:tr>
              <a:tr h="194799">
                <a:tc>
                  <a:txBody>
                    <a:bodyPr/>
                    <a:lstStyle/>
                    <a:p>
                      <a:pPr algn="l" rtl="0"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 UNGC / OECD Violations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rtl="0"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No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7440470"/>
                  </a:ext>
                </a:extLst>
              </a:tr>
              <a:tr h="231934">
                <a:tc>
                  <a:txBody>
                    <a:bodyPr/>
                    <a:lstStyle/>
                    <a:p>
                      <a:pPr algn="l" rtl="0"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 Workplace Safety Policies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Yes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828647483"/>
                  </a:ext>
                </a:extLst>
              </a:tr>
              <a:tr h="229347">
                <a:tc>
                  <a:txBody>
                    <a:bodyPr/>
                    <a:lstStyle/>
                    <a:p>
                      <a:pPr algn="l" rtl="0"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 Anti-Bribery Policy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Yes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2535851"/>
                  </a:ext>
                </a:extLst>
              </a:tr>
            </a:tbl>
          </a:graphicData>
        </a:graphic>
      </p:graphicFrame>
      <p:sp>
        <p:nvSpPr>
          <p:cNvPr id="33" name="TextBox 32">
            <a:extLst>
              <a:ext uri="{FF2B5EF4-FFF2-40B4-BE49-F238E27FC236}">
                <a16:creationId xmlns:a16="http://schemas.microsoft.com/office/drawing/2014/main" id="{D7A88C08-53B5-9A55-9C5B-4D1ED80530B3}"/>
              </a:ext>
            </a:extLst>
          </p:cNvPr>
          <p:cNvSpPr txBox="1"/>
          <p:nvPr/>
        </p:nvSpPr>
        <p:spPr>
          <a:xfrm>
            <a:off x="54979" y="1457804"/>
            <a:ext cx="2530592" cy="246221"/>
          </a:xfrm>
          <a:prstGeom prst="rect">
            <a:avLst/>
          </a:prstGeom>
          <a:noFill/>
          <a:ln>
            <a:noFill/>
          </a:ln>
        </p:spPr>
        <p:txBody>
          <a:bodyPr wrap="square" rtlCol="0">
            <a:spAutoFit/>
          </a:bodyPr>
          <a:lstStyle/>
          <a:p>
            <a:r>
              <a:rPr lang="en-US" sz="1000" b="1">
                <a:latin typeface="Calibri" panose="020F0502020204030204" pitchFamily="34" charset="0"/>
                <a:cs typeface="Calibri" panose="020F0502020204030204" pitchFamily="34" charset="0"/>
              </a:rPr>
              <a:t>Figure 39: Key Social Risk indicators</a:t>
            </a:r>
          </a:p>
        </p:txBody>
      </p:sp>
      <p:cxnSp>
        <p:nvCxnSpPr>
          <p:cNvPr id="35" name="Straight Connector 34">
            <a:extLst>
              <a:ext uri="{FF2B5EF4-FFF2-40B4-BE49-F238E27FC236}">
                <a16:creationId xmlns:a16="http://schemas.microsoft.com/office/drawing/2014/main" id="{1793A259-D1BA-6D5D-D72D-86376FF6CE31}"/>
              </a:ext>
            </a:extLst>
          </p:cNvPr>
          <p:cNvCxnSpPr>
            <a:cxnSpLocks/>
          </p:cNvCxnSpPr>
          <p:nvPr/>
        </p:nvCxnSpPr>
        <p:spPr>
          <a:xfrm>
            <a:off x="148162" y="1642846"/>
            <a:ext cx="295159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C7666D6-E9FE-E74B-1846-070F1F8A34E2}"/>
              </a:ext>
            </a:extLst>
          </p:cNvPr>
          <p:cNvCxnSpPr>
            <a:cxnSpLocks/>
          </p:cNvCxnSpPr>
          <p:nvPr/>
        </p:nvCxnSpPr>
        <p:spPr>
          <a:xfrm>
            <a:off x="111253" y="3140255"/>
            <a:ext cx="2999937"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4811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7AB47-773A-1850-166D-9A3C6433A1EF}"/>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5D35FF3-3A6E-9A75-D125-F3D2DDCA9D7F}"/>
              </a:ext>
            </a:extLst>
          </p:cNvPr>
          <p:cNvGraphicFramePr>
            <a:graphicFrameLocks noGrp="1"/>
          </p:cNvGraphicFramePr>
          <p:nvPr>
            <p:ph idx="1"/>
            <p:custDataLst>
              <p:tags r:id="rId1"/>
            </p:custDataLst>
            <p:extLst>
              <p:ext uri="{D42A27DB-BD31-4B8C-83A1-F6EECF244321}">
                <p14:modId xmlns:p14="http://schemas.microsoft.com/office/powerpoint/2010/main" val="993897089"/>
              </p:ext>
            </p:extLst>
          </p:nvPr>
        </p:nvGraphicFramePr>
        <p:xfrm>
          <a:off x="136261" y="2052827"/>
          <a:ext cx="7411188" cy="7715220"/>
        </p:xfrm>
        <a:graphic>
          <a:graphicData uri="http://schemas.openxmlformats.org/drawingml/2006/table">
            <a:tbl>
              <a:tblPr>
                <a:tableStyleId>{5C22544A-7EE6-4342-B048-85BDC9FD1C3A}</a:tableStyleId>
              </a:tblPr>
              <a:tblGrid>
                <a:gridCol w="1750956">
                  <a:extLst>
                    <a:ext uri="{9D8B030D-6E8A-4147-A177-3AD203B41FA5}">
                      <a16:colId xmlns:a16="http://schemas.microsoft.com/office/drawing/2014/main" val="983455712"/>
                    </a:ext>
                  </a:extLst>
                </a:gridCol>
                <a:gridCol w="707529">
                  <a:extLst>
                    <a:ext uri="{9D8B030D-6E8A-4147-A177-3AD203B41FA5}">
                      <a16:colId xmlns:a16="http://schemas.microsoft.com/office/drawing/2014/main" val="2841083646"/>
                    </a:ext>
                  </a:extLst>
                </a:gridCol>
                <a:gridCol w="707529">
                  <a:extLst>
                    <a:ext uri="{9D8B030D-6E8A-4147-A177-3AD203B41FA5}">
                      <a16:colId xmlns:a16="http://schemas.microsoft.com/office/drawing/2014/main" val="2641384104"/>
                    </a:ext>
                  </a:extLst>
                </a:gridCol>
                <a:gridCol w="707529">
                  <a:extLst>
                    <a:ext uri="{9D8B030D-6E8A-4147-A177-3AD203B41FA5}">
                      <a16:colId xmlns:a16="http://schemas.microsoft.com/office/drawing/2014/main" val="2229063698"/>
                    </a:ext>
                  </a:extLst>
                </a:gridCol>
                <a:gridCol w="707529">
                  <a:extLst>
                    <a:ext uri="{9D8B030D-6E8A-4147-A177-3AD203B41FA5}">
                      <a16:colId xmlns:a16="http://schemas.microsoft.com/office/drawing/2014/main" val="2778887100"/>
                    </a:ext>
                  </a:extLst>
                </a:gridCol>
                <a:gridCol w="707529">
                  <a:extLst>
                    <a:ext uri="{9D8B030D-6E8A-4147-A177-3AD203B41FA5}">
                      <a16:colId xmlns:a16="http://schemas.microsoft.com/office/drawing/2014/main" val="3520849716"/>
                    </a:ext>
                  </a:extLst>
                </a:gridCol>
                <a:gridCol w="707529">
                  <a:extLst>
                    <a:ext uri="{9D8B030D-6E8A-4147-A177-3AD203B41FA5}">
                      <a16:colId xmlns:a16="http://schemas.microsoft.com/office/drawing/2014/main" val="2076003015"/>
                    </a:ext>
                  </a:extLst>
                </a:gridCol>
                <a:gridCol w="707529">
                  <a:extLst>
                    <a:ext uri="{9D8B030D-6E8A-4147-A177-3AD203B41FA5}">
                      <a16:colId xmlns:a16="http://schemas.microsoft.com/office/drawing/2014/main" val="2775696185"/>
                    </a:ext>
                  </a:extLst>
                </a:gridCol>
                <a:gridCol w="707529">
                  <a:extLst>
                    <a:ext uri="{9D8B030D-6E8A-4147-A177-3AD203B41FA5}">
                      <a16:colId xmlns:a16="http://schemas.microsoft.com/office/drawing/2014/main" val="2075461948"/>
                    </a:ext>
                  </a:extLst>
                </a:gridCol>
              </a:tblGrid>
              <a:tr h="320040">
                <a:tc gridSpan="9">
                  <a:txBody>
                    <a:bodyPr/>
                    <a:lstStyle/>
                    <a:p>
                      <a:pPr algn="l" fontAlgn="b">
                        <a:buNone/>
                      </a:pPr>
                      <a:r>
                        <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1. Income Statement</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hMerge="1">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hMerge="1">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hMerge="1">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hMerge="1">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hMerge="1">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hMerge="1">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hMerge="1">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86222434"/>
                  </a:ext>
                </a:extLst>
              </a:tr>
              <a:tr h="262860">
                <a:tc>
                  <a:txBody>
                    <a:bodyPr/>
                    <a:lstStyle/>
                    <a:p>
                      <a:pPr algn="l" fontAlgn="b">
                        <a:buNone/>
                      </a:pPr>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All Figures are in Thousands</a:t>
                      </a:r>
                    </a:p>
                  </a:txBody>
                  <a:tcPr marL="7620" marR="7620" marT="762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2020</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2021</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2022</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2023</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2024</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b">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2025E</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b">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2026E</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2027E</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46309157"/>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Sales</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4054.4</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5336.3</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5755.1</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5836.5</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5186.8</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5186.8</a:t>
                      </a: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6068.6</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6859.5</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42127437"/>
                  </a:ext>
                </a:extLst>
              </a:tr>
              <a:tr h="274320">
                <a:tc>
                  <a:txBody>
                    <a:bodyPr/>
                    <a:lstStyle/>
                    <a:p>
                      <a:pPr algn="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%Growth</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31.6%</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7.8%</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-11.1%</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0.0%</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17.0%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15.0%</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21954409"/>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Direct costs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2874.2</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3589.6</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3808.6</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3759.7</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3394.6</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3371.4</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4248.0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4733.1</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87481275"/>
                  </a:ext>
                </a:extLst>
              </a:tr>
              <a:tr h="274320">
                <a:tc>
                  <a:txBody>
                    <a:bodyPr/>
                    <a:lstStyle/>
                    <a:p>
                      <a:pPr algn="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%Growth</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24.9%</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6.1%</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-9.7%</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-0.7%</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26.0%</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13.4%</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29063482"/>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Gross Margin</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1180.2</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1746.7</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1946.5</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2076.8</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1792.2</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1815.4</a:t>
                      </a: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1820.6</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2126.5</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90989224"/>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SG&amp;A, R&amp;D, D&amp;A, and other</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1170.5</a:t>
                      </a:r>
                    </a:p>
                  </a:txBody>
                  <a:tcPr marL="7620" marR="7620" marT="762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923.3</a:t>
                      </a:r>
                    </a:p>
                  </a:txBody>
                  <a:tcPr marL="7620" marR="7620" marT="762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1037.2</a:t>
                      </a:r>
                    </a:p>
                  </a:txBody>
                  <a:tcPr marL="7620" marR="7620" marT="762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1297.7</a:t>
                      </a:r>
                    </a:p>
                  </a:txBody>
                  <a:tcPr marL="7620" marR="7620" marT="762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1375.6</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1426.4</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1213.7</a:t>
                      </a:r>
                    </a:p>
                  </a:txBody>
                  <a:tcPr marL="7620" marR="7620" marT="762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1303.3</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88798521"/>
                  </a:ext>
                </a:extLst>
              </a:tr>
              <a:tr h="274320">
                <a:tc>
                  <a:txBody>
                    <a:bodyPr/>
                    <a:lstStyle/>
                    <a:p>
                      <a:pPr algn="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%Growth</a:t>
                      </a: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-21.1%</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12.3%</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25.1%</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6.0%</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3.7%</a:t>
                      </a: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-14.9%</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9.2%</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8904089"/>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EBIT</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9.7</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823.4</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909.3</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779.1</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416.6</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389.0</a:t>
                      </a: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606.9</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823.1</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55057249"/>
                  </a:ext>
                </a:extLst>
              </a:tr>
              <a:tr h="274320">
                <a:tc>
                  <a:txBody>
                    <a:bodyPr/>
                    <a:lstStyle/>
                    <a:p>
                      <a:pPr algn="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%Growth</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8407.5%</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10.4%</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-14.3%</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-46.5%</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-6.6%</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56.0%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38.0%</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50896113"/>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Net Interest</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-23.6</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-24.3</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-26.7</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16.0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27.9</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25.8</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25.6</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27.8</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88914568"/>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Other</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-1.8</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4.9</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7.2</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7.2</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5.2</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6.1</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6.9</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7041477"/>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EBT</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35.1</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845.7</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931.1</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755.9</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381.5</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358.1</a:t>
                      </a: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575.2</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788.5</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47752853"/>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Taxes</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-17.0</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169.2</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192.0</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171.8</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72.0</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71.6</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115.0</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157.7</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33372886"/>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Income</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52.1</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676.5</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739.1</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584.1</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309.5</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286.5</a:t>
                      </a: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460.1</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630.8</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157545747"/>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Other</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50.8</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26.5</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-111.0</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-135.7</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65.0</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3.0</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3.0</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44432093"/>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Net income</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650.0</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739.2</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695.0</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445.2</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221.5</a:t>
                      </a: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457.1</a:t>
                      </a: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627.8</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12757399"/>
                  </a:ext>
                </a:extLst>
              </a:tr>
              <a:tr h="274320">
                <a:tc>
                  <a:txBody>
                    <a:bodyPr/>
                    <a:lstStyle/>
                    <a:p>
                      <a:pPr algn="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%Growth</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49978.9%</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13.7%</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-36.0%</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-50.3%</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106.4%</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39.8%</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507317535"/>
                  </a:ext>
                </a:extLst>
              </a:tr>
              <a:tr h="274320">
                <a:tc>
                  <a:txBody>
                    <a:bodyPr/>
                    <a:lstStyle/>
                    <a:p>
                      <a:pPr algn="l"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72571973"/>
                  </a:ext>
                </a:extLst>
              </a:tr>
              <a:tr h="274320">
                <a:tc>
                  <a:txBody>
                    <a:bodyPr/>
                    <a:lstStyle/>
                    <a:p>
                      <a:pPr algn="l" fontAlgn="b">
                        <a:buNone/>
                      </a:pP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103621137"/>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Basic Shares</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152.93</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153.57</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145.86</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136.31</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124.28</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106.32</a:t>
                      </a:r>
                    </a:p>
                  </a:txBody>
                  <a:tcPr marL="7620" marR="7620" marT="7620" marB="0"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86.62</a:t>
                      </a:r>
                    </a:p>
                  </a:txBody>
                  <a:tcPr marL="7620" marR="7620" marT="762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84.12</a:t>
                      </a:r>
                    </a:p>
                  </a:txBody>
                  <a:tcPr marL="7620" marR="7620" marT="7620" marB="0"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9761659"/>
                  </a:ext>
                </a:extLst>
              </a:tr>
              <a:tr h="274320">
                <a:tc>
                  <a:txBody>
                    <a:bodyPr/>
                    <a:lstStyle/>
                    <a:p>
                      <a:pPr algn="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%Growth</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-6.5%</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-8.8%</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-14.5%</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-18.5%</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-2.9%</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508259877"/>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Fully Diluted Shares</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153.91</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154.98</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149.39</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145.10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132.29</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114.33</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94.63</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92.13</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40461533"/>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EPS Basic </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0.01</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4.23</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5.07</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5.10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3.58</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2.08</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5.28</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7.46</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52210490"/>
                  </a:ext>
                </a:extLst>
              </a:tr>
              <a:tr h="274320">
                <a:tc>
                  <a:txBody>
                    <a:bodyPr/>
                    <a:lstStyle/>
                    <a:p>
                      <a:pPr algn="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%Growth</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49770.2%</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19.7%</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-29.8%</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-41.8%</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153.4%</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44.0%</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55785462"/>
                  </a:ext>
                </a:extLst>
              </a:tr>
              <a:tr h="274320">
                <a:tc>
                  <a:txBody>
                    <a:bodyPr/>
                    <a:lstStyle/>
                    <a:p>
                      <a:pPr algn="l" fontAlgn="b">
                        <a:buNone/>
                      </a:pPr>
                      <a:r>
                        <a:rPr lang="en-US" sz="1100" u="none" strike="noStrike">
                          <a:effectLst/>
                          <a:latin typeface="Calibri" panose="020F0502020204030204" pitchFamily="34" charset="0"/>
                          <a:ea typeface="Calibri" panose="020F0502020204030204" pitchFamily="34" charset="0"/>
                          <a:cs typeface="Calibri" panose="020F0502020204030204" pitchFamily="34" charset="0"/>
                        </a:rPr>
                        <a:t>EPS Fully Diluted</a:t>
                      </a:r>
                      <a:endPar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0.01</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4.19</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4.95</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4.79</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3.37</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1.94</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4.83</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6.81</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16338331"/>
                  </a:ext>
                </a:extLst>
              </a:tr>
              <a:tr h="274320">
                <a:tc>
                  <a:txBody>
                    <a:bodyPr/>
                    <a:lstStyle/>
                    <a:p>
                      <a:pPr algn="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%Growth</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49633.1%</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18.0%</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-3.2%</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-29.7%</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-42.4%</a:t>
                      </a:r>
                    </a:p>
                  </a:txBody>
                  <a:tcPr marL="7620" marR="7620" marT="762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149.4%</a:t>
                      </a:r>
                    </a:p>
                  </a:txBody>
                  <a:tcPr marL="7620" marR="7620" marT="762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43.6%</a:t>
                      </a:r>
                    </a:p>
                  </a:txBody>
                  <a:tcPr marL="7620" marR="7620" marT="762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141275742"/>
                  </a:ext>
                </a:extLst>
              </a:tr>
            </a:tbl>
          </a:graphicData>
        </a:graphic>
      </p:graphicFrame>
      <p:grpSp>
        <p:nvGrpSpPr>
          <p:cNvPr id="2" name="Group 1">
            <a:extLst>
              <a:ext uri="{FF2B5EF4-FFF2-40B4-BE49-F238E27FC236}">
                <a16:creationId xmlns:a16="http://schemas.microsoft.com/office/drawing/2014/main" id="{1222DA0B-1D44-563B-CD11-62125392F35C}"/>
              </a:ext>
            </a:extLst>
          </p:cNvPr>
          <p:cNvGrpSpPr/>
          <p:nvPr/>
        </p:nvGrpSpPr>
        <p:grpSpPr>
          <a:xfrm>
            <a:off x="-72866" y="176967"/>
            <a:ext cx="7698420" cy="271331"/>
            <a:chOff x="2626196" y="1930006"/>
            <a:chExt cx="4947125" cy="271331"/>
          </a:xfrm>
        </p:grpSpPr>
        <p:sp>
          <p:nvSpPr>
            <p:cNvPr id="3" name="Text Box 2">
              <a:extLst>
                <a:ext uri="{FF2B5EF4-FFF2-40B4-BE49-F238E27FC236}">
                  <a16:creationId xmlns:a16="http://schemas.microsoft.com/office/drawing/2014/main" id="{C1CD7183-82C8-72AE-92DA-5C0F6170AEDC}"/>
                </a:ext>
              </a:extLst>
            </p:cNvPr>
            <p:cNvSpPr txBox="1">
              <a:spLocks noChangeArrowheads="1"/>
            </p:cNvSpPr>
            <p:nvPr/>
          </p:nvSpPr>
          <p:spPr bwMode="auto">
            <a:xfrm>
              <a:off x="2626196" y="1930006"/>
              <a:ext cx="4947125" cy="261867"/>
            </a:xfrm>
            <a:prstGeom prst="rect">
              <a:avLst/>
            </a:prstGeom>
            <a:noFill/>
            <a:ln w="9525">
              <a:noFill/>
              <a:miter lim="800000"/>
              <a:headEnd/>
              <a:tailEnd/>
            </a:ln>
          </p:spPr>
          <p:txBody>
            <a:bodyPr rot="0" vert="horz" wrap="square" lIns="91440" tIns="45720" rIns="91440" bIns="45720" anchor="t" anchorCtr="0">
              <a:spAutoFit/>
            </a:bodyPr>
            <a:lstStyle/>
            <a:p>
              <a:pPr marL="0" marR="0" algn="ctr">
                <a:lnSpc>
                  <a:spcPts val="1200"/>
                </a:lnSpc>
                <a:spcAft>
                  <a:spcPts val="600"/>
                </a:spcAft>
              </a:pPr>
              <a:r>
                <a:rPr lang="en-US" sz="1600" b="1" kern="100">
                  <a:latin typeface="Calibri" panose="020F0502020204030204" pitchFamily="34" charset="0"/>
                  <a:ea typeface="Cambria" panose="02040503050406030204" pitchFamily="18" charset="0"/>
                  <a:cs typeface="Calibri" panose="020F0502020204030204" pitchFamily="34" charset="0"/>
                </a:rPr>
                <a:t>Appendix</a:t>
              </a:r>
            </a:p>
          </p:txBody>
        </p:sp>
        <p:cxnSp>
          <p:nvCxnSpPr>
            <p:cNvPr id="5" name="Straight Connector 4">
              <a:extLst>
                <a:ext uri="{FF2B5EF4-FFF2-40B4-BE49-F238E27FC236}">
                  <a16:creationId xmlns:a16="http://schemas.microsoft.com/office/drawing/2014/main" id="{A57B7420-8C62-4E70-BCC2-967555B842F6}"/>
                </a:ext>
              </a:extLst>
            </p:cNvPr>
            <p:cNvCxnSpPr>
              <a:cxnSpLocks/>
            </p:cNvCxnSpPr>
            <p:nvPr/>
          </p:nvCxnSpPr>
          <p:spPr>
            <a:xfrm>
              <a:off x="2760585" y="2201337"/>
              <a:ext cx="477170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aphicFrame>
        <p:nvGraphicFramePr>
          <p:cNvPr id="6" name="Table 5">
            <a:extLst>
              <a:ext uri="{FF2B5EF4-FFF2-40B4-BE49-F238E27FC236}">
                <a16:creationId xmlns:a16="http://schemas.microsoft.com/office/drawing/2014/main" id="{1EF75E96-2757-A6DB-1E5A-B4944744412C}"/>
              </a:ext>
            </a:extLst>
          </p:cNvPr>
          <p:cNvGraphicFramePr>
            <a:graphicFrameLocks noGrp="1"/>
          </p:cNvGraphicFramePr>
          <p:nvPr>
            <p:custDataLst>
              <p:tags r:id="rId2"/>
            </p:custDataLst>
            <p:extLst>
              <p:ext uri="{D42A27DB-BD31-4B8C-83A1-F6EECF244321}">
                <p14:modId xmlns:p14="http://schemas.microsoft.com/office/powerpoint/2010/main" val="3213662764"/>
              </p:ext>
            </p:extLst>
          </p:nvPr>
        </p:nvGraphicFramePr>
        <p:xfrm>
          <a:off x="136261" y="565483"/>
          <a:ext cx="7411191" cy="1240864"/>
        </p:xfrm>
        <a:graphic>
          <a:graphicData uri="http://schemas.openxmlformats.org/drawingml/2006/table">
            <a:tbl>
              <a:tblPr/>
              <a:tblGrid>
                <a:gridCol w="3641759">
                  <a:extLst>
                    <a:ext uri="{9D8B030D-6E8A-4147-A177-3AD203B41FA5}">
                      <a16:colId xmlns:a16="http://schemas.microsoft.com/office/drawing/2014/main" val="2483293207"/>
                    </a:ext>
                  </a:extLst>
                </a:gridCol>
                <a:gridCol w="3769432">
                  <a:extLst>
                    <a:ext uri="{9D8B030D-6E8A-4147-A177-3AD203B41FA5}">
                      <a16:colId xmlns:a16="http://schemas.microsoft.com/office/drawing/2014/main" val="3876805116"/>
                    </a:ext>
                  </a:extLst>
                </a:gridCol>
              </a:tblGrid>
              <a:tr h="15510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Financial Performance</a:t>
                      </a:r>
                    </a:p>
                  </a:txBody>
                  <a:tcPr marL="0" marR="0" marT="0"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Valuation</a:t>
                      </a:r>
                    </a:p>
                  </a:txBody>
                  <a:tcPr marL="0" marR="0" marT="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09934186"/>
                  </a:ext>
                </a:extLst>
              </a:tr>
              <a:tr h="15510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 Income Statement</a:t>
                      </a:r>
                    </a:p>
                  </a:txBody>
                  <a:tcPr marL="0" marR="0" marT="0"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 DCF Base</a:t>
                      </a:r>
                    </a:p>
                  </a:txBody>
                  <a:tcPr marL="0" marR="0" marT="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909851200"/>
                  </a:ext>
                </a:extLst>
              </a:tr>
              <a:tr h="15510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 Balance Sheet Figures</a:t>
                      </a:r>
                    </a:p>
                  </a:txBody>
                  <a:tcPr marL="0" marR="0" marT="0"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 DCF Bull</a:t>
                      </a:r>
                    </a:p>
                  </a:txBody>
                  <a:tcPr marL="0" marR="0" marT="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02025935"/>
                  </a:ext>
                </a:extLst>
              </a:tr>
              <a:tr h="15510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 Statement of Cashflows</a:t>
                      </a:r>
                    </a:p>
                  </a:txBody>
                  <a:tcPr marL="0" marR="0" marT="0"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 DCF Bear</a:t>
                      </a:r>
                    </a:p>
                  </a:txBody>
                  <a:tcPr marL="0" marR="0" marT="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126743347"/>
                  </a:ext>
                </a:extLst>
              </a:tr>
              <a:tr h="15510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  Equity Attributable to Harley-Davidson</a:t>
                      </a:r>
                      <a:endParaRPr lang="en-US" sz="10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Miscellaneous</a:t>
                      </a:r>
                    </a:p>
                  </a:txBody>
                  <a:tcPr marL="0" marR="0" marT="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41398416"/>
                  </a:ext>
                </a:extLst>
              </a:tr>
              <a:tr h="15510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 </a:t>
                      </a:r>
                      <a:r>
                        <a:rPr lang="en-US" sz="10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Facility/Status</a:t>
                      </a:r>
                    </a:p>
                  </a:txBody>
                  <a:tcPr marL="0" marR="0" marT="0"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 ESG Ranking</a:t>
                      </a:r>
                    </a:p>
                  </a:txBody>
                  <a:tcPr marL="0" marR="0" marT="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972054454"/>
                  </a:ext>
                </a:extLst>
              </a:tr>
              <a:tr h="15510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 </a:t>
                      </a:r>
                      <a:r>
                        <a:rPr lang="en-US" sz="10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Geographic Segment of Revenue</a:t>
                      </a:r>
                      <a:endPar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 Rating Table Breakdown</a:t>
                      </a:r>
                    </a:p>
                  </a:txBody>
                  <a:tcPr marL="0" marR="0" marT="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546938117"/>
                  </a:ext>
                </a:extLst>
              </a:tr>
              <a:tr h="15510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 Competitor Sheet</a:t>
                      </a:r>
                    </a:p>
                  </a:txBody>
                  <a:tcPr marL="0" marR="0" marT="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090290805"/>
                  </a:ext>
                </a:extLst>
              </a:tr>
            </a:tbl>
          </a:graphicData>
        </a:graphic>
      </p:graphicFrame>
      <p:sp>
        <p:nvSpPr>
          <p:cNvPr id="7" name="TextBox 6">
            <a:extLst>
              <a:ext uri="{FF2B5EF4-FFF2-40B4-BE49-F238E27FC236}">
                <a16:creationId xmlns:a16="http://schemas.microsoft.com/office/drawing/2014/main" id="{B18F27A9-0BC1-3B24-88F1-F66430ADBAFE}"/>
              </a:ext>
            </a:extLst>
          </p:cNvPr>
          <p:cNvSpPr txBox="1"/>
          <p:nvPr/>
        </p:nvSpPr>
        <p:spPr>
          <a:xfrm>
            <a:off x="7436678" y="9796790"/>
            <a:ext cx="2006283" cy="261610"/>
          </a:xfrm>
          <a:prstGeom prst="rect">
            <a:avLst/>
          </a:prstGeom>
          <a:noFill/>
        </p:spPr>
        <p:txBody>
          <a:bodyPr wrap="square" lIns="91440" tIns="45720" rIns="91440" bIns="45720" rtlCol="0" anchor="t">
            <a:spAutoFit/>
          </a:bodyPr>
          <a:lstStyle/>
          <a:p>
            <a:r>
              <a:rPr lang="en-US" sz="1100">
                <a:latin typeface="Calibri"/>
                <a:ea typeface="Calibri"/>
                <a:cs typeface="Calibri"/>
              </a:rPr>
              <a:t>11</a:t>
            </a:r>
          </a:p>
        </p:txBody>
      </p:sp>
      <p:sp>
        <p:nvSpPr>
          <p:cNvPr id="9" name="TextBox 8">
            <a:extLst>
              <a:ext uri="{FF2B5EF4-FFF2-40B4-BE49-F238E27FC236}">
                <a16:creationId xmlns:a16="http://schemas.microsoft.com/office/drawing/2014/main" id="{0F57DD8E-46BA-6C2B-E014-2430C8EAFB43}"/>
              </a:ext>
            </a:extLst>
          </p:cNvPr>
          <p:cNvSpPr txBox="1"/>
          <p:nvPr/>
        </p:nvSpPr>
        <p:spPr>
          <a:xfrm>
            <a:off x="76224" y="9834890"/>
            <a:ext cx="4391001"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HOG 10k (2016-2024), HOG 10q (Q1-4 2016-2024, Q1-3 2025), FactSet, Estimates </a:t>
            </a:r>
          </a:p>
        </p:txBody>
      </p:sp>
    </p:spTree>
    <p:extLst>
      <p:ext uri="{BB962C8B-B14F-4D97-AF65-F5344CB8AC3E}">
        <p14:creationId xmlns:p14="http://schemas.microsoft.com/office/powerpoint/2010/main" val="596475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A749AC5B-A79B-EAFA-1D0C-5BBEA3DF6CEF}"/>
              </a:ext>
            </a:extLst>
          </p:cNvPr>
          <p:cNvGraphicFramePr>
            <a:graphicFrameLocks noGrp="1"/>
          </p:cNvGraphicFramePr>
          <p:nvPr>
            <p:ph idx="1"/>
            <p:custDataLst>
              <p:tags r:id="rId1"/>
            </p:custDataLst>
            <p:extLst>
              <p:ext uri="{D42A27DB-BD31-4B8C-83A1-F6EECF244321}">
                <p14:modId xmlns:p14="http://schemas.microsoft.com/office/powerpoint/2010/main" val="3811503375"/>
              </p:ext>
            </p:extLst>
          </p:nvPr>
        </p:nvGraphicFramePr>
        <p:xfrm>
          <a:off x="261416" y="345325"/>
          <a:ext cx="7337248" cy="9298817"/>
        </p:xfrm>
        <a:graphic>
          <a:graphicData uri="http://schemas.openxmlformats.org/drawingml/2006/table">
            <a:tbl>
              <a:tblPr/>
              <a:tblGrid>
                <a:gridCol w="1944674">
                  <a:extLst>
                    <a:ext uri="{9D8B030D-6E8A-4147-A177-3AD203B41FA5}">
                      <a16:colId xmlns:a16="http://schemas.microsoft.com/office/drawing/2014/main" val="4023091697"/>
                    </a:ext>
                  </a:extLst>
                </a:gridCol>
                <a:gridCol w="658717">
                  <a:extLst>
                    <a:ext uri="{9D8B030D-6E8A-4147-A177-3AD203B41FA5}">
                      <a16:colId xmlns:a16="http://schemas.microsoft.com/office/drawing/2014/main" val="1710156430"/>
                    </a:ext>
                  </a:extLst>
                </a:gridCol>
                <a:gridCol w="658717">
                  <a:extLst>
                    <a:ext uri="{9D8B030D-6E8A-4147-A177-3AD203B41FA5}">
                      <a16:colId xmlns:a16="http://schemas.microsoft.com/office/drawing/2014/main" val="956623382"/>
                    </a:ext>
                  </a:extLst>
                </a:gridCol>
                <a:gridCol w="658717">
                  <a:extLst>
                    <a:ext uri="{9D8B030D-6E8A-4147-A177-3AD203B41FA5}">
                      <a16:colId xmlns:a16="http://schemas.microsoft.com/office/drawing/2014/main" val="1713264160"/>
                    </a:ext>
                  </a:extLst>
                </a:gridCol>
                <a:gridCol w="658717">
                  <a:extLst>
                    <a:ext uri="{9D8B030D-6E8A-4147-A177-3AD203B41FA5}">
                      <a16:colId xmlns:a16="http://schemas.microsoft.com/office/drawing/2014/main" val="144387037"/>
                    </a:ext>
                  </a:extLst>
                </a:gridCol>
                <a:gridCol w="658717">
                  <a:extLst>
                    <a:ext uri="{9D8B030D-6E8A-4147-A177-3AD203B41FA5}">
                      <a16:colId xmlns:a16="http://schemas.microsoft.com/office/drawing/2014/main" val="1177293601"/>
                    </a:ext>
                  </a:extLst>
                </a:gridCol>
                <a:gridCol w="658717">
                  <a:extLst>
                    <a:ext uri="{9D8B030D-6E8A-4147-A177-3AD203B41FA5}">
                      <a16:colId xmlns:a16="http://schemas.microsoft.com/office/drawing/2014/main" val="73746617"/>
                    </a:ext>
                  </a:extLst>
                </a:gridCol>
                <a:gridCol w="720136">
                  <a:extLst>
                    <a:ext uri="{9D8B030D-6E8A-4147-A177-3AD203B41FA5}">
                      <a16:colId xmlns:a16="http://schemas.microsoft.com/office/drawing/2014/main" val="3514634315"/>
                    </a:ext>
                  </a:extLst>
                </a:gridCol>
                <a:gridCol w="720136">
                  <a:extLst>
                    <a:ext uri="{9D8B030D-6E8A-4147-A177-3AD203B41FA5}">
                      <a16:colId xmlns:a16="http://schemas.microsoft.com/office/drawing/2014/main" val="3106578010"/>
                    </a:ext>
                  </a:extLst>
                </a:gridCol>
              </a:tblGrid>
              <a:tr h="274320">
                <a:tc gridSpan="9">
                  <a:txBody>
                    <a:bodyPr/>
                    <a:lstStyle/>
                    <a:p>
                      <a:pPr algn="l" fontAlgn="b">
                        <a:buNone/>
                      </a:pPr>
                      <a:r>
                        <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2. Balance Sheet Figures</a:t>
                      </a:r>
                    </a:p>
                  </a:txBody>
                  <a:tcPr marL="9180" marR="9180" marT="91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1700" b="0" i="0" u="none" strike="noStrike">
                        <a:effectLst/>
                        <a:latin typeface="Arial" panose="020B0604020202020204" pitchFamily="34" charset="0"/>
                      </a:endParaRPr>
                    </a:p>
                  </a:txBody>
                  <a:tcPr marL="9180" marR="9180" marT="9180" marB="0" anchor="b">
                    <a:lnL>
                      <a:noFill/>
                    </a:lnL>
                    <a:lnR>
                      <a:noFill/>
                    </a:lnR>
                    <a:lnT>
                      <a:noFill/>
                    </a:lnT>
                    <a:lnB>
                      <a:noFill/>
                    </a:lnB>
                    <a:solidFill>
                      <a:srgbClr val="FBE2D5"/>
                    </a:solidFill>
                  </a:tcPr>
                </a:tc>
                <a:tc hMerge="1">
                  <a:txBody>
                    <a:bodyPr/>
                    <a:lstStyle/>
                    <a:p>
                      <a:pPr algn="ctr" fontAlgn="b">
                        <a:buNone/>
                      </a:pPr>
                      <a:endParaRPr lang="en-US" sz="1700" b="0" i="0" u="none" strike="noStrike">
                        <a:effectLst/>
                        <a:latin typeface="Arial" panose="020B0604020202020204" pitchFamily="34" charset="0"/>
                      </a:endParaRPr>
                    </a:p>
                  </a:txBody>
                  <a:tcPr marL="9180" marR="9180" marT="9180" marB="0" anchor="b">
                    <a:lnL>
                      <a:noFill/>
                    </a:lnL>
                    <a:lnR>
                      <a:noFill/>
                    </a:lnR>
                    <a:lnT>
                      <a:noFill/>
                    </a:lnT>
                    <a:lnB>
                      <a:noFill/>
                    </a:lnB>
                    <a:solidFill>
                      <a:srgbClr val="FBE2D5"/>
                    </a:solidFill>
                  </a:tcPr>
                </a:tc>
                <a:tc hMerge="1">
                  <a:txBody>
                    <a:bodyPr/>
                    <a:lstStyle/>
                    <a:p>
                      <a:pPr algn="ctr" fontAlgn="b">
                        <a:buNone/>
                      </a:pPr>
                      <a:endParaRPr lang="en-US" sz="1700" b="0" i="0" u="none" strike="noStrike">
                        <a:effectLst/>
                        <a:latin typeface="Arial" panose="020B0604020202020204" pitchFamily="34" charset="0"/>
                      </a:endParaRPr>
                    </a:p>
                  </a:txBody>
                  <a:tcPr marL="9180" marR="9180" marT="9180" marB="0" anchor="b">
                    <a:lnL>
                      <a:noFill/>
                    </a:lnL>
                    <a:lnR>
                      <a:noFill/>
                    </a:lnR>
                    <a:lnT>
                      <a:noFill/>
                    </a:lnT>
                    <a:lnB>
                      <a:noFill/>
                    </a:lnB>
                    <a:solidFill>
                      <a:srgbClr val="FBE2D5"/>
                    </a:solidFill>
                  </a:tcPr>
                </a:tc>
                <a:tc hMerge="1">
                  <a:txBody>
                    <a:bodyPr/>
                    <a:lstStyle/>
                    <a:p>
                      <a:pPr algn="ctr" fontAlgn="b">
                        <a:buNone/>
                      </a:pPr>
                      <a:endParaRPr lang="en-US" sz="1700" b="0" i="0" u="none" strike="noStrike">
                        <a:effectLst/>
                        <a:latin typeface="Arial" panose="020B0604020202020204" pitchFamily="34" charset="0"/>
                      </a:endParaRPr>
                    </a:p>
                  </a:txBody>
                  <a:tcPr marL="9180" marR="9180" marT="9180" marB="0" anchor="b">
                    <a:lnL>
                      <a:noFill/>
                    </a:lnL>
                    <a:lnR>
                      <a:noFill/>
                    </a:lnR>
                    <a:lnT>
                      <a:noFill/>
                    </a:lnT>
                    <a:lnB>
                      <a:noFill/>
                    </a:lnB>
                    <a:solidFill>
                      <a:srgbClr val="FBE2D5"/>
                    </a:solidFill>
                  </a:tcPr>
                </a:tc>
                <a:tc hMerge="1">
                  <a:txBody>
                    <a:bodyPr/>
                    <a:lstStyle/>
                    <a:p>
                      <a:pPr algn="ctr" fontAlgn="b">
                        <a:buNone/>
                      </a:pPr>
                      <a:endParaRPr lang="en-US" sz="1700" b="0" i="0" u="none" strike="noStrike">
                        <a:effectLst/>
                        <a:latin typeface="Arial" panose="020B0604020202020204" pitchFamily="34" charset="0"/>
                      </a:endParaRPr>
                    </a:p>
                  </a:txBody>
                  <a:tcPr marL="9180" marR="9180" marT="9180" marB="0" anchor="b">
                    <a:lnL>
                      <a:noFill/>
                    </a:lnL>
                    <a:lnR w="6350" cap="flat" cmpd="sng" algn="ctr">
                      <a:solidFill>
                        <a:srgbClr val="000000"/>
                      </a:solidFill>
                      <a:prstDash val="solid"/>
                      <a:round/>
                      <a:headEnd type="none" w="med" len="med"/>
                      <a:tailEnd type="none" w="med" len="med"/>
                    </a:lnR>
                    <a:lnT>
                      <a:noFill/>
                    </a:lnT>
                    <a:lnB>
                      <a:noFill/>
                    </a:lnB>
                    <a:solidFill>
                      <a:srgbClr val="FBE2D5"/>
                    </a:solidFill>
                  </a:tcPr>
                </a:tc>
                <a:tc hMerge="1">
                  <a:txBody>
                    <a:bodyPr/>
                    <a:lstStyle/>
                    <a:p>
                      <a:pPr algn="ctr" fontAlgn="b">
                        <a:buNone/>
                      </a:pPr>
                      <a:endParaRPr lang="en-US" sz="1700" b="0" i="0" u="none" strike="noStrike">
                        <a:effectLst/>
                        <a:latin typeface="Arial" panose="020B0604020202020204" pitchFamily="34" charset="0"/>
                      </a:endParaRPr>
                    </a:p>
                  </a:txBody>
                  <a:tcPr marL="9180" marR="9180" marT="9180" marB="0" anchor="b">
                    <a:lnL w="6350" cap="flat" cmpd="sng" algn="ctr">
                      <a:solidFill>
                        <a:srgbClr val="000000"/>
                      </a:solidFill>
                      <a:prstDash val="solid"/>
                      <a:round/>
                      <a:headEnd type="none" w="med" len="med"/>
                      <a:tailEnd type="none" w="med" len="med"/>
                    </a:lnL>
                    <a:lnR>
                      <a:noFill/>
                    </a:lnR>
                    <a:lnT>
                      <a:noFill/>
                    </a:lnT>
                    <a:lnB>
                      <a:noFill/>
                    </a:lnB>
                    <a:solidFill>
                      <a:srgbClr val="FBE2D5"/>
                    </a:solidFill>
                  </a:tcPr>
                </a:tc>
                <a:tc hMerge="1">
                  <a:txBody>
                    <a:bodyPr/>
                    <a:lstStyle/>
                    <a:p>
                      <a:pPr algn="ctr" fontAlgn="b">
                        <a:buNone/>
                      </a:pPr>
                      <a:endParaRPr lang="en-US" sz="1700" b="0" i="0" u="none" strike="noStrike">
                        <a:effectLst/>
                        <a:latin typeface="Arial" panose="020B0604020202020204" pitchFamily="34" charset="0"/>
                      </a:endParaRPr>
                    </a:p>
                  </a:txBody>
                  <a:tcPr marL="9180" marR="9180" marT="9180" marB="0" anchor="b">
                    <a:lnL>
                      <a:noFill/>
                    </a:lnL>
                    <a:lnR>
                      <a:noFill/>
                    </a:lnR>
                    <a:lnT>
                      <a:noFill/>
                    </a:lnT>
                    <a:lnB>
                      <a:noFill/>
                    </a:lnB>
                    <a:solidFill>
                      <a:srgbClr val="FBE2D5"/>
                    </a:solidFill>
                  </a:tcPr>
                </a:tc>
                <a:tc hMerge="1">
                  <a:txBody>
                    <a:bodyPr/>
                    <a:lstStyle/>
                    <a:p>
                      <a:pPr algn="ctr" fontAlgn="b">
                        <a:buNone/>
                      </a:pPr>
                      <a:endParaRPr lang="en-US" sz="1700" b="0" i="0" u="none" strike="noStrike">
                        <a:effectLst/>
                        <a:latin typeface="Arial" panose="020B0604020202020204" pitchFamily="34" charset="0"/>
                      </a:endParaRPr>
                    </a:p>
                  </a:txBody>
                  <a:tcPr marL="9180" marR="9180" marT="9180" marB="0" anchor="b">
                    <a:lnL>
                      <a:noFill/>
                    </a:lnL>
                    <a:lnR w="6350" cap="flat" cmpd="sng" algn="ctr">
                      <a:solidFill>
                        <a:srgbClr val="000000"/>
                      </a:solidFill>
                      <a:prstDash val="solid"/>
                      <a:round/>
                      <a:headEnd type="none" w="med" len="med"/>
                      <a:tailEnd type="none" w="med" len="med"/>
                    </a:lnR>
                    <a:lnT>
                      <a:noFill/>
                    </a:lnT>
                    <a:lnB>
                      <a:noFill/>
                    </a:lnB>
                    <a:solidFill>
                      <a:srgbClr val="FBE2D5"/>
                    </a:solidFill>
                  </a:tcPr>
                </a:tc>
                <a:extLst>
                  <a:ext uri="{0D108BD9-81ED-4DB2-BD59-A6C34878D82A}">
                    <a16:rowId xmlns:a16="http://schemas.microsoft.com/office/drawing/2014/main" val="1970085034"/>
                  </a:ext>
                </a:extLst>
              </a:tr>
              <a:tr h="210312">
                <a:tc>
                  <a:txBody>
                    <a:bodyPr/>
                    <a:lstStyle/>
                    <a:p>
                      <a:pPr algn="l" fontAlgn="b">
                        <a:buNone/>
                      </a:pPr>
                      <a:r>
                        <a:rPr lang="en-US" sz="1100" b="1" i="0" u="none" strike="noStrike">
                          <a:effectLst/>
                          <a:latin typeface="Calibri" panose="020F0502020204030204" pitchFamily="34" charset="0"/>
                          <a:ea typeface="Calibri" panose="020F0502020204030204" pitchFamily="34" charset="0"/>
                          <a:cs typeface="Calibri" panose="020F0502020204030204" pitchFamily="34" charset="0"/>
                        </a:rPr>
                        <a:t>All Figures are in Thousands</a:t>
                      </a:r>
                    </a:p>
                  </a:txBody>
                  <a:tcPr marL="9180" marR="9180" marT="918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2020</a:t>
                      </a:r>
                      <a:endParaRPr lang="en-US" sz="170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2021</a:t>
                      </a:r>
                      <a:endParaRPr lang="en-US" sz="170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2022</a:t>
                      </a:r>
                      <a:endParaRPr lang="en-US" sz="170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2023</a:t>
                      </a:r>
                      <a:endParaRPr lang="en-US" sz="170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2024</a:t>
                      </a:r>
                      <a:endParaRPr lang="en-US" sz="170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b">
                    <a:lnL>
                      <a:noFill/>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2025E</a:t>
                      </a:r>
                      <a:endParaRPr lang="en-US" sz="170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b">
                    <a:lnL w="635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2026E</a:t>
                      </a:r>
                      <a:endParaRPr lang="en-US" sz="170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2027E</a:t>
                      </a:r>
                      <a:endParaRPr lang="en-US" sz="170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2D5"/>
                    </a:solidFill>
                  </a:tcPr>
                </a:tc>
                <a:extLst>
                  <a:ext uri="{0D108BD9-81ED-4DB2-BD59-A6C34878D82A}">
                    <a16:rowId xmlns:a16="http://schemas.microsoft.com/office/drawing/2014/main" val="4057098947"/>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Cash</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3,257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1,875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1,433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1,534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1,590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1,930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1,121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1,186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46512428"/>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Operating assets ex cash</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2,588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2,675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3,317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3,630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3,407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1,971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2,306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2,583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09069307"/>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Operating assets</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5,845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4,550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4,751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5,164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4,997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3,901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3,427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3,769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28378303"/>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Operating liabilities</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3,982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3,343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3,534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3,384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3,557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3,371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3,945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4,418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4285585"/>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NOWC</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1,863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1,207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1,217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1,779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1,439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529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(518)</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(649)</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80620333"/>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NOWC ex cash (NWC)</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(1,394)</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(668)</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(216)</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246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(150)</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(1,400)</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(1,639)</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(1,835)</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82873381"/>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NFA</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6,165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6,501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6,742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6,977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6,885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6,885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8,055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9,022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16633"/>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Invested capital</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8,029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7,708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7,959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8,756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8,324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7,414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7,537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8,373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17614445"/>
                  </a:ext>
                </a:extLst>
              </a:tr>
              <a:tr h="293999">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194334772"/>
                  </a:ext>
                </a:extLst>
              </a:tr>
              <a:tr h="293999">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Marketable securities</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95972661"/>
                  </a:ext>
                </a:extLst>
              </a:tr>
              <a:tr h="524585">
                <a:tc>
                  <a:txBody>
                    <a:bodyPr/>
                    <a:lstStyle/>
                    <a:p>
                      <a:pPr algn="l"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Total assets</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12,011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11,051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11,492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12,141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11,882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10,786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11,482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12,791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6678259"/>
                  </a:ext>
                </a:extLst>
              </a:tr>
              <a:tr h="293999">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127940514"/>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S-T and L-T debt and financing leases</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5,963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4,844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4,721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5,237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4,894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4,444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4,844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5,244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33967081"/>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Other liabilities and   noncontrolling interests</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343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311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330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267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272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272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272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272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54063992"/>
                  </a:ext>
                </a:extLst>
              </a:tr>
              <a:tr h="293999">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Debt/equity-like securities</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54154041"/>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Equity</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1,723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2,553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2,907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3,253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3,159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2,699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2,422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2,857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91299173"/>
                  </a:ext>
                </a:extLst>
              </a:tr>
              <a:tr h="524585">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Total supplied capital</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8,029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7,708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7,959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8,757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8,324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7,414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7,537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8,373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0549125"/>
                  </a:ext>
                </a:extLst>
              </a:tr>
              <a:tr h="293999">
                <a:tc>
                  <a:txBody>
                    <a:bodyPr/>
                    <a:lstStyle/>
                    <a:p>
                      <a:pPr algn="l"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24889466"/>
                  </a:ext>
                </a:extLst>
              </a:tr>
              <a:tr h="524585">
                <a:tc>
                  <a:txBody>
                    <a:bodyPr/>
                    <a:lstStyle/>
                    <a:p>
                      <a:pPr algn="l"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Total liabilities and equity</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12,011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11,051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11,492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12,141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11,882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10,786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11,482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12,791 </a:t>
                      </a:r>
                      <a:endParaRPr lang="en-US" sz="17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9180" marR="9180" marT="918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15123849"/>
                  </a:ext>
                </a:extLst>
              </a:tr>
            </a:tbl>
          </a:graphicData>
        </a:graphic>
      </p:graphicFrame>
      <p:sp>
        <p:nvSpPr>
          <p:cNvPr id="13" name="TextBox 12">
            <a:extLst>
              <a:ext uri="{FF2B5EF4-FFF2-40B4-BE49-F238E27FC236}">
                <a16:creationId xmlns:a16="http://schemas.microsoft.com/office/drawing/2014/main" id="{B26B8D61-6090-1A7C-A903-7DE7FFB7C43E}"/>
              </a:ext>
            </a:extLst>
          </p:cNvPr>
          <p:cNvSpPr txBox="1">
            <a:spLocks/>
          </p:cNvSpPr>
          <p:nvPr/>
        </p:nvSpPr>
        <p:spPr>
          <a:xfrm>
            <a:off x="7424739" y="9801783"/>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12</a:t>
            </a:r>
          </a:p>
        </p:txBody>
      </p:sp>
      <p:sp>
        <p:nvSpPr>
          <p:cNvPr id="14" name="TextBox 13">
            <a:extLst>
              <a:ext uri="{FF2B5EF4-FFF2-40B4-BE49-F238E27FC236}">
                <a16:creationId xmlns:a16="http://schemas.microsoft.com/office/drawing/2014/main" id="{9797643E-200B-A222-14CD-B33E19D91CEC}"/>
              </a:ext>
            </a:extLst>
          </p:cNvPr>
          <p:cNvSpPr txBox="1"/>
          <p:nvPr/>
        </p:nvSpPr>
        <p:spPr>
          <a:xfrm>
            <a:off x="64794" y="9823460"/>
            <a:ext cx="4391001"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HOG 10k (2016-2024), HOG 10q (Q1-4 2016-2024, Q1-3 2025), FactSet, Estimates </a:t>
            </a:r>
          </a:p>
        </p:txBody>
      </p:sp>
    </p:spTree>
    <p:extLst>
      <p:ext uri="{BB962C8B-B14F-4D97-AF65-F5344CB8AC3E}">
        <p14:creationId xmlns:p14="http://schemas.microsoft.com/office/powerpoint/2010/main" val="2215168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2E8BB-6F60-43EC-E726-40E5BC8831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4FFD291-38B9-75D0-8E57-4CB62A94906E}"/>
              </a:ext>
            </a:extLst>
          </p:cNvPr>
          <p:cNvSpPr txBox="1"/>
          <p:nvPr/>
        </p:nvSpPr>
        <p:spPr>
          <a:xfrm>
            <a:off x="7436169" y="9796790"/>
            <a:ext cx="2006283" cy="261610"/>
          </a:xfrm>
          <a:prstGeom prst="rect">
            <a:avLst/>
          </a:prstGeom>
          <a:noFill/>
        </p:spPr>
        <p:txBody>
          <a:bodyPr wrap="square" rtlCol="0">
            <a:spAutoFit/>
          </a:bodyPr>
          <a:lstStyle/>
          <a:p>
            <a:r>
              <a:rPr lang="en-US" sz="1100">
                <a:latin typeface="Calibri" panose="020F0502020204030204" pitchFamily="34" charset="0"/>
                <a:cs typeface="Calibri" panose="020F0502020204030204" pitchFamily="34" charset="0"/>
              </a:rPr>
              <a:t>13</a:t>
            </a:r>
          </a:p>
        </p:txBody>
      </p:sp>
      <p:sp>
        <p:nvSpPr>
          <p:cNvPr id="2" name="TextBox 1">
            <a:extLst>
              <a:ext uri="{FF2B5EF4-FFF2-40B4-BE49-F238E27FC236}">
                <a16:creationId xmlns:a16="http://schemas.microsoft.com/office/drawing/2014/main" id="{17EAA4BD-A1AF-8B34-9661-2C13F0E90300}"/>
              </a:ext>
            </a:extLst>
          </p:cNvPr>
          <p:cNvSpPr txBox="1"/>
          <p:nvPr/>
        </p:nvSpPr>
        <p:spPr>
          <a:xfrm>
            <a:off x="76224" y="9834890"/>
            <a:ext cx="4391001"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HOG 10k (2016-2024), HOG 10q (Q1-4 2016-2024, Q1-3 2025), FactSet, Estimates </a:t>
            </a:r>
          </a:p>
        </p:txBody>
      </p:sp>
      <p:graphicFrame>
        <p:nvGraphicFramePr>
          <p:cNvPr id="3" name="Table 2">
            <a:extLst>
              <a:ext uri="{FF2B5EF4-FFF2-40B4-BE49-F238E27FC236}">
                <a16:creationId xmlns:a16="http://schemas.microsoft.com/office/drawing/2014/main" id="{BCB4DED4-760C-A302-5C75-C45282239E95}"/>
              </a:ext>
            </a:extLst>
          </p:cNvPr>
          <p:cNvGraphicFramePr>
            <a:graphicFrameLocks noGrp="1"/>
          </p:cNvGraphicFramePr>
          <p:nvPr>
            <p:custDataLst>
              <p:tags r:id="rId1"/>
            </p:custDataLst>
            <p:extLst>
              <p:ext uri="{D42A27DB-BD31-4B8C-83A1-F6EECF244321}">
                <p14:modId xmlns:p14="http://schemas.microsoft.com/office/powerpoint/2010/main" val="1336650678"/>
              </p:ext>
            </p:extLst>
          </p:nvPr>
        </p:nvGraphicFramePr>
        <p:xfrm>
          <a:off x="379301" y="547102"/>
          <a:ext cx="7040880" cy="8778240"/>
        </p:xfrm>
        <a:graphic>
          <a:graphicData uri="http://schemas.openxmlformats.org/drawingml/2006/table">
            <a:tbl>
              <a:tblPr/>
              <a:tblGrid>
                <a:gridCol w="3200400">
                  <a:extLst>
                    <a:ext uri="{9D8B030D-6E8A-4147-A177-3AD203B41FA5}">
                      <a16:colId xmlns:a16="http://schemas.microsoft.com/office/drawing/2014/main" val="2624202839"/>
                    </a:ext>
                  </a:extLst>
                </a:gridCol>
                <a:gridCol w="548640">
                  <a:extLst>
                    <a:ext uri="{9D8B030D-6E8A-4147-A177-3AD203B41FA5}">
                      <a16:colId xmlns:a16="http://schemas.microsoft.com/office/drawing/2014/main" val="3466844890"/>
                    </a:ext>
                  </a:extLst>
                </a:gridCol>
                <a:gridCol w="548640">
                  <a:extLst>
                    <a:ext uri="{9D8B030D-6E8A-4147-A177-3AD203B41FA5}">
                      <a16:colId xmlns:a16="http://schemas.microsoft.com/office/drawing/2014/main" val="1742364155"/>
                    </a:ext>
                  </a:extLst>
                </a:gridCol>
                <a:gridCol w="548640">
                  <a:extLst>
                    <a:ext uri="{9D8B030D-6E8A-4147-A177-3AD203B41FA5}">
                      <a16:colId xmlns:a16="http://schemas.microsoft.com/office/drawing/2014/main" val="2689579251"/>
                    </a:ext>
                  </a:extLst>
                </a:gridCol>
                <a:gridCol w="548640">
                  <a:extLst>
                    <a:ext uri="{9D8B030D-6E8A-4147-A177-3AD203B41FA5}">
                      <a16:colId xmlns:a16="http://schemas.microsoft.com/office/drawing/2014/main" val="2063407857"/>
                    </a:ext>
                  </a:extLst>
                </a:gridCol>
                <a:gridCol w="548640">
                  <a:extLst>
                    <a:ext uri="{9D8B030D-6E8A-4147-A177-3AD203B41FA5}">
                      <a16:colId xmlns:a16="http://schemas.microsoft.com/office/drawing/2014/main" val="67815189"/>
                    </a:ext>
                  </a:extLst>
                </a:gridCol>
                <a:gridCol w="548640">
                  <a:extLst>
                    <a:ext uri="{9D8B030D-6E8A-4147-A177-3AD203B41FA5}">
                      <a16:colId xmlns:a16="http://schemas.microsoft.com/office/drawing/2014/main" val="1416445583"/>
                    </a:ext>
                  </a:extLst>
                </a:gridCol>
                <a:gridCol w="548640">
                  <a:extLst>
                    <a:ext uri="{9D8B030D-6E8A-4147-A177-3AD203B41FA5}">
                      <a16:colId xmlns:a16="http://schemas.microsoft.com/office/drawing/2014/main" val="1296538792"/>
                    </a:ext>
                  </a:extLst>
                </a:gridCol>
              </a:tblGrid>
              <a:tr h="274320">
                <a:tc>
                  <a:txBody>
                    <a:bodyPr/>
                    <a:lstStyle/>
                    <a:p>
                      <a:pPr algn="l" fontAlgn="b"/>
                      <a:r>
                        <a:rPr lang="en-US" sz="1100" b="1" i="0" u="none" strike="noStrike">
                          <a:solidFill>
                            <a:schemeClr val="bg1"/>
                          </a:solidFill>
                          <a:effectLst/>
                          <a:latin typeface="Calibri"/>
                        </a:rPr>
                        <a:t> 3. Statement of Cash Flows</a:t>
                      </a:r>
                    </a:p>
                  </a:txBody>
                  <a:tcPr marL="0" marR="0" marT="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ct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ct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ct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ct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ct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ct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fontAlgn="ctr"/>
                      <a:endParaRPr lang="en-US" sz="900" b="0" i="0" u="none" strike="noStrike">
                        <a:solidFill>
                          <a:srgbClr val="000000"/>
                        </a:solidFill>
                        <a:effectLst/>
                        <a:latin typeface="Calibri" panose="020F0502020204030204" pitchFamily="34" charset="0"/>
                      </a:endParaRP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3756984856"/>
                  </a:ext>
                </a:extLst>
              </a:tr>
              <a:tr h="274320">
                <a:tc>
                  <a:txBody>
                    <a:bodyPr/>
                    <a:lstStyle/>
                    <a:p>
                      <a:pPr algn="ctr" fontAlgn="b"/>
                      <a:endParaRPr lang="en-US" sz="900" b="0" i="0" u="none" strike="noStrike">
                        <a:solidFill>
                          <a:srgbClr val="83CCEB"/>
                        </a:solidFill>
                        <a:effectLst/>
                        <a:latin typeface="Calibri"/>
                      </a:endParaRPr>
                    </a:p>
                  </a:txBody>
                  <a:tcPr marL="0" marR="0" marT="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rPr>
                        <a:t>2021</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rPr>
                        <a:t>2022</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rPr>
                        <a:t>2023</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rPr>
                        <a:t>2024</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rPr>
                        <a:t>2025E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rPr>
                        <a:t>2026E</a:t>
                      </a:r>
                    </a:p>
                  </a:txBody>
                  <a:tcPr marL="0" marR="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rPr>
                        <a:t>2027E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30649222"/>
                  </a:ext>
                </a:extLst>
              </a:tr>
              <a:tr h="274320">
                <a:tc>
                  <a:txBody>
                    <a:bodyPr/>
                    <a:lstStyle/>
                    <a:p>
                      <a:pPr algn="l" fontAlgn="b">
                        <a:buNone/>
                      </a:pPr>
                      <a:r>
                        <a:rPr lang="en-US" sz="800" b="1" i="0" u="none" strike="noStrike">
                          <a:solidFill>
                            <a:srgbClr val="000000"/>
                          </a:solidFill>
                          <a:effectLst/>
                          <a:latin typeface="Calibri"/>
                          <a:ea typeface="Calibri"/>
                          <a:cs typeface="Calibri"/>
                        </a:rPr>
                        <a:t> Net cash provided by operating activities</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$975,701</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$548,461</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$754,887</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$1,063,833</a:t>
                      </a: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$321,748</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$574,419</a:t>
                      </a:r>
                    </a:p>
                  </a:txBody>
                  <a:tcPr marL="0" marR="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$574,419</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17697347"/>
                  </a:ext>
                </a:extLst>
              </a:tr>
              <a:tr h="274320">
                <a:tc>
                  <a:txBody>
                    <a:bodyPr/>
                    <a:lstStyle/>
                    <a:p>
                      <a:pPr algn="l" fontAlgn="b">
                        <a:buNone/>
                      </a:pPr>
                      <a:r>
                        <a:rPr lang="en-US" sz="800" b="1" i="0" u="none" strike="noStrike">
                          <a:solidFill>
                            <a:srgbClr val="000000"/>
                          </a:solidFill>
                          <a:effectLst/>
                          <a:latin typeface="Calibri"/>
                          <a:ea typeface="Calibri"/>
                          <a:cs typeface="Calibri"/>
                        </a:rPr>
                        <a:t> Net cash used by investing activities</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-459,447</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-773,011</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-512,304</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-383,330</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128,332</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-86,904</a:t>
                      </a:r>
                    </a:p>
                  </a:txBody>
                  <a:tcPr marL="0" marR="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-86,904</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2"/>
                    </a:solidFill>
                  </a:tcPr>
                </a:tc>
                <a:extLst>
                  <a:ext uri="{0D108BD9-81ED-4DB2-BD59-A6C34878D82A}">
                    <a16:rowId xmlns:a16="http://schemas.microsoft.com/office/drawing/2014/main" val="2122793044"/>
                  </a:ext>
                </a:extLst>
              </a:tr>
              <a:tr h="274320">
                <a:tc>
                  <a:txBody>
                    <a:bodyPr/>
                    <a:lstStyle/>
                    <a:p>
                      <a:pPr lvl="0" algn="l">
                        <a:buNone/>
                      </a:pPr>
                      <a:endParaRPr lang="en-US" sz="800" b="1" i="0" u="none" strike="noStrike">
                        <a:solidFill>
                          <a:srgbClr val="000000"/>
                        </a:solidFill>
                        <a:effectLst/>
                        <a:latin typeface="Calibri"/>
                        <a:ea typeface="Calibri"/>
                        <a:cs typeface="Calibri"/>
                      </a:endParaRPr>
                    </a:p>
                  </a:txBody>
                  <a:tcPr marL="6350" marR="6350" marT="6350" marB="0" anchor="ctr">
                    <a:lnL w="12700">
                      <a:solidFill>
                        <a:schemeClr val="tx1"/>
                      </a:solidFill>
                    </a:lnL>
                    <a:lnR w="0">
                      <a:noFill/>
                    </a:lnR>
                    <a:lnT w="12700">
                      <a:noFill/>
                    </a:lnT>
                    <a:lnB w="0">
                      <a:noFill/>
                    </a:lnB>
                    <a:solidFill>
                      <a:schemeClr val="bg2"/>
                    </a:solidFill>
                  </a:tcPr>
                </a:tc>
                <a:tc>
                  <a:txBody>
                    <a:bodyPr/>
                    <a:lstStyle/>
                    <a:p>
                      <a:pPr lvl="0" algn="ctr">
                        <a:buNone/>
                      </a:pPr>
                      <a:endParaRPr lang="en-US" sz="800" b="1" i="0" u="none" strike="noStrike">
                        <a:solidFill>
                          <a:srgbClr val="000000"/>
                        </a:solidFill>
                        <a:effectLst/>
                        <a:latin typeface="Calibri"/>
                        <a:ea typeface="Calibri"/>
                        <a:cs typeface="Calibri"/>
                      </a:endParaRPr>
                    </a:p>
                  </a:txBody>
                  <a:tcPr marL="6350" marR="6350" marT="6350" marB="0" anchor="ctr">
                    <a:lnL w="0">
                      <a:noFill/>
                    </a:lnL>
                    <a:lnR w="0">
                      <a:noFill/>
                    </a:lnR>
                    <a:lnT w="12700">
                      <a:noFill/>
                    </a:lnT>
                    <a:lnB w="0">
                      <a:noFill/>
                    </a:lnB>
                    <a:solidFill>
                      <a:schemeClr val="bg2"/>
                    </a:solidFill>
                  </a:tcPr>
                </a:tc>
                <a:tc>
                  <a:txBody>
                    <a:bodyPr/>
                    <a:lstStyle/>
                    <a:p>
                      <a:pPr lvl="0" algn="ctr">
                        <a:buNone/>
                      </a:pPr>
                      <a:endParaRPr lang="en-US" sz="800" b="1" i="0" u="none" strike="noStrike">
                        <a:solidFill>
                          <a:srgbClr val="000000"/>
                        </a:solidFill>
                        <a:effectLst/>
                        <a:latin typeface="Calibri"/>
                        <a:ea typeface="Calibri"/>
                        <a:cs typeface="Calibri"/>
                      </a:endParaRPr>
                    </a:p>
                  </a:txBody>
                  <a:tcPr marL="6350" marR="6350" marT="6350" marB="0" anchor="ctr">
                    <a:lnL w="0">
                      <a:noFill/>
                    </a:lnL>
                    <a:lnR w="0">
                      <a:noFill/>
                    </a:lnR>
                    <a:lnT w="12700">
                      <a:noFill/>
                    </a:lnT>
                    <a:lnB w="0">
                      <a:noFill/>
                    </a:lnB>
                    <a:solidFill>
                      <a:schemeClr val="bg2"/>
                    </a:solidFill>
                  </a:tcPr>
                </a:tc>
                <a:tc>
                  <a:txBody>
                    <a:bodyPr/>
                    <a:lstStyle/>
                    <a:p>
                      <a:pPr lvl="0" algn="ctr">
                        <a:buNone/>
                      </a:pPr>
                      <a:endParaRPr lang="en-US" sz="800" b="1" i="0" u="none" strike="noStrike">
                        <a:solidFill>
                          <a:srgbClr val="000000"/>
                        </a:solidFill>
                        <a:effectLst/>
                        <a:latin typeface="Calibri"/>
                        <a:ea typeface="Calibri"/>
                        <a:cs typeface="Calibri"/>
                      </a:endParaRPr>
                    </a:p>
                  </a:txBody>
                  <a:tcPr marL="6350" marR="6350" marT="6350" marB="0" anchor="ctr">
                    <a:lnL w="0">
                      <a:noFill/>
                    </a:lnL>
                    <a:lnR w="0">
                      <a:noFill/>
                    </a:lnR>
                    <a:lnT w="12700">
                      <a:noFill/>
                    </a:lnT>
                    <a:lnB w="0">
                      <a:noFill/>
                    </a:lnB>
                    <a:solidFill>
                      <a:schemeClr val="bg2"/>
                    </a:solidFill>
                  </a:tcPr>
                </a:tc>
                <a:tc>
                  <a:txBody>
                    <a:bodyPr/>
                    <a:lstStyle/>
                    <a:p>
                      <a:pPr lvl="0" algn="ctr">
                        <a:buNone/>
                      </a:pPr>
                      <a:endParaRPr lang="en-US" sz="800" b="1" i="0" u="none" strike="noStrike">
                        <a:solidFill>
                          <a:srgbClr val="000000"/>
                        </a:solidFill>
                        <a:effectLst/>
                        <a:latin typeface="Calibri"/>
                        <a:ea typeface="Calibri"/>
                        <a:cs typeface="Calibri"/>
                      </a:endParaRPr>
                    </a:p>
                  </a:txBody>
                  <a:tcPr marL="6350" marR="6350" marT="6350" marB="0" anchor="ctr">
                    <a:lnL w="0">
                      <a:noFill/>
                    </a:lnL>
                    <a:lnR w="12700">
                      <a:solidFill>
                        <a:schemeClr val="tx1"/>
                      </a:solidFill>
                    </a:lnR>
                    <a:lnT w="12700">
                      <a:noFill/>
                    </a:lnT>
                    <a:lnB w="0">
                      <a:noFill/>
                    </a:lnB>
                    <a:lnTlToBr w="0">
                      <a:noFill/>
                    </a:lnTlToBr>
                    <a:lnBlToTr w="0">
                      <a:noFill/>
                    </a:lnBlToTr>
                    <a:solidFill>
                      <a:schemeClr val="bg2"/>
                    </a:solidFill>
                  </a:tcPr>
                </a:tc>
                <a:tc>
                  <a:txBody>
                    <a:bodyPr/>
                    <a:lstStyle/>
                    <a:p>
                      <a:pPr lvl="0" algn="ctr">
                        <a:buNone/>
                      </a:pPr>
                      <a:endParaRPr lang="en-US" sz="800" b="1" i="0" u="none" strike="noStrike">
                        <a:solidFill>
                          <a:srgbClr val="000000"/>
                        </a:solidFill>
                        <a:effectLst/>
                        <a:latin typeface="Calibri"/>
                      </a:endParaRPr>
                    </a:p>
                  </a:txBody>
                  <a:tcPr marL="0" marR="0" marT="0" marB="0" anchor="ctr">
                    <a:lnL w="12700">
                      <a:solidFill>
                        <a:schemeClr val="tx1"/>
                      </a:solidFill>
                    </a:lnL>
                    <a:lnR w="0">
                      <a:noFill/>
                    </a:lnR>
                    <a:lnT w="12700">
                      <a:noFill/>
                    </a:lnT>
                    <a:lnB w="0">
                      <a:noFill/>
                    </a:lnB>
                    <a:lnTlToBr w="0">
                      <a:noFill/>
                    </a:lnTlToBr>
                    <a:lnBlToTr w="0">
                      <a:noFill/>
                    </a:lnBlToTr>
                    <a:solidFill>
                      <a:schemeClr val="bg2"/>
                    </a:solidFill>
                  </a:tcPr>
                </a:tc>
                <a:tc>
                  <a:txBody>
                    <a:bodyPr/>
                    <a:lstStyle/>
                    <a:p>
                      <a:pPr lvl="0" algn="ctr">
                        <a:buNone/>
                      </a:pPr>
                      <a:endParaRPr lang="en-US" sz="800" b="1" i="0" u="none" strike="noStrike">
                        <a:solidFill>
                          <a:srgbClr val="000000"/>
                        </a:solidFill>
                        <a:effectLst/>
                        <a:latin typeface="Calibri"/>
                      </a:endParaRPr>
                    </a:p>
                  </a:txBody>
                  <a:tcPr marL="0" marR="0" marT="0" marB="0" anchor="ctr">
                    <a:lnL w="0">
                      <a:noFill/>
                    </a:lnL>
                    <a:lnR w="0">
                      <a:noFill/>
                    </a:lnR>
                    <a:lnT w="12700">
                      <a:noFill/>
                    </a:lnT>
                    <a:lnB w="0">
                      <a:noFill/>
                    </a:lnB>
                    <a:lnTlToBr w="0">
                      <a:noFill/>
                    </a:lnTlToBr>
                    <a:lnBlToTr w="0">
                      <a:noFill/>
                    </a:lnBlToTr>
                    <a:solidFill>
                      <a:schemeClr val="bg2"/>
                    </a:solidFill>
                  </a:tcPr>
                </a:tc>
                <a:tc>
                  <a:txBody>
                    <a:bodyPr/>
                    <a:lstStyle/>
                    <a:p>
                      <a:pPr lvl="0" algn="ctr">
                        <a:buNone/>
                      </a:pPr>
                      <a:endParaRPr lang="en-US" sz="800" b="1" i="0" u="none" strike="noStrike">
                        <a:solidFill>
                          <a:srgbClr val="000000"/>
                        </a:solidFill>
                        <a:effectLst/>
                        <a:latin typeface="Calibri"/>
                      </a:endParaRPr>
                    </a:p>
                  </a:txBody>
                  <a:tcPr marL="0" marR="0" marT="0" marB="0" anchor="ctr">
                    <a:lnL w="0">
                      <a:noFill/>
                    </a:lnL>
                    <a:lnR w="12700">
                      <a:solidFill>
                        <a:schemeClr val="tx1"/>
                      </a:solidFill>
                    </a:lnR>
                    <a:lnT w="12700">
                      <a:noFill/>
                    </a:lnT>
                    <a:lnB w="0">
                      <a:noFill/>
                    </a:lnB>
                    <a:solidFill>
                      <a:schemeClr val="bg2"/>
                    </a:solidFill>
                  </a:tcPr>
                </a:tc>
                <a:extLst>
                  <a:ext uri="{0D108BD9-81ED-4DB2-BD59-A6C34878D82A}">
                    <a16:rowId xmlns:a16="http://schemas.microsoft.com/office/drawing/2014/main" val="3120975365"/>
                  </a:ext>
                </a:extLst>
              </a:tr>
              <a:tr h="274320">
                <a:tc>
                  <a:txBody>
                    <a:bodyPr/>
                    <a:lstStyle/>
                    <a:p>
                      <a:pPr algn="l" fontAlgn="b">
                        <a:buNone/>
                      </a:pPr>
                      <a:r>
                        <a:rPr lang="en-US" sz="800" b="1" i="0" u="none" strike="noStrike" kern="1200">
                          <a:solidFill>
                            <a:srgbClr val="000000"/>
                          </a:solidFill>
                          <a:effectLst/>
                          <a:latin typeface="Calibri"/>
                          <a:ea typeface="Calibri"/>
                          <a:cs typeface="Calibri"/>
                        </a:rPr>
                        <a:t> Cash flows from financing activities:</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endParaRPr lang="en-US" sz="800" b="1" i="0" u="none" strike="noStrike" kern="1200">
                        <a:solidFill>
                          <a:srgbClr val="000000"/>
                        </a:solidFill>
                        <a:effectLst/>
                        <a:latin typeface="Calibri"/>
                        <a:ea typeface="Calibri"/>
                        <a:cs typeface="Calibri"/>
                      </a:endParaRPr>
                    </a:p>
                  </a:txBody>
                  <a:tcPr marL="6350" marR="6350" marT="6350" marB="0" anchor="ctr">
                    <a:lnL>
                      <a:noFill/>
                    </a:lnL>
                    <a:lnR>
                      <a:noFill/>
                    </a:lnR>
                    <a:lnT>
                      <a:noFill/>
                    </a:lnT>
                    <a:lnB>
                      <a:noFill/>
                    </a:lnB>
                    <a:solidFill>
                      <a:schemeClr val="bg2"/>
                    </a:solidFill>
                  </a:tcPr>
                </a:tc>
                <a:tc>
                  <a:txBody>
                    <a:bodyPr/>
                    <a:lstStyle/>
                    <a:p>
                      <a:pPr algn="ctr" fontAlgn="b">
                        <a:buNone/>
                      </a:pPr>
                      <a:endParaRPr lang="en-US" sz="800" b="1" i="0" u="none" strike="noStrike" kern="1200">
                        <a:solidFill>
                          <a:srgbClr val="000000"/>
                        </a:solidFill>
                        <a:effectLst/>
                        <a:latin typeface="Calibri"/>
                        <a:ea typeface="Calibri"/>
                        <a:cs typeface="Calibri"/>
                      </a:endParaRPr>
                    </a:p>
                  </a:txBody>
                  <a:tcPr marL="6350" marR="6350" marT="6350" marB="0" anchor="ctr">
                    <a:lnL>
                      <a:noFill/>
                    </a:lnL>
                    <a:lnR>
                      <a:noFill/>
                    </a:lnR>
                    <a:lnT>
                      <a:noFill/>
                    </a:lnT>
                    <a:lnB>
                      <a:noFill/>
                    </a:lnB>
                    <a:solidFill>
                      <a:schemeClr val="bg2"/>
                    </a:solidFill>
                  </a:tcPr>
                </a:tc>
                <a:tc>
                  <a:txBody>
                    <a:bodyPr/>
                    <a:lstStyle/>
                    <a:p>
                      <a:pPr algn="ctr" fontAlgn="b">
                        <a:buNone/>
                      </a:pPr>
                      <a:endParaRPr lang="en-US" sz="800" b="1" i="0" u="none" strike="noStrike" kern="1200">
                        <a:solidFill>
                          <a:srgbClr val="000000"/>
                        </a:solidFill>
                        <a:effectLst/>
                        <a:latin typeface="Calibri"/>
                        <a:ea typeface="Calibri"/>
                        <a:cs typeface="Calibri"/>
                      </a:endParaRPr>
                    </a:p>
                  </a:txBody>
                  <a:tcPr marL="6350" marR="6350" marT="6350" marB="0" anchor="ctr">
                    <a:lnL>
                      <a:noFill/>
                    </a:lnL>
                    <a:lnR>
                      <a:noFill/>
                    </a:lnR>
                    <a:lnT>
                      <a:noFill/>
                    </a:lnT>
                    <a:lnB>
                      <a:noFill/>
                    </a:lnB>
                    <a:solidFill>
                      <a:schemeClr val="bg2"/>
                    </a:solidFill>
                  </a:tcPr>
                </a:tc>
                <a:tc>
                  <a:txBody>
                    <a:bodyPr/>
                    <a:lstStyle/>
                    <a:p>
                      <a:pPr algn="ctr" fontAlgn="b">
                        <a:buNone/>
                      </a:pPr>
                      <a:endParaRPr lang="en-US" sz="800" b="1" i="0" u="none" strike="noStrike" kern="1200">
                        <a:solidFill>
                          <a:srgbClr val="000000"/>
                        </a:solidFill>
                        <a:effectLst/>
                        <a:latin typeface="Calibri"/>
                        <a:ea typeface="Calibri"/>
                        <a:cs typeface="Calibri"/>
                      </a:endParaRP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800" b="0" i="0" u="none" strike="noStrike">
                        <a:solidFill>
                          <a:srgbClr val="000000"/>
                        </a:solidFill>
                        <a:effectLst/>
                        <a:latin typeface="Calibri"/>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800" b="0" i="0" u="none" strike="noStrike">
                        <a:solidFill>
                          <a:srgbClr val="0000FF"/>
                        </a:solidFill>
                        <a:effectLst/>
                        <a:latin typeface="Calibri"/>
                      </a:endParaRP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800" b="0" i="0" u="none" strike="noStrike">
                        <a:solidFill>
                          <a:srgbClr val="0000FF"/>
                        </a:solidFill>
                        <a:effectLst/>
                        <a:latin typeface="Calibri" panose="020F0502020204030204" pitchFamily="34" charset="0"/>
                      </a:endParaRP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229721151"/>
                  </a:ext>
                </a:extLst>
              </a:tr>
              <a:tr h="274320">
                <a:tc>
                  <a:txBody>
                    <a:bodyPr/>
                    <a:lstStyle/>
                    <a:p>
                      <a:pPr algn="l" fontAlgn="b">
                        <a:buNone/>
                      </a:pPr>
                      <a:r>
                        <a:rPr lang="en-US" sz="800" b="1" i="0" u="none" strike="noStrike" kern="1200">
                          <a:solidFill>
                            <a:srgbClr val="000000"/>
                          </a:solidFill>
                          <a:effectLst/>
                          <a:latin typeface="Calibri"/>
                          <a:ea typeface="Calibri"/>
                          <a:cs typeface="Calibri"/>
                        </a:rPr>
                        <a:t> Proceeds from issuance of medium-term notes</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 </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495,785</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1,446,304</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495,856</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647,088</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chemeClr val="tx1"/>
                          </a:solidFill>
                          <a:effectLst/>
                          <a:latin typeface="Calibri"/>
                        </a:rPr>
                        <a:t>696,777</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chemeClr val="tx1"/>
                          </a:solidFill>
                          <a:effectLst/>
                          <a:latin typeface="Calibri"/>
                        </a:rPr>
                        <a:t>696,777</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3037643878"/>
                  </a:ext>
                </a:extLst>
              </a:tr>
              <a:tr h="274320">
                <a:tc>
                  <a:txBody>
                    <a:bodyPr/>
                    <a:lstStyle/>
                    <a:p>
                      <a:pPr algn="l" fontAlgn="b">
                        <a:buNone/>
                      </a:pPr>
                      <a:r>
                        <a:rPr lang="en-US" sz="800" b="1" i="0" u="none" strike="noStrike" kern="1200">
                          <a:solidFill>
                            <a:srgbClr val="000000"/>
                          </a:solidFill>
                          <a:effectLst/>
                          <a:latin typeface="Calibri"/>
                          <a:ea typeface="Calibri"/>
                          <a:cs typeface="Calibri"/>
                        </a:rPr>
                        <a:t> Repayments of medium-term notes</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-1,400,000</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-950,000</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-1,056,680</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-660,780</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-700,000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chemeClr val="tx1"/>
                          </a:solidFill>
                          <a:effectLst/>
                          <a:latin typeface="Calibri"/>
                        </a:rPr>
                        <a:t>-615,648</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chemeClr val="tx1"/>
                          </a:solidFill>
                          <a:effectLst/>
                          <a:latin typeface="Calibri"/>
                        </a:rPr>
                        <a:t>-615,648</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1385661294"/>
                  </a:ext>
                </a:extLst>
              </a:tr>
              <a:tr h="274320">
                <a:tc>
                  <a:txBody>
                    <a:bodyPr/>
                    <a:lstStyle/>
                    <a:p>
                      <a:pPr algn="l" fontAlgn="b">
                        <a:buNone/>
                      </a:pPr>
                      <a:r>
                        <a:rPr lang="en-US" sz="800" b="1" i="0" u="none" strike="noStrike" kern="1200">
                          <a:solidFill>
                            <a:srgbClr val="000000"/>
                          </a:solidFill>
                          <a:effectLst/>
                          <a:latin typeface="Calibri"/>
                          <a:ea typeface="Calibri"/>
                          <a:cs typeface="Calibri"/>
                        </a:rPr>
                        <a:t> Proceeds From Term Loan</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 </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448,013</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448,013</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448,013</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3241774707"/>
                  </a:ext>
                </a:extLst>
              </a:tr>
              <a:tr h="274320">
                <a:tc>
                  <a:txBody>
                    <a:bodyPr/>
                    <a:lstStyle/>
                    <a:p>
                      <a:pPr algn="l" fontAlgn="b">
                        <a:buNone/>
                      </a:pPr>
                      <a:r>
                        <a:rPr lang="en-US" sz="800" b="1" i="0" u="none" strike="noStrike" kern="1200">
                          <a:solidFill>
                            <a:srgbClr val="000000"/>
                          </a:solidFill>
                          <a:effectLst/>
                          <a:latin typeface="Calibri"/>
                          <a:ea typeface="Calibri"/>
                          <a:cs typeface="Calibri"/>
                        </a:rPr>
                        <a:t> Repayments of senior unsecured notes</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-450,000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-450,000</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-450,000</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1166391809"/>
                  </a:ext>
                </a:extLst>
              </a:tr>
              <a:tr h="274320">
                <a:tc>
                  <a:txBody>
                    <a:bodyPr/>
                    <a:lstStyle/>
                    <a:p>
                      <a:pPr algn="l" fontAlgn="b">
                        <a:buNone/>
                      </a:pPr>
                      <a:r>
                        <a:rPr lang="en-US" sz="800" b="1" i="0" u="none" strike="noStrike" kern="1200">
                          <a:solidFill>
                            <a:srgbClr val="000000"/>
                          </a:solidFill>
                          <a:effectLst/>
                          <a:latin typeface="Calibri"/>
                          <a:ea typeface="Calibri"/>
                          <a:cs typeface="Calibri"/>
                        </a:rPr>
                        <a:t> Proceeds from securitization debt</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1,169,910</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1,826,891</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1,045,547</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1,145,211</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497,790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731,886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731,886</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2613824527"/>
                  </a:ext>
                </a:extLst>
              </a:tr>
              <a:tr h="274320">
                <a:tc>
                  <a:txBody>
                    <a:bodyPr/>
                    <a:lstStyle/>
                    <a:p>
                      <a:pPr algn="l" fontAlgn="b">
                        <a:buNone/>
                      </a:pPr>
                      <a:r>
                        <a:rPr lang="en-US" sz="800" b="1" i="0" u="none" strike="noStrike" kern="1200">
                          <a:solidFill>
                            <a:srgbClr val="000000"/>
                          </a:solidFill>
                          <a:effectLst/>
                          <a:latin typeface="Calibri"/>
                          <a:ea typeface="Calibri"/>
                          <a:cs typeface="Calibri"/>
                        </a:rPr>
                        <a:t> Repayments of securitization debt</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-1,340,638</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-1,442,860</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-1,193,526</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-1,078,248</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-798,589</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-772,770</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-772,770</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1624868426"/>
                  </a:ext>
                </a:extLst>
              </a:tr>
              <a:tr h="274320">
                <a:tc>
                  <a:txBody>
                    <a:bodyPr/>
                    <a:lstStyle/>
                    <a:p>
                      <a:pPr algn="l" fontAlgn="b">
                        <a:buNone/>
                      </a:pPr>
                      <a:r>
                        <a:rPr lang="en-US" sz="800" b="1" i="0" u="none" strike="noStrike" kern="1200">
                          <a:solidFill>
                            <a:srgbClr val="000000"/>
                          </a:solidFill>
                          <a:effectLst/>
                          <a:latin typeface="Calibri"/>
                          <a:ea typeface="Calibri"/>
                          <a:cs typeface="Calibri"/>
                        </a:rPr>
                        <a:t> Borrowings of asset-backed commercial paper</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98,863</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448,255</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42,429</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469,986</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800" b="1" i="0" u="none" strike="noStrike">
                        <a:solidFill>
                          <a:srgbClr val="000000"/>
                        </a:solidFill>
                        <a:effectLst/>
                        <a:latin typeface="Calibri"/>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441,769</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441,769</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3983316600"/>
                  </a:ext>
                </a:extLst>
              </a:tr>
              <a:tr h="274320">
                <a:tc>
                  <a:txBody>
                    <a:bodyPr/>
                    <a:lstStyle/>
                    <a:p>
                      <a:pPr algn="l" fontAlgn="b">
                        <a:buNone/>
                      </a:pPr>
                      <a:r>
                        <a:rPr lang="en-US" sz="800" b="1" i="0" u="none" strike="noStrike" kern="1200">
                          <a:solidFill>
                            <a:srgbClr val="000000"/>
                          </a:solidFill>
                          <a:effectLst/>
                          <a:latin typeface="Calibri"/>
                          <a:ea typeface="Calibri"/>
                          <a:cs typeface="Calibri"/>
                        </a:rPr>
                        <a:t> Repayments of asset-backed commercial paper</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-261,367</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-302,922</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-237,370</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-258,077</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39,574</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-74687</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-74687</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3748393618"/>
                  </a:ext>
                </a:extLst>
              </a:tr>
              <a:tr h="274320">
                <a:tc>
                  <a:txBody>
                    <a:bodyPr/>
                    <a:lstStyle/>
                    <a:p>
                      <a:pPr algn="l" fontAlgn="b">
                        <a:buNone/>
                      </a:pPr>
                      <a:r>
                        <a:rPr lang="en-US" sz="800" b="1" i="0" u="none" strike="noStrike" kern="1200">
                          <a:solidFill>
                            <a:srgbClr val="000000"/>
                          </a:solidFill>
                          <a:effectLst/>
                          <a:latin typeface="Calibri"/>
                          <a:ea typeface="Calibri"/>
                          <a:cs typeface="Calibri"/>
                        </a:rPr>
                        <a:t> Net (decrease) increase in unsecured commercial paper</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-260,250</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16,003</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107,146</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-237,340</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200,695</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98,960</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98,960</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2044353162"/>
                  </a:ext>
                </a:extLst>
              </a:tr>
              <a:tr h="274320">
                <a:tc>
                  <a:txBody>
                    <a:bodyPr/>
                    <a:lstStyle/>
                    <a:p>
                      <a:pPr algn="l" fontAlgn="b">
                        <a:buNone/>
                      </a:pPr>
                      <a:r>
                        <a:rPr lang="en-US" sz="800" b="1" i="0" u="none" strike="noStrike" kern="1200">
                          <a:solidFill>
                            <a:srgbClr val="000000"/>
                          </a:solidFill>
                          <a:effectLst/>
                          <a:latin typeface="Calibri"/>
                          <a:ea typeface="Calibri"/>
                          <a:cs typeface="Calibri"/>
                        </a:rPr>
                        <a:t> Net increase in deposits</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210,112</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26,605</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129,855</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102,119</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41,854</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49,909</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49,909</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1237357934"/>
                  </a:ext>
                </a:extLst>
              </a:tr>
              <a:tr h="274320">
                <a:tc>
                  <a:txBody>
                    <a:bodyPr/>
                    <a:lstStyle/>
                    <a:p>
                      <a:pPr algn="l" fontAlgn="b">
                        <a:buNone/>
                      </a:pPr>
                      <a:r>
                        <a:rPr lang="en-US" sz="800" b="1" i="0" u="none" strike="noStrike" kern="1200">
                          <a:solidFill>
                            <a:srgbClr val="000000"/>
                          </a:solidFill>
                          <a:effectLst/>
                          <a:latin typeface="Calibri"/>
                          <a:ea typeface="Calibri"/>
                          <a:cs typeface="Calibri"/>
                        </a:rPr>
                        <a:t> Dividends paid</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-92,426</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-93,180</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-96,310</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-91,224</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-88,384</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-90,297</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-90,297</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733638367"/>
                  </a:ext>
                </a:extLst>
              </a:tr>
              <a:tr h="274320">
                <a:tc>
                  <a:txBody>
                    <a:bodyPr/>
                    <a:lstStyle/>
                    <a:p>
                      <a:pPr algn="l" fontAlgn="b">
                        <a:buNone/>
                      </a:pPr>
                      <a:r>
                        <a:rPr lang="en-US" sz="800" b="1" i="0" u="none" strike="noStrike" kern="1200">
                          <a:solidFill>
                            <a:srgbClr val="000000"/>
                          </a:solidFill>
                          <a:effectLst/>
                          <a:latin typeface="Calibri"/>
                          <a:ea typeface="Calibri"/>
                          <a:cs typeface="Calibri"/>
                        </a:rPr>
                        <a:t> Repurchase of common stock</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-11,623</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-338,627</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-363,987</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-459,829</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202,234</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-133,064</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-133,064</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84605758"/>
                  </a:ext>
                </a:extLst>
              </a:tr>
              <a:tr h="274320">
                <a:tc>
                  <a:txBody>
                    <a:bodyPr/>
                    <a:lstStyle/>
                    <a:p>
                      <a:pPr algn="l" fontAlgn="b">
                        <a:buNone/>
                      </a:pPr>
                      <a:r>
                        <a:rPr lang="en-US" sz="800" b="1" i="0" u="none" strike="noStrike" kern="1200">
                          <a:solidFill>
                            <a:srgbClr val="000000"/>
                          </a:solidFill>
                          <a:effectLst/>
                          <a:latin typeface="Calibri"/>
                          <a:ea typeface="Calibri"/>
                          <a:cs typeface="Calibri"/>
                        </a:rPr>
                        <a:t> Cash received from business combination</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 </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114,068</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 - </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800" b="1" i="0" u="none" strike="noStrike">
                        <a:solidFill>
                          <a:srgbClr val="000000"/>
                        </a:solidFill>
                        <a:effectLst/>
                        <a:latin typeface="Calibri"/>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800" b="1" i="0" u="none" strike="noStrike">
                        <a:solidFill>
                          <a:srgbClr val="000000"/>
                        </a:solidFill>
                        <a:effectLst/>
                        <a:latin typeface="Calibri"/>
                      </a:endParaRP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800" b="1" i="0" u="none" strike="noStrike">
                        <a:solidFill>
                          <a:srgbClr val="000000"/>
                        </a:solidFill>
                        <a:effectLst/>
                        <a:latin typeface="Calibri"/>
                      </a:endParaRP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4225934186"/>
                  </a:ext>
                </a:extLst>
              </a:tr>
              <a:tr h="274320">
                <a:tc>
                  <a:txBody>
                    <a:bodyPr/>
                    <a:lstStyle/>
                    <a:p>
                      <a:pPr algn="l" fontAlgn="b">
                        <a:buNone/>
                      </a:pPr>
                      <a:r>
                        <a:rPr lang="en-US" sz="800" b="1" i="0" u="none" strike="noStrike" kern="1200">
                          <a:solidFill>
                            <a:srgbClr val="000000"/>
                          </a:solidFill>
                          <a:effectLst/>
                          <a:latin typeface="Calibri"/>
                          <a:ea typeface="Calibri"/>
                          <a:cs typeface="Calibri"/>
                        </a:rPr>
                        <a:t> Other financing activities</a:t>
                      </a:r>
                    </a:p>
                  </a:txBody>
                  <a:tcPr marL="6350" marR="6350" marT="635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2,488</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-1,985</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1,946</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11</a:t>
                      </a:r>
                    </a:p>
                  </a:txBody>
                  <a:tcPr marL="6350" marR="6350" marT="635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2,950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1,666</a:t>
                      </a:r>
                    </a:p>
                  </a:txBody>
                  <a:tcPr marL="0" marR="0" marT="0" marB="0"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1,666</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05276815"/>
                  </a:ext>
                </a:extLst>
              </a:tr>
              <a:tr h="274320">
                <a:tc>
                  <a:txBody>
                    <a:bodyPr/>
                    <a:lstStyle/>
                    <a:p>
                      <a:pPr algn="l" fontAlgn="b">
                        <a:buNone/>
                      </a:pPr>
                      <a:r>
                        <a:rPr lang="en-US" sz="800" b="1" i="0" u="none" strike="noStrike" kern="1200">
                          <a:solidFill>
                            <a:srgbClr val="000000"/>
                          </a:solidFill>
                          <a:effectLst/>
                          <a:latin typeface="Calibri"/>
                          <a:ea typeface="Calibri"/>
                          <a:cs typeface="Calibri"/>
                        </a:rPr>
                        <a:t> Net cash used by financing activities</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-1,884,931</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-201,967</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-174,646</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-572,315</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-399,513</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-126,577</a:t>
                      </a:r>
                    </a:p>
                  </a:txBody>
                  <a:tcPr marL="0" marR="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-126,577</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2"/>
                    </a:solidFill>
                  </a:tcPr>
                </a:tc>
                <a:extLst>
                  <a:ext uri="{0D108BD9-81ED-4DB2-BD59-A6C34878D82A}">
                    <a16:rowId xmlns:a16="http://schemas.microsoft.com/office/drawing/2014/main" val="3622417241"/>
                  </a:ext>
                </a:extLst>
              </a:tr>
              <a:tr h="274320">
                <a:tc>
                  <a:txBody>
                    <a:bodyPr/>
                    <a:lstStyle/>
                    <a:p>
                      <a:pPr algn="l" fontAlgn="b">
                        <a:buNone/>
                      </a:pPr>
                      <a:r>
                        <a:rPr lang="en-US" sz="800" b="1" i="0" u="none" strike="noStrike" kern="1200">
                          <a:solidFill>
                            <a:srgbClr val="000000"/>
                          </a:solidFill>
                          <a:effectLst/>
                          <a:latin typeface="Calibri"/>
                          <a:ea typeface="Calibri"/>
                          <a:cs typeface="Calibri"/>
                        </a:rPr>
                        <a:t> Effect of exchange rate changes on cash, cash equivalents and restricted  cash</a:t>
                      </a:r>
                    </a:p>
                  </a:txBody>
                  <a:tcPr marL="6350" marR="6350" marT="6350" marB="0" anchor="ctr">
                    <a:lnL w="12700" cap="flat" cmpd="sng" algn="ctr">
                      <a:solidFill>
                        <a:schemeClr val="tx1"/>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-15,272</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-19,525</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1,697</a:t>
                      </a:r>
                    </a:p>
                  </a:txBody>
                  <a:tcPr marL="6350" marR="6350" marT="6350" marB="0" anchor="ctr">
                    <a:lnL>
                      <a:noFill/>
                    </a:lnL>
                    <a:lnR>
                      <a:noFill/>
                    </a:lnR>
                    <a:lnT>
                      <a:noFill/>
                    </a:lnT>
                    <a:lnB>
                      <a:noFill/>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-16,145</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10,014</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2,944</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2,944</a:t>
                      </a:r>
                    </a:p>
                  </a:txBody>
                  <a:tcPr marL="0" marR="0" marT="0" marB="0" anchor="ctr">
                    <a:lnL>
                      <a:noFill/>
                    </a:lnL>
                    <a:lnR w="12700" cap="flat" cmpd="sng" algn="ctr">
                      <a:solidFill>
                        <a:schemeClr val="tx1"/>
                      </a:solidFill>
                      <a:prstDash val="solid"/>
                      <a:round/>
                      <a:headEnd type="none" w="med" len="med"/>
                      <a:tailEnd type="none" w="med" len="med"/>
                    </a:lnR>
                    <a:lnT>
                      <a:noFill/>
                    </a:lnT>
                    <a:lnB>
                      <a:noFill/>
                    </a:lnB>
                    <a:solidFill>
                      <a:schemeClr val="bg2"/>
                    </a:solidFill>
                  </a:tcPr>
                </a:tc>
                <a:extLst>
                  <a:ext uri="{0D108BD9-81ED-4DB2-BD59-A6C34878D82A}">
                    <a16:rowId xmlns:a16="http://schemas.microsoft.com/office/drawing/2014/main" val="2764585408"/>
                  </a:ext>
                </a:extLst>
              </a:tr>
              <a:tr h="274320">
                <a:tc>
                  <a:txBody>
                    <a:bodyPr/>
                    <a:lstStyle/>
                    <a:p>
                      <a:pPr algn="l" fontAlgn="b">
                        <a:buNone/>
                      </a:pPr>
                      <a:r>
                        <a:rPr lang="en-US" sz="800" b="1" i="0" u="none" strike="noStrike" kern="1200">
                          <a:solidFill>
                            <a:srgbClr val="000000"/>
                          </a:solidFill>
                          <a:effectLst/>
                          <a:latin typeface="Calibri"/>
                          <a:ea typeface="Calibri"/>
                          <a:cs typeface="Calibri"/>
                        </a:rPr>
                        <a:t> Net increase (decrease) in cash, cash equivalents and restricted cash</a:t>
                      </a:r>
                    </a:p>
                  </a:txBody>
                  <a:tcPr marL="6350" marR="6350" marT="6350" marB="0" anchor="ctr">
                    <a:lnL w="12700" cap="flat" cmpd="sng" algn="ctr">
                      <a:solidFill>
                        <a:schemeClr val="tx1"/>
                      </a:solidFill>
                      <a:prstDash val="solid"/>
                      <a:round/>
                      <a:headEnd type="none" w="med" len="med"/>
                      <a:tailEnd type="none" w="med" len="med"/>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-$1,383,949</a:t>
                      </a: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-$446,042</a:t>
                      </a: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$69,634</a:t>
                      </a: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$92,043</a:t>
                      </a:r>
                    </a:p>
                  </a:txBody>
                  <a:tcPr marL="6350" marR="6350" marT="635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 $210,660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$453,930 </a:t>
                      </a:r>
                    </a:p>
                  </a:txBody>
                  <a:tcPr marL="0" marR="0" marT="0" marB="0" anchor="ctr">
                    <a:lnL w="12700" cap="flat" cmpd="sng" algn="ctr">
                      <a:no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$453,930 </a:t>
                      </a:r>
                    </a:p>
                  </a:txBody>
                  <a:tcPr marL="0" marR="0" marT="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val="1113294844"/>
                  </a:ext>
                </a:extLst>
              </a:tr>
              <a:tr h="274320">
                <a:tc>
                  <a:txBody>
                    <a:bodyPr/>
                    <a:lstStyle/>
                    <a:p>
                      <a:pPr algn="l" fontAlgn="b">
                        <a:buNone/>
                      </a:pPr>
                      <a:r>
                        <a:rPr lang="en-US" sz="800" b="1" i="0" u="none" strike="noStrike" kern="1200">
                          <a:solidFill>
                            <a:srgbClr val="000000"/>
                          </a:solidFill>
                          <a:effectLst/>
                          <a:latin typeface="Calibri"/>
                          <a:ea typeface="Calibri"/>
                          <a:cs typeface="Calibri"/>
                        </a:rPr>
                        <a:t> Cash, cash equivalents and restricted cash:</a:t>
                      </a:r>
                    </a:p>
                  </a:txBody>
                  <a:tcPr marL="6350" marR="6350" marT="6350" marB="0" anchor="ctr">
                    <a:lnL w="12700" cap="flat" cmpd="sng" algn="ctr">
                      <a:solidFill>
                        <a:schemeClr val="tx1"/>
                      </a:solidFill>
                      <a:prstDash val="solid"/>
                      <a:round/>
                      <a:headEnd type="none" w="med" len="med"/>
                      <a:tailEnd type="none" w="med" len="med"/>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endParaRPr lang="en-US" sz="800" b="1" i="0" u="none" strike="noStrike" kern="1200">
                        <a:solidFill>
                          <a:srgbClr val="000000"/>
                        </a:solidFill>
                        <a:effectLst/>
                        <a:latin typeface="Calibri"/>
                        <a:ea typeface="Calibri"/>
                        <a:cs typeface="Calibri"/>
                      </a:endParaRP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endParaRPr lang="en-US" sz="800" b="1" i="0" u="none" strike="noStrike" kern="1200">
                        <a:solidFill>
                          <a:srgbClr val="000000"/>
                        </a:solidFill>
                        <a:effectLst/>
                        <a:latin typeface="Calibri"/>
                        <a:ea typeface="Calibri"/>
                        <a:cs typeface="Calibri"/>
                      </a:endParaRP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endParaRPr lang="en-US" sz="800" b="1" i="0" u="none" strike="noStrike" kern="1200">
                        <a:solidFill>
                          <a:srgbClr val="000000"/>
                        </a:solidFill>
                        <a:effectLst/>
                        <a:latin typeface="Calibri"/>
                        <a:ea typeface="Calibri"/>
                        <a:cs typeface="Calibri"/>
                      </a:endParaRP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endParaRPr lang="en-US" sz="800" b="1" i="0" u="none" strike="noStrike" kern="1200">
                        <a:solidFill>
                          <a:srgbClr val="000000"/>
                        </a:solidFill>
                        <a:effectLst/>
                        <a:latin typeface="Calibri"/>
                        <a:ea typeface="Calibri"/>
                        <a:cs typeface="Calibri"/>
                      </a:endParaRPr>
                    </a:p>
                  </a:txBody>
                  <a:tcPr marL="6350" marR="6350" marT="635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800" b="1" i="0" u="none" strike="noStrike">
                        <a:solidFill>
                          <a:srgbClr val="000000"/>
                        </a:solidFill>
                        <a:effectLst/>
                        <a:latin typeface="Calibri"/>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800" b="1" i="0" u="none" strike="noStrike">
                        <a:solidFill>
                          <a:srgbClr val="000000"/>
                        </a:solidFill>
                        <a:effectLst/>
                        <a:latin typeface="Calibri"/>
                      </a:endParaRPr>
                    </a:p>
                  </a:txBody>
                  <a:tcPr marL="0" marR="0" marT="0" marB="0" anchor="ctr">
                    <a:lnL w="12700" cap="flat" cmpd="sng" algn="ctr">
                      <a:no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800" b="1" i="0" u="none" strike="noStrike">
                        <a:solidFill>
                          <a:srgbClr val="000000"/>
                        </a:solidFill>
                        <a:effectLst/>
                        <a:latin typeface="Calibri"/>
                      </a:endParaRPr>
                    </a:p>
                  </a:txBody>
                  <a:tcPr marL="0" marR="0" marT="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val="3794317407"/>
                  </a:ext>
                </a:extLst>
              </a:tr>
              <a:tr h="274320">
                <a:tc>
                  <a:txBody>
                    <a:bodyPr/>
                    <a:lstStyle/>
                    <a:p>
                      <a:pPr algn="l" fontAlgn="b">
                        <a:buNone/>
                      </a:pPr>
                      <a:r>
                        <a:rPr lang="en-US" sz="800" b="1" i="0" u="none" strike="noStrike" kern="1200">
                          <a:solidFill>
                            <a:srgbClr val="000000"/>
                          </a:solidFill>
                          <a:effectLst/>
                          <a:latin typeface="Calibri"/>
                          <a:ea typeface="Calibri"/>
                          <a:cs typeface="Calibri"/>
                        </a:rPr>
                        <a:t> Cash, cash equivalents and restricted cash, beginning of period</a:t>
                      </a:r>
                    </a:p>
                  </a:txBody>
                  <a:tcPr marL="6350" marR="6350" marT="6350" marB="0" anchor="ctr">
                    <a:lnL w="12700" cap="flat" cmpd="sng" algn="ctr">
                      <a:solidFill>
                        <a:schemeClr val="tx1"/>
                      </a:solidFill>
                      <a:prstDash val="solid"/>
                      <a:round/>
                      <a:headEnd type="none" w="med" len="med"/>
                      <a:tailEnd type="none" w="med" len="med"/>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$3,409,168</a:t>
                      </a: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$2,025,219</a:t>
                      </a: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$1,579,177</a:t>
                      </a: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$1,648,811</a:t>
                      </a:r>
                    </a:p>
                  </a:txBody>
                  <a:tcPr marL="6350" marR="6350" marT="635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$1,740,854</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$1,930,000</a:t>
                      </a:r>
                    </a:p>
                  </a:txBody>
                  <a:tcPr marL="0" marR="0" marT="0" marB="0" anchor="ctr">
                    <a:lnL w="12700" cap="flat" cmpd="sng" algn="ctr">
                      <a:no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$1,121,000</a:t>
                      </a:r>
                    </a:p>
                  </a:txBody>
                  <a:tcPr marL="0" marR="0" marT="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val="3104790170"/>
                  </a:ext>
                </a:extLst>
              </a:tr>
              <a:tr h="274320">
                <a:tc>
                  <a:txBody>
                    <a:bodyPr/>
                    <a:lstStyle/>
                    <a:p>
                      <a:pPr algn="l" fontAlgn="b">
                        <a:buNone/>
                      </a:pPr>
                      <a:r>
                        <a:rPr lang="en-US" sz="800" b="1" i="0" u="none" strike="noStrike" kern="1200">
                          <a:solidFill>
                            <a:srgbClr val="000000"/>
                          </a:solidFill>
                          <a:effectLst/>
                          <a:latin typeface="Calibri"/>
                          <a:ea typeface="Calibri"/>
                          <a:cs typeface="Calibri"/>
                        </a:rPr>
                        <a:t> Net increase (decrease) in cash, cash equivalents and restricted cash</a:t>
                      </a:r>
                    </a:p>
                  </a:txBody>
                  <a:tcPr marL="6350" marR="6350" marT="6350" marB="0" anchor="ctr">
                    <a:lnL w="12700" cap="flat" cmpd="sng" algn="ctr">
                      <a:solidFill>
                        <a:schemeClr val="tx1"/>
                      </a:solidFill>
                      <a:prstDash val="solid"/>
                      <a:round/>
                      <a:headEnd type="none" w="med" len="med"/>
                      <a:tailEnd type="none" w="med" len="med"/>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-1,383,949</a:t>
                      </a: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-446,042</a:t>
                      </a: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69,634</a:t>
                      </a:r>
                    </a:p>
                  </a:txBody>
                  <a:tcPr marL="6350" marR="6350" marT="6350" marB="0" anchor="ctr">
                    <a:lnL>
                      <a:noFill/>
                    </a:lnL>
                    <a:lnR>
                      <a:noFill/>
                    </a:lnR>
                    <a:lnT>
                      <a:noFill/>
                    </a:lnT>
                    <a:lnB w="6350" cap="flat" cmpd="sng" algn="ctr">
                      <a:no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92,043</a:t>
                      </a:r>
                    </a:p>
                  </a:txBody>
                  <a:tcPr marL="6350" marR="6350" marT="635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189,146</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-$809,000</a:t>
                      </a:r>
                    </a:p>
                  </a:txBody>
                  <a:tcPr marL="0" marR="0" marT="0" marB="0" anchor="ctr">
                    <a:lnL w="12700" cap="flat" cmpd="sng" algn="ctr">
                      <a:no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65,000</a:t>
                      </a:r>
                    </a:p>
                  </a:txBody>
                  <a:tcPr marL="0" marR="0" marT="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val="1780097793"/>
                  </a:ext>
                </a:extLst>
              </a:tr>
              <a:tr h="274320">
                <a:tc>
                  <a:txBody>
                    <a:bodyPr/>
                    <a:lstStyle/>
                    <a:p>
                      <a:pPr algn="l" fontAlgn="b">
                        <a:buNone/>
                      </a:pPr>
                      <a:r>
                        <a:rPr lang="en-US" sz="800" b="1" i="0" u="none" strike="noStrike" kern="1200">
                          <a:solidFill>
                            <a:srgbClr val="000000"/>
                          </a:solidFill>
                          <a:effectLst/>
                          <a:latin typeface="Calibri"/>
                          <a:ea typeface="Calibri"/>
                          <a:cs typeface="Calibri"/>
                        </a:rPr>
                        <a:t> Cash, cash equivalents and restricted cash, end of period</a:t>
                      </a:r>
                    </a:p>
                  </a:txBody>
                  <a:tcPr marL="6350" marR="6350" marT="635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$2,025,219</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$1,579,177</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$1,648,811</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$1,740,854</a:t>
                      </a:r>
                    </a:p>
                  </a:txBody>
                  <a:tcPr marL="6350" marR="6350" marT="635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$1,930,000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$1,121,000</a:t>
                      </a:r>
                    </a:p>
                  </a:txBody>
                  <a:tcPr marL="0" marR="0" marT="0" marB="0"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$1,186,000</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9476680"/>
                  </a:ext>
                </a:extLst>
              </a:tr>
              <a:tr h="274320">
                <a:tc gridSpan="5">
                  <a:txBody>
                    <a:bodyPr/>
                    <a:lstStyle/>
                    <a:p>
                      <a:pPr algn="l" fontAlgn="b">
                        <a:buNone/>
                      </a:pPr>
                      <a:r>
                        <a:rPr lang="en-US" sz="800" b="1" i="0" u="none" strike="noStrike" kern="1200">
                          <a:solidFill>
                            <a:srgbClr val="000000"/>
                          </a:solidFill>
                          <a:effectLst/>
                          <a:latin typeface="Calibri"/>
                          <a:ea typeface="Calibri"/>
                          <a:cs typeface="Calibri"/>
                        </a:rPr>
                        <a:t> Reconciliation of cash, cash equivalents and restricted cash on the Consolidated balance sheets to the Consolidated  statements of cash flows: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hMerge="1">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hMerge="1">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3F5F7"/>
                    </a:solidFill>
                  </a:tcPr>
                </a:tc>
                <a:tc hMerge="1">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3F5F7"/>
                    </a:solidFill>
                  </a:tcPr>
                </a:tc>
                <a:tc>
                  <a:txBody>
                    <a:bodyPr/>
                    <a:lstStyle/>
                    <a:p>
                      <a:pPr algn="ctr" fontAlgn="ctr"/>
                      <a:endParaRPr lang="en-US" sz="800" b="1" i="0" u="none" strike="noStrike">
                        <a:solidFill>
                          <a:srgbClr val="000000"/>
                        </a:solidFill>
                        <a:effectLst/>
                        <a:latin typeface="Calibri"/>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800" b="1" i="0" u="none" strike="noStrike">
                        <a:solidFill>
                          <a:srgbClr val="000000"/>
                        </a:solidFill>
                        <a:effectLst/>
                        <a:latin typeface="Calibri"/>
                      </a:endParaRPr>
                    </a:p>
                  </a:txBody>
                  <a:tcPr marL="0" marR="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800" b="1" i="0" u="none" strike="noStrike">
                        <a:solidFill>
                          <a:srgbClr val="000000"/>
                        </a:solidFill>
                        <a:effectLst/>
                        <a:latin typeface="Calibri"/>
                      </a:endParaRP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8585610"/>
                  </a:ext>
                </a:extLst>
              </a:tr>
              <a:tr h="274320">
                <a:tc>
                  <a:txBody>
                    <a:bodyPr/>
                    <a:lstStyle/>
                    <a:p>
                      <a:pPr algn="l" fontAlgn="b">
                        <a:buNone/>
                      </a:pPr>
                      <a:r>
                        <a:rPr lang="en-US" sz="800" b="1" i="0" u="none" strike="noStrike" kern="1200">
                          <a:solidFill>
                            <a:srgbClr val="000000"/>
                          </a:solidFill>
                          <a:effectLst/>
                          <a:latin typeface="Calibri"/>
                          <a:ea typeface="Calibri"/>
                          <a:cs typeface="Calibri"/>
                        </a:rPr>
                        <a:t> Cash and cash equivalents</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$1,874,745</a:t>
                      </a:r>
                    </a:p>
                  </a:txBody>
                  <a:tcPr marL="6350" marR="6350" marT="6350" marB="0"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$1,433,175</a:t>
                      </a:r>
                    </a:p>
                  </a:txBody>
                  <a:tcPr marL="6350" marR="6350" marT="6350" marB="0"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$1,533,806</a:t>
                      </a:r>
                    </a:p>
                  </a:txBody>
                  <a:tcPr marL="6350" marR="6350" marT="6350" marB="0"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$1,589,608</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$1,886,668</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$1,041,597</a:t>
                      </a:r>
                    </a:p>
                  </a:txBody>
                  <a:tcPr marL="0" marR="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1,186,000</a:t>
                      </a:r>
                    </a:p>
                  </a:txBody>
                  <a:tcPr marL="0" marR="0" marT="0" marB="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32199644"/>
                  </a:ext>
                </a:extLst>
              </a:tr>
              <a:tr h="274320">
                <a:tc>
                  <a:txBody>
                    <a:bodyPr/>
                    <a:lstStyle/>
                    <a:p>
                      <a:pPr algn="l" fontAlgn="b">
                        <a:buNone/>
                      </a:pPr>
                      <a:r>
                        <a:rPr lang="en-US" sz="800" b="1" i="0" u="none" strike="noStrike" kern="1200">
                          <a:solidFill>
                            <a:srgbClr val="000000"/>
                          </a:solidFill>
                          <a:effectLst/>
                          <a:latin typeface="Calibri"/>
                          <a:ea typeface="Calibri"/>
                          <a:cs typeface="Calibri"/>
                        </a:rPr>
                        <a:t> Restricted cash</a:t>
                      </a:r>
                    </a:p>
                  </a:txBody>
                  <a:tcPr marL="6350" marR="6350" marT="6350" marB="0" anchor="ctr">
                    <a:lnL w="12700" cap="flat" cmpd="sng" algn="ctr">
                      <a:solidFill>
                        <a:schemeClr val="tx1"/>
                      </a:solid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128,935</a:t>
                      </a:r>
                    </a:p>
                  </a:txBody>
                  <a:tcPr marL="6350" marR="6350" marT="635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135,424</a:t>
                      </a:r>
                    </a:p>
                  </a:txBody>
                  <a:tcPr marL="6350" marR="6350" marT="635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104,642</a:t>
                      </a:r>
                    </a:p>
                  </a:txBody>
                  <a:tcPr marL="6350" marR="6350" marT="635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135,661</a:t>
                      </a:r>
                    </a:p>
                  </a:txBody>
                  <a:tcPr marL="6350" marR="6350" marT="635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18,546</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60,533</a:t>
                      </a:r>
                    </a:p>
                  </a:txBody>
                  <a:tcPr marL="0" marR="0" marT="0" marB="0" anchor="ctr">
                    <a:lnL w="12700" cap="flat" cmpd="sng" algn="ctr">
                      <a:no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0</a:t>
                      </a:r>
                    </a:p>
                  </a:txBody>
                  <a:tcPr marL="0" marR="0" marT="0" marB="0" anchor="ctr">
                    <a:lnL>
                      <a:noFill/>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14141453"/>
                  </a:ext>
                </a:extLst>
              </a:tr>
              <a:tr h="274320">
                <a:tc>
                  <a:txBody>
                    <a:bodyPr/>
                    <a:lstStyle/>
                    <a:p>
                      <a:pPr algn="l" fontAlgn="b">
                        <a:buNone/>
                      </a:pPr>
                      <a:r>
                        <a:rPr lang="en-US" sz="800" b="1" i="0" u="none" strike="noStrike" kern="1200">
                          <a:solidFill>
                            <a:srgbClr val="000000"/>
                          </a:solidFill>
                          <a:effectLst/>
                          <a:latin typeface="Calibri"/>
                          <a:ea typeface="Calibri"/>
                          <a:cs typeface="Calibri"/>
                        </a:rPr>
                        <a:t> Restricted cash included in Other long-term assets</a:t>
                      </a:r>
                    </a:p>
                  </a:txBody>
                  <a:tcPr marL="6350" marR="6350" marT="635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21,539</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10,578</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10,363</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kern="1200">
                          <a:solidFill>
                            <a:srgbClr val="000000"/>
                          </a:solidFill>
                          <a:effectLst/>
                          <a:latin typeface="Calibri"/>
                          <a:ea typeface="Calibri"/>
                          <a:cs typeface="Calibri"/>
                        </a:rPr>
                        <a:t>15,585</a:t>
                      </a:r>
                    </a:p>
                  </a:txBody>
                  <a:tcPr marL="6350" marR="6350" marT="635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24,786</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18,870</a:t>
                      </a:r>
                    </a:p>
                  </a:txBody>
                  <a:tcPr marL="0" marR="0" marT="0" marB="0" anchor="ctr">
                    <a:lnL w="12700" cap="flat" cmpd="sng" algn="ctr">
                      <a:no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0</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51864204"/>
                  </a:ext>
                </a:extLst>
              </a:tr>
              <a:tr h="274320">
                <a:tc>
                  <a:txBody>
                    <a:bodyPr/>
                    <a:lstStyle/>
                    <a:p>
                      <a:pPr algn="l" fontAlgn="b">
                        <a:buNone/>
                      </a:pPr>
                      <a:r>
                        <a:rPr lang="en-US" sz="800" b="1" i="0" u="none" strike="noStrike">
                          <a:solidFill>
                            <a:srgbClr val="000000"/>
                          </a:solidFill>
                          <a:effectLst/>
                          <a:latin typeface="Calibri"/>
                          <a:ea typeface="Calibri"/>
                          <a:cs typeface="Calibri"/>
                        </a:rPr>
                        <a:t> Cash, cash equivalents and restricted cash per the Consolidated statements of cash flows</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$2,025,219</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$1,579,177</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$1,648,811</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1" i="0" u="none" strike="noStrike">
                          <a:solidFill>
                            <a:srgbClr val="000000"/>
                          </a:solidFill>
                          <a:effectLst/>
                          <a:latin typeface="Calibri"/>
                          <a:ea typeface="Calibri"/>
                          <a:cs typeface="Calibri"/>
                        </a:rPr>
                        <a:t>$1,740,854</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$1,930,000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$1,121,000</a:t>
                      </a:r>
                    </a:p>
                  </a:txBody>
                  <a:tcPr marL="0" marR="0" marT="0" marB="0"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800" b="1" i="0" u="none" strike="noStrike">
                          <a:solidFill>
                            <a:srgbClr val="000000"/>
                          </a:solidFill>
                          <a:effectLst/>
                          <a:latin typeface="Calibri"/>
                        </a:rPr>
                        <a:t>$1,186,000</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3350097"/>
                  </a:ext>
                </a:extLst>
              </a:tr>
            </a:tbl>
          </a:graphicData>
        </a:graphic>
      </p:graphicFrame>
    </p:spTree>
    <p:extLst>
      <p:ext uri="{BB962C8B-B14F-4D97-AF65-F5344CB8AC3E}">
        <p14:creationId xmlns:p14="http://schemas.microsoft.com/office/powerpoint/2010/main" val="362969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2D351-1047-41D5-0C97-299515100A4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3370FB1-BEF5-0CAE-D49B-E6496649780B}"/>
              </a:ext>
            </a:extLst>
          </p:cNvPr>
          <p:cNvGraphicFramePr>
            <a:graphicFrameLocks noGrp="1"/>
          </p:cNvGraphicFramePr>
          <p:nvPr>
            <p:custDataLst>
              <p:tags r:id="rId1"/>
            </p:custDataLst>
            <p:extLst>
              <p:ext uri="{D42A27DB-BD31-4B8C-83A1-F6EECF244321}">
                <p14:modId xmlns:p14="http://schemas.microsoft.com/office/powerpoint/2010/main" val="1607176036"/>
              </p:ext>
            </p:extLst>
          </p:nvPr>
        </p:nvGraphicFramePr>
        <p:xfrm>
          <a:off x="161924" y="364043"/>
          <a:ext cx="7475078" cy="8911810"/>
        </p:xfrm>
        <a:graphic>
          <a:graphicData uri="http://schemas.openxmlformats.org/drawingml/2006/table">
            <a:tbl>
              <a:tblPr>
                <a:tableStyleId>{5C22544A-7EE6-4342-B048-85BDC9FD1C3A}</a:tableStyleId>
              </a:tblPr>
              <a:tblGrid>
                <a:gridCol w="899885">
                  <a:extLst>
                    <a:ext uri="{9D8B030D-6E8A-4147-A177-3AD203B41FA5}">
                      <a16:colId xmlns:a16="http://schemas.microsoft.com/office/drawing/2014/main" val="298365087"/>
                    </a:ext>
                  </a:extLst>
                </a:gridCol>
                <a:gridCol w="730577">
                  <a:extLst>
                    <a:ext uri="{9D8B030D-6E8A-4147-A177-3AD203B41FA5}">
                      <a16:colId xmlns:a16="http://schemas.microsoft.com/office/drawing/2014/main" val="3046430474"/>
                    </a:ext>
                  </a:extLst>
                </a:gridCol>
                <a:gridCol w="730577">
                  <a:extLst>
                    <a:ext uri="{9D8B030D-6E8A-4147-A177-3AD203B41FA5}">
                      <a16:colId xmlns:a16="http://schemas.microsoft.com/office/drawing/2014/main" val="2243466579"/>
                    </a:ext>
                  </a:extLst>
                </a:gridCol>
                <a:gridCol w="730577">
                  <a:extLst>
                    <a:ext uri="{9D8B030D-6E8A-4147-A177-3AD203B41FA5}">
                      <a16:colId xmlns:a16="http://schemas.microsoft.com/office/drawing/2014/main" val="2695208973"/>
                    </a:ext>
                  </a:extLst>
                </a:gridCol>
                <a:gridCol w="730577">
                  <a:extLst>
                    <a:ext uri="{9D8B030D-6E8A-4147-A177-3AD203B41FA5}">
                      <a16:colId xmlns:a16="http://schemas.microsoft.com/office/drawing/2014/main" val="1531317912"/>
                    </a:ext>
                  </a:extLst>
                </a:gridCol>
                <a:gridCol w="730577">
                  <a:extLst>
                    <a:ext uri="{9D8B030D-6E8A-4147-A177-3AD203B41FA5}">
                      <a16:colId xmlns:a16="http://schemas.microsoft.com/office/drawing/2014/main" val="1492914292"/>
                    </a:ext>
                  </a:extLst>
                </a:gridCol>
                <a:gridCol w="730577">
                  <a:extLst>
                    <a:ext uri="{9D8B030D-6E8A-4147-A177-3AD203B41FA5}">
                      <a16:colId xmlns:a16="http://schemas.microsoft.com/office/drawing/2014/main" val="3333400217"/>
                    </a:ext>
                  </a:extLst>
                </a:gridCol>
                <a:gridCol w="730577">
                  <a:extLst>
                    <a:ext uri="{9D8B030D-6E8A-4147-A177-3AD203B41FA5}">
                      <a16:colId xmlns:a16="http://schemas.microsoft.com/office/drawing/2014/main" val="2895080780"/>
                    </a:ext>
                  </a:extLst>
                </a:gridCol>
                <a:gridCol w="730577">
                  <a:extLst>
                    <a:ext uri="{9D8B030D-6E8A-4147-A177-3AD203B41FA5}">
                      <a16:colId xmlns:a16="http://schemas.microsoft.com/office/drawing/2014/main" val="2970866404"/>
                    </a:ext>
                  </a:extLst>
                </a:gridCol>
                <a:gridCol w="730577">
                  <a:extLst>
                    <a:ext uri="{9D8B030D-6E8A-4147-A177-3AD203B41FA5}">
                      <a16:colId xmlns:a16="http://schemas.microsoft.com/office/drawing/2014/main" val="2530762855"/>
                    </a:ext>
                  </a:extLst>
                </a:gridCol>
              </a:tblGrid>
              <a:tr h="279754">
                <a:tc gridSpan="10">
                  <a:txBody>
                    <a:bodyPr/>
                    <a:lstStyle/>
                    <a:p>
                      <a:pPr lvl="0" algn="l">
                        <a:buNone/>
                      </a:pPr>
                      <a:r>
                        <a:rPr lang="en-US" sz="1100" b="1"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4. Equity Attributable to Harley-Davidson, Inc. </a:t>
                      </a:r>
                      <a:endPar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4586" marR="4586" marT="458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endParaRPr lang="en-US"/>
                    </a:p>
                  </a:txBody>
                  <a:tcPr marL="4586" marR="4586" marT="4586" marB="0" anchor="ctr">
                    <a:lnL w="0">
                      <a:noFill/>
                    </a:lnL>
                    <a:lnR w="0">
                      <a:noFill/>
                    </a:lnR>
                    <a:lnT w="12700">
                      <a:solidFill>
                        <a:schemeClr val="tx1"/>
                      </a:solidFill>
                    </a:lnT>
                    <a:lnB w="0">
                      <a:noFill/>
                    </a:lnB>
                    <a:solidFill>
                      <a:schemeClr val="accent2">
                        <a:lumMod val="75000"/>
                      </a:schemeClr>
                    </a:solidFill>
                  </a:tcPr>
                </a:tc>
                <a:tc hMerge="1">
                  <a:txBody>
                    <a:bodyPr/>
                    <a:lstStyle/>
                    <a:p>
                      <a:endParaRPr lang="en-US"/>
                    </a:p>
                  </a:txBody>
                  <a:tcPr marL="4586" marR="4586" marT="4586" marB="0" anchor="ctr">
                    <a:lnL w="0">
                      <a:noFill/>
                    </a:lnL>
                    <a:lnR w="0">
                      <a:noFill/>
                    </a:lnR>
                    <a:lnT w="12700">
                      <a:solidFill>
                        <a:schemeClr val="tx1"/>
                      </a:solidFill>
                    </a:lnT>
                    <a:lnB w="0">
                      <a:noFill/>
                    </a:lnB>
                    <a:solidFill>
                      <a:schemeClr val="accent2">
                        <a:lumMod val="75000"/>
                      </a:schemeClr>
                    </a:solidFill>
                  </a:tcPr>
                </a:tc>
                <a:tc hMerge="1">
                  <a:txBody>
                    <a:bodyPr/>
                    <a:lstStyle/>
                    <a:p>
                      <a:endParaRPr lang="en-US"/>
                    </a:p>
                  </a:txBody>
                  <a:tcPr marL="4586" marR="4586" marT="4586" marB="0" anchor="ctr">
                    <a:lnL w="0">
                      <a:noFill/>
                    </a:lnL>
                    <a:lnR w="0">
                      <a:noFill/>
                    </a:lnR>
                    <a:lnT w="12700">
                      <a:solidFill>
                        <a:schemeClr val="tx1"/>
                      </a:solidFill>
                    </a:lnT>
                    <a:lnB w="0">
                      <a:noFill/>
                    </a:lnB>
                    <a:solidFill>
                      <a:schemeClr val="accent2">
                        <a:lumMod val="75000"/>
                      </a:schemeClr>
                    </a:solidFill>
                  </a:tcPr>
                </a:tc>
                <a:tc hMerge="1">
                  <a:txBody>
                    <a:bodyPr/>
                    <a:lstStyle/>
                    <a:p>
                      <a:endParaRPr lang="en-US"/>
                    </a:p>
                  </a:txBody>
                  <a:tcPr marL="4586" marR="4586" marT="4586" marB="0" anchor="ctr">
                    <a:lnL w="0">
                      <a:noFill/>
                    </a:lnL>
                    <a:lnR w="0">
                      <a:noFill/>
                    </a:lnR>
                    <a:lnT w="12700">
                      <a:solidFill>
                        <a:schemeClr val="tx1"/>
                      </a:solidFill>
                    </a:lnT>
                    <a:lnB w="0">
                      <a:noFill/>
                    </a:lnB>
                    <a:solidFill>
                      <a:schemeClr val="accent2">
                        <a:lumMod val="75000"/>
                      </a:schemeClr>
                    </a:solidFill>
                  </a:tcPr>
                </a:tc>
                <a:tc hMerge="1">
                  <a:txBody>
                    <a:bodyPr/>
                    <a:lstStyle/>
                    <a:p>
                      <a:endParaRPr lang="en-US"/>
                    </a:p>
                  </a:txBody>
                  <a:tcPr marL="4586" marR="4586" marT="4586" marB="0" anchor="ctr">
                    <a:lnL w="0">
                      <a:noFill/>
                    </a:lnL>
                    <a:lnR w="0">
                      <a:noFill/>
                    </a:lnR>
                    <a:lnT w="12700">
                      <a:solidFill>
                        <a:schemeClr val="tx1"/>
                      </a:solidFill>
                    </a:lnT>
                    <a:lnB w="0">
                      <a:noFill/>
                    </a:lnB>
                    <a:solidFill>
                      <a:schemeClr val="accent2">
                        <a:lumMod val="75000"/>
                      </a:schemeClr>
                    </a:solidFill>
                  </a:tcPr>
                </a:tc>
                <a:tc hMerge="1">
                  <a:txBody>
                    <a:bodyPr/>
                    <a:lstStyle/>
                    <a:p>
                      <a:endParaRPr lang="en-US"/>
                    </a:p>
                  </a:txBody>
                  <a:tcPr marL="4586" marR="4586" marT="4586" marB="0" anchor="ctr">
                    <a:lnL w="0">
                      <a:noFill/>
                    </a:lnL>
                    <a:lnR w="0">
                      <a:noFill/>
                    </a:lnR>
                    <a:lnT w="12700">
                      <a:solidFill>
                        <a:schemeClr val="tx1"/>
                      </a:solidFill>
                    </a:lnT>
                    <a:lnB w="0">
                      <a:noFill/>
                    </a:lnB>
                    <a:solidFill>
                      <a:schemeClr val="accent2">
                        <a:lumMod val="75000"/>
                      </a:schemeClr>
                    </a:solidFill>
                  </a:tcPr>
                </a:tc>
                <a:tc hMerge="1">
                  <a:txBody>
                    <a:bodyPr/>
                    <a:lstStyle/>
                    <a:p>
                      <a:endParaRPr lang="en-US"/>
                    </a:p>
                  </a:txBody>
                  <a:tcPr marL="4586" marR="4586" marT="4586" marB="0" anchor="ctr">
                    <a:lnL w="0">
                      <a:noFill/>
                    </a:lnL>
                    <a:lnR w="0">
                      <a:noFill/>
                    </a:lnR>
                    <a:lnT w="12700">
                      <a:solidFill>
                        <a:schemeClr val="tx1"/>
                      </a:solidFill>
                    </a:lnT>
                    <a:lnB w="0">
                      <a:noFill/>
                    </a:lnB>
                    <a:solidFill>
                      <a:schemeClr val="accent2">
                        <a:lumMod val="75000"/>
                      </a:schemeClr>
                    </a:solidFill>
                  </a:tcPr>
                </a:tc>
                <a:tc hMerge="1">
                  <a:txBody>
                    <a:bodyPr/>
                    <a:lstStyle/>
                    <a:p>
                      <a:endParaRPr lang="en-US"/>
                    </a:p>
                  </a:txBody>
                  <a:tcPr marL="4586" marR="4586" marT="4586" marB="0" anchor="b">
                    <a:lnL w="0">
                      <a:noFill/>
                    </a:lnL>
                    <a:lnR w="0">
                      <a:noFill/>
                    </a:lnR>
                    <a:lnT w="12700">
                      <a:solidFill>
                        <a:schemeClr val="tx1"/>
                      </a:solidFill>
                    </a:lnT>
                    <a:lnB w="0">
                      <a:noFill/>
                    </a:lnB>
                    <a:solidFill>
                      <a:schemeClr val="accent2">
                        <a:lumMod val="75000"/>
                      </a:schemeClr>
                    </a:solidFill>
                  </a:tcPr>
                </a:tc>
                <a:tc hMerge="1">
                  <a:txBody>
                    <a:bodyPr/>
                    <a:lstStyle/>
                    <a:p>
                      <a:endParaRPr lang="en-US"/>
                    </a:p>
                  </a:txBody>
                  <a:tcPr marL="4586" marR="4586" marT="4586" marB="0" anchor="b">
                    <a:lnL w="0">
                      <a:noFill/>
                    </a:lnL>
                    <a:lnR w="12700">
                      <a:solidFill>
                        <a:schemeClr val="tx1"/>
                      </a:solidFill>
                    </a:lnR>
                    <a:lnT w="12700">
                      <a:solidFill>
                        <a:schemeClr val="tx1"/>
                      </a:solidFill>
                    </a:lnT>
                    <a:lnB w="0">
                      <a:noFill/>
                    </a:lnB>
                    <a:solidFill>
                      <a:schemeClr val="accent2">
                        <a:lumMod val="75000"/>
                      </a:schemeClr>
                    </a:solidFill>
                  </a:tcPr>
                </a:tc>
                <a:extLst>
                  <a:ext uri="{0D108BD9-81ED-4DB2-BD59-A6C34878D82A}">
                    <a16:rowId xmlns:a16="http://schemas.microsoft.com/office/drawing/2014/main" val="4045815933"/>
                  </a:ext>
                </a:extLst>
              </a:tr>
              <a:tr h="365760">
                <a:tc>
                  <a:txBody>
                    <a:bodyPr/>
                    <a:lstStyle/>
                    <a:p>
                      <a:pPr algn="ctr" fontAlgn="b">
                        <a:buNone/>
                      </a:pP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 Issued Shares </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 Balance </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 Additional Paid-in Capital </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 Retained Earnings </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 Accumulated Other Comprehensive Loss </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 Treasury Stock </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 Total </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 Equity Attributable to Noncontrolling Interests </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 Total Equity </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048954817"/>
                  </a:ext>
                </a:extLst>
              </a:tr>
              <a:tr h="365760">
                <a:tc>
                  <a:txBody>
                    <a:bodyPr/>
                    <a:lstStyle/>
                    <a:p>
                      <a:pPr algn="l"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Balance, December 31, 2021</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169,364,686</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$1,694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$1,547,011</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$1,842,421</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-$240,919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-$596,963</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$2,553,244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$2,553,244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4802524"/>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Net income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741,408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741,408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-2,194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739,214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9941903"/>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Other comprehensive loss, net of tax (Note 17)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-101,010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-101,010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-101,010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31012007"/>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Dividends ($0.63 per share)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-93,180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-93,180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-93,180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52619924"/>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Repurchase of common stock</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-338,627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-338,627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-338,627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184291361"/>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Share-based compensation</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1,035,526</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48,019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526</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48,555</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565</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49,120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44091742"/>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Livewire business combination</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93,129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93,129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4,918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98,047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61241939"/>
                  </a:ext>
                </a:extLst>
              </a:tr>
              <a:tr h="365760">
                <a:tc>
                  <a:txBody>
                    <a:bodyPr/>
                    <a:lstStyle/>
                    <a:p>
                      <a:pPr algn="l"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Balance, December 31, 2022</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170,400,212</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1,704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1,688,159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2,490,649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-341,929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-935,064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2,903,519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3,289</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2,906,808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71786256"/>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Net income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706,586</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706,586</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-11,540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695,046</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31738508"/>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Other comprehensive income, net of tax (Note 17)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36,967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36,967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36,967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38418509"/>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Dividends ($0.66 per share)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-96,310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-96,310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-96,310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05588755"/>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Repurchase of common stock</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-367,191</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-367,191</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-367,191</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319866704"/>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Share-based compensation</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818,428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64,276</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4,953</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69,237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7,738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76,975</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526946222"/>
                  </a:ext>
                </a:extLst>
              </a:tr>
              <a:tr h="365760">
                <a:tc>
                  <a:txBody>
                    <a:bodyPr/>
                    <a:lstStyle/>
                    <a:p>
                      <a:pPr algn="l"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Balance, December 31, 2023</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171,218,640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1,712</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1,752,435</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3,100,925</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-304,962</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-1,297,302</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3,252,808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-513</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3,252,295</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67257933"/>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Net income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455,357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455,357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-10,182</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445,175</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186657816"/>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Other comprehensive loss, net of tax (Note 17)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-27,744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-27,744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-27,744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182621018"/>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Dividends ($0.69 per share)</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-91,224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-91,224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-91,224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7209889"/>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Repurchase of common stock</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-464,140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-464,140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-464,140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56965049"/>
                  </a:ext>
                </a:extLst>
              </a:tr>
              <a:tr h="365760">
                <a:tc>
                  <a:txBody>
                    <a:bodyPr/>
                    <a:lstStyle/>
                    <a:p>
                      <a:pPr algn="l" fontAlgn="b">
                        <a:buNone/>
                      </a:pPr>
                      <a:r>
                        <a:rPr lang="en-US" sz="900" b="0" u="none" strike="noStrike">
                          <a:effectLst/>
                          <a:latin typeface="Calibri" panose="020F0502020204030204" pitchFamily="34" charset="0"/>
                          <a:ea typeface="Calibri" panose="020F0502020204030204" pitchFamily="34" charset="0"/>
                          <a:cs typeface="Calibri" panose="020F0502020204030204" pitchFamily="34" charset="0"/>
                        </a:rPr>
                        <a:t>Share-based compensation</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764,092</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40,088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894</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40,990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3,148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0">
                      <a:noFill/>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44,138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68169206"/>
                  </a:ext>
                </a:extLst>
              </a:tr>
              <a:tr h="365760">
                <a:tc>
                  <a:txBody>
                    <a:bodyPr/>
                    <a:lstStyle/>
                    <a:p>
                      <a:pPr algn="l" fontAlgn="b">
                        <a:buNone/>
                      </a:pPr>
                      <a:r>
                        <a:rPr lang="en-US" sz="900" b="1" u="none" strike="noStrike">
                          <a:effectLst/>
                          <a:latin typeface="Calibri" panose="020F0502020204030204" pitchFamily="34" charset="0"/>
                          <a:ea typeface="Calibri" panose="020F0502020204030204" pitchFamily="34" charset="0"/>
                          <a:cs typeface="Calibri" panose="020F0502020204030204" pitchFamily="34" charset="0"/>
                        </a:rPr>
                        <a:t>Balance, December 31, 2024</a:t>
                      </a:r>
                      <a:endPar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12700" cap="flat" cmpd="sng" algn="ctr">
                      <a:solidFill>
                        <a:schemeClr val="tx1"/>
                      </a:solidFill>
                      <a:prstDash val="solid"/>
                      <a:round/>
                      <a:headEnd type="none" w="med" len="med"/>
                      <a:tailEnd type="none" w="med" len="med"/>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171,982,732</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$1,720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$1,792,523</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$3,465,058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-$332,706</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-$1,760,548</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$3,166,047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-$7,547</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0">
                      <a:noFill/>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900" u="none" strike="noStrike">
                          <a:effectLst/>
                          <a:latin typeface="Calibri" panose="020F0502020204030204" pitchFamily="34" charset="0"/>
                          <a:ea typeface="Calibri" panose="020F0502020204030204" pitchFamily="34" charset="0"/>
                          <a:cs typeface="Calibri" panose="020F0502020204030204" pitchFamily="34" charset="0"/>
                        </a:rPr>
                        <a:t>$3,158,500</a:t>
                      </a: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587" marR="4587" marT="4587" marB="0" anchor="ctr">
                    <a:lnL w="0">
                      <a:noFill/>
                    </a:lnL>
                    <a:lnR w="12700" cap="flat" cmpd="sng" algn="ctr">
                      <a:solidFill>
                        <a:schemeClr val="tx1"/>
                      </a:solidFill>
                      <a:prstDash val="solid"/>
                      <a:round/>
                      <a:headEnd type="none" w="med" len="med"/>
                      <a:tailEnd type="none" w="med" len="med"/>
                    </a:lnR>
                    <a:lnT w="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5188908"/>
                  </a:ext>
                </a:extLst>
              </a:tr>
            </a:tbl>
          </a:graphicData>
        </a:graphic>
      </p:graphicFrame>
      <p:sp>
        <p:nvSpPr>
          <p:cNvPr id="6" name="TextBox 5">
            <a:extLst>
              <a:ext uri="{FF2B5EF4-FFF2-40B4-BE49-F238E27FC236}">
                <a16:creationId xmlns:a16="http://schemas.microsoft.com/office/drawing/2014/main" id="{0DE8676E-F905-D1FE-03AF-EC5F522EE376}"/>
              </a:ext>
            </a:extLst>
          </p:cNvPr>
          <p:cNvSpPr txBox="1"/>
          <p:nvPr/>
        </p:nvSpPr>
        <p:spPr>
          <a:xfrm>
            <a:off x="76224" y="9834890"/>
            <a:ext cx="4391001"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HOG 10k (2016-2024), HOG 10q (Q1-4 2016-2024, Q1-3 2025), FactSet, Estimates </a:t>
            </a:r>
          </a:p>
        </p:txBody>
      </p:sp>
      <p:sp>
        <p:nvSpPr>
          <p:cNvPr id="17" name="TextBox 16">
            <a:extLst>
              <a:ext uri="{FF2B5EF4-FFF2-40B4-BE49-F238E27FC236}">
                <a16:creationId xmlns:a16="http://schemas.microsoft.com/office/drawing/2014/main" id="{6ED6A699-CE15-DED1-DC6F-D2DAE4367E7A}"/>
              </a:ext>
            </a:extLst>
          </p:cNvPr>
          <p:cNvSpPr txBox="1">
            <a:spLocks/>
          </p:cNvSpPr>
          <p:nvPr/>
        </p:nvSpPr>
        <p:spPr>
          <a:xfrm>
            <a:off x="7424739" y="9801783"/>
            <a:ext cx="2006283" cy="261610"/>
          </a:xfrm>
          <a:prstGeom prst="rect">
            <a:avLst/>
          </a:prstGeom>
          <a:noFill/>
        </p:spPr>
        <p:txBody>
          <a:bodyPr wrap="square" lIns="91440" tIns="45720" rIns="91440" bIns="45720" rtlCol="0" anchor="t">
            <a:spAutoFit/>
          </a:bodyPr>
          <a:lstStyle/>
          <a:p>
            <a:r>
              <a:rPr lang="en-US" sz="1100">
                <a:latin typeface="Calibri"/>
                <a:ea typeface="Calibri"/>
                <a:cs typeface="Calibri"/>
              </a:rPr>
              <a:t>14</a:t>
            </a:r>
            <a:endParaRPr lang="en-US" sz="11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7323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895BB23-4E08-268B-2B45-D801760C04B3}"/>
              </a:ext>
            </a:extLst>
          </p:cNvPr>
          <p:cNvGraphicFramePr>
            <a:graphicFrameLocks noGrp="1"/>
          </p:cNvGraphicFramePr>
          <p:nvPr>
            <p:custDataLst>
              <p:tags r:id="rId1"/>
            </p:custDataLst>
            <p:extLst>
              <p:ext uri="{D42A27DB-BD31-4B8C-83A1-F6EECF244321}">
                <p14:modId xmlns:p14="http://schemas.microsoft.com/office/powerpoint/2010/main" val="927081632"/>
              </p:ext>
            </p:extLst>
          </p:nvPr>
        </p:nvGraphicFramePr>
        <p:xfrm>
          <a:off x="310396" y="5384611"/>
          <a:ext cx="7141331" cy="4444135"/>
        </p:xfrm>
        <a:graphic>
          <a:graphicData uri="http://schemas.openxmlformats.org/drawingml/2006/table">
            <a:tbl>
              <a:tblPr>
                <a:tableStyleId>{5C22544A-7EE6-4342-B048-85BDC9FD1C3A}</a:tableStyleId>
              </a:tblPr>
              <a:tblGrid>
                <a:gridCol w="1430921">
                  <a:extLst>
                    <a:ext uri="{9D8B030D-6E8A-4147-A177-3AD203B41FA5}">
                      <a16:colId xmlns:a16="http://schemas.microsoft.com/office/drawing/2014/main" val="407790322"/>
                    </a:ext>
                  </a:extLst>
                </a:gridCol>
                <a:gridCol w="1430921">
                  <a:extLst>
                    <a:ext uri="{9D8B030D-6E8A-4147-A177-3AD203B41FA5}">
                      <a16:colId xmlns:a16="http://schemas.microsoft.com/office/drawing/2014/main" val="1544301004"/>
                    </a:ext>
                  </a:extLst>
                </a:gridCol>
                <a:gridCol w="1430921">
                  <a:extLst>
                    <a:ext uri="{9D8B030D-6E8A-4147-A177-3AD203B41FA5}">
                      <a16:colId xmlns:a16="http://schemas.microsoft.com/office/drawing/2014/main" val="3583123240"/>
                    </a:ext>
                  </a:extLst>
                </a:gridCol>
                <a:gridCol w="1430921">
                  <a:extLst>
                    <a:ext uri="{9D8B030D-6E8A-4147-A177-3AD203B41FA5}">
                      <a16:colId xmlns:a16="http://schemas.microsoft.com/office/drawing/2014/main" val="226059541"/>
                    </a:ext>
                  </a:extLst>
                </a:gridCol>
                <a:gridCol w="1417647">
                  <a:extLst>
                    <a:ext uri="{9D8B030D-6E8A-4147-A177-3AD203B41FA5}">
                      <a16:colId xmlns:a16="http://schemas.microsoft.com/office/drawing/2014/main" val="3218378563"/>
                    </a:ext>
                  </a:extLst>
                </a:gridCol>
              </a:tblGrid>
              <a:tr h="206521">
                <a:tc gridSpan="5">
                  <a:txBody>
                    <a:bodyPr/>
                    <a:lstStyle/>
                    <a:p>
                      <a:pPr algn="ctr" fontAlgn="b">
                        <a:buNone/>
                      </a:pPr>
                      <a:r>
                        <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6. Geographic Segment of Revenue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pPr algn="ctr" fontAlgn="b">
                        <a:buNone/>
                      </a:pPr>
                      <a:endPar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pPr algn="ctr" fontAlgn="b">
                        <a:buNone/>
                      </a:pPr>
                      <a:endPar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pPr algn="ctr" fontAlgn="b">
                        <a:buNone/>
                      </a:pPr>
                      <a:endPar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94717645"/>
                  </a:ext>
                </a:extLst>
              </a:tr>
              <a:tr h="206521">
                <a:tc>
                  <a:txBody>
                    <a:bodyPr/>
                    <a:lstStyle/>
                    <a:p>
                      <a:pPr algn="ctr" fontAlgn="b">
                        <a:buNone/>
                      </a:pPr>
                      <a:endPar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rPr>
                        <a:t> 2021 </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rPr>
                        <a:t> 2022 </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rPr>
                        <a:t> 2023 </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1"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rPr>
                        <a:t> 2024 </a:t>
                      </a:r>
                    </a:p>
                  </a:txBody>
                  <a:tcPr marL="6350" marR="6350" marT="635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23771071"/>
                  </a:ext>
                </a:extLst>
              </a:tr>
              <a:tr h="165200">
                <a:tc>
                  <a:txBody>
                    <a:bodyPr/>
                    <a:lstStyle/>
                    <a:p>
                      <a:pPr algn="l" fontAlgn="b">
                        <a:buNone/>
                      </a:pPr>
                      <a:r>
                        <a:rPr lang="en-US" sz="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HDMC revenue:</a:t>
                      </a: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32621003"/>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United States</a:t>
                      </a: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2,996,471</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3,253,875</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3,289,227</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2,814,482</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49050815"/>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EMEA</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703,048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693,073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637,492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584,490</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39126428"/>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Canada</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182,230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216,389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220,158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210,526</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28977680"/>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Japan</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150,138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175,292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200,539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128,432</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33741051"/>
                  </a:ext>
                </a:extLst>
              </a:tr>
              <a:tr h="201853">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Australia and New Zealand</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134,301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147,551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127,352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119,949</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72569535"/>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Other countries</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338,246</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401,492</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369,826</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264,027</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38916329"/>
                  </a:ext>
                </a:extLst>
              </a:tr>
              <a:tr h="165200">
                <a:tc>
                  <a:txBody>
                    <a:bodyPr/>
                    <a:lstStyle/>
                    <a:p>
                      <a:pPr algn="l"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4,504,434</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4,887,672</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4,844,594</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4,121,906</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99349486"/>
                  </a:ext>
                </a:extLst>
              </a:tr>
              <a:tr h="197837">
                <a:tc>
                  <a:txBody>
                    <a:bodyPr/>
                    <a:lstStyle/>
                    <a:p>
                      <a:pPr algn="l" fontAlgn="b">
                        <a:buNone/>
                      </a:pPr>
                      <a:r>
                        <a:rPr lang="en-US" sz="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Livewire revenue:</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57147088"/>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United States</a:t>
                      </a: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24,633</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36,256</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31,483</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21,461</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89779341"/>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International</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11,173</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10,577</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6,815</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4,897</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11261676"/>
                  </a:ext>
                </a:extLst>
              </a:tr>
              <a:tr h="165200">
                <a:tc>
                  <a:txBody>
                    <a:bodyPr/>
                    <a:lstStyle/>
                    <a:p>
                      <a:pPr algn="l"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35,806</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46,833</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38,298</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26,358</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09564354"/>
                  </a:ext>
                </a:extLst>
              </a:tr>
              <a:tr h="165200">
                <a:tc>
                  <a:txBody>
                    <a:bodyPr/>
                    <a:lstStyle/>
                    <a:p>
                      <a:pPr algn="l" fontAlgn="b">
                        <a:buNone/>
                      </a:pPr>
                      <a:r>
                        <a:rPr lang="en-US" sz="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HDFS revenue:</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49321234"/>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United States</a:t>
                      </a:r>
                    </a:p>
                  </a:txBody>
                  <a:tcPr marL="6350" marR="6350" marT="635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765,917</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794,912</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922,758</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1,006,574</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60484686"/>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Canada</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18,613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16,276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18,220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21,167</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05970669"/>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Europe</a:t>
                      </a:r>
                    </a:p>
                  </a:txBody>
                  <a:tcPr marL="6350" marR="6350" marT="635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7,464</a:t>
                      </a:r>
                    </a:p>
                  </a:txBody>
                  <a:tcPr marL="6350" marR="6350" marT="6350"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6,071</a:t>
                      </a:r>
                    </a:p>
                  </a:txBody>
                  <a:tcPr marL="6350" marR="6350" marT="6350"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7,343</a:t>
                      </a:r>
                    </a:p>
                  </a:txBody>
                  <a:tcPr marL="6350" marR="6350" marT="6350"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6,503</a:t>
                      </a:r>
                    </a:p>
                  </a:txBody>
                  <a:tcPr marL="6350" marR="6350" marT="635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46264670"/>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Other countries</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4,074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3,366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5,265</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4,294</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13375271"/>
                  </a:ext>
                </a:extLst>
              </a:tr>
              <a:tr h="165200">
                <a:tc>
                  <a:txBody>
                    <a:bodyPr/>
                    <a:lstStyle/>
                    <a:p>
                      <a:pPr algn="l"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796,068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820,625</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953,586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1,038,538</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83568558"/>
                  </a:ext>
                </a:extLst>
              </a:tr>
              <a:tr h="197837">
                <a:tc>
                  <a:txBody>
                    <a:bodyPr/>
                    <a:lstStyle/>
                    <a:p>
                      <a:pPr algn="l" fontAlgn="b">
                        <a:buNone/>
                      </a:pPr>
                      <a:r>
                        <a:rPr lang="en-US" sz="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Long-lived assets:</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58208004"/>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United States</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595,375</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611,421</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644,620</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640,837</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15597693"/>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Thailand</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81,927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72,474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82,197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113,094</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74132860"/>
                  </a:ext>
                </a:extLst>
              </a:tr>
              <a:tr h="165200">
                <a:tc>
                  <a:txBody>
                    <a:bodyPr/>
                    <a:lstStyle/>
                    <a:p>
                      <a:pPr algn="l"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Other countries</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6,682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5,991</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4,907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3,141</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94864155"/>
                  </a:ext>
                </a:extLst>
              </a:tr>
              <a:tr h="129566">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683,984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689,886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731,724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757,072</a:t>
                      </a: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45303514"/>
                  </a:ext>
                </a:extLst>
              </a:tr>
              <a:tr h="165200">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51144647"/>
                  </a:ext>
                </a:extLst>
              </a:tr>
            </a:tbl>
          </a:graphicData>
        </a:graphic>
      </p:graphicFrame>
      <p:graphicFrame>
        <p:nvGraphicFramePr>
          <p:cNvPr id="6" name="Content Placeholder 3">
            <a:extLst>
              <a:ext uri="{FF2B5EF4-FFF2-40B4-BE49-F238E27FC236}">
                <a16:creationId xmlns:a16="http://schemas.microsoft.com/office/drawing/2014/main" id="{98E8A7AC-5AFD-0E33-EE4A-23F59E4EE8EB}"/>
              </a:ext>
            </a:extLst>
          </p:cNvPr>
          <p:cNvGraphicFramePr>
            <a:graphicFrameLocks noGrp="1"/>
          </p:cNvGraphicFramePr>
          <p:nvPr>
            <p:ph idx="1"/>
            <p:custDataLst>
              <p:tags r:id="rId2"/>
            </p:custDataLst>
            <p:extLst>
              <p:ext uri="{D42A27DB-BD31-4B8C-83A1-F6EECF244321}">
                <p14:modId xmlns:p14="http://schemas.microsoft.com/office/powerpoint/2010/main" val="4165507498"/>
              </p:ext>
            </p:extLst>
          </p:nvPr>
        </p:nvGraphicFramePr>
        <p:xfrm>
          <a:off x="296902" y="540128"/>
          <a:ext cx="7178594" cy="4732415"/>
        </p:xfrm>
        <a:graphic>
          <a:graphicData uri="http://schemas.openxmlformats.org/drawingml/2006/table">
            <a:tbl>
              <a:tblPr/>
              <a:tblGrid>
                <a:gridCol w="3865398">
                  <a:extLst>
                    <a:ext uri="{9D8B030D-6E8A-4147-A177-3AD203B41FA5}">
                      <a16:colId xmlns:a16="http://schemas.microsoft.com/office/drawing/2014/main" val="369768314"/>
                    </a:ext>
                  </a:extLst>
                </a:gridCol>
                <a:gridCol w="1656598">
                  <a:extLst>
                    <a:ext uri="{9D8B030D-6E8A-4147-A177-3AD203B41FA5}">
                      <a16:colId xmlns:a16="http://schemas.microsoft.com/office/drawing/2014/main" val="2441342681"/>
                    </a:ext>
                  </a:extLst>
                </a:gridCol>
                <a:gridCol w="1656598">
                  <a:extLst>
                    <a:ext uri="{9D8B030D-6E8A-4147-A177-3AD203B41FA5}">
                      <a16:colId xmlns:a16="http://schemas.microsoft.com/office/drawing/2014/main" val="1802124967"/>
                    </a:ext>
                  </a:extLst>
                </a:gridCol>
              </a:tblGrid>
              <a:tr h="274320">
                <a:tc gridSpan="3">
                  <a:txBody>
                    <a:bodyPr/>
                    <a:lstStyle/>
                    <a:p>
                      <a:pPr algn="l" fontAlgn="ctr">
                        <a:buNone/>
                      </a:pPr>
                      <a:r>
                        <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Facility Status and Geographic Revenue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10148239"/>
                  </a:ext>
                </a:extLst>
              </a:tr>
              <a:tr h="207259">
                <a:tc gridSpan="3">
                  <a:txBody>
                    <a:bodyPr/>
                    <a:lstStyle/>
                    <a:p>
                      <a:pPr algn="ctr" fontAlgn="ctr">
                        <a:buNone/>
                      </a:pPr>
                      <a:r>
                        <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5. Facilities/Status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E5014"/>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0243821"/>
                  </a:ext>
                </a:extLst>
              </a:tr>
              <a:tr h="207259">
                <a:tc>
                  <a:txBody>
                    <a:bodyPr/>
                    <a:lstStyle/>
                    <a:p>
                      <a:pPr algn="ctr" fontAlgn="ctr">
                        <a:buNone/>
                      </a:pPr>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Type of Facility</a:t>
                      </a:r>
                    </a:p>
                  </a:txBody>
                  <a:tcPr marL="6532" marR="6532" marT="653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buNone/>
                      </a:pPr>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Location</a:t>
                      </a:r>
                    </a:p>
                  </a:txBody>
                  <a:tcPr marL="6532" marR="6532" marT="6532"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buNone/>
                      </a:pPr>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Status</a:t>
                      </a:r>
                    </a:p>
                  </a:txBody>
                  <a:tcPr marL="6532" marR="6532" marT="6532"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528885965"/>
                  </a:ext>
                </a:extLst>
              </a:tr>
              <a:tr h="207259">
                <a:tc>
                  <a:txBody>
                    <a:bodyPr/>
                    <a:lstStyle/>
                    <a:p>
                      <a:pPr algn="l"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HDMC</a:t>
                      </a: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r" fontAlgn="ctr">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r" fontAlgn="b">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90761850"/>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Corporate office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Milwaukee,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8689264"/>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Product development center</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Wauwatosa,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29423901"/>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Manufacturing – Motorcycle powertrain production</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Menomonee Falls,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254966123"/>
                  </a:ext>
                </a:extLst>
              </a:tr>
              <a:tr h="312915">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Manufacturing – Motorcycle components parts  production and painting</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Tomahawk,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40901031"/>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Manufacturing – Motorcycle parts fabrication, painting and assembly</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York, PA</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69107862"/>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Manufacturing – Motorcycle production for Asian and European markets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Rayong, Thailand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Owned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99560313"/>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Manufacturing – Motorcycle assembly for Brazilian market</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Manaus, Brazil</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73416070"/>
                  </a:ext>
                </a:extLst>
              </a:tr>
              <a:tr h="207259">
                <a:tc>
                  <a:txBody>
                    <a:bodyPr/>
                    <a:lstStyle/>
                    <a:p>
                      <a:pPr algn="l" fontAlgn="ctr">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88080064"/>
                  </a:ext>
                </a:extLst>
              </a:tr>
              <a:tr h="207259">
                <a:tc>
                  <a:txBody>
                    <a:bodyPr/>
                    <a:lstStyle/>
                    <a:p>
                      <a:pPr algn="l"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HDFS</a:t>
                      </a: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0376290"/>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Corporate and retail operations office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Reno, NV</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84958018"/>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Wholesale and retail operations office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Plano, TX</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172376876"/>
                  </a:ext>
                </a:extLst>
              </a:tr>
              <a:tr h="207259">
                <a:tc>
                  <a:txBody>
                    <a:bodyPr/>
                    <a:lstStyle/>
                    <a:p>
                      <a:pPr algn="l" fontAlgn="b">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328123049"/>
                  </a:ext>
                </a:extLst>
              </a:tr>
              <a:tr h="207259">
                <a:tc>
                  <a:txBody>
                    <a:bodyPr/>
                    <a:lstStyle/>
                    <a:p>
                      <a:pPr algn="l" fontAlgn="b">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Livewire</a:t>
                      </a: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b">
                        <a:buNone/>
                      </a:pPr>
                      <a:endPar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532" marR="6532" marT="653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375226277"/>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Corporate office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Milwaukee, WI</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Leased (From Harley-Davidson)</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43883607"/>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Livewire Labs – Customer experience center</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Malibu, CA</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Leased (inactive)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328105473"/>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LiveWire Labs – Retail operations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Carson, CA</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Leased (inactive)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3758523"/>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LiveWire Labs – Marketing displays and test rides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Los Angeles, CA</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Leased (inactive)</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07843724"/>
                  </a:ext>
                </a:extLst>
              </a:tr>
              <a:tr h="207259">
                <a:tc>
                  <a:txBody>
                    <a:bodyPr/>
                    <a:lstStyle/>
                    <a:p>
                      <a:pPr algn="l"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Corporate office and research and development activities</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Fort Worth, TX</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buNone/>
                      </a:pP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Leased</a:t>
                      </a:r>
                    </a:p>
                  </a:txBody>
                  <a:tcPr marL="6532" marR="6532" marT="653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169197456"/>
                  </a:ext>
                </a:extLst>
              </a:tr>
            </a:tbl>
          </a:graphicData>
        </a:graphic>
      </p:graphicFrame>
      <p:sp>
        <p:nvSpPr>
          <p:cNvPr id="4" name="TextBox 3">
            <a:extLst>
              <a:ext uri="{FF2B5EF4-FFF2-40B4-BE49-F238E27FC236}">
                <a16:creationId xmlns:a16="http://schemas.microsoft.com/office/drawing/2014/main" id="{32F268D0-873C-4C4B-330C-65A6B1A0A4E6}"/>
              </a:ext>
            </a:extLst>
          </p:cNvPr>
          <p:cNvSpPr txBox="1">
            <a:spLocks/>
          </p:cNvSpPr>
          <p:nvPr/>
        </p:nvSpPr>
        <p:spPr>
          <a:xfrm>
            <a:off x="7451727" y="9828749"/>
            <a:ext cx="2006283" cy="261610"/>
          </a:xfrm>
          <a:prstGeom prst="rect">
            <a:avLst/>
          </a:prstGeom>
          <a:noFill/>
        </p:spPr>
        <p:txBody>
          <a:bodyPr wrap="square" lIns="91440" tIns="45720" rIns="91440" bIns="45720" rtlCol="0" anchor="t">
            <a:spAutoFit/>
          </a:bodyPr>
          <a:lstStyle/>
          <a:p>
            <a:r>
              <a:rPr lang="en-US" sz="1100">
                <a:latin typeface="Calibri"/>
                <a:ea typeface="Calibri"/>
                <a:cs typeface="Calibri"/>
              </a:rPr>
              <a:t>15</a:t>
            </a:r>
            <a:endParaRPr lang="en-US" sz="11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E3E2976-5E60-5D0A-1E6D-039AD8982E46}"/>
              </a:ext>
            </a:extLst>
          </p:cNvPr>
          <p:cNvSpPr txBox="1"/>
          <p:nvPr/>
        </p:nvSpPr>
        <p:spPr>
          <a:xfrm>
            <a:off x="76224" y="9834890"/>
            <a:ext cx="4391001"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HOG 10k (2016-2024), HOG 10q (Q1-4 2016-2024, Q1-3 2025), FactSet, Estimates </a:t>
            </a:r>
          </a:p>
        </p:txBody>
      </p:sp>
    </p:spTree>
    <p:extLst>
      <p:ext uri="{BB962C8B-B14F-4D97-AF65-F5344CB8AC3E}">
        <p14:creationId xmlns:p14="http://schemas.microsoft.com/office/powerpoint/2010/main" val="2225867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5C823-0E7E-A657-21AA-B748BC63CCF2}"/>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16806F6-43AA-6C54-943D-92BBC3009F81}"/>
              </a:ext>
            </a:extLst>
          </p:cNvPr>
          <p:cNvGraphicFramePr>
            <a:graphicFrameLocks noGrp="1"/>
          </p:cNvGraphicFramePr>
          <p:nvPr>
            <p:custDataLst>
              <p:tags r:id="rId1"/>
            </p:custDataLst>
            <p:extLst>
              <p:ext uri="{D42A27DB-BD31-4B8C-83A1-F6EECF244321}">
                <p14:modId xmlns:p14="http://schemas.microsoft.com/office/powerpoint/2010/main" val="3261986239"/>
              </p:ext>
            </p:extLst>
          </p:nvPr>
        </p:nvGraphicFramePr>
        <p:xfrm>
          <a:off x="137161" y="233981"/>
          <a:ext cx="7498077" cy="3008376"/>
        </p:xfrm>
        <a:graphic>
          <a:graphicData uri="http://schemas.openxmlformats.org/drawingml/2006/table">
            <a:tbl>
              <a:tblPr>
                <a:tableStyleId>{5C22544A-7EE6-4342-B048-85BDC9FD1C3A}</a:tableStyleId>
              </a:tblPr>
              <a:tblGrid>
                <a:gridCol w="1516221">
                  <a:extLst>
                    <a:ext uri="{9D8B030D-6E8A-4147-A177-3AD203B41FA5}">
                      <a16:colId xmlns:a16="http://schemas.microsoft.com/office/drawing/2014/main" val="1294955325"/>
                    </a:ext>
                  </a:extLst>
                </a:gridCol>
                <a:gridCol w="498488">
                  <a:extLst>
                    <a:ext uri="{9D8B030D-6E8A-4147-A177-3AD203B41FA5}">
                      <a16:colId xmlns:a16="http://schemas.microsoft.com/office/drawing/2014/main" val="4070433701"/>
                    </a:ext>
                  </a:extLst>
                </a:gridCol>
                <a:gridCol w="498488">
                  <a:extLst>
                    <a:ext uri="{9D8B030D-6E8A-4147-A177-3AD203B41FA5}">
                      <a16:colId xmlns:a16="http://schemas.microsoft.com/office/drawing/2014/main" val="3156230279"/>
                    </a:ext>
                  </a:extLst>
                </a:gridCol>
                <a:gridCol w="498488">
                  <a:extLst>
                    <a:ext uri="{9D8B030D-6E8A-4147-A177-3AD203B41FA5}">
                      <a16:colId xmlns:a16="http://schemas.microsoft.com/office/drawing/2014/main" val="2101010433"/>
                    </a:ext>
                  </a:extLst>
                </a:gridCol>
                <a:gridCol w="498488">
                  <a:extLst>
                    <a:ext uri="{9D8B030D-6E8A-4147-A177-3AD203B41FA5}">
                      <a16:colId xmlns:a16="http://schemas.microsoft.com/office/drawing/2014/main" val="157654418"/>
                    </a:ext>
                  </a:extLst>
                </a:gridCol>
                <a:gridCol w="498488">
                  <a:extLst>
                    <a:ext uri="{9D8B030D-6E8A-4147-A177-3AD203B41FA5}">
                      <a16:colId xmlns:a16="http://schemas.microsoft.com/office/drawing/2014/main" val="2450599257"/>
                    </a:ext>
                  </a:extLst>
                </a:gridCol>
                <a:gridCol w="498488">
                  <a:extLst>
                    <a:ext uri="{9D8B030D-6E8A-4147-A177-3AD203B41FA5}">
                      <a16:colId xmlns:a16="http://schemas.microsoft.com/office/drawing/2014/main" val="1779211200"/>
                    </a:ext>
                  </a:extLst>
                </a:gridCol>
                <a:gridCol w="498488">
                  <a:extLst>
                    <a:ext uri="{9D8B030D-6E8A-4147-A177-3AD203B41FA5}">
                      <a16:colId xmlns:a16="http://schemas.microsoft.com/office/drawing/2014/main" val="965678082"/>
                    </a:ext>
                  </a:extLst>
                </a:gridCol>
                <a:gridCol w="498488">
                  <a:extLst>
                    <a:ext uri="{9D8B030D-6E8A-4147-A177-3AD203B41FA5}">
                      <a16:colId xmlns:a16="http://schemas.microsoft.com/office/drawing/2014/main" val="3727374721"/>
                    </a:ext>
                  </a:extLst>
                </a:gridCol>
                <a:gridCol w="498488">
                  <a:extLst>
                    <a:ext uri="{9D8B030D-6E8A-4147-A177-3AD203B41FA5}">
                      <a16:colId xmlns:a16="http://schemas.microsoft.com/office/drawing/2014/main" val="51715140"/>
                    </a:ext>
                  </a:extLst>
                </a:gridCol>
                <a:gridCol w="498488">
                  <a:extLst>
                    <a:ext uri="{9D8B030D-6E8A-4147-A177-3AD203B41FA5}">
                      <a16:colId xmlns:a16="http://schemas.microsoft.com/office/drawing/2014/main" val="2450351867"/>
                    </a:ext>
                  </a:extLst>
                </a:gridCol>
                <a:gridCol w="498488">
                  <a:extLst>
                    <a:ext uri="{9D8B030D-6E8A-4147-A177-3AD203B41FA5}">
                      <a16:colId xmlns:a16="http://schemas.microsoft.com/office/drawing/2014/main" val="4075479091"/>
                    </a:ext>
                  </a:extLst>
                </a:gridCol>
                <a:gridCol w="498488">
                  <a:extLst>
                    <a:ext uri="{9D8B030D-6E8A-4147-A177-3AD203B41FA5}">
                      <a16:colId xmlns:a16="http://schemas.microsoft.com/office/drawing/2014/main" val="364144103"/>
                    </a:ext>
                  </a:extLst>
                </a:gridCol>
              </a:tblGrid>
              <a:tr h="274320">
                <a:tc gridSpan="13">
                  <a:txBody>
                    <a:bodyPr/>
                    <a:lstStyle/>
                    <a:p>
                      <a:pPr algn="ctr">
                        <a:lnSpc>
                          <a:spcPts val="400"/>
                        </a:lnSpc>
                      </a:pPr>
                      <a:r>
                        <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Valuation</a:t>
                      </a:r>
                      <a:endParaRPr lang="en-US" sz="105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20860609"/>
                  </a:ext>
                </a:extLst>
              </a:tr>
              <a:tr h="210312">
                <a:tc>
                  <a:txBody>
                    <a:bodyPr/>
                    <a:lstStyle/>
                    <a:p>
                      <a:pPr>
                        <a:lnSpc>
                          <a:spcPts val="400"/>
                        </a:lnSpc>
                      </a:pPr>
                      <a:endParaRPr lang="en-US" sz="10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 7. DCF Base </a:t>
                      </a:r>
                      <a:endParaRPr lang="en-US" sz="1100" b="1"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3982791922"/>
                  </a:ext>
                </a:extLst>
              </a:tr>
              <a:tr h="210312">
                <a:tc>
                  <a:txBody>
                    <a:bodyPr/>
                    <a:lstStyle/>
                    <a:p>
                      <a:pPr algn="ctr" fontAlgn="b">
                        <a:buNone/>
                      </a:pPr>
                      <a:endParaRPr lang="en-US" sz="900" b="1"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2025E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2026E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2027E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2028E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2029E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2030E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2031E</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067106187"/>
                  </a:ext>
                </a:extLst>
              </a:tr>
              <a:tr h="210312">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Net income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$650</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$739</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$695</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$445</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$221</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$457</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$630</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$694</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$764</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$842</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$927</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2614656"/>
                  </a:ext>
                </a:extLst>
              </a:tr>
              <a:tr h="210312">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 of sales</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0.0%</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11.9%</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8.6%</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7.5%</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183941979"/>
                  </a:ext>
                </a:extLst>
              </a:tr>
              <a:tr h="210312">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EPS</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$0.01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$4.23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$5.07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$5.10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$3.58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$2.08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$5.28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$7.49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$8.47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$9.56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$10.78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$12.13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52597093"/>
                  </a:ext>
                </a:extLst>
              </a:tr>
              <a:tr h="210312">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Growth</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49770.2%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19.7%</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0.6%</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-29.8%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-41.8%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153.4%</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42.0%</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13.1%</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12.9%</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12.7%</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12.6%</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71865962"/>
                  </a:ext>
                </a:extLst>
              </a:tr>
              <a:tr h="210312">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Terminal P/E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10.00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09322094"/>
                  </a:ext>
                </a:extLst>
              </a:tr>
              <a:tr h="210312">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Terminal EPS</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$12.13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44934819"/>
                  </a:ext>
                </a:extLst>
              </a:tr>
              <a:tr h="210312">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Terminal value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$121.33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87890848"/>
                  </a:ext>
                </a:extLst>
              </a:tr>
              <a:tr h="210312">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Discount factor</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0.60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69793902"/>
                  </a:ext>
                </a:extLst>
              </a:tr>
              <a:tr h="210312">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Discounted terminal value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$72.61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8326151"/>
                  </a:ext>
                </a:extLst>
              </a:tr>
              <a:tr h="210312">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First Stage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$12.72</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2075877"/>
                  </a:ext>
                </a:extLst>
              </a:tr>
              <a:tr h="210312">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Value P/E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85.33</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16259169"/>
                  </a:ext>
                </a:extLst>
              </a:tr>
            </a:tbl>
          </a:graphicData>
        </a:graphic>
      </p:graphicFrame>
      <p:graphicFrame>
        <p:nvGraphicFramePr>
          <p:cNvPr id="4" name="Table 3">
            <a:extLst>
              <a:ext uri="{FF2B5EF4-FFF2-40B4-BE49-F238E27FC236}">
                <a16:creationId xmlns:a16="http://schemas.microsoft.com/office/drawing/2014/main" id="{6156E8AC-CBAE-3951-0E85-0973EC73E1B3}"/>
              </a:ext>
            </a:extLst>
          </p:cNvPr>
          <p:cNvGraphicFramePr>
            <a:graphicFrameLocks noGrp="1"/>
          </p:cNvGraphicFramePr>
          <p:nvPr>
            <p:custDataLst>
              <p:tags r:id="rId2"/>
            </p:custDataLst>
            <p:extLst>
              <p:ext uri="{D42A27DB-BD31-4B8C-83A1-F6EECF244321}">
                <p14:modId xmlns:p14="http://schemas.microsoft.com/office/powerpoint/2010/main" val="3888468738"/>
              </p:ext>
            </p:extLst>
          </p:nvPr>
        </p:nvGraphicFramePr>
        <p:xfrm>
          <a:off x="119615" y="6464232"/>
          <a:ext cx="7533170" cy="2815059"/>
        </p:xfrm>
        <a:graphic>
          <a:graphicData uri="http://schemas.openxmlformats.org/drawingml/2006/table">
            <a:tbl>
              <a:tblPr>
                <a:tableStyleId>{5C22544A-7EE6-4342-B048-85BDC9FD1C3A}</a:tableStyleId>
              </a:tblPr>
              <a:tblGrid>
                <a:gridCol w="1583366">
                  <a:extLst>
                    <a:ext uri="{9D8B030D-6E8A-4147-A177-3AD203B41FA5}">
                      <a16:colId xmlns:a16="http://schemas.microsoft.com/office/drawing/2014/main" val="1104535988"/>
                    </a:ext>
                  </a:extLst>
                </a:gridCol>
                <a:gridCol w="495817">
                  <a:extLst>
                    <a:ext uri="{9D8B030D-6E8A-4147-A177-3AD203B41FA5}">
                      <a16:colId xmlns:a16="http://schemas.microsoft.com/office/drawing/2014/main" val="1267238850"/>
                    </a:ext>
                  </a:extLst>
                </a:gridCol>
                <a:gridCol w="495817">
                  <a:extLst>
                    <a:ext uri="{9D8B030D-6E8A-4147-A177-3AD203B41FA5}">
                      <a16:colId xmlns:a16="http://schemas.microsoft.com/office/drawing/2014/main" val="1894329871"/>
                    </a:ext>
                  </a:extLst>
                </a:gridCol>
                <a:gridCol w="495817">
                  <a:extLst>
                    <a:ext uri="{9D8B030D-6E8A-4147-A177-3AD203B41FA5}">
                      <a16:colId xmlns:a16="http://schemas.microsoft.com/office/drawing/2014/main" val="4248946449"/>
                    </a:ext>
                  </a:extLst>
                </a:gridCol>
                <a:gridCol w="495817">
                  <a:extLst>
                    <a:ext uri="{9D8B030D-6E8A-4147-A177-3AD203B41FA5}">
                      <a16:colId xmlns:a16="http://schemas.microsoft.com/office/drawing/2014/main" val="3531744547"/>
                    </a:ext>
                  </a:extLst>
                </a:gridCol>
                <a:gridCol w="495817">
                  <a:extLst>
                    <a:ext uri="{9D8B030D-6E8A-4147-A177-3AD203B41FA5}">
                      <a16:colId xmlns:a16="http://schemas.microsoft.com/office/drawing/2014/main" val="3529507328"/>
                    </a:ext>
                  </a:extLst>
                </a:gridCol>
                <a:gridCol w="495817">
                  <a:extLst>
                    <a:ext uri="{9D8B030D-6E8A-4147-A177-3AD203B41FA5}">
                      <a16:colId xmlns:a16="http://schemas.microsoft.com/office/drawing/2014/main" val="2292244011"/>
                    </a:ext>
                  </a:extLst>
                </a:gridCol>
                <a:gridCol w="495817">
                  <a:extLst>
                    <a:ext uri="{9D8B030D-6E8A-4147-A177-3AD203B41FA5}">
                      <a16:colId xmlns:a16="http://schemas.microsoft.com/office/drawing/2014/main" val="940866258"/>
                    </a:ext>
                  </a:extLst>
                </a:gridCol>
                <a:gridCol w="495817">
                  <a:extLst>
                    <a:ext uri="{9D8B030D-6E8A-4147-A177-3AD203B41FA5}">
                      <a16:colId xmlns:a16="http://schemas.microsoft.com/office/drawing/2014/main" val="523929482"/>
                    </a:ext>
                  </a:extLst>
                </a:gridCol>
                <a:gridCol w="495817">
                  <a:extLst>
                    <a:ext uri="{9D8B030D-6E8A-4147-A177-3AD203B41FA5}">
                      <a16:colId xmlns:a16="http://schemas.microsoft.com/office/drawing/2014/main" val="1038668746"/>
                    </a:ext>
                  </a:extLst>
                </a:gridCol>
                <a:gridCol w="495817">
                  <a:extLst>
                    <a:ext uri="{9D8B030D-6E8A-4147-A177-3AD203B41FA5}">
                      <a16:colId xmlns:a16="http://schemas.microsoft.com/office/drawing/2014/main" val="795732584"/>
                    </a:ext>
                  </a:extLst>
                </a:gridCol>
                <a:gridCol w="495817">
                  <a:extLst>
                    <a:ext uri="{9D8B030D-6E8A-4147-A177-3AD203B41FA5}">
                      <a16:colId xmlns:a16="http://schemas.microsoft.com/office/drawing/2014/main" val="3521213604"/>
                    </a:ext>
                  </a:extLst>
                </a:gridCol>
                <a:gridCol w="495817">
                  <a:extLst>
                    <a:ext uri="{9D8B030D-6E8A-4147-A177-3AD203B41FA5}">
                      <a16:colId xmlns:a16="http://schemas.microsoft.com/office/drawing/2014/main" val="1856487427"/>
                    </a:ext>
                  </a:extLst>
                </a:gridCol>
              </a:tblGrid>
              <a:tr h="216543">
                <a:tc>
                  <a:txBody>
                    <a:bodyPr/>
                    <a:lstStyle/>
                    <a:p>
                      <a:pPr>
                        <a:lnSpc>
                          <a:spcPts val="400"/>
                        </a:lnSpc>
                      </a:pPr>
                      <a:endParaRPr lang="en-US" sz="8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000" b="1">
                          <a:solidFill>
                            <a:schemeClr val="bg1"/>
                          </a:solidFill>
                          <a:latin typeface="Calibri" panose="020F0502020204030204" pitchFamily="34" charset="0"/>
                          <a:ea typeface="Cambria" panose="02040503050406030204" pitchFamily="18" charset="0"/>
                          <a:cs typeface="Calibri" panose="020F0502020204030204" pitchFamily="34" charset="0"/>
                        </a:rPr>
                        <a:t> 9</a:t>
                      </a: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 DCF Bear</a:t>
                      </a:r>
                      <a:endParaRPr lang="en-US" sz="10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559058190"/>
                  </a:ext>
                </a:extLst>
              </a:tr>
              <a:tr h="216543">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2020</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2021</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2022</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2023</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2024</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2025</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2026</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2027</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2028</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2029</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2030</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2031</a:t>
                      </a: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523755055"/>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Net income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$650</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$739</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$695</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$445</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$221</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$428</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$575</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$627</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$684</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$746</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$815</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67584540"/>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 of sales</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0.0%</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11.9%</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8.6%</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7.5%</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65800346"/>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EPS</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$0.01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$4.23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$5.07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$5.10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$3.58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$2.08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$4.95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$6.83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$7.65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$8.56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$9.56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$10.66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88822597"/>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Growth</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49770.2%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19.7%</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0.6%</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-29.8%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-41.8%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137.4%</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38.2%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12.0%</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11.8%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11.7%</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11.5%</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54240949"/>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Terminal P/E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8.00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135634332"/>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Terminal EPS</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$10.66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39373123"/>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Terminal value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$85.28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720968890"/>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Discount factor</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0.60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52849981"/>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Discounted terminal value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$51.03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84585940"/>
                  </a:ext>
                </a:extLst>
              </a:tr>
              <a:tr h="216543">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First Stage</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$21.12</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36628430"/>
                  </a:ext>
                </a:extLst>
              </a:tr>
              <a:tr h="216543">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Value P/E</a:t>
                      </a:r>
                    </a:p>
                  </a:txBody>
                  <a:tcPr marL="0" marR="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$72.15</a:t>
                      </a: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56948768"/>
                  </a:ext>
                </a:extLst>
              </a:tr>
            </a:tbl>
          </a:graphicData>
        </a:graphic>
      </p:graphicFrame>
      <p:graphicFrame>
        <p:nvGraphicFramePr>
          <p:cNvPr id="6" name="Table 5">
            <a:extLst>
              <a:ext uri="{FF2B5EF4-FFF2-40B4-BE49-F238E27FC236}">
                <a16:creationId xmlns:a16="http://schemas.microsoft.com/office/drawing/2014/main" id="{03829E5C-98B5-3134-86CC-16C8D4E4517F}"/>
              </a:ext>
            </a:extLst>
          </p:cNvPr>
          <p:cNvGraphicFramePr>
            <a:graphicFrameLocks noGrp="1"/>
          </p:cNvGraphicFramePr>
          <p:nvPr>
            <p:custDataLst>
              <p:tags r:id="rId3"/>
            </p:custDataLst>
            <p:extLst>
              <p:ext uri="{D42A27DB-BD31-4B8C-83A1-F6EECF244321}">
                <p14:modId xmlns:p14="http://schemas.microsoft.com/office/powerpoint/2010/main" val="2584437483"/>
              </p:ext>
            </p:extLst>
          </p:nvPr>
        </p:nvGraphicFramePr>
        <p:xfrm>
          <a:off x="119616" y="3557525"/>
          <a:ext cx="7533169" cy="2720436"/>
        </p:xfrm>
        <a:graphic>
          <a:graphicData uri="http://schemas.openxmlformats.org/drawingml/2006/table">
            <a:tbl>
              <a:tblPr>
                <a:tableStyleId>{5C22544A-7EE6-4342-B048-85BDC9FD1C3A}</a:tableStyleId>
              </a:tblPr>
              <a:tblGrid>
                <a:gridCol w="1583977">
                  <a:extLst>
                    <a:ext uri="{9D8B030D-6E8A-4147-A177-3AD203B41FA5}">
                      <a16:colId xmlns:a16="http://schemas.microsoft.com/office/drawing/2014/main" val="2310419509"/>
                    </a:ext>
                  </a:extLst>
                </a:gridCol>
                <a:gridCol w="495766">
                  <a:extLst>
                    <a:ext uri="{9D8B030D-6E8A-4147-A177-3AD203B41FA5}">
                      <a16:colId xmlns:a16="http://schemas.microsoft.com/office/drawing/2014/main" val="547822145"/>
                    </a:ext>
                  </a:extLst>
                </a:gridCol>
                <a:gridCol w="495766">
                  <a:extLst>
                    <a:ext uri="{9D8B030D-6E8A-4147-A177-3AD203B41FA5}">
                      <a16:colId xmlns:a16="http://schemas.microsoft.com/office/drawing/2014/main" val="3951539782"/>
                    </a:ext>
                  </a:extLst>
                </a:gridCol>
                <a:gridCol w="495766">
                  <a:extLst>
                    <a:ext uri="{9D8B030D-6E8A-4147-A177-3AD203B41FA5}">
                      <a16:colId xmlns:a16="http://schemas.microsoft.com/office/drawing/2014/main" val="3701335844"/>
                    </a:ext>
                  </a:extLst>
                </a:gridCol>
                <a:gridCol w="495766">
                  <a:extLst>
                    <a:ext uri="{9D8B030D-6E8A-4147-A177-3AD203B41FA5}">
                      <a16:colId xmlns:a16="http://schemas.microsoft.com/office/drawing/2014/main" val="1559388295"/>
                    </a:ext>
                  </a:extLst>
                </a:gridCol>
                <a:gridCol w="495766">
                  <a:extLst>
                    <a:ext uri="{9D8B030D-6E8A-4147-A177-3AD203B41FA5}">
                      <a16:colId xmlns:a16="http://schemas.microsoft.com/office/drawing/2014/main" val="1115874255"/>
                    </a:ext>
                  </a:extLst>
                </a:gridCol>
                <a:gridCol w="495766">
                  <a:extLst>
                    <a:ext uri="{9D8B030D-6E8A-4147-A177-3AD203B41FA5}">
                      <a16:colId xmlns:a16="http://schemas.microsoft.com/office/drawing/2014/main" val="3049481766"/>
                    </a:ext>
                  </a:extLst>
                </a:gridCol>
                <a:gridCol w="495766">
                  <a:extLst>
                    <a:ext uri="{9D8B030D-6E8A-4147-A177-3AD203B41FA5}">
                      <a16:colId xmlns:a16="http://schemas.microsoft.com/office/drawing/2014/main" val="2522920414"/>
                    </a:ext>
                  </a:extLst>
                </a:gridCol>
                <a:gridCol w="495766">
                  <a:extLst>
                    <a:ext uri="{9D8B030D-6E8A-4147-A177-3AD203B41FA5}">
                      <a16:colId xmlns:a16="http://schemas.microsoft.com/office/drawing/2014/main" val="39709277"/>
                    </a:ext>
                  </a:extLst>
                </a:gridCol>
                <a:gridCol w="495766">
                  <a:extLst>
                    <a:ext uri="{9D8B030D-6E8A-4147-A177-3AD203B41FA5}">
                      <a16:colId xmlns:a16="http://schemas.microsoft.com/office/drawing/2014/main" val="2795564452"/>
                    </a:ext>
                  </a:extLst>
                </a:gridCol>
                <a:gridCol w="495766">
                  <a:extLst>
                    <a:ext uri="{9D8B030D-6E8A-4147-A177-3AD203B41FA5}">
                      <a16:colId xmlns:a16="http://schemas.microsoft.com/office/drawing/2014/main" val="2010540739"/>
                    </a:ext>
                  </a:extLst>
                </a:gridCol>
                <a:gridCol w="495766">
                  <a:extLst>
                    <a:ext uri="{9D8B030D-6E8A-4147-A177-3AD203B41FA5}">
                      <a16:colId xmlns:a16="http://schemas.microsoft.com/office/drawing/2014/main" val="3617839684"/>
                    </a:ext>
                  </a:extLst>
                </a:gridCol>
                <a:gridCol w="495766">
                  <a:extLst>
                    <a:ext uri="{9D8B030D-6E8A-4147-A177-3AD203B41FA5}">
                      <a16:colId xmlns:a16="http://schemas.microsoft.com/office/drawing/2014/main" val="1219090049"/>
                    </a:ext>
                  </a:extLst>
                </a:gridCol>
              </a:tblGrid>
              <a:tr h="216543">
                <a:tc>
                  <a:txBody>
                    <a:bodyPr/>
                    <a:lstStyle/>
                    <a:p>
                      <a:pPr>
                        <a:lnSpc>
                          <a:spcPts val="400"/>
                        </a:lnSpc>
                      </a:pPr>
                      <a:endParaRPr lang="en-US" sz="1100" b="1">
                        <a:solidFill>
                          <a:schemeClr val="bg1"/>
                        </a:solidFill>
                        <a:latin typeface="Calibri" panose="020F0502020204030204" pitchFamily="34" charset="0"/>
                        <a:ea typeface="Cambria" panose="02040503050406030204" pitchFamily="18" charset="0"/>
                        <a:cs typeface="Calibri" panose="020F0502020204030204" pitchFamily="34" charset="0"/>
                      </a:endParaRPr>
                    </a:p>
                    <a:p>
                      <a:pPr>
                        <a:lnSpc>
                          <a:spcPts val="400"/>
                        </a:lnSpc>
                      </a:pPr>
                      <a:r>
                        <a:rPr lang="en-US" sz="1100" b="1">
                          <a:solidFill>
                            <a:schemeClr val="bg1"/>
                          </a:solidFill>
                          <a:latin typeface="Calibri" panose="020F0502020204030204" pitchFamily="34" charset="0"/>
                          <a:ea typeface="Cambria" panose="02040503050406030204" pitchFamily="18" charset="0"/>
                          <a:cs typeface="Calibri" panose="020F0502020204030204" pitchFamily="34" charset="0"/>
                        </a:rPr>
                        <a:t> 8. </a:t>
                      </a:r>
                      <a:r>
                        <a:rPr lang="en-US" sz="1100" b="1" kern="1200">
                          <a:solidFill>
                            <a:schemeClr val="bg1"/>
                          </a:solidFill>
                          <a:latin typeface="Calibri" panose="020F0502020204030204" pitchFamily="34" charset="0"/>
                          <a:ea typeface="Cambria" panose="02040503050406030204" pitchFamily="18" charset="0"/>
                          <a:cs typeface="Calibri" panose="020F0502020204030204" pitchFamily="34" charset="0"/>
                        </a:rPr>
                        <a:t>DCF Bull </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11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661718006"/>
                  </a:ext>
                </a:extLst>
              </a:tr>
              <a:tr h="216543">
                <a:tc>
                  <a:txBody>
                    <a:bodyPr/>
                    <a:lstStyle/>
                    <a:p>
                      <a:pPr algn="ctr" fontAlgn="b">
                        <a:buNone/>
                      </a:pPr>
                      <a:endPar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2025E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2026E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2027E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2028E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2029E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2030E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b">
                        <a:buNone/>
                      </a:pPr>
                      <a:r>
                        <a:rPr lang="en-US" sz="9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2031E</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807997546"/>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Net income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$650</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$739</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$695</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$445</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$221</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$482</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$664</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$744</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$835</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$937</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$1,051</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71875048"/>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 of sales</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0.0%</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11.9%</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8.6%</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7.6%</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9.3%</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20878208"/>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EPS</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$0.01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$4.23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$5.07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$5.10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$3.58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$2.08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$5.56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$7.89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$9.09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$10.45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$12.00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$13.76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40955218"/>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Growth</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49770.2%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19.7%</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0.6%</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-29.8%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-41.8%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167.0%</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41.9%</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15.2%</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15.0%</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14.8%</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14.7%</a:t>
                      </a:r>
                      <a:endParaRPr lang="en-US" sz="800" b="0" i="1"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254048"/>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Terminal P/E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14.00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69099905"/>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Terminal EPS</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$13.76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63051955"/>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Terminal value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$192.59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21224578"/>
                  </a:ext>
                </a:extLst>
              </a:tr>
              <a:tr h="0">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Discount factor</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0.60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26068087"/>
                  </a:ext>
                </a:extLst>
              </a:tr>
              <a:tr h="216543">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Discounted terminal value</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u="none" strike="noStrike">
                          <a:effectLst/>
                          <a:latin typeface="Calibri" panose="020F0502020204030204" pitchFamily="34" charset="0"/>
                          <a:ea typeface="Calibri" panose="020F0502020204030204" pitchFamily="34" charset="0"/>
                          <a:cs typeface="Calibri" panose="020F0502020204030204" pitchFamily="34" charset="0"/>
                        </a:rPr>
                        <a:t>$115.25 </a:t>
                      </a: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06241336"/>
                  </a:ext>
                </a:extLst>
              </a:tr>
              <a:tr h="216543">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First Stage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$3.35</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75264595"/>
                  </a:ext>
                </a:extLst>
              </a:tr>
              <a:tr h="216543">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Value P/E</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endPar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buNone/>
                      </a:pPr>
                      <a:r>
                        <a:rPr lang="en-US" sz="800" b="0" i="0" u="none" strike="noStrike">
                          <a:solidFill>
                            <a:srgbClr val="141414"/>
                          </a:solidFill>
                          <a:effectLst/>
                          <a:latin typeface="Calibri" panose="020F0502020204030204" pitchFamily="34" charset="0"/>
                          <a:ea typeface="Calibri" panose="020F0502020204030204" pitchFamily="34" charset="0"/>
                          <a:cs typeface="Calibri" panose="020F0502020204030204" pitchFamily="34" charset="0"/>
                        </a:rPr>
                        <a:t>$118.60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76684989"/>
                  </a:ext>
                </a:extLst>
              </a:tr>
            </a:tbl>
          </a:graphicData>
        </a:graphic>
      </p:graphicFrame>
      <p:sp>
        <p:nvSpPr>
          <p:cNvPr id="8" name="TextBox 7">
            <a:extLst>
              <a:ext uri="{FF2B5EF4-FFF2-40B4-BE49-F238E27FC236}">
                <a16:creationId xmlns:a16="http://schemas.microsoft.com/office/drawing/2014/main" id="{79F98E01-C87C-3D85-901A-7BC2BD051C82}"/>
              </a:ext>
            </a:extLst>
          </p:cNvPr>
          <p:cNvSpPr txBox="1">
            <a:spLocks/>
          </p:cNvSpPr>
          <p:nvPr/>
        </p:nvSpPr>
        <p:spPr>
          <a:xfrm>
            <a:off x="7424739" y="9801783"/>
            <a:ext cx="2006283" cy="261610"/>
          </a:xfrm>
          <a:prstGeom prst="rect">
            <a:avLst/>
          </a:prstGeom>
          <a:noFill/>
        </p:spPr>
        <p:txBody>
          <a:bodyPr wrap="square" lIns="91440" tIns="45720" rIns="91440" bIns="45720" rtlCol="0" anchor="t">
            <a:spAutoFit/>
          </a:bodyPr>
          <a:lstStyle/>
          <a:p>
            <a:r>
              <a:rPr lang="en-US" sz="1100">
                <a:latin typeface="Calibri"/>
                <a:ea typeface="Calibri"/>
                <a:cs typeface="Calibri"/>
              </a:rPr>
              <a:t>16</a:t>
            </a:r>
            <a:endParaRPr lang="en-US" sz="11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8796CB8-7568-96D7-89BB-3F9E405CE996}"/>
              </a:ext>
            </a:extLst>
          </p:cNvPr>
          <p:cNvSpPr txBox="1"/>
          <p:nvPr/>
        </p:nvSpPr>
        <p:spPr>
          <a:xfrm>
            <a:off x="0" y="9801783"/>
            <a:ext cx="4391001"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HOG 10k (2016-2024), HOG 10q (Q1-4 2016-2024, Q1-3 2025), FactSet, Estimates </a:t>
            </a:r>
          </a:p>
        </p:txBody>
      </p:sp>
    </p:spTree>
    <p:extLst>
      <p:ext uri="{BB962C8B-B14F-4D97-AF65-F5344CB8AC3E}">
        <p14:creationId xmlns:p14="http://schemas.microsoft.com/office/powerpoint/2010/main" val="976749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1C725-3972-08FC-CE0B-96CBB9E50354}"/>
            </a:ext>
          </a:extLst>
        </p:cNvPr>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46062DCB-48E1-0266-CEEB-FC3173F41D03}"/>
              </a:ext>
            </a:extLst>
          </p:cNvPr>
          <p:cNvGraphicFramePr>
            <a:graphicFrameLocks noGrp="1"/>
          </p:cNvGraphicFramePr>
          <p:nvPr>
            <p:custDataLst>
              <p:tags r:id="rId1"/>
            </p:custDataLst>
            <p:extLst>
              <p:ext uri="{D42A27DB-BD31-4B8C-83A1-F6EECF244321}">
                <p14:modId xmlns:p14="http://schemas.microsoft.com/office/powerpoint/2010/main" val="4211016306"/>
              </p:ext>
            </p:extLst>
          </p:nvPr>
        </p:nvGraphicFramePr>
        <p:xfrm>
          <a:off x="168882" y="232509"/>
          <a:ext cx="7423222" cy="4142232"/>
        </p:xfrm>
        <a:graphic>
          <a:graphicData uri="http://schemas.openxmlformats.org/drawingml/2006/table">
            <a:tbl>
              <a:tblPr/>
              <a:tblGrid>
                <a:gridCol w="1972838">
                  <a:extLst>
                    <a:ext uri="{9D8B030D-6E8A-4147-A177-3AD203B41FA5}">
                      <a16:colId xmlns:a16="http://schemas.microsoft.com/office/drawing/2014/main" val="3261034189"/>
                    </a:ext>
                  </a:extLst>
                </a:gridCol>
                <a:gridCol w="1972838">
                  <a:extLst>
                    <a:ext uri="{9D8B030D-6E8A-4147-A177-3AD203B41FA5}">
                      <a16:colId xmlns:a16="http://schemas.microsoft.com/office/drawing/2014/main" val="807766878"/>
                    </a:ext>
                  </a:extLst>
                </a:gridCol>
                <a:gridCol w="902825">
                  <a:extLst>
                    <a:ext uri="{9D8B030D-6E8A-4147-A177-3AD203B41FA5}">
                      <a16:colId xmlns:a16="http://schemas.microsoft.com/office/drawing/2014/main" val="1706207478"/>
                    </a:ext>
                  </a:extLst>
                </a:gridCol>
                <a:gridCol w="1003137">
                  <a:extLst>
                    <a:ext uri="{9D8B030D-6E8A-4147-A177-3AD203B41FA5}">
                      <a16:colId xmlns:a16="http://schemas.microsoft.com/office/drawing/2014/main" val="2095892478"/>
                    </a:ext>
                  </a:extLst>
                </a:gridCol>
                <a:gridCol w="1571584">
                  <a:extLst>
                    <a:ext uri="{9D8B030D-6E8A-4147-A177-3AD203B41FA5}">
                      <a16:colId xmlns:a16="http://schemas.microsoft.com/office/drawing/2014/main" val="3219868461"/>
                    </a:ext>
                  </a:extLst>
                </a:gridCol>
              </a:tblGrid>
              <a:tr h="274320">
                <a:tc gridSpan="5">
                  <a:txBody>
                    <a:bodyPr/>
                    <a:lstStyle/>
                    <a:p>
                      <a:pPr algn="l" fontAlgn="ctr"/>
                      <a:r>
                        <a:rPr lang="en-US" sz="1050" b="1">
                          <a:solidFill>
                            <a:schemeClr val="bg1"/>
                          </a:solidFill>
                          <a:latin typeface="Calibri" panose="020F0502020204030204" pitchFamily="34" charset="0"/>
                          <a:ea typeface="Cambria" panose="02040503050406030204" pitchFamily="18" charset="0"/>
                          <a:cs typeface="Calibri" panose="020F0502020204030204" pitchFamily="34" charset="0"/>
                        </a:rPr>
                        <a:t>  ESG Justification and Scoring Methodology</a:t>
                      </a:r>
                      <a:endParaRPr lang="en-US" sz="1050" b="0" i="0" u="none" strike="noStrike">
                        <a:solidFill>
                          <a:schemeClr val="bg1"/>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l" fontAlgn="ctr"/>
                      <a:endParaRPr lang="en-US" sz="900" b="1" i="0" u="none" strike="noStrike">
                        <a:solidFill>
                          <a:schemeClr val="bg1"/>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ctr"/>
                      <a:endParaRPr lang="en-US" sz="900" b="0" i="0" u="none" strike="noStrike">
                        <a:solidFill>
                          <a:schemeClr val="bg1"/>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ctr"/>
                      <a:endParaRPr lang="en-US" sz="900" b="0" i="0" u="none" strike="noStrike">
                        <a:solidFill>
                          <a:schemeClr val="bg1"/>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fontAlgn="ctr"/>
                      <a:endParaRPr lang="en-US" sz="900" b="0" i="0" u="none" strike="noStrike">
                        <a:solidFill>
                          <a:schemeClr val="bg1"/>
                        </a:solidFill>
                        <a:effectLst/>
                        <a:latin typeface="Calibri"/>
                        <a:ea typeface="Calibri"/>
                        <a:cs typeface="Calibri"/>
                      </a:endParaRP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715184276"/>
                  </a:ext>
                </a:extLst>
              </a:tr>
              <a:tr h="210312">
                <a:tc>
                  <a:txBody>
                    <a:bodyPr/>
                    <a:lstStyle/>
                    <a:p>
                      <a:pPr algn="l" fontAlgn="ctr"/>
                      <a:r>
                        <a:rPr lang="en-US" sz="1100" b="1" i="0" u="none" strike="noStrike">
                          <a:solidFill>
                            <a:schemeClr val="bg1"/>
                          </a:solidFill>
                          <a:effectLst/>
                          <a:latin typeface="Calibri"/>
                          <a:ea typeface="Calibri"/>
                          <a:cs typeface="Calibri"/>
                        </a:rPr>
                        <a:t>  10. ESG Ranking</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l" fontAlgn="ctr"/>
                      <a:endParaRPr lang="en-US" sz="900" b="1" i="0" u="none" strike="noStrike">
                        <a:solidFill>
                          <a:schemeClr val="bg1"/>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ctr"/>
                      <a:r>
                        <a:rPr lang="en-US" sz="900" b="1" i="0" u="none" strike="noStrike">
                          <a:solidFill>
                            <a:schemeClr val="bg1"/>
                          </a:solidFill>
                          <a:effectLst/>
                          <a:latin typeface="Calibri"/>
                          <a:ea typeface="Calibri"/>
                          <a:cs typeface="Calibri"/>
                        </a:rPr>
                        <a:t>Weight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ctr"/>
                      <a:r>
                        <a:rPr lang="en-US" sz="900" b="1" i="0" u="none" strike="noStrike">
                          <a:solidFill>
                            <a:schemeClr val="bg1"/>
                          </a:solidFill>
                          <a:effectLst/>
                          <a:latin typeface="Calibri"/>
                          <a:ea typeface="Calibri"/>
                          <a:cs typeface="Calibri"/>
                        </a:rPr>
                        <a:t>Score (0-10)</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fontAlgn="ctr"/>
                      <a:r>
                        <a:rPr lang="en-US" sz="900" b="1" i="0" u="none" strike="noStrike">
                          <a:solidFill>
                            <a:schemeClr val="bg1"/>
                          </a:solidFill>
                          <a:effectLst/>
                          <a:latin typeface="Calibri"/>
                          <a:ea typeface="Calibri"/>
                          <a:cs typeface="Calibri"/>
                        </a:rPr>
                        <a:t>Weighted Score (%)</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605477242"/>
                  </a:ext>
                </a:extLst>
              </a:tr>
              <a:tr h="182880">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42549199"/>
                  </a:ext>
                </a:extLst>
              </a:tr>
              <a:tr h="182880">
                <a:tc>
                  <a:txBody>
                    <a:bodyPr/>
                    <a:lstStyle/>
                    <a:p>
                      <a:pPr algn="l" fontAlgn="ctr"/>
                      <a:r>
                        <a:rPr lang="en-US" sz="900" b="0" i="0" u="none" strike="noStrike">
                          <a:solidFill>
                            <a:srgbClr val="000000"/>
                          </a:solidFill>
                          <a:effectLst/>
                          <a:latin typeface="Calibri"/>
                          <a:ea typeface="Calibri"/>
                          <a:cs typeface="Calibri"/>
                        </a:rPr>
                        <a:t> Environmental </a:t>
                      </a: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Sustainability Practices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11.1%</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7</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77.7%</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91429971"/>
                  </a:ext>
                </a:extLst>
              </a:tr>
              <a:tr h="182880">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Environmental Impact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11.1%</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55.5%</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45942244"/>
                  </a:ext>
                </a:extLst>
              </a:tr>
              <a:tr h="182880">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Eco-Friendly Initiatives</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11.1%</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66.6%</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10257223"/>
                  </a:ext>
                </a:extLst>
              </a:tr>
              <a:tr h="182880">
                <a:tc>
                  <a:txBody>
                    <a:bodyPr/>
                    <a:lstStyle/>
                    <a:p>
                      <a:pPr algn="l" fontAlgn="ctr"/>
                      <a:r>
                        <a:rPr lang="en-US" sz="900" b="1" i="0" u="none" strike="noStrike">
                          <a:solidFill>
                            <a:srgbClr val="000000"/>
                          </a:solidFill>
                          <a:effectLst/>
                          <a:latin typeface="Calibri"/>
                          <a:ea typeface="Calibri"/>
                          <a:cs typeface="Calibri"/>
                        </a:rPr>
                        <a:t>Total Environmental</a:t>
                      </a:r>
                    </a:p>
                  </a:txBody>
                  <a:tcPr marL="6858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33.3%</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18</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60.0%</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377820848"/>
                  </a:ext>
                </a:extLst>
              </a:tr>
              <a:tr h="182880">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Calibri"/>
                        <a:ea typeface="Calibri"/>
                        <a:cs typeface="Calibri"/>
                      </a:endParaRP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63709386"/>
                  </a:ext>
                </a:extLst>
              </a:tr>
              <a:tr h="182880">
                <a:tc>
                  <a:txBody>
                    <a:bodyPr/>
                    <a:lstStyle/>
                    <a:p>
                      <a:pPr algn="l" fontAlgn="ctr"/>
                      <a:r>
                        <a:rPr lang="en-US" sz="900" b="0" i="0" u="none" strike="noStrike">
                          <a:solidFill>
                            <a:srgbClr val="000000"/>
                          </a:solidFill>
                          <a:effectLst/>
                          <a:latin typeface="Calibri"/>
                          <a:ea typeface="Calibri"/>
                          <a:cs typeface="Calibri"/>
                        </a:rPr>
                        <a:t> Social  </a:t>
                      </a: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Diversity and Inclusion</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11.1%</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66.6%</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67478134"/>
                  </a:ext>
                </a:extLst>
              </a:tr>
              <a:tr h="182880">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Community Engagement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11.1%</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66.6%</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07489114"/>
                  </a:ext>
                </a:extLst>
              </a:tr>
              <a:tr h="182880">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Customer Engagement</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11.1%</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4</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44.4%</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13750704"/>
                  </a:ext>
                </a:extLst>
              </a:tr>
              <a:tr h="182880">
                <a:tc>
                  <a:txBody>
                    <a:bodyPr/>
                    <a:lstStyle/>
                    <a:p>
                      <a:pPr algn="l" fontAlgn="ctr"/>
                      <a:r>
                        <a:rPr lang="en-US" sz="900" b="1" i="0" u="none" strike="noStrike">
                          <a:solidFill>
                            <a:srgbClr val="000000"/>
                          </a:solidFill>
                          <a:effectLst/>
                          <a:latin typeface="Calibri"/>
                          <a:ea typeface="Calibri"/>
                          <a:cs typeface="Calibri"/>
                        </a:rPr>
                        <a:t>Total Social</a:t>
                      </a:r>
                    </a:p>
                  </a:txBody>
                  <a:tcPr marL="6858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33.3%</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16</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53.3%</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28391114"/>
                  </a:ext>
                </a:extLst>
              </a:tr>
              <a:tr h="182880">
                <a:tc>
                  <a:txBody>
                    <a:bodyPr/>
                    <a:lstStyle/>
                    <a:p>
                      <a:pPr algn="l" fontAlgn="ctr"/>
                      <a:endParaRPr lang="en-US" sz="900" b="1" i="0" u="none" strike="noStrike">
                        <a:solidFill>
                          <a:srgbClr val="000000"/>
                        </a:solidFill>
                        <a:effectLst/>
                        <a:latin typeface="Calibri"/>
                        <a:ea typeface="Calibri"/>
                        <a:cs typeface="Calibri"/>
                      </a:endParaRPr>
                    </a:p>
                  </a:txBody>
                  <a:tcPr marL="6858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Calibri"/>
                        <a:ea typeface="Calibri"/>
                        <a:cs typeface="Calibri"/>
                      </a:endParaRP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169607522"/>
                  </a:ext>
                </a:extLst>
              </a:tr>
              <a:tr h="182880">
                <a:tc>
                  <a:txBody>
                    <a:bodyPr/>
                    <a:lstStyle/>
                    <a:p>
                      <a:pPr algn="l" fontAlgn="ctr"/>
                      <a:r>
                        <a:rPr lang="en-US" sz="900" b="0" i="0" u="none" strike="noStrike">
                          <a:solidFill>
                            <a:srgbClr val="000000"/>
                          </a:solidFill>
                          <a:effectLst/>
                          <a:latin typeface="Calibri"/>
                          <a:ea typeface="Calibri"/>
                          <a:cs typeface="Calibri"/>
                        </a:rPr>
                        <a:t> Governance </a:t>
                      </a: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Board &amp; Leadership Diversity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66.6%</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85573669"/>
                  </a:ext>
                </a:extLst>
              </a:tr>
              <a:tr h="182880">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Shareholder Rights Provisions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55.5%</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40277828"/>
                  </a:ext>
                </a:extLst>
              </a:tr>
              <a:tr h="182880">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Corporate Bylaws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4</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44.4%</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08827680"/>
                  </a:ext>
                </a:extLst>
              </a:tr>
              <a:tr h="182880">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Executive Compensation Structure</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4</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44.4%</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19480631"/>
                  </a:ext>
                </a:extLst>
              </a:tr>
              <a:tr h="182880">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Transparency &amp; Accountability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66.6%</a:t>
                      </a:r>
                      <a:endParaRPr lang="en-US"/>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04979743"/>
                  </a:ext>
                </a:extLst>
              </a:tr>
              <a:tr h="182880">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ctr"/>
                      <a:r>
                        <a:rPr lang="en-US" sz="900" b="0" i="0" u="none" strike="noStrike">
                          <a:solidFill>
                            <a:srgbClr val="000000"/>
                          </a:solidFill>
                          <a:effectLst/>
                          <a:latin typeface="Calibri"/>
                          <a:ea typeface="Calibri"/>
                          <a:cs typeface="Calibri"/>
                        </a:rPr>
                        <a:t>Risk Management</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5.6%</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a:ea typeface="Calibri"/>
                          <a:cs typeface="Calibri"/>
                        </a:rPr>
                        <a:t>55.5%</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226946481"/>
                  </a:ext>
                </a:extLst>
              </a:tr>
              <a:tr h="182880">
                <a:tc>
                  <a:txBody>
                    <a:bodyPr/>
                    <a:lstStyle/>
                    <a:p>
                      <a:pPr algn="l" fontAlgn="ctr"/>
                      <a:r>
                        <a:rPr lang="en-US" sz="900" b="1" i="0" u="none" strike="noStrike">
                          <a:solidFill>
                            <a:srgbClr val="000000"/>
                          </a:solidFill>
                          <a:effectLst/>
                          <a:latin typeface="Calibri"/>
                          <a:ea typeface="Calibri"/>
                          <a:cs typeface="Calibri"/>
                        </a:rPr>
                        <a:t>Total Governance</a:t>
                      </a:r>
                    </a:p>
                  </a:txBody>
                  <a:tcPr marL="6858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33.3%</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30</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50.0%</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42153133"/>
                  </a:ext>
                </a:extLst>
              </a:tr>
              <a:tr h="182880">
                <a:tc>
                  <a:txBody>
                    <a:bodyPr/>
                    <a:lstStyle/>
                    <a:p>
                      <a:pPr algn="l" fontAlgn="ctr"/>
                      <a:endParaRPr lang="en-US" sz="900" b="1" i="0" u="none" strike="noStrike">
                        <a:solidFill>
                          <a:srgbClr val="000000"/>
                        </a:solidFill>
                        <a:effectLst/>
                        <a:latin typeface="Calibri"/>
                        <a:ea typeface="Calibri"/>
                        <a:cs typeface="Calibri"/>
                      </a:endParaRPr>
                    </a:p>
                  </a:txBody>
                  <a:tcPr marL="68580" marR="0" marT="0"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ctr"/>
                      <a:endParaRPr lang="en-US" sz="900" b="0" i="0" u="none" strike="noStrike">
                        <a:solidFill>
                          <a:srgbClr val="000000"/>
                        </a:solidFill>
                        <a:effectLst/>
                        <a:latin typeface="Calibri"/>
                        <a:ea typeface="Calibri"/>
                        <a:cs typeface="Calibri"/>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endParaRPr lang="en-US" sz="900" b="1" i="0" u="none" strike="noStrike">
                        <a:solidFill>
                          <a:srgbClr val="000000"/>
                        </a:solidFill>
                        <a:effectLst/>
                        <a:latin typeface="Calibri"/>
                        <a:ea typeface="Calibri"/>
                        <a:cs typeface="Calibri"/>
                      </a:endParaRP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767572403"/>
                  </a:ext>
                </a:extLst>
              </a:tr>
              <a:tr h="182880">
                <a:tc>
                  <a:txBody>
                    <a:bodyPr/>
                    <a:lstStyle/>
                    <a:p>
                      <a:pPr algn="l" fontAlgn="ctr"/>
                      <a:r>
                        <a:rPr lang="en-US" sz="900" b="1" i="0" u="none" strike="noStrike">
                          <a:solidFill>
                            <a:srgbClr val="000000"/>
                          </a:solidFill>
                          <a:effectLst/>
                          <a:latin typeface="Calibri"/>
                          <a:ea typeface="Calibri"/>
                          <a:cs typeface="Calibri"/>
                        </a:rPr>
                        <a:t> Total</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ctr"/>
                      <a:endParaRPr lang="en-US" sz="900" b="1" i="0" u="none" strike="noStrike">
                        <a:solidFill>
                          <a:srgbClr val="000000"/>
                        </a:solidFill>
                        <a:effectLst/>
                        <a:latin typeface="Calibri"/>
                        <a:ea typeface="Calibri"/>
                        <a:cs typeface="Calibri"/>
                      </a:endParaRP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100.0%</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64</a:t>
                      </a:r>
                    </a:p>
                  </a:txBody>
                  <a:tcPr marL="0" marR="0" marT="0" marB="0" anchor="ctr">
                    <a:lnL>
                      <a:noFill/>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fontAlgn="ctr"/>
                      <a:r>
                        <a:rPr lang="en-US" sz="900" b="1" i="0" u="none" strike="noStrike">
                          <a:solidFill>
                            <a:srgbClr val="000000"/>
                          </a:solidFill>
                          <a:effectLst/>
                          <a:latin typeface="Calibri"/>
                          <a:ea typeface="Calibri"/>
                          <a:cs typeface="Calibri"/>
                        </a:rPr>
                        <a:t>54.4%</a:t>
                      </a:r>
                    </a:p>
                  </a:txBody>
                  <a:tcPr marL="0" marR="0" marT="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95341354"/>
                  </a:ext>
                </a:extLst>
              </a:tr>
            </a:tbl>
          </a:graphicData>
        </a:graphic>
      </p:graphicFrame>
      <p:graphicFrame>
        <p:nvGraphicFramePr>
          <p:cNvPr id="21" name="Table 20">
            <a:extLst>
              <a:ext uri="{FF2B5EF4-FFF2-40B4-BE49-F238E27FC236}">
                <a16:creationId xmlns:a16="http://schemas.microsoft.com/office/drawing/2014/main" id="{D642E9EA-D04E-AA37-3358-E3524B64DB69}"/>
              </a:ext>
            </a:extLst>
          </p:cNvPr>
          <p:cNvGraphicFramePr>
            <a:graphicFrameLocks noGrp="1"/>
          </p:cNvGraphicFramePr>
          <p:nvPr>
            <p:custDataLst>
              <p:tags r:id="rId2"/>
            </p:custDataLst>
            <p:extLst>
              <p:ext uri="{D42A27DB-BD31-4B8C-83A1-F6EECF244321}">
                <p14:modId xmlns:p14="http://schemas.microsoft.com/office/powerpoint/2010/main" val="3398240295"/>
              </p:ext>
            </p:extLst>
          </p:nvPr>
        </p:nvGraphicFramePr>
        <p:xfrm>
          <a:off x="168882" y="4990016"/>
          <a:ext cx="3080945" cy="1115568"/>
        </p:xfrm>
        <a:graphic>
          <a:graphicData uri="http://schemas.openxmlformats.org/drawingml/2006/table">
            <a:tbl>
              <a:tblPr/>
              <a:tblGrid>
                <a:gridCol w="2144963">
                  <a:extLst>
                    <a:ext uri="{9D8B030D-6E8A-4147-A177-3AD203B41FA5}">
                      <a16:colId xmlns:a16="http://schemas.microsoft.com/office/drawing/2014/main" val="4228293272"/>
                    </a:ext>
                  </a:extLst>
                </a:gridCol>
                <a:gridCol w="935982">
                  <a:extLst>
                    <a:ext uri="{9D8B030D-6E8A-4147-A177-3AD203B41FA5}">
                      <a16:colId xmlns:a16="http://schemas.microsoft.com/office/drawing/2014/main" val="1479913054"/>
                    </a:ext>
                  </a:extLst>
                </a:gridCol>
              </a:tblGrid>
              <a:tr h="274320">
                <a:tc gridSpan="2">
                  <a:txBody>
                    <a:bodyPr/>
                    <a:lstStyle/>
                    <a:p>
                      <a:pPr algn="l" fontAlgn="b"/>
                      <a:r>
                        <a:rPr lang="en-US" sz="110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11. Rating Table Breakdown</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endParaRPr lang="en-US"/>
                    </a:p>
                  </a:txBody>
                  <a:tcPr/>
                </a:tc>
                <a:extLst>
                  <a:ext uri="{0D108BD9-81ED-4DB2-BD59-A6C34878D82A}">
                    <a16:rowId xmlns:a16="http://schemas.microsoft.com/office/drawing/2014/main" val="3935570433"/>
                  </a:ext>
                </a:extLst>
              </a:tr>
              <a:tr h="210312">
                <a:tc>
                  <a:txBody>
                    <a:bodyPr/>
                    <a:lstStyle/>
                    <a:p>
                      <a:pPr algn="l" fontAlgn="ct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80%-100%</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ctr" fontAlgn="ctr"/>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Excellent</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99256604"/>
                  </a:ext>
                </a:extLst>
              </a:tr>
              <a:tr h="210312">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60%-79%</a:t>
                      </a:r>
                    </a:p>
                  </a:txBody>
                  <a:tcPr marL="0" marR="0" marT="0" marB="0" anchor="b">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Good</a:t>
                      </a:r>
                    </a:p>
                  </a:txBody>
                  <a:tcPr marL="0" marR="0" marT="0" marB="0" anchor="b">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08145084"/>
                  </a:ext>
                </a:extLst>
              </a:tr>
              <a:tr h="210312">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40%-59%</a:t>
                      </a:r>
                    </a:p>
                  </a:txBody>
                  <a:tcPr marL="0" marR="0" marT="0" marB="0" anchor="b">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Moderate</a:t>
                      </a:r>
                    </a:p>
                  </a:txBody>
                  <a:tcPr marL="0" marR="0" marT="0" marB="0" anchor="b">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62167655"/>
                  </a:ext>
                </a:extLst>
              </a:tr>
              <a:tr h="210312">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Below 40%</a:t>
                      </a:r>
                    </a:p>
                  </a:txBody>
                  <a:tcPr marL="0" marR="0" marT="0"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Poor</a:t>
                      </a:r>
                    </a:p>
                  </a:txBody>
                  <a:tcPr marL="0" marR="0" marT="0"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09797758"/>
                  </a:ext>
                </a:extLst>
              </a:tr>
            </a:tbl>
          </a:graphicData>
        </a:graphic>
      </p:graphicFrame>
      <p:sp>
        <p:nvSpPr>
          <p:cNvPr id="2" name="TextBox 1">
            <a:extLst>
              <a:ext uri="{FF2B5EF4-FFF2-40B4-BE49-F238E27FC236}">
                <a16:creationId xmlns:a16="http://schemas.microsoft.com/office/drawing/2014/main" id="{16CB193C-B227-BF54-FD28-EDE0AFCDABFA}"/>
              </a:ext>
            </a:extLst>
          </p:cNvPr>
          <p:cNvSpPr txBox="1"/>
          <p:nvPr/>
        </p:nvSpPr>
        <p:spPr>
          <a:xfrm>
            <a:off x="0" y="9842956"/>
            <a:ext cx="4391001" cy="215444"/>
          </a:xfrm>
          <a:prstGeom prst="rect">
            <a:avLst/>
          </a:prstGeom>
          <a:noFill/>
        </p:spPr>
        <p:txBody>
          <a:bodyPr wrap="square" rtlCol="0">
            <a:spAutoFit/>
          </a:bodyPr>
          <a:lstStyle/>
          <a:p>
            <a:r>
              <a:rPr lang="en-US" sz="800" i="1">
                <a:latin typeface="Calibri" panose="020F0502020204030204" pitchFamily="34" charset="0"/>
                <a:cs typeface="Calibri" panose="020F0502020204030204" pitchFamily="34" charset="0"/>
              </a:rPr>
              <a:t>Sources: HOG 10k (2016-2024), HOG 10q (Q1-4 2016-2024, Q1-3 2025), FactSet, Estimates </a:t>
            </a:r>
          </a:p>
        </p:txBody>
      </p:sp>
      <p:graphicFrame>
        <p:nvGraphicFramePr>
          <p:cNvPr id="4" name="Table 3">
            <a:extLst>
              <a:ext uri="{FF2B5EF4-FFF2-40B4-BE49-F238E27FC236}">
                <a16:creationId xmlns:a16="http://schemas.microsoft.com/office/drawing/2014/main" id="{DAFE7B06-6CF3-3053-3A3D-D784B167C530}"/>
              </a:ext>
            </a:extLst>
          </p:cNvPr>
          <p:cNvGraphicFramePr>
            <a:graphicFrameLocks noGrp="1"/>
          </p:cNvGraphicFramePr>
          <p:nvPr>
            <p:custDataLst>
              <p:tags r:id="rId3"/>
            </p:custDataLst>
            <p:extLst>
              <p:ext uri="{D42A27DB-BD31-4B8C-83A1-F6EECF244321}">
                <p14:modId xmlns:p14="http://schemas.microsoft.com/office/powerpoint/2010/main" val="2299943283"/>
              </p:ext>
            </p:extLst>
          </p:nvPr>
        </p:nvGraphicFramePr>
        <p:xfrm>
          <a:off x="168882" y="7120801"/>
          <a:ext cx="7329133" cy="1724787"/>
        </p:xfrm>
        <a:graphic>
          <a:graphicData uri="http://schemas.openxmlformats.org/drawingml/2006/table">
            <a:tbl>
              <a:tblPr>
                <a:tableStyleId>{5C22544A-7EE6-4342-B048-85BDC9FD1C3A}</a:tableStyleId>
              </a:tblPr>
              <a:tblGrid>
                <a:gridCol w="557592">
                  <a:extLst>
                    <a:ext uri="{9D8B030D-6E8A-4147-A177-3AD203B41FA5}">
                      <a16:colId xmlns:a16="http://schemas.microsoft.com/office/drawing/2014/main" val="1174912129"/>
                    </a:ext>
                  </a:extLst>
                </a:gridCol>
                <a:gridCol w="1393874">
                  <a:extLst>
                    <a:ext uri="{9D8B030D-6E8A-4147-A177-3AD203B41FA5}">
                      <a16:colId xmlns:a16="http://schemas.microsoft.com/office/drawing/2014/main" val="4203859756"/>
                    </a:ext>
                  </a:extLst>
                </a:gridCol>
                <a:gridCol w="954156">
                  <a:extLst>
                    <a:ext uri="{9D8B030D-6E8A-4147-A177-3AD203B41FA5}">
                      <a16:colId xmlns:a16="http://schemas.microsoft.com/office/drawing/2014/main" val="1521045090"/>
                    </a:ext>
                  </a:extLst>
                </a:gridCol>
                <a:gridCol w="583031">
                  <a:extLst>
                    <a:ext uri="{9D8B030D-6E8A-4147-A177-3AD203B41FA5}">
                      <a16:colId xmlns:a16="http://schemas.microsoft.com/office/drawing/2014/main" val="4103451502"/>
                    </a:ext>
                  </a:extLst>
                </a:gridCol>
                <a:gridCol w="640080">
                  <a:extLst>
                    <a:ext uri="{9D8B030D-6E8A-4147-A177-3AD203B41FA5}">
                      <a16:colId xmlns:a16="http://schemas.microsoft.com/office/drawing/2014/main" val="248581468"/>
                    </a:ext>
                  </a:extLst>
                </a:gridCol>
                <a:gridCol w="640080">
                  <a:extLst>
                    <a:ext uri="{9D8B030D-6E8A-4147-A177-3AD203B41FA5}">
                      <a16:colId xmlns:a16="http://schemas.microsoft.com/office/drawing/2014/main" val="1851677471"/>
                    </a:ext>
                  </a:extLst>
                </a:gridCol>
                <a:gridCol w="640080">
                  <a:extLst>
                    <a:ext uri="{9D8B030D-6E8A-4147-A177-3AD203B41FA5}">
                      <a16:colId xmlns:a16="http://schemas.microsoft.com/office/drawing/2014/main" val="1563439396"/>
                    </a:ext>
                  </a:extLst>
                </a:gridCol>
                <a:gridCol w="640080">
                  <a:extLst>
                    <a:ext uri="{9D8B030D-6E8A-4147-A177-3AD203B41FA5}">
                      <a16:colId xmlns:a16="http://schemas.microsoft.com/office/drawing/2014/main" val="3470676410"/>
                    </a:ext>
                  </a:extLst>
                </a:gridCol>
                <a:gridCol w="640080">
                  <a:extLst>
                    <a:ext uri="{9D8B030D-6E8A-4147-A177-3AD203B41FA5}">
                      <a16:colId xmlns:a16="http://schemas.microsoft.com/office/drawing/2014/main" val="1344022729"/>
                    </a:ext>
                  </a:extLst>
                </a:gridCol>
                <a:gridCol w="640080">
                  <a:extLst>
                    <a:ext uri="{9D8B030D-6E8A-4147-A177-3AD203B41FA5}">
                      <a16:colId xmlns:a16="http://schemas.microsoft.com/office/drawing/2014/main" val="3352499543"/>
                    </a:ext>
                  </a:extLst>
                </a:gridCol>
              </a:tblGrid>
              <a:tr h="274320">
                <a:tc gridSpan="10">
                  <a:txBody>
                    <a:bodyPr/>
                    <a:lstStyle/>
                    <a:p>
                      <a:pPr algn="l" rtl="0" fontAlgn="b">
                        <a:buNone/>
                      </a:pPr>
                      <a:r>
                        <a:rPr lang="en-US" sz="1100" b="1" i="0" u="none" strike="noStrike">
                          <a:solidFill>
                            <a:srgbClr val="FFFFFF"/>
                          </a:solidFill>
                          <a:effectLst/>
                          <a:latin typeface="Calibri" panose="020F0502020204030204" pitchFamily="34" charset="0"/>
                        </a:rPr>
                        <a:t> 12. Comps Sheet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mpd="sng">
                      <a:noFill/>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hMerge="1">
                  <a:txBody>
                    <a:bodyPr/>
                    <a:lstStyle/>
                    <a:p>
                      <a:pPr algn="ctr" rtl="0" fontAlgn="b">
                        <a:buNone/>
                      </a:pPr>
                      <a:endParaRPr lang="en-US" sz="1000" b="1" i="0" u="none" strike="noStrike">
                        <a:solidFill>
                          <a:srgbClr val="FFFFFF"/>
                        </a:solidFill>
                        <a:effectLst/>
                        <a:latin typeface="Calibri" panose="020F0502020204030204" pitchFamily="34" charset="0"/>
                      </a:endParaRPr>
                    </a:p>
                  </a:txBody>
                  <a:tcPr marL="9525" marR="9525" marT="9525" marB="0" anchor="b">
                    <a:lnL w="0" cmpd="sng">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3737027668"/>
                  </a:ext>
                </a:extLst>
              </a:tr>
              <a:tr h="210312">
                <a:tc>
                  <a:txBody>
                    <a:bodyPr/>
                    <a:lstStyle/>
                    <a:p>
                      <a:pPr algn="l" rtl="0" fontAlgn="b">
                        <a:buNone/>
                      </a:pPr>
                      <a:r>
                        <a:rPr lang="en-US" sz="1000" b="1" i="0" u="none" strike="noStrike">
                          <a:solidFill>
                            <a:schemeClr val="tx1"/>
                          </a:solidFill>
                          <a:effectLst/>
                          <a:latin typeface="Calibri" panose="020F0502020204030204" pitchFamily="34" charset="0"/>
                        </a:rPr>
                        <a:t>Ticker</a:t>
                      </a:r>
                    </a:p>
                  </a:txBody>
                  <a:tcPr marL="9525" marR="9525" marT="9525" marB="0" anchor="b">
                    <a:lnL w="12700" cap="flat" cmpd="sng" algn="ctr">
                      <a:solidFill>
                        <a:schemeClr val="tx1"/>
                      </a:solidFill>
                      <a:prstDash val="solid"/>
                      <a:round/>
                      <a:headEnd type="none" w="med" len="med"/>
                      <a:tailEnd type="none" w="med" len="med"/>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Calibri" panose="020F0502020204030204" pitchFamily="34" charset="0"/>
                        </a:rPr>
                        <a:t>Name</a:t>
                      </a:r>
                    </a:p>
                  </a:txBody>
                  <a:tcPr marL="9525" marR="9525" marT="9525" marB="0" anchor="b">
                    <a:lnL w="0" cmpd="sng">
                      <a:noFill/>
                    </a:lnL>
                    <a:lnR w="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Calibri" panose="020F0502020204030204" pitchFamily="34" charset="0"/>
                        </a:rPr>
                        <a:t>Market Value</a:t>
                      </a:r>
                    </a:p>
                  </a:txBody>
                  <a:tcPr marL="9525" marR="9525" marT="9525" marB="0" anchor="b">
                    <a:lnL w="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Calibri" panose="020F0502020204030204" pitchFamily="34" charset="0"/>
                        </a:rPr>
                        <a:t>P/E TTM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Calibri" panose="020F0502020204030204" pitchFamily="34" charset="0"/>
                        </a:rPr>
                        <a:t>P/B</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Calibri" panose="020F0502020204030204" pitchFamily="34" charset="0"/>
                        </a:rPr>
                        <a:t>EV/EBITDA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Calibri" panose="020F0502020204030204" pitchFamily="34" charset="0"/>
                        </a:rPr>
                        <a:t>Net Margin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Calibri" panose="020F0502020204030204" pitchFamily="34" charset="0"/>
                        </a:rPr>
                        <a:t>ROIC</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Calibri" panose="020F0502020204030204" pitchFamily="34" charset="0"/>
                        </a:rPr>
                        <a:t>ROE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b">
                        <a:buNone/>
                      </a:pPr>
                      <a:r>
                        <a:rPr lang="en-US" sz="1000" b="1" i="0" u="none" strike="noStrike">
                          <a:solidFill>
                            <a:schemeClr val="tx1"/>
                          </a:solidFill>
                          <a:effectLst/>
                          <a:latin typeface="Calibri" panose="020F0502020204030204" pitchFamily="34" charset="0"/>
                        </a:rPr>
                        <a:t>LTM Sales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44902718"/>
                  </a:ext>
                </a:extLst>
              </a:tr>
              <a:tr h="91440">
                <a:tc>
                  <a:txBody>
                    <a:bodyPr/>
                    <a:lstStyle/>
                    <a:p>
                      <a:pPr algn="l" rtl="0" fontAlgn="b">
                        <a:buNone/>
                      </a:pPr>
                      <a:r>
                        <a:rPr lang="en-US" sz="1100" b="0" i="0" u="none" strike="noStrike">
                          <a:solidFill>
                            <a:srgbClr val="000000"/>
                          </a:solidFill>
                          <a:effectLst/>
                          <a:latin typeface="Calibri" panose="020F0502020204030204" pitchFamily="34" charset="0"/>
                        </a:rPr>
                        <a:t>HOG</a:t>
                      </a:r>
                    </a:p>
                  </a:txBody>
                  <a:tcPr marL="9525" marR="9525" marT="9525"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Harley</a:t>
                      </a:r>
                    </a:p>
                  </a:txBody>
                  <a:tcPr marL="9525" marR="9525" marT="9525"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$2,398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8.80%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5.70%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14.20%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4.665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53376112"/>
                  </a:ext>
                </a:extLst>
              </a:tr>
              <a:tr h="91440">
                <a:tc>
                  <a:txBody>
                    <a:bodyPr/>
                    <a:lstStyle/>
                    <a:p>
                      <a:pPr algn="l" rtl="0" fontAlgn="b">
                        <a:buNone/>
                      </a:pPr>
                      <a:r>
                        <a:rPr lang="en-US" sz="1100" b="0" i="0" u="none" strike="noStrike">
                          <a:solidFill>
                            <a:srgbClr val="000000"/>
                          </a:solidFill>
                          <a:effectLst/>
                          <a:latin typeface="Calibri" panose="020F0502020204030204" pitchFamily="34" charset="0"/>
                        </a:rPr>
                        <a:t>HMC</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Honda</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$39,783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0.47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4.81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3.90%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4.30%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6.60%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144.3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39543373"/>
                  </a:ext>
                </a:extLst>
              </a:tr>
              <a:tr h="91440">
                <a:tc>
                  <a:txBody>
                    <a:bodyPr/>
                    <a:lstStyle/>
                    <a:p>
                      <a:pPr algn="l" rtl="0" fontAlgn="b">
                        <a:buNone/>
                      </a:pPr>
                      <a:r>
                        <a:rPr lang="en-US" sz="1100" b="0" i="0" u="none" strike="noStrike">
                          <a:solidFill>
                            <a:srgbClr val="000000"/>
                          </a:solidFill>
                          <a:effectLst/>
                          <a:latin typeface="Calibri" panose="020F0502020204030204" pitchFamily="34" charset="0"/>
                        </a:rPr>
                        <a:t>YAMHF</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Yamaha</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$3,328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28.9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7.40%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9.66%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16.84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47996003"/>
                  </a:ext>
                </a:extLst>
              </a:tr>
              <a:tr h="91440">
                <a:tc>
                  <a:txBody>
                    <a:bodyPr/>
                    <a:lstStyle/>
                    <a:p>
                      <a:pPr algn="l" rtl="0" fontAlgn="b">
                        <a:buNone/>
                      </a:pPr>
                      <a:r>
                        <a:rPr lang="en-US" sz="1100" b="0" i="0" u="none" strike="noStrike">
                          <a:solidFill>
                            <a:srgbClr val="000000"/>
                          </a:solidFill>
                          <a:effectLst/>
                          <a:latin typeface="Calibri" panose="020F0502020204030204" pitchFamily="34" charset="0"/>
                        </a:rPr>
                        <a:t>SZKMF</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Suzuki</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$27,606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10.5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4.76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12.80%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14.60%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39.11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27863227"/>
                  </a:ext>
                </a:extLst>
              </a:tr>
              <a:tr h="91440">
                <a:tc>
                  <a:txBody>
                    <a:bodyPr/>
                    <a:lstStyle/>
                    <a:p>
                      <a:pPr algn="l" rtl="0" fontAlgn="b">
                        <a:buNone/>
                      </a:pPr>
                      <a:r>
                        <a:rPr lang="en-US" sz="1100" b="0" i="0" u="none" strike="noStrike">
                          <a:solidFill>
                            <a:srgbClr val="000000"/>
                          </a:solidFill>
                          <a:effectLst/>
                          <a:latin typeface="Calibri" panose="020F0502020204030204" pitchFamily="34" charset="0"/>
                        </a:rPr>
                        <a:t>BAMXF</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BMW</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$62,823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0.62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6.96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8.00%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150.6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61120913"/>
                  </a:ext>
                </a:extLst>
              </a:tr>
              <a:tr h="91440">
                <a:tc>
                  <a:txBody>
                    <a:bodyPr/>
                    <a:lstStyle/>
                    <a:p>
                      <a:pPr algn="l" rtl="0" fontAlgn="b">
                        <a:buNone/>
                      </a:pPr>
                      <a:r>
                        <a:rPr lang="en-US" sz="1100" b="0" i="0" u="none" strike="noStrike">
                          <a:solidFill>
                            <a:srgbClr val="000000"/>
                          </a:solidFill>
                          <a:effectLst/>
                          <a:latin typeface="Calibri" panose="020F0502020204030204" pitchFamily="34" charset="0"/>
                        </a:rPr>
                        <a:t>Average</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$27,188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0.91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7.81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10.61%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71.10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82142818"/>
                  </a:ext>
                </a:extLst>
              </a:tr>
              <a:tr h="91440">
                <a:tc>
                  <a:txBody>
                    <a:bodyPr/>
                    <a:lstStyle/>
                    <a:p>
                      <a:pPr algn="l" rtl="0" fontAlgn="b">
                        <a:buNone/>
                      </a:pPr>
                      <a:r>
                        <a:rPr lang="en-US" sz="1100" b="0" i="0" u="none" strike="noStrike">
                          <a:solidFill>
                            <a:srgbClr val="000000"/>
                          </a:solidFill>
                          <a:effectLst/>
                          <a:latin typeface="Calibri" panose="020F0502020204030204" pitchFamily="34" charset="0"/>
                        </a:rPr>
                        <a:t>Median</a:t>
                      </a:r>
                    </a:p>
                  </a:txBody>
                  <a:tcPr marL="9525" marR="9525" marT="9525" marB="0" anchor="b">
                    <a:lnL w="12700" cap="flat" cmpd="sng" algn="ctr">
                      <a:solidFill>
                        <a:schemeClr val="tx1"/>
                      </a:solidFill>
                      <a:prstDash val="solid"/>
                      <a:round/>
                      <a:headEnd type="none" w="med" len="med"/>
                      <a:tailEnd type="none" w="med" len="med"/>
                    </a:lnL>
                    <a:lnR w="12700" cmpd="sng">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a:t>
                      </a:r>
                    </a:p>
                  </a:txBody>
                  <a:tcPr marL="9525" marR="9525" marT="9525" marB="0" anchor="b">
                    <a:lnL w="12700" cmpd="sng">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$27,606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1.12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6.96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5.70%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9.66%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rtl="0" fontAlgn="b">
                        <a:buNone/>
                      </a:pPr>
                      <a:r>
                        <a:rPr lang="en-US" sz="1100" b="0" i="0" u="none" strike="noStrike">
                          <a:solidFill>
                            <a:srgbClr val="000000"/>
                          </a:solidFill>
                          <a:effectLst/>
                          <a:latin typeface="Calibri" panose="020F0502020204030204" pitchFamily="34" charset="0"/>
                        </a:rPr>
                        <a:t>39.11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23698080"/>
                  </a:ext>
                </a:extLst>
              </a:tr>
            </a:tbl>
          </a:graphicData>
        </a:graphic>
      </p:graphicFrame>
      <p:graphicFrame>
        <p:nvGraphicFramePr>
          <p:cNvPr id="15" name="Chart 14">
            <a:extLst>
              <a:ext uri="{FF2B5EF4-FFF2-40B4-BE49-F238E27FC236}">
                <a16:creationId xmlns:a16="http://schemas.microsoft.com/office/drawing/2014/main" id="{6395CF89-49A4-773E-8954-43AEE25EBAEA}"/>
              </a:ext>
            </a:extLst>
          </p:cNvPr>
          <p:cNvGraphicFramePr>
            <a:graphicFrameLocks/>
          </p:cNvGraphicFramePr>
          <p:nvPr>
            <p:extLst>
              <p:ext uri="{D42A27DB-BD31-4B8C-83A1-F6EECF244321}">
                <p14:modId xmlns:p14="http://schemas.microsoft.com/office/powerpoint/2010/main" val="1906890192"/>
              </p:ext>
            </p:extLst>
          </p:nvPr>
        </p:nvGraphicFramePr>
        <p:xfrm>
          <a:off x="3410465" y="4467311"/>
          <a:ext cx="3930381" cy="2234585"/>
        </p:xfrm>
        <a:graphic>
          <a:graphicData uri="http://schemas.openxmlformats.org/drawingml/2006/chart">
            <c:chart xmlns:c="http://schemas.openxmlformats.org/drawingml/2006/chart" xmlns:r="http://schemas.openxmlformats.org/officeDocument/2006/relationships" r:id="rId5"/>
          </a:graphicData>
        </a:graphic>
      </p:graphicFrame>
      <p:sp>
        <p:nvSpPr>
          <p:cNvPr id="26" name="TextBox 25">
            <a:extLst>
              <a:ext uri="{FF2B5EF4-FFF2-40B4-BE49-F238E27FC236}">
                <a16:creationId xmlns:a16="http://schemas.microsoft.com/office/drawing/2014/main" id="{9C684774-649C-67AE-3814-5B1542BC0812}"/>
              </a:ext>
            </a:extLst>
          </p:cNvPr>
          <p:cNvSpPr txBox="1"/>
          <p:nvPr/>
        </p:nvSpPr>
        <p:spPr>
          <a:xfrm>
            <a:off x="3864278" y="4539729"/>
            <a:ext cx="4141380" cy="253916"/>
          </a:xfrm>
          <a:prstGeom prst="rect">
            <a:avLst/>
          </a:prstGeom>
          <a:noFill/>
        </p:spPr>
        <p:txBody>
          <a:bodyPr wrap="square">
            <a:spAutoFit/>
          </a:bodyPr>
          <a:lstStyle/>
          <a:p>
            <a:r>
              <a:rPr lang="it-IT" sz="1050" b="1">
                <a:latin typeface="Calibri" panose="020F0502020204030204" pitchFamily="34" charset="0"/>
                <a:ea typeface="Calibri" panose="020F0502020204030204" pitchFamily="34" charset="0"/>
                <a:cs typeface="Calibri" panose="020F0502020204030204" pitchFamily="34" charset="0"/>
              </a:rPr>
              <a:t>ESG Score vs. EV/EBITDA (Peer Comparison)</a:t>
            </a:r>
            <a:endParaRPr lang="en-US" sz="1050" b="1">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15AB78F4-DAF6-18C0-EC9A-AC16B1CA0B54}"/>
              </a:ext>
            </a:extLst>
          </p:cNvPr>
          <p:cNvSpPr txBox="1">
            <a:spLocks/>
          </p:cNvSpPr>
          <p:nvPr/>
        </p:nvSpPr>
        <p:spPr>
          <a:xfrm>
            <a:off x="7424739" y="9801783"/>
            <a:ext cx="2006283" cy="261610"/>
          </a:xfrm>
          <a:prstGeom prst="rect">
            <a:avLst/>
          </a:prstGeom>
          <a:noFill/>
        </p:spPr>
        <p:txBody>
          <a:bodyPr wrap="square" lIns="91440" tIns="45720" rIns="91440" bIns="45720" rtlCol="0" anchor="t">
            <a:spAutoFit/>
          </a:bodyPr>
          <a:lstStyle/>
          <a:p>
            <a:r>
              <a:rPr lang="en-US" sz="1100">
                <a:latin typeface="Calibri"/>
                <a:ea typeface="Calibri"/>
                <a:cs typeface="Calibri"/>
              </a:rPr>
              <a:t>17</a:t>
            </a:r>
            <a:endParaRPr lang="en-US" sz="11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10687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AFSPANMODE" val="span"/>
</p:tagLst>
</file>

<file path=ppt/tags/tag7.xml><?xml version="1.0" encoding="utf-8"?>
<p:tagLst xmlns:a="http://schemas.openxmlformats.org/drawingml/2006/main" xmlns:r="http://schemas.openxmlformats.org/officeDocument/2006/relationships" xmlns:p="http://schemas.openxmlformats.org/presentationml/2006/main">
  <p:tag name="AFSPANMODE" val="span"/>
</p:tagLst>
</file>

<file path=ppt/tags/tag8.xml><?xml version="1.0" encoding="utf-8"?>
<p:tagLst xmlns:a="http://schemas.openxmlformats.org/drawingml/2006/main" xmlns:r="http://schemas.openxmlformats.org/officeDocument/2006/relationships" xmlns:p="http://schemas.openxmlformats.org/presentationml/2006/main">
  <p:tag name="AFSPANMODE" val="span"/>
</p:tagLst>
</file>

<file path=ppt/tags/tag9.xml><?xml version="1.0" encoding="utf-8"?>
<p:tagLst xmlns:a="http://schemas.openxmlformats.org/drawingml/2006/main" xmlns:r="http://schemas.openxmlformats.org/officeDocument/2006/relationships" xmlns:p="http://schemas.openxmlformats.org/presentationml/2006/main">
  <p:tag name="AFSPANMODE" val="span"/>
</p:tagLst>
</file>

<file path=ppt/tags/tag10.xml><?xml version="1.0" encoding="utf-8"?>
<p:tagLst xmlns:a="http://schemas.openxmlformats.org/drawingml/2006/main" xmlns:r="http://schemas.openxmlformats.org/officeDocument/2006/relationships" xmlns:p="http://schemas.openxmlformats.org/presentationml/2006/main">
  <p:tag name="AFSPANMODE" val="span"/>
</p:tagLst>
</file>

<file path=ppt/tags/tag11.xml><?xml version="1.0" encoding="utf-8"?>
<p:tagLst xmlns:a="http://schemas.openxmlformats.org/drawingml/2006/main" xmlns:r="http://schemas.openxmlformats.org/officeDocument/2006/relationships" xmlns:p="http://schemas.openxmlformats.org/presentationml/2006/main">
  <p:tag name="AFSPANMODE" val="span"/>
</p:tagLst>
</file>

<file path=ppt/tags/tag12.xml><?xml version="1.0" encoding="utf-8"?>
<p:tagLst xmlns:a="http://schemas.openxmlformats.org/drawingml/2006/main" xmlns:r="http://schemas.openxmlformats.org/officeDocument/2006/relationships" xmlns:p="http://schemas.openxmlformats.org/presentationml/2006/main">
  <p:tag name="AFSPANMODE" val="span"/>
</p:tagLst>
</file>

<file path=ppt/tags/tag13.xml><?xml version="1.0" encoding="utf-8"?>
<p:tagLst xmlns:a="http://schemas.openxmlformats.org/drawingml/2006/main" xmlns:r="http://schemas.openxmlformats.org/officeDocument/2006/relationships" xmlns:p="http://schemas.openxmlformats.org/presentationml/2006/main">
  <p:tag name="AFSPANMODE" val="span"/>
</p:tagLst>
</file>

<file path=ppt/tags/tag14.xml><?xml version="1.0" encoding="utf-8"?>
<p:tagLst xmlns:a="http://schemas.openxmlformats.org/drawingml/2006/main" xmlns:r="http://schemas.openxmlformats.org/officeDocument/2006/relationships" xmlns:p="http://schemas.openxmlformats.org/presentationml/2006/main">
  <p:tag name="AFSPANMODE" val="span"/>
</p:tagLst>
</file>

<file path=ppt/tags/tag15.xml><?xml version="1.0" encoding="utf-8"?>
<p:tagLst xmlns:a="http://schemas.openxmlformats.org/drawingml/2006/main" xmlns:r="http://schemas.openxmlformats.org/officeDocument/2006/relationships" xmlns:p="http://schemas.openxmlformats.org/presentationml/2006/main">
  <p:tag name="AFSPANMODE" val="span"/>
</p:tagLst>
</file>

<file path=ppt/tags/tag16.xml><?xml version="1.0" encoding="utf-8"?>
<p:tagLst xmlns:a="http://schemas.openxmlformats.org/drawingml/2006/main" xmlns:r="http://schemas.openxmlformats.org/officeDocument/2006/relationships" xmlns:p="http://schemas.openxmlformats.org/presentationml/2006/main">
  <p:tag name="AFSPANMODE" val="span"/>
</p:tagLst>
</file>

<file path=ppt/tags/tag17.xml><?xml version="1.0" encoding="utf-8"?>
<p:tagLst xmlns:a="http://schemas.openxmlformats.org/drawingml/2006/main" xmlns:r="http://schemas.openxmlformats.org/officeDocument/2006/relationships" xmlns:p="http://schemas.openxmlformats.org/presentationml/2006/main">
  <p:tag name="AFSPANMODE" val="span"/>
</p:tagLst>
</file>

<file path=ppt/tags/tag18.xml><?xml version="1.0" encoding="utf-8"?>
<p:tagLst xmlns:a="http://schemas.openxmlformats.org/drawingml/2006/main" xmlns:r="http://schemas.openxmlformats.org/officeDocument/2006/relationships" xmlns:p="http://schemas.openxmlformats.org/presentationml/2006/main">
  <p:tag name="AFSPANMODE" val="span"/>
</p:tagLst>
</file>

<file path=ppt/tags/tag19.xml><?xml version="1.0" encoding="utf-8"?>
<p:tagLst xmlns:a="http://schemas.openxmlformats.org/drawingml/2006/main" xmlns:r="http://schemas.openxmlformats.org/officeDocument/2006/relationships" xmlns:p="http://schemas.openxmlformats.org/presentationml/2006/main">
  <p:tag name="AFSPANMODE" val="span"/>
</p:tagLst>
</file>

<file path=ppt/tags/tag20.xml><?xml version="1.0" encoding="utf-8"?>
<p:tagLst xmlns:a="http://schemas.openxmlformats.org/drawingml/2006/main" xmlns:r="http://schemas.openxmlformats.org/officeDocument/2006/relationships" xmlns:p="http://schemas.openxmlformats.org/presentationml/2006/main">
  <p:tag name="AFSPANMODE" val="span"/>
</p:tagLst>
</file>

<file path=ppt/tags/tag21.xml><?xml version="1.0" encoding="utf-8"?>
<p:tagLst xmlns:a="http://schemas.openxmlformats.org/drawingml/2006/main" xmlns:r="http://schemas.openxmlformats.org/officeDocument/2006/relationships" xmlns:p="http://schemas.openxmlformats.org/presentationml/2006/main">
  <p:tag name="AFSPANMODE" val="span"/>
</p:tagLst>
</file>

<file path=ppt/tags/tag22.xml><?xml version="1.0" encoding="utf-8"?>
<p:tagLst xmlns:a="http://schemas.openxmlformats.org/drawingml/2006/main" xmlns:r="http://schemas.openxmlformats.org/officeDocument/2006/relationships" xmlns:p="http://schemas.openxmlformats.org/presentationml/2006/main">
  <p:tag name="AFSPANMODE" val="span"/>
</p:tagLst>
</file>

<file path=ppt/tags/tag23.xml><?xml version="1.0" encoding="utf-8"?>
<p:tagLst xmlns:a="http://schemas.openxmlformats.org/drawingml/2006/main" xmlns:r="http://schemas.openxmlformats.org/officeDocument/2006/relationships" xmlns:p="http://schemas.openxmlformats.org/presentationml/2006/main">
  <p:tag name="AFSPANMODE" val="span"/>
</p:tagLst>
</file>

<file path=ppt/tags/tag24.xml><?xml version="1.0" encoding="utf-8"?>
<p:tagLst xmlns:a="http://schemas.openxmlformats.org/drawingml/2006/main" xmlns:r="http://schemas.openxmlformats.org/officeDocument/2006/relationships" xmlns:p="http://schemas.openxmlformats.org/presentationml/2006/main">
  <p:tag name="AFSPANMODE" val="span"/>
</p:tagLst>
</file>

<file path=ppt/tags/tag25.xml><?xml version="1.0" encoding="utf-8"?>
<p:tagLst xmlns:a="http://schemas.openxmlformats.org/drawingml/2006/main" xmlns:r="http://schemas.openxmlformats.org/officeDocument/2006/relationships" xmlns:p="http://schemas.openxmlformats.org/presentationml/2006/main">
  <p:tag name="AFSPANMODE" val="span"/>
</p:tagLst>
</file>

<file path=ppt/tags/tag26.xml><?xml version="1.0" encoding="utf-8"?>
<p:tagLst xmlns:a="http://schemas.openxmlformats.org/drawingml/2006/main" xmlns:r="http://schemas.openxmlformats.org/officeDocument/2006/relationships" xmlns:p="http://schemas.openxmlformats.org/presentationml/2006/main">
  <p:tag name="AFSPANMODE" val="span"/>
</p:tagLst>
</file>

<file path=ppt/tags/tag27.xml><?xml version="1.0" encoding="utf-8"?>
<p:tagLst xmlns:a="http://schemas.openxmlformats.org/drawingml/2006/main" xmlns:r="http://schemas.openxmlformats.org/officeDocument/2006/relationships" xmlns:p="http://schemas.openxmlformats.org/presentationml/2006/main">
  <p:tag name="AFSPANMODE" val="span"/>
</p:tagLst>
</file>

<file path=ppt/tags/tag28.xml><?xml version="1.0" encoding="utf-8"?>
<p:tagLst xmlns:a="http://schemas.openxmlformats.org/drawingml/2006/main" xmlns:r="http://schemas.openxmlformats.org/officeDocument/2006/relationships" xmlns:p="http://schemas.openxmlformats.org/presentationml/2006/main">
  <p:tag name="AFSPANMODE" val="span"/>
</p:tagLst>
</file>

<file path=ppt/tags/tag29.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028C84EB4014F428BEFEC20080FA6EE" ma:contentTypeVersion="13" ma:contentTypeDescription="Create a new document." ma:contentTypeScope="" ma:versionID="a4e6d682d75e5c82cb9d9a38cec16496">
  <xsd:schema xmlns:xsd="http://www.w3.org/2001/XMLSchema" xmlns:xs="http://www.w3.org/2001/XMLSchema" xmlns:p="http://schemas.microsoft.com/office/2006/metadata/properties" xmlns:ns1="http://schemas.microsoft.com/sharepoint/v3" xmlns:ns3="0e51150c-57e6-4c58-8e25-de9fc975c889" xmlns:ns4="8cda3fc0-ebb1-4800-9c9d-1edb1ce647bc" targetNamespace="http://schemas.microsoft.com/office/2006/metadata/properties" ma:root="true" ma:fieldsID="04ab433ff3bc8cc1464d30a8575cf455" ns1:_="" ns3:_="" ns4:_="">
    <xsd:import namespace="http://schemas.microsoft.com/sharepoint/v3"/>
    <xsd:import namespace="0e51150c-57e6-4c58-8e25-de9fc975c889"/>
    <xsd:import namespace="8cda3fc0-ebb1-4800-9c9d-1edb1ce647b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51150c-57e6-4c58-8e25-de9fc975c8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da3fc0-ebb1-4800-9c9d-1edb1ce647b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0e51150c-57e6-4c58-8e25-de9fc975c889" xsi:nil="true"/>
  </documentManagement>
</p:properties>
</file>

<file path=customXml/itemProps1.xml><?xml version="1.0" encoding="utf-8"?>
<ds:datastoreItem xmlns:ds="http://schemas.openxmlformats.org/officeDocument/2006/customXml" ds:itemID="{0291D749-2169-42D3-9EEC-BABEB6A26768}">
  <ds:schemaRefs>
    <ds:schemaRef ds:uri="http://schemas.microsoft.com/sharepoint/v3/contenttype/forms"/>
  </ds:schemaRefs>
</ds:datastoreItem>
</file>

<file path=customXml/itemProps2.xml><?xml version="1.0" encoding="utf-8"?>
<ds:datastoreItem xmlns:ds="http://schemas.openxmlformats.org/officeDocument/2006/customXml" ds:itemID="{ECC74662-00CF-4F0D-B21A-C49709B64045}">
  <ds:schemaRefs>
    <ds:schemaRef ds:uri="0e51150c-57e6-4c58-8e25-de9fc975c889"/>
    <ds:schemaRef ds:uri="8cda3fc0-ebb1-4800-9c9d-1edb1ce647b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73451FE5-1897-4586-BC10-79E3B18F62E8}">
  <ds:schemaRefs>
    <ds:schemaRef ds:uri="0e51150c-57e6-4c58-8e25-de9fc975c889"/>
    <ds:schemaRef ds:uri="8cda3fc0-ebb1-4800-9c9d-1edb1ce647b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18</Slides>
  <Notes>6</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 Patrick Linge</dc:creator>
  <cp:revision>2</cp:revision>
  <dcterms:created xsi:type="dcterms:W3CDTF">2024-12-28T08:40:20Z</dcterms:created>
  <dcterms:modified xsi:type="dcterms:W3CDTF">2026-03-19T04:40:13Z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0x0101002028C84EB4014F428BEFEC20080FA6EE</vt:lpwstr>
  </property>
</Properties>
</file>