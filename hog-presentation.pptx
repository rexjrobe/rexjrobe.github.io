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1.xml" ContentType="application/vnd.openxmlformats-officedocument.themeOverrid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5.xml" ContentType="application/vnd.openxmlformats-officedocument.presentationml.notesSlid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theme/themeOverride2.xml" ContentType="application/vnd.openxmlformats-officedocument.themeOverride+xml"/>
  <Override PartName="/ppt/charts/chart12.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6.xml" ContentType="application/vnd.openxmlformats-officedocument.presentationml.notesSlide+xml"/>
  <Override PartName="/ppt/charts/chart13.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4.xml" ContentType="application/vnd.openxmlformats-officedocument.drawingml.chart+xml"/>
  <Override PartName="/ppt/charts/style12.xml" ContentType="application/vnd.ms-office.chartstyle+xml"/>
  <Override PartName="/ppt/charts/colors12.xml" ContentType="application/vnd.ms-office.chartcolorstyl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charts/chart15.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6.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9.xml" ContentType="application/vnd.openxmlformats-officedocument.presentationml.notesSlide+xml"/>
  <Override PartName="/ppt/charts/chart17.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8.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10.xml" ContentType="application/vnd.openxmlformats-officedocument.presentationml.notesSlide+xml"/>
  <Override PartName="/ppt/charts/chart19.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20.xml" ContentType="application/vnd.openxmlformats-officedocument.drawingml.chart+xml"/>
  <Override PartName="/ppt/charts/style18.xml" ContentType="application/vnd.ms-office.chartstyle+xml"/>
  <Override PartName="/ppt/charts/colors18.xml" ContentType="application/vnd.ms-office.chartcolorstyl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1.xml" ContentType="application/vnd.openxmlformats-officedocument.presentationml.notesSlide+xml"/>
  <Override PartName="/ppt/charts/chart21.xml" ContentType="application/vnd.openxmlformats-officedocument.drawingml.chart+xml"/>
  <Override PartName="/ppt/charts/style19.xml" ContentType="application/vnd.ms-office.chartstyle+xml"/>
  <Override PartName="/ppt/charts/colors19.xml" ContentType="application/vnd.ms-office.chartcolorstyle+xml"/>
  <Override PartName="/ppt/tags/tag9.xml" ContentType="application/vnd.openxmlformats-officedocument.presentationml.tags+xml"/>
  <Override PartName="/ppt/tags/tag10.xml" ContentType="application/vnd.openxmlformats-officedocument.presentationml.tags+xml"/>
  <Override PartName="/ppt/notesSlides/notesSlide12.xml" ContentType="application/vnd.openxmlformats-officedocument.presentationml.notesSlide+xml"/>
  <Override PartName="/ppt/charts/chart22.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3.xml" ContentType="application/vnd.openxmlformats-officedocument.drawingml.chart+xml"/>
  <Override PartName="/ppt/charts/style21.xml" ContentType="application/vnd.ms-office.chartstyle+xml"/>
  <Override PartName="/ppt/charts/colors21.xml" ContentType="application/vnd.ms-office.chartcolorstyle+xml"/>
  <Override PartName="/ppt/tags/tag11.xml" ContentType="application/vnd.openxmlformats-officedocument.presentationml.tags+xml"/>
  <Override PartName="/ppt/notesSlides/notesSlide15.xml" ContentType="application/vnd.openxmlformats-officedocument.presentationml.notesSlide+xml"/>
  <Override PartName="/ppt/charts/chart24.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5.xml" ContentType="application/vnd.openxmlformats-officedocument.drawingml.chart+xml"/>
  <Override PartName="/ppt/theme/themeOverride3.xml" ContentType="application/vnd.openxmlformats-officedocument.themeOverride+xml"/>
  <Override PartName="/ppt/charts/chart26.xml" ContentType="application/vnd.openxmlformats-officedocument.drawingml.chart+xml"/>
  <Override PartName="/ppt/charts/style23.xml" ContentType="application/vnd.ms-office.chartstyle+xml"/>
  <Override PartName="/ppt/charts/colors23.xml" ContentType="application/vnd.ms-office.chartcolorstyle+xml"/>
  <Override PartName="/ppt/theme/themeOverride4.xml" ContentType="application/vnd.openxmlformats-officedocument.themeOverride+xml"/>
  <Override PartName="/ppt/notesSlides/notesSlide16.xml" ContentType="application/vnd.openxmlformats-officedocument.presentationml.notesSlide+xml"/>
  <Override PartName="/ppt/tags/tag12.xml" ContentType="application/vnd.openxmlformats-officedocument.presentationml.tags+xml"/>
  <Override PartName="/ppt/notesSlides/notesSlide1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8.xml" ContentType="application/vnd.openxmlformats-officedocument.presentationml.notesSlide+xml"/>
  <Override PartName="/ppt/charts/chart27.xml" ContentType="application/vnd.openxmlformats-officedocument.drawingml.chart+xml"/>
  <Override PartName="/ppt/charts/style24.xml" ContentType="application/vnd.ms-office.chartstyle+xml"/>
  <Override PartName="/ppt/charts/colors24.xml" ContentType="application/vnd.ms-office.chartcolorstyle+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9" r:id="rId2"/>
    <p:sldId id="331" r:id="rId3"/>
    <p:sldId id="293" r:id="rId4"/>
    <p:sldId id="292" r:id="rId5"/>
    <p:sldId id="294" r:id="rId6"/>
    <p:sldId id="307" r:id="rId7"/>
    <p:sldId id="295" r:id="rId8"/>
    <p:sldId id="296" r:id="rId9"/>
    <p:sldId id="330" r:id="rId10"/>
    <p:sldId id="298" r:id="rId11"/>
    <p:sldId id="319" r:id="rId12"/>
    <p:sldId id="302" r:id="rId13"/>
    <p:sldId id="333" r:id="rId14"/>
    <p:sldId id="318" r:id="rId15"/>
    <p:sldId id="299" r:id="rId16"/>
    <p:sldId id="305" r:id="rId17"/>
    <p:sldId id="257" r:id="rId18"/>
    <p:sldId id="301" r:id="rId19"/>
    <p:sldId id="276" r:id="rId20"/>
    <p:sldId id="277" r:id="rId21"/>
    <p:sldId id="300" r:id="rId22"/>
    <p:sldId id="274" r:id="rId23"/>
    <p:sldId id="332" r:id="rId24"/>
    <p:sldId id="326" r:id="rId25"/>
    <p:sldId id="310" r:id="rId26"/>
    <p:sldId id="327" r:id="rId27"/>
    <p:sldId id="328" r:id="rId28"/>
    <p:sldId id="329" r:id="rId29"/>
    <p:sldId id="282" r:id="rId30"/>
    <p:sldId id="321" r:id="rId31"/>
    <p:sldId id="322" r:id="rId32"/>
    <p:sldId id="311" r:id="rId33"/>
    <p:sldId id="323" r:id="rId34"/>
    <p:sldId id="314" r:id="rId35"/>
    <p:sldId id="275" r:id="rId36"/>
    <p:sldId id="32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E8D8C8"/>
    <a:srgbClr val="B6BAC3"/>
    <a:srgbClr val="D4D3D8"/>
    <a:srgbClr val="B4BA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706" autoAdjust="0"/>
  </p:normalViewPr>
  <p:slideViewPr>
    <p:cSldViewPr snapToGrid="0">
      <p:cViewPr>
        <p:scale>
          <a:sx n="75" d="100"/>
          <a:sy n="75" d="100"/>
        </p:scale>
        <p:origin x="946"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https://panthers-my.sharepoint.com/personal/jtschar_uwm_edu/Documents/HOG%20PRESENTATION%20GRAPHS.xlsx" TargetMode="External"/><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oleObject" Target="../embeddings/oleObject1.bin"/></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_rels/chart12.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10.xml"/><Relationship Id="rId1" Type="http://schemas.microsoft.com/office/2011/relationships/chartStyle" Target="style10.xml"/></Relationships>
</file>

<file path=ppt/charts/_rels/chart13.xml.rels><?xml version="1.0" encoding="UTF-8" standalone="yes"?>
<Relationships xmlns="http://schemas.openxmlformats.org/package/2006/relationships"><Relationship Id="rId3" Type="http://schemas.openxmlformats.org/officeDocument/2006/relationships/oleObject" Target="https://panthers-my.sharepoint.com/personal/jtschar_uwm_edu/Documents/HOG%20PRESENTATION%20GRAPHS.xlsx" TargetMode="External"/><Relationship Id="rId2" Type="http://schemas.microsoft.com/office/2011/relationships/chartColorStyle" Target="colors11.xml"/><Relationship Id="rId1" Type="http://schemas.microsoft.com/office/2011/relationships/chartStyle" Target="style11.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thear\Downloads\Bull%20Case%20HOG.xlsx" TargetMode="External"/><Relationship Id="rId2" Type="http://schemas.microsoft.com/office/2011/relationships/chartColorStyle" Target="colors12.xml"/><Relationship Id="rId1" Type="http://schemas.microsoft.com/office/2011/relationships/chartStyle" Target="style12.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thear\AppData\Local\FactSet\Cache\browser\download.xlsx" TargetMode="External"/><Relationship Id="rId2" Type="http://schemas.microsoft.com/office/2011/relationships/chartColorStyle" Target="colors13.xml"/><Relationship Id="rId1" Type="http://schemas.microsoft.com/office/2011/relationships/chartStyle" Target="style13.xml"/></Relationships>
</file>

<file path=ppt/charts/_rels/chart16.xml.rels><?xml version="1.0" encoding="UTF-8" standalone="yes"?>
<Relationships xmlns="http://schemas.openxmlformats.org/package/2006/relationships"><Relationship Id="rId3" Type="http://schemas.openxmlformats.org/officeDocument/2006/relationships/oleObject" Target="Book3" TargetMode="External"/><Relationship Id="rId2" Type="http://schemas.microsoft.com/office/2011/relationships/chartColorStyle" Target="colors14.xml"/><Relationship Id="rId1" Type="http://schemas.microsoft.com/office/2011/relationships/chartStyle" Target="style14.xml"/></Relationships>
</file>

<file path=ppt/charts/_rels/chart17.xml.rels><?xml version="1.0" encoding="UTF-8" standalone="yes"?>
<Relationships xmlns="http://schemas.openxmlformats.org/package/2006/relationships"><Relationship Id="rId3" Type="http://schemas.openxmlformats.org/officeDocument/2006/relationships/oleObject" Target="https://panthers-my.sharepoint.com/personal/jtschar_uwm_edu/Documents/HOG%20PRESENTATION%20GRAPHS.xlsx" TargetMode="External"/><Relationship Id="rId2" Type="http://schemas.microsoft.com/office/2011/relationships/chartColorStyle" Target="colors15.xml"/><Relationship Id="rId1" Type="http://schemas.microsoft.com/office/2011/relationships/chartStyle" Target="style15.xml"/></Relationships>
</file>

<file path=ppt/charts/_rels/chart18.xml.rels><?xml version="1.0" encoding="UTF-8" standalone="yes"?>
<Relationships xmlns="http://schemas.openxmlformats.org/package/2006/relationships"><Relationship Id="rId3" Type="http://schemas.openxmlformats.org/officeDocument/2006/relationships/oleObject" Target="Book9" TargetMode="External"/><Relationship Id="rId2" Type="http://schemas.microsoft.com/office/2011/relationships/chartColorStyle" Target="colors16.xml"/><Relationship Id="rId1" Type="http://schemas.microsoft.com/office/2011/relationships/chartStyle" Target="style16.xml"/></Relationships>
</file>

<file path=ppt/charts/_rels/chart19.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7.xml"/><Relationship Id="rId1" Type="http://schemas.microsoft.com/office/2011/relationships/chartStyle" Target="style17.xml"/></Relationships>
</file>

<file path=ppt/charts/_rels/chart20.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8.xml"/><Relationship Id="rId1" Type="http://schemas.microsoft.com/office/2011/relationships/chartStyle" Target="style18.xml"/></Relationships>
</file>

<file path=ppt/charts/_rels/chart21.xml.rels><?xml version="1.0" encoding="UTF-8" standalone="yes"?>
<Relationships xmlns="http://schemas.openxmlformats.org/package/2006/relationships"><Relationship Id="rId3" Type="http://schemas.openxmlformats.org/officeDocument/2006/relationships/oleObject" Target="https://panthers-my.sharepoint.com/personal/jtschar_uwm_edu/Documents/HOG%20PRESENTATION%20GRAPHS.xlsx" TargetMode="External"/><Relationship Id="rId2" Type="http://schemas.microsoft.com/office/2011/relationships/chartColorStyle" Target="colors19.xml"/><Relationship Id="rId1" Type="http://schemas.microsoft.com/office/2011/relationships/chartStyle" Target="style19.xml"/></Relationships>
</file>

<file path=ppt/charts/_rels/chart22.xml.rels><?xml version="1.0" encoding="UTF-8" standalone="yes"?>
<Relationships xmlns="http://schemas.openxmlformats.org/package/2006/relationships"><Relationship Id="rId3" Type="http://schemas.openxmlformats.org/officeDocument/2006/relationships/oleObject" Target="https://panthers-my.sharepoint.com/personal/lopez326_uwm_edu/Documents/Bull%20Case%20HOG.xlsx" TargetMode="External"/><Relationship Id="rId2" Type="http://schemas.microsoft.com/office/2011/relationships/chartColorStyle" Target="colors20.xml"/><Relationship Id="rId1" Type="http://schemas.microsoft.com/office/2011/relationships/chartStyle" Target="style20.xml"/></Relationships>
</file>

<file path=ppt/charts/_rels/chart23.xml.rels><?xml version="1.0" encoding="UTF-8" standalone="yes"?>
<Relationships xmlns="http://schemas.openxmlformats.org/package/2006/relationships"><Relationship Id="rId3" Type="http://schemas.openxmlformats.org/officeDocument/2006/relationships/oleObject" Target="https://panthers-my.sharepoint.com/personal/rexjrobe_uwm_edu/Documents/hog.xlsx" TargetMode="External"/><Relationship Id="rId2" Type="http://schemas.microsoft.com/office/2011/relationships/chartColorStyle" Target="colors21.xml"/><Relationship Id="rId1" Type="http://schemas.microsoft.com/office/2011/relationships/chartStyle" Target="style21.xml"/></Relationships>
</file>

<file path=ppt/charts/_rels/chart24.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22.xml"/><Relationship Id="rId1" Type="http://schemas.microsoft.com/office/2011/relationships/chartStyle" Target="style22.xml"/></Relationships>
</file>

<file path=ppt/charts/_rels/chart25.xml.rels><?xml version="1.0" encoding="UTF-8" standalone="yes"?>
<Relationships xmlns="http://schemas.openxmlformats.org/package/2006/relationships"><Relationship Id="rId2" Type="http://schemas.openxmlformats.org/officeDocument/2006/relationships/oleObject" Target="https://panthers-my.sharepoint.com/personal/maxraria_uwm_edu/Documents/har%20chart.xlsx" TargetMode="External"/><Relationship Id="rId1" Type="http://schemas.openxmlformats.org/officeDocument/2006/relationships/themeOverride" Target="../theme/themeOverride3.xml"/></Relationships>
</file>

<file path=ppt/charts/_rels/chart2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3.xml"/><Relationship Id="rId1" Type="http://schemas.microsoft.com/office/2011/relationships/chartStyle" Target="style23.xml"/><Relationship Id="rId4" Type="http://schemas.openxmlformats.org/officeDocument/2006/relationships/oleObject" Target="https://panthers-my.sharepoint.com/personal/jtschar_uwm_edu/Documents/HOG%20PRESENTATION%20GRAPHS.xlsx" TargetMode="External"/></Relationships>
</file>

<file path=ppt/charts/_rels/chart27.xml.rels><?xml version="1.0" encoding="UTF-8" standalone="yes"?>
<Relationships xmlns="http://schemas.openxmlformats.org/package/2006/relationships"><Relationship Id="rId3" Type="http://schemas.openxmlformats.org/officeDocument/2006/relationships/oleObject" Target="https://panthers-my.sharepoint.com/personal/huynhro2_uwm_edu/Documents/Quantifying%20Business%20Drivers.xlsx" TargetMode="External"/><Relationship Id="rId2" Type="http://schemas.microsoft.com/office/2011/relationships/chartColorStyle" Target="colors24.xml"/><Relationship Id="rId1" Type="http://schemas.microsoft.com/office/2011/relationships/chartStyle" Target="style2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dPt>
            <c:idx val="0"/>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1-AC4A-4C10-948C-E74016879AEB}"/>
              </c:ext>
            </c:extLst>
          </c:dPt>
          <c:dPt>
            <c:idx val="1"/>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3-AC4A-4C10-948C-E74016879AEB}"/>
              </c:ext>
            </c:extLst>
          </c:dPt>
          <c:val>
            <c:numRef>
              <c:f>Sheet1!$N$45:$O$45</c:f>
              <c:numCache>
                <c:formatCode>0%</c:formatCode>
                <c:ptCount val="2"/>
                <c:pt idx="0">
                  <c:v>2.2439355641905911E-2</c:v>
                </c:pt>
                <c:pt idx="1">
                  <c:v>0.97756064435809409</c:v>
                </c:pt>
              </c:numCache>
            </c:numRef>
          </c:val>
          <c:extLst>
            <c:ext xmlns:c16="http://schemas.microsoft.com/office/drawing/2014/chart" uri="{C3380CC4-5D6E-409C-BE32-E72D297353CC}">
              <c16:uniqueId val="{00000004-AC4A-4C10-948C-E74016879AE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accent2">
                <a:lumMod val="20000"/>
                <a:lumOff val="80000"/>
              </a:schemeClr>
            </a:solidFill>
          </c:spPr>
          <c:dPt>
            <c:idx val="0"/>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1-04AD-491B-A805-5ECD9C7E1C85}"/>
              </c:ext>
            </c:extLst>
          </c:dPt>
          <c:dPt>
            <c:idx val="1"/>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3-04AD-491B-A805-5ECD9C7E1C85}"/>
              </c:ext>
            </c:extLst>
          </c:dPt>
          <c:val>
            <c:numRef>
              <c:f>Sheet1!$N$43:$O$43</c:f>
              <c:numCache>
                <c:formatCode>0%</c:formatCode>
                <c:ptCount val="2"/>
                <c:pt idx="0">
                  <c:v>0.16187422190364809</c:v>
                </c:pt>
                <c:pt idx="1">
                  <c:v>0.83812577809635191</c:v>
                </c:pt>
              </c:numCache>
            </c:numRef>
          </c:val>
          <c:extLst>
            <c:ext xmlns:c16="http://schemas.microsoft.com/office/drawing/2014/chart" uri="{C3380CC4-5D6E-409C-BE32-E72D297353CC}">
              <c16:uniqueId val="{00000004-04AD-491B-A805-5ECD9C7E1C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dPt>
            <c:idx val="0"/>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1-6714-4A11-BC5E-08F549572B77}"/>
              </c:ext>
            </c:extLst>
          </c:dPt>
          <c:dPt>
            <c:idx val="1"/>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3-6714-4A11-BC5E-08F549572B77}"/>
              </c:ext>
            </c:extLst>
          </c:dPt>
          <c:val>
            <c:numRef>
              <c:f>Sheet1!$N$42:$O$42</c:f>
              <c:numCache>
                <c:formatCode>0%</c:formatCode>
                <c:ptCount val="2"/>
                <c:pt idx="0">
                  <c:v>4.8545667182253747E-2</c:v>
                </c:pt>
                <c:pt idx="1">
                  <c:v>0.95145433281774627</c:v>
                </c:pt>
              </c:numCache>
            </c:numRef>
          </c:val>
          <c:extLst>
            <c:ext xmlns:c16="http://schemas.microsoft.com/office/drawing/2014/chart" uri="{C3380CC4-5D6E-409C-BE32-E72D297353CC}">
              <c16:uniqueId val="{00000004-6714-4A11-BC5E-08F549572B77}"/>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accent2">
                <a:lumMod val="75000"/>
              </a:schemeClr>
            </a:solidFill>
          </c:spPr>
          <c:dPt>
            <c:idx val="0"/>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1-12BE-4617-8058-F2B88C6CDAED}"/>
              </c:ext>
            </c:extLst>
          </c:dPt>
          <c:dPt>
            <c:idx val="1"/>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3-12BE-4617-8058-F2B88C6CDAED}"/>
              </c:ext>
            </c:extLst>
          </c:dPt>
          <c:dLbls>
            <c:delete val="1"/>
          </c:dLbls>
          <c:val>
            <c:numRef>
              <c:f>Sheet1!$N$41:$O$41</c:f>
              <c:numCache>
                <c:formatCode>0%</c:formatCode>
                <c:ptCount val="2"/>
                <c:pt idx="0">
                  <c:v>0.62397102652129621</c:v>
                </c:pt>
                <c:pt idx="1">
                  <c:v>0.37602897347870379</c:v>
                </c:pt>
              </c:numCache>
            </c:numRef>
          </c:val>
          <c:extLst>
            <c:ext xmlns:c16="http://schemas.microsoft.com/office/drawing/2014/chart" uri="{C3380CC4-5D6E-409C-BE32-E72D297353CC}">
              <c16:uniqueId val="{00000004-12BE-4617-8058-F2B88C6CDAED}"/>
            </c:ext>
          </c:extLst>
        </c:ser>
        <c:dLbls>
          <c:showLegendKey val="0"/>
          <c:showVal val="0"/>
          <c:showCatName val="1"/>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359335083114613"/>
          <c:y val="5.0312195315199523E-2"/>
          <c:w val="0.69725809273840766"/>
          <c:h val="0.87701463367395671"/>
        </c:manualLayout>
      </c:layout>
      <c:doughnutChart>
        <c:varyColors val="1"/>
        <c:ser>
          <c:idx val="0"/>
          <c:order val="0"/>
          <c:spPr>
            <a:solidFill>
              <a:schemeClr val="tx1">
                <a:lumMod val="50000"/>
                <a:lumOff val="50000"/>
              </a:schemeClr>
            </a:solidFill>
            <a:ln>
              <a:noFill/>
            </a:ln>
          </c:spPr>
          <c:dPt>
            <c:idx val="0"/>
            <c:bubble3D val="0"/>
            <c:spPr>
              <a:solidFill>
                <a:schemeClr val="bg1"/>
              </a:solidFill>
              <a:ln w="19050">
                <a:noFill/>
              </a:ln>
              <a:effectLst/>
            </c:spPr>
            <c:extLst>
              <c:ext xmlns:c16="http://schemas.microsoft.com/office/drawing/2014/chart" uri="{C3380CC4-5D6E-409C-BE32-E72D297353CC}">
                <c16:uniqueId val="{00000001-6C12-4B60-B853-3F0D321843A0}"/>
              </c:ext>
            </c:extLst>
          </c:dPt>
          <c:dPt>
            <c:idx val="1"/>
            <c:bubble3D val="0"/>
            <c:spPr>
              <a:solidFill>
                <a:schemeClr val="tx1">
                  <a:lumMod val="75000"/>
                  <a:lumOff val="25000"/>
                </a:schemeClr>
              </a:solidFill>
              <a:ln w="19050">
                <a:noFill/>
              </a:ln>
              <a:effectLst/>
            </c:spPr>
            <c:extLst>
              <c:ext xmlns:c16="http://schemas.microsoft.com/office/drawing/2014/chart" uri="{C3380CC4-5D6E-409C-BE32-E72D297353CC}">
                <c16:uniqueId val="{00000003-6C12-4B60-B853-3F0D321843A0}"/>
              </c:ext>
            </c:extLst>
          </c:dPt>
          <c:dPt>
            <c:idx val="2"/>
            <c:bubble3D val="0"/>
            <c:spPr>
              <a:solidFill>
                <a:schemeClr val="accent2">
                  <a:lumMod val="75000"/>
                </a:schemeClr>
              </a:solidFill>
              <a:ln w="19050">
                <a:noFill/>
              </a:ln>
              <a:effectLst/>
            </c:spPr>
            <c:extLst>
              <c:ext xmlns:c16="http://schemas.microsoft.com/office/drawing/2014/chart" uri="{C3380CC4-5D6E-409C-BE32-E72D297353CC}">
                <c16:uniqueId val="{00000005-6C12-4B60-B853-3F0D321843A0}"/>
              </c:ext>
            </c:extLst>
          </c:dPt>
          <c:cat>
            <c:strRef>
              <c:f>Sheet1!$J$16:$L$16</c:f>
              <c:strCache>
                <c:ptCount val="3"/>
                <c:pt idx="0">
                  <c:v>Livewire</c:v>
                </c:pt>
                <c:pt idx="1">
                  <c:v>HDMC</c:v>
                </c:pt>
                <c:pt idx="2">
                  <c:v>HDFS</c:v>
                </c:pt>
              </c:strCache>
            </c:strRef>
          </c:cat>
          <c:val>
            <c:numRef>
              <c:f>Sheet1!$J$17:$L$17</c:f>
              <c:numCache>
                <c:formatCode>General</c:formatCode>
                <c:ptCount val="3"/>
                <c:pt idx="0">
                  <c:v>5.0817440110495831E-3</c:v>
                </c:pt>
                <c:pt idx="1">
                  <c:v>0.79469121821114441</c:v>
                </c:pt>
                <c:pt idx="2">
                  <c:v>0.20022703777780607</c:v>
                </c:pt>
              </c:numCache>
            </c:numRef>
          </c:val>
          <c:extLst>
            <c:ext xmlns:c16="http://schemas.microsoft.com/office/drawing/2014/chart" uri="{C3380CC4-5D6E-409C-BE32-E72D297353CC}">
              <c16:uniqueId val="{00000006-6C12-4B60-B853-3F0D321843A0}"/>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accent2">
                <a:lumMod val="75000"/>
              </a:schemeClr>
            </a:solidFill>
          </c:spPr>
          <c:dPt>
            <c:idx val="0"/>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1-0EF8-43F6-AC9E-9703376E8255}"/>
              </c:ext>
            </c:extLst>
          </c:dPt>
          <c:dPt>
            <c:idx val="1"/>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3-0EF8-43F6-AC9E-9703376E8255}"/>
              </c:ext>
            </c:extLst>
          </c:dPt>
          <c:val>
            <c:numRef>
              <c:f>Sheet1!$N$44:$O$44</c:f>
              <c:numCache>
                <c:formatCode>0%</c:formatCode>
                <c:ptCount val="2"/>
                <c:pt idx="0">
                  <c:v>0.14316972875089598</c:v>
                </c:pt>
                <c:pt idx="1">
                  <c:v>0.85683027124910405</c:v>
                </c:pt>
              </c:numCache>
            </c:numRef>
          </c:val>
          <c:extLst>
            <c:ext xmlns:c16="http://schemas.microsoft.com/office/drawing/2014/chart" uri="{C3380CC4-5D6E-409C-BE32-E72D297353CC}">
              <c16:uniqueId val="{00000004-0EF8-43F6-AC9E-9703376E825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1"/>
          <c:order val="0"/>
          <c:spPr>
            <a:solidFill>
              <a:schemeClr val="accent2">
                <a:lumMod val="75000"/>
              </a:schemeClr>
            </a:solidFill>
            <a:ln>
              <a:solidFill>
                <a:schemeClr val="accent2">
                  <a:lumMod val="75000"/>
                </a:schemeClr>
              </a:solidFill>
            </a:ln>
            <a:effectLst/>
          </c:spPr>
          <c:invertIfNegative val="0"/>
          <c:cat>
            <c:strRef>
              <c:f>Sheet1!$K$71:$Q$71</c:f>
              <c:strCache>
                <c:ptCount val="7"/>
                <c:pt idx="0">
                  <c:v>2021</c:v>
                </c:pt>
                <c:pt idx="1">
                  <c:v>2022</c:v>
                </c:pt>
                <c:pt idx="2">
                  <c:v>2023</c:v>
                </c:pt>
                <c:pt idx="3">
                  <c:v>2024</c:v>
                </c:pt>
                <c:pt idx="4">
                  <c:v>2025</c:v>
                </c:pt>
                <c:pt idx="5">
                  <c:v>2026E</c:v>
                </c:pt>
                <c:pt idx="6">
                  <c:v>2027E</c:v>
                </c:pt>
              </c:strCache>
            </c:strRef>
          </c:cat>
          <c:val>
            <c:numRef>
              <c:f>Sheet1!$K$72:$Q$72</c:f>
              <c:numCache>
                <c:formatCode>"$"#,##0_);\("$"#,##0\)</c:formatCode>
                <c:ptCount val="7"/>
                <c:pt idx="0">
                  <c:v>5336.308</c:v>
                </c:pt>
                <c:pt idx="1">
                  <c:v>5755.13</c:v>
                </c:pt>
                <c:pt idx="2">
                  <c:v>5836.4780000000001</c:v>
                </c:pt>
                <c:pt idx="3">
                  <c:v>5186.8019999999997</c:v>
                </c:pt>
                <c:pt idx="4">
                  <c:v>4472.8292550607284</c:v>
                </c:pt>
                <c:pt idx="5">
                  <c:v>4696.4707178137651</c:v>
                </c:pt>
                <c:pt idx="6">
                  <c:v>5072.1883752388667</c:v>
                </c:pt>
              </c:numCache>
            </c:numRef>
          </c:val>
          <c:extLst>
            <c:ext xmlns:c16="http://schemas.microsoft.com/office/drawing/2014/chart" uri="{C3380CC4-5D6E-409C-BE32-E72D297353CC}">
              <c16:uniqueId val="{00000000-4FEE-4952-8378-BF3934D20C55}"/>
            </c:ext>
          </c:extLst>
        </c:ser>
        <c:dLbls>
          <c:showLegendKey val="0"/>
          <c:showVal val="0"/>
          <c:showCatName val="0"/>
          <c:showSerName val="0"/>
          <c:showPercent val="0"/>
          <c:showBubbleSize val="0"/>
        </c:dLbls>
        <c:gapWidth val="219"/>
        <c:overlap val="-27"/>
        <c:axId val="456916063"/>
        <c:axId val="456920863"/>
      </c:barChart>
      <c:catAx>
        <c:axId val="456916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56920863"/>
        <c:crosses val="autoZero"/>
        <c:auto val="1"/>
        <c:lblAlgn val="ctr"/>
        <c:lblOffset val="100"/>
        <c:noMultiLvlLbl val="0"/>
      </c:catAx>
      <c:valAx>
        <c:axId val="456920863"/>
        <c:scaling>
          <c:orientation val="minMax"/>
          <c:max val="6000"/>
        </c:scaling>
        <c:delete val="0"/>
        <c:axPos val="l"/>
        <c:majorGridlines>
          <c:spPr>
            <a:ln w="9525" cap="flat" cmpd="sng" algn="ctr">
              <a:solidFill>
                <a:schemeClr val="tx1">
                  <a:lumMod val="15000"/>
                  <a:lumOff val="85000"/>
                </a:schemeClr>
              </a:solidFill>
              <a:round/>
            </a:ln>
            <a:effectLst/>
          </c:spPr>
        </c:majorGridlines>
        <c:numFmt formatCode="&quot;$&quot;#,##0_);\(&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569160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914178188536369"/>
          <c:y val="5.3034700443427368E-2"/>
          <c:w val="0.79225143654466268"/>
          <c:h val="0.58808324002049805"/>
        </c:manualLayout>
      </c:layout>
      <c:lineChart>
        <c:grouping val="standard"/>
        <c:varyColors val="0"/>
        <c:ser>
          <c:idx val="0"/>
          <c:order val="0"/>
          <c:tx>
            <c:strRef>
              <c:f>Sheet1!$I$1</c:f>
              <c:strCache>
                <c:ptCount val="1"/>
                <c:pt idx="0">
                  <c:v>Harley - Price</c:v>
                </c:pt>
              </c:strCache>
            </c:strRef>
          </c:tx>
          <c:spPr>
            <a:ln w="28575" cap="rnd">
              <a:solidFill>
                <a:schemeClr val="accent2">
                  <a:lumMod val="75000"/>
                </a:schemeClr>
              </a:solidFill>
              <a:round/>
            </a:ln>
            <a:effectLst/>
          </c:spPr>
          <c:marker>
            <c:symbol val="none"/>
          </c:marker>
          <c:cat>
            <c:numRef>
              <c:f>Sheet1!$H$2:$H$123</c:f>
              <c:numCache>
                <c:formatCode>mm/dd/yy</c:formatCode>
                <c:ptCount val="122"/>
                <c:pt idx="0">
                  <c:v>42398</c:v>
                </c:pt>
                <c:pt idx="1">
                  <c:v>42400</c:v>
                </c:pt>
                <c:pt idx="2">
                  <c:v>42429</c:v>
                </c:pt>
                <c:pt idx="3">
                  <c:v>42460</c:v>
                </c:pt>
                <c:pt idx="4">
                  <c:v>42490</c:v>
                </c:pt>
                <c:pt idx="5">
                  <c:v>42521</c:v>
                </c:pt>
                <c:pt idx="6">
                  <c:v>42551</c:v>
                </c:pt>
                <c:pt idx="7">
                  <c:v>42582</c:v>
                </c:pt>
                <c:pt idx="8">
                  <c:v>42613</c:v>
                </c:pt>
                <c:pt idx="9">
                  <c:v>42643</c:v>
                </c:pt>
                <c:pt idx="10">
                  <c:v>42674</c:v>
                </c:pt>
                <c:pt idx="11">
                  <c:v>42704</c:v>
                </c:pt>
                <c:pt idx="12">
                  <c:v>42735</c:v>
                </c:pt>
                <c:pt idx="13">
                  <c:v>42766</c:v>
                </c:pt>
                <c:pt idx="14">
                  <c:v>42794</c:v>
                </c:pt>
                <c:pt idx="15">
                  <c:v>42825</c:v>
                </c:pt>
                <c:pt idx="16">
                  <c:v>42855</c:v>
                </c:pt>
                <c:pt idx="17">
                  <c:v>42886</c:v>
                </c:pt>
                <c:pt idx="18">
                  <c:v>42916</c:v>
                </c:pt>
                <c:pt idx="19">
                  <c:v>42947</c:v>
                </c:pt>
                <c:pt idx="20">
                  <c:v>42978</c:v>
                </c:pt>
                <c:pt idx="21">
                  <c:v>43008</c:v>
                </c:pt>
                <c:pt idx="22">
                  <c:v>43039</c:v>
                </c:pt>
                <c:pt idx="23">
                  <c:v>43069</c:v>
                </c:pt>
                <c:pt idx="24">
                  <c:v>43100</c:v>
                </c:pt>
                <c:pt idx="25">
                  <c:v>43131</c:v>
                </c:pt>
                <c:pt idx="26">
                  <c:v>43159</c:v>
                </c:pt>
                <c:pt idx="27">
                  <c:v>43190</c:v>
                </c:pt>
                <c:pt idx="28">
                  <c:v>43220</c:v>
                </c:pt>
                <c:pt idx="29">
                  <c:v>43251</c:v>
                </c:pt>
                <c:pt idx="30">
                  <c:v>43281</c:v>
                </c:pt>
                <c:pt idx="31">
                  <c:v>43312</c:v>
                </c:pt>
                <c:pt idx="32">
                  <c:v>43343</c:v>
                </c:pt>
                <c:pt idx="33">
                  <c:v>43373</c:v>
                </c:pt>
                <c:pt idx="34">
                  <c:v>43404</c:v>
                </c:pt>
                <c:pt idx="35">
                  <c:v>43434</c:v>
                </c:pt>
                <c:pt idx="36">
                  <c:v>43465</c:v>
                </c:pt>
                <c:pt idx="37">
                  <c:v>43496</c:v>
                </c:pt>
                <c:pt idx="38">
                  <c:v>43524</c:v>
                </c:pt>
                <c:pt idx="39">
                  <c:v>43555</c:v>
                </c:pt>
                <c:pt idx="40">
                  <c:v>43585</c:v>
                </c:pt>
                <c:pt idx="41">
                  <c:v>43616</c:v>
                </c:pt>
                <c:pt idx="42">
                  <c:v>43646</c:v>
                </c:pt>
                <c:pt idx="43">
                  <c:v>43677</c:v>
                </c:pt>
                <c:pt idx="44">
                  <c:v>43708</c:v>
                </c:pt>
                <c:pt idx="45">
                  <c:v>43738</c:v>
                </c:pt>
                <c:pt idx="46">
                  <c:v>43769</c:v>
                </c:pt>
                <c:pt idx="47">
                  <c:v>43799</c:v>
                </c:pt>
                <c:pt idx="48">
                  <c:v>43830</c:v>
                </c:pt>
                <c:pt idx="49">
                  <c:v>43861</c:v>
                </c:pt>
                <c:pt idx="50">
                  <c:v>43890</c:v>
                </c:pt>
                <c:pt idx="51">
                  <c:v>43921</c:v>
                </c:pt>
                <c:pt idx="52">
                  <c:v>43951</c:v>
                </c:pt>
                <c:pt idx="53">
                  <c:v>43982</c:v>
                </c:pt>
                <c:pt idx="54">
                  <c:v>44012</c:v>
                </c:pt>
                <c:pt idx="55">
                  <c:v>44043</c:v>
                </c:pt>
                <c:pt idx="56">
                  <c:v>44074</c:v>
                </c:pt>
                <c:pt idx="57">
                  <c:v>44104</c:v>
                </c:pt>
                <c:pt idx="58">
                  <c:v>44135</c:v>
                </c:pt>
                <c:pt idx="59">
                  <c:v>44165</c:v>
                </c:pt>
                <c:pt idx="60">
                  <c:v>44196</c:v>
                </c:pt>
                <c:pt idx="61">
                  <c:v>44227</c:v>
                </c:pt>
                <c:pt idx="62">
                  <c:v>44255</c:v>
                </c:pt>
                <c:pt idx="63">
                  <c:v>44286</c:v>
                </c:pt>
                <c:pt idx="64">
                  <c:v>44316</c:v>
                </c:pt>
                <c:pt idx="65">
                  <c:v>44347</c:v>
                </c:pt>
                <c:pt idx="66">
                  <c:v>44377</c:v>
                </c:pt>
                <c:pt idx="67">
                  <c:v>44408</c:v>
                </c:pt>
                <c:pt idx="68">
                  <c:v>44439</c:v>
                </c:pt>
                <c:pt idx="69">
                  <c:v>44469</c:v>
                </c:pt>
                <c:pt idx="70">
                  <c:v>44500</c:v>
                </c:pt>
                <c:pt idx="71">
                  <c:v>44530</c:v>
                </c:pt>
                <c:pt idx="72">
                  <c:v>44561</c:v>
                </c:pt>
                <c:pt idx="73">
                  <c:v>44592</c:v>
                </c:pt>
                <c:pt idx="74">
                  <c:v>44620</c:v>
                </c:pt>
                <c:pt idx="75">
                  <c:v>44651</c:v>
                </c:pt>
                <c:pt idx="76">
                  <c:v>44681</c:v>
                </c:pt>
                <c:pt idx="77">
                  <c:v>44712</c:v>
                </c:pt>
                <c:pt idx="78">
                  <c:v>44742</c:v>
                </c:pt>
                <c:pt idx="79">
                  <c:v>44773</c:v>
                </c:pt>
                <c:pt idx="80">
                  <c:v>44804</c:v>
                </c:pt>
                <c:pt idx="81">
                  <c:v>44834</c:v>
                </c:pt>
                <c:pt idx="82">
                  <c:v>44865</c:v>
                </c:pt>
                <c:pt idx="83">
                  <c:v>44895</c:v>
                </c:pt>
                <c:pt idx="84">
                  <c:v>44926</c:v>
                </c:pt>
                <c:pt idx="85">
                  <c:v>44957</c:v>
                </c:pt>
                <c:pt idx="86">
                  <c:v>44985</c:v>
                </c:pt>
                <c:pt idx="87">
                  <c:v>45016</c:v>
                </c:pt>
                <c:pt idx="88">
                  <c:v>45046</c:v>
                </c:pt>
                <c:pt idx="89">
                  <c:v>45077</c:v>
                </c:pt>
                <c:pt idx="90">
                  <c:v>45107</c:v>
                </c:pt>
                <c:pt idx="91">
                  <c:v>45138</c:v>
                </c:pt>
                <c:pt idx="92">
                  <c:v>45169</c:v>
                </c:pt>
                <c:pt idx="93">
                  <c:v>45199</c:v>
                </c:pt>
                <c:pt idx="94">
                  <c:v>45230</c:v>
                </c:pt>
                <c:pt idx="95">
                  <c:v>45260</c:v>
                </c:pt>
                <c:pt idx="96">
                  <c:v>45291</c:v>
                </c:pt>
                <c:pt idx="97">
                  <c:v>45322</c:v>
                </c:pt>
                <c:pt idx="98">
                  <c:v>45351</c:v>
                </c:pt>
                <c:pt idx="99">
                  <c:v>45382</c:v>
                </c:pt>
                <c:pt idx="100">
                  <c:v>45412</c:v>
                </c:pt>
                <c:pt idx="101">
                  <c:v>45443</c:v>
                </c:pt>
                <c:pt idx="102">
                  <c:v>45473</c:v>
                </c:pt>
                <c:pt idx="103">
                  <c:v>45504</c:v>
                </c:pt>
                <c:pt idx="104">
                  <c:v>45535</c:v>
                </c:pt>
                <c:pt idx="105">
                  <c:v>45565</c:v>
                </c:pt>
                <c:pt idx="106">
                  <c:v>45596</c:v>
                </c:pt>
                <c:pt idx="107">
                  <c:v>45626</c:v>
                </c:pt>
                <c:pt idx="108">
                  <c:v>45657</c:v>
                </c:pt>
                <c:pt idx="109">
                  <c:v>45688</c:v>
                </c:pt>
                <c:pt idx="110">
                  <c:v>45716</c:v>
                </c:pt>
                <c:pt idx="111">
                  <c:v>45747</c:v>
                </c:pt>
                <c:pt idx="112">
                  <c:v>45777</c:v>
                </c:pt>
                <c:pt idx="113">
                  <c:v>45808</c:v>
                </c:pt>
                <c:pt idx="114">
                  <c:v>45838</c:v>
                </c:pt>
                <c:pt idx="115">
                  <c:v>45869</c:v>
                </c:pt>
                <c:pt idx="116">
                  <c:v>45900</c:v>
                </c:pt>
                <c:pt idx="117">
                  <c:v>45930</c:v>
                </c:pt>
                <c:pt idx="118">
                  <c:v>45961</c:v>
                </c:pt>
                <c:pt idx="119">
                  <c:v>45991</c:v>
                </c:pt>
                <c:pt idx="120">
                  <c:v>46022</c:v>
                </c:pt>
                <c:pt idx="121">
                  <c:v>46045</c:v>
                </c:pt>
              </c:numCache>
            </c:numRef>
          </c:cat>
          <c:val>
            <c:numRef>
              <c:f>Sheet1!$I$2:$I$123</c:f>
              <c:numCache>
                <c:formatCode>#,##0.00</c:formatCode>
                <c:ptCount val="122"/>
                <c:pt idx="0">
                  <c:v>100</c:v>
                </c:pt>
                <c:pt idx="1">
                  <c:v>100</c:v>
                </c:pt>
                <c:pt idx="2">
                  <c:v>107.925</c:v>
                </c:pt>
                <c:pt idx="3">
                  <c:v>128.32499999999999</c:v>
                </c:pt>
                <c:pt idx="4">
                  <c:v>119.575</c:v>
                </c:pt>
                <c:pt idx="5">
                  <c:v>115.97499999999999</c:v>
                </c:pt>
                <c:pt idx="6">
                  <c:v>113.25</c:v>
                </c:pt>
                <c:pt idx="7">
                  <c:v>132.30000000000001</c:v>
                </c:pt>
                <c:pt idx="8">
                  <c:v>131.75</c:v>
                </c:pt>
                <c:pt idx="9">
                  <c:v>131.47499999999999</c:v>
                </c:pt>
                <c:pt idx="10">
                  <c:v>142.55000000000001</c:v>
                </c:pt>
                <c:pt idx="11">
                  <c:v>152.22499999999999</c:v>
                </c:pt>
                <c:pt idx="12">
                  <c:v>145.85</c:v>
                </c:pt>
                <c:pt idx="13">
                  <c:v>142.6</c:v>
                </c:pt>
                <c:pt idx="14">
                  <c:v>140.94999999999999</c:v>
                </c:pt>
                <c:pt idx="15">
                  <c:v>151.25</c:v>
                </c:pt>
                <c:pt idx="16">
                  <c:v>142.02500000000001</c:v>
                </c:pt>
                <c:pt idx="17">
                  <c:v>132.52500000000001</c:v>
                </c:pt>
                <c:pt idx="18">
                  <c:v>135.05000000000001</c:v>
                </c:pt>
                <c:pt idx="19">
                  <c:v>121.675</c:v>
                </c:pt>
                <c:pt idx="20">
                  <c:v>117.52500000000001</c:v>
                </c:pt>
                <c:pt idx="21">
                  <c:v>120.52500000000001</c:v>
                </c:pt>
                <c:pt idx="22">
                  <c:v>118.35</c:v>
                </c:pt>
                <c:pt idx="23">
                  <c:v>125.5</c:v>
                </c:pt>
                <c:pt idx="24">
                  <c:v>127.2</c:v>
                </c:pt>
                <c:pt idx="25">
                  <c:v>121.15</c:v>
                </c:pt>
                <c:pt idx="26">
                  <c:v>113.45</c:v>
                </c:pt>
                <c:pt idx="27">
                  <c:v>107.2</c:v>
                </c:pt>
                <c:pt idx="28">
                  <c:v>102.825</c:v>
                </c:pt>
                <c:pt idx="29">
                  <c:v>102.7</c:v>
                </c:pt>
                <c:pt idx="30">
                  <c:v>105.2</c:v>
                </c:pt>
                <c:pt idx="31">
                  <c:v>107.22499999999999</c:v>
                </c:pt>
                <c:pt idx="32">
                  <c:v>106.55</c:v>
                </c:pt>
                <c:pt idx="33">
                  <c:v>113.25</c:v>
                </c:pt>
                <c:pt idx="34">
                  <c:v>95.55</c:v>
                </c:pt>
                <c:pt idx="35">
                  <c:v>105.72499999999999</c:v>
                </c:pt>
                <c:pt idx="36">
                  <c:v>85.3</c:v>
                </c:pt>
                <c:pt idx="37">
                  <c:v>92.15</c:v>
                </c:pt>
                <c:pt idx="38">
                  <c:v>92.8</c:v>
                </c:pt>
                <c:pt idx="39">
                  <c:v>89.15</c:v>
                </c:pt>
                <c:pt idx="40">
                  <c:v>93.075000000000003</c:v>
                </c:pt>
                <c:pt idx="41">
                  <c:v>81.8</c:v>
                </c:pt>
                <c:pt idx="42">
                  <c:v>89.575000000000003</c:v>
                </c:pt>
                <c:pt idx="43">
                  <c:v>89.45</c:v>
                </c:pt>
                <c:pt idx="44">
                  <c:v>79.75</c:v>
                </c:pt>
                <c:pt idx="45">
                  <c:v>89.924999999999997</c:v>
                </c:pt>
                <c:pt idx="46">
                  <c:v>97.275000000000006</c:v>
                </c:pt>
                <c:pt idx="47">
                  <c:v>90.95</c:v>
                </c:pt>
                <c:pt idx="48">
                  <c:v>92.974999999999994</c:v>
                </c:pt>
                <c:pt idx="49">
                  <c:v>83.5</c:v>
                </c:pt>
                <c:pt idx="50">
                  <c:v>76.174999999999997</c:v>
                </c:pt>
                <c:pt idx="51">
                  <c:v>47.325000000000003</c:v>
                </c:pt>
                <c:pt idx="52">
                  <c:v>54.575000000000003</c:v>
                </c:pt>
                <c:pt idx="53">
                  <c:v>53.35</c:v>
                </c:pt>
                <c:pt idx="54">
                  <c:v>59.424999999999997</c:v>
                </c:pt>
                <c:pt idx="55">
                  <c:v>65.075000000000003</c:v>
                </c:pt>
                <c:pt idx="56">
                  <c:v>69.275000000000006</c:v>
                </c:pt>
                <c:pt idx="57">
                  <c:v>61.35</c:v>
                </c:pt>
                <c:pt idx="58">
                  <c:v>82.2</c:v>
                </c:pt>
                <c:pt idx="59">
                  <c:v>100.72499999999999</c:v>
                </c:pt>
                <c:pt idx="60">
                  <c:v>91.75</c:v>
                </c:pt>
                <c:pt idx="61">
                  <c:v>100.22499999999999</c:v>
                </c:pt>
                <c:pt idx="62">
                  <c:v>89.174999999999997</c:v>
                </c:pt>
                <c:pt idx="63">
                  <c:v>100.25</c:v>
                </c:pt>
                <c:pt idx="64">
                  <c:v>120.925</c:v>
                </c:pt>
                <c:pt idx="65">
                  <c:v>121.175</c:v>
                </c:pt>
                <c:pt idx="66">
                  <c:v>114.55</c:v>
                </c:pt>
                <c:pt idx="67">
                  <c:v>99.05</c:v>
                </c:pt>
                <c:pt idx="68">
                  <c:v>98.825000000000003</c:v>
                </c:pt>
                <c:pt idx="69">
                  <c:v>91.525000000000006</c:v>
                </c:pt>
                <c:pt idx="70">
                  <c:v>91.224999999999994</c:v>
                </c:pt>
                <c:pt idx="71">
                  <c:v>91.575000000000003</c:v>
                </c:pt>
                <c:pt idx="72">
                  <c:v>94.224999999999994</c:v>
                </c:pt>
                <c:pt idx="73">
                  <c:v>86.424999999999997</c:v>
                </c:pt>
                <c:pt idx="74">
                  <c:v>103.25</c:v>
                </c:pt>
                <c:pt idx="75">
                  <c:v>98.5</c:v>
                </c:pt>
                <c:pt idx="76">
                  <c:v>91.125</c:v>
                </c:pt>
                <c:pt idx="77">
                  <c:v>87.95</c:v>
                </c:pt>
                <c:pt idx="78">
                  <c:v>79.150000000000006</c:v>
                </c:pt>
                <c:pt idx="79">
                  <c:v>94.525000000000006</c:v>
                </c:pt>
                <c:pt idx="80">
                  <c:v>96.424999999999997</c:v>
                </c:pt>
                <c:pt idx="81">
                  <c:v>87.2</c:v>
                </c:pt>
                <c:pt idx="82">
                  <c:v>107.5</c:v>
                </c:pt>
                <c:pt idx="83">
                  <c:v>117.825</c:v>
                </c:pt>
                <c:pt idx="84">
                  <c:v>104</c:v>
                </c:pt>
                <c:pt idx="85">
                  <c:v>115.075</c:v>
                </c:pt>
                <c:pt idx="86">
                  <c:v>118.875</c:v>
                </c:pt>
                <c:pt idx="87">
                  <c:v>94.924999999999997</c:v>
                </c:pt>
                <c:pt idx="88">
                  <c:v>92.75</c:v>
                </c:pt>
                <c:pt idx="89">
                  <c:v>77.775000000000006</c:v>
                </c:pt>
                <c:pt idx="90">
                  <c:v>88.025000000000006</c:v>
                </c:pt>
                <c:pt idx="91">
                  <c:v>96.525000000000006</c:v>
                </c:pt>
                <c:pt idx="92">
                  <c:v>84.375</c:v>
                </c:pt>
                <c:pt idx="93">
                  <c:v>82.65</c:v>
                </c:pt>
                <c:pt idx="94">
                  <c:v>67.125</c:v>
                </c:pt>
                <c:pt idx="95">
                  <c:v>74.974999999999994</c:v>
                </c:pt>
                <c:pt idx="96">
                  <c:v>92.1</c:v>
                </c:pt>
                <c:pt idx="97">
                  <c:v>81.125</c:v>
                </c:pt>
                <c:pt idx="98">
                  <c:v>90.674999999999997</c:v>
                </c:pt>
                <c:pt idx="99">
                  <c:v>109.35</c:v>
                </c:pt>
                <c:pt idx="100">
                  <c:v>85.974999999999994</c:v>
                </c:pt>
                <c:pt idx="101">
                  <c:v>89.7</c:v>
                </c:pt>
                <c:pt idx="102">
                  <c:v>83.85</c:v>
                </c:pt>
                <c:pt idx="103">
                  <c:v>93.75</c:v>
                </c:pt>
                <c:pt idx="104">
                  <c:v>93.6</c:v>
                </c:pt>
                <c:pt idx="105">
                  <c:v>96.325000000000003</c:v>
                </c:pt>
                <c:pt idx="106">
                  <c:v>79.875</c:v>
                </c:pt>
                <c:pt idx="107">
                  <c:v>84.075000000000003</c:v>
                </c:pt>
                <c:pt idx="108">
                  <c:v>75.325000000000003</c:v>
                </c:pt>
                <c:pt idx="109">
                  <c:v>67.650000000000006</c:v>
                </c:pt>
                <c:pt idx="110">
                  <c:v>64.400000000000006</c:v>
                </c:pt>
                <c:pt idx="111">
                  <c:v>63.125</c:v>
                </c:pt>
                <c:pt idx="112">
                  <c:v>56.05</c:v>
                </c:pt>
                <c:pt idx="113">
                  <c:v>60.524999999999999</c:v>
                </c:pt>
                <c:pt idx="114">
                  <c:v>59</c:v>
                </c:pt>
                <c:pt idx="115">
                  <c:v>60.825000000000003</c:v>
                </c:pt>
                <c:pt idx="116">
                  <c:v>72.8</c:v>
                </c:pt>
                <c:pt idx="117">
                  <c:v>69.75</c:v>
                </c:pt>
                <c:pt idx="118">
                  <c:v>67.45</c:v>
                </c:pt>
                <c:pt idx="119">
                  <c:v>61.225000000000001</c:v>
                </c:pt>
                <c:pt idx="120">
                  <c:v>51.225000000000001</c:v>
                </c:pt>
                <c:pt idx="121">
                  <c:v>50.75</c:v>
                </c:pt>
              </c:numCache>
            </c:numRef>
          </c:val>
          <c:smooth val="0"/>
          <c:extLst>
            <c:ext xmlns:c16="http://schemas.microsoft.com/office/drawing/2014/chart" uri="{C3380CC4-5D6E-409C-BE32-E72D297353CC}">
              <c16:uniqueId val="{00000000-8182-4DC2-87E6-F758D7846949}"/>
            </c:ext>
          </c:extLst>
        </c:ser>
        <c:ser>
          <c:idx val="1"/>
          <c:order val="1"/>
          <c:tx>
            <c:strRef>
              <c:f>Sheet1!$J$1</c:f>
              <c:strCache>
                <c:ptCount val="1"/>
                <c:pt idx="0">
                  <c:v>Harley Comps - Price (Indexed)</c:v>
                </c:pt>
              </c:strCache>
            </c:strRef>
          </c:tx>
          <c:spPr>
            <a:ln w="28575" cap="rnd">
              <a:solidFill>
                <a:schemeClr val="tx1"/>
              </a:solidFill>
              <a:round/>
            </a:ln>
            <a:effectLst/>
          </c:spPr>
          <c:marker>
            <c:symbol val="none"/>
          </c:marker>
          <c:cat>
            <c:numRef>
              <c:f>Sheet1!$H$2:$H$123</c:f>
              <c:numCache>
                <c:formatCode>mm/dd/yy</c:formatCode>
                <c:ptCount val="122"/>
                <c:pt idx="0">
                  <c:v>42398</c:v>
                </c:pt>
                <c:pt idx="1">
                  <c:v>42400</c:v>
                </c:pt>
                <c:pt idx="2">
                  <c:v>42429</c:v>
                </c:pt>
                <c:pt idx="3">
                  <c:v>42460</c:v>
                </c:pt>
                <c:pt idx="4">
                  <c:v>42490</c:v>
                </c:pt>
                <c:pt idx="5">
                  <c:v>42521</c:v>
                </c:pt>
                <c:pt idx="6">
                  <c:v>42551</c:v>
                </c:pt>
                <c:pt idx="7">
                  <c:v>42582</c:v>
                </c:pt>
                <c:pt idx="8">
                  <c:v>42613</c:v>
                </c:pt>
                <c:pt idx="9">
                  <c:v>42643</c:v>
                </c:pt>
                <c:pt idx="10">
                  <c:v>42674</c:v>
                </c:pt>
                <c:pt idx="11">
                  <c:v>42704</c:v>
                </c:pt>
                <c:pt idx="12">
                  <c:v>42735</c:v>
                </c:pt>
                <c:pt idx="13">
                  <c:v>42766</c:v>
                </c:pt>
                <c:pt idx="14">
                  <c:v>42794</c:v>
                </c:pt>
                <c:pt idx="15">
                  <c:v>42825</c:v>
                </c:pt>
                <c:pt idx="16">
                  <c:v>42855</c:v>
                </c:pt>
                <c:pt idx="17">
                  <c:v>42886</c:v>
                </c:pt>
                <c:pt idx="18">
                  <c:v>42916</c:v>
                </c:pt>
                <c:pt idx="19">
                  <c:v>42947</c:v>
                </c:pt>
                <c:pt idx="20">
                  <c:v>42978</c:v>
                </c:pt>
                <c:pt idx="21">
                  <c:v>43008</c:v>
                </c:pt>
                <c:pt idx="22">
                  <c:v>43039</c:v>
                </c:pt>
                <c:pt idx="23">
                  <c:v>43069</c:v>
                </c:pt>
                <c:pt idx="24">
                  <c:v>43100</c:v>
                </c:pt>
                <c:pt idx="25">
                  <c:v>43131</c:v>
                </c:pt>
                <c:pt idx="26">
                  <c:v>43159</c:v>
                </c:pt>
                <c:pt idx="27">
                  <c:v>43190</c:v>
                </c:pt>
                <c:pt idx="28">
                  <c:v>43220</c:v>
                </c:pt>
                <c:pt idx="29">
                  <c:v>43251</c:v>
                </c:pt>
                <c:pt idx="30">
                  <c:v>43281</c:v>
                </c:pt>
                <c:pt idx="31">
                  <c:v>43312</c:v>
                </c:pt>
                <c:pt idx="32">
                  <c:v>43343</c:v>
                </c:pt>
                <c:pt idx="33">
                  <c:v>43373</c:v>
                </c:pt>
                <c:pt idx="34">
                  <c:v>43404</c:v>
                </c:pt>
                <c:pt idx="35">
                  <c:v>43434</c:v>
                </c:pt>
                <c:pt idx="36">
                  <c:v>43465</c:v>
                </c:pt>
                <c:pt idx="37">
                  <c:v>43496</c:v>
                </c:pt>
                <c:pt idx="38">
                  <c:v>43524</c:v>
                </c:pt>
                <c:pt idx="39">
                  <c:v>43555</c:v>
                </c:pt>
                <c:pt idx="40">
                  <c:v>43585</c:v>
                </c:pt>
                <c:pt idx="41">
                  <c:v>43616</c:v>
                </c:pt>
                <c:pt idx="42">
                  <c:v>43646</c:v>
                </c:pt>
                <c:pt idx="43">
                  <c:v>43677</c:v>
                </c:pt>
                <c:pt idx="44">
                  <c:v>43708</c:v>
                </c:pt>
                <c:pt idx="45">
                  <c:v>43738</c:v>
                </c:pt>
                <c:pt idx="46">
                  <c:v>43769</c:v>
                </c:pt>
                <c:pt idx="47">
                  <c:v>43799</c:v>
                </c:pt>
                <c:pt idx="48">
                  <c:v>43830</c:v>
                </c:pt>
                <c:pt idx="49">
                  <c:v>43861</c:v>
                </c:pt>
                <c:pt idx="50">
                  <c:v>43890</c:v>
                </c:pt>
                <c:pt idx="51">
                  <c:v>43921</c:v>
                </c:pt>
                <c:pt idx="52">
                  <c:v>43951</c:v>
                </c:pt>
                <c:pt idx="53">
                  <c:v>43982</c:v>
                </c:pt>
                <c:pt idx="54">
                  <c:v>44012</c:v>
                </c:pt>
                <c:pt idx="55">
                  <c:v>44043</c:v>
                </c:pt>
                <c:pt idx="56">
                  <c:v>44074</c:v>
                </c:pt>
                <c:pt idx="57">
                  <c:v>44104</c:v>
                </c:pt>
                <c:pt idx="58">
                  <c:v>44135</c:v>
                </c:pt>
                <c:pt idx="59">
                  <c:v>44165</c:v>
                </c:pt>
                <c:pt idx="60">
                  <c:v>44196</c:v>
                </c:pt>
                <c:pt idx="61">
                  <c:v>44227</c:v>
                </c:pt>
                <c:pt idx="62">
                  <c:v>44255</c:v>
                </c:pt>
                <c:pt idx="63">
                  <c:v>44286</c:v>
                </c:pt>
                <c:pt idx="64">
                  <c:v>44316</c:v>
                </c:pt>
                <c:pt idx="65">
                  <c:v>44347</c:v>
                </c:pt>
                <c:pt idx="66">
                  <c:v>44377</c:v>
                </c:pt>
                <c:pt idx="67">
                  <c:v>44408</c:v>
                </c:pt>
                <c:pt idx="68">
                  <c:v>44439</c:v>
                </c:pt>
                <c:pt idx="69">
                  <c:v>44469</c:v>
                </c:pt>
                <c:pt idx="70">
                  <c:v>44500</c:v>
                </c:pt>
                <c:pt idx="71">
                  <c:v>44530</c:v>
                </c:pt>
                <c:pt idx="72">
                  <c:v>44561</c:v>
                </c:pt>
                <c:pt idx="73">
                  <c:v>44592</c:v>
                </c:pt>
                <c:pt idx="74">
                  <c:v>44620</c:v>
                </c:pt>
                <c:pt idx="75">
                  <c:v>44651</c:v>
                </c:pt>
                <c:pt idx="76">
                  <c:v>44681</c:v>
                </c:pt>
                <c:pt idx="77">
                  <c:v>44712</c:v>
                </c:pt>
                <c:pt idx="78">
                  <c:v>44742</c:v>
                </c:pt>
                <c:pt idx="79">
                  <c:v>44773</c:v>
                </c:pt>
                <c:pt idx="80">
                  <c:v>44804</c:v>
                </c:pt>
                <c:pt idx="81">
                  <c:v>44834</c:v>
                </c:pt>
                <c:pt idx="82">
                  <c:v>44865</c:v>
                </c:pt>
                <c:pt idx="83">
                  <c:v>44895</c:v>
                </c:pt>
                <c:pt idx="84">
                  <c:v>44926</c:v>
                </c:pt>
                <c:pt idx="85">
                  <c:v>44957</c:v>
                </c:pt>
                <c:pt idx="86">
                  <c:v>44985</c:v>
                </c:pt>
                <c:pt idx="87">
                  <c:v>45016</c:v>
                </c:pt>
                <c:pt idx="88">
                  <c:v>45046</c:v>
                </c:pt>
                <c:pt idx="89">
                  <c:v>45077</c:v>
                </c:pt>
                <c:pt idx="90">
                  <c:v>45107</c:v>
                </c:pt>
                <c:pt idx="91">
                  <c:v>45138</c:v>
                </c:pt>
                <c:pt idx="92">
                  <c:v>45169</c:v>
                </c:pt>
                <c:pt idx="93">
                  <c:v>45199</c:v>
                </c:pt>
                <c:pt idx="94">
                  <c:v>45230</c:v>
                </c:pt>
                <c:pt idx="95">
                  <c:v>45260</c:v>
                </c:pt>
                <c:pt idx="96">
                  <c:v>45291</c:v>
                </c:pt>
                <c:pt idx="97">
                  <c:v>45322</c:v>
                </c:pt>
                <c:pt idx="98">
                  <c:v>45351</c:v>
                </c:pt>
                <c:pt idx="99">
                  <c:v>45382</c:v>
                </c:pt>
                <c:pt idx="100">
                  <c:v>45412</c:v>
                </c:pt>
                <c:pt idx="101">
                  <c:v>45443</c:v>
                </c:pt>
                <c:pt idx="102">
                  <c:v>45473</c:v>
                </c:pt>
                <c:pt idx="103">
                  <c:v>45504</c:v>
                </c:pt>
                <c:pt idx="104">
                  <c:v>45535</c:v>
                </c:pt>
                <c:pt idx="105">
                  <c:v>45565</c:v>
                </c:pt>
                <c:pt idx="106">
                  <c:v>45596</c:v>
                </c:pt>
                <c:pt idx="107">
                  <c:v>45626</c:v>
                </c:pt>
                <c:pt idx="108">
                  <c:v>45657</c:v>
                </c:pt>
                <c:pt idx="109">
                  <c:v>45688</c:v>
                </c:pt>
                <c:pt idx="110">
                  <c:v>45716</c:v>
                </c:pt>
                <c:pt idx="111">
                  <c:v>45747</c:v>
                </c:pt>
                <c:pt idx="112">
                  <c:v>45777</c:v>
                </c:pt>
                <c:pt idx="113">
                  <c:v>45808</c:v>
                </c:pt>
                <c:pt idx="114">
                  <c:v>45838</c:v>
                </c:pt>
                <c:pt idx="115">
                  <c:v>45869</c:v>
                </c:pt>
                <c:pt idx="116">
                  <c:v>45900</c:v>
                </c:pt>
                <c:pt idx="117">
                  <c:v>45930</c:v>
                </c:pt>
                <c:pt idx="118">
                  <c:v>45961</c:v>
                </c:pt>
                <c:pt idx="119">
                  <c:v>45991</c:v>
                </c:pt>
                <c:pt idx="120">
                  <c:v>46022</c:v>
                </c:pt>
                <c:pt idx="121">
                  <c:v>46045</c:v>
                </c:pt>
              </c:numCache>
            </c:numRef>
          </c:cat>
          <c:val>
            <c:numRef>
              <c:f>Sheet1!$J$2:$J$123</c:f>
              <c:numCache>
                <c:formatCode>General</c:formatCode>
                <c:ptCount val="122"/>
                <c:pt idx="0" formatCode="#,##0.00">
                  <c:v>100</c:v>
                </c:pt>
                <c:pt idx="1">
                  <c:v>100</c:v>
                </c:pt>
                <c:pt idx="2">
                  <c:v>93.248324999999994</c:v>
                </c:pt>
                <c:pt idx="3">
                  <c:v>99.93504999999999</c:v>
                </c:pt>
                <c:pt idx="4">
                  <c:v>97.930075000000002</c:v>
                </c:pt>
                <c:pt idx="5">
                  <c:v>97.480050000000006</c:v>
                </c:pt>
                <c:pt idx="6">
                  <c:v>83.703125</c:v>
                </c:pt>
                <c:pt idx="7">
                  <c:v>93.480350000000001</c:v>
                </c:pt>
                <c:pt idx="8">
                  <c:v>102.235675</c:v>
                </c:pt>
                <c:pt idx="9">
                  <c:v>97.679150000000007</c:v>
                </c:pt>
                <c:pt idx="10">
                  <c:v>108.07512500000001</c:v>
                </c:pt>
                <c:pt idx="11">
                  <c:v>107.09465</c:v>
                </c:pt>
                <c:pt idx="12">
                  <c:v>114.15349999999999</c:v>
                </c:pt>
                <c:pt idx="13">
                  <c:v>113.13475000000001</c:v>
                </c:pt>
                <c:pt idx="14">
                  <c:v>109.51575000000001</c:v>
                </c:pt>
                <c:pt idx="15">
                  <c:v>111.63249999999999</c:v>
                </c:pt>
                <c:pt idx="16">
                  <c:v>111.86587499999999</c:v>
                </c:pt>
                <c:pt idx="17">
                  <c:v>117.7606</c:v>
                </c:pt>
                <c:pt idx="18">
                  <c:v>120.14400000000001</c:v>
                </c:pt>
                <c:pt idx="19">
                  <c:v>118.80175</c:v>
                </c:pt>
                <c:pt idx="20">
                  <c:v>120.099975</c:v>
                </c:pt>
                <c:pt idx="21">
                  <c:v>129.9289</c:v>
                </c:pt>
                <c:pt idx="22">
                  <c:v>136.3305</c:v>
                </c:pt>
                <c:pt idx="23">
                  <c:v>133.40350000000001</c:v>
                </c:pt>
                <c:pt idx="24">
                  <c:v>138.63075000000001</c:v>
                </c:pt>
                <c:pt idx="25">
                  <c:v>140.90350000000001</c:v>
                </c:pt>
                <c:pt idx="26">
                  <c:v>141.18</c:v>
                </c:pt>
                <c:pt idx="27">
                  <c:v>136.6</c:v>
                </c:pt>
                <c:pt idx="28">
                  <c:v>145.34100000000001</c:v>
                </c:pt>
                <c:pt idx="29">
                  <c:v>146.61525</c:v>
                </c:pt>
                <c:pt idx="30">
                  <c:v>142.35825</c:v>
                </c:pt>
                <c:pt idx="31">
                  <c:v>142.96375</c:v>
                </c:pt>
                <c:pt idx="32">
                  <c:v>148.165325</c:v>
                </c:pt>
                <c:pt idx="33">
                  <c:v>148.73875000000001</c:v>
                </c:pt>
                <c:pt idx="34">
                  <c:v>131.67945</c:v>
                </c:pt>
                <c:pt idx="35">
                  <c:v>129.3604</c:v>
                </c:pt>
                <c:pt idx="36">
                  <c:v>124.110775</c:v>
                </c:pt>
                <c:pt idx="37">
                  <c:v>129.10150000000002</c:v>
                </c:pt>
                <c:pt idx="38">
                  <c:v>135.20335</c:v>
                </c:pt>
                <c:pt idx="39">
                  <c:v>127.15837500000001</c:v>
                </c:pt>
                <c:pt idx="40">
                  <c:v>133.36802499999999</c:v>
                </c:pt>
                <c:pt idx="41">
                  <c:v>118.471525</c:v>
                </c:pt>
                <c:pt idx="42">
                  <c:v>121.90787500000002</c:v>
                </c:pt>
                <c:pt idx="43">
                  <c:v>116.834625</c:v>
                </c:pt>
                <c:pt idx="44">
                  <c:v>107.2251</c:v>
                </c:pt>
                <c:pt idx="45">
                  <c:v>116.19985</c:v>
                </c:pt>
                <c:pt idx="46">
                  <c:v>124.32072499999998</c:v>
                </c:pt>
                <c:pt idx="47">
                  <c:v>133.30894999999998</c:v>
                </c:pt>
                <c:pt idx="48">
                  <c:v>131.961725</c:v>
                </c:pt>
                <c:pt idx="49">
                  <c:v>126.557275</c:v>
                </c:pt>
                <c:pt idx="50">
                  <c:v>116.625775</c:v>
                </c:pt>
                <c:pt idx="51">
                  <c:v>88.442849999999993</c:v>
                </c:pt>
                <c:pt idx="52">
                  <c:v>99.560374999999993</c:v>
                </c:pt>
                <c:pt idx="53">
                  <c:v>109.874225</c:v>
                </c:pt>
                <c:pt idx="54">
                  <c:v>108.927425</c:v>
                </c:pt>
                <c:pt idx="55">
                  <c:v>103.296075</c:v>
                </c:pt>
                <c:pt idx="56">
                  <c:v>115.4301</c:v>
                </c:pt>
                <c:pt idx="57">
                  <c:v>113.71005</c:v>
                </c:pt>
                <c:pt idx="58">
                  <c:v>111.28174999999999</c:v>
                </c:pt>
                <c:pt idx="59">
                  <c:v>136.25827500000003</c:v>
                </c:pt>
                <c:pt idx="60">
                  <c:v>131.389275</c:v>
                </c:pt>
                <c:pt idx="61">
                  <c:v>127.724225</c:v>
                </c:pt>
                <c:pt idx="62">
                  <c:v>128.91810000000001</c:v>
                </c:pt>
                <c:pt idx="63">
                  <c:v>141.12087500000001</c:v>
                </c:pt>
                <c:pt idx="64">
                  <c:v>132.28287499999999</c:v>
                </c:pt>
                <c:pt idx="65">
                  <c:v>143.81475</c:v>
                </c:pt>
                <c:pt idx="66">
                  <c:v>141.08425</c:v>
                </c:pt>
                <c:pt idx="67">
                  <c:v>137.03375</c:v>
                </c:pt>
                <c:pt idx="68">
                  <c:v>141.0505</c:v>
                </c:pt>
                <c:pt idx="69">
                  <c:v>149.25524999999999</c:v>
                </c:pt>
                <c:pt idx="70">
                  <c:v>151.61799999999999</c:v>
                </c:pt>
                <c:pt idx="71">
                  <c:v>133.66512499999999</c:v>
                </c:pt>
                <c:pt idx="72">
                  <c:v>133.38339999999999</c:v>
                </c:pt>
                <c:pt idx="73">
                  <c:v>134.50149999999999</c:v>
                </c:pt>
                <c:pt idx="74">
                  <c:v>133.20875000000001</c:v>
                </c:pt>
                <c:pt idx="75">
                  <c:v>127.77825000000001</c:v>
                </c:pt>
                <c:pt idx="76">
                  <c:v>122.06375</c:v>
                </c:pt>
                <c:pt idx="77">
                  <c:v>123.22964999999999</c:v>
                </c:pt>
                <c:pt idx="78">
                  <c:v>127.20699999999999</c:v>
                </c:pt>
                <c:pt idx="79">
                  <c:v>130.63724999999999</c:v>
                </c:pt>
                <c:pt idx="80">
                  <c:v>133.40417500000001</c:v>
                </c:pt>
                <c:pt idx="81">
                  <c:v>122.32980000000001</c:v>
                </c:pt>
                <c:pt idx="82">
                  <c:v>135.12774999999999</c:v>
                </c:pt>
                <c:pt idx="83">
                  <c:v>134.62875000000003</c:v>
                </c:pt>
                <c:pt idx="84">
                  <c:v>122.5318</c:v>
                </c:pt>
                <c:pt idx="85">
                  <c:v>131.82055</c:v>
                </c:pt>
                <c:pt idx="86">
                  <c:v>136.74324999999999</c:v>
                </c:pt>
                <c:pt idx="87">
                  <c:v>136.98124999999999</c:v>
                </c:pt>
                <c:pt idx="88">
                  <c:v>139.12925000000001</c:v>
                </c:pt>
                <c:pt idx="89">
                  <c:v>143.50899999999999</c:v>
                </c:pt>
                <c:pt idx="90">
                  <c:v>153.36425</c:v>
                </c:pt>
                <c:pt idx="91">
                  <c:v>157.44850000000002</c:v>
                </c:pt>
                <c:pt idx="92">
                  <c:v>145.82599999999999</c:v>
                </c:pt>
                <c:pt idx="93">
                  <c:v>146.40899999999999</c:v>
                </c:pt>
                <c:pt idx="94">
                  <c:v>137.08474999999999</c:v>
                </c:pt>
                <c:pt idx="95">
                  <c:v>136.78299999999999</c:v>
                </c:pt>
                <c:pt idx="96">
                  <c:v>135.79075</c:v>
                </c:pt>
                <c:pt idx="97">
                  <c:v>143.74775</c:v>
                </c:pt>
                <c:pt idx="98">
                  <c:v>149.48075</c:v>
                </c:pt>
                <c:pt idx="99">
                  <c:v>153.67975000000001</c:v>
                </c:pt>
                <c:pt idx="100">
                  <c:v>153.91050000000001</c:v>
                </c:pt>
                <c:pt idx="101">
                  <c:v>152.5975</c:v>
                </c:pt>
                <c:pt idx="102">
                  <c:v>151.31874999999997</c:v>
                </c:pt>
                <c:pt idx="103">
                  <c:v>144.83224999999999</c:v>
                </c:pt>
                <c:pt idx="104">
                  <c:v>140.185</c:v>
                </c:pt>
                <c:pt idx="105">
                  <c:v>135.89924999999999</c:v>
                </c:pt>
                <c:pt idx="106">
                  <c:v>133.69515000000001</c:v>
                </c:pt>
                <c:pt idx="107">
                  <c:v>124.375575</c:v>
                </c:pt>
                <c:pt idx="108">
                  <c:v>139.09825000000001</c:v>
                </c:pt>
                <c:pt idx="109">
                  <c:v>139.13800000000001</c:v>
                </c:pt>
                <c:pt idx="110">
                  <c:v>137.67425</c:v>
                </c:pt>
                <c:pt idx="111">
                  <c:v>134.310925</c:v>
                </c:pt>
                <c:pt idx="112">
                  <c:v>131.10384999999999</c:v>
                </c:pt>
                <c:pt idx="113">
                  <c:v>135.864</c:v>
                </c:pt>
                <c:pt idx="114">
                  <c:v>131.20614999999998</c:v>
                </c:pt>
                <c:pt idx="115">
                  <c:v>136.96899999999999</c:v>
                </c:pt>
                <c:pt idx="116">
                  <c:v>145.84475</c:v>
                </c:pt>
                <c:pt idx="117">
                  <c:v>147.39699999999999</c:v>
                </c:pt>
                <c:pt idx="118">
                  <c:v>150.29949999999999</c:v>
                </c:pt>
                <c:pt idx="119">
                  <c:v>159.39150000000001</c:v>
                </c:pt>
                <c:pt idx="120">
                  <c:v>157.65124999999998</c:v>
                </c:pt>
                <c:pt idx="121">
                  <c:v>157.47925000000001</c:v>
                </c:pt>
              </c:numCache>
            </c:numRef>
          </c:val>
          <c:smooth val="0"/>
          <c:extLst>
            <c:ext xmlns:c16="http://schemas.microsoft.com/office/drawing/2014/chart" uri="{C3380CC4-5D6E-409C-BE32-E72D297353CC}">
              <c16:uniqueId val="{00000001-8182-4DC2-87E6-F758D7846949}"/>
            </c:ext>
          </c:extLst>
        </c:ser>
        <c:dLbls>
          <c:showLegendKey val="0"/>
          <c:showVal val="0"/>
          <c:showCatName val="0"/>
          <c:showSerName val="0"/>
          <c:showPercent val="0"/>
          <c:showBubbleSize val="0"/>
        </c:dLbls>
        <c:smooth val="0"/>
        <c:axId val="405411824"/>
        <c:axId val="405412304"/>
      </c:lineChart>
      <c:dateAx>
        <c:axId val="405411824"/>
        <c:scaling>
          <c:orientation val="minMax"/>
        </c:scaling>
        <c:delete val="0"/>
        <c:axPos val="b"/>
        <c:numFmt formatCode="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venir Next LT Pro" panose="020B0504020202020204" pitchFamily="34" charset="0"/>
                <a:ea typeface="+mn-ea"/>
                <a:cs typeface="+mn-cs"/>
              </a:defRPr>
            </a:pPr>
            <a:endParaRPr lang="en-US"/>
          </a:p>
        </c:txPr>
        <c:crossAx val="405412304"/>
        <c:crosses val="autoZero"/>
        <c:auto val="1"/>
        <c:lblOffset val="100"/>
        <c:baseTimeUnit val="days"/>
        <c:majorUnit val="1"/>
        <c:majorTimeUnit val="years"/>
      </c:dateAx>
      <c:valAx>
        <c:axId val="405412304"/>
        <c:scaling>
          <c:orientation val="minMax"/>
          <c:max val="180"/>
          <c:min val="40"/>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venir Next LT Pro" panose="020B0504020202020204" pitchFamily="34" charset="0"/>
                <a:ea typeface="+mn-ea"/>
                <a:cs typeface="+mn-cs"/>
              </a:defRPr>
            </a:pPr>
            <a:endParaRPr lang="en-US"/>
          </a:p>
        </c:txPr>
        <c:crossAx val="405411824"/>
        <c:crosses val="autoZero"/>
        <c:crossBetween val="between"/>
        <c:majorUnit val="40"/>
      </c:valAx>
      <c:spPr>
        <a:noFill/>
        <a:ln>
          <a:noFill/>
        </a:ln>
        <a:effectLst/>
      </c:spPr>
    </c:plotArea>
    <c:legend>
      <c:legendPos val="b"/>
      <c:layout>
        <c:manualLayout>
          <c:xMode val="edge"/>
          <c:yMode val="edge"/>
          <c:x val="5.1375898576640919E-2"/>
          <c:y val="0.80111808363971959"/>
          <c:w val="0.92137706133994413"/>
          <c:h val="0.198881916360280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venir Next LT Pro" panose="020B05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90288810040321"/>
          <c:y val="7.2603789117435202E-2"/>
          <c:w val="0.82789701999290222"/>
          <c:h val="0.64971816009421346"/>
        </c:manualLayout>
      </c:layout>
      <c:barChart>
        <c:barDir val="col"/>
        <c:grouping val="clustered"/>
        <c:varyColors val="0"/>
        <c:ser>
          <c:idx val="0"/>
          <c:order val="0"/>
          <c:tx>
            <c:strRef>
              <c:f>'HOG-US - FY 2025'!$A$30</c:f>
              <c:strCache>
                <c:ptCount val="1"/>
                <c:pt idx="0">
                  <c:v>Grand American Touring</c:v>
                </c:pt>
              </c:strCache>
            </c:strRef>
          </c:tx>
          <c:spPr>
            <a:solidFill>
              <a:schemeClr val="tx1"/>
            </a:solidFill>
            <a:ln>
              <a:noFill/>
            </a:ln>
            <a:effectLst/>
          </c:spPr>
          <c:invertIfNegative val="0"/>
          <c:cat>
            <c:strRef>
              <c:f>'HOG-US - FY 2025'!$B$29:$F$29</c:f>
              <c:strCache>
                <c:ptCount val="5"/>
                <c:pt idx="0">
                  <c:v>2025</c:v>
                </c:pt>
                <c:pt idx="1">
                  <c:v> 2024 </c:v>
                </c:pt>
                <c:pt idx="2">
                  <c:v> 2023 </c:v>
                </c:pt>
                <c:pt idx="3">
                  <c:v>2022</c:v>
                </c:pt>
                <c:pt idx="4">
                  <c:v>2021</c:v>
                </c:pt>
              </c:strCache>
            </c:strRef>
          </c:cat>
          <c:val>
            <c:numRef>
              <c:f>'HOG-US - FY 2025'!$B$30:$F$30</c:f>
              <c:numCache>
                <c:formatCode>#,###</c:formatCode>
                <c:ptCount val="5"/>
                <c:pt idx="0">
                  <c:v>69222</c:v>
                </c:pt>
                <c:pt idx="1">
                  <c:v>85757</c:v>
                </c:pt>
                <c:pt idx="2">
                  <c:v>92683</c:v>
                </c:pt>
                <c:pt idx="3">
                  <c:v>89849</c:v>
                </c:pt>
                <c:pt idx="4">
                  <c:v>93961</c:v>
                </c:pt>
              </c:numCache>
            </c:numRef>
          </c:val>
          <c:extLst>
            <c:ext xmlns:c16="http://schemas.microsoft.com/office/drawing/2014/chart" uri="{C3380CC4-5D6E-409C-BE32-E72D297353CC}">
              <c16:uniqueId val="{00000000-E3E4-4E04-97E0-C5FF10688FAA}"/>
            </c:ext>
          </c:extLst>
        </c:ser>
        <c:ser>
          <c:idx val="1"/>
          <c:order val="1"/>
          <c:tx>
            <c:strRef>
              <c:f>'HOG-US - FY 2025'!$A$31</c:f>
              <c:strCache>
                <c:ptCount val="1"/>
                <c:pt idx="0">
                  <c:v>Cruiser</c:v>
                </c:pt>
              </c:strCache>
            </c:strRef>
          </c:tx>
          <c:spPr>
            <a:solidFill>
              <a:schemeClr val="accent2"/>
            </a:solidFill>
            <a:ln>
              <a:noFill/>
            </a:ln>
            <a:effectLst/>
          </c:spPr>
          <c:invertIfNegative val="0"/>
          <c:cat>
            <c:strRef>
              <c:f>'HOG-US - FY 2025'!$B$29:$F$29</c:f>
              <c:strCache>
                <c:ptCount val="5"/>
                <c:pt idx="0">
                  <c:v>2025</c:v>
                </c:pt>
                <c:pt idx="1">
                  <c:v> 2024 </c:v>
                </c:pt>
                <c:pt idx="2">
                  <c:v> 2023 </c:v>
                </c:pt>
                <c:pt idx="3">
                  <c:v>2022</c:v>
                </c:pt>
                <c:pt idx="4">
                  <c:v>2021</c:v>
                </c:pt>
              </c:strCache>
            </c:strRef>
          </c:cat>
          <c:val>
            <c:numRef>
              <c:f>'HOG-US - FY 2025'!$B$31:$F$31</c:f>
              <c:numCache>
                <c:formatCode>#,###</c:formatCode>
                <c:ptCount val="5"/>
                <c:pt idx="0">
                  <c:v>41172</c:v>
                </c:pt>
                <c:pt idx="1">
                  <c:v>46235</c:v>
                </c:pt>
                <c:pt idx="2">
                  <c:v>63945</c:v>
                </c:pt>
                <c:pt idx="3">
                  <c:v>59010</c:v>
                </c:pt>
                <c:pt idx="4">
                  <c:v>59033</c:v>
                </c:pt>
              </c:numCache>
            </c:numRef>
          </c:val>
          <c:extLst>
            <c:ext xmlns:c16="http://schemas.microsoft.com/office/drawing/2014/chart" uri="{C3380CC4-5D6E-409C-BE32-E72D297353CC}">
              <c16:uniqueId val="{00000001-E3E4-4E04-97E0-C5FF10688FAA}"/>
            </c:ext>
          </c:extLst>
        </c:ser>
        <c:ser>
          <c:idx val="2"/>
          <c:order val="2"/>
          <c:tx>
            <c:strRef>
              <c:f>'HOG-US - FY 2025'!$A$32</c:f>
              <c:strCache>
                <c:ptCount val="1"/>
                <c:pt idx="0">
                  <c:v>Sport and Lightweight</c:v>
                </c:pt>
              </c:strCache>
            </c:strRef>
          </c:tx>
          <c:spPr>
            <a:solidFill>
              <a:srgbClr val="B6BAC3"/>
            </a:solidFill>
            <a:ln>
              <a:noFill/>
            </a:ln>
            <a:effectLst/>
          </c:spPr>
          <c:invertIfNegative val="0"/>
          <c:cat>
            <c:strRef>
              <c:f>'HOG-US - FY 2025'!$B$29:$F$29</c:f>
              <c:strCache>
                <c:ptCount val="5"/>
                <c:pt idx="0">
                  <c:v>2025</c:v>
                </c:pt>
                <c:pt idx="1">
                  <c:v> 2024 </c:v>
                </c:pt>
                <c:pt idx="2">
                  <c:v> 2023 </c:v>
                </c:pt>
                <c:pt idx="3">
                  <c:v>2022</c:v>
                </c:pt>
                <c:pt idx="4">
                  <c:v>2021</c:v>
                </c:pt>
              </c:strCache>
            </c:strRef>
          </c:cat>
          <c:val>
            <c:numRef>
              <c:f>'HOG-US - FY 2025'!$B$32:$F$32</c:f>
              <c:numCache>
                <c:formatCode>#,###</c:formatCode>
                <c:ptCount val="5"/>
                <c:pt idx="0">
                  <c:v>9638</c:v>
                </c:pt>
                <c:pt idx="1">
                  <c:v>12335</c:v>
                </c:pt>
                <c:pt idx="2">
                  <c:v>18228</c:v>
                </c:pt>
                <c:pt idx="3">
                  <c:v>33894</c:v>
                </c:pt>
                <c:pt idx="4">
                  <c:v>25123</c:v>
                </c:pt>
              </c:numCache>
            </c:numRef>
          </c:val>
          <c:extLst>
            <c:ext xmlns:c16="http://schemas.microsoft.com/office/drawing/2014/chart" uri="{C3380CC4-5D6E-409C-BE32-E72D297353CC}">
              <c16:uniqueId val="{00000002-E3E4-4E04-97E0-C5FF10688FAA}"/>
            </c:ext>
          </c:extLst>
        </c:ser>
        <c:ser>
          <c:idx val="3"/>
          <c:order val="3"/>
          <c:tx>
            <c:strRef>
              <c:f>'HOG-US - FY 2025'!$A$33</c:f>
              <c:strCache>
                <c:ptCount val="1"/>
                <c:pt idx="0">
                  <c:v>Adventure Touring</c:v>
                </c:pt>
              </c:strCache>
            </c:strRef>
          </c:tx>
          <c:spPr>
            <a:solidFill>
              <a:srgbClr val="E8D8C8"/>
            </a:solidFill>
            <a:ln>
              <a:noFill/>
            </a:ln>
            <a:effectLst/>
          </c:spPr>
          <c:invertIfNegative val="0"/>
          <c:cat>
            <c:strRef>
              <c:f>'HOG-US - FY 2025'!$B$29:$F$29</c:f>
              <c:strCache>
                <c:ptCount val="5"/>
                <c:pt idx="0">
                  <c:v>2025</c:v>
                </c:pt>
                <c:pt idx="1">
                  <c:v> 2024 </c:v>
                </c:pt>
                <c:pt idx="2">
                  <c:v> 2023 </c:v>
                </c:pt>
                <c:pt idx="3">
                  <c:v>2022</c:v>
                </c:pt>
                <c:pt idx="4">
                  <c:v>2021</c:v>
                </c:pt>
              </c:strCache>
            </c:strRef>
          </c:cat>
          <c:val>
            <c:numRef>
              <c:f>'HOG-US - FY 2025'!$B$33:$F$33</c:f>
              <c:numCache>
                <c:formatCode>#,###</c:formatCode>
                <c:ptCount val="5"/>
                <c:pt idx="0">
                  <c:v>4415</c:v>
                </c:pt>
                <c:pt idx="1">
                  <c:v>4535</c:v>
                </c:pt>
                <c:pt idx="2">
                  <c:v>5128</c:v>
                </c:pt>
                <c:pt idx="3">
                  <c:v>10774</c:v>
                </c:pt>
                <c:pt idx="4">
                  <c:v>9916</c:v>
                </c:pt>
              </c:numCache>
            </c:numRef>
          </c:val>
          <c:extLst>
            <c:ext xmlns:c16="http://schemas.microsoft.com/office/drawing/2014/chart" uri="{C3380CC4-5D6E-409C-BE32-E72D297353CC}">
              <c16:uniqueId val="{00000003-E3E4-4E04-97E0-C5FF10688FAA}"/>
            </c:ext>
          </c:extLst>
        </c:ser>
        <c:dLbls>
          <c:showLegendKey val="0"/>
          <c:showVal val="0"/>
          <c:showCatName val="0"/>
          <c:showSerName val="0"/>
          <c:showPercent val="0"/>
          <c:showBubbleSize val="0"/>
        </c:dLbls>
        <c:gapWidth val="219"/>
        <c:overlap val="-27"/>
        <c:axId val="483925200"/>
        <c:axId val="483922320"/>
      </c:barChart>
      <c:catAx>
        <c:axId val="4839252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483922320"/>
        <c:crosses val="autoZero"/>
        <c:auto val="1"/>
        <c:lblAlgn val="ctr"/>
        <c:lblOffset val="100"/>
        <c:noMultiLvlLbl val="0"/>
      </c:catAx>
      <c:valAx>
        <c:axId val="483922320"/>
        <c:scaling>
          <c:orientation val="minMax"/>
        </c:scaling>
        <c:delete val="0"/>
        <c:axPos val="l"/>
        <c:majorGridlines>
          <c:spPr>
            <a:ln w="9525" cap="flat" cmpd="sng" algn="ctr">
              <a:solidFill>
                <a:schemeClr val="tx1">
                  <a:lumMod val="15000"/>
                  <a:lumOff val="85000"/>
                </a:schemeClr>
              </a:solidFill>
              <a:round/>
            </a:ln>
            <a:effectLst/>
          </c:spPr>
        </c:majorGridlines>
        <c:numFmt formatCode="#,###"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483925200"/>
        <c:crosses val="autoZero"/>
        <c:crossBetween val="between"/>
      </c:valAx>
      <c:spPr>
        <a:noFill/>
        <a:ln>
          <a:noFill/>
        </a:ln>
        <a:effectLst/>
      </c:spPr>
    </c:plotArea>
    <c:legend>
      <c:legendPos val="b"/>
      <c:layout>
        <c:manualLayout>
          <c:xMode val="edge"/>
          <c:yMode val="edge"/>
          <c:x val="2.7841194133597109E-2"/>
          <c:y val="0.81553073179283719"/>
          <c:w val="0.93529716616290026"/>
          <c:h val="0.1554277525601887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solidFill>
            <a:schemeClr val="tx1">
              <a:lumMod val="95000"/>
              <a:lumOff val="5000"/>
            </a:schemeClr>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'age of rides'!$B$1</c:f>
              <c:strCache>
                <c:ptCount val="1"/>
                <c:pt idx="0">
                  <c:v>Percent of Riders</c:v>
                </c:pt>
              </c:strCache>
            </c:strRef>
          </c:tx>
          <c:spPr>
            <a:solidFill>
              <a:schemeClr val="accent2">
                <a:lumMod val="75000"/>
              </a:schemeClr>
            </a:solidFill>
            <a:ln>
              <a:solidFill>
                <a:schemeClr val="accent2">
                  <a:lumMod val="75000"/>
                </a:schemeClr>
              </a:solidFill>
            </a:ln>
            <a:effectLst/>
          </c:spPr>
          <c:invertIfNegative val="0"/>
          <c:dPt>
            <c:idx val="0"/>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1-9CF5-4751-907F-87A644386DC8}"/>
              </c:ext>
            </c:extLst>
          </c:dPt>
          <c:dPt>
            <c:idx val="1"/>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3-9CF5-4751-907F-87A644386DC8}"/>
              </c:ext>
            </c:extLst>
          </c:dPt>
          <c:dPt>
            <c:idx val="2"/>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5-9CF5-4751-907F-87A644386DC8}"/>
              </c:ext>
            </c:extLst>
          </c:dPt>
          <c:dPt>
            <c:idx val="3"/>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7-9CF5-4751-907F-87A644386DC8}"/>
              </c:ext>
            </c:extLst>
          </c:dPt>
          <c:dPt>
            <c:idx val="4"/>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9-9CF5-4751-907F-87A644386DC8}"/>
              </c:ext>
            </c:extLst>
          </c:dPt>
          <c:cat>
            <c:strRef>
              <c:f>'age of rides'!$A$2:$A$6</c:f>
              <c:strCache>
                <c:ptCount val="5"/>
                <c:pt idx="0">
                  <c:v>18-29 years</c:v>
                </c:pt>
                <c:pt idx="1">
                  <c:v>30-39 years</c:v>
                </c:pt>
                <c:pt idx="2">
                  <c:v>40-49 years</c:v>
                </c:pt>
                <c:pt idx="3">
                  <c:v>50-59 years</c:v>
                </c:pt>
                <c:pt idx="4">
                  <c:v>60+ years</c:v>
                </c:pt>
              </c:strCache>
            </c:strRef>
          </c:cat>
          <c:val>
            <c:numRef>
              <c:f>'age of rides'!$B$2:$B$6</c:f>
              <c:numCache>
                <c:formatCode>0%</c:formatCode>
                <c:ptCount val="5"/>
                <c:pt idx="0">
                  <c:v>0.13</c:v>
                </c:pt>
                <c:pt idx="1">
                  <c:v>0.18</c:v>
                </c:pt>
                <c:pt idx="2">
                  <c:v>0.22</c:v>
                </c:pt>
                <c:pt idx="3">
                  <c:v>0.25</c:v>
                </c:pt>
                <c:pt idx="4">
                  <c:v>0.23</c:v>
                </c:pt>
              </c:numCache>
            </c:numRef>
          </c:val>
          <c:extLst>
            <c:ext xmlns:c16="http://schemas.microsoft.com/office/drawing/2014/chart" uri="{C3380CC4-5D6E-409C-BE32-E72D297353CC}">
              <c16:uniqueId val="{0000000A-9CF5-4751-907F-87A644386DC8}"/>
            </c:ext>
          </c:extLst>
        </c:ser>
        <c:dLbls>
          <c:showLegendKey val="0"/>
          <c:showVal val="0"/>
          <c:showCatName val="0"/>
          <c:showSerName val="0"/>
          <c:showPercent val="0"/>
          <c:showBubbleSize val="0"/>
        </c:dLbls>
        <c:gapWidth val="150"/>
        <c:axId val="752470992"/>
        <c:axId val="752475792"/>
      </c:barChart>
      <c:catAx>
        <c:axId val="752470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752475792"/>
        <c:crosses val="autoZero"/>
        <c:auto val="1"/>
        <c:lblAlgn val="ctr"/>
        <c:lblOffset val="100"/>
        <c:noMultiLvlLbl val="0"/>
      </c:catAx>
      <c:valAx>
        <c:axId val="7524757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752470992"/>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lumMod val="95000"/>
              <a:lumOff val="5000"/>
            </a:schemeClr>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chemeClr val="accent2">
                <a:lumMod val="75000"/>
              </a:schemeClr>
            </a:solidFill>
            <a:ln>
              <a:noFill/>
            </a:ln>
            <a:effectLst/>
          </c:spPr>
          <c:invertIfNegative val="0"/>
          <c:trendline>
            <c:spPr>
              <a:ln w="19050" cap="rnd">
                <a:solidFill>
                  <a:schemeClr val="accent2">
                    <a:lumMod val="75000"/>
                  </a:schemeClr>
                </a:solidFill>
                <a:prstDash val="sysDot"/>
              </a:ln>
              <a:effectLst/>
            </c:spPr>
            <c:trendlineType val="exp"/>
            <c:dispRSqr val="0"/>
            <c:dispEq val="0"/>
          </c:trendline>
          <c:cat>
            <c:strRef>
              <c:f>Sheet1!$C$5:$H$5</c:f>
              <c:strCache>
                <c:ptCount val="6"/>
                <c:pt idx="0">
                  <c:v>2024</c:v>
                </c:pt>
                <c:pt idx="1">
                  <c:v>2025E</c:v>
                </c:pt>
                <c:pt idx="2">
                  <c:v>2026E</c:v>
                </c:pt>
                <c:pt idx="3">
                  <c:v>2027E</c:v>
                </c:pt>
                <c:pt idx="4">
                  <c:v>2028E</c:v>
                </c:pt>
                <c:pt idx="5">
                  <c:v>2029E</c:v>
                </c:pt>
              </c:strCache>
            </c:strRef>
          </c:cat>
          <c:val>
            <c:numRef>
              <c:f>Sheet1!$C$6:$H$6</c:f>
              <c:numCache>
                <c:formatCode>General</c:formatCode>
                <c:ptCount val="6"/>
                <c:pt idx="0">
                  <c:v>38</c:v>
                </c:pt>
                <c:pt idx="1">
                  <c:v>41.040000000000006</c:v>
                </c:pt>
                <c:pt idx="2">
                  <c:v>44.323200000000007</c:v>
                </c:pt>
                <c:pt idx="3">
                  <c:v>47.869056000000008</c:v>
                </c:pt>
                <c:pt idx="4">
                  <c:v>51.698580480000011</c:v>
                </c:pt>
                <c:pt idx="5">
                  <c:v>55.834466918400018</c:v>
                </c:pt>
              </c:numCache>
            </c:numRef>
          </c:val>
          <c:extLst>
            <c:ext xmlns:c16="http://schemas.microsoft.com/office/drawing/2014/chart" uri="{C3380CC4-5D6E-409C-BE32-E72D297353CC}">
              <c16:uniqueId val="{00000001-4FCF-4551-9D74-F11BEFDE5992}"/>
            </c:ext>
          </c:extLst>
        </c:ser>
        <c:dLbls>
          <c:showLegendKey val="0"/>
          <c:showVal val="0"/>
          <c:showCatName val="0"/>
          <c:showSerName val="0"/>
          <c:showPercent val="0"/>
          <c:showBubbleSize val="0"/>
        </c:dLbls>
        <c:gapWidth val="219"/>
        <c:overlap val="-27"/>
        <c:axId val="317905615"/>
        <c:axId val="317913295"/>
      </c:barChart>
      <c:catAx>
        <c:axId val="3179056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latin typeface="Avenir Next LT Pro" panose="020B0504020202020204" pitchFamily="34" charset="0"/>
              </a:defRPr>
            </a:pPr>
            <a:endParaRPr lang="en-US"/>
          </a:p>
        </c:txPr>
        <c:crossAx val="317913295"/>
        <c:crosses val="autoZero"/>
        <c:auto val="1"/>
        <c:lblAlgn val="ctr"/>
        <c:lblOffset val="100"/>
        <c:noMultiLvlLbl val="0"/>
      </c:catAx>
      <c:valAx>
        <c:axId val="317913295"/>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60000000" vert="horz"/>
          <a:lstStyle/>
          <a:p>
            <a:pPr>
              <a:defRPr>
                <a:latin typeface="Avenir Next LT Pro" panose="020B0504020202020204" pitchFamily="34" charset="0"/>
              </a:defRPr>
            </a:pPr>
            <a:endParaRPr lang="en-US"/>
          </a:p>
        </c:txPr>
        <c:crossAx val="317905615"/>
        <c:crosses val="autoZero"/>
        <c:crossBetween val="between"/>
        <c:majorUnit val="10"/>
      </c:valAx>
    </c:plotArea>
    <c:plotVisOnly val="1"/>
    <c:dispBlanksAs val="gap"/>
    <c:showDLblsOverMax val="0"/>
    <c:extLst/>
  </c:chart>
  <c:txPr>
    <a:bodyPr/>
    <a:lstStyle/>
    <a:p>
      <a:pPr>
        <a:defRPr>
          <a:solidFill>
            <a:schemeClr val="tx1">
              <a:lumMod val="95000"/>
              <a:lumOff val="5000"/>
            </a:schemeClr>
          </a:solidFill>
        </a:defRPr>
      </a:pPr>
      <a:endParaRPr lang="en-US"/>
    </a:p>
  </c:tx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Sheet5!$C$1</c:f>
              <c:strCache>
                <c:ptCount val="1"/>
                <c:pt idx="0">
                  <c:v>Value</c:v>
                </c:pt>
              </c:strCache>
            </c:strRef>
          </c:tx>
          <c:spPr>
            <a:solidFill>
              <a:schemeClr val="accent2">
                <a:lumMod val="75000"/>
              </a:schemeClr>
            </a:solidFill>
          </c:spPr>
          <c:dPt>
            <c:idx val="0"/>
            <c:bubble3D val="0"/>
            <c:spPr>
              <a:solidFill>
                <a:schemeClr val="bg2">
                  <a:lumMod val="75000"/>
                </a:schemeClr>
              </a:solidFill>
              <a:ln>
                <a:noFill/>
              </a:ln>
              <a:effectLst/>
            </c:spPr>
            <c:extLst>
              <c:ext xmlns:c16="http://schemas.microsoft.com/office/drawing/2014/chart" uri="{C3380CC4-5D6E-409C-BE32-E72D297353CC}">
                <c16:uniqueId val="{00000001-AFA2-47B6-83AC-6A2DC1517655}"/>
              </c:ext>
            </c:extLst>
          </c:dPt>
          <c:dPt>
            <c:idx val="1"/>
            <c:bubble3D val="0"/>
            <c:spPr>
              <a:solidFill>
                <a:schemeClr val="tx1">
                  <a:lumMod val="65000"/>
                  <a:lumOff val="35000"/>
                </a:schemeClr>
              </a:solidFill>
              <a:ln>
                <a:noFill/>
              </a:ln>
              <a:effectLst/>
            </c:spPr>
            <c:extLst>
              <c:ext xmlns:c16="http://schemas.microsoft.com/office/drawing/2014/chart" uri="{C3380CC4-5D6E-409C-BE32-E72D297353CC}">
                <c16:uniqueId val="{00000003-AFA2-47B6-83AC-6A2DC1517655}"/>
              </c:ext>
            </c:extLst>
          </c:dPt>
          <c:dPt>
            <c:idx val="2"/>
            <c:bubble3D val="0"/>
            <c:spPr>
              <a:solidFill>
                <a:schemeClr val="tx1">
                  <a:lumMod val="95000"/>
                  <a:lumOff val="5000"/>
                </a:schemeClr>
              </a:solidFill>
              <a:ln>
                <a:noFill/>
              </a:ln>
              <a:effectLst/>
            </c:spPr>
            <c:extLst>
              <c:ext xmlns:c16="http://schemas.microsoft.com/office/drawing/2014/chart" uri="{C3380CC4-5D6E-409C-BE32-E72D297353CC}">
                <c16:uniqueId val="{00000005-AFA2-47B6-83AC-6A2DC1517655}"/>
              </c:ext>
            </c:extLst>
          </c:dPt>
          <c:dPt>
            <c:idx val="3"/>
            <c:bubble3D val="0"/>
            <c:spPr>
              <a:solidFill>
                <a:schemeClr val="accent2">
                  <a:lumMod val="60000"/>
                  <a:lumOff val="40000"/>
                </a:schemeClr>
              </a:solidFill>
              <a:ln>
                <a:noFill/>
              </a:ln>
              <a:effectLst/>
            </c:spPr>
            <c:extLst>
              <c:ext xmlns:c16="http://schemas.microsoft.com/office/drawing/2014/chart" uri="{C3380CC4-5D6E-409C-BE32-E72D297353CC}">
                <c16:uniqueId val="{00000007-AFA2-47B6-83AC-6A2DC1517655}"/>
              </c:ext>
            </c:extLst>
          </c:dPt>
          <c:dPt>
            <c:idx val="4"/>
            <c:bubble3D val="0"/>
            <c:spPr>
              <a:solidFill>
                <a:schemeClr val="accent2">
                  <a:lumMod val="75000"/>
                </a:schemeClr>
              </a:solidFill>
              <a:ln>
                <a:noFill/>
              </a:ln>
              <a:effectLst/>
            </c:spPr>
            <c:extLst>
              <c:ext xmlns:c16="http://schemas.microsoft.com/office/drawing/2014/chart" uri="{C3380CC4-5D6E-409C-BE32-E72D297353CC}">
                <c16:uniqueId val="{00000009-AFA2-47B6-83AC-6A2DC1517655}"/>
              </c:ext>
            </c:extLst>
          </c:dPt>
          <c:dLbls>
            <c:dLbl>
              <c:idx val="0"/>
              <c:layout>
                <c:manualLayout>
                  <c:x val="-2.3307141789009032E-2"/>
                  <c:y val="8.6022506590299225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FA2-47B6-83AC-6A2DC1517655}"/>
                </c:ext>
              </c:extLst>
            </c:dLbl>
            <c:dLbl>
              <c:idx val="1"/>
              <c:layout>
                <c:manualLayout>
                  <c:x val="-6.6284445084161911E-2"/>
                  <c:y val="0.15705606421136717"/>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FA2-47B6-83AC-6A2DC1517655}"/>
                </c:ext>
              </c:extLst>
            </c:dLbl>
            <c:dLbl>
              <c:idx val="2"/>
              <c:layout>
                <c:manualLayout>
                  <c:x val="-0.1183930920861257"/>
                  <c:y val="3.1898964041046307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FA2-47B6-83AC-6A2DC1517655}"/>
                </c:ext>
              </c:extLst>
            </c:dLbl>
            <c:dLbl>
              <c:idx val="3"/>
              <c:layout>
                <c:manualLayout>
                  <c:x val="-9.6386118495873085E-2"/>
                  <c:y val="-0.20232051597910886"/>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FA2-47B6-83AC-6A2DC1517655}"/>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Avenir Next LT Pro" panose="020B0504020202020204" pitchFamily="34" charset="0"/>
                    <a:ea typeface="+mn-ea"/>
                    <a:cs typeface="+mn-cs"/>
                  </a:defRPr>
                </a:pPr>
                <a:endParaRPr lang="en-US"/>
              </a:p>
            </c:txPr>
            <c:dLblPos val="ctr"/>
            <c:showLegendKey val="0"/>
            <c:showVal val="0"/>
            <c:showCatName val="0"/>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Sheet5!$B$2:$B$6</c:f>
              <c:strCache>
                <c:ptCount val="5"/>
                <c:pt idx="0">
                  <c:v>South America</c:v>
                </c:pt>
                <c:pt idx="1">
                  <c:v>Middle East &amp; Africa</c:v>
                </c:pt>
                <c:pt idx="2">
                  <c:v>North America</c:v>
                </c:pt>
                <c:pt idx="3">
                  <c:v>Europe</c:v>
                </c:pt>
                <c:pt idx="4">
                  <c:v>Asia Pacific </c:v>
                </c:pt>
              </c:strCache>
            </c:strRef>
          </c:cat>
          <c:val>
            <c:numRef>
              <c:f>Sheet5!$C$2:$C$6</c:f>
              <c:numCache>
                <c:formatCode>0%</c:formatCode>
                <c:ptCount val="5"/>
                <c:pt idx="0">
                  <c:v>0.05</c:v>
                </c:pt>
                <c:pt idx="1">
                  <c:v>0.1</c:v>
                </c:pt>
                <c:pt idx="2">
                  <c:v>0.15</c:v>
                </c:pt>
                <c:pt idx="3">
                  <c:v>0.2</c:v>
                </c:pt>
                <c:pt idx="4">
                  <c:v>0.5</c:v>
                </c:pt>
              </c:numCache>
            </c:numRef>
          </c:val>
          <c:extLst>
            <c:ext xmlns:c16="http://schemas.microsoft.com/office/drawing/2014/chart" uri="{C3380CC4-5D6E-409C-BE32-E72D297353CC}">
              <c16:uniqueId val="{0000000A-AFA2-47B6-83AC-6A2DC1517655}"/>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69926564692537319"/>
          <c:y val="0.1351555966576827"/>
          <c:w val="0.28914686732625539"/>
          <c:h val="0.7514792035925261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Avenir Next LT Pro" panose="020B05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853191751814737"/>
          <c:y val="2.7244595326586542E-2"/>
          <c:w val="0.70805400189934775"/>
          <c:h val="0.92507736285188702"/>
        </c:manualLayout>
      </c:layout>
      <c:pieChart>
        <c:varyColors val="1"/>
        <c:ser>
          <c:idx val="0"/>
          <c:order val="0"/>
          <c:spPr>
            <a:solidFill>
              <a:schemeClr val="accent2">
                <a:lumMod val="75000"/>
              </a:schemeClr>
            </a:solidFill>
          </c:spPr>
          <c:dPt>
            <c:idx val="0"/>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1-1118-433D-AF46-80D6C21F93D7}"/>
              </c:ext>
            </c:extLst>
          </c:dPt>
          <c:dPt>
            <c:idx val="1"/>
            <c:bubble3D val="0"/>
            <c:spPr>
              <a:solidFill>
                <a:schemeClr val="bg2">
                  <a:lumMod val="25000"/>
                </a:schemeClr>
              </a:solidFill>
              <a:ln w="19050">
                <a:solidFill>
                  <a:schemeClr val="lt1"/>
                </a:solidFill>
              </a:ln>
              <a:effectLst/>
            </c:spPr>
            <c:extLst>
              <c:ext xmlns:c16="http://schemas.microsoft.com/office/drawing/2014/chart" uri="{C3380CC4-5D6E-409C-BE32-E72D297353CC}">
                <c16:uniqueId val="{00000003-1118-433D-AF46-80D6C21F93D7}"/>
              </c:ext>
            </c:extLst>
          </c:dPt>
          <c:dPt>
            <c:idx val="2"/>
            <c:bubble3D val="0"/>
            <c:spPr>
              <a:solidFill>
                <a:schemeClr val="bg2"/>
              </a:solidFill>
              <a:ln w="19050">
                <a:solidFill>
                  <a:schemeClr val="lt1"/>
                </a:solidFill>
              </a:ln>
              <a:effectLst/>
            </c:spPr>
            <c:extLst>
              <c:ext xmlns:c16="http://schemas.microsoft.com/office/drawing/2014/chart" uri="{C3380CC4-5D6E-409C-BE32-E72D297353CC}">
                <c16:uniqueId val="{00000005-1118-433D-AF46-80D6C21F93D7}"/>
              </c:ext>
            </c:extLst>
          </c:dPt>
          <c:cat>
            <c:strRef>
              <c:f>Sheet1!$K$55:$K$57</c:f>
              <c:strCache>
                <c:ptCount val="3"/>
                <c:pt idx="0">
                  <c:v>Share Buybacks</c:v>
                </c:pt>
                <c:pt idx="1">
                  <c:v>Payoff Debt</c:v>
                </c:pt>
                <c:pt idx="2">
                  <c:v>Future Investments</c:v>
                </c:pt>
              </c:strCache>
            </c:strRef>
          </c:cat>
          <c:val>
            <c:numRef>
              <c:f>Sheet1!$L$55:$L$57</c:f>
              <c:numCache>
                <c:formatCode>General</c:formatCode>
                <c:ptCount val="3"/>
                <c:pt idx="0">
                  <c:v>500000000</c:v>
                </c:pt>
                <c:pt idx="1">
                  <c:v>450000000</c:v>
                </c:pt>
                <c:pt idx="2">
                  <c:v>300000000</c:v>
                </c:pt>
              </c:numCache>
            </c:numRef>
          </c:val>
          <c:extLst>
            <c:ext xmlns:c16="http://schemas.microsoft.com/office/drawing/2014/chart" uri="{C3380CC4-5D6E-409C-BE32-E72D297353CC}">
              <c16:uniqueId val="{00000006-5008-466F-BA5B-375EDD8CE55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8627296587926516E-2"/>
          <c:y val="3.2407407407407406E-2"/>
          <c:w val="0.81620363079615044"/>
          <c:h val="0.73646289005540977"/>
        </c:manualLayout>
      </c:layout>
      <c:barChart>
        <c:barDir val="col"/>
        <c:grouping val="clustered"/>
        <c:varyColors val="0"/>
        <c:ser>
          <c:idx val="0"/>
          <c:order val="0"/>
          <c:tx>
            <c:strRef>
              <c:f>'Fin &amp; Val Info'!$U$127</c:f>
              <c:strCache>
                <c:ptCount val="1"/>
                <c:pt idx="0">
                  <c:v>Earnings</c:v>
                </c:pt>
              </c:strCache>
            </c:strRef>
          </c:tx>
          <c:spPr>
            <a:solidFill>
              <a:schemeClr val="accent2">
                <a:lumMod val="75000"/>
              </a:schemeClr>
            </a:solidFill>
            <a:ln>
              <a:noFill/>
            </a:ln>
            <a:effectLst/>
          </c:spPr>
          <c:invertIfNegative val="0"/>
          <c:cat>
            <c:numRef>
              <c:f>'Fin &amp; Val Info'!$V$126:$AA$126</c:f>
              <c:numCache>
                <c:formatCode>General</c:formatCode>
                <c:ptCount val="6"/>
                <c:pt idx="0">
                  <c:v>2025</c:v>
                </c:pt>
                <c:pt idx="1">
                  <c:v>2026</c:v>
                </c:pt>
                <c:pt idx="2">
                  <c:v>2027</c:v>
                </c:pt>
                <c:pt idx="3">
                  <c:v>2028</c:v>
                </c:pt>
                <c:pt idx="4">
                  <c:v>2029</c:v>
                </c:pt>
                <c:pt idx="5">
                  <c:v>2030</c:v>
                </c:pt>
              </c:numCache>
            </c:numRef>
          </c:cat>
          <c:val>
            <c:numRef>
              <c:f>'Fin &amp; Val Info'!$V$127:$AA$127</c:f>
              <c:numCache>
                <c:formatCode>General</c:formatCode>
                <c:ptCount val="6"/>
                <c:pt idx="0">
                  <c:v>100</c:v>
                </c:pt>
                <c:pt idx="1">
                  <c:v>100</c:v>
                </c:pt>
                <c:pt idx="2">
                  <c:v>100</c:v>
                </c:pt>
                <c:pt idx="3">
                  <c:v>100</c:v>
                </c:pt>
                <c:pt idx="4">
                  <c:v>100</c:v>
                </c:pt>
                <c:pt idx="5">
                  <c:v>100</c:v>
                </c:pt>
              </c:numCache>
            </c:numRef>
          </c:val>
          <c:extLst>
            <c:ext xmlns:c16="http://schemas.microsoft.com/office/drawing/2014/chart" uri="{C3380CC4-5D6E-409C-BE32-E72D297353CC}">
              <c16:uniqueId val="{00000000-02AB-40C4-B843-C03A50846821}"/>
            </c:ext>
          </c:extLst>
        </c:ser>
        <c:dLbls>
          <c:showLegendKey val="0"/>
          <c:showVal val="0"/>
          <c:showCatName val="0"/>
          <c:showSerName val="0"/>
          <c:showPercent val="0"/>
          <c:showBubbleSize val="0"/>
        </c:dLbls>
        <c:gapWidth val="219"/>
        <c:overlap val="-27"/>
        <c:axId val="1330627151"/>
        <c:axId val="1330633391"/>
      </c:barChart>
      <c:lineChart>
        <c:grouping val="standard"/>
        <c:varyColors val="0"/>
        <c:ser>
          <c:idx val="1"/>
          <c:order val="1"/>
          <c:tx>
            <c:strRef>
              <c:f>'Fin &amp; Val Info'!$U$129</c:f>
              <c:strCache>
                <c:ptCount val="1"/>
                <c:pt idx="0">
                  <c:v>EPS Growth</c:v>
                </c:pt>
              </c:strCache>
            </c:strRef>
          </c:tx>
          <c:spPr>
            <a:ln w="28575" cap="rnd">
              <a:solidFill>
                <a:schemeClr val="tx1">
                  <a:lumMod val="95000"/>
                  <a:lumOff val="5000"/>
                </a:schemeClr>
              </a:solidFill>
              <a:round/>
            </a:ln>
            <a:effectLst/>
          </c:spPr>
          <c:marker>
            <c:symbol val="none"/>
          </c:marker>
          <c:cat>
            <c:numRef>
              <c:f>'Fin &amp; Val Info'!$V$126:$AA$126</c:f>
              <c:numCache>
                <c:formatCode>General</c:formatCode>
                <c:ptCount val="6"/>
                <c:pt idx="0">
                  <c:v>2025</c:v>
                </c:pt>
                <c:pt idx="1">
                  <c:v>2026</c:v>
                </c:pt>
                <c:pt idx="2">
                  <c:v>2027</c:v>
                </c:pt>
                <c:pt idx="3">
                  <c:v>2028</c:v>
                </c:pt>
                <c:pt idx="4">
                  <c:v>2029</c:v>
                </c:pt>
                <c:pt idx="5">
                  <c:v>2030</c:v>
                </c:pt>
              </c:numCache>
            </c:numRef>
          </c:cat>
          <c:val>
            <c:numRef>
              <c:f>'Fin &amp; Val Info'!$V$129:$AA$129</c:f>
              <c:numCache>
                <c:formatCode>0%</c:formatCode>
                <c:ptCount val="6"/>
                <c:pt idx="0">
                  <c:v>0</c:v>
                </c:pt>
                <c:pt idx="1">
                  <c:v>0.19797336192271708</c:v>
                </c:pt>
                <c:pt idx="2">
                  <c:v>0.26136287107915601</c:v>
                </c:pt>
                <c:pt idx="3">
                  <c:v>0.32361878716428039</c:v>
                </c:pt>
                <c:pt idx="4">
                  <c:v>0.40143423663954403</c:v>
                </c:pt>
                <c:pt idx="5">
                  <c:v>0.43204879724168377</c:v>
                </c:pt>
              </c:numCache>
            </c:numRef>
          </c:val>
          <c:smooth val="0"/>
          <c:extLst>
            <c:ext xmlns:c16="http://schemas.microsoft.com/office/drawing/2014/chart" uri="{C3380CC4-5D6E-409C-BE32-E72D297353CC}">
              <c16:uniqueId val="{00000001-02AB-40C4-B843-C03A50846821}"/>
            </c:ext>
          </c:extLst>
        </c:ser>
        <c:dLbls>
          <c:showLegendKey val="0"/>
          <c:showVal val="0"/>
          <c:showCatName val="0"/>
          <c:showSerName val="0"/>
          <c:showPercent val="0"/>
          <c:showBubbleSize val="0"/>
        </c:dLbls>
        <c:marker val="1"/>
        <c:smooth val="0"/>
        <c:axId val="1330628591"/>
        <c:axId val="1330633871"/>
      </c:lineChart>
      <c:catAx>
        <c:axId val="13306271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1330633391"/>
        <c:crosses val="autoZero"/>
        <c:auto val="1"/>
        <c:lblAlgn val="ctr"/>
        <c:lblOffset val="100"/>
        <c:noMultiLvlLbl val="0"/>
      </c:catAx>
      <c:valAx>
        <c:axId val="1330633391"/>
        <c:scaling>
          <c:orientation val="minMax"/>
          <c:max val="150"/>
          <c:min val="8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1330627151"/>
        <c:crosses val="autoZero"/>
        <c:crossBetween val="between"/>
      </c:valAx>
      <c:valAx>
        <c:axId val="1330633871"/>
        <c:scaling>
          <c:orientation val="minMax"/>
          <c:max val="0.5"/>
          <c:min val="-0.2"/>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1330628591"/>
        <c:crosses val="max"/>
        <c:crossBetween val="between"/>
        <c:minorUnit val="1.0000000000000002E-2"/>
      </c:valAx>
      <c:catAx>
        <c:axId val="1330628591"/>
        <c:scaling>
          <c:orientation val="minMax"/>
        </c:scaling>
        <c:delete val="1"/>
        <c:axPos val="b"/>
        <c:numFmt formatCode="General" sourceLinked="1"/>
        <c:majorTickMark val="out"/>
        <c:minorTickMark val="none"/>
        <c:tickLblPos val="nextTo"/>
        <c:crossAx val="1330633871"/>
        <c:crosses val="autoZero"/>
        <c:auto val="1"/>
        <c:lblAlgn val="ctr"/>
        <c:lblOffset val="100"/>
        <c:noMultiLvlLbl val="0"/>
      </c:catAx>
      <c:spPr>
        <a:noFill/>
        <a:ln>
          <a:noFill/>
        </a:ln>
        <a:effectLst/>
      </c:spPr>
    </c:plotArea>
    <c:legend>
      <c:legendPos val="b"/>
      <c:legendEntry>
        <c:idx val="0"/>
        <c:txPr>
          <a:bodyPr rot="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legendEntry>
      <c:legendEntry>
        <c:idx val="1"/>
        <c:txPr>
          <a:bodyPr rot="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lumMod val="95000"/>
              <a:lumOff val="5000"/>
            </a:schemeClr>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'HOG-US'!$A$16</c:f>
              <c:strCache>
                <c:ptCount val="1"/>
                <c:pt idx="0">
                  <c:v>Net Income</c:v>
                </c:pt>
              </c:strCache>
            </c:strRef>
          </c:tx>
          <c:spPr>
            <a:solidFill>
              <a:schemeClr val="accent2">
                <a:lumMod val="75000"/>
              </a:schemeClr>
            </a:solidFill>
            <a:ln>
              <a:noFill/>
            </a:ln>
            <a:effectLst/>
          </c:spPr>
          <c:invertIfNegative val="0"/>
          <c:dPt>
            <c:idx val="0"/>
            <c:invertIfNegative val="0"/>
            <c:bubble3D val="0"/>
            <c:spPr>
              <a:solidFill>
                <a:schemeClr val="bg2">
                  <a:lumMod val="90000"/>
                </a:schemeClr>
              </a:solidFill>
              <a:ln>
                <a:noFill/>
              </a:ln>
              <a:effectLst/>
            </c:spPr>
            <c:extLst>
              <c:ext xmlns:c16="http://schemas.microsoft.com/office/drawing/2014/chart" uri="{C3380CC4-5D6E-409C-BE32-E72D297353CC}">
                <c16:uniqueId val="{00000003-02CF-43E2-B62F-BDEEF06A6852}"/>
              </c:ext>
            </c:extLst>
          </c:dPt>
          <c:dPt>
            <c:idx val="1"/>
            <c:invertIfNegative val="0"/>
            <c:bubble3D val="0"/>
            <c:spPr>
              <a:solidFill>
                <a:schemeClr val="bg2">
                  <a:lumMod val="90000"/>
                </a:schemeClr>
              </a:solidFill>
              <a:ln>
                <a:noFill/>
              </a:ln>
              <a:effectLst/>
            </c:spPr>
            <c:extLst>
              <c:ext xmlns:c16="http://schemas.microsoft.com/office/drawing/2014/chart" uri="{C3380CC4-5D6E-409C-BE32-E72D297353CC}">
                <c16:uniqueId val="{00000002-02CF-43E2-B62F-BDEEF06A6852}"/>
              </c:ext>
            </c:extLst>
          </c:dPt>
          <c:dPt>
            <c:idx val="3"/>
            <c:invertIfNegative val="0"/>
            <c:bubble3D val="0"/>
            <c:spPr>
              <a:solidFill>
                <a:schemeClr val="bg2">
                  <a:lumMod val="90000"/>
                </a:schemeClr>
              </a:solidFill>
              <a:ln>
                <a:noFill/>
              </a:ln>
              <a:effectLst/>
            </c:spPr>
            <c:extLst>
              <c:ext xmlns:c16="http://schemas.microsoft.com/office/drawing/2014/chart" uri="{C3380CC4-5D6E-409C-BE32-E72D297353CC}">
                <c16:uniqueId val="{00000001-02CF-43E2-B62F-BDEEF06A6852}"/>
              </c:ext>
            </c:extLst>
          </c:dPt>
          <c:cat>
            <c:numRef>
              <c:f>'HOG-US'!$B$15:$E$15</c:f>
              <c:numCache>
                <c:formatCode>0</c:formatCode>
                <c:ptCount val="4"/>
                <c:pt idx="0">
                  <c:v>1</c:v>
                </c:pt>
                <c:pt idx="1">
                  <c:v>2</c:v>
                </c:pt>
                <c:pt idx="2">
                  <c:v>3</c:v>
                </c:pt>
                <c:pt idx="3">
                  <c:v>4</c:v>
                </c:pt>
              </c:numCache>
            </c:numRef>
          </c:cat>
          <c:val>
            <c:numRef>
              <c:f>'HOG-US'!$B$16:$E$16</c:f>
              <c:numCache>
                <c:formatCode>#,##0.0</c:formatCode>
                <c:ptCount val="4"/>
                <c:pt idx="0">
                  <c:v>133.10400000000001</c:v>
                </c:pt>
                <c:pt idx="1">
                  <c:v>107.569</c:v>
                </c:pt>
                <c:pt idx="2">
                  <c:v>377.36599999999999</c:v>
                </c:pt>
                <c:pt idx="3">
                  <c:v>-279.30099999999999</c:v>
                </c:pt>
              </c:numCache>
            </c:numRef>
          </c:val>
          <c:extLst>
            <c:ext xmlns:c16="http://schemas.microsoft.com/office/drawing/2014/chart" uri="{C3380CC4-5D6E-409C-BE32-E72D297353CC}">
              <c16:uniqueId val="{00000000-02CF-43E2-B62F-BDEEF06A6852}"/>
            </c:ext>
          </c:extLst>
        </c:ser>
        <c:dLbls>
          <c:showLegendKey val="0"/>
          <c:showVal val="0"/>
          <c:showCatName val="0"/>
          <c:showSerName val="0"/>
          <c:showPercent val="0"/>
          <c:showBubbleSize val="0"/>
        </c:dLbls>
        <c:gapWidth val="219"/>
        <c:overlap val="-27"/>
        <c:axId val="1270095744"/>
        <c:axId val="1270097184"/>
      </c:barChart>
      <c:catAx>
        <c:axId val="1270095744"/>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1270097184"/>
        <c:crosses val="autoZero"/>
        <c:auto val="1"/>
        <c:lblAlgn val="ctr"/>
        <c:lblOffset val="100"/>
        <c:noMultiLvlLbl val="0"/>
      </c:catAx>
      <c:valAx>
        <c:axId val="1270097184"/>
        <c:scaling>
          <c:orientation val="minMax"/>
          <c:max val="475"/>
          <c:min val="-30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12700957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364942485149282"/>
          <c:y val="9.8624003469923935E-2"/>
          <c:w val="0.57159199861411925"/>
          <c:h val="0.53915976334034399"/>
        </c:manualLayout>
      </c:layout>
      <c:pieChart>
        <c:varyColors val="1"/>
        <c:ser>
          <c:idx val="0"/>
          <c:order val="0"/>
          <c:spPr>
            <a:solidFill>
              <a:srgbClr val="EB7A41"/>
            </a:solidFill>
          </c:spPr>
          <c:dPt>
            <c:idx val="0"/>
            <c:bubble3D val="0"/>
            <c:spPr>
              <a:solidFill>
                <a:schemeClr val="bg2">
                  <a:lumMod val="50000"/>
                </a:schemeClr>
              </a:solidFill>
              <a:ln w="19050">
                <a:solidFill>
                  <a:schemeClr val="lt1"/>
                </a:solidFill>
              </a:ln>
              <a:effectLst/>
            </c:spPr>
            <c:extLst>
              <c:ext xmlns:c16="http://schemas.microsoft.com/office/drawing/2014/chart" uri="{C3380CC4-5D6E-409C-BE32-E72D297353CC}">
                <c16:uniqueId val="{00000001-5C24-4525-8031-5355622839AA}"/>
              </c:ext>
            </c:extLst>
          </c:dPt>
          <c:dPt>
            <c:idx val="1"/>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3-5C24-4525-8031-5355622839AA}"/>
              </c:ext>
            </c:extLst>
          </c:dPt>
          <c:dPt>
            <c:idx val="2"/>
            <c:bubble3D val="0"/>
            <c:spPr>
              <a:solidFill>
                <a:schemeClr val="bg2">
                  <a:lumMod val="25000"/>
                </a:schemeClr>
              </a:solidFill>
              <a:ln w="19050">
                <a:solidFill>
                  <a:schemeClr val="lt1"/>
                </a:solidFill>
              </a:ln>
              <a:effectLst/>
            </c:spPr>
            <c:extLst>
              <c:ext xmlns:c16="http://schemas.microsoft.com/office/drawing/2014/chart" uri="{C3380CC4-5D6E-409C-BE32-E72D297353CC}">
                <c16:uniqueId val="{00000005-5C24-4525-8031-5355622839AA}"/>
              </c:ext>
            </c:extLst>
          </c:dPt>
          <c:dLbls>
            <c:dLbl>
              <c:idx val="0"/>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tx1"/>
                      </a:solidFill>
                      <a:latin typeface="Avenir Next LT Pro" panose="020B0504020202020204" pitchFamily="34" charset="0"/>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89444"/>
                        <a:gd name="adj2" fmla="val 86345"/>
                      </a:avLst>
                    </a:prstGeom>
                    <a:noFill/>
                    <a:ln>
                      <a:noFill/>
                    </a:ln>
                  </c15:spPr>
                </c:ext>
                <c:ext xmlns:c16="http://schemas.microsoft.com/office/drawing/2014/chart" uri="{C3380CC4-5D6E-409C-BE32-E72D297353CC}">
                  <c16:uniqueId val="{00000001-5C24-4525-8031-5355622839AA}"/>
                </c:ext>
              </c:extLst>
            </c:dLbl>
            <c:dLbl>
              <c:idx val="1"/>
              <c:layout>
                <c:manualLayout>
                  <c:x val="0.38851036775433073"/>
                  <c:y val="-1.0453978253343391E-3"/>
                </c:manualLayout>
              </c:layout>
              <c:tx>
                <c:rich>
                  <a:bodyPr rot="0" spcFirstLastPara="1" vertOverflow="clip" horzOverflow="clip" vert="horz" wrap="square" lIns="38100" tIns="19050" rIns="38100" bIns="19050" anchor="ctr" anchorCtr="1">
                    <a:spAutoFit/>
                  </a:bodyPr>
                  <a:lstStyle/>
                  <a:p>
                    <a:pPr>
                      <a:defRPr sz="900" b="0" i="0" u="none" strike="noStrike" kern="1200" baseline="0">
                        <a:solidFill>
                          <a:schemeClr val="tx1"/>
                        </a:solidFill>
                        <a:latin typeface="Avenir Next LT Pro" panose="020B0504020202020204" pitchFamily="34" charset="0"/>
                        <a:ea typeface="+mn-ea"/>
                        <a:cs typeface="+mn-cs"/>
                      </a:defRPr>
                    </a:pPr>
                    <a:r>
                      <a:rPr lang="en-US" baseline="0">
                        <a:solidFill>
                          <a:schemeClr val="tx1"/>
                        </a:solidFill>
                        <a:latin typeface="Avenir Next LT Pro" panose="020B0504020202020204" pitchFamily="34" charset="0"/>
                      </a:rPr>
                      <a:t>Credit Loss Reversal </a:t>
                    </a:r>
                    <a:fld id="{010F2A68-884E-4ACE-9FFD-AC31EF09FB67}" type="PERCENTAGE">
                      <a:rPr lang="en-US" baseline="0">
                        <a:solidFill>
                          <a:schemeClr val="tx1"/>
                        </a:solidFill>
                        <a:latin typeface="Avenir Next LT Pro" panose="020B0504020202020204" pitchFamily="34" charset="0"/>
                      </a:rPr>
                      <a:pPr>
                        <a:defRPr>
                          <a:solidFill>
                            <a:schemeClr val="tx1"/>
                          </a:solidFill>
                          <a:latin typeface="Avenir Next LT Pro" panose="020B0504020202020204" pitchFamily="34" charset="0"/>
                        </a:defRPr>
                      </a:pPr>
                      <a:t>[PERCENTAGE]</a:t>
                    </a:fld>
                    <a:endParaRPr lang="en-US" baseline="0">
                      <a:solidFill>
                        <a:schemeClr val="tx1"/>
                      </a:solidFill>
                      <a:latin typeface="Avenir Next LT Pro" panose="020B0504020202020204" pitchFamily="34" charset="0"/>
                    </a:endParaRPr>
                  </a:p>
                </c:rich>
              </c:tx>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tx1"/>
                      </a:solidFill>
                      <a:latin typeface="Avenir Next LT Pro" panose="020B0504020202020204" pitchFamily="34" charset="0"/>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61818"/>
                        <a:gd name="adj2" fmla="val -92689"/>
                      </a:avLst>
                    </a:prstGeom>
                    <a:noFill/>
                    <a:ln>
                      <a:noFill/>
                    </a:ln>
                  </c15:spPr>
                  <c15:layout>
                    <c:manualLayout>
                      <c:w val="0.2150828702854819"/>
                      <c:h val="0.26529160134702362"/>
                    </c:manualLayout>
                  </c15:layout>
                  <c15:dlblFieldTable/>
                  <c15:showDataLabelsRange val="0"/>
                </c:ext>
                <c:ext xmlns:c16="http://schemas.microsoft.com/office/drawing/2014/chart" uri="{C3380CC4-5D6E-409C-BE32-E72D297353CC}">
                  <c16:uniqueId val="{00000003-5C24-4525-8031-5355622839AA}"/>
                </c:ext>
              </c:extLst>
            </c:dLbl>
            <c:dLbl>
              <c:idx val="2"/>
              <c:layout>
                <c:manualLayout>
                  <c:x val="4.5560719723845393E-2"/>
                  <c:y val="0"/>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tx1"/>
                      </a:solidFill>
                      <a:latin typeface="Avenir Next LT Pro" panose="020B0504020202020204" pitchFamily="34" charset="0"/>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50554"/>
                        <a:gd name="adj2" fmla="val 77783"/>
                      </a:avLst>
                    </a:prstGeom>
                    <a:noFill/>
                    <a:ln>
                      <a:noFill/>
                    </a:ln>
                  </c15:spPr>
                </c:ext>
                <c:ext xmlns:c16="http://schemas.microsoft.com/office/drawing/2014/chart" uri="{C3380CC4-5D6E-409C-BE32-E72D297353CC}">
                  <c16:uniqueId val="{00000005-5C24-4525-8031-5355622839AA}"/>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Avenir Next LT Pro" panose="020B0504020202020204" pitchFamily="34" charset="0"/>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Sheet1!$A$1:$A$3</c:f>
              <c:strCache>
                <c:ptCount val="3"/>
                <c:pt idx="0">
                  <c:v>HDFS</c:v>
                </c:pt>
                <c:pt idx="1">
                  <c:v>HDFS(Credit Loss Reversal)</c:v>
                </c:pt>
                <c:pt idx="2">
                  <c:v>HDMC</c:v>
                </c:pt>
              </c:strCache>
            </c:strRef>
          </c:cat>
          <c:val>
            <c:numRef>
              <c:f>Sheet1!$B$1:$B$3</c:f>
              <c:numCache>
                <c:formatCode>General</c:formatCode>
                <c:ptCount val="3"/>
                <c:pt idx="0">
                  <c:v>137820</c:v>
                </c:pt>
                <c:pt idx="1">
                  <c:v>301000</c:v>
                </c:pt>
                <c:pt idx="2" formatCode="#,##0">
                  <c:v>54119</c:v>
                </c:pt>
              </c:numCache>
            </c:numRef>
          </c:val>
          <c:extLst>
            <c:ext xmlns:c16="http://schemas.microsoft.com/office/drawing/2014/chart" uri="{C3380CC4-5D6E-409C-BE32-E72D297353CC}">
              <c16:uniqueId val="{00000006-5C24-4525-8031-5355622839A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2">
                <a:lumMod val="75000"/>
              </a:schemeClr>
            </a:solidFill>
            <a:ln>
              <a:noFill/>
            </a:ln>
            <a:effectLst/>
          </c:spPr>
          <c:invertIfNegative val="0"/>
          <c:dLbls>
            <c:dLbl>
              <c:idx val="0"/>
              <c:tx>
                <c:rich>
                  <a:bodyPr/>
                  <a:lstStyle/>
                  <a:p>
                    <a:r>
                      <a:rPr lang="en-US" dirty="0"/>
                      <a:t>$</a:t>
                    </a:r>
                    <a:fld id="{48198664-628A-4A28-9128-DE418FDBB54F}" type="VALUE">
                      <a:rPr lang="en-US" smtClean="0"/>
                      <a:pPr/>
                      <a:t>[VALUE]</a:t>
                    </a:fld>
                    <a:endParaRPr lang="en-US" dirty="0"/>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F50-411F-AC1E-D6A5430815A8}"/>
                </c:ext>
              </c:extLst>
            </c:dLbl>
            <c:dLbl>
              <c:idx val="1"/>
              <c:tx>
                <c:rich>
                  <a:bodyPr/>
                  <a:lstStyle/>
                  <a:p>
                    <a:r>
                      <a:rPr lang="en-US" dirty="0"/>
                      <a:t>$</a:t>
                    </a:r>
                    <a:fld id="{BEC5168A-2524-499A-A77C-7603A3CC8534}" type="VALUE">
                      <a:rPr lang="en-US" smtClean="0"/>
                      <a:pPr/>
                      <a:t>[VALUE]</a:t>
                    </a:fld>
                    <a:endParaRPr lang="en-US" dirty="0"/>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EF50-411F-AC1E-D6A5430815A8}"/>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venir Next LT Pro" panose="020B0504020202020204" pitchFamily="34" charset="0"/>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Sheet1!$Y$17:$Z$17</c:f>
              <c:strCache>
                <c:ptCount val="2"/>
                <c:pt idx="0">
                  <c:v>EPS Without Tariffs</c:v>
                </c:pt>
                <c:pt idx="1">
                  <c:v>EPS With Tariffs</c:v>
                </c:pt>
              </c:strCache>
            </c:strRef>
          </c:cat>
          <c:val>
            <c:numRef>
              <c:f>Sheet1!$Y$18:$Z$18</c:f>
              <c:numCache>
                <c:formatCode>General</c:formatCode>
                <c:ptCount val="2"/>
                <c:pt idx="0">
                  <c:v>0.88</c:v>
                </c:pt>
                <c:pt idx="1">
                  <c:v>0.32</c:v>
                </c:pt>
              </c:numCache>
            </c:numRef>
          </c:val>
          <c:extLst>
            <c:ext xmlns:c16="http://schemas.microsoft.com/office/drawing/2014/chart" uri="{C3380CC4-5D6E-409C-BE32-E72D297353CC}">
              <c16:uniqueId val="{00000000-EF50-411F-AC1E-D6A5430815A8}"/>
            </c:ext>
          </c:extLst>
        </c:ser>
        <c:dLbls>
          <c:showLegendKey val="0"/>
          <c:showVal val="0"/>
          <c:showCatName val="0"/>
          <c:showSerName val="0"/>
          <c:showPercent val="0"/>
          <c:showBubbleSize val="0"/>
        </c:dLbls>
        <c:gapWidth val="219"/>
        <c:overlap val="-27"/>
        <c:axId val="1383132543"/>
        <c:axId val="1383132047"/>
      </c:barChart>
      <c:catAx>
        <c:axId val="1383132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83132047"/>
        <c:crosses val="autoZero"/>
        <c:auto val="1"/>
        <c:lblAlgn val="ctr"/>
        <c:lblOffset val="100"/>
        <c:noMultiLvlLbl val="0"/>
      </c:catAx>
      <c:valAx>
        <c:axId val="1383132047"/>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831325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511592300962366E-2"/>
          <c:y val="3.6507943352320341E-2"/>
          <c:w val="0.85421062992125985"/>
          <c:h val="0.84430152686567805"/>
        </c:manualLayout>
      </c:layout>
      <c:areaChart>
        <c:grouping val="standard"/>
        <c:varyColors val="0"/>
        <c:ser>
          <c:idx val="1"/>
          <c:order val="0"/>
          <c:spPr>
            <a:solidFill>
              <a:schemeClr val="accent2">
                <a:lumMod val="75000"/>
              </a:schemeClr>
            </a:solidFill>
            <a:ln>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1-EF73-4284-B16E-44C34C5A0C63}"/>
                </c:ext>
              </c:extLst>
            </c:dLbl>
            <c:dLbl>
              <c:idx val="1"/>
              <c:delete val="1"/>
              <c:extLst>
                <c:ext xmlns:c15="http://schemas.microsoft.com/office/drawing/2012/chart" uri="{CE6537A1-D6FC-4f65-9D91-7224C49458BB}"/>
                <c:ext xmlns:c16="http://schemas.microsoft.com/office/drawing/2014/chart" uri="{C3380CC4-5D6E-409C-BE32-E72D297353CC}">
                  <c16:uniqueId val="{00000000-EF73-4284-B16E-44C34C5A0C63}"/>
                </c:ext>
              </c:extLst>
            </c:dLbl>
            <c:dLbl>
              <c:idx val="2"/>
              <c:delete val="1"/>
              <c:extLst>
                <c:ext xmlns:c15="http://schemas.microsoft.com/office/drawing/2012/chart" uri="{CE6537A1-D6FC-4f65-9D91-7224C49458BB}"/>
                <c:ext xmlns:c16="http://schemas.microsoft.com/office/drawing/2014/chart" uri="{C3380CC4-5D6E-409C-BE32-E72D297353CC}">
                  <c16:uniqueId val="{00000002-EF73-4284-B16E-44C34C5A0C63}"/>
                </c:ext>
              </c:extLst>
            </c:dLbl>
            <c:dLbl>
              <c:idx val="3"/>
              <c:layout>
                <c:manualLayout>
                  <c:x val="-1.3888888888888888E-2"/>
                  <c:y val="-0.21448416719488209"/>
                </c:manualLayout>
              </c:layout>
              <c:tx>
                <c:rich>
                  <a:bodyPr/>
                  <a:lstStyle/>
                  <a:p>
                    <a:r>
                      <a:rPr lang="en-US"/>
                      <a:t>Sprint</a:t>
                    </a:r>
                    <a:r>
                      <a:rPr lang="en-US" baseline="0"/>
                      <a:t> Launch</a:t>
                    </a:r>
                    <a:endParaRPr lang="en-US"/>
                  </a:p>
                </c:rich>
              </c:tx>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352-45EA-BCDE-DCE54CF8AF14}"/>
                </c:ext>
              </c:extLst>
            </c:dLbl>
            <c:dLbl>
              <c:idx val="4"/>
              <c:layout>
                <c:manualLayout>
                  <c:x val="-4.4444444444444446E-2"/>
                  <c:y val="-0.33313498308992323"/>
                </c:manualLayout>
              </c:layout>
              <c:tx>
                <c:rich>
                  <a:bodyPr/>
                  <a:lstStyle/>
                  <a:p>
                    <a:r>
                      <a:rPr lang="en-US"/>
                      <a:t>Operational</a:t>
                    </a:r>
                    <a:r>
                      <a:rPr lang="en-US" baseline="0"/>
                      <a:t> Efficiency</a:t>
                    </a:r>
                    <a:endParaRPr lang="en-US"/>
                  </a:p>
                </c:rich>
              </c:tx>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352-45EA-BCDE-DCE54CF8AF14}"/>
                </c:ext>
              </c:extLst>
            </c:dLbl>
            <c:dLbl>
              <c:idx val="5"/>
              <c:delete val="1"/>
              <c:extLst>
                <c:ext xmlns:c15="http://schemas.microsoft.com/office/drawing/2012/chart" uri="{CE6537A1-D6FC-4f65-9D91-7224C49458BB}"/>
                <c:ext xmlns:c16="http://schemas.microsoft.com/office/drawing/2014/chart" uri="{C3380CC4-5D6E-409C-BE32-E72D297353CC}">
                  <c16:uniqueId val="{00000004-3352-45EA-BCDE-DCE54CF8AF14}"/>
                </c:ext>
              </c:extLst>
            </c:dLbl>
            <c:dLbl>
              <c:idx val="6"/>
              <c:layout>
                <c:manualLayout>
                  <c:x val="-0.12500000000000011"/>
                  <c:y val="-0.4015873768755237"/>
                </c:manualLayout>
              </c:layout>
              <c:tx>
                <c:rich>
                  <a:bodyPr/>
                  <a:lstStyle/>
                  <a:p>
                    <a:r>
                      <a:rPr lang="en-US" baseline="0"/>
                      <a:t>Tariffs in the Rearview</a:t>
                    </a:r>
                    <a:endParaRPr lang="en-US"/>
                  </a:p>
                </c:rich>
              </c:tx>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352-45EA-BCDE-DCE54CF8AF14}"/>
                </c:ext>
              </c:extLst>
            </c:dLbl>
            <c:dLbl>
              <c:idx val="7"/>
              <c:delete val="1"/>
              <c:extLst>
                <c:ext xmlns:c15="http://schemas.microsoft.com/office/drawing/2012/chart" uri="{CE6537A1-D6FC-4f65-9D91-7224C49458BB}"/>
                <c:ext xmlns:c16="http://schemas.microsoft.com/office/drawing/2014/chart" uri="{C3380CC4-5D6E-409C-BE32-E72D297353CC}">
                  <c16:uniqueId val="{00000001-3352-45EA-BCDE-DCE54CF8AF14}"/>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numRef>
              <c:f>Sheet1!$C$3:$J$3</c:f>
              <c:numCache>
                <c:formatCode>General</c:formatCode>
                <c:ptCount val="8"/>
                <c:pt idx="0">
                  <c:v>2023</c:v>
                </c:pt>
                <c:pt idx="1">
                  <c:v>2024</c:v>
                </c:pt>
                <c:pt idx="2">
                  <c:v>2025</c:v>
                </c:pt>
                <c:pt idx="3">
                  <c:v>2026</c:v>
                </c:pt>
                <c:pt idx="4">
                  <c:v>2027</c:v>
                </c:pt>
                <c:pt idx="5">
                  <c:v>2028</c:v>
                </c:pt>
                <c:pt idx="6">
                  <c:v>2029</c:v>
                </c:pt>
                <c:pt idx="7">
                  <c:v>2030</c:v>
                </c:pt>
              </c:numCache>
            </c:numRef>
          </c:cat>
          <c:val>
            <c:numRef>
              <c:f>Sheet1!$C$4:$J$4</c:f>
              <c:numCache>
                <c:formatCode>General</c:formatCode>
                <c:ptCount val="8"/>
                <c:pt idx="0">
                  <c:v>0.13348529712610926</c:v>
                </c:pt>
                <c:pt idx="1">
                  <c:v>8.0324446547217349E-2</c:v>
                </c:pt>
                <c:pt idx="2">
                  <c:v>3.56E-2</c:v>
                </c:pt>
                <c:pt idx="3">
                  <c:v>0.01</c:v>
                </c:pt>
                <c:pt idx="4">
                  <c:v>0.05</c:v>
                </c:pt>
                <c:pt idx="5">
                  <c:v>0.08</c:v>
                </c:pt>
                <c:pt idx="6">
                  <c:v>0.1</c:v>
                </c:pt>
                <c:pt idx="7">
                  <c:v>0.12</c:v>
                </c:pt>
              </c:numCache>
            </c:numRef>
          </c:val>
          <c:extLst>
            <c:ext xmlns:c16="http://schemas.microsoft.com/office/drawing/2014/chart" uri="{C3380CC4-5D6E-409C-BE32-E72D297353CC}">
              <c16:uniqueId val="{00000000-6EF6-4350-839E-75373BF589C3}"/>
            </c:ext>
          </c:extLst>
        </c:ser>
        <c:dLbls>
          <c:showLegendKey val="0"/>
          <c:showVal val="0"/>
          <c:showCatName val="0"/>
          <c:showSerName val="0"/>
          <c:showPercent val="0"/>
          <c:showBubbleSize val="0"/>
        </c:dLbls>
        <c:axId val="1294507327"/>
        <c:axId val="1294506335"/>
      </c:areaChart>
      <c:catAx>
        <c:axId val="129450732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1294506335"/>
        <c:crosses val="autoZero"/>
        <c:auto val="1"/>
        <c:lblAlgn val="ctr"/>
        <c:lblOffset val="100"/>
        <c:noMultiLvlLbl val="0"/>
      </c:catAx>
      <c:valAx>
        <c:axId val="1294506335"/>
        <c:scaling>
          <c:orientation val="minMax"/>
          <c:max val="0.1400000000000000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1294507327"/>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chemeClr val="tx1"/>
                </a:solidFill>
                <a:latin typeface="+mn-lt"/>
                <a:ea typeface="+mn-ea"/>
                <a:cs typeface="+mn-cs"/>
              </a:defRPr>
            </a:pPr>
            <a:r>
              <a:rPr lang="en-US">
                <a:solidFill>
                  <a:schemeClr val="tx1"/>
                </a:solidFill>
                <a:latin typeface="Avenir Next LT Pro" panose="020B0504020202020204" pitchFamily="34" charset="0"/>
              </a:rPr>
              <a:t>As Share Count Decreases</a:t>
            </a:r>
          </a:p>
        </c:rich>
      </c:tx>
      <c:overlay val="0"/>
      <c:spPr>
        <a:noFill/>
        <a:ln>
          <a:noFill/>
        </a:ln>
        <a:effectLst/>
      </c:spPr>
      <c:txPr>
        <a:bodyPr rot="0" spcFirstLastPara="1" vertOverflow="ellipsis" vert="horz" wrap="square" anchor="ctr" anchorCtr="0"/>
        <a:lstStyle/>
        <a:p>
          <a:pPr>
            <a:defRPr sz="1400" b="0" i="0" u="none" strike="noStrike" kern="1200" spc="0" baseline="0">
              <a:solidFill>
                <a:schemeClr val="tx1"/>
              </a:solidFill>
              <a:latin typeface="+mn-lt"/>
              <a:ea typeface="+mn-ea"/>
              <a:cs typeface="+mn-cs"/>
            </a:defRPr>
          </a:pPr>
          <a:endParaRPr lang="en-US"/>
        </a:p>
      </c:txPr>
    </c:title>
    <c:autoTitleDeleted val="0"/>
    <c:plotArea>
      <c:layout/>
      <c:lineChart>
        <c:grouping val="standard"/>
        <c:varyColors val="0"/>
        <c:ser>
          <c:idx val="0"/>
          <c:order val="0"/>
          <c:tx>
            <c:strRef>
              <c:f>Sheet2!$B$6</c:f>
              <c:strCache>
                <c:ptCount val="1"/>
                <c:pt idx="0">
                  <c:v>Fully Diluted Shares</c:v>
                </c:pt>
              </c:strCache>
            </c:strRef>
          </c:tx>
          <c:spPr>
            <a:ln w="28575" cap="rnd">
              <a:solidFill>
                <a:schemeClr val="accent2">
                  <a:lumMod val="75000"/>
                </a:schemeClr>
              </a:solidFill>
              <a:round/>
            </a:ln>
            <a:effectLst/>
          </c:spPr>
          <c:marker>
            <c:symbol val="none"/>
          </c:marker>
          <c:cat>
            <c:numRef>
              <c:f>Sheet2!$C$5:$L$5</c:f>
              <c:numCache>
                <c:formatCode>General</c:formatCode>
                <c:ptCount val="10"/>
                <c:pt idx="0">
                  <c:v>2021</c:v>
                </c:pt>
                <c:pt idx="1">
                  <c:v>2022</c:v>
                </c:pt>
                <c:pt idx="2">
                  <c:v>2023</c:v>
                </c:pt>
                <c:pt idx="3">
                  <c:v>2024</c:v>
                </c:pt>
                <c:pt idx="4">
                  <c:v>2025</c:v>
                </c:pt>
                <c:pt idx="5">
                  <c:v>2026</c:v>
                </c:pt>
                <c:pt idx="6">
                  <c:v>2027</c:v>
                </c:pt>
                <c:pt idx="7">
                  <c:v>2028</c:v>
                </c:pt>
                <c:pt idx="8">
                  <c:v>2029</c:v>
                </c:pt>
                <c:pt idx="9">
                  <c:v>2030</c:v>
                </c:pt>
              </c:numCache>
            </c:numRef>
          </c:cat>
          <c:val>
            <c:numRef>
              <c:f>Sheet2!$C$6:$L$6</c:f>
              <c:numCache>
                <c:formatCode>General</c:formatCode>
                <c:ptCount val="10"/>
                <c:pt idx="0">
                  <c:v>154.97999999999999</c:v>
                </c:pt>
                <c:pt idx="1">
                  <c:v>149.38999999999999</c:v>
                </c:pt>
                <c:pt idx="2">
                  <c:v>145.1</c:v>
                </c:pt>
                <c:pt idx="3">
                  <c:v>132.29</c:v>
                </c:pt>
                <c:pt idx="4">
                  <c:v>119.19</c:v>
                </c:pt>
                <c:pt idx="5">
                  <c:v>99.493030303030309</c:v>
                </c:pt>
                <c:pt idx="6">
                  <c:v>94.493030303030309</c:v>
                </c:pt>
                <c:pt idx="7">
                  <c:v>90.048585858585867</c:v>
                </c:pt>
                <c:pt idx="8">
                  <c:v>85.048585858585867</c:v>
                </c:pt>
                <c:pt idx="9">
                  <c:v>83.230404040404053</c:v>
                </c:pt>
              </c:numCache>
            </c:numRef>
          </c:val>
          <c:smooth val="0"/>
          <c:extLst>
            <c:ext xmlns:c16="http://schemas.microsoft.com/office/drawing/2014/chart" uri="{C3380CC4-5D6E-409C-BE32-E72D297353CC}">
              <c16:uniqueId val="{00000000-9875-425A-A580-5AA57828B5AA}"/>
            </c:ext>
          </c:extLst>
        </c:ser>
        <c:dLbls>
          <c:showLegendKey val="0"/>
          <c:showVal val="0"/>
          <c:showCatName val="0"/>
          <c:showSerName val="0"/>
          <c:showPercent val="0"/>
          <c:showBubbleSize val="0"/>
        </c:dLbls>
        <c:smooth val="0"/>
        <c:axId val="1877360016"/>
        <c:axId val="1877363488"/>
      </c:lineChart>
      <c:catAx>
        <c:axId val="1877360016"/>
        <c:scaling>
          <c:orientation val="minMax"/>
        </c:scaling>
        <c:delete val="0"/>
        <c:axPos val="b"/>
        <c:numFmt formatCode="General" sourceLinked="1"/>
        <c:majorTickMark val="none"/>
        <c:minorTickMark val="none"/>
        <c:tickLblPos val="nextTo"/>
        <c:spPr>
          <a:noFill/>
          <a:ln w="19050" cap="flat" cmpd="sng" algn="ctr">
            <a:solidFill>
              <a:schemeClr val="tx1">
                <a:lumMod val="95000"/>
                <a:lumOff val="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1877363488"/>
        <c:crosses val="autoZero"/>
        <c:auto val="1"/>
        <c:lblAlgn val="ctr"/>
        <c:lblOffset val="100"/>
        <c:noMultiLvlLbl val="0"/>
      </c:catAx>
      <c:valAx>
        <c:axId val="1877363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1877360016"/>
        <c:crosses val="autoZero"/>
        <c:crossBetween val="between"/>
        <c:majorUnit val="40"/>
      </c:valAx>
      <c:spPr>
        <a:noFill/>
        <a:ln w="19050">
          <a:solidFill>
            <a:schemeClr val="tx1"/>
          </a:solid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legend>
    <c:plotVisOnly val="1"/>
    <c:dispBlanksAs val="gap"/>
    <c:showDLblsOverMax val="0"/>
  </c:chart>
  <c:spPr>
    <a:noFill/>
    <a:ln w="19050">
      <a:solidFill>
        <a:schemeClr val="tx1"/>
      </a:solidFill>
    </a:ln>
    <a:effectLst/>
  </c:spPr>
  <c:txPr>
    <a:bodyPr/>
    <a:lstStyle/>
    <a:p>
      <a:pPr>
        <a:defRPr>
          <a:solidFill>
            <a:schemeClr val="tx1"/>
          </a:solidFill>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solidFill>
                  <a:schemeClr val="tx1"/>
                </a:solidFill>
                <a:latin typeface="Avenir Next LT Pro" panose="020B0504020202020204" pitchFamily="34" charset="0"/>
              </a:rPr>
              <a:t>EPS</a:t>
            </a:r>
            <a:r>
              <a:rPr lang="en-US" baseline="0">
                <a:solidFill>
                  <a:schemeClr val="tx1"/>
                </a:solidFill>
                <a:latin typeface="Avenir Next LT Pro" panose="020B0504020202020204" pitchFamily="34" charset="0"/>
              </a:rPr>
              <a:t> Can Reach New Heights Despite Lower Earnings</a:t>
            </a:r>
            <a:endParaRPr lang="en-US">
              <a:solidFill>
                <a:schemeClr val="tx1"/>
              </a:solidFill>
              <a:latin typeface="Avenir Next LT Pro" panose="020B0504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Sheet1!$A$2</c:f>
              <c:strCache>
                <c:ptCount val="1"/>
                <c:pt idx="0">
                  <c:v>Income</c:v>
                </c:pt>
              </c:strCache>
            </c:strRef>
          </c:tx>
          <c:spPr>
            <a:solidFill>
              <a:schemeClr val="accent2">
                <a:lumMod val="75000"/>
              </a:schemeClr>
            </a:solidFill>
            <a:ln>
              <a:noFill/>
            </a:ln>
            <a:effectLst/>
          </c:spPr>
          <c:invertIfNegative val="0"/>
          <c:cat>
            <c:numRef>
              <c:f>Sheet1!$B$1:$L$1</c:f>
              <c:numCache>
                <c:formatCode>General</c:formatCode>
                <c:ptCount val="11"/>
                <c:pt idx="0">
                  <c:v>2021</c:v>
                </c:pt>
                <c:pt idx="1">
                  <c:v>2022</c:v>
                </c:pt>
                <c:pt idx="2">
                  <c:v>2023</c:v>
                </c:pt>
                <c:pt idx="3">
                  <c:v>2024</c:v>
                </c:pt>
                <c:pt idx="4">
                  <c:v>2025</c:v>
                </c:pt>
                <c:pt idx="5">
                  <c:v>2026</c:v>
                </c:pt>
                <c:pt idx="6">
                  <c:v>2027</c:v>
                </c:pt>
                <c:pt idx="7">
                  <c:v>2028</c:v>
                </c:pt>
                <c:pt idx="8">
                  <c:v>2029</c:v>
                </c:pt>
                <c:pt idx="9">
                  <c:v>2030</c:v>
                </c:pt>
                <c:pt idx="10">
                  <c:v>2031</c:v>
                </c:pt>
              </c:numCache>
            </c:numRef>
          </c:cat>
          <c:val>
            <c:numRef>
              <c:f>Sheet1!$B$2:$L$2</c:f>
              <c:numCache>
                <c:formatCode>_(* #,##0_);_(* \(#,##0\);_(* "-"??_);_(@_)</c:formatCode>
                <c:ptCount val="11"/>
                <c:pt idx="0">
                  <c:v>676.49639999999999</c:v>
                </c:pt>
                <c:pt idx="1">
                  <c:v>739.0988000000001</c:v>
                </c:pt>
                <c:pt idx="2">
                  <c:v>584.08919999999989</c:v>
                </c:pt>
                <c:pt idx="3">
                  <c:v>309.48860000000002</c:v>
                </c:pt>
                <c:pt idx="4">
                  <c:v>103.2019127233491</c:v>
                </c:pt>
                <c:pt idx="5">
                  <c:v>13.318932350925985</c:v>
                </c:pt>
                <c:pt idx="6">
                  <c:v>176.56861966165047</c:v>
                </c:pt>
                <c:pt idx="7">
                  <c:v>328.59186336851297</c:v>
                </c:pt>
                <c:pt idx="8">
                  <c:v>460.50646454621562</c:v>
                </c:pt>
                <c:pt idx="9">
                  <c:v>615.80745295010661</c:v>
                </c:pt>
                <c:pt idx="10">
                  <c:v>678.75362964257852</c:v>
                </c:pt>
              </c:numCache>
            </c:numRef>
          </c:val>
          <c:extLst>
            <c:ext xmlns:c16="http://schemas.microsoft.com/office/drawing/2014/chart" uri="{C3380CC4-5D6E-409C-BE32-E72D297353CC}">
              <c16:uniqueId val="{00000000-C3F4-4046-A02D-9C196EC1CEAC}"/>
            </c:ext>
          </c:extLst>
        </c:ser>
        <c:dLbls>
          <c:showLegendKey val="0"/>
          <c:showVal val="0"/>
          <c:showCatName val="0"/>
          <c:showSerName val="0"/>
          <c:showPercent val="0"/>
          <c:showBubbleSize val="0"/>
        </c:dLbls>
        <c:gapWidth val="219"/>
        <c:overlap val="-27"/>
        <c:axId val="302752447"/>
        <c:axId val="302744767"/>
      </c:barChart>
      <c:lineChart>
        <c:grouping val="standard"/>
        <c:varyColors val="0"/>
        <c:ser>
          <c:idx val="1"/>
          <c:order val="1"/>
          <c:tx>
            <c:strRef>
              <c:f>Sheet1!$A$3</c:f>
              <c:strCache>
                <c:ptCount val="1"/>
                <c:pt idx="0">
                  <c:v>EPS Fully Diluted</c:v>
                </c:pt>
              </c:strCache>
            </c:strRef>
          </c:tx>
          <c:spPr>
            <a:ln w="28575" cap="rnd">
              <a:solidFill>
                <a:schemeClr val="tx1">
                  <a:lumMod val="95000"/>
                  <a:lumOff val="5000"/>
                </a:schemeClr>
              </a:solidFill>
              <a:round/>
            </a:ln>
            <a:effectLst/>
          </c:spPr>
          <c:marker>
            <c:symbol val="none"/>
          </c:marker>
          <c:cat>
            <c:numRef>
              <c:f>Sheet1!$B$1:$L$1</c:f>
              <c:numCache>
                <c:formatCode>General</c:formatCode>
                <c:ptCount val="11"/>
                <c:pt idx="0">
                  <c:v>2021</c:v>
                </c:pt>
                <c:pt idx="1">
                  <c:v>2022</c:v>
                </c:pt>
                <c:pt idx="2">
                  <c:v>2023</c:v>
                </c:pt>
                <c:pt idx="3">
                  <c:v>2024</c:v>
                </c:pt>
                <c:pt idx="4">
                  <c:v>2025</c:v>
                </c:pt>
                <c:pt idx="5">
                  <c:v>2026</c:v>
                </c:pt>
                <c:pt idx="6">
                  <c:v>2027</c:v>
                </c:pt>
                <c:pt idx="7">
                  <c:v>2028</c:v>
                </c:pt>
                <c:pt idx="8">
                  <c:v>2029</c:v>
                </c:pt>
                <c:pt idx="9">
                  <c:v>2030</c:v>
                </c:pt>
                <c:pt idx="10">
                  <c:v>2031</c:v>
                </c:pt>
              </c:numCache>
            </c:numRef>
          </c:cat>
          <c:val>
            <c:numRef>
              <c:f>Sheet1!$B$3:$L$3</c:f>
              <c:numCache>
                <c:formatCode>"$"#,##0.00_);\("$"#,##0.00\)</c:formatCode>
                <c:ptCount val="11"/>
                <c:pt idx="0">
                  <c:v>4.1942444186346632</c:v>
                </c:pt>
                <c:pt idx="1">
                  <c:v>4.9482160787201295</c:v>
                </c:pt>
                <c:pt idx="2">
                  <c:v>4.7901171605789115</c:v>
                </c:pt>
                <c:pt idx="3">
                  <c:v>3.3651447577292317</c:v>
                </c:pt>
                <c:pt idx="4">
                  <c:v>0.32051273364669097</c:v>
                </c:pt>
                <c:pt idx="5">
                  <c:v>0.10371512777826908</c:v>
                </c:pt>
                <c:pt idx="6">
                  <c:v>1.8368404432055163</c:v>
                </c:pt>
                <c:pt idx="7">
                  <c:v>3.6157354417517347</c:v>
                </c:pt>
                <c:pt idx="8">
                  <c:v>5.379354164770386</c:v>
                </c:pt>
                <c:pt idx="9">
                  <c:v>7.362783588706602</c:v>
                </c:pt>
                <c:pt idx="10">
                  <c:v>8.2849762823664292</c:v>
                </c:pt>
              </c:numCache>
            </c:numRef>
          </c:val>
          <c:smooth val="0"/>
          <c:extLst>
            <c:ext xmlns:c16="http://schemas.microsoft.com/office/drawing/2014/chart" uri="{C3380CC4-5D6E-409C-BE32-E72D297353CC}">
              <c16:uniqueId val="{00000001-C3F4-4046-A02D-9C196EC1CEAC}"/>
            </c:ext>
          </c:extLst>
        </c:ser>
        <c:dLbls>
          <c:showLegendKey val="0"/>
          <c:showVal val="0"/>
          <c:showCatName val="0"/>
          <c:showSerName val="0"/>
          <c:showPercent val="0"/>
          <c:showBubbleSize val="0"/>
        </c:dLbls>
        <c:marker val="1"/>
        <c:smooth val="0"/>
        <c:axId val="302752927"/>
        <c:axId val="302744287"/>
      </c:lineChart>
      <c:catAx>
        <c:axId val="302752447"/>
        <c:scaling>
          <c:orientation val="minMax"/>
        </c:scaling>
        <c:delete val="0"/>
        <c:axPos val="b"/>
        <c:numFmt formatCode="General" sourceLinked="1"/>
        <c:majorTickMark val="none"/>
        <c:minorTickMark val="none"/>
        <c:tickLblPos val="nextTo"/>
        <c:spPr>
          <a:noFill/>
          <a:ln w="19050"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302744767"/>
        <c:crosses val="autoZero"/>
        <c:auto val="1"/>
        <c:lblAlgn val="ctr"/>
        <c:lblOffset val="100"/>
        <c:noMultiLvlLbl val="0"/>
      </c:catAx>
      <c:valAx>
        <c:axId val="302744767"/>
        <c:scaling>
          <c:orientation val="minMax"/>
          <c:max val="900"/>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302752447"/>
        <c:crosses val="autoZero"/>
        <c:crossBetween val="between"/>
      </c:valAx>
      <c:valAx>
        <c:axId val="302744287"/>
        <c:scaling>
          <c:orientation val="minMax"/>
        </c:scaling>
        <c:delete val="0"/>
        <c:axPos val="r"/>
        <c:numFmt formatCode="&quot;$&quot;#,##0_);\(&quot;$&quot;#,##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302752927"/>
        <c:crosses val="max"/>
        <c:crossBetween val="between"/>
      </c:valAx>
      <c:catAx>
        <c:axId val="302752927"/>
        <c:scaling>
          <c:orientation val="minMax"/>
        </c:scaling>
        <c:delete val="1"/>
        <c:axPos val="b"/>
        <c:numFmt formatCode="General" sourceLinked="1"/>
        <c:majorTickMark val="out"/>
        <c:minorTickMark val="none"/>
        <c:tickLblPos val="nextTo"/>
        <c:crossAx val="302744287"/>
        <c:crosses val="autoZero"/>
        <c:auto val="1"/>
        <c:lblAlgn val="ctr"/>
        <c:lblOffset val="100"/>
        <c:noMultiLvlLbl val="0"/>
      </c:catAx>
      <c:spPr>
        <a:noFill/>
        <a:ln w="19050">
          <a:solidFill>
            <a:schemeClr val="tx1"/>
          </a:solid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9050">
      <a:solidFill>
        <a:schemeClr val="tx1">
          <a:lumMod val="95000"/>
          <a:lumOff val="5000"/>
        </a:schemeClr>
      </a:solid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Sheet1!$N$91</c:f>
              <c:strCache>
                <c:ptCount val="1"/>
                <c:pt idx="0">
                  <c:v>Sales Revenue</c:v>
                </c:pt>
              </c:strCache>
            </c:strRef>
          </c:tx>
          <c:spPr>
            <a:solidFill>
              <a:schemeClr val="accent2">
                <a:lumMod val="75000"/>
              </a:schemeClr>
            </a:solidFill>
            <a:ln>
              <a:solidFill>
                <a:schemeClr val="accent2">
                  <a:lumMod val="75000"/>
                </a:schemeClr>
              </a:solidFill>
            </a:ln>
            <a:effectLst/>
          </c:spPr>
          <c:invertIfNegative val="0"/>
          <c:cat>
            <c:strRef>
              <c:f>Sheet1!$O$90:$U$90</c:f>
              <c:strCache>
                <c:ptCount val="7"/>
                <c:pt idx="0">
                  <c:v>2024</c:v>
                </c:pt>
                <c:pt idx="1">
                  <c:v>2025</c:v>
                </c:pt>
                <c:pt idx="2">
                  <c:v>2026E</c:v>
                </c:pt>
                <c:pt idx="3">
                  <c:v>2027E</c:v>
                </c:pt>
                <c:pt idx="4">
                  <c:v>2028E</c:v>
                </c:pt>
                <c:pt idx="5">
                  <c:v>2029E</c:v>
                </c:pt>
                <c:pt idx="6">
                  <c:v>2030E</c:v>
                </c:pt>
              </c:strCache>
            </c:strRef>
          </c:cat>
          <c:val>
            <c:numRef>
              <c:f>Sheet1!$O$91:$U$91</c:f>
              <c:numCache>
                <c:formatCode>"$"#,##0_);\("$"#,##0\)</c:formatCode>
                <c:ptCount val="7"/>
                <c:pt idx="0">
                  <c:v>5186.8019999999997</c:v>
                </c:pt>
                <c:pt idx="1">
                  <c:v>4472.8292550607284</c:v>
                </c:pt>
                <c:pt idx="2">
                  <c:v>4696.4707178137651</c:v>
                </c:pt>
                <c:pt idx="3">
                  <c:v>5072.1883752388667</c:v>
                </c:pt>
                <c:pt idx="4">
                  <c:v>5579.4072127627542</c:v>
                </c:pt>
                <c:pt idx="5">
                  <c:v>6137.3479340390304</c:v>
                </c:pt>
                <c:pt idx="6">
                  <c:v>6751.0827274429339</c:v>
                </c:pt>
              </c:numCache>
            </c:numRef>
          </c:val>
          <c:extLst>
            <c:ext xmlns:c16="http://schemas.microsoft.com/office/drawing/2014/chart" uri="{C3380CC4-5D6E-409C-BE32-E72D297353CC}">
              <c16:uniqueId val="{00000000-558A-4497-AD13-70D10837C478}"/>
            </c:ext>
          </c:extLst>
        </c:ser>
        <c:dLbls>
          <c:showLegendKey val="0"/>
          <c:showVal val="0"/>
          <c:showCatName val="0"/>
          <c:showSerName val="0"/>
          <c:showPercent val="0"/>
          <c:showBubbleSize val="0"/>
        </c:dLbls>
        <c:gapWidth val="150"/>
        <c:axId val="151462303"/>
        <c:axId val="151473711"/>
      </c:barChart>
      <c:lineChart>
        <c:grouping val="standard"/>
        <c:varyColors val="0"/>
        <c:ser>
          <c:idx val="1"/>
          <c:order val="1"/>
          <c:tx>
            <c:strRef>
              <c:f>Sheet1!$N$92</c:f>
              <c:strCache>
                <c:ptCount val="1"/>
                <c:pt idx="0">
                  <c:v>EBIT Margin</c:v>
                </c:pt>
              </c:strCache>
            </c:strRef>
          </c:tx>
          <c:spPr>
            <a:ln w="28575" cap="rnd">
              <a:solidFill>
                <a:schemeClr val="tx1"/>
              </a:solidFill>
              <a:round/>
            </a:ln>
            <a:effectLst/>
          </c:spPr>
          <c:marker>
            <c:symbol val="none"/>
          </c:marker>
          <c:cat>
            <c:strRef>
              <c:f>Sheet1!$O$90:$U$90</c:f>
              <c:strCache>
                <c:ptCount val="7"/>
                <c:pt idx="0">
                  <c:v>2024</c:v>
                </c:pt>
                <c:pt idx="1">
                  <c:v>2025</c:v>
                </c:pt>
                <c:pt idx="2">
                  <c:v>2026E</c:v>
                </c:pt>
                <c:pt idx="3">
                  <c:v>2027E</c:v>
                </c:pt>
                <c:pt idx="4">
                  <c:v>2028E</c:v>
                </c:pt>
                <c:pt idx="5">
                  <c:v>2029E</c:v>
                </c:pt>
                <c:pt idx="6">
                  <c:v>2030E</c:v>
                </c:pt>
              </c:strCache>
            </c:strRef>
          </c:cat>
          <c:val>
            <c:numRef>
              <c:f>Sheet1!$O$92:$U$92</c:f>
              <c:numCache>
                <c:formatCode>General</c:formatCode>
                <c:ptCount val="7"/>
                <c:pt idx="0">
                  <c:v>8.0324446547217349E-2</c:v>
                </c:pt>
                <c:pt idx="1">
                  <c:v>3.56E-2</c:v>
                </c:pt>
                <c:pt idx="2">
                  <c:v>0.01</c:v>
                </c:pt>
                <c:pt idx="3">
                  <c:v>0.05</c:v>
                </c:pt>
                <c:pt idx="4">
                  <c:v>0.08</c:v>
                </c:pt>
                <c:pt idx="5">
                  <c:v>0.1</c:v>
                </c:pt>
                <c:pt idx="6">
                  <c:v>0.12</c:v>
                </c:pt>
              </c:numCache>
            </c:numRef>
          </c:val>
          <c:smooth val="0"/>
          <c:extLst>
            <c:ext xmlns:c16="http://schemas.microsoft.com/office/drawing/2014/chart" uri="{C3380CC4-5D6E-409C-BE32-E72D297353CC}">
              <c16:uniqueId val="{00000001-558A-4497-AD13-70D10837C478}"/>
            </c:ext>
          </c:extLst>
        </c:ser>
        <c:dLbls>
          <c:showLegendKey val="0"/>
          <c:showVal val="0"/>
          <c:showCatName val="0"/>
          <c:showSerName val="0"/>
          <c:showPercent val="0"/>
          <c:showBubbleSize val="0"/>
        </c:dLbls>
        <c:marker val="1"/>
        <c:smooth val="0"/>
        <c:axId val="1345533999"/>
        <c:axId val="1345533503"/>
      </c:lineChart>
      <c:catAx>
        <c:axId val="151462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51473711"/>
        <c:crosses val="autoZero"/>
        <c:auto val="1"/>
        <c:lblAlgn val="ctr"/>
        <c:lblOffset val="100"/>
        <c:noMultiLvlLbl val="0"/>
      </c:catAx>
      <c:valAx>
        <c:axId val="151473711"/>
        <c:scaling>
          <c:orientation val="minMax"/>
          <c:max val="7000"/>
        </c:scaling>
        <c:delete val="0"/>
        <c:axPos val="l"/>
        <c:majorGridlines>
          <c:spPr>
            <a:ln w="9525" cap="flat" cmpd="sng" algn="ctr">
              <a:solidFill>
                <a:schemeClr val="tx1">
                  <a:lumMod val="15000"/>
                  <a:lumOff val="85000"/>
                </a:schemeClr>
              </a:solidFill>
              <a:round/>
            </a:ln>
            <a:effectLst/>
          </c:spPr>
        </c:majorGridlines>
        <c:numFmt formatCode="&quot;$&quot;#,##0_);\(&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51462303"/>
        <c:crosses val="autoZero"/>
        <c:crossBetween val="between"/>
      </c:valAx>
      <c:valAx>
        <c:axId val="1345533503"/>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45533999"/>
        <c:crosses val="max"/>
        <c:crossBetween val="between"/>
      </c:valAx>
      <c:catAx>
        <c:axId val="1345533999"/>
        <c:scaling>
          <c:orientation val="minMax"/>
        </c:scaling>
        <c:delete val="1"/>
        <c:axPos val="b"/>
        <c:numFmt formatCode="General" sourceLinked="1"/>
        <c:majorTickMark val="out"/>
        <c:minorTickMark val="none"/>
        <c:tickLblPos val="nextTo"/>
        <c:crossAx val="134553350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95000"/>
                    <a:lumOff val="5000"/>
                  </a:schemeClr>
                </a:solidFill>
                <a:latin typeface="Avenir Next LT Pro" panose="020B0504020202020204" pitchFamily="34" charset="0"/>
                <a:ea typeface="+mn-ea"/>
                <a:cs typeface="+mn-cs"/>
              </a:defRPr>
            </a:pPr>
            <a:r>
              <a:rPr lang="en-US" baseline="0">
                <a:solidFill>
                  <a:schemeClr val="tx1">
                    <a:lumMod val="95000"/>
                    <a:lumOff val="5000"/>
                  </a:schemeClr>
                </a:solidFill>
                <a:latin typeface="Avenir Next LT Pro" panose="020B0504020202020204" pitchFamily="34" charset="0"/>
              </a:rPr>
              <a:t>Scenario Analysis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95000"/>
                  <a:lumOff val="5000"/>
                </a:schemeClr>
              </a:solidFill>
              <a:latin typeface="Avenir Next LT Pro" panose="020B0504020202020204" pitchFamily="34" charset="0"/>
              <a:ea typeface="+mn-ea"/>
              <a:cs typeface="+mn-cs"/>
            </a:defRPr>
          </a:pPr>
          <a:endParaRPr lang="en-US"/>
        </a:p>
      </c:txPr>
    </c:title>
    <c:autoTitleDeleted val="0"/>
    <c:plotArea>
      <c:layout/>
      <c:scatterChart>
        <c:scatterStyle val="lineMarker"/>
        <c:varyColors val="0"/>
        <c:ser>
          <c:idx val="0"/>
          <c:order val="0"/>
          <c:spPr>
            <a:ln w="28575" cap="rnd">
              <a:noFill/>
              <a:round/>
            </a:ln>
            <a:effectLst/>
          </c:spPr>
          <c:marker>
            <c:symbol val="circle"/>
            <c:size val="5"/>
            <c:spPr>
              <a:noFill/>
              <a:ln w="9525">
                <a:noFill/>
              </a:ln>
              <a:effectLst/>
            </c:spPr>
          </c:marker>
          <c:dLbls>
            <c:dLbl>
              <c:idx val="0"/>
              <c:layout>
                <c:manualLayout>
                  <c:x val="-2.7200152951969499E-17"/>
                  <c:y val="-0.16713770106698356"/>
                </c:manualLayout>
              </c:layout>
              <c:tx>
                <c:rich>
                  <a:bodyPr/>
                  <a:lstStyle/>
                  <a:p>
                    <a:r>
                      <a:rPr lang="en-US"/>
                      <a:t>$20.11</a:t>
                    </a:r>
                  </a:p>
                </c:rich>
              </c:tx>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06F-4EB4-B7C9-4C6A772843B8}"/>
                </c:ext>
              </c:extLst>
            </c:dLbl>
            <c:dLbl>
              <c:idx val="1"/>
              <c:layout>
                <c:manualLayout>
                  <c:x val="1.4836618456613063E-2"/>
                  <c:y val="-2.924909768672217E-2"/>
                </c:manualLayout>
              </c:layout>
              <c:tx>
                <c:rich>
                  <a:bodyPr rot="0" spcFirstLastPara="1" vertOverflow="clip" horzOverflow="clip"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r>
                      <a:rPr lang="en-US" baseline="0">
                        <a:solidFill>
                          <a:schemeClr val="tx1">
                            <a:lumMod val="95000"/>
                            <a:lumOff val="5000"/>
                          </a:schemeClr>
                        </a:solidFill>
                      </a:rPr>
                      <a:t>$29</a:t>
                    </a:r>
                  </a:p>
                </c:rich>
              </c:tx>
              <c:spPr>
                <a:solidFill>
                  <a:prstClr val="white"/>
                </a:solidFill>
                <a:ln w="9525" cap="flat" cmpd="sng" algn="ctr">
                  <a:solidFill>
                    <a:prstClr val="black">
                      <a:lumMod val="25000"/>
                      <a:lumOff val="75000"/>
                    </a:prst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gd name="adj1" fmla="val -85217"/>
                        <a:gd name="adj2" fmla="val 50925"/>
                      </a:avLst>
                    </a:prstGeom>
                    <a:noFill/>
                    <a:ln>
                      <a:noFill/>
                    </a:ln>
                  </c15:spPr>
                  <c15:showDataLabelsRange val="0"/>
                </c:ext>
                <c:ext xmlns:c16="http://schemas.microsoft.com/office/drawing/2014/chart" uri="{C3380CC4-5D6E-409C-BE32-E72D297353CC}">
                  <c16:uniqueId val="{00000004-C06F-4EB4-B7C9-4C6A772843B8}"/>
                </c:ext>
              </c:extLst>
            </c:dLbl>
            <c:dLbl>
              <c:idx val="2"/>
              <c:layout>
                <c:manualLayout>
                  <c:x val="1.1869294765290429E-2"/>
                  <c:y val="-4.1784425266745851E-3"/>
                </c:manualLayout>
              </c:layout>
              <c:tx>
                <c:rich>
                  <a:bodyPr/>
                  <a:lstStyle/>
                  <a:p>
                    <a:r>
                      <a:rPr lang="en-US"/>
                      <a:t>$68</a:t>
                    </a:r>
                  </a:p>
                </c:rich>
              </c:tx>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06F-4EB4-B7C9-4C6A772843B8}"/>
                </c:ext>
              </c:extLst>
            </c:dLbl>
            <c:dLbl>
              <c:idx val="3"/>
              <c:layout>
                <c:manualLayout>
                  <c:x val="1.4836618456613063E-2"/>
                  <c:y val="-4.5962867793420431E-2"/>
                </c:manualLayout>
              </c:layout>
              <c:tx>
                <c:rich>
                  <a:bodyPr/>
                  <a:lstStyle/>
                  <a:p>
                    <a:r>
                      <a:rPr lang="en-US"/>
                      <a:t>$82</a:t>
                    </a:r>
                  </a:p>
                </c:rich>
              </c:tx>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06F-4EB4-B7C9-4C6A772843B8}"/>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'Fin &amp; Val Info'!$V$504:$V$507</c:f>
              <c:numCache>
                <c:formatCode>General</c:formatCode>
                <c:ptCount val="4"/>
                <c:pt idx="0">
                  <c:v>1</c:v>
                </c:pt>
                <c:pt idx="1">
                  <c:v>2</c:v>
                </c:pt>
                <c:pt idx="2">
                  <c:v>2</c:v>
                </c:pt>
                <c:pt idx="3">
                  <c:v>2</c:v>
                </c:pt>
              </c:numCache>
            </c:numRef>
          </c:xVal>
          <c:yVal>
            <c:numRef>
              <c:f>'Fin &amp; Val Info'!$W$504:$W$507</c:f>
              <c:numCache>
                <c:formatCode>General</c:formatCode>
                <c:ptCount val="4"/>
                <c:pt idx="0">
                  <c:v>0</c:v>
                </c:pt>
                <c:pt idx="1">
                  <c:v>1.4475385380407757</c:v>
                </c:pt>
                <c:pt idx="2">
                  <c:v>3.3809050223769268</c:v>
                </c:pt>
                <c:pt idx="3">
                  <c:v>4.1014420686225765</c:v>
                </c:pt>
              </c:numCache>
            </c:numRef>
          </c:yVal>
          <c:smooth val="0"/>
          <c:extLst>
            <c:ext xmlns:c16="http://schemas.microsoft.com/office/drawing/2014/chart" uri="{C3380CC4-5D6E-409C-BE32-E72D297353CC}">
              <c16:uniqueId val="{00000000-C06F-4EB4-B7C9-4C6A772843B8}"/>
            </c:ext>
          </c:extLst>
        </c:ser>
        <c:dLbls>
          <c:showLegendKey val="0"/>
          <c:showVal val="0"/>
          <c:showCatName val="0"/>
          <c:showSerName val="0"/>
          <c:showPercent val="0"/>
          <c:showBubbleSize val="0"/>
        </c:dLbls>
        <c:axId val="177116800"/>
        <c:axId val="177119200"/>
      </c:scatterChart>
      <c:valAx>
        <c:axId val="177116800"/>
        <c:scaling>
          <c:orientation val="minMax"/>
          <c:max val="2.2000000000000002"/>
          <c:min val="1"/>
        </c:scaling>
        <c:delete val="1"/>
        <c:axPos val="b"/>
        <c:numFmt formatCode="General" sourceLinked="1"/>
        <c:majorTickMark val="out"/>
        <c:minorTickMark val="none"/>
        <c:tickLblPos val="nextTo"/>
        <c:crossAx val="177119200"/>
        <c:crosses val="autoZero"/>
        <c:crossBetween val="midCat"/>
      </c:valAx>
      <c:valAx>
        <c:axId val="1771192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000" b="0" i="0" u="none" strike="noStrike" kern="1200" baseline="0">
                    <a:solidFill>
                      <a:schemeClr val="tx1">
                        <a:lumMod val="95000"/>
                        <a:lumOff val="5000"/>
                      </a:schemeClr>
                    </a:solidFill>
                    <a:latin typeface="+mn-lt"/>
                    <a:ea typeface="+mn-ea"/>
                    <a:cs typeface="+mn-cs"/>
                  </a:defRPr>
                </a:pPr>
                <a:r>
                  <a:rPr lang="en-US" baseline="0">
                    <a:solidFill>
                      <a:schemeClr val="tx1">
                        <a:lumMod val="95000"/>
                        <a:lumOff val="5000"/>
                      </a:schemeClr>
                    </a:solidFill>
                  </a:rPr>
                  <a:t>%</a:t>
                </a:r>
                <a:r>
                  <a:rPr lang="el-GR" baseline="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Δ</a:t>
                </a:r>
                <a:endParaRPr lang="en-US" baseline="0">
                  <a:solidFill>
                    <a:schemeClr val="tx1">
                      <a:lumMod val="95000"/>
                      <a:lumOff val="5000"/>
                    </a:schemeClr>
                  </a:solidFill>
                </a:endParaRPr>
              </a:p>
            </c:rich>
          </c:tx>
          <c:overlay val="0"/>
          <c:spPr>
            <a:noFill/>
            <a:ln>
              <a:noFill/>
            </a:ln>
            <a:effectLst/>
          </c:spPr>
          <c:txPr>
            <a:bodyPr rot="0" spcFirstLastPara="1" vertOverflow="ellipsis" wrap="square" anchor="ctr" anchorCtr="1"/>
            <a:lstStyle/>
            <a:p>
              <a:pPr>
                <a:defRPr sz="1000" b="0" i="0" u="none" strike="noStrike" kern="1200" baseline="0">
                  <a:solidFill>
                    <a:schemeClr val="tx1">
                      <a:lumMod val="95000"/>
                      <a:lumOff val="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17711680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73168392780243E-2"/>
          <c:y val="0.16587446088136298"/>
          <c:w val="0.42621877520336837"/>
          <c:h val="0.71993838961281142"/>
        </c:manualLayout>
      </c:layout>
      <c:pieChart>
        <c:varyColors val="1"/>
        <c:ser>
          <c:idx val="0"/>
          <c:order val="0"/>
          <c:spPr>
            <a:solidFill>
              <a:schemeClr val="tx1"/>
            </a:solidFill>
          </c:spPr>
          <c:dPt>
            <c:idx val="0"/>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1-6DED-4F98-A06D-40645FDD633E}"/>
              </c:ext>
            </c:extLst>
          </c:dPt>
          <c:dPt>
            <c:idx val="1"/>
            <c:bubble3D val="0"/>
            <c:spPr>
              <a:solidFill>
                <a:schemeClr val="tx1"/>
              </a:solidFill>
              <a:ln w="19050">
                <a:solidFill>
                  <a:schemeClr val="lt1"/>
                </a:solidFill>
              </a:ln>
              <a:effectLst/>
            </c:spPr>
            <c:extLst>
              <c:ext xmlns:c16="http://schemas.microsoft.com/office/drawing/2014/chart" uri="{C3380CC4-5D6E-409C-BE32-E72D297353CC}">
                <c16:uniqueId val="{00000003-6DED-4F98-A06D-40645FDD633E}"/>
              </c:ext>
            </c:extLst>
          </c:dPt>
          <c:dLbls>
            <c:dLbl>
              <c:idx val="0"/>
              <c:layout>
                <c:manualLayout>
                  <c:x val="3.6127255626169405E-2"/>
                  <c:y val="-4.2289618398166931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DED-4F98-A06D-40645FDD633E}"/>
                </c:ext>
              </c:extLst>
            </c:dLbl>
            <c:dLbl>
              <c:idx val="1"/>
              <c:layout>
                <c:manualLayout>
                  <c:x val="-5.0036338848923702E-2"/>
                  <c:y val="0"/>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DED-4F98-A06D-40645FDD633E}"/>
                </c:ext>
              </c:extLst>
            </c:dLbl>
            <c:spPr>
              <a:noFill/>
              <a:ln>
                <a:noFill/>
              </a:ln>
              <a:effectLst/>
            </c:spPr>
            <c:txPr>
              <a:bodyPr rot="0" spcFirstLastPara="1" vertOverflow="ellipsis" vert="horz" wrap="square" anchor="ctr" anchorCtr="1"/>
              <a:lstStyle/>
              <a:p>
                <a:pPr>
                  <a:defRPr lang="en-US" sz="1800" b="0" i="0" u="none" strike="noStrike" kern="1200" baseline="0">
                    <a:solidFill>
                      <a:schemeClr val="tx1"/>
                    </a:solidFill>
                    <a:latin typeface="Calibri" panose="020F0502020204030204" pitchFamily="34" charset="0"/>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solidFill>
                  <a:round/>
                </a:ln>
                <a:effectLst/>
              </c:spPr>
            </c:leaderLines>
            <c:extLst>
              <c:ext xmlns:c15="http://schemas.microsoft.com/office/drawing/2012/chart" uri="{CE6537A1-D6FC-4f65-9D91-7224C49458BB}"/>
            </c:extLst>
          </c:dLbls>
          <c:cat>
            <c:strRef>
              <c:f>Sheet1!$L$5:$L$6</c:f>
              <c:strCache>
                <c:ptCount val="2"/>
                <c:pt idx="0">
                  <c:v>Independent Directors</c:v>
                </c:pt>
                <c:pt idx="1">
                  <c:v>Non-Independent Directors</c:v>
                </c:pt>
              </c:strCache>
            </c:strRef>
          </c:cat>
          <c:val>
            <c:numRef>
              <c:f>Sheet1!$M$5:$M$6</c:f>
              <c:numCache>
                <c:formatCode>General</c:formatCode>
                <c:ptCount val="2"/>
                <c:pt idx="0">
                  <c:v>0.75</c:v>
                </c:pt>
                <c:pt idx="1">
                  <c:v>0.25</c:v>
                </c:pt>
              </c:numCache>
            </c:numRef>
          </c:val>
          <c:extLst>
            <c:ext xmlns:c16="http://schemas.microsoft.com/office/drawing/2014/chart" uri="{C3380CC4-5D6E-409C-BE32-E72D297353CC}">
              <c16:uniqueId val="{00000004-6DED-4F98-A06D-40645FDD633E}"/>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5331395407417856"/>
          <c:y val="0.22975805380438222"/>
          <c:w val="0.45016955939090919"/>
          <c:h val="0.63915929866571264"/>
        </c:manualLayout>
      </c:layout>
      <c:overlay val="0"/>
      <c:spPr>
        <a:noFill/>
        <a:ln>
          <a:noFill/>
        </a:ln>
        <a:effectLst/>
      </c:spPr>
      <c:txPr>
        <a:bodyPr rot="0" spcFirstLastPara="1" vertOverflow="ellipsis" vert="horz" wrap="square" anchor="ctr" anchorCtr="1"/>
        <a:lstStyle/>
        <a:p>
          <a:pPr>
            <a:defRPr lang="en-US" sz="1800" b="0" i="0" u="none" strike="noStrike" kern="1200" baseline="0">
              <a:solidFill>
                <a:schemeClr val="tx1"/>
              </a:solidFill>
              <a:latin typeface="Calibri" panose="020F050202020403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solidFill>
      <a:round/>
    </a:ln>
    <a:effectLst/>
  </c:spPr>
  <c:txPr>
    <a:bodyPr/>
    <a:lstStyle/>
    <a:p>
      <a:pPr>
        <a:defRPr lang="en-US" sz="1050" b="0" i="0" u="none" strike="noStrike" kern="1200" baseline="0">
          <a:solidFill>
            <a:schemeClr val="tx1"/>
          </a:solidFill>
          <a:latin typeface="Calibri" panose="020F0502020204030204" pitchFamily="34" charset="0"/>
          <a:ea typeface="+mn-ea"/>
          <a:cs typeface="+mn-cs"/>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'age of rides'!$B$1</c:f>
              <c:strCache>
                <c:ptCount val="1"/>
                <c:pt idx="0">
                  <c:v>Percent of Riders</c:v>
                </c:pt>
              </c:strCache>
            </c:strRef>
          </c:tx>
          <c:spPr>
            <a:solidFill>
              <a:schemeClr val="accent2">
                <a:lumMod val="75000"/>
              </a:schemeClr>
            </a:solidFill>
            <a:ln>
              <a:solidFill>
                <a:schemeClr val="accent2">
                  <a:lumMod val="75000"/>
                </a:schemeClr>
              </a:solidFill>
            </a:ln>
            <a:effectLst/>
          </c:spPr>
          <c:invertIfNegative val="0"/>
          <c:dPt>
            <c:idx val="0"/>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1-04DF-44CC-BECE-82554141C375}"/>
              </c:ext>
            </c:extLst>
          </c:dPt>
          <c:dPt>
            <c:idx val="1"/>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3-04DF-44CC-BECE-82554141C375}"/>
              </c:ext>
            </c:extLst>
          </c:dPt>
          <c:dPt>
            <c:idx val="2"/>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5-04DF-44CC-BECE-82554141C375}"/>
              </c:ext>
            </c:extLst>
          </c:dPt>
          <c:dPt>
            <c:idx val="3"/>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7-04DF-44CC-BECE-82554141C375}"/>
              </c:ext>
            </c:extLst>
          </c:dPt>
          <c:dPt>
            <c:idx val="4"/>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9-04DF-44CC-BECE-82554141C375}"/>
              </c:ext>
            </c:extLst>
          </c:dPt>
          <c:cat>
            <c:strRef>
              <c:f>'age of rides'!$A$2:$A$6</c:f>
              <c:strCache>
                <c:ptCount val="5"/>
                <c:pt idx="0">
                  <c:v>18-29 years</c:v>
                </c:pt>
                <c:pt idx="1">
                  <c:v>30-39 years</c:v>
                </c:pt>
                <c:pt idx="2">
                  <c:v>40-49 years</c:v>
                </c:pt>
                <c:pt idx="3">
                  <c:v>50-59 years</c:v>
                </c:pt>
                <c:pt idx="4">
                  <c:v>60+ years</c:v>
                </c:pt>
              </c:strCache>
            </c:strRef>
          </c:cat>
          <c:val>
            <c:numRef>
              <c:f>'age of rides'!$B$2:$B$6</c:f>
              <c:numCache>
                <c:formatCode>0%</c:formatCode>
                <c:ptCount val="5"/>
                <c:pt idx="0">
                  <c:v>0.13</c:v>
                </c:pt>
                <c:pt idx="1">
                  <c:v>0.18</c:v>
                </c:pt>
                <c:pt idx="2">
                  <c:v>0.22</c:v>
                </c:pt>
                <c:pt idx="3">
                  <c:v>0.25</c:v>
                </c:pt>
                <c:pt idx="4">
                  <c:v>0.23</c:v>
                </c:pt>
              </c:numCache>
            </c:numRef>
          </c:val>
          <c:extLst>
            <c:ext xmlns:c16="http://schemas.microsoft.com/office/drawing/2014/chart" uri="{C3380CC4-5D6E-409C-BE32-E72D297353CC}">
              <c16:uniqueId val="{0000000A-04DF-44CC-BECE-82554141C375}"/>
            </c:ext>
          </c:extLst>
        </c:ser>
        <c:dLbls>
          <c:showLegendKey val="0"/>
          <c:showVal val="0"/>
          <c:showCatName val="0"/>
          <c:showSerName val="0"/>
          <c:showPercent val="0"/>
          <c:showBubbleSize val="0"/>
        </c:dLbls>
        <c:gapWidth val="150"/>
        <c:axId val="752470992"/>
        <c:axId val="752475792"/>
      </c:barChart>
      <c:catAx>
        <c:axId val="752470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752475792"/>
        <c:crosses val="autoZero"/>
        <c:auto val="1"/>
        <c:lblAlgn val="ctr"/>
        <c:lblOffset val="100"/>
        <c:noMultiLvlLbl val="0"/>
      </c:catAx>
      <c:valAx>
        <c:axId val="7524757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Avenir Next LT Pro" panose="020B0504020202020204" pitchFamily="34" charset="0"/>
                <a:ea typeface="+mn-ea"/>
                <a:cs typeface="+mn-cs"/>
              </a:defRPr>
            </a:pPr>
            <a:endParaRPr lang="en-US"/>
          </a:p>
        </c:txPr>
        <c:crossAx val="752470992"/>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lumMod val="95000"/>
              <a:lumOff val="5000"/>
            </a:schemeClr>
          </a:solidFill>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barChart>
        <c:barDir val="col"/>
        <c:grouping val="clustered"/>
        <c:varyColors val="0"/>
        <c:ser>
          <c:idx val="1"/>
          <c:order val="0"/>
          <c:spPr>
            <a:solidFill>
              <a:schemeClr val="accent2">
                <a:lumMod val="75000"/>
              </a:schemeClr>
            </a:solidFill>
            <a:ln>
              <a:solidFill>
                <a:srgbClr val="E97132">
                  <a:lumMod val="75000"/>
                </a:srgbClr>
              </a:solidFill>
            </a:ln>
            <a:effectLst/>
          </c:spPr>
          <c:invertIfNegative val="0"/>
          <c:cat>
            <c:strRef>
              <c:f>Sheet1!$C$13:$I$13</c:f>
              <c:strCache>
                <c:ptCount val="7"/>
                <c:pt idx="0">
                  <c:v>2024</c:v>
                </c:pt>
                <c:pt idx="1">
                  <c:v>2025</c:v>
                </c:pt>
                <c:pt idx="2">
                  <c:v>2026E</c:v>
                </c:pt>
                <c:pt idx="3">
                  <c:v>2027E</c:v>
                </c:pt>
                <c:pt idx="4">
                  <c:v>2028E</c:v>
                </c:pt>
                <c:pt idx="5">
                  <c:v>2029E</c:v>
                </c:pt>
                <c:pt idx="6">
                  <c:v>2030E</c:v>
                </c:pt>
              </c:strCache>
            </c:strRef>
          </c:cat>
          <c:val>
            <c:numRef>
              <c:f>Sheet1!$C$14:$I$14</c:f>
              <c:numCache>
                <c:formatCode>General</c:formatCode>
                <c:ptCount val="7"/>
                <c:pt idx="0">
                  <c:v>5187</c:v>
                </c:pt>
                <c:pt idx="1">
                  <c:v>4473</c:v>
                </c:pt>
                <c:pt idx="2">
                  <c:v>4383</c:v>
                </c:pt>
                <c:pt idx="3">
                  <c:v>4559</c:v>
                </c:pt>
                <c:pt idx="4">
                  <c:v>4741</c:v>
                </c:pt>
                <c:pt idx="5">
                  <c:v>4931</c:v>
                </c:pt>
                <c:pt idx="6">
                  <c:v>5128</c:v>
                </c:pt>
              </c:numCache>
            </c:numRef>
          </c:val>
          <c:extLst>
            <c:ext xmlns:c16="http://schemas.microsoft.com/office/drawing/2014/chart" uri="{C3380CC4-5D6E-409C-BE32-E72D297353CC}">
              <c16:uniqueId val="{00000000-0CDB-4CEE-A21F-EE2194D4649E}"/>
            </c:ext>
          </c:extLst>
        </c:ser>
        <c:dLbls>
          <c:showLegendKey val="0"/>
          <c:showVal val="0"/>
          <c:showCatName val="0"/>
          <c:showSerName val="0"/>
          <c:showPercent val="0"/>
          <c:showBubbleSize val="0"/>
        </c:dLbls>
        <c:gapWidth val="219"/>
        <c:overlap val="-27"/>
        <c:axId val="456916063"/>
        <c:axId val="456920863"/>
      </c:barChart>
      <c:catAx>
        <c:axId val="456916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56920863"/>
        <c:crosses val="autoZero"/>
        <c:auto val="1"/>
        <c:lblAlgn val="ctr"/>
        <c:lblOffset val="100"/>
        <c:noMultiLvlLbl val="0"/>
      </c:catAx>
      <c:valAx>
        <c:axId val="456920863"/>
        <c:scaling>
          <c:orientation val="minMax"/>
          <c:max val="8000"/>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56916063"/>
        <c:crosses val="autoZero"/>
        <c:crossBetween val="between"/>
      </c:valAx>
    </c:plotArea>
    <c:plotVisOnly val="1"/>
    <c:dispBlanksAs val="gap"/>
    <c:showDLblsOverMax val="0"/>
    <c:extLst/>
  </c:chart>
  <c:spPr>
    <a:solidFill>
      <a:schemeClr val="bg1"/>
    </a:solidFill>
    <a:ln w="9525" cap="flat" cmpd="sng" algn="ctr">
      <a:noFill/>
      <a:round/>
    </a:ln>
    <a:effectLst/>
  </c:spPr>
  <c:txPr>
    <a:bodyPr/>
    <a:lstStyle/>
    <a:p>
      <a:pPr>
        <a:defRPr/>
      </a:pPr>
      <a:endParaRPr lang="en-US"/>
    </a:p>
  </c:txPr>
  <c:externalData r:id="rId2">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barChart>
        <c:barDir val="col"/>
        <c:grouping val="clustered"/>
        <c:varyColors val="0"/>
        <c:ser>
          <c:idx val="1"/>
          <c:order val="0"/>
          <c:spPr>
            <a:solidFill>
              <a:schemeClr val="accent2">
                <a:lumMod val="75000"/>
              </a:schemeClr>
            </a:solidFill>
            <a:ln>
              <a:solidFill>
                <a:srgbClr val="E97132">
                  <a:lumMod val="75000"/>
                </a:srgbClr>
              </a:solidFill>
            </a:ln>
            <a:effectLst/>
          </c:spPr>
          <c:invertIfNegative val="0"/>
          <c:cat>
            <c:strRef>
              <c:f>Sheet1!$O$99:$U$99</c:f>
              <c:strCache>
                <c:ptCount val="7"/>
                <c:pt idx="0">
                  <c:v>2024</c:v>
                </c:pt>
                <c:pt idx="1">
                  <c:v>2025</c:v>
                </c:pt>
                <c:pt idx="2">
                  <c:v>2026E</c:v>
                </c:pt>
                <c:pt idx="3">
                  <c:v>2027E</c:v>
                </c:pt>
                <c:pt idx="4">
                  <c:v>2028E</c:v>
                </c:pt>
                <c:pt idx="5">
                  <c:v>2029E</c:v>
                </c:pt>
                <c:pt idx="6">
                  <c:v>2030E</c:v>
                </c:pt>
              </c:strCache>
            </c:strRef>
          </c:cat>
          <c:val>
            <c:numRef>
              <c:f>Sheet1!$O$100:$U$100</c:f>
              <c:numCache>
                <c:formatCode>"$"#,##0_);\("$"#,##0\)</c:formatCode>
                <c:ptCount val="7"/>
                <c:pt idx="0">
                  <c:v>5186.8019999999997</c:v>
                </c:pt>
                <c:pt idx="1">
                  <c:v>4472.8292550607284</c:v>
                </c:pt>
                <c:pt idx="2">
                  <c:v>4920.1121805668017</c:v>
                </c:pt>
                <c:pt idx="3">
                  <c:v>5510.5256422348184</c:v>
                </c:pt>
                <c:pt idx="4">
                  <c:v>6061.5782064583009</c:v>
                </c:pt>
                <c:pt idx="5">
                  <c:v>6667.7360271041316</c:v>
                </c:pt>
                <c:pt idx="6">
                  <c:v>7334.5096298145454</c:v>
                </c:pt>
              </c:numCache>
            </c:numRef>
          </c:val>
          <c:extLst>
            <c:ext xmlns:c16="http://schemas.microsoft.com/office/drawing/2014/chart" uri="{C3380CC4-5D6E-409C-BE32-E72D297353CC}">
              <c16:uniqueId val="{00000000-09E4-4DBD-BF55-F98BECCA45F6}"/>
            </c:ext>
          </c:extLst>
        </c:ser>
        <c:dLbls>
          <c:showLegendKey val="0"/>
          <c:showVal val="0"/>
          <c:showCatName val="0"/>
          <c:showSerName val="0"/>
          <c:showPercent val="0"/>
          <c:showBubbleSize val="0"/>
        </c:dLbls>
        <c:gapWidth val="219"/>
        <c:overlap val="-27"/>
        <c:axId val="456916063"/>
        <c:axId val="456920863"/>
      </c:barChart>
      <c:catAx>
        <c:axId val="456916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56920863"/>
        <c:crosses val="autoZero"/>
        <c:auto val="1"/>
        <c:lblAlgn val="ctr"/>
        <c:lblOffset val="100"/>
        <c:noMultiLvlLbl val="0"/>
      </c:catAx>
      <c:valAx>
        <c:axId val="456920863"/>
        <c:scaling>
          <c:orientation val="minMax"/>
          <c:max val="8000"/>
        </c:scaling>
        <c:delete val="0"/>
        <c:axPos val="l"/>
        <c:majorGridlines>
          <c:spPr>
            <a:ln w="9525" cap="flat" cmpd="sng" algn="ctr">
              <a:solidFill>
                <a:schemeClr val="tx1">
                  <a:lumMod val="15000"/>
                  <a:lumOff val="85000"/>
                </a:schemeClr>
              </a:solidFill>
              <a:round/>
            </a:ln>
            <a:effectLst/>
          </c:spPr>
        </c:majorGridlines>
        <c:numFmt formatCode="&quot;$&quot;#,##0_);\(&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56916063"/>
        <c:crosses val="autoZero"/>
        <c:crossBetween val="between"/>
      </c:valAx>
      <c:spPr>
        <a:noFill/>
        <a:ln>
          <a:noFill/>
        </a:ln>
        <a:effectLst/>
      </c:spPr>
    </c:plotArea>
    <c:plotVisOnly val="1"/>
    <c:dispBlanksAs val="gap"/>
    <c:showDLblsOverMax val="0"/>
    <c:extLst/>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9433696884453792"/>
          <c:y val="0.17724053896332548"/>
          <c:w val="0.4318579099144978"/>
          <c:h val="0.66123755118610672"/>
        </c:manualLayout>
      </c:layout>
      <c:radarChart>
        <c:radarStyle val="marker"/>
        <c:varyColors val="0"/>
        <c:ser>
          <c:idx val="0"/>
          <c:order val="0"/>
          <c:spPr>
            <a:ln w="28575" cap="rnd">
              <a:solidFill>
                <a:schemeClr val="accent2">
                  <a:lumMod val="75000"/>
                </a:schemeClr>
              </a:solidFill>
              <a:round/>
            </a:ln>
            <a:effectLst/>
          </c:spPr>
          <c:marker>
            <c:symbol val="none"/>
          </c:marker>
          <c:cat>
            <c:strRef>
              <c:f>Sheet5!$B$9:$B$13</c:f>
              <c:strCache>
                <c:ptCount val="5"/>
                <c:pt idx="0">
                  <c:v>Threat of New Entrants</c:v>
                </c:pt>
                <c:pt idx="1">
                  <c:v>Rivalry Among Existing Competitors</c:v>
                </c:pt>
                <c:pt idx="2">
                  <c:v>Bargaining Power of Suppliers</c:v>
                </c:pt>
                <c:pt idx="3">
                  <c:v>Bargaining Power of Buyers</c:v>
                </c:pt>
                <c:pt idx="4">
                  <c:v>Threat of Substitutes</c:v>
                </c:pt>
              </c:strCache>
            </c:strRef>
          </c:cat>
          <c:val>
            <c:numRef>
              <c:f>Sheet5!$C$9:$C$13</c:f>
              <c:numCache>
                <c:formatCode>General</c:formatCode>
                <c:ptCount val="5"/>
                <c:pt idx="0">
                  <c:v>2</c:v>
                </c:pt>
                <c:pt idx="1">
                  <c:v>5</c:v>
                </c:pt>
                <c:pt idx="2">
                  <c:v>3</c:v>
                </c:pt>
                <c:pt idx="3">
                  <c:v>4</c:v>
                </c:pt>
                <c:pt idx="4">
                  <c:v>4</c:v>
                </c:pt>
              </c:numCache>
            </c:numRef>
          </c:val>
          <c:extLst>
            <c:ext xmlns:c16="http://schemas.microsoft.com/office/drawing/2014/chart" uri="{C3380CC4-5D6E-409C-BE32-E72D297353CC}">
              <c16:uniqueId val="{00000000-A831-4786-92DF-44163470915E}"/>
            </c:ext>
          </c:extLst>
        </c:ser>
        <c:dLbls>
          <c:showLegendKey val="0"/>
          <c:showVal val="0"/>
          <c:showCatName val="0"/>
          <c:showSerName val="0"/>
          <c:showPercent val="0"/>
          <c:showBubbleSize val="0"/>
        </c:dLbls>
        <c:axId val="682508688"/>
        <c:axId val="682509648"/>
      </c:radarChart>
      <c:catAx>
        <c:axId val="682508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95000"/>
                    <a:lumOff val="5000"/>
                  </a:schemeClr>
                </a:solidFill>
                <a:latin typeface="+mj-lt"/>
                <a:ea typeface="+mn-ea"/>
                <a:cs typeface="+mn-cs"/>
              </a:defRPr>
            </a:pPr>
            <a:endParaRPr lang="en-US"/>
          </a:p>
        </c:txPr>
        <c:crossAx val="682509648"/>
        <c:crosses val="autoZero"/>
        <c:auto val="1"/>
        <c:lblAlgn val="ctr"/>
        <c:lblOffset val="100"/>
        <c:noMultiLvlLbl val="0"/>
      </c:catAx>
      <c:valAx>
        <c:axId val="68250964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6825086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5">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venir Next LT Pro" panose="020B05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venir Next LT Pro" panose="020B0504020202020204" pitchFamily="34" charset="0"/>
              </a:defRPr>
            </a:lvl1pPr>
          </a:lstStyle>
          <a:p>
            <a:fld id="{5C105D4F-6A78-4C30-92F1-8F40C7603288}" type="datetimeFigureOut">
              <a:rPr lang="en-US" smtClean="0"/>
              <a:pPr/>
              <a:t>2/22/2026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venir Next LT Pro" panose="020B05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venir Next LT Pro" panose="020B0504020202020204" pitchFamily="34" charset="0"/>
              </a:defRPr>
            </a:lvl1pPr>
          </a:lstStyle>
          <a:p>
            <a:fld id="{E2201BE1-8360-468C-B1D0-B0FC697C0187}" type="slidenum">
              <a:rPr lang="en-US" smtClean="0"/>
              <a:pPr/>
              <a:t>‹#›</a:t>
            </a:fld>
            <a:endParaRPr lang="en-US"/>
          </a:p>
        </p:txBody>
      </p:sp>
    </p:spTree>
    <p:extLst>
      <p:ext uri="{BB962C8B-B14F-4D97-AF65-F5344CB8AC3E}">
        <p14:creationId xmlns:p14="http://schemas.microsoft.com/office/powerpoint/2010/main" val="3147199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venir Next LT Pro" panose="020B0504020202020204"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Range of target price like 60-65</a:t>
            </a:r>
          </a:p>
        </p:txBody>
      </p:sp>
      <p:sp>
        <p:nvSpPr>
          <p:cNvPr id="4" name="Slide Number Placeholder 3"/>
          <p:cNvSpPr>
            <a:spLocks noGrp="1"/>
          </p:cNvSpPr>
          <p:nvPr>
            <p:ph type="sldNum" sz="quarter" idx="5"/>
          </p:nvPr>
        </p:nvSpPr>
        <p:spPr/>
        <p:txBody>
          <a:bodyPr/>
          <a:lstStyle/>
          <a:p>
            <a:fld id="{E2201BE1-8360-468C-B1D0-B0FC697C0187}" type="slidenum">
              <a:rPr lang="en-US" smtClean="0"/>
              <a:pPr/>
              <a:t>1</a:t>
            </a:fld>
            <a:endParaRPr lang="en-US"/>
          </a:p>
        </p:txBody>
      </p:sp>
    </p:spTree>
    <p:extLst>
      <p:ext uri="{BB962C8B-B14F-4D97-AF65-F5344CB8AC3E}">
        <p14:creationId xmlns:p14="http://schemas.microsoft.com/office/powerpoint/2010/main" val="2355190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believe that Harley is a BUY given its strategic outlook and newfound financial flexibility. Through its financial flexibility Harley has shifted it’s focus to targeting the younger riders addressing their long -erm demographic issue in which riders are aging out of their riding years. Through the HDFS deal, HDMC is sitting on 300 million which allows for the strategic shift and aggressive investment in the small displacement Sprint.</a:t>
            </a:r>
          </a:p>
          <a:p>
            <a:endParaRPr lang="en-US" dirty="0"/>
          </a:p>
          <a:p>
            <a:endParaRPr lang="en-US" dirty="0"/>
          </a:p>
          <a:p>
            <a:endParaRPr lang="en-US" dirty="0"/>
          </a:p>
          <a:p>
            <a:r>
              <a:rPr lang="en-US" dirty="0"/>
              <a:t>Trading at a __ p/e. </a:t>
            </a:r>
          </a:p>
          <a:p>
            <a:r>
              <a:rPr lang="en-US" dirty="0"/>
              <a:t>Valuation does not reflect this.</a:t>
            </a:r>
          </a:p>
          <a:p>
            <a:r>
              <a:rPr lang="en-US" dirty="0"/>
              <a:t>Valuation has not priced it in</a:t>
            </a:r>
          </a:p>
          <a:p>
            <a:endParaRPr lang="en-US" dirty="0"/>
          </a:p>
          <a:p>
            <a:r>
              <a:rPr lang="en-US" dirty="0"/>
              <a:t>Summarize thesis by: addressing long term</a:t>
            </a:r>
          </a:p>
          <a:p>
            <a:r>
              <a:rPr lang="en-US" dirty="0"/>
              <a:t>How do you get from 3.44 to 5.74 –&gt; share buy backs</a:t>
            </a:r>
          </a:p>
          <a:p>
            <a:endParaRPr lang="en-US" dirty="0"/>
          </a:p>
          <a:p>
            <a:r>
              <a:rPr lang="en-US" dirty="0"/>
              <a:t>2033 – 4.74 earnings and 5.7 b sales </a:t>
            </a:r>
          </a:p>
          <a:p>
            <a:r>
              <a:rPr lang="en-US" dirty="0"/>
              <a:t>Went down to .36 earning and sales of 4</a:t>
            </a:r>
          </a:p>
          <a:p>
            <a:endParaRPr lang="en-US" dirty="0"/>
          </a:p>
          <a:p>
            <a:r>
              <a:rPr lang="en-US" dirty="0"/>
              <a:t>So how did we get to 5.74 in 2027?    Margins are going from 12% to 9% and shares 30%</a:t>
            </a:r>
          </a:p>
          <a:p>
            <a:r>
              <a:rPr lang="en-US" dirty="0"/>
              <a:t>P/E of 10 assuming same p/e as in 2023 which is conservative</a:t>
            </a:r>
          </a:p>
          <a:p>
            <a:endParaRPr lang="en-US" dirty="0"/>
          </a:p>
          <a:p>
            <a:r>
              <a:rPr lang="en-US" dirty="0"/>
              <a:t>Debt to asset </a:t>
            </a:r>
          </a:p>
        </p:txBody>
      </p:sp>
      <p:sp>
        <p:nvSpPr>
          <p:cNvPr id="4" name="Slide Number Placeholder 3"/>
          <p:cNvSpPr>
            <a:spLocks noGrp="1"/>
          </p:cNvSpPr>
          <p:nvPr>
            <p:ph type="sldNum" sz="quarter" idx="5"/>
          </p:nvPr>
        </p:nvSpPr>
        <p:spPr/>
        <p:txBody>
          <a:bodyPr/>
          <a:lstStyle/>
          <a:p>
            <a:fld id="{E2201BE1-8360-468C-B1D0-B0FC697C0187}" type="slidenum">
              <a:rPr lang="en-US" smtClean="0"/>
              <a:pPr/>
              <a:t>2</a:t>
            </a:fld>
            <a:endParaRPr lang="en-US"/>
          </a:p>
        </p:txBody>
      </p:sp>
    </p:spTree>
    <p:extLst>
      <p:ext uri="{BB962C8B-B14F-4D97-AF65-F5344CB8AC3E}">
        <p14:creationId xmlns:p14="http://schemas.microsoft.com/office/powerpoint/2010/main" val="3695021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201BE1-8360-468C-B1D0-B0FC697C0187}" type="slidenum">
              <a:rPr lang="en-US" smtClean="0"/>
              <a:t>5</a:t>
            </a:fld>
            <a:endParaRPr lang="en-US"/>
          </a:p>
        </p:txBody>
      </p:sp>
    </p:spTree>
    <p:extLst>
      <p:ext uri="{BB962C8B-B14F-4D97-AF65-F5344CB8AC3E}">
        <p14:creationId xmlns:p14="http://schemas.microsoft.com/office/powerpoint/2010/main" val="1865258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25% market share </a:t>
            </a:r>
            <a:r>
              <a:rPr lang="en-US" dirty="0">
                <a:sym typeface="Wingdings" panose="05000000000000000000" pitchFamily="2" charset="2"/>
              </a:rPr>
              <a:t> prove this change visuals</a:t>
            </a:r>
          </a:p>
          <a:p>
            <a:r>
              <a:rPr lang="en-US" dirty="0">
                <a:sym typeface="Wingdings" panose="05000000000000000000" pitchFamily="2" charset="2"/>
              </a:rPr>
              <a:t>Say: why have they been underperforming </a:t>
            </a:r>
            <a:r>
              <a:rPr lang="en-US" dirty="0" err="1">
                <a:sym typeface="Wingdings" panose="05000000000000000000" pitchFamily="2" charset="2"/>
              </a:rPr>
              <a:t>bc</a:t>
            </a:r>
            <a:r>
              <a:rPr lang="en-US" dirty="0">
                <a:sym typeface="Wingdings" panose="05000000000000000000" pitchFamily="2" charset="2"/>
              </a:rPr>
              <a:t> we are dominant in the heavyweight cruisers which targets older demographic and not in the younger demographic</a:t>
            </a:r>
            <a:endParaRPr lang="en-US" dirty="0"/>
          </a:p>
        </p:txBody>
      </p:sp>
      <p:sp>
        <p:nvSpPr>
          <p:cNvPr id="4" name="Slide Number Placeholder 3"/>
          <p:cNvSpPr>
            <a:spLocks noGrp="1"/>
          </p:cNvSpPr>
          <p:nvPr>
            <p:ph type="sldNum" sz="quarter" idx="5"/>
          </p:nvPr>
        </p:nvSpPr>
        <p:spPr/>
        <p:txBody>
          <a:bodyPr/>
          <a:lstStyle/>
          <a:p>
            <a:fld id="{E2201BE1-8360-468C-B1D0-B0FC697C0187}" type="slidenum">
              <a:rPr lang="en-US" smtClean="0"/>
              <a:t>6</a:t>
            </a:fld>
            <a:endParaRPr lang="en-US"/>
          </a:p>
        </p:txBody>
      </p:sp>
    </p:spTree>
    <p:extLst>
      <p:ext uri="{BB962C8B-B14F-4D97-AF65-F5344CB8AC3E}">
        <p14:creationId xmlns:p14="http://schemas.microsoft.com/office/powerpoint/2010/main" val="2585821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Smaller displacement bikes are almost none existent in US so this sprint bike will penetrate the market</a:t>
            </a:r>
          </a:p>
          <a:p>
            <a:r>
              <a:rPr lang="en-US" b="1" dirty="0"/>
              <a:t>Blast </a:t>
            </a:r>
          </a:p>
          <a:p>
            <a:endParaRPr lang="en-US" b="1" dirty="0"/>
          </a:p>
          <a:p>
            <a:r>
              <a:rPr lang="en-US" b="1" dirty="0"/>
              <a:t>Why didn’t they do this before because they didn’t have the financial flexibility they have due to the financial service deal we brought in new management</a:t>
            </a:r>
          </a:p>
          <a:p>
            <a:r>
              <a:rPr lang="en-US" b="1" dirty="0"/>
              <a:t>People running the operations part lasted only less than a year</a:t>
            </a:r>
          </a:p>
          <a:p>
            <a:endParaRPr lang="en-US" b="1" dirty="0"/>
          </a:p>
          <a:p>
            <a:r>
              <a:rPr lang="en-US" b="1" dirty="0"/>
              <a:t>We  had 4 new people come in </a:t>
            </a:r>
          </a:p>
        </p:txBody>
      </p:sp>
      <p:sp>
        <p:nvSpPr>
          <p:cNvPr id="4" name="Slide Number Placeholder 3"/>
          <p:cNvSpPr>
            <a:spLocks noGrp="1"/>
          </p:cNvSpPr>
          <p:nvPr>
            <p:ph type="sldNum" sz="quarter" idx="5"/>
          </p:nvPr>
        </p:nvSpPr>
        <p:spPr/>
        <p:txBody>
          <a:bodyPr/>
          <a:lstStyle/>
          <a:p>
            <a:fld id="{E2201BE1-8360-468C-B1D0-B0FC697C0187}" type="slidenum">
              <a:rPr lang="en-US" smtClean="0"/>
              <a:t>8</a:t>
            </a:fld>
            <a:endParaRPr lang="en-US"/>
          </a:p>
        </p:txBody>
      </p:sp>
    </p:spTree>
    <p:extLst>
      <p:ext uri="{BB962C8B-B14F-4D97-AF65-F5344CB8AC3E}">
        <p14:creationId xmlns:p14="http://schemas.microsoft.com/office/powerpoint/2010/main" val="2355295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things 500 M is what percent of the stock </a:t>
            </a:r>
            <a:r>
              <a:rPr lang="en-US" dirty="0">
                <a:sym typeface="Wingdings" panose="05000000000000000000" pitchFamily="2" charset="2"/>
              </a:rPr>
              <a:t></a:t>
            </a:r>
            <a:r>
              <a:rPr lang="en-US" dirty="0"/>
              <a:t> 1/5</a:t>
            </a:r>
            <a:r>
              <a:rPr lang="en-US" baseline="30000" dirty="0"/>
              <a:t>th</a:t>
            </a:r>
            <a:endParaRPr lang="en-US" dirty="0"/>
          </a:p>
          <a:p>
            <a:r>
              <a:rPr lang="en-US" dirty="0"/>
              <a:t>Transition to fund sprint launch</a:t>
            </a:r>
          </a:p>
          <a:p>
            <a:r>
              <a:rPr lang="en-US" dirty="0"/>
              <a:t>What percent of the debt are they paying off?</a:t>
            </a:r>
          </a:p>
          <a:p>
            <a:r>
              <a:rPr lang="en-US" dirty="0"/>
              <a:t>How does this change or debt to cap ratio?  --- goes from x to x --- quantify the impact of this</a:t>
            </a:r>
          </a:p>
          <a:p>
            <a:endParaRPr lang="en-US" dirty="0"/>
          </a:p>
        </p:txBody>
      </p:sp>
      <p:sp>
        <p:nvSpPr>
          <p:cNvPr id="4" name="Slide Number Placeholder 3"/>
          <p:cNvSpPr>
            <a:spLocks noGrp="1"/>
          </p:cNvSpPr>
          <p:nvPr>
            <p:ph type="sldNum" sz="quarter" idx="5"/>
          </p:nvPr>
        </p:nvSpPr>
        <p:spPr/>
        <p:txBody>
          <a:bodyPr/>
          <a:lstStyle/>
          <a:p>
            <a:fld id="{E2201BE1-8360-468C-B1D0-B0FC697C0187}" type="slidenum">
              <a:rPr lang="en-US" smtClean="0"/>
              <a:pPr/>
              <a:t>9</a:t>
            </a:fld>
            <a:endParaRPr lang="en-US"/>
          </a:p>
        </p:txBody>
      </p:sp>
    </p:spTree>
    <p:extLst>
      <p:ext uri="{BB962C8B-B14F-4D97-AF65-F5344CB8AC3E}">
        <p14:creationId xmlns:p14="http://schemas.microsoft.com/office/powerpoint/2010/main" val="854914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loss of earnings from this sell?</a:t>
            </a:r>
          </a:p>
          <a:p>
            <a:r>
              <a:rPr lang="en-US" dirty="0"/>
              <a:t>Sold 2/3 of the business loss of 1/3 of profits and buying back  around 20% of shares and picking up servicing fee so its slightly dilutive. We are using the money to reduce financial risk and invest in the future </a:t>
            </a:r>
          </a:p>
          <a:p>
            <a:r>
              <a:rPr lang="en-US" dirty="0"/>
              <a:t>Quantify this</a:t>
            </a:r>
          </a:p>
          <a:p>
            <a:endParaRPr lang="en-US" dirty="0"/>
          </a:p>
          <a:p>
            <a:endParaRPr lang="en-US" dirty="0"/>
          </a:p>
        </p:txBody>
      </p:sp>
      <p:sp>
        <p:nvSpPr>
          <p:cNvPr id="4" name="Slide Number Placeholder 3"/>
          <p:cNvSpPr>
            <a:spLocks noGrp="1"/>
          </p:cNvSpPr>
          <p:nvPr>
            <p:ph type="sldNum" sz="quarter" idx="5"/>
          </p:nvPr>
        </p:nvSpPr>
        <p:spPr/>
        <p:txBody>
          <a:bodyPr/>
          <a:lstStyle/>
          <a:p>
            <a:fld id="{E2201BE1-8360-468C-B1D0-B0FC697C0187}" type="slidenum">
              <a:rPr lang="en-US" smtClean="0"/>
              <a:t>11</a:t>
            </a:fld>
            <a:endParaRPr lang="en-US"/>
          </a:p>
        </p:txBody>
      </p:sp>
    </p:spTree>
    <p:extLst>
      <p:ext uri="{BB962C8B-B14F-4D97-AF65-F5344CB8AC3E}">
        <p14:creationId xmlns:p14="http://schemas.microsoft.com/office/powerpoint/2010/main" val="2796459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Du Pont ROE</a:t>
            </a:r>
          </a:p>
          <a:p>
            <a:r>
              <a:rPr lang="en-US" dirty="0"/>
              <a:t>How do you go from </a:t>
            </a:r>
          </a:p>
        </p:txBody>
      </p:sp>
      <p:sp>
        <p:nvSpPr>
          <p:cNvPr id="4" name="Slide Number Placeholder 3"/>
          <p:cNvSpPr>
            <a:spLocks noGrp="1"/>
          </p:cNvSpPr>
          <p:nvPr>
            <p:ph type="sldNum" sz="quarter" idx="5"/>
          </p:nvPr>
        </p:nvSpPr>
        <p:spPr/>
        <p:txBody>
          <a:bodyPr/>
          <a:lstStyle/>
          <a:p>
            <a:fld id="{E2201BE1-8360-468C-B1D0-B0FC697C0187}" type="slidenum">
              <a:rPr lang="en-US" smtClean="0"/>
              <a:pPr/>
              <a:t>12</a:t>
            </a:fld>
            <a:endParaRPr lang="en-US"/>
          </a:p>
        </p:txBody>
      </p:sp>
    </p:spTree>
    <p:extLst>
      <p:ext uri="{BB962C8B-B14F-4D97-AF65-F5344CB8AC3E}">
        <p14:creationId xmlns:p14="http://schemas.microsoft.com/office/powerpoint/2010/main" val="1877632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DBE36-7CD7-8B5F-5D54-1183F9ED4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1EDB0-FE65-020E-1106-C3336BF38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40B42-96DE-D2AB-A115-BF145EE96CE8}"/>
              </a:ext>
            </a:extLst>
          </p:cNvPr>
          <p:cNvSpPr>
            <a:spLocks noGrp="1"/>
          </p:cNvSpPr>
          <p:nvPr>
            <p:ph type="body" idx="1"/>
          </p:nvPr>
        </p:nvSpPr>
        <p:spPr/>
        <p:txBody>
          <a:bodyPr/>
          <a:lstStyle/>
          <a:p>
            <a:r>
              <a:rPr lang="en-US" dirty="0"/>
              <a:t>Quantify all of this to eps --- slides</a:t>
            </a:r>
          </a:p>
          <a:p>
            <a:endParaRPr lang="en-US" dirty="0"/>
          </a:p>
        </p:txBody>
      </p:sp>
      <p:sp>
        <p:nvSpPr>
          <p:cNvPr id="4" name="Slide Number Placeholder 3">
            <a:extLst>
              <a:ext uri="{FF2B5EF4-FFF2-40B4-BE49-F238E27FC236}">
                <a16:creationId xmlns:a16="http://schemas.microsoft.com/office/drawing/2014/main" id="{9A04BEEE-C8D8-5BE1-1F8E-F3650A8C4E96}"/>
              </a:ext>
            </a:extLst>
          </p:cNvPr>
          <p:cNvSpPr>
            <a:spLocks noGrp="1"/>
          </p:cNvSpPr>
          <p:nvPr>
            <p:ph type="sldNum" sz="quarter" idx="5"/>
          </p:nvPr>
        </p:nvSpPr>
        <p:spPr/>
        <p:txBody>
          <a:bodyPr/>
          <a:lstStyle/>
          <a:p>
            <a:fld id="{E2201BE1-8360-468C-B1D0-B0FC697C0187}" type="slidenum">
              <a:rPr lang="en-US" smtClean="0"/>
              <a:t>13</a:t>
            </a:fld>
            <a:endParaRPr lang="en-US"/>
          </a:p>
        </p:txBody>
      </p:sp>
    </p:spTree>
    <p:extLst>
      <p:ext uri="{BB962C8B-B14F-4D97-AF65-F5344CB8AC3E}">
        <p14:creationId xmlns:p14="http://schemas.microsoft.com/office/powerpoint/2010/main" val="707251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Fewer words</a:t>
            </a:r>
          </a:p>
          <a:p>
            <a:endParaRPr lang="en-US"/>
          </a:p>
        </p:txBody>
      </p:sp>
      <p:sp>
        <p:nvSpPr>
          <p:cNvPr id="4" name="Slide Number Placeholder 3"/>
          <p:cNvSpPr>
            <a:spLocks noGrp="1"/>
          </p:cNvSpPr>
          <p:nvPr>
            <p:ph type="sldNum" sz="quarter" idx="5"/>
          </p:nvPr>
        </p:nvSpPr>
        <p:spPr/>
        <p:txBody>
          <a:bodyPr/>
          <a:lstStyle/>
          <a:p>
            <a:fld id="{E2201BE1-8360-468C-B1D0-B0FC697C0187}" type="slidenum">
              <a:rPr lang="en-US" smtClean="0"/>
              <a:pPr/>
              <a:t>14</a:t>
            </a:fld>
            <a:endParaRPr lang="en-US"/>
          </a:p>
        </p:txBody>
      </p:sp>
    </p:spTree>
    <p:extLst>
      <p:ext uri="{BB962C8B-B14F-4D97-AF65-F5344CB8AC3E}">
        <p14:creationId xmlns:p14="http://schemas.microsoft.com/office/powerpoint/2010/main" val="4164396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did we come up with 10. Conservative P/E compared to our comps.</a:t>
            </a:r>
          </a:p>
          <a:p>
            <a:r>
              <a:rPr lang="en-US"/>
              <a:t>Few years ago trading at a 10 P/E</a:t>
            </a:r>
          </a:p>
          <a:p>
            <a:r>
              <a:rPr lang="en-US"/>
              <a:t>Conservative p/e </a:t>
            </a:r>
            <a:r>
              <a:rPr lang="en-US" err="1"/>
              <a:t>bc</a:t>
            </a:r>
            <a:r>
              <a:rPr lang="en-US"/>
              <a:t> comps are way higher and market is slow to price this in, still accounting for full credit for earnings recovery </a:t>
            </a:r>
          </a:p>
        </p:txBody>
      </p:sp>
      <p:sp>
        <p:nvSpPr>
          <p:cNvPr id="4" name="Slide Number Placeholder 3"/>
          <p:cNvSpPr>
            <a:spLocks noGrp="1"/>
          </p:cNvSpPr>
          <p:nvPr>
            <p:ph type="sldNum" sz="quarter" idx="5"/>
          </p:nvPr>
        </p:nvSpPr>
        <p:spPr/>
        <p:txBody>
          <a:bodyPr/>
          <a:lstStyle/>
          <a:p>
            <a:fld id="{E2201BE1-8360-468C-B1D0-B0FC697C0187}" type="slidenum">
              <a:rPr lang="en-US" smtClean="0"/>
              <a:pPr/>
              <a:t>16</a:t>
            </a:fld>
            <a:endParaRPr lang="en-US"/>
          </a:p>
        </p:txBody>
      </p:sp>
    </p:spTree>
    <p:extLst>
      <p:ext uri="{BB962C8B-B14F-4D97-AF65-F5344CB8AC3E}">
        <p14:creationId xmlns:p14="http://schemas.microsoft.com/office/powerpoint/2010/main" val="4251137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Bull case 10-12 growth rate 10 in 2026 and 12 and 2027 Bear has a growth of -2 in 2026 and 4 in 2027</a:t>
            </a:r>
          </a:p>
        </p:txBody>
      </p:sp>
      <p:sp>
        <p:nvSpPr>
          <p:cNvPr id="4" name="Slide Number Placeholder 3"/>
          <p:cNvSpPr>
            <a:spLocks noGrp="1"/>
          </p:cNvSpPr>
          <p:nvPr>
            <p:ph type="sldNum" sz="quarter" idx="5"/>
          </p:nvPr>
        </p:nvSpPr>
        <p:spPr/>
        <p:txBody>
          <a:bodyPr/>
          <a:lstStyle/>
          <a:p>
            <a:fld id="{E2201BE1-8360-468C-B1D0-B0FC697C0187}" type="slidenum">
              <a:rPr lang="en-US" smtClean="0"/>
              <a:t>17</a:t>
            </a:fld>
            <a:endParaRPr lang="en-US"/>
          </a:p>
        </p:txBody>
      </p:sp>
    </p:spTree>
    <p:extLst>
      <p:ext uri="{BB962C8B-B14F-4D97-AF65-F5344CB8AC3E}">
        <p14:creationId xmlns:p14="http://schemas.microsoft.com/office/powerpoint/2010/main" val="4133366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75% of the board is independent and CEO is not the share person</a:t>
            </a:r>
          </a:p>
          <a:p>
            <a:r>
              <a:rPr lang="en-US"/>
              <a:t>Most operation managers don’t last longer than a year</a:t>
            </a:r>
          </a:p>
          <a:p>
            <a:endParaRPr lang="en-US"/>
          </a:p>
          <a:p>
            <a:r>
              <a:rPr lang="en-US"/>
              <a:t>Change </a:t>
            </a:r>
            <a:r>
              <a:rPr lang="en-US" err="1"/>
              <a:t>low,medium</a:t>
            </a:r>
            <a:r>
              <a:rPr lang="en-US"/>
              <a:t>, high</a:t>
            </a:r>
          </a:p>
          <a:p>
            <a:endParaRPr lang="en-US"/>
          </a:p>
          <a:p>
            <a:r>
              <a:rPr lang="en-US"/>
              <a:t>Small cc for environmental</a:t>
            </a:r>
          </a:p>
          <a:p>
            <a:r>
              <a:rPr lang="en-US"/>
              <a:t>Social: diversity? How many women? </a:t>
            </a:r>
          </a:p>
          <a:p>
            <a:endParaRPr lang="en-US"/>
          </a:p>
          <a:p>
            <a:endParaRPr lang="en-US"/>
          </a:p>
          <a:p>
            <a:endParaRPr lang="en-US"/>
          </a:p>
        </p:txBody>
      </p:sp>
      <p:sp>
        <p:nvSpPr>
          <p:cNvPr id="4" name="Slide Number Placeholder 3"/>
          <p:cNvSpPr>
            <a:spLocks noGrp="1"/>
          </p:cNvSpPr>
          <p:nvPr>
            <p:ph type="sldNum" sz="quarter" idx="5"/>
          </p:nvPr>
        </p:nvSpPr>
        <p:spPr/>
        <p:txBody>
          <a:bodyPr/>
          <a:lstStyle/>
          <a:p>
            <a:fld id="{E2201BE1-8360-468C-B1D0-B0FC697C0187}" type="slidenum">
              <a:rPr lang="en-US" smtClean="0"/>
              <a:pPr/>
              <a:t>19</a:t>
            </a:fld>
            <a:endParaRPr lang="en-US"/>
          </a:p>
        </p:txBody>
      </p:sp>
    </p:spTree>
    <p:extLst>
      <p:ext uri="{BB962C8B-B14F-4D97-AF65-F5344CB8AC3E}">
        <p14:creationId xmlns:p14="http://schemas.microsoft.com/office/powerpoint/2010/main" val="1846325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CEO is not chairman</a:t>
            </a:r>
          </a:p>
          <a:p>
            <a:r>
              <a:rPr lang="en-US"/>
              <a:t>Managers/leadership don’t last less than a year</a:t>
            </a:r>
          </a:p>
          <a:p>
            <a:endParaRPr lang="en-US"/>
          </a:p>
        </p:txBody>
      </p:sp>
      <p:sp>
        <p:nvSpPr>
          <p:cNvPr id="4" name="Slide Number Placeholder 3"/>
          <p:cNvSpPr>
            <a:spLocks noGrp="1"/>
          </p:cNvSpPr>
          <p:nvPr>
            <p:ph type="sldNum" sz="quarter" idx="5"/>
          </p:nvPr>
        </p:nvSpPr>
        <p:spPr/>
        <p:txBody>
          <a:bodyPr/>
          <a:lstStyle/>
          <a:p>
            <a:fld id="{E2201BE1-8360-468C-B1D0-B0FC697C0187}" type="slidenum">
              <a:rPr lang="en-US" smtClean="0"/>
              <a:pPr/>
              <a:t>20</a:t>
            </a:fld>
            <a:endParaRPr lang="en-US"/>
          </a:p>
        </p:txBody>
      </p:sp>
    </p:spTree>
    <p:extLst>
      <p:ext uri="{BB962C8B-B14F-4D97-AF65-F5344CB8AC3E}">
        <p14:creationId xmlns:p14="http://schemas.microsoft.com/office/powerpoint/2010/main" val="1194444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2201BE1-8360-468C-B1D0-B0FC697C0187}" type="slidenum">
              <a:rPr lang="en-US" smtClean="0"/>
              <a:t>22</a:t>
            </a:fld>
            <a:endParaRPr lang="en-US"/>
          </a:p>
        </p:txBody>
      </p:sp>
    </p:spTree>
    <p:extLst>
      <p:ext uri="{BB962C8B-B14F-4D97-AF65-F5344CB8AC3E}">
        <p14:creationId xmlns:p14="http://schemas.microsoft.com/office/powerpoint/2010/main" val="4036641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worked with an n house AI model that scrapes data from the internet that is reliable, recent, and applicable like the SEC Edgar and investor relations and weights it by relevancy to answer the questions posed ,which in this case further supports the success of the Sprint Bike mitigating Harleys demographic issue. If investor sentiment across the web agreed with our thesis. </a:t>
            </a:r>
          </a:p>
          <a:p>
            <a:endParaRPr lang="en-US"/>
          </a:p>
          <a:p>
            <a:r>
              <a:rPr lang="en-US"/>
              <a:t>If it agrees or disagree with our thesis which as we see it does. </a:t>
            </a:r>
          </a:p>
          <a:p>
            <a:endParaRPr lang="en-US"/>
          </a:p>
          <a:p>
            <a:endParaRPr lang="en-US"/>
          </a:p>
        </p:txBody>
      </p:sp>
      <p:sp>
        <p:nvSpPr>
          <p:cNvPr id="4" name="Slide Number Placeholder 3"/>
          <p:cNvSpPr>
            <a:spLocks noGrp="1"/>
          </p:cNvSpPr>
          <p:nvPr>
            <p:ph type="sldNum" sz="quarter" idx="5"/>
          </p:nvPr>
        </p:nvSpPr>
        <p:spPr/>
        <p:txBody>
          <a:bodyPr/>
          <a:lstStyle/>
          <a:p>
            <a:fld id="{E2201BE1-8360-468C-B1D0-B0FC697C0187}" type="slidenum">
              <a:rPr lang="en-US" smtClean="0"/>
              <a:pPr/>
              <a:t>23</a:t>
            </a:fld>
            <a:endParaRPr lang="en-US"/>
          </a:p>
        </p:txBody>
      </p:sp>
    </p:spTree>
    <p:extLst>
      <p:ext uri="{BB962C8B-B14F-4D97-AF65-F5344CB8AC3E}">
        <p14:creationId xmlns:p14="http://schemas.microsoft.com/office/powerpoint/2010/main" val="4220077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Hyperlinks</a:t>
            </a:r>
          </a:p>
          <a:p>
            <a:r>
              <a:rPr lang="en-US"/>
              <a:t>Appendix on every other slide needs to be linked to the Appendix table of content</a:t>
            </a:r>
          </a:p>
          <a:p>
            <a:r>
              <a:rPr lang="en-US"/>
              <a:t>60 limit of hyperlink</a:t>
            </a:r>
          </a:p>
        </p:txBody>
      </p:sp>
      <p:sp>
        <p:nvSpPr>
          <p:cNvPr id="4" name="Slide Number Placeholder 3"/>
          <p:cNvSpPr>
            <a:spLocks noGrp="1"/>
          </p:cNvSpPr>
          <p:nvPr>
            <p:ph type="sldNum" sz="quarter" idx="5"/>
          </p:nvPr>
        </p:nvSpPr>
        <p:spPr/>
        <p:txBody>
          <a:bodyPr/>
          <a:lstStyle/>
          <a:p>
            <a:fld id="{E2201BE1-8360-468C-B1D0-B0FC697C0187}" type="slidenum">
              <a:rPr lang="en-US" smtClean="0"/>
              <a:pPr/>
              <a:t>25</a:t>
            </a:fld>
            <a:endParaRPr lang="en-US"/>
          </a:p>
        </p:txBody>
      </p:sp>
    </p:spTree>
    <p:extLst>
      <p:ext uri="{BB962C8B-B14F-4D97-AF65-F5344CB8AC3E}">
        <p14:creationId xmlns:p14="http://schemas.microsoft.com/office/powerpoint/2010/main" val="3374551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Consumer free cash flow – bargaining power of buyers</a:t>
            </a:r>
          </a:p>
        </p:txBody>
      </p:sp>
      <p:sp>
        <p:nvSpPr>
          <p:cNvPr id="4" name="Slide Number Placeholder 3"/>
          <p:cNvSpPr>
            <a:spLocks noGrp="1"/>
          </p:cNvSpPr>
          <p:nvPr>
            <p:ph type="sldNum" sz="quarter" idx="5"/>
          </p:nvPr>
        </p:nvSpPr>
        <p:spPr/>
        <p:txBody>
          <a:bodyPr/>
          <a:lstStyle/>
          <a:p>
            <a:fld id="{E2201BE1-8360-468C-B1D0-B0FC697C0187}" type="slidenum">
              <a:rPr lang="en-US" smtClean="0"/>
              <a:t>35</a:t>
            </a:fld>
            <a:endParaRPr lang="en-US"/>
          </a:p>
        </p:txBody>
      </p:sp>
    </p:spTree>
    <p:extLst>
      <p:ext uri="{BB962C8B-B14F-4D97-AF65-F5344CB8AC3E}">
        <p14:creationId xmlns:p14="http://schemas.microsoft.com/office/powerpoint/2010/main" val="1912058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50E7D-1A51-A703-1725-8BB558D0E8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784B4B-FD21-CE55-9BD8-C3ADB6C40F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BDA88A-8E1E-27C3-847A-31191692BF17}"/>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5" name="Footer Placeholder 4">
            <a:extLst>
              <a:ext uri="{FF2B5EF4-FFF2-40B4-BE49-F238E27FC236}">
                <a16:creationId xmlns:a16="http://schemas.microsoft.com/office/drawing/2014/main" id="{2ABC9821-D614-AE19-5CCB-0F690FF65D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B6D53C-0BBB-9FBE-0A89-D9FC732F7DF4}"/>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42729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A3FD-533D-6B62-9E2D-DD1AC0AD18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F752E8-5778-9B13-1F8C-CD6387E263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678417-677A-261F-95B8-04D576E03A28}"/>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5" name="Footer Placeholder 4">
            <a:extLst>
              <a:ext uri="{FF2B5EF4-FFF2-40B4-BE49-F238E27FC236}">
                <a16:creationId xmlns:a16="http://schemas.microsoft.com/office/drawing/2014/main" id="{A0CDF110-763D-43F9-AED1-DC02CFF3E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4CE97-4DD3-3208-DD61-D9608C3AE0FB}"/>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539489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280CA-B329-C589-F6CB-1D2556318F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62F2ED-578D-C4F3-65DE-CAD161EFEC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AF0660-0144-A2A0-2BCC-140F74F1ED3B}"/>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5" name="Footer Placeholder 4">
            <a:extLst>
              <a:ext uri="{FF2B5EF4-FFF2-40B4-BE49-F238E27FC236}">
                <a16:creationId xmlns:a16="http://schemas.microsoft.com/office/drawing/2014/main" id="{4EE91EFC-0BAE-769F-BB8F-9B5689434B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DA689-B294-4CB7-B5A7-FE427513761F}"/>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1878016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56EC7-B7CB-517A-93C4-017535F9B1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896471-70D1-834D-3088-5AD52B62D6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906544-5BDF-53C5-4101-5CBF7279A4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9CFE0F-5579-50D5-25E5-E79A13BB6599}"/>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6" name="Footer Placeholder 5">
            <a:extLst>
              <a:ext uri="{FF2B5EF4-FFF2-40B4-BE49-F238E27FC236}">
                <a16:creationId xmlns:a16="http://schemas.microsoft.com/office/drawing/2014/main" id="{2EE949B7-F3B5-6C47-3380-A4A53A65D6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8CDB20-B2AA-765F-8CCF-AA4A6BD261BB}"/>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369913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88C9E-F8B0-CA93-BF71-32BB65B1AA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EC126F-FE7F-45AF-3B90-3E8C92C657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860B5A-7E43-E35C-2ABC-0F95565792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CB9875-A05E-F9D3-A306-602E364528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DC9895-0CC5-80BA-10CD-6E89041854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EC3911-CECB-20E4-2B79-49993406D84F}"/>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8" name="Footer Placeholder 7">
            <a:extLst>
              <a:ext uri="{FF2B5EF4-FFF2-40B4-BE49-F238E27FC236}">
                <a16:creationId xmlns:a16="http://schemas.microsoft.com/office/drawing/2014/main" id="{FD6DCBFF-4415-E434-5F91-4A7B6F681A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45A576-6B4F-98F9-E675-520125C62DB9}"/>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1868971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A0643-2FB4-F741-F92D-445C8D3683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13E510-378B-59DA-AC9F-36E208533756}"/>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4" name="Footer Placeholder 3">
            <a:extLst>
              <a:ext uri="{FF2B5EF4-FFF2-40B4-BE49-F238E27FC236}">
                <a16:creationId xmlns:a16="http://schemas.microsoft.com/office/drawing/2014/main" id="{AEDB6D0D-AB2B-A321-C820-47D76EF1F9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F38B8F-9CA7-E7A2-3C59-B37F851D360E}"/>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3752005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193A0A-40C8-805F-671D-4102A67C2C25}"/>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3" name="Footer Placeholder 2">
            <a:extLst>
              <a:ext uri="{FF2B5EF4-FFF2-40B4-BE49-F238E27FC236}">
                <a16:creationId xmlns:a16="http://schemas.microsoft.com/office/drawing/2014/main" id="{D32B6D33-1782-7415-9FEE-1D87D48368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8A3CF5-0DC2-6A97-5379-564D4F8FAB01}"/>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2727003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BE442-C652-42B2-8A3C-7555A9B7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15DA26-13A9-EEBC-A2FE-59D5725130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632827-2EC1-FA28-C98A-EE93F50E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A6E552-FF5F-FBD1-C08F-1041BEF42E13}"/>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6" name="Footer Placeholder 5">
            <a:extLst>
              <a:ext uri="{FF2B5EF4-FFF2-40B4-BE49-F238E27FC236}">
                <a16:creationId xmlns:a16="http://schemas.microsoft.com/office/drawing/2014/main" id="{48419E60-1260-28F0-EB10-1AF5E898CD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77CCEE-1CE0-FECA-6641-AF15249DAC8B}"/>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3346360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8AEEC-4C3B-B9A2-4B71-18C1865353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4E5123-1C8F-FC6F-22C0-144955C2C5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12102D-AFF1-6462-B196-337BB3812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2043E5-97D0-C235-2CE7-23B4DBFB06C8}"/>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6" name="Footer Placeholder 5">
            <a:extLst>
              <a:ext uri="{FF2B5EF4-FFF2-40B4-BE49-F238E27FC236}">
                <a16:creationId xmlns:a16="http://schemas.microsoft.com/office/drawing/2014/main" id="{6DAE135C-D7FA-3663-51CB-9DE54A9700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7450A1-B4D8-192A-CB72-2CA4ED2D430E}"/>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1383695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CDFC-91E7-05B1-8FC6-7BF010D989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63C6EC-63A5-A3D5-5458-496421C594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ADCE40-8B24-3AEE-94CA-D3E41C3AEE1A}"/>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5" name="Footer Placeholder 4">
            <a:extLst>
              <a:ext uri="{FF2B5EF4-FFF2-40B4-BE49-F238E27FC236}">
                <a16:creationId xmlns:a16="http://schemas.microsoft.com/office/drawing/2014/main" id="{D32058A3-12D0-FA89-2687-EDEE6DC6CE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15786B-2A38-6668-AC65-BB5E4F8B1510}"/>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483278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076922-856D-AA01-D97D-FAE66C08A0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A82F35-76AE-E44B-B3D5-0A75DEF54B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17F181-B4D1-B3F3-C52B-2E63AC620BAC}"/>
              </a:ext>
            </a:extLst>
          </p:cNvPr>
          <p:cNvSpPr>
            <a:spLocks noGrp="1"/>
          </p:cNvSpPr>
          <p:nvPr>
            <p:ph type="dt" sz="half" idx="10"/>
          </p:nvPr>
        </p:nvSpPr>
        <p:spPr/>
        <p:txBody>
          <a:bodyPr/>
          <a:lstStyle/>
          <a:p>
            <a:fld id="{D8AA8D74-1847-4285-810A-A46EF4514FA2}" type="datetimeFigureOut">
              <a:rPr lang="en-US" smtClean="0"/>
              <a:t>2/22/2026</a:t>
            </a:fld>
            <a:endParaRPr lang="en-US"/>
          </a:p>
        </p:txBody>
      </p:sp>
      <p:sp>
        <p:nvSpPr>
          <p:cNvPr id="5" name="Footer Placeholder 4">
            <a:extLst>
              <a:ext uri="{FF2B5EF4-FFF2-40B4-BE49-F238E27FC236}">
                <a16:creationId xmlns:a16="http://schemas.microsoft.com/office/drawing/2014/main" id="{2ED7FFC3-2731-BEE5-CB20-E0324F6D9D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8C6BC-DD78-7CE7-6446-766FF0BC25B7}"/>
              </a:ext>
            </a:extLst>
          </p:cNvPr>
          <p:cNvSpPr>
            <a:spLocks noGrp="1"/>
          </p:cNvSpPr>
          <p:nvPr>
            <p:ph type="sldNum" sz="quarter" idx="12"/>
          </p:nvPr>
        </p:nvSpPr>
        <p:spPr/>
        <p:txBody>
          <a:bodyPr/>
          <a:lstStyle/>
          <a:p>
            <a:fld id="{0A09EBDC-47ED-4CF3-ACE4-21702EB9F773}" type="slidenum">
              <a:rPr lang="en-US" smtClean="0"/>
              <a:t>‹#›</a:t>
            </a:fld>
            <a:endParaRPr lang="en-US"/>
          </a:p>
        </p:txBody>
      </p:sp>
    </p:spTree>
    <p:extLst>
      <p:ext uri="{BB962C8B-B14F-4D97-AF65-F5344CB8AC3E}">
        <p14:creationId xmlns:p14="http://schemas.microsoft.com/office/powerpoint/2010/main" val="1370519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91891F-7D6A-AAC0-E892-40850785DF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C97212-8CBE-C433-B676-5FC9B328E9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E1E7E0-98CE-F2B5-8B42-4F2A812F62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Avenir Next LT Pro" panose="020B0504020202020204" pitchFamily="34" charset="0"/>
              </a:defRPr>
            </a:lvl1pPr>
          </a:lstStyle>
          <a:p>
            <a:fld id="{D8AA8D74-1847-4285-810A-A46EF4514FA2}" type="datetimeFigureOut">
              <a:rPr lang="en-US" smtClean="0"/>
              <a:pPr/>
              <a:t>2/22/2026</a:t>
            </a:fld>
            <a:endParaRPr lang="en-US"/>
          </a:p>
        </p:txBody>
      </p:sp>
      <p:sp>
        <p:nvSpPr>
          <p:cNvPr id="5" name="Footer Placeholder 4">
            <a:extLst>
              <a:ext uri="{FF2B5EF4-FFF2-40B4-BE49-F238E27FC236}">
                <a16:creationId xmlns:a16="http://schemas.microsoft.com/office/drawing/2014/main" id="{4AC3C98B-8AC8-5134-063D-E7B310EC97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Avenir Next LT Pro" panose="020B0504020202020204" pitchFamily="34" charset="0"/>
              </a:defRPr>
            </a:lvl1pPr>
          </a:lstStyle>
          <a:p>
            <a:endParaRPr lang="en-US"/>
          </a:p>
        </p:txBody>
      </p:sp>
      <p:sp>
        <p:nvSpPr>
          <p:cNvPr id="6" name="Slide Number Placeholder 5">
            <a:extLst>
              <a:ext uri="{FF2B5EF4-FFF2-40B4-BE49-F238E27FC236}">
                <a16:creationId xmlns:a16="http://schemas.microsoft.com/office/drawing/2014/main" id="{26039486-9330-0BF5-4D84-0A436895B1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Avenir Next LT Pro" panose="020B0504020202020204" pitchFamily="34" charset="0"/>
              </a:defRPr>
            </a:lvl1pPr>
          </a:lstStyle>
          <a:p>
            <a:fld id="{0A09EBDC-47ED-4CF3-ACE4-21702EB9F773}" type="slidenum">
              <a:rPr lang="en-US" smtClean="0"/>
              <a:pPr/>
              <a:t>‹#›</a:t>
            </a:fld>
            <a:endParaRPr lang="en-US"/>
          </a:p>
        </p:txBody>
      </p:sp>
    </p:spTree>
    <p:extLst>
      <p:ext uri="{BB962C8B-B14F-4D97-AF65-F5344CB8AC3E}">
        <p14:creationId xmlns:p14="http://schemas.microsoft.com/office/powerpoint/2010/main" val="2346240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venir Next LT Pro" panose="020B05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slide" Target="slide25.xml"/><Relationship Id="rId2" Type="http://schemas.openxmlformats.org/officeDocument/2006/relationships/slide" Target="slide1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chart" Target="../charts/chart1.xml"/><Relationship Id="rId7" Type="http://schemas.openxmlformats.org/officeDocument/2006/relationships/chart" Target="../charts/chart5.xml"/><Relationship Id="rId12" Type="http://schemas.openxmlformats.org/officeDocument/2006/relationships/chart" Target="../charts/chart7.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hart" Target="../charts/chart4.xml"/><Relationship Id="rId11" Type="http://schemas.openxmlformats.org/officeDocument/2006/relationships/slide" Target="slide25.xml"/><Relationship Id="rId5" Type="http://schemas.openxmlformats.org/officeDocument/2006/relationships/chart" Target="../charts/chart3.xml"/><Relationship Id="rId10" Type="http://schemas.openxmlformats.org/officeDocument/2006/relationships/image" Target="../media/image2.png"/><Relationship Id="rId4" Type="http://schemas.openxmlformats.org/officeDocument/2006/relationships/chart" Target="../charts/chart2.xml"/><Relationship Id="rId9" Type="http://schemas.openxmlformats.org/officeDocument/2006/relationships/chart" Target="../charts/chart6.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chart" Target="../charts/chart9.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chart" Target="../charts/chart8.xml"/><Relationship Id="rId5" Type="http://schemas.openxmlformats.org/officeDocument/2006/relationships/slide" Target="slide19.xml"/><Relationship Id="rId4" Type="http://schemas.openxmlformats.org/officeDocument/2006/relationships/notesSlide" Target="../notesSlides/notesSlide4.xml"/><Relationship Id="rId9" Type="http://schemas.openxmlformats.org/officeDocument/2006/relationships/slide" Target="slide2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slide" Target="slide25.xml"/><Relationship Id="rId3" Type="http://schemas.openxmlformats.org/officeDocument/2006/relationships/image" Target="../media/image8.png"/><Relationship Id="rId7" Type="http://schemas.openxmlformats.org/officeDocument/2006/relationships/chart" Target="../charts/chart12.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png"/><Relationship Id="rId5" Type="http://schemas.openxmlformats.org/officeDocument/2006/relationships/chart" Target="../charts/chart11.xml"/><Relationship Id="rId4" Type="http://schemas.openxmlformats.org/officeDocument/2006/relationships/chart" Target="../charts/chart10.xml"/></Relationships>
</file>

<file path=ppt/slides/_rels/slide9.xml.rels><?xml version="1.0" encoding="UTF-8" standalone="yes"?>
<Relationships xmlns="http://schemas.openxmlformats.org/package/2006/relationships"><Relationship Id="rId3" Type="http://schemas.openxmlformats.org/officeDocument/2006/relationships/chart" Target="../charts/chart13.xml"/><Relationship Id="rId7" Type="http://schemas.openxmlformats.org/officeDocument/2006/relationships/slide" Target="slide25.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chart" Target="../charts/chart14.xml"/><Relationship Id="rId5" Type="http://schemas.openxmlformats.org/officeDocument/2006/relationships/image" Target="../media/image2.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slide" Target="slide2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slide" Target="slide25.xml"/><Relationship Id="rId5" Type="http://schemas.openxmlformats.org/officeDocument/2006/relationships/chart" Target="../charts/chart16.xml"/><Relationship Id="rId4" Type="http://schemas.openxmlformats.org/officeDocument/2006/relationships/chart" Target="../charts/chart15.xml"/></Relationships>
</file>

<file path=ppt/slides/_rels/slide13.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25.xml"/><Relationship Id="rId4" Type="http://schemas.openxmlformats.org/officeDocument/2006/relationships/chart" Target="../charts/chart18.xml"/></Relationships>
</file>

<file path=ppt/slides/_rels/slide14.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slide" Target="slide25.xml"/><Relationship Id="rId4" Type="http://schemas.openxmlformats.org/officeDocument/2006/relationships/chart" Target="../charts/chart20.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slide" Target="slide25.xml"/><Relationship Id="rId3" Type="http://schemas.openxmlformats.org/officeDocument/2006/relationships/tags" Target="../tags/tag7.xml"/><Relationship Id="rId7" Type="http://schemas.openxmlformats.org/officeDocument/2006/relationships/image" Target="../media/image2.png"/><Relationship Id="rId12" Type="http://schemas.openxmlformats.org/officeDocument/2006/relationships/chart" Target="../charts/chart2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11.xml"/><Relationship Id="rId11" Type="http://schemas.openxmlformats.org/officeDocument/2006/relationships/image" Target="../media/image12.png"/><Relationship Id="rId5" Type="http://schemas.openxmlformats.org/officeDocument/2006/relationships/slideLayout" Target="../slideLayouts/slideLayout2.xml"/><Relationship Id="rId10" Type="http://schemas.openxmlformats.org/officeDocument/2006/relationships/image" Target="../media/image11.png"/><Relationship Id="rId4" Type="http://schemas.openxmlformats.org/officeDocument/2006/relationships/tags" Target="../tags/tag8.xml"/><Relationship Id="rId9"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2.xml"/><Relationship Id="rId7" Type="http://schemas.openxmlformats.org/officeDocument/2006/relationships/image" Target="../media/image13.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chart" Target="../charts/chart22.xml"/><Relationship Id="rId5" Type="http://schemas.openxmlformats.org/officeDocument/2006/relationships/image" Target="../media/image2.png"/><Relationship Id="rId4" Type="http://schemas.openxmlformats.org/officeDocument/2006/relationships/notesSlide" Target="../notesSlides/notesSlide12.xml"/><Relationship Id="rId9" Type="http://schemas.openxmlformats.org/officeDocument/2006/relationships/slide" Target="slide25.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slide" Target="slide25.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slide" Target="slide25.xml"/><Relationship Id="rId4" Type="http://schemas.openxmlformats.org/officeDocument/2006/relationships/chart" Target="../charts/chart2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chart" Target="../charts/chart26.xml"/><Relationship Id="rId3" Type="http://schemas.openxmlformats.org/officeDocument/2006/relationships/notesSlide" Target="../notesSlides/notesSlide15.xml"/><Relationship Id="rId7" Type="http://schemas.openxmlformats.org/officeDocument/2006/relationships/chart" Target="../charts/chart25.xml"/><Relationship Id="rId2" Type="http://schemas.openxmlformats.org/officeDocument/2006/relationships/slideLayout" Target="../slideLayouts/slideLayout7.xml"/><Relationship Id="rId1" Type="http://schemas.openxmlformats.org/officeDocument/2006/relationships/tags" Target="../tags/tag11.xml"/><Relationship Id="rId6" Type="http://schemas.openxmlformats.org/officeDocument/2006/relationships/image" Target="../media/image2.png"/><Relationship Id="rId5" Type="http://schemas.openxmlformats.org/officeDocument/2006/relationships/chart" Target="../charts/chart24.xml"/><Relationship Id="rId4" Type="http://schemas.openxmlformats.org/officeDocument/2006/relationships/slide" Target="slide19.xml"/><Relationship Id="rId9" Type="http://schemas.openxmlformats.org/officeDocument/2006/relationships/slide" Target="slide25.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image" Target="../media/image2.png"/><Relationship Id="rId4" Type="http://schemas.openxmlformats.org/officeDocument/2006/relationships/slide" Target="slide19.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slide" Target="slide28.xml"/><Relationship Id="rId13" Type="http://schemas.openxmlformats.org/officeDocument/2006/relationships/slide" Target="slide35.xml"/><Relationship Id="rId18" Type="http://schemas.openxmlformats.org/officeDocument/2006/relationships/hyperlink" Target="https://panthers-my.sharepoint.com/personal/jtschar_uwm_edu/Documents/Harley%20Presentation%20Jake%20.pptx" TargetMode="External"/><Relationship Id="rId3" Type="http://schemas.openxmlformats.org/officeDocument/2006/relationships/notesSlide" Target="../notesSlides/notesSlide17.xml"/><Relationship Id="rId21" Type="http://schemas.openxmlformats.org/officeDocument/2006/relationships/slide" Target="slide10.xml"/><Relationship Id="rId7" Type="http://schemas.openxmlformats.org/officeDocument/2006/relationships/slide" Target="slide32.xml"/><Relationship Id="rId12" Type="http://schemas.openxmlformats.org/officeDocument/2006/relationships/slide" Target="slide34.xml"/><Relationship Id="rId17" Type="http://schemas.openxmlformats.org/officeDocument/2006/relationships/slide" Target="slide21.xml"/><Relationship Id="rId2" Type="http://schemas.openxmlformats.org/officeDocument/2006/relationships/slideLayout" Target="../slideLayouts/slideLayout2.xml"/><Relationship Id="rId16" Type="http://schemas.openxmlformats.org/officeDocument/2006/relationships/slide" Target="slide18.xml"/><Relationship Id="rId20" Type="http://schemas.openxmlformats.org/officeDocument/2006/relationships/slide" Target="slide7.xml"/><Relationship Id="rId1" Type="http://schemas.openxmlformats.org/officeDocument/2006/relationships/tags" Target="../tags/tag12.xml"/><Relationship Id="rId6" Type="http://schemas.openxmlformats.org/officeDocument/2006/relationships/slide" Target="slide27.xml"/><Relationship Id="rId11" Type="http://schemas.openxmlformats.org/officeDocument/2006/relationships/slide" Target="slide30.xml"/><Relationship Id="rId5" Type="http://schemas.openxmlformats.org/officeDocument/2006/relationships/slide" Target="slide31.xml"/><Relationship Id="rId15" Type="http://schemas.openxmlformats.org/officeDocument/2006/relationships/image" Target="../media/image2.png"/><Relationship Id="rId10" Type="http://schemas.openxmlformats.org/officeDocument/2006/relationships/slide" Target="slide29.xml"/><Relationship Id="rId19" Type="http://schemas.openxmlformats.org/officeDocument/2006/relationships/slide" Target="slide3.xml"/><Relationship Id="rId4" Type="http://schemas.openxmlformats.org/officeDocument/2006/relationships/slide" Target="slide26.xml"/><Relationship Id="rId9" Type="http://schemas.openxmlformats.org/officeDocument/2006/relationships/slide" Target="slide33.xml"/><Relationship Id="rId14" Type="http://schemas.openxmlformats.org/officeDocument/2006/relationships/slide" Target="slide36.xml"/><Relationship Id="rId22" Type="http://schemas.openxmlformats.org/officeDocument/2006/relationships/slide" Target="slide15.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slide" Target="slide25.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slide" Target="slide25.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slide" Target="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slide" Target="slide25.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slide" Target="slide25.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slide" Target="slide25.xml"/></Relationships>
</file>

<file path=ppt/slides/_rels/slide32.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slide" Target="slide25.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slide" Target="slide2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21.xml"/><Relationship Id="rId6" Type="http://schemas.openxmlformats.org/officeDocument/2006/relationships/slide" Target="slide25.xml"/><Relationship Id="rId5" Type="http://schemas.openxmlformats.org/officeDocument/2006/relationships/image" Target="../media/image2.png"/><Relationship Id="rId4" Type="http://schemas.openxmlformats.org/officeDocument/2006/relationships/chart" Target="../charts/chart27.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slide" Target="slide25.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1A685B85-A2D6-737D-4191-42C3C8BBC47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06262DAD-D8E5-1508-E2AB-BBD368855C9C}"/>
              </a:ext>
            </a:extLst>
          </p:cNvPr>
          <p:cNvSpPr txBox="1"/>
          <p:nvPr/>
        </p:nvSpPr>
        <p:spPr>
          <a:xfrm>
            <a:off x="142780" y="184676"/>
            <a:ext cx="9209408" cy="960328"/>
          </a:xfrm>
          <a:prstGeom prst="rect">
            <a:avLst/>
          </a:prstGeom>
          <a:noFill/>
        </p:spPr>
        <p:txBody>
          <a:bodyPr wrap="square" rtlCol="0">
            <a:spAutoFit/>
          </a:bodyPr>
          <a:lstStyle/>
          <a:p>
            <a:r>
              <a:rPr lang="en-US" sz="3200" b="1">
                <a:latin typeface="Avenir Next LT Pro" panose="020B0504020202020204" pitchFamily="34" charset="0"/>
              </a:rPr>
              <a:t>Harley-Davidson, Inc. (HOG:NYSE)</a:t>
            </a:r>
            <a:endParaRPr lang="en-US" sz="2400" b="1">
              <a:latin typeface="Avenir Next LT Pro" panose="020B0504020202020204" pitchFamily="34" charset="0"/>
            </a:endParaRPr>
          </a:p>
          <a:p>
            <a:pPr>
              <a:lnSpc>
                <a:spcPct val="150000"/>
              </a:lnSpc>
            </a:pPr>
            <a:r>
              <a:rPr lang="en-US" i="1" spc="-150">
                <a:latin typeface="Avenir Next LT Pro" panose="020B0504020202020204" pitchFamily="34" charset="0"/>
              </a:rPr>
              <a:t>Wisdom Seeds Success</a:t>
            </a:r>
          </a:p>
        </p:txBody>
      </p:sp>
      <p:sp>
        <p:nvSpPr>
          <p:cNvPr id="8" name="TextBox 7">
            <a:extLst>
              <a:ext uri="{FF2B5EF4-FFF2-40B4-BE49-F238E27FC236}">
                <a16:creationId xmlns:a16="http://schemas.microsoft.com/office/drawing/2014/main" id="{1FEEEAFF-A8CE-8F10-F8B5-BE3DE49B330A}"/>
              </a:ext>
            </a:extLst>
          </p:cNvPr>
          <p:cNvSpPr txBox="1"/>
          <p:nvPr/>
        </p:nvSpPr>
        <p:spPr>
          <a:xfrm>
            <a:off x="-8466" y="5924817"/>
            <a:ext cx="12192000" cy="563488"/>
          </a:xfrm>
          <a:prstGeom prst="rect">
            <a:avLst/>
          </a:prstGeom>
          <a:solidFill>
            <a:srgbClr val="D4D3D8"/>
          </a:solidFill>
          <a:ln>
            <a:solidFill>
              <a:schemeClr val="tx1"/>
            </a:solidFill>
          </a:ln>
        </p:spPr>
        <p:txBody>
          <a:bodyPr wrap="square" rtlCol="0" anchor="t">
            <a:spAutoFit/>
          </a:bodyPr>
          <a:lstStyle/>
          <a:p>
            <a:pPr algn="ctr">
              <a:lnSpc>
                <a:spcPct val="150000"/>
              </a:lnSpc>
            </a:pPr>
            <a:r>
              <a:rPr lang="en-US" sz="2300" b="1">
                <a:latin typeface="Avenir Next LT Pro" panose="020B0504020202020204" pitchFamily="34" charset="0"/>
              </a:rPr>
              <a:t>Recommendation : </a:t>
            </a:r>
            <a:r>
              <a:rPr lang="en-US" sz="2300" b="1">
                <a:solidFill>
                  <a:srgbClr val="00B050"/>
                </a:solidFill>
                <a:latin typeface="Avenir Next LT Pro" panose="020B0504020202020204" pitchFamily="34" charset="0"/>
              </a:rPr>
              <a:t>BUY</a:t>
            </a:r>
            <a:r>
              <a:rPr lang="en-US" sz="2300" b="1">
                <a:latin typeface="Avenir Next LT Pro" panose="020B0504020202020204" pitchFamily="34" charset="0"/>
              </a:rPr>
              <a:t> |  Target Price :  $68 | Closing Price :  $20.11 | Upside : 238% </a:t>
            </a:r>
          </a:p>
        </p:txBody>
      </p:sp>
      <p:pic>
        <p:nvPicPr>
          <p:cNvPr id="2" name="Picture 2" descr="Harley Davidson Logo PNG Image - PurePNG | Free transparent CC0 PNG ...">
            <a:extLst>
              <a:ext uri="{FF2B5EF4-FFF2-40B4-BE49-F238E27FC236}">
                <a16:creationId xmlns:a16="http://schemas.microsoft.com/office/drawing/2014/main" id="{84724950-B846-1B06-9814-379D84E77B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8229" y="87086"/>
            <a:ext cx="2036921" cy="1633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9862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38933-B690-3231-DBB2-686E3898CDD6}"/>
              </a:ext>
            </a:extLst>
          </p:cNvPr>
          <p:cNvSpPr>
            <a:spLocks noGrp="1"/>
          </p:cNvSpPr>
          <p:nvPr>
            <p:ph type="title"/>
          </p:nvPr>
        </p:nvSpPr>
        <p:spPr>
          <a:xfrm>
            <a:off x="243764" y="0"/>
            <a:ext cx="10515600" cy="1325563"/>
          </a:xfrm>
        </p:spPr>
        <p:txBody>
          <a:bodyPr/>
          <a:lstStyle/>
          <a:p>
            <a:r>
              <a:rPr lang="en-US" u="sng">
                <a:solidFill>
                  <a:schemeClr val="accent2">
                    <a:lumMod val="75000"/>
                  </a:schemeClr>
                </a:solidFill>
              </a:rPr>
              <a:t>Thesis</a:t>
            </a:r>
          </a:p>
        </p:txBody>
      </p:sp>
      <p:sp>
        <p:nvSpPr>
          <p:cNvPr id="11" name="object 29">
            <a:extLst>
              <a:ext uri="{FF2B5EF4-FFF2-40B4-BE49-F238E27FC236}">
                <a16:creationId xmlns:a16="http://schemas.microsoft.com/office/drawing/2014/main" id="{36340754-8FC5-48CB-A4FF-D6073FDC5B46}"/>
              </a:ext>
            </a:extLst>
          </p:cNvPr>
          <p:cNvSpPr txBox="1"/>
          <p:nvPr/>
        </p:nvSpPr>
        <p:spPr>
          <a:xfrm>
            <a:off x="527639" y="3891054"/>
            <a:ext cx="2963706" cy="654025"/>
          </a:xfrm>
          <a:prstGeom prst="rect">
            <a:avLst/>
          </a:prstGeom>
          <a:solidFill>
            <a:schemeClr val="accent2">
              <a:lumMod val="20000"/>
              <a:lumOff val="80000"/>
            </a:schemeClr>
          </a:solidFill>
          <a:ln w="25400">
            <a:solidFill>
              <a:schemeClr val="accent2">
                <a:lumMod val="75000"/>
              </a:schemeClr>
            </a:solidFill>
          </a:ln>
        </p:spPr>
        <p:txBody>
          <a:bodyPr vert="horz" wrap="square" lIns="0" tIns="190500" rIns="0" bIns="0" rtlCol="0" anchor="ctr">
            <a:spAutoFit/>
          </a:bodyPr>
          <a:lstStyle/>
          <a:p>
            <a:pPr marL="375290" marR="226063" indent="-149227" algn="ctr">
              <a:lnSpc>
                <a:spcPts val="1801"/>
              </a:lnSpc>
              <a:spcBef>
                <a:spcPts val="1500"/>
              </a:spcBef>
            </a:pPr>
            <a:r>
              <a:rPr lang="en-US">
                <a:latin typeface="Avenir Next LT Pro" panose="020B0504020202020204" pitchFamily="34" charset="0"/>
                <a:ea typeface="Calibri" panose="020F0502020204030204" pitchFamily="34" charset="0"/>
                <a:cs typeface="Calibri" panose="020F0502020204030204" pitchFamily="34" charset="0"/>
              </a:rPr>
              <a:t>Addressing long-term demographic issue</a:t>
            </a:r>
          </a:p>
        </p:txBody>
      </p:sp>
      <p:sp>
        <p:nvSpPr>
          <p:cNvPr id="12" name="object 29">
            <a:extLst>
              <a:ext uri="{FF2B5EF4-FFF2-40B4-BE49-F238E27FC236}">
                <a16:creationId xmlns:a16="http://schemas.microsoft.com/office/drawing/2014/main" id="{656684BE-82B1-8ED1-A4CE-3D71B92C7E6C}"/>
              </a:ext>
            </a:extLst>
          </p:cNvPr>
          <p:cNvSpPr txBox="1"/>
          <p:nvPr/>
        </p:nvSpPr>
        <p:spPr>
          <a:xfrm>
            <a:off x="4814571" y="1033442"/>
            <a:ext cx="2773654" cy="884858"/>
          </a:xfrm>
          <a:prstGeom prst="rect">
            <a:avLst/>
          </a:prstGeom>
          <a:solidFill>
            <a:schemeClr val="accent2">
              <a:lumMod val="20000"/>
              <a:lumOff val="80000"/>
            </a:schemeClr>
          </a:solidFill>
          <a:ln w="25400">
            <a:solidFill>
              <a:schemeClr val="accent2">
                <a:lumMod val="75000"/>
              </a:schemeClr>
            </a:solidFill>
          </a:ln>
        </p:spPr>
        <p:txBody>
          <a:bodyPr vert="horz" wrap="square" lIns="0" tIns="190500" rIns="0" bIns="0" rtlCol="0" anchor="ctr">
            <a:spAutoFit/>
          </a:bodyPr>
          <a:lstStyle/>
          <a:p>
            <a:pPr marL="375290" marR="226063" indent="-149227" algn="ctr">
              <a:lnSpc>
                <a:spcPts val="1801"/>
              </a:lnSpc>
              <a:spcBef>
                <a:spcPts val="1500"/>
              </a:spcBef>
            </a:pPr>
            <a:r>
              <a:rPr lang="en-US" b="1">
                <a:latin typeface="Avenir Next LT Pro" panose="020B0504020202020204" pitchFamily="34" charset="0"/>
                <a:ea typeface="Calibri" panose="020F0502020204030204" pitchFamily="34" charset="0"/>
                <a:cs typeface="Calibri" panose="020F0502020204030204" pitchFamily="34" charset="0"/>
              </a:rPr>
              <a:t>BUY: </a:t>
            </a:r>
            <a:r>
              <a:rPr lang="en-US">
                <a:latin typeface="Avenir Next LT Pro" panose="020B0504020202020204" pitchFamily="34" charset="0"/>
                <a:ea typeface="Calibri" panose="020F0502020204030204" pitchFamily="34" charset="0"/>
                <a:cs typeface="Calibri" panose="020F0502020204030204" pitchFamily="34" charset="0"/>
              </a:rPr>
              <a:t>Strategic and newfound financial flexibility</a:t>
            </a:r>
          </a:p>
        </p:txBody>
      </p:sp>
      <p:sp>
        <p:nvSpPr>
          <p:cNvPr id="13" name="object 29">
            <a:extLst>
              <a:ext uri="{FF2B5EF4-FFF2-40B4-BE49-F238E27FC236}">
                <a16:creationId xmlns:a16="http://schemas.microsoft.com/office/drawing/2014/main" id="{0CCBB02A-4E44-AED1-E362-037B42AC6F4F}"/>
              </a:ext>
            </a:extLst>
          </p:cNvPr>
          <p:cNvSpPr txBox="1"/>
          <p:nvPr/>
        </p:nvSpPr>
        <p:spPr>
          <a:xfrm>
            <a:off x="4814571" y="3886200"/>
            <a:ext cx="2773654" cy="654025"/>
          </a:xfrm>
          <a:prstGeom prst="rect">
            <a:avLst/>
          </a:prstGeom>
          <a:solidFill>
            <a:schemeClr val="accent2">
              <a:lumMod val="20000"/>
              <a:lumOff val="80000"/>
            </a:schemeClr>
          </a:solidFill>
          <a:ln w="25400">
            <a:solidFill>
              <a:schemeClr val="accent2">
                <a:lumMod val="75000"/>
              </a:schemeClr>
            </a:solidFill>
          </a:ln>
        </p:spPr>
        <p:txBody>
          <a:bodyPr vert="horz" wrap="square" lIns="0" tIns="190500" rIns="0" bIns="0" rtlCol="0" anchor="ctr">
            <a:spAutoFit/>
          </a:bodyPr>
          <a:lstStyle/>
          <a:p>
            <a:pPr marL="375290" marR="226063" indent="-149227" algn="ctr">
              <a:lnSpc>
                <a:spcPts val="1801"/>
              </a:lnSpc>
              <a:spcBef>
                <a:spcPts val="1500"/>
              </a:spcBef>
            </a:pPr>
            <a:r>
              <a:rPr lang="en-US">
                <a:latin typeface="Avenir Next LT Pro" panose="020B0504020202020204" pitchFamily="34" charset="0"/>
                <a:ea typeface="Calibri" panose="020F0502020204030204" pitchFamily="34" charset="0"/>
                <a:cs typeface="Calibri" panose="020F0502020204030204" pitchFamily="34" charset="0"/>
              </a:rPr>
              <a:t>Launch of the Sprint bike</a:t>
            </a:r>
          </a:p>
        </p:txBody>
      </p:sp>
      <p:sp>
        <p:nvSpPr>
          <p:cNvPr id="14" name="object 29">
            <a:extLst>
              <a:ext uri="{FF2B5EF4-FFF2-40B4-BE49-F238E27FC236}">
                <a16:creationId xmlns:a16="http://schemas.microsoft.com/office/drawing/2014/main" id="{B1099F33-8679-8936-39D2-2DAA2B9FA907}"/>
              </a:ext>
            </a:extLst>
          </p:cNvPr>
          <p:cNvSpPr txBox="1"/>
          <p:nvPr/>
        </p:nvSpPr>
        <p:spPr>
          <a:xfrm>
            <a:off x="8442261" y="4001615"/>
            <a:ext cx="2773654" cy="423193"/>
          </a:xfrm>
          <a:prstGeom prst="rect">
            <a:avLst/>
          </a:prstGeom>
          <a:solidFill>
            <a:schemeClr val="accent2">
              <a:lumMod val="20000"/>
              <a:lumOff val="80000"/>
            </a:schemeClr>
          </a:solidFill>
          <a:ln w="25400">
            <a:solidFill>
              <a:schemeClr val="accent2">
                <a:lumMod val="75000"/>
              </a:schemeClr>
            </a:solidFill>
          </a:ln>
        </p:spPr>
        <p:txBody>
          <a:bodyPr vert="horz" wrap="square" lIns="0" tIns="190500" rIns="0" bIns="0" rtlCol="0" anchor="ctr">
            <a:spAutoFit/>
          </a:bodyPr>
          <a:lstStyle/>
          <a:p>
            <a:pPr marL="375290" marR="226063" indent="-149227" algn="ctr">
              <a:lnSpc>
                <a:spcPts val="1801"/>
              </a:lnSpc>
              <a:spcBef>
                <a:spcPts val="1500"/>
              </a:spcBef>
            </a:pPr>
            <a:r>
              <a:rPr lang="en-US">
                <a:latin typeface="Avenir Next LT Pro" panose="020B0504020202020204" pitchFamily="34" charset="0"/>
                <a:ea typeface="Calibri" panose="020F0502020204030204" pitchFamily="34" charset="0"/>
                <a:cs typeface="Calibri" panose="020F0502020204030204" pitchFamily="34" charset="0"/>
              </a:rPr>
              <a:t>Funded by HDFS deal</a:t>
            </a:r>
            <a:endParaRPr lang="en-US" sz="1200">
              <a:latin typeface="Avenir Next LT Pro" panose="020B0504020202020204" pitchFamily="34" charset="0"/>
              <a:ea typeface="Calibri" panose="020F0502020204030204" pitchFamily="34" charset="0"/>
              <a:cs typeface="Calibri" panose="020F0502020204030204" pitchFamily="34" charset="0"/>
            </a:endParaRPr>
          </a:p>
        </p:txBody>
      </p:sp>
      <p:cxnSp>
        <p:nvCxnSpPr>
          <p:cNvPr id="17" name="Straight Arrow Connector 16">
            <a:extLst>
              <a:ext uri="{FF2B5EF4-FFF2-40B4-BE49-F238E27FC236}">
                <a16:creationId xmlns:a16="http://schemas.microsoft.com/office/drawing/2014/main" id="{9FCBA83E-1CC6-8A8C-44F2-A58FC3EA09FA}"/>
              </a:ext>
            </a:extLst>
          </p:cNvPr>
          <p:cNvCxnSpPr>
            <a:cxnSpLocks/>
          </p:cNvCxnSpPr>
          <p:nvPr/>
        </p:nvCxnSpPr>
        <p:spPr>
          <a:xfrm flipH="1">
            <a:off x="2565070" y="2272045"/>
            <a:ext cx="3103418" cy="1344387"/>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6600E8E-BC39-109E-AD0D-257DA9E751FA}"/>
              </a:ext>
            </a:extLst>
          </p:cNvPr>
          <p:cNvCxnSpPr>
            <a:cxnSpLocks/>
          </p:cNvCxnSpPr>
          <p:nvPr/>
        </p:nvCxnSpPr>
        <p:spPr>
          <a:xfrm>
            <a:off x="6892353" y="2230166"/>
            <a:ext cx="3099816" cy="1344168"/>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F9E99A7-748F-46AF-9517-8722D24381FA}"/>
              </a:ext>
            </a:extLst>
          </p:cNvPr>
          <p:cNvCxnSpPr/>
          <p:nvPr/>
        </p:nvCxnSpPr>
        <p:spPr>
          <a:xfrm>
            <a:off x="6280420" y="2272045"/>
            <a:ext cx="0" cy="1471894"/>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0FED7E30-DF3D-78CB-C745-A8EDF8BBCEE4}"/>
              </a:ext>
            </a:extLst>
          </p:cNvPr>
          <p:cNvSpPr/>
          <p:nvPr/>
        </p:nvSpPr>
        <p:spPr>
          <a:xfrm>
            <a:off x="527639" y="5199314"/>
            <a:ext cx="11041398" cy="982608"/>
          </a:xfrm>
          <a:prstGeom prst="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venir Next LT Pro" panose="020B0504020202020204" pitchFamily="34" charset="0"/>
              </a:rPr>
              <a:t>The current price represents concerns regarding any future profitability, which is not reflective of the financial reality of the firm</a:t>
            </a:r>
          </a:p>
        </p:txBody>
      </p:sp>
    </p:spTree>
    <p:extLst>
      <p:ext uri="{BB962C8B-B14F-4D97-AF65-F5344CB8AC3E}">
        <p14:creationId xmlns:p14="http://schemas.microsoft.com/office/powerpoint/2010/main" val="3936561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0420D43-B268-76E5-BD99-C8EAC731FC5C}"/>
              </a:ext>
            </a:extLst>
          </p:cNvPr>
          <p:cNvSpPr/>
          <p:nvPr/>
        </p:nvSpPr>
        <p:spPr>
          <a:xfrm>
            <a:off x="-1" y="5377435"/>
            <a:ext cx="12192001" cy="14871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latin typeface="Avenir Next LT Pro" panose="020B0504020202020204" pitchFamily="34" charset="0"/>
            </a:endParaRPr>
          </a:p>
        </p:txBody>
      </p:sp>
      <p:sp>
        <p:nvSpPr>
          <p:cNvPr id="2" name="object 2"/>
          <p:cNvSpPr txBox="1"/>
          <p:nvPr/>
        </p:nvSpPr>
        <p:spPr>
          <a:xfrm>
            <a:off x="562927" y="5377435"/>
            <a:ext cx="5082540" cy="1083117"/>
          </a:xfrm>
          <a:prstGeom prst="rect">
            <a:avLst/>
          </a:prstGeom>
        </p:spPr>
        <p:txBody>
          <a:bodyPr vert="horz" wrap="square" lIns="0" tIns="173355" rIns="0" bIns="0" rtlCol="0">
            <a:spAutoFit/>
          </a:bodyPr>
          <a:lstStyle/>
          <a:p>
            <a:pPr marL="12701">
              <a:spcBef>
                <a:spcPts val="1365"/>
              </a:spcBef>
            </a:pPr>
            <a:r>
              <a:rPr lang="en-US" sz="3600">
                <a:latin typeface="Avenir Next LT Pro" panose="020B0504020202020204" pitchFamily="34" charset="0"/>
                <a:cs typeface="Segoe UI"/>
              </a:rPr>
              <a:t>Business</a:t>
            </a:r>
            <a:r>
              <a:rPr lang="en-US" sz="3600" spc="-41">
                <a:latin typeface="Avenir Next LT Pro" panose="020B0504020202020204" pitchFamily="34" charset="0"/>
                <a:cs typeface="Segoe UI"/>
              </a:rPr>
              <a:t> </a:t>
            </a:r>
            <a:r>
              <a:rPr lang="en-US" sz="3600" spc="-11">
                <a:latin typeface="Avenir Next LT Pro" panose="020B0504020202020204" pitchFamily="34" charset="0"/>
                <a:cs typeface="Segoe UI"/>
              </a:rPr>
              <a:t>Description</a:t>
            </a:r>
            <a:endParaRPr lang="en-US" sz="3600">
              <a:latin typeface="Avenir Next LT Pro" panose="020B0504020202020204" pitchFamily="34" charset="0"/>
              <a:cs typeface="Segoe UI"/>
            </a:endParaRPr>
          </a:p>
          <a:p>
            <a:pPr marL="12701">
              <a:spcBef>
                <a:spcPts val="635"/>
              </a:spcBef>
            </a:pPr>
            <a:endParaRPr lang="en-US" sz="1801">
              <a:latin typeface="Avenir Next LT Pro" panose="020B0504020202020204" pitchFamily="34" charset="0"/>
              <a:cs typeface="Segoe UI"/>
            </a:endParaRPr>
          </a:p>
        </p:txBody>
      </p:sp>
      <p:pic>
        <p:nvPicPr>
          <p:cNvPr id="14" name="Picture 2" descr="Harley Davidson Logo PNG Image - PurePNG | Free transparent CC0 PNG ...">
            <a:extLst>
              <a:ext uri="{FF2B5EF4-FFF2-40B4-BE49-F238E27FC236}">
                <a16:creationId xmlns:a16="http://schemas.microsoft.com/office/drawing/2014/main" id="{F4EA50AF-E204-A9A4-DBB1-F96F92F43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229" y="87086"/>
            <a:ext cx="2036921" cy="16333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FEE5C-48A8-C9C2-731F-D3047B344263}"/>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49936A02-36CD-EAEC-1C06-361107B3B981}"/>
              </a:ext>
            </a:extLst>
          </p:cNvPr>
          <p:cNvSpPr/>
          <p:nvPr/>
        </p:nvSpPr>
        <p:spPr>
          <a:xfrm>
            <a:off x="9486979" y="2831786"/>
            <a:ext cx="2484445" cy="559559"/>
          </a:xfrm>
          <a:prstGeom prst="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latin typeface="Avenir Next LT Pro" panose="020B0504020202020204" pitchFamily="34" charset="0"/>
              </a:rPr>
              <a:t>LVWR</a:t>
            </a:r>
          </a:p>
        </p:txBody>
      </p:sp>
      <p:sp>
        <p:nvSpPr>
          <p:cNvPr id="6" name="object 6">
            <a:extLst>
              <a:ext uri="{FF2B5EF4-FFF2-40B4-BE49-F238E27FC236}">
                <a16:creationId xmlns:a16="http://schemas.microsoft.com/office/drawing/2014/main" id="{1ECA8295-7FFB-699D-CC07-86AF7B215284}"/>
              </a:ext>
            </a:extLst>
          </p:cNvPr>
          <p:cNvSpPr txBox="1">
            <a:spLocks noGrp="1"/>
          </p:cNvSpPr>
          <p:nvPr>
            <p:ph type="title"/>
          </p:nvPr>
        </p:nvSpPr>
        <p:spPr>
          <a:xfrm>
            <a:off x="507973" y="315966"/>
            <a:ext cx="5218535" cy="514628"/>
          </a:xfrm>
          <a:prstGeom prst="rect">
            <a:avLst/>
          </a:prstGeom>
        </p:spPr>
        <p:txBody>
          <a:bodyPr vert="horz" wrap="square" lIns="0" tIns="12700" rIns="0" bIns="0" rtlCol="0">
            <a:spAutoFit/>
          </a:bodyPr>
          <a:lstStyle/>
          <a:p>
            <a:pPr marL="12701">
              <a:spcBef>
                <a:spcPts val="100"/>
              </a:spcBef>
            </a:pPr>
            <a:r>
              <a:rPr lang="en-US" sz="3600">
                <a:solidFill>
                  <a:schemeClr val="accent2">
                    <a:lumMod val="75000"/>
                  </a:schemeClr>
                </a:solidFill>
                <a:latin typeface="Avenir Next LT Pro" panose="020B0504020202020204" pitchFamily="34" charset="0"/>
                <a:hlinkClick r:id="rId2" action="ppaction://hlinksldjump">
                  <a:extLst>
                    <a:ext uri="{A12FA001-AC4F-418D-AE19-62706E023703}">
                      <ahyp:hlinkClr xmlns:ahyp="http://schemas.microsoft.com/office/drawing/2018/hyperlinkcolor" val="tx"/>
                    </a:ext>
                  </a:extLst>
                </a:hlinkClick>
              </a:rPr>
              <a:t>Segment</a:t>
            </a:r>
            <a:r>
              <a:rPr lang="en-US" sz="3600" spc="-20">
                <a:solidFill>
                  <a:schemeClr val="accent2">
                    <a:lumMod val="75000"/>
                  </a:schemeClr>
                </a:solidFill>
                <a:latin typeface="Avenir Next LT Pro" panose="020B0504020202020204" pitchFamily="34" charset="0"/>
                <a:hlinkClick r:id="rId2" action="ppaction://hlinksldjump">
                  <a:extLst>
                    <a:ext uri="{A12FA001-AC4F-418D-AE19-62706E023703}">
                      <ahyp:hlinkClr xmlns:ahyp="http://schemas.microsoft.com/office/drawing/2018/hyperlinkcolor" val="tx"/>
                    </a:ext>
                  </a:extLst>
                </a:hlinkClick>
              </a:rPr>
              <a:t> </a:t>
            </a:r>
            <a:r>
              <a:rPr lang="en-US" sz="3600" spc="-11">
                <a:solidFill>
                  <a:schemeClr val="accent2">
                    <a:lumMod val="75000"/>
                  </a:schemeClr>
                </a:solidFill>
                <a:latin typeface="Avenir Next LT Pro" panose="020B0504020202020204" pitchFamily="34" charset="0"/>
                <a:hlinkClick r:id="rId2" action="ppaction://hlinksldjump">
                  <a:extLst>
                    <a:ext uri="{A12FA001-AC4F-418D-AE19-62706E023703}">
                      <ahyp:hlinkClr xmlns:ahyp="http://schemas.microsoft.com/office/drawing/2018/hyperlinkcolor" val="tx"/>
                    </a:ext>
                  </a:extLst>
                </a:hlinkClick>
              </a:rPr>
              <a:t>Description</a:t>
            </a:r>
          </a:p>
        </p:txBody>
      </p:sp>
      <p:sp>
        <p:nvSpPr>
          <p:cNvPr id="7" name="object 7">
            <a:extLst>
              <a:ext uri="{FF2B5EF4-FFF2-40B4-BE49-F238E27FC236}">
                <a16:creationId xmlns:a16="http://schemas.microsoft.com/office/drawing/2014/main" id="{B629C856-8467-D8CA-B77B-86CF8CF34ED8}"/>
              </a:ext>
            </a:extLst>
          </p:cNvPr>
          <p:cNvSpPr txBox="1"/>
          <p:nvPr/>
        </p:nvSpPr>
        <p:spPr>
          <a:xfrm>
            <a:off x="90668" y="6658562"/>
            <a:ext cx="6865620" cy="168635"/>
          </a:xfrm>
          <a:prstGeom prst="rect">
            <a:avLst/>
          </a:prstGeom>
          <a:ln>
            <a:noFill/>
          </a:ln>
        </p:spPr>
        <p:txBody>
          <a:bodyPr vert="horz" wrap="square" lIns="0" tIns="14604" rIns="0" bIns="0" rtlCol="0">
            <a:spAutoFit/>
          </a:bodyPr>
          <a:lstStyle/>
          <a:p>
            <a:pPr marL="12701">
              <a:spcBef>
                <a:spcPts val="1371"/>
              </a:spcBef>
            </a:pPr>
            <a:r>
              <a:rPr lang="en-US" sz="949" i="1">
                <a:latin typeface="Avenir Next LT Pro" panose="020B0504020202020204" pitchFamily="34" charset="0"/>
                <a:cs typeface="Segoe UI"/>
              </a:rPr>
              <a:t>Source:</a:t>
            </a:r>
            <a:r>
              <a:rPr lang="en-US" sz="949" i="1" spc="30">
                <a:latin typeface="Avenir Next LT Pro" panose="020B0504020202020204" pitchFamily="34" charset="0"/>
                <a:cs typeface="Segoe UI"/>
              </a:rPr>
              <a:t>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p>
        </p:txBody>
      </p:sp>
      <p:sp>
        <p:nvSpPr>
          <p:cNvPr id="10" name="object 10">
            <a:extLst>
              <a:ext uri="{FF2B5EF4-FFF2-40B4-BE49-F238E27FC236}">
                <a16:creationId xmlns:a16="http://schemas.microsoft.com/office/drawing/2014/main" id="{CA6ECE8C-5317-3B8E-9703-BFD3F930D66B}"/>
              </a:ext>
            </a:extLst>
          </p:cNvPr>
          <p:cNvSpPr txBox="1"/>
          <p:nvPr/>
        </p:nvSpPr>
        <p:spPr>
          <a:xfrm>
            <a:off x="167447" y="3263454"/>
            <a:ext cx="4183510" cy="3047245"/>
          </a:xfrm>
          <a:prstGeom prst="rect">
            <a:avLst/>
          </a:prstGeom>
        </p:spPr>
        <p:txBody>
          <a:bodyPr vert="horz" wrap="square" lIns="0" tIns="15876" rIns="0" bIns="0" rtlCol="0">
            <a:spAutoFit/>
          </a:bodyPr>
          <a:lstStyle/>
          <a:p>
            <a:pPr marL="58420" algn="ctr">
              <a:spcBef>
                <a:spcPts val="124"/>
              </a:spcBef>
            </a:pPr>
            <a:endParaRPr lang="en-US" sz="1600" dirty="0">
              <a:latin typeface="Avenir Next LT Pro" panose="020B0504020202020204" pitchFamily="34" charset="0"/>
              <a:ea typeface="Calibri" panose="020F0502020204030204" pitchFamily="34" charset="0"/>
              <a:cs typeface="Calibri" panose="020F0502020204030204" pitchFamily="34" charset="0"/>
            </a:endParaRPr>
          </a:p>
          <a:p>
            <a:pPr marL="298454" marR="5081" indent="-285753">
              <a:lnSpc>
                <a:spcPct val="154400"/>
              </a:lnSpc>
              <a:spcBef>
                <a:spcPts val="1070"/>
              </a:spcBef>
              <a:buFont typeface="Arial MT"/>
              <a:buChar char="•"/>
              <a:tabLst>
                <a:tab pos="298454" algn="l"/>
              </a:tabLst>
            </a:pPr>
            <a:r>
              <a:rPr lang="en-US" sz="1600" dirty="0">
                <a:latin typeface="Avenir Next LT Pro" panose="020B0504020202020204" pitchFamily="34" charset="0"/>
                <a:ea typeface="Calibri" panose="020F0502020204030204" pitchFamily="34" charset="0"/>
                <a:cs typeface="Calibri" panose="020F0502020204030204" pitchFamily="34" charset="0"/>
              </a:rPr>
              <a:t>Provides financing for motorcycle purchases</a:t>
            </a:r>
          </a:p>
          <a:p>
            <a:pPr marL="298454" marR="5081" indent="-285753">
              <a:lnSpc>
                <a:spcPct val="154400"/>
              </a:lnSpc>
              <a:spcBef>
                <a:spcPts val="1070"/>
              </a:spcBef>
              <a:buFont typeface="Arial MT"/>
              <a:buChar char="•"/>
              <a:tabLst>
                <a:tab pos="298454" algn="l"/>
              </a:tabLst>
            </a:pPr>
            <a:r>
              <a:rPr lang="en-US" sz="1600" dirty="0">
                <a:latin typeface="Avenir Next LT Pro" panose="020B0504020202020204" pitchFamily="34" charset="0"/>
                <a:ea typeface="Calibri" panose="020F0502020204030204" pitchFamily="34" charset="0"/>
                <a:cs typeface="Calibri" panose="020F0502020204030204" pitchFamily="34" charset="0"/>
              </a:rPr>
              <a:t>Generates revenue from selling contracts to outside firms</a:t>
            </a:r>
          </a:p>
          <a:p>
            <a:pPr marL="298454" marR="5081" indent="-285753">
              <a:lnSpc>
                <a:spcPct val="154400"/>
              </a:lnSpc>
              <a:spcBef>
                <a:spcPts val="1070"/>
              </a:spcBef>
              <a:buFont typeface="Arial MT"/>
              <a:buChar char="•"/>
              <a:tabLst>
                <a:tab pos="298454" algn="l"/>
              </a:tabLst>
            </a:pPr>
            <a:r>
              <a:rPr lang="en-US" sz="1600" dirty="0">
                <a:latin typeface="Avenir Next LT Pro" panose="020B0504020202020204" pitchFamily="34" charset="0"/>
                <a:ea typeface="Calibri" panose="020F0502020204030204" pitchFamily="34" charset="0"/>
                <a:cs typeface="Calibri" panose="020F0502020204030204" pitchFamily="34" charset="0"/>
              </a:rPr>
              <a:t>Sold 2/3 of the segment in 2025 </a:t>
            </a:r>
          </a:p>
          <a:p>
            <a:pPr marL="298454" marR="5081" indent="-285753">
              <a:lnSpc>
                <a:spcPct val="154400"/>
              </a:lnSpc>
              <a:spcBef>
                <a:spcPts val="1070"/>
              </a:spcBef>
              <a:buFont typeface="Arial MT"/>
              <a:buChar char="•"/>
              <a:tabLst>
                <a:tab pos="298454" algn="l"/>
              </a:tabLst>
            </a:pPr>
            <a:endParaRPr lang="en-US" sz="1550" dirty="0">
              <a:latin typeface="Avenir Next LT Pro" panose="020B0504020202020204" pitchFamily="34" charset="0"/>
              <a:cs typeface="Segoe UI Light"/>
            </a:endParaRPr>
          </a:p>
        </p:txBody>
      </p:sp>
      <p:sp>
        <p:nvSpPr>
          <p:cNvPr id="11" name="object 11">
            <a:extLst>
              <a:ext uri="{FF2B5EF4-FFF2-40B4-BE49-F238E27FC236}">
                <a16:creationId xmlns:a16="http://schemas.microsoft.com/office/drawing/2014/main" id="{9CD43734-7E8D-6040-4948-4FC5C177A53C}"/>
              </a:ext>
            </a:extLst>
          </p:cNvPr>
          <p:cNvSpPr txBox="1"/>
          <p:nvPr/>
        </p:nvSpPr>
        <p:spPr>
          <a:xfrm>
            <a:off x="218939" y="3136787"/>
            <a:ext cx="3831589" cy="254558"/>
          </a:xfrm>
          <a:prstGeom prst="rect">
            <a:avLst/>
          </a:prstGeom>
        </p:spPr>
        <p:txBody>
          <a:bodyPr vert="horz" wrap="square" lIns="0" tIns="15876" rIns="0" bIns="0" rtlCol="0">
            <a:spAutoFit/>
          </a:bodyPr>
          <a:lstStyle/>
          <a:p>
            <a:pPr marL="635009">
              <a:spcBef>
                <a:spcPts val="124"/>
              </a:spcBef>
            </a:pPr>
            <a:endParaRPr lang="en-US" sz="1550">
              <a:latin typeface="Avenir Next LT Pro" panose="020B0504020202020204" pitchFamily="34" charset="0"/>
              <a:cs typeface="Segoe UI Light"/>
            </a:endParaRPr>
          </a:p>
        </p:txBody>
      </p:sp>
      <p:pic>
        <p:nvPicPr>
          <p:cNvPr id="22" name="Picture 21" descr="A close-up of a logo&#10;&#10;AI-generated content may be incorrect.">
            <a:extLst>
              <a:ext uri="{FF2B5EF4-FFF2-40B4-BE49-F238E27FC236}">
                <a16:creationId xmlns:a16="http://schemas.microsoft.com/office/drawing/2014/main" id="{F55EFA42-BC0B-ABAB-07FF-673F2E523DCF}"/>
              </a:ext>
            </a:extLst>
          </p:cNvPr>
          <p:cNvPicPr>
            <a:picLocks noChangeAspect="1"/>
          </p:cNvPicPr>
          <p:nvPr/>
        </p:nvPicPr>
        <p:blipFill>
          <a:blip r:embed="rId3"/>
          <a:stretch>
            <a:fillRect/>
          </a:stretch>
        </p:blipFill>
        <p:spPr>
          <a:xfrm>
            <a:off x="217287" y="1880017"/>
            <a:ext cx="4348480" cy="843280"/>
          </a:xfrm>
          <a:prstGeom prst="rect">
            <a:avLst/>
          </a:prstGeom>
        </p:spPr>
      </p:pic>
      <p:sp>
        <p:nvSpPr>
          <p:cNvPr id="28" name="object 10">
            <a:extLst>
              <a:ext uri="{FF2B5EF4-FFF2-40B4-BE49-F238E27FC236}">
                <a16:creationId xmlns:a16="http://schemas.microsoft.com/office/drawing/2014/main" id="{D9505132-8A3A-B0E1-8133-802EC88F662F}"/>
              </a:ext>
            </a:extLst>
          </p:cNvPr>
          <p:cNvSpPr txBox="1"/>
          <p:nvPr/>
        </p:nvSpPr>
        <p:spPr>
          <a:xfrm>
            <a:off x="9312195" y="3264992"/>
            <a:ext cx="2899214" cy="1661161"/>
          </a:xfrm>
          <a:prstGeom prst="rect">
            <a:avLst/>
          </a:prstGeom>
        </p:spPr>
        <p:txBody>
          <a:bodyPr vert="horz" wrap="square" lIns="0" tIns="15876" rIns="0" bIns="0" rtlCol="0">
            <a:spAutoFit/>
          </a:bodyPr>
          <a:lstStyle/>
          <a:p>
            <a:pPr marL="58420" algn="ctr">
              <a:spcBef>
                <a:spcPts val="124"/>
              </a:spcBef>
            </a:pPr>
            <a:endParaRPr lang="en-US" sz="1600">
              <a:latin typeface="Avenir Next LT Pro" panose="020B0504020202020204" pitchFamily="34" charset="0"/>
              <a:ea typeface="Calibri" panose="020F0502020204030204" pitchFamily="34" charset="0"/>
              <a:cs typeface="Calibri" panose="020F0502020204030204" pitchFamily="34" charset="0"/>
            </a:endParaRPr>
          </a:p>
          <a:p>
            <a:pPr marL="298454" marR="5081" indent="-285753">
              <a:lnSpc>
                <a:spcPct val="154400"/>
              </a:lnSpc>
              <a:spcBef>
                <a:spcPts val="1070"/>
              </a:spcBef>
              <a:buFont typeface="Arial MT"/>
              <a:buChar char="•"/>
              <a:tabLst>
                <a:tab pos="298454" algn="l"/>
              </a:tabLst>
            </a:pPr>
            <a:r>
              <a:rPr lang="en-US" sz="1600">
                <a:latin typeface="Avenir Next LT Pro" panose="020B0504020202020204" pitchFamily="34" charset="0"/>
                <a:ea typeface="Calibri" panose="020F0502020204030204" pitchFamily="34" charset="0"/>
                <a:cs typeface="Calibri" panose="020F0502020204030204" pitchFamily="34" charset="0"/>
              </a:rPr>
              <a:t>A small moonshot bet on the future of electrification </a:t>
            </a:r>
          </a:p>
          <a:p>
            <a:pPr marL="298454" marR="5081" indent="-285753">
              <a:lnSpc>
                <a:spcPct val="154400"/>
              </a:lnSpc>
              <a:spcBef>
                <a:spcPts val="1070"/>
              </a:spcBef>
              <a:buFont typeface="Arial MT"/>
              <a:buChar char="•"/>
              <a:tabLst>
                <a:tab pos="298454" algn="l"/>
              </a:tabLst>
            </a:pPr>
            <a:endParaRPr lang="en-US" sz="1550">
              <a:latin typeface="Avenir Next LT Pro" panose="020B0504020202020204" pitchFamily="34" charset="0"/>
              <a:cs typeface="Segoe UI Light"/>
            </a:endParaRPr>
          </a:p>
        </p:txBody>
      </p:sp>
      <p:sp>
        <p:nvSpPr>
          <p:cNvPr id="5" name="object 10">
            <a:extLst>
              <a:ext uri="{FF2B5EF4-FFF2-40B4-BE49-F238E27FC236}">
                <a16:creationId xmlns:a16="http://schemas.microsoft.com/office/drawing/2014/main" id="{1B4DC7FB-8268-06C7-613B-578F18EE4553}"/>
              </a:ext>
            </a:extLst>
          </p:cNvPr>
          <p:cNvSpPr txBox="1"/>
          <p:nvPr/>
        </p:nvSpPr>
        <p:spPr>
          <a:xfrm>
            <a:off x="4915781" y="3263454"/>
            <a:ext cx="3831590" cy="2532810"/>
          </a:xfrm>
          <a:prstGeom prst="rect">
            <a:avLst/>
          </a:prstGeom>
        </p:spPr>
        <p:txBody>
          <a:bodyPr vert="horz" wrap="square" lIns="0" tIns="15876" rIns="0" bIns="0" rtlCol="0">
            <a:spAutoFit/>
          </a:bodyPr>
          <a:lstStyle/>
          <a:p>
            <a:pPr marL="58420" algn="ctr">
              <a:spcBef>
                <a:spcPts val="124"/>
              </a:spcBef>
            </a:pPr>
            <a:endParaRPr lang="en-US" sz="1600" dirty="0">
              <a:latin typeface="Avenir Next LT Pro" panose="020B0504020202020204" pitchFamily="34" charset="0"/>
              <a:ea typeface="Calibri" panose="020F0502020204030204" pitchFamily="34" charset="0"/>
              <a:cs typeface="Calibri" panose="020F0502020204030204" pitchFamily="34" charset="0"/>
            </a:endParaRPr>
          </a:p>
          <a:p>
            <a:pPr marL="298454" marR="5081" indent="-285753">
              <a:lnSpc>
                <a:spcPct val="154400"/>
              </a:lnSpc>
              <a:spcBef>
                <a:spcPts val="1070"/>
              </a:spcBef>
              <a:buFont typeface="Arial MT"/>
              <a:buChar char="•"/>
              <a:tabLst>
                <a:tab pos="298454" algn="l"/>
              </a:tabLst>
            </a:pPr>
            <a:r>
              <a:rPr lang="en-US" sz="1600">
                <a:latin typeface="Avenir Next LT Pro" panose="020B0504020202020204" pitchFamily="34" charset="0"/>
                <a:ea typeface="Calibri" panose="020F0502020204030204" pitchFamily="34" charset="0"/>
                <a:cs typeface="Calibri" panose="020F0502020204030204" pitchFamily="34" charset="0"/>
              </a:rPr>
              <a:t>Core brand focused on premium cruisers</a:t>
            </a:r>
            <a:endParaRPr lang="en-US" sz="1600" dirty="0">
              <a:latin typeface="Avenir Next LT Pro" panose="020B0504020202020204" pitchFamily="34" charset="0"/>
              <a:ea typeface="Calibri" panose="020F0502020204030204" pitchFamily="34" charset="0"/>
              <a:cs typeface="Calibri" panose="020F0502020204030204" pitchFamily="34" charset="0"/>
            </a:endParaRPr>
          </a:p>
          <a:p>
            <a:pPr marL="298454" marR="5081" indent="-285753">
              <a:lnSpc>
                <a:spcPct val="154400"/>
              </a:lnSpc>
              <a:spcBef>
                <a:spcPts val="1070"/>
              </a:spcBef>
              <a:buFont typeface="Arial MT"/>
              <a:buChar char="•"/>
              <a:tabLst>
                <a:tab pos="298454" algn="l"/>
              </a:tabLst>
            </a:pPr>
            <a:r>
              <a:rPr lang="en-US" sz="1600">
                <a:latin typeface="Avenir Next LT Pro" panose="020B0504020202020204" pitchFamily="34" charset="0"/>
                <a:ea typeface="Calibri" panose="020F0502020204030204" pitchFamily="34" charset="0"/>
                <a:cs typeface="Calibri" panose="020F0502020204030204" pitchFamily="34" charset="0"/>
              </a:rPr>
              <a:t>High-margin bikes</a:t>
            </a:r>
            <a:r>
              <a:rPr lang="en-US" sz="1600" dirty="0">
                <a:latin typeface="Avenir Next LT Pro" panose="020B0504020202020204" pitchFamily="34" charset="0"/>
                <a:ea typeface="Calibri" panose="020F0502020204030204" pitchFamily="34" charset="0"/>
                <a:cs typeface="Calibri" panose="020F0502020204030204" pitchFamily="34" charset="0"/>
              </a:rPr>
              <a:t> and brand apparel support profitability</a:t>
            </a:r>
          </a:p>
          <a:p>
            <a:pPr marL="298454" marR="5081" indent="-285753">
              <a:lnSpc>
                <a:spcPct val="154400"/>
              </a:lnSpc>
              <a:spcBef>
                <a:spcPts val="1070"/>
              </a:spcBef>
              <a:buFont typeface="Arial MT"/>
              <a:buChar char="•"/>
              <a:tabLst>
                <a:tab pos="298454" algn="l"/>
              </a:tabLst>
            </a:pPr>
            <a:endParaRPr lang="en-US" sz="1550" dirty="0">
              <a:latin typeface="Avenir Next LT Pro" panose="020B0504020202020204" pitchFamily="34" charset="0"/>
              <a:cs typeface="Segoe UI Light"/>
            </a:endParaRPr>
          </a:p>
        </p:txBody>
      </p:sp>
      <p:sp>
        <p:nvSpPr>
          <p:cNvPr id="18" name="object 9">
            <a:extLst>
              <a:ext uri="{FF2B5EF4-FFF2-40B4-BE49-F238E27FC236}">
                <a16:creationId xmlns:a16="http://schemas.microsoft.com/office/drawing/2014/main" id="{5CCF3FF5-ACD7-C047-90EC-6C42CD641BB0}"/>
              </a:ext>
            </a:extLst>
          </p:cNvPr>
          <p:cNvSpPr txBox="1"/>
          <p:nvPr/>
        </p:nvSpPr>
        <p:spPr>
          <a:xfrm>
            <a:off x="4400797" y="3538566"/>
            <a:ext cx="4346574" cy="323808"/>
          </a:xfrm>
          <a:prstGeom prst="rect">
            <a:avLst/>
          </a:prstGeom>
        </p:spPr>
        <p:txBody>
          <a:bodyPr vert="horz" wrap="square" lIns="0" tIns="15876" rIns="0" bIns="0" rtlCol="0" anchor="t">
            <a:spAutoFit/>
          </a:bodyPr>
          <a:lstStyle/>
          <a:p>
            <a:pPr marR="73027" algn="ctr">
              <a:spcBef>
                <a:spcPts val="124"/>
              </a:spcBef>
            </a:pPr>
            <a:endParaRPr lang="en-US" sz="2000" b="1" spc="-25">
              <a:solidFill>
                <a:srgbClr val="000000"/>
              </a:solidFill>
              <a:latin typeface="Avenir Next LT Pro" panose="020B0504020202020204" pitchFamily="34" charset="0"/>
              <a:cs typeface="Segoe UI Light"/>
            </a:endParaRPr>
          </a:p>
        </p:txBody>
      </p:sp>
      <p:pic>
        <p:nvPicPr>
          <p:cNvPr id="21" name="Picture 20">
            <a:extLst>
              <a:ext uri="{FF2B5EF4-FFF2-40B4-BE49-F238E27FC236}">
                <a16:creationId xmlns:a16="http://schemas.microsoft.com/office/drawing/2014/main" id="{17D19498-E6CE-6CC0-05FB-C6DAF69EC6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8635" y="1276808"/>
            <a:ext cx="2419602" cy="1361026"/>
          </a:xfrm>
          <a:prstGeom prst="rect">
            <a:avLst/>
          </a:prstGeom>
        </p:spPr>
      </p:pic>
      <p:sp>
        <p:nvSpPr>
          <p:cNvPr id="8" name="Rectangle 7">
            <a:extLst>
              <a:ext uri="{FF2B5EF4-FFF2-40B4-BE49-F238E27FC236}">
                <a16:creationId xmlns:a16="http://schemas.microsoft.com/office/drawing/2014/main" id="{B8AFA75F-8E5C-A8B1-714B-6BCD31919D66}"/>
              </a:ext>
            </a:extLst>
          </p:cNvPr>
          <p:cNvSpPr>
            <a:spLocks/>
          </p:cNvSpPr>
          <p:nvPr/>
        </p:nvSpPr>
        <p:spPr>
          <a:xfrm>
            <a:off x="167447" y="2831786"/>
            <a:ext cx="4183510" cy="566242"/>
          </a:xfrm>
          <a:prstGeom prst="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spc="-25">
                <a:solidFill>
                  <a:schemeClr val="tx1"/>
                </a:solidFill>
                <a:latin typeface="Avenir Next LT Pro" panose="020B0504020202020204" pitchFamily="34" charset="0"/>
                <a:ea typeface="Calibri" panose="020F0502020204030204" pitchFamily="34" charset="0"/>
                <a:cs typeface="Calibri" panose="020F0502020204030204" pitchFamily="34" charset="0"/>
              </a:rPr>
              <a:t>HDFS</a:t>
            </a:r>
          </a:p>
        </p:txBody>
      </p:sp>
      <p:sp>
        <p:nvSpPr>
          <p:cNvPr id="23" name="Rectangle 22">
            <a:extLst>
              <a:ext uri="{FF2B5EF4-FFF2-40B4-BE49-F238E27FC236}">
                <a16:creationId xmlns:a16="http://schemas.microsoft.com/office/drawing/2014/main" id="{045B9D7C-689F-84A2-DABF-B5B4CCD7FC4E}"/>
              </a:ext>
            </a:extLst>
          </p:cNvPr>
          <p:cNvSpPr>
            <a:spLocks/>
          </p:cNvSpPr>
          <p:nvPr/>
        </p:nvSpPr>
        <p:spPr>
          <a:xfrm>
            <a:off x="4918963" y="2834768"/>
            <a:ext cx="4183510" cy="566242"/>
          </a:xfrm>
          <a:prstGeom prst="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spc="-25">
                <a:solidFill>
                  <a:schemeClr val="tx1"/>
                </a:solidFill>
                <a:latin typeface="Avenir Next LT Pro" panose="020B0504020202020204" pitchFamily="34" charset="0"/>
                <a:ea typeface="Calibri" panose="020F0502020204030204" pitchFamily="34" charset="0"/>
                <a:cs typeface="Calibri" panose="020F0502020204030204" pitchFamily="34" charset="0"/>
              </a:rPr>
              <a:t>HMC</a:t>
            </a:r>
          </a:p>
        </p:txBody>
      </p:sp>
      <p:pic>
        <p:nvPicPr>
          <p:cNvPr id="3" name="Picture 2" descr="Harley Davidson Logo PNG Image - PurePNG | Free transparent CC0 PNG ...">
            <a:extLst>
              <a:ext uri="{FF2B5EF4-FFF2-40B4-BE49-F238E27FC236}">
                <a16:creationId xmlns:a16="http://schemas.microsoft.com/office/drawing/2014/main" id="{BE426F36-55C0-BEE3-D72B-38B99B12E6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pic>
        <p:nvPicPr>
          <p:cNvPr id="23554" name="Picture 2" descr="LiveWire Motorcycle News &amp; Reviews - Cycle News">
            <a:extLst>
              <a:ext uri="{FF2B5EF4-FFF2-40B4-BE49-F238E27FC236}">
                <a16:creationId xmlns:a16="http://schemas.microsoft.com/office/drawing/2014/main" id="{D78DD0C5-23AD-113A-F86B-D8ECCB44E3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17404" y="2016653"/>
            <a:ext cx="2484446" cy="57000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C12A0B66-62B9-B51A-A916-A39EA9C9E7E9}"/>
              </a:ext>
            </a:extLst>
          </p:cNvPr>
          <p:cNvGrpSpPr/>
          <p:nvPr/>
        </p:nvGrpSpPr>
        <p:grpSpPr>
          <a:xfrm>
            <a:off x="695325" y="6302380"/>
            <a:ext cx="10429876" cy="265521"/>
            <a:chOff x="695325" y="6302380"/>
            <a:chExt cx="10429876" cy="265521"/>
          </a:xfrm>
        </p:grpSpPr>
        <p:sp>
          <p:nvSpPr>
            <p:cNvPr id="24" name="object 13">
              <a:extLst>
                <a:ext uri="{FF2B5EF4-FFF2-40B4-BE49-F238E27FC236}">
                  <a16:creationId xmlns:a16="http://schemas.microsoft.com/office/drawing/2014/main" id="{0519446F-78DA-28F4-036E-660E0AC0B8C3}"/>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25" name="object 14">
              <a:extLst>
                <a:ext uri="{FF2B5EF4-FFF2-40B4-BE49-F238E27FC236}">
                  <a16:creationId xmlns:a16="http://schemas.microsoft.com/office/drawing/2014/main" id="{7F631949-CF76-44E6-9F0B-FC34AFA1B231}"/>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26" name="object 15">
              <a:extLst>
                <a:ext uri="{FF2B5EF4-FFF2-40B4-BE49-F238E27FC236}">
                  <a16:creationId xmlns:a16="http://schemas.microsoft.com/office/drawing/2014/main" id="{65642A03-39CE-1C10-AC9E-FD79EB1A3AAD}"/>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7"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
          <p:nvSpPr>
            <p:cNvPr id="27" name="object 16">
              <a:extLst>
                <a:ext uri="{FF2B5EF4-FFF2-40B4-BE49-F238E27FC236}">
                  <a16:creationId xmlns:a16="http://schemas.microsoft.com/office/drawing/2014/main" id="{3CA761B7-A1EB-7DFC-C4B1-9FCBF6A48B07}"/>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29" name="object 37">
              <a:extLst>
                <a:ext uri="{FF2B5EF4-FFF2-40B4-BE49-F238E27FC236}">
                  <a16:creationId xmlns:a16="http://schemas.microsoft.com/office/drawing/2014/main" id="{482C0AF2-5329-B976-AF7A-9F46B1C3AFE4}"/>
                </a:ext>
              </a:extLst>
            </p:cNvPr>
            <p:cNvSpPr txBox="1"/>
            <p:nvPr/>
          </p:nvSpPr>
          <p:spPr>
            <a:xfrm>
              <a:off x="949716" y="6328116"/>
              <a:ext cx="883795"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Overview</a:t>
              </a:r>
              <a:endParaRPr lang="en-US" sz="1401" b="1">
                <a:latin typeface="Avenir Next LT Pro" panose="020B0504020202020204" pitchFamily="34" charset="0"/>
                <a:cs typeface="Segoe UI"/>
              </a:endParaRPr>
            </a:p>
          </p:txBody>
        </p:sp>
        <p:sp>
          <p:nvSpPr>
            <p:cNvPr id="30" name="object 39">
              <a:extLst>
                <a:ext uri="{FF2B5EF4-FFF2-40B4-BE49-F238E27FC236}">
                  <a16:creationId xmlns:a16="http://schemas.microsoft.com/office/drawing/2014/main" id="{DABFCBDC-CAC2-C81B-97B2-4FD1164F3641}"/>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31" name="object 40">
              <a:extLst>
                <a:ext uri="{FF2B5EF4-FFF2-40B4-BE49-F238E27FC236}">
                  <a16:creationId xmlns:a16="http://schemas.microsoft.com/office/drawing/2014/main" id="{4000D46C-D39E-DE57-0A6F-9499E048A3FB}"/>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32" name="object 41">
              <a:extLst>
                <a:ext uri="{FF2B5EF4-FFF2-40B4-BE49-F238E27FC236}">
                  <a16:creationId xmlns:a16="http://schemas.microsoft.com/office/drawing/2014/main" id="{BB39642E-EE5E-C772-ADC7-8CF518A23098}"/>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673260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Chart 48">
            <a:extLst>
              <a:ext uri="{FF2B5EF4-FFF2-40B4-BE49-F238E27FC236}">
                <a16:creationId xmlns:a16="http://schemas.microsoft.com/office/drawing/2014/main" id="{360CC903-3B5A-FA78-7E0D-F626CF79CB5B}"/>
              </a:ext>
            </a:extLst>
          </p:cNvPr>
          <p:cNvGraphicFramePr>
            <a:graphicFrameLocks/>
          </p:cNvGraphicFramePr>
          <p:nvPr>
            <p:extLst>
              <p:ext uri="{D42A27DB-BD31-4B8C-83A1-F6EECF244321}">
                <p14:modId xmlns:p14="http://schemas.microsoft.com/office/powerpoint/2010/main" val="3405905226"/>
              </p:ext>
            </p:extLst>
          </p:nvPr>
        </p:nvGraphicFramePr>
        <p:xfrm>
          <a:off x="9378119" y="1751128"/>
          <a:ext cx="1204147" cy="120957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9" name="Chart 28">
            <a:extLst>
              <a:ext uri="{FF2B5EF4-FFF2-40B4-BE49-F238E27FC236}">
                <a16:creationId xmlns:a16="http://schemas.microsoft.com/office/drawing/2014/main" id="{3810E285-CE5E-C504-9293-B8E3DA897903}"/>
              </a:ext>
            </a:extLst>
          </p:cNvPr>
          <p:cNvGraphicFramePr>
            <a:graphicFrameLocks/>
          </p:cNvGraphicFramePr>
          <p:nvPr>
            <p:extLst>
              <p:ext uri="{D42A27DB-BD31-4B8C-83A1-F6EECF244321}">
                <p14:modId xmlns:p14="http://schemas.microsoft.com/office/powerpoint/2010/main" val="273789787"/>
              </p:ext>
            </p:extLst>
          </p:nvPr>
        </p:nvGraphicFramePr>
        <p:xfrm>
          <a:off x="5344055" y="1753699"/>
          <a:ext cx="1207008" cy="120700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Chart 26">
            <a:extLst>
              <a:ext uri="{FF2B5EF4-FFF2-40B4-BE49-F238E27FC236}">
                <a16:creationId xmlns:a16="http://schemas.microsoft.com/office/drawing/2014/main" id="{269692E6-C1D7-D6AF-0207-6DBF903F41F6}"/>
              </a:ext>
            </a:extLst>
          </p:cNvPr>
          <p:cNvGraphicFramePr>
            <a:graphicFrameLocks/>
          </p:cNvGraphicFramePr>
          <p:nvPr>
            <p:extLst>
              <p:ext uri="{D42A27DB-BD31-4B8C-83A1-F6EECF244321}">
                <p14:modId xmlns:p14="http://schemas.microsoft.com/office/powerpoint/2010/main" val="1055026805"/>
              </p:ext>
            </p:extLst>
          </p:nvPr>
        </p:nvGraphicFramePr>
        <p:xfrm>
          <a:off x="3470484" y="1730481"/>
          <a:ext cx="1207008" cy="120700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5" name="Chart 24">
            <a:extLst>
              <a:ext uri="{FF2B5EF4-FFF2-40B4-BE49-F238E27FC236}">
                <a16:creationId xmlns:a16="http://schemas.microsoft.com/office/drawing/2014/main" id="{9FAA04A0-FA67-172B-876E-D67A63C0CA9F}"/>
              </a:ext>
            </a:extLst>
          </p:cNvPr>
          <p:cNvGraphicFramePr>
            <a:graphicFrameLocks/>
          </p:cNvGraphicFramePr>
          <p:nvPr>
            <p:extLst>
              <p:ext uri="{D42A27DB-BD31-4B8C-83A1-F6EECF244321}">
                <p14:modId xmlns:p14="http://schemas.microsoft.com/office/powerpoint/2010/main" val="3964467187"/>
              </p:ext>
            </p:extLst>
          </p:nvPr>
        </p:nvGraphicFramePr>
        <p:xfrm>
          <a:off x="1797045" y="1767721"/>
          <a:ext cx="1174887" cy="114768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1" name="Chart 50">
            <a:extLst>
              <a:ext uri="{FF2B5EF4-FFF2-40B4-BE49-F238E27FC236}">
                <a16:creationId xmlns:a16="http://schemas.microsoft.com/office/drawing/2014/main" id="{2C77514B-CA81-8518-A8EF-7047ACF10DB0}"/>
              </a:ext>
            </a:extLst>
          </p:cNvPr>
          <p:cNvGraphicFramePr>
            <a:graphicFrameLocks/>
          </p:cNvGraphicFramePr>
          <p:nvPr>
            <p:extLst>
              <p:ext uri="{D42A27DB-BD31-4B8C-83A1-F6EECF244321}">
                <p14:modId xmlns:p14="http://schemas.microsoft.com/office/powerpoint/2010/main" val="3029167392"/>
              </p:ext>
            </p:extLst>
          </p:nvPr>
        </p:nvGraphicFramePr>
        <p:xfrm>
          <a:off x="7615996" y="3691634"/>
          <a:ext cx="2857500" cy="2271815"/>
        </p:xfrm>
        <a:graphic>
          <a:graphicData uri="http://schemas.openxmlformats.org/drawingml/2006/chart">
            <c:chart xmlns:c="http://schemas.openxmlformats.org/drawingml/2006/chart" xmlns:r="http://schemas.openxmlformats.org/officeDocument/2006/relationships" r:id="rId7"/>
          </a:graphicData>
        </a:graphic>
      </p:graphicFrame>
      <p:sp>
        <p:nvSpPr>
          <p:cNvPr id="2" name="object 2"/>
          <p:cNvSpPr txBox="1"/>
          <p:nvPr/>
        </p:nvSpPr>
        <p:spPr>
          <a:xfrm>
            <a:off x="3490976" y="995428"/>
            <a:ext cx="5381625" cy="337913"/>
          </a:xfrm>
          <a:prstGeom prst="rect">
            <a:avLst/>
          </a:prstGeom>
          <a:solidFill>
            <a:schemeClr val="accent2">
              <a:lumMod val="20000"/>
              <a:lumOff val="80000"/>
            </a:schemeClr>
          </a:solidFill>
          <a:ln w="25400">
            <a:solidFill>
              <a:schemeClr val="accent2">
                <a:lumMod val="75000"/>
              </a:schemeClr>
            </a:solidFill>
          </a:ln>
        </p:spPr>
        <p:txBody>
          <a:bodyPr vert="horz" wrap="square" lIns="0" tIns="29845" rIns="0" bIns="0" rtlCol="0">
            <a:spAutoFit/>
          </a:bodyPr>
          <a:lstStyle/>
          <a:p>
            <a:pPr algn="ctr">
              <a:spcBef>
                <a:spcPts val="235"/>
              </a:spcBef>
            </a:pPr>
            <a:r>
              <a:rPr lang="en-US" sz="2000">
                <a:latin typeface="Avenir Next LT Pro" panose="020B0504020202020204" pitchFamily="34" charset="0"/>
                <a:cs typeface="Segoe UI Light"/>
              </a:rPr>
              <a:t>2025</a:t>
            </a:r>
            <a:r>
              <a:rPr lang="en-US" sz="2000" spc="-44">
                <a:latin typeface="Avenir Next LT Pro" panose="020B0504020202020204" pitchFamily="34" charset="0"/>
                <a:cs typeface="Segoe UI Light"/>
              </a:rPr>
              <a:t> </a:t>
            </a:r>
            <a:r>
              <a:rPr lang="en-US" sz="2000">
                <a:latin typeface="Avenir Next LT Pro" panose="020B0504020202020204" pitchFamily="34" charset="0"/>
                <a:cs typeface="Segoe UI Light"/>
              </a:rPr>
              <a:t>Revenues</a:t>
            </a:r>
            <a:r>
              <a:rPr lang="en-US" sz="2000" spc="-5">
                <a:latin typeface="Avenir Next LT Pro" panose="020B0504020202020204" pitchFamily="34" charset="0"/>
                <a:cs typeface="Segoe UI Light"/>
              </a:rPr>
              <a:t> </a:t>
            </a:r>
            <a:r>
              <a:rPr lang="en-US" sz="2000">
                <a:latin typeface="Avenir Next LT Pro" panose="020B0504020202020204" pitchFamily="34" charset="0"/>
                <a:cs typeface="Segoe UI Light"/>
              </a:rPr>
              <a:t>by</a:t>
            </a:r>
            <a:r>
              <a:rPr lang="en-US" sz="2000" spc="-60">
                <a:latin typeface="Avenir Next LT Pro" panose="020B0504020202020204" pitchFamily="34" charset="0"/>
                <a:cs typeface="Segoe UI Light"/>
              </a:rPr>
              <a:t> </a:t>
            </a:r>
            <a:r>
              <a:rPr lang="en-US" sz="2000" spc="-11">
                <a:latin typeface="Avenir Next LT Pro" panose="020B0504020202020204" pitchFamily="34" charset="0"/>
                <a:cs typeface="Segoe UI Light"/>
              </a:rPr>
              <a:t>Region</a:t>
            </a:r>
            <a:endParaRPr lang="en-US" sz="2000">
              <a:latin typeface="Avenir Next LT Pro" panose="020B0504020202020204" pitchFamily="34" charset="0"/>
              <a:cs typeface="Segoe UI Light"/>
            </a:endParaRPr>
          </a:p>
        </p:txBody>
      </p:sp>
      <p:sp>
        <p:nvSpPr>
          <p:cNvPr id="3" name="object 3"/>
          <p:cNvSpPr txBox="1">
            <a:spLocks noGrp="1"/>
          </p:cNvSpPr>
          <p:nvPr>
            <p:ph type="title"/>
          </p:nvPr>
        </p:nvSpPr>
        <p:spPr>
          <a:xfrm>
            <a:off x="490536" y="219317"/>
            <a:ext cx="5897203" cy="626133"/>
          </a:xfrm>
          <a:prstGeom prst="rect">
            <a:avLst/>
          </a:prstGeom>
        </p:spPr>
        <p:txBody>
          <a:bodyPr vert="horz" wrap="square" lIns="0" tIns="12700" rIns="0" bIns="0" rtlCol="0">
            <a:spAutoFit/>
          </a:bodyPr>
          <a:lstStyle/>
          <a:p>
            <a:pPr marL="12701">
              <a:spcBef>
                <a:spcPts val="100"/>
              </a:spcBef>
            </a:pPr>
            <a:r>
              <a:rPr lang="en-US">
                <a:solidFill>
                  <a:schemeClr val="accent2">
                    <a:lumMod val="75000"/>
                  </a:schemeClr>
                </a:solidFill>
                <a:latin typeface="Avenir Next LT Pro" panose="020B0504020202020204" pitchFamily="34" charset="0"/>
                <a:hlinkClick r:id="rId8" action="ppaction://hlinksldjump">
                  <a:extLst>
                    <a:ext uri="{A12FA001-AC4F-418D-AE19-62706E023703}">
                      <ahyp:hlinkClr xmlns:ahyp="http://schemas.microsoft.com/office/drawing/2018/hyperlinkcolor" val="tx"/>
                    </a:ext>
                  </a:extLst>
                </a:hlinkClick>
              </a:rPr>
              <a:t>Revenue</a:t>
            </a:r>
            <a:r>
              <a:rPr lang="en-US" spc="-50">
                <a:solidFill>
                  <a:schemeClr val="accent2">
                    <a:lumMod val="75000"/>
                  </a:schemeClr>
                </a:solidFill>
                <a:latin typeface="Avenir Next LT Pro" panose="020B0504020202020204" pitchFamily="34" charset="0"/>
                <a:hlinkClick r:id="rId8" action="ppaction://hlinksldjump">
                  <a:extLst>
                    <a:ext uri="{A12FA001-AC4F-418D-AE19-62706E023703}">
                      <ahyp:hlinkClr xmlns:ahyp="http://schemas.microsoft.com/office/drawing/2018/hyperlinkcolor" val="tx"/>
                    </a:ext>
                  </a:extLst>
                </a:hlinkClick>
              </a:rPr>
              <a:t> </a:t>
            </a:r>
            <a:r>
              <a:rPr lang="en-US" spc="-11">
                <a:solidFill>
                  <a:schemeClr val="accent2">
                    <a:lumMod val="75000"/>
                  </a:schemeClr>
                </a:solidFill>
                <a:latin typeface="Avenir Next LT Pro" panose="020B0504020202020204" pitchFamily="34" charset="0"/>
                <a:hlinkClick r:id="rId8" action="ppaction://hlinksldjump">
                  <a:extLst>
                    <a:ext uri="{A12FA001-AC4F-418D-AE19-62706E023703}">
                      <ahyp:hlinkClr xmlns:ahyp="http://schemas.microsoft.com/office/drawing/2018/hyperlinkcolor" val="tx"/>
                    </a:ext>
                  </a:extLst>
                </a:hlinkClick>
              </a:rPr>
              <a:t>Breakdown</a:t>
            </a:r>
          </a:p>
        </p:txBody>
      </p:sp>
      <p:sp>
        <p:nvSpPr>
          <p:cNvPr id="4" name="object 4"/>
          <p:cNvSpPr txBox="1"/>
          <p:nvPr/>
        </p:nvSpPr>
        <p:spPr>
          <a:xfrm>
            <a:off x="78738" y="6657021"/>
            <a:ext cx="339174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a:t>
            </a:r>
            <a:r>
              <a:rPr lang="en-US" sz="949" i="1" spc="110">
                <a:latin typeface="Avenir Next LT Pro" panose="020B0504020202020204" pitchFamily="34" charset="0"/>
                <a:cs typeface="Segoe UI"/>
              </a:rPr>
              <a:t>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p>
        </p:txBody>
      </p:sp>
      <p:sp>
        <p:nvSpPr>
          <p:cNvPr id="6" name="object 6"/>
          <p:cNvSpPr txBox="1"/>
          <p:nvPr/>
        </p:nvSpPr>
        <p:spPr>
          <a:xfrm>
            <a:off x="1565578" y="1515097"/>
            <a:ext cx="1760479" cy="289951"/>
          </a:xfrm>
          <a:prstGeom prst="rect">
            <a:avLst/>
          </a:prstGeom>
        </p:spPr>
        <p:txBody>
          <a:bodyPr vert="horz" wrap="square" lIns="0" tIns="12700" rIns="0" bIns="0" rtlCol="0">
            <a:spAutoFit/>
          </a:bodyPr>
          <a:lstStyle/>
          <a:p>
            <a:pPr marL="12701">
              <a:spcBef>
                <a:spcPts val="100"/>
              </a:spcBef>
            </a:pPr>
            <a:r>
              <a:rPr lang="en-US" sz="1801">
                <a:latin typeface="Avenir Next LT Pro" panose="020B0504020202020204" pitchFamily="34" charset="0"/>
                <a:cs typeface="Segoe UI Light"/>
              </a:rPr>
              <a:t>North</a:t>
            </a:r>
            <a:r>
              <a:rPr lang="en-US" sz="1801" spc="-50">
                <a:latin typeface="Avenir Next LT Pro" panose="020B0504020202020204" pitchFamily="34" charset="0"/>
                <a:cs typeface="Segoe UI Light"/>
              </a:rPr>
              <a:t> </a:t>
            </a:r>
            <a:r>
              <a:rPr lang="en-US" sz="1801" spc="-11">
                <a:latin typeface="Avenir Next LT Pro" panose="020B0504020202020204" pitchFamily="34" charset="0"/>
                <a:cs typeface="Segoe UI Light"/>
              </a:rPr>
              <a:t>America</a:t>
            </a:r>
            <a:endParaRPr lang="en-US" sz="1801">
              <a:latin typeface="Avenir Next LT Pro" panose="020B0504020202020204" pitchFamily="34" charset="0"/>
              <a:cs typeface="Segoe UI Light"/>
            </a:endParaRPr>
          </a:p>
        </p:txBody>
      </p:sp>
      <p:sp>
        <p:nvSpPr>
          <p:cNvPr id="10" name="object 10"/>
          <p:cNvSpPr txBox="1"/>
          <p:nvPr/>
        </p:nvSpPr>
        <p:spPr>
          <a:xfrm>
            <a:off x="2216090" y="2195363"/>
            <a:ext cx="437515" cy="254558"/>
          </a:xfrm>
          <a:prstGeom prst="rect">
            <a:avLst/>
          </a:prstGeom>
        </p:spPr>
        <p:txBody>
          <a:bodyPr vert="horz" wrap="square" lIns="0" tIns="15876" rIns="0" bIns="0" rtlCol="0">
            <a:spAutoFit/>
          </a:bodyPr>
          <a:lstStyle/>
          <a:p>
            <a:pPr marL="12701">
              <a:spcBef>
                <a:spcPts val="124"/>
              </a:spcBef>
            </a:pPr>
            <a:r>
              <a:rPr lang="en-US" sz="1550" b="1" spc="-25">
                <a:solidFill>
                  <a:srgbClr val="404040"/>
                </a:solidFill>
                <a:latin typeface="Avenir Next LT Pro" panose="020B0504020202020204" pitchFamily="34" charset="0"/>
                <a:cs typeface="Segoe UI"/>
              </a:rPr>
              <a:t>62%</a:t>
            </a:r>
            <a:endParaRPr lang="en-US" sz="1550">
              <a:latin typeface="Avenir Next LT Pro" panose="020B0504020202020204" pitchFamily="34" charset="0"/>
              <a:cs typeface="Segoe UI"/>
            </a:endParaRPr>
          </a:p>
        </p:txBody>
      </p:sp>
      <p:sp>
        <p:nvSpPr>
          <p:cNvPr id="15" name="object 15"/>
          <p:cNvSpPr txBox="1"/>
          <p:nvPr/>
        </p:nvSpPr>
        <p:spPr>
          <a:xfrm>
            <a:off x="3955972" y="2218617"/>
            <a:ext cx="437515" cy="254558"/>
          </a:xfrm>
          <a:prstGeom prst="rect">
            <a:avLst/>
          </a:prstGeom>
        </p:spPr>
        <p:txBody>
          <a:bodyPr vert="horz" wrap="square" lIns="0" tIns="15876" rIns="0" bIns="0" rtlCol="0">
            <a:spAutoFit/>
          </a:bodyPr>
          <a:lstStyle/>
          <a:p>
            <a:pPr marL="12701">
              <a:spcBef>
                <a:spcPts val="124"/>
              </a:spcBef>
            </a:pPr>
            <a:r>
              <a:rPr lang="en-US" sz="1550" b="1" spc="-25">
                <a:solidFill>
                  <a:srgbClr val="404040"/>
                </a:solidFill>
                <a:latin typeface="Avenir Next LT Pro" panose="020B0504020202020204" pitchFamily="34" charset="0"/>
                <a:cs typeface="Segoe UI"/>
              </a:rPr>
              <a:t>5%</a:t>
            </a:r>
            <a:endParaRPr lang="en-US" sz="1550">
              <a:latin typeface="Avenir Next LT Pro" panose="020B0504020202020204" pitchFamily="34" charset="0"/>
              <a:cs typeface="Segoe UI"/>
            </a:endParaRPr>
          </a:p>
        </p:txBody>
      </p:sp>
      <p:sp>
        <p:nvSpPr>
          <p:cNvPr id="19" name="object 19"/>
          <p:cNvSpPr txBox="1"/>
          <p:nvPr/>
        </p:nvSpPr>
        <p:spPr>
          <a:xfrm>
            <a:off x="5764384" y="2228638"/>
            <a:ext cx="438149" cy="254558"/>
          </a:xfrm>
          <a:prstGeom prst="rect">
            <a:avLst/>
          </a:prstGeom>
        </p:spPr>
        <p:txBody>
          <a:bodyPr vert="horz" wrap="square" lIns="0" tIns="15876" rIns="0" bIns="0" rtlCol="0">
            <a:spAutoFit/>
          </a:bodyPr>
          <a:lstStyle/>
          <a:p>
            <a:pPr marL="12701">
              <a:spcBef>
                <a:spcPts val="124"/>
              </a:spcBef>
            </a:pPr>
            <a:r>
              <a:rPr lang="en-US" sz="1550" b="1" spc="-25">
                <a:solidFill>
                  <a:srgbClr val="404040"/>
                </a:solidFill>
                <a:latin typeface="Avenir Next LT Pro" panose="020B0504020202020204" pitchFamily="34" charset="0"/>
                <a:cs typeface="Segoe UI"/>
              </a:rPr>
              <a:t>16%</a:t>
            </a:r>
            <a:endParaRPr lang="en-US" sz="1550">
              <a:latin typeface="Avenir Next LT Pro" panose="020B0504020202020204" pitchFamily="34" charset="0"/>
              <a:cs typeface="Segoe UI"/>
            </a:endParaRPr>
          </a:p>
        </p:txBody>
      </p:sp>
      <p:sp>
        <p:nvSpPr>
          <p:cNvPr id="20" name="object 20"/>
          <p:cNvSpPr txBox="1"/>
          <p:nvPr/>
        </p:nvSpPr>
        <p:spPr>
          <a:xfrm>
            <a:off x="9378119" y="1516921"/>
            <a:ext cx="1761355" cy="289951"/>
          </a:xfrm>
          <a:prstGeom prst="rect">
            <a:avLst/>
          </a:prstGeom>
        </p:spPr>
        <p:txBody>
          <a:bodyPr vert="horz" wrap="square" lIns="0" tIns="12700" rIns="0" bIns="0" rtlCol="0">
            <a:spAutoFit/>
          </a:bodyPr>
          <a:lstStyle/>
          <a:p>
            <a:pPr marL="12701">
              <a:spcBef>
                <a:spcPts val="100"/>
              </a:spcBef>
            </a:pPr>
            <a:r>
              <a:rPr lang="en-US" sz="1801">
                <a:latin typeface="Avenir Next LT Pro" panose="020B0504020202020204" pitchFamily="34" charset="0"/>
                <a:cs typeface="Segoe UI Light"/>
              </a:rPr>
              <a:t>Latin America</a:t>
            </a:r>
          </a:p>
        </p:txBody>
      </p:sp>
      <p:sp>
        <p:nvSpPr>
          <p:cNvPr id="24" name="object 24"/>
          <p:cNvSpPr txBox="1"/>
          <p:nvPr/>
        </p:nvSpPr>
        <p:spPr>
          <a:xfrm>
            <a:off x="9852712" y="2214284"/>
            <a:ext cx="438149" cy="254558"/>
          </a:xfrm>
          <a:prstGeom prst="rect">
            <a:avLst/>
          </a:prstGeom>
        </p:spPr>
        <p:txBody>
          <a:bodyPr vert="horz" wrap="square" lIns="0" tIns="15876" rIns="0" bIns="0" rtlCol="0">
            <a:spAutoFit/>
          </a:bodyPr>
          <a:lstStyle/>
          <a:p>
            <a:pPr marL="12701">
              <a:spcBef>
                <a:spcPts val="124"/>
              </a:spcBef>
            </a:pPr>
            <a:r>
              <a:rPr lang="en-US" sz="1550" b="1" spc="-25">
                <a:solidFill>
                  <a:srgbClr val="404040"/>
                </a:solidFill>
                <a:latin typeface="Avenir Next LT Pro" panose="020B0504020202020204" pitchFamily="34" charset="0"/>
                <a:cs typeface="Segoe UI"/>
              </a:rPr>
              <a:t>2%</a:t>
            </a:r>
            <a:endParaRPr lang="en-US" sz="1550">
              <a:latin typeface="Avenir Next LT Pro" panose="020B0504020202020204" pitchFamily="34" charset="0"/>
              <a:cs typeface="Segoe UI"/>
            </a:endParaRPr>
          </a:p>
        </p:txBody>
      </p:sp>
      <p:sp>
        <p:nvSpPr>
          <p:cNvPr id="31" name="object 31"/>
          <p:cNvSpPr txBox="1"/>
          <p:nvPr/>
        </p:nvSpPr>
        <p:spPr>
          <a:xfrm>
            <a:off x="6180490" y="3783014"/>
            <a:ext cx="1844422" cy="720519"/>
          </a:xfrm>
          <a:prstGeom prst="rect">
            <a:avLst/>
          </a:prstGeom>
        </p:spPr>
        <p:txBody>
          <a:bodyPr vert="horz" wrap="square" lIns="0" tIns="12066" rIns="0" bIns="0" rtlCol="0">
            <a:spAutoFit/>
          </a:bodyPr>
          <a:lstStyle/>
          <a:p>
            <a:pPr marL="37465" marR="5081" indent="-25401">
              <a:lnSpc>
                <a:spcPct val="111800"/>
              </a:lnSpc>
              <a:spcBef>
                <a:spcPts val="94"/>
              </a:spcBef>
            </a:pPr>
            <a:r>
              <a:rPr lang="en-US" sz="1401" spc="-11">
                <a:latin typeface="Avenir Next LT Pro" panose="020B0504020202020204" pitchFamily="34" charset="0"/>
                <a:cs typeface="Segoe UI"/>
              </a:rPr>
              <a:t>Harley-Davidson Financial Services</a:t>
            </a:r>
            <a:r>
              <a:rPr lang="en-US" sz="1401">
                <a:latin typeface="Avenir Next LT Pro" panose="020B0504020202020204" pitchFamily="34" charset="0"/>
                <a:cs typeface="Segoe UI"/>
              </a:rPr>
              <a:t>,</a:t>
            </a:r>
            <a:r>
              <a:rPr lang="en-US" sz="1401" spc="-55">
                <a:latin typeface="Avenir Next LT Pro" panose="020B0504020202020204" pitchFamily="34" charset="0"/>
                <a:cs typeface="Segoe UI"/>
              </a:rPr>
              <a:t> </a:t>
            </a:r>
            <a:r>
              <a:rPr lang="en-US" sz="1401" b="1" spc="-25">
                <a:latin typeface="Avenir Next LT Pro" panose="020B0504020202020204" pitchFamily="34" charset="0"/>
                <a:cs typeface="Segoe UI"/>
              </a:rPr>
              <a:t>20%</a:t>
            </a:r>
            <a:endParaRPr lang="en-US" sz="1401">
              <a:latin typeface="Avenir Next LT Pro" panose="020B0504020202020204" pitchFamily="34" charset="0"/>
              <a:cs typeface="Segoe UI"/>
            </a:endParaRPr>
          </a:p>
        </p:txBody>
      </p:sp>
      <p:sp>
        <p:nvSpPr>
          <p:cNvPr id="32" name="object 32"/>
          <p:cNvSpPr txBox="1"/>
          <p:nvPr/>
        </p:nvSpPr>
        <p:spPr>
          <a:xfrm>
            <a:off x="10187052" y="3625924"/>
            <a:ext cx="1242948" cy="231603"/>
          </a:xfrm>
          <a:prstGeom prst="rect">
            <a:avLst/>
          </a:prstGeom>
        </p:spPr>
        <p:txBody>
          <a:bodyPr vert="horz" wrap="square" lIns="0" tIns="15876" rIns="0" bIns="0" rtlCol="0">
            <a:spAutoFit/>
          </a:bodyPr>
          <a:lstStyle/>
          <a:p>
            <a:pPr marL="12701">
              <a:spcBef>
                <a:spcPts val="124"/>
              </a:spcBef>
            </a:pPr>
            <a:r>
              <a:rPr lang="en-US" sz="1401">
                <a:latin typeface="Avenir Next LT Pro" panose="020B0504020202020204" pitchFamily="34" charset="0"/>
                <a:cs typeface="Segoe UI"/>
              </a:rPr>
              <a:t>Livewire,</a:t>
            </a:r>
            <a:r>
              <a:rPr lang="en-US" sz="1401" spc="-41">
                <a:latin typeface="Avenir Next LT Pro" panose="020B0504020202020204" pitchFamily="34" charset="0"/>
                <a:cs typeface="Segoe UI"/>
              </a:rPr>
              <a:t> </a:t>
            </a:r>
            <a:r>
              <a:rPr lang="en-US" sz="1401" b="1" spc="-41">
                <a:latin typeface="Avenir Next LT Pro" panose="020B0504020202020204" pitchFamily="34" charset="0"/>
                <a:cs typeface="Segoe UI"/>
              </a:rPr>
              <a:t>&lt;</a:t>
            </a:r>
            <a:r>
              <a:rPr lang="en-US" sz="1401" b="1" spc="-25">
                <a:latin typeface="Avenir Next LT Pro" panose="020B0504020202020204" pitchFamily="34" charset="0"/>
                <a:cs typeface="Segoe UI"/>
              </a:rPr>
              <a:t>1%</a:t>
            </a:r>
            <a:endParaRPr lang="en-US" sz="1401">
              <a:latin typeface="Avenir Next LT Pro" panose="020B0504020202020204" pitchFamily="34" charset="0"/>
              <a:cs typeface="Segoe UI"/>
            </a:endParaRPr>
          </a:p>
        </p:txBody>
      </p:sp>
      <p:sp>
        <p:nvSpPr>
          <p:cNvPr id="33" name="object 33"/>
          <p:cNvSpPr txBox="1"/>
          <p:nvPr/>
        </p:nvSpPr>
        <p:spPr>
          <a:xfrm>
            <a:off x="9830570" y="5776240"/>
            <a:ext cx="1836335" cy="484429"/>
          </a:xfrm>
          <a:prstGeom prst="rect">
            <a:avLst/>
          </a:prstGeom>
        </p:spPr>
        <p:txBody>
          <a:bodyPr vert="horz" wrap="square" lIns="0" tIns="12066" rIns="0" bIns="0" rtlCol="0">
            <a:spAutoFit/>
          </a:bodyPr>
          <a:lstStyle/>
          <a:p>
            <a:pPr marL="12701" marR="5081" indent="85091">
              <a:lnSpc>
                <a:spcPct val="111700"/>
              </a:lnSpc>
              <a:spcBef>
                <a:spcPts val="94"/>
              </a:spcBef>
            </a:pPr>
            <a:r>
              <a:rPr lang="en-US" sz="1401">
                <a:latin typeface="Avenir Next LT Pro" panose="020B0504020202020204" pitchFamily="34" charset="0"/>
                <a:cs typeface="Segoe UI"/>
              </a:rPr>
              <a:t>Harley Davidson Motor Company,</a:t>
            </a:r>
            <a:r>
              <a:rPr lang="en-US" sz="1401" spc="-41">
                <a:latin typeface="Avenir Next LT Pro" panose="020B0504020202020204" pitchFamily="34" charset="0"/>
                <a:cs typeface="Segoe UI"/>
              </a:rPr>
              <a:t> </a:t>
            </a:r>
            <a:r>
              <a:rPr lang="en-US" sz="1401" b="1" spc="-25">
                <a:latin typeface="Avenir Next LT Pro" panose="020B0504020202020204" pitchFamily="34" charset="0"/>
                <a:cs typeface="Segoe UI"/>
              </a:rPr>
              <a:t>79%</a:t>
            </a:r>
            <a:endParaRPr lang="en-US" sz="1401">
              <a:latin typeface="Avenir Next LT Pro" panose="020B0504020202020204" pitchFamily="34" charset="0"/>
              <a:cs typeface="Segoe UI"/>
            </a:endParaRPr>
          </a:p>
        </p:txBody>
      </p:sp>
      <p:sp>
        <p:nvSpPr>
          <p:cNvPr id="35" name="object 35"/>
          <p:cNvSpPr txBox="1"/>
          <p:nvPr/>
        </p:nvSpPr>
        <p:spPr>
          <a:xfrm>
            <a:off x="1448150" y="2948977"/>
            <a:ext cx="2857500" cy="344326"/>
          </a:xfrm>
          <a:prstGeom prst="rect">
            <a:avLst/>
          </a:prstGeom>
          <a:solidFill>
            <a:schemeClr val="accent2">
              <a:lumMod val="20000"/>
              <a:lumOff val="80000"/>
            </a:schemeClr>
          </a:solidFill>
          <a:ln w="25400">
            <a:solidFill>
              <a:schemeClr val="accent2">
                <a:lumMod val="75000"/>
              </a:schemeClr>
            </a:solidFill>
          </a:ln>
        </p:spPr>
        <p:txBody>
          <a:bodyPr vert="horz" wrap="square" lIns="0" tIns="36196" rIns="0" bIns="0" rtlCol="0">
            <a:spAutoFit/>
          </a:bodyPr>
          <a:lstStyle/>
          <a:p>
            <a:pPr marL="734704">
              <a:spcBef>
                <a:spcPts val="284"/>
              </a:spcBef>
            </a:pPr>
            <a:r>
              <a:rPr lang="en-US" sz="2000">
                <a:latin typeface="Avenir Next LT Pro" panose="020B0504020202020204" pitchFamily="34" charset="0"/>
                <a:cs typeface="Segoe UI Light"/>
              </a:rPr>
              <a:t>Sales</a:t>
            </a:r>
            <a:r>
              <a:rPr lang="en-US" sz="2000" spc="-44">
                <a:latin typeface="Avenir Next LT Pro" panose="020B0504020202020204" pitchFamily="34" charset="0"/>
                <a:cs typeface="Segoe UI Light"/>
              </a:rPr>
              <a:t> </a:t>
            </a:r>
            <a:r>
              <a:rPr lang="en-US" sz="2000" spc="-11">
                <a:latin typeface="Avenir Next LT Pro" panose="020B0504020202020204" pitchFamily="34" charset="0"/>
                <a:cs typeface="Segoe UI Light"/>
              </a:rPr>
              <a:t>Growth</a:t>
            </a:r>
            <a:endParaRPr lang="en-US" sz="2000">
              <a:latin typeface="Avenir Next LT Pro" panose="020B0504020202020204" pitchFamily="34" charset="0"/>
              <a:cs typeface="Segoe UI Light"/>
            </a:endParaRPr>
          </a:p>
        </p:txBody>
      </p:sp>
      <p:sp>
        <p:nvSpPr>
          <p:cNvPr id="36" name="object 36"/>
          <p:cNvSpPr txBox="1"/>
          <p:nvPr/>
        </p:nvSpPr>
        <p:spPr>
          <a:xfrm>
            <a:off x="7195754" y="3005279"/>
            <a:ext cx="3562350" cy="344326"/>
          </a:xfrm>
          <a:prstGeom prst="rect">
            <a:avLst/>
          </a:prstGeom>
          <a:solidFill>
            <a:schemeClr val="accent2">
              <a:lumMod val="20000"/>
              <a:lumOff val="80000"/>
            </a:schemeClr>
          </a:solidFill>
          <a:ln w="25400">
            <a:solidFill>
              <a:schemeClr val="accent2">
                <a:lumMod val="75000"/>
              </a:schemeClr>
            </a:solidFill>
          </a:ln>
        </p:spPr>
        <p:txBody>
          <a:bodyPr vert="horz" wrap="square" lIns="0" tIns="36196" rIns="0" bIns="0" rtlCol="0">
            <a:spAutoFit/>
          </a:bodyPr>
          <a:lstStyle/>
          <a:p>
            <a:pPr marL="326393">
              <a:spcBef>
                <a:spcPts val="284"/>
              </a:spcBef>
            </a:pPr>
            <a:r>
              <a:rPr lang="en-US" sz="2000">
                <a:latin typeface="Avenir Next LT Pro" panose="020B0504020202020204" pitchFamily="34" charset="0"/>
                <a:cs typeface="Segoe UI Light"/>
              </a:rPr>
              <a:t>%</a:t>
            </a:r>
            <a:r>
              <a:rPr lang="en-US" sz="2000" spc="-50">
                <a:latin typeface="Avenir Next LT Pro" panose="020B0504020202020204" pitchFamily="34" charset="0"/>
                <a:cs typeface="Segoe UI Light"/>
              </a:rPr>
              <a:t> </a:t>
            </a:r>
            <a:r>
              <a:rPr lang="en-US" sz="2000">
                <a:latin typeface="Avenir Next LT Pro" panose="020B0504020202020204" pitchFamily="34" charset="0"/>
                <a:cs typeface="Segoe UI Light"/>
              </a:rPr>
              <a:t>of</a:t>
            </a:r>
            <a:r>
              <a:rPr lang="en-US" sz="2000" spc="11">
                <a:latin typeface="Avenir Next LT Pro" panose="020B0504020202020204" pitchFamily="34" charset="0"/>
                <a:cs typeface="Segoe UI Light"/>
              </a:rPr>
              <a:t> </a:t>
            </a:r>
            <a:r>
              <a:rPr lang="en-US" sz="2000">
                <a:latin typeface="Avenir Next LT Pro" panose="020B0504020202020204" pitchFamily="34" charset="0"/>
                <a:cs typeface="Segoe UI Light"/>
              </a:rPr>
              <a:t>Revenues</a:t>
            </a:r>
            <a:r>
              <a:rPr lang="en-US" sz="2000" spc="5">
                <a:latin typeface="Avenir Next LT Pro" panose="020B0504020202020204" pitchFamily="34" charset="0"/>
                <a:cs typeface="Segoe UI Light"/>
              </a:rPr>
              <a:t> </a:t>
            </a:r>
            <a:r>
              <a:rPr lang="en-US" sz="2000">
                <a:latin typeface="Avenir Next LT Pro" panose="020B0504020202020204" pitchFamily="34" charset="0"/>
                <a:cs typeface="Segoe UI Light"/>
              </a:rPr>
              <a:t>by</a:t>
            </a:r>
            <a:r>
              <a:rPr lang="en-US" sz="2000" spc="-44">
                <a:latin typeface="Avenir Next LT Pro" panose="020B0504020202020204" pitchFamily="34" charset="0"/>
                <a:cs typeface="Segoe UI Light"/>
              </a:rPr>
              <a:t> </a:t>
            </a:r>
            <a:r>
              <a:rPr lang="en-US" sz="2000" spc="-11">
                <a:latin typeface="Avenir Next LT Pro" panose="020B0504020202020204" pitchFamily="34" charset="0"/>
                <a:cs typeface="Segoe UI Light"/>
              </a:rPr>
              <a:t>Segment</a:t>
            </a:r>
            <a:endParaRPr lang="en-US" sz="2000">
              <a:latin typeface="Avenir Next LT Pro" panose="020B0504020202020204" pitchFamily="34" charset="0"/>
              <a:cs typeface="Segoe UI Light"/>
            </a:endParaRPr>
          </a:p>
        </p:txBody>
      </p:sp>
      <p:cxnSp>
        <p:nvCxnSpPr>
          <p:cNvPr id="53" name="Straight Connector 52">
            <a:extLst>
              <a:ext uri="{FF2B5EF4-FFF2-40B4-BE49-F238E27FC236}">
                <a16:creationId xmlns:a16="http://schemas.microsoft.com/office/drawing/2014/main" id="{17E9C5C5-200B-02B2-E3DC-3B36BD9817E5}"/>
              </a:ext>
            </a:extLst>
          </p:cNvPr>
          <p:cNvCxnSpPr>
            <a:cxnSpLocks/>
          </p:cNvCxnSpPr>
          <p:nvPr/>
        </p:nvCxnSpPr>
        <p:spPr>
          <a:xfrm>
            <a:off x="7657338" y="3893798"/>
            <a:ext cx="899204" cy="253757"/>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83DFB328-5200-C6C8-A157-7FC2FAFDD1B7}"/>
              </a:ext>
            </a:extLst>
          </p:cNvPr>
          <p:cNvCxnSpPr>
            <a:cxnSpLocks/>
          </p:cNvCxnSpPr>
          <p:nvPr/>
        </p:nvCxnSpPr>
        <p:spPr>
          <a:xfrm flipV="1">
            <a:off x="9120251" y="3741726"/>
            <a:ext cx="968753" cy="17616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0F83C90D-A2B8-2AE2-75B6-DDB9D758C840}"/>
              </a:ext>
            </a:extLst>
          </p:cNvPr>
          <p:cNvCxnSpPr>
            <a:cxnSpLocks/>
          </p:cNvCxnSpPr>
          <p:nvPr/>
        </p:nvCxnSpPr>
        <p:spPr>
          <a:xfrm>
            <a:off x="9351425" y="5588422"/>
            <a:ext cx="445336" cy="36188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28" name="object 6">
            <a:extLst>
              <a:ext uri="{FF2B5EF4-FFF2-40B4-BE49-F238E27FC236}">
                <a16:creationId xmlns:a16="http://schemas.microsoft.com/office/drawing/2014/main" id="{3D16A912-D448-D4C6-2D62-86196E373CB1}"/>
              </a:ext>
            </a:extLst>
          </p:cNvPr>
          <p:cNvSpPr txBox="1"/>
          <p:nvPr/>
        </p:nvSpPr>
        <p:spPr>
          <a:xfrm>
            <a:off x="3586587" y="1513900"/>
            <a:ext cx="830375" cy="289951"/>
          </a:xfrm>
          <a:prstGeom prst="rect">
            <a:avLst/>
          </a:prstGeom>
        </p:spPr>
        <p:txBody>
          <a:bodyPr vert="horz" wrap="square" lIns="0" tIns="12700" rIns="0" bIns="0" rtlCol="0">
            <a:spAutoFit/>
          </a:bodyPr>
          <a:lstStyle/>
          <a:p>
            <a:pPr marL="12701">
              <a:spcBef>
                <a:spcPts val="100"/>
              </a:spcBef>
            </a:pPr>
            <a:r>
              <a:rPr lang="en-US" sz="1801">
                <a:latin typeface="Avenir Next LT Pro" panose="020B0504020202020204" pitchFamily="34" charset="0"/>
                <a:cs typeface="Segoe UI Light"/>
              </a:rPr>
              <a:t>Canada</a:t>
            </a:r>
          </a:p>
        </p:txBody>
      </p:sp>
      <p:sp>
        <p:nvSpPr>
          <p:cNvPr id="30" name="object 6">
            <a:extLst>
              <a:ext uri="{FF2B5EF4-FFF2-40B4-BE49-F238E27FC236}">
                <a16:creationId xmlns:a16="http://schemas.microsoft.com/office/drawing/2014/main" id="{8EDC01E0-C6AB-BBEA-7756-D6519BADEBFE}"/>
              </a:ext>
            </a:extLst>
          </p:cNvPr>
          <p:cNvSpPr txBox="1"/>
          <p:nvPr/>
        </p:nvSpPr>
        <p:spPr>
          <a:xfrm>
            <a:off x="5523103" y="1491786"/>
            <a:ext cx="830375" cy="289951"/>
          </a:xfrm>
          <a:prstGeom prst="rect">
            <a:avLst/>
          </a:prstGeom>
        </p:spPr>
        <p:txBody>
          <a:bodyPr vert="horz" wrap="square" lIns="0" tIns="12700" rIns="0" bIns="0" rtlCol="0">
            <a:spAutoFit/>
          </a:bodyPr>
          <a:lstStyle/>
          <a:p>
            <a:pPr marL="12701">
              <a:spcBef>
                <a:spcPts val="100"/>
              </a:spcBef>
            </a:pPr>
            <a:r>
              <a:rPr lang="en-US" sz="1801" dirty="0">
                <a:latin typeface="Avenir Next LT Pro" panose="020B0504020202020204" pitchFamily="34" charset="0"/>
                <a:cs typeface="Segoe UI Light"/>
              </a:rPr>
              <a:t>EMEA</a:t>
            </a:r>
          </a:p>
        </p:txBody>
      </p:sp>
      <p:graphicFrame>
        <p:nvGraphicFramePr>
          <p:cNvPr id="34" name="Chart 33">
            <a:extLst>
              <a:ext uri="{FF2B5EF4-FFF2-40B4-BE49-F238E27FC236}">
                <a16:creationId xmlns:a16="http://schemas.microsoft.com/office/drawing/2014/main" id="{A3DC81F8-CF71-7B07-F9C0-DA356F1B256F}"/>
              </a:ext>
            </a:extLst>
          </p:cNvPr>
          <p:cNvGraphicFramePr>
            <a:graphicFrameLocks/>
          </p:cNvGraphicFramePr>
          <p:nvPr>
            <p:extLst>
              <p:ext uri="{D42A27DB-BD31-4B8C-83A1-F6EECF244321}">
                <p14:modId xmlns:p14="http://schemas.microsoft.com/office/powerpoint/2010/main" val="2971526564"/>
              </p:ext>
            </p:extLst>
          </p:nvPr>
        </p:nvGraphicFramePr>
        <p:xfrm>
          <a:off x="7416429" y="1761997"/>
          <a:ext cx="1207008" cy="1207008"/>
        </p:xfrm>
        <a:graphic>
          <a:graphicData uri="http://schemas.openxmlformats.org/drawingml/2006/chart">
            <c:chart xmlns:c="http://schemas.openxmlformats.org/drawingml/2006/chart" xmlns:r="http://schemas.openxmlformats.org/officeDocument/2006/relationships" r:id="rId9"/>
          </a:graphicData>
        </a:graphic>
      </p:graphicFrame>
      <p:sp>
        <p:nvSpPr>
          <p:cNvPr id="46" name="object 19">
            <a:extLst>
              <a:ext uri="{FF2B5EF4-FFF2-40B4-BE49-F238E27FC236}">
                <a16:creationId xmlns:a16="http://schemas.microsoft.com/office/drawing/2014/main" id="{194A12FB-2CC5-D55D-2130-3D5995E78F05}"/>
              </a:ext>
            </a:extLst>
          </p:cNvPr>
          <p:cNvSpPr txBox="1"/>
          <p:nvPr/>
        </p:nvSpPr>
        <p:spPr>
          <a:xfrm>
            <a:off x="7847171" y="2212240"/>
            <a:ext cx="438149" cy="254558"/>
          </a:xfrm>
          <a:prstGeom prst="rect">
            <a:avLst/>
          </a:prstGeom>
        </p:spPr>
        <p:txBody>
          <a:bodyPr vert="horz" wrap="square" lIns="0" tIns="15876" rIns="0" bIns="0" rtlCol="0">
            <a:spAutoFit/>
          </a:bodyPr>
          <a:lstStyle/>
          <a:p>
            <a:pPr marL="12701">
              <a:spcBef>
                <a:spcPts val="124"/>
              </a:spcBef>
            </a:pPr>
            <a:r>
              <a:rPr lang="en-US" sz="1550" b="1" spc="-25">
                <a:solidFill>
                  <a:srgbClr val="404040"/>
                </a:solidFill>
                <a:latin typeface="Avenir Next LT Pro" panose="020B0504020202020204" pitchFamily="34" charset="0"/>
                <a:cs typeface="Segoe UI"/>
              </a:rPr>
              <a:t>14%</a:t>
            </a:r>
            <a:endParaRPr lang="en-US" sz="1550">
              <a:latin typeface="Avenir Next LT Pro" panose="020B0504020202020204" pitchFamily="34" charset="0"/>
              <a:cs typeface="Segoe UI"/>
            </a:endParaRPr>
          </a:p>
        </p:txBody>
      </p:sp>
      <p:sp>
        <p:nvSpPr>
          <p:cNvPr id="47" name="object 6">
            <a:extLst>
              <a:ext uri="{FF2B5EF4-FFF2-40B4-BE49-F238E27FC236}">
                <a16:creationId xmlns:a16="http://schemas.microsoft.com/office/drawing/2014/main" id="{D4F867EF-DB8F-6524-46CD-AA03ADECA87C}"/>
              </a:ext>
            </a:extLst>
          </p:cNvPr>
          <p:cNvSpPr txBox="1"/>
          <p:nvPr/>
        </p:nvSpPr>
        <p:spPr>
          <a:xfrm>
            <a:off x="7431775" y="1530428"/>
            <a:ext cx="1204148" cy="289951"/>
          </a:xfrm>
          <a:prstGeom prst="rect">
            <a:avLst/>
          </a:prstGeom>
        </p:spPr>
        <p:txBody>
          <a:bodyPr vert="horz" wrap="square" lIns="0" tIns="12700" rIns="0" bIns="0" rtlCol="0">
            <a:spAutoFit/>
          </a:bodyPr>
          <a:lstStyle/>
          <a:p>
            <a:pPr marL="12701">
              <a:spcBef>
                <a:spcPts val="100"/>
              </a:spcBef>
            </a:pPr>
            <a:r>
              <a:rPr lang="en-US" sz="1801">
                <a:latin typeface="Avenir Next LT Pro" panose="020B0504020202020204" pitchFamily="34" charset="0"/>
                <a:cs typeface="Segoe UI Light"/>
              </a:rPr>
              <a:t>Asia Pacific</a:t>
            </a:r>
          </a:p>
        </p:txBody>
      </p:sp>
      <p:pic>
        <p:nvPicPr>
          <p:cNvPr id="7" name="Picture 6" descr="Harley Davidson Logo PNG Image - PurePNG | Free transparent CC0 PNG ...">
            <a:extLst>
              <a:ext uri="{FF2B5EF4-FFF2-40B4-BE49-F238E27FC236}">
                <a16:creationId xmlns:a16="http://schemas.microsoft.com/office/drawing/2014/main" id="{7AB4F280-A1A9-0ABE-AB92-5625CCD67D2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4833E169-A778-C6F7-749D-3276829580DC}"/>
              </a:ext>
            </a:extLst>
          </p:cNvPr>
          <p:cNvGrpSpPr/>
          <p:nvPr/>
        </p:nvGrpSpPr>
        <p:grpSpPr>
          <a:xfrm>
            <a:off x="695325" y="6302380"/>
            <a:ext cx="10429876" cy="265521"/>
            <a:chOff x="695325" y="6302380"/>
            <a:chExt cx="10429876" cy="265521"/>
          </a:xfrm>
        </p:grpSpPr>
        <p:sp>
          <p:nvSpPr>
            <p:cNvPr id="21" name="object 13">
              <a:extLst>
                <a:ext uri="{FF2B5EF4-FFF2-40B4-BE49-F238E27FC236}">
                  <a16:creationId xmlns:a16="http://schemas.microsoft.com/office/drawing/2014/main" id="{5CEF50EF-F21A-6D04-6028-AD148C25495D}"/>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22" name="object 14">
              <a:extLst>
                <a:ext uri="{FF2B5EF4-FFF2-40B4-BE49-F238E27FC236}">
                  <a16:creationId xmlns:a16="http://schemas.microsoft.com/office/drawing/2014/main" id="{D528B1D0-F491-C55B-DB75-7C81B0CD6560}"/>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23" name="object 15">
              <a:extLst>
                <a:ext uri="{FF2B5EF4-FFF2-40B4-BE49-F238E27FC236}">
                  <a16:creationId xmlns:a16="http://schemas.microsoft.com/office/drawing/2014/main" id="{A5A6FF81-1519-993B-2416-E6E94974199F}"/>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11"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
          <p:nvSpPr>
            <p:cNvPr id="26" name="object 16">
              <a:extLst>
                <a:ext uri="{FF2B5EF4-FFF2-40B4-BE49-F238E27FC236}">
                  <a16:creationId xmlns:a16="http://schemas.microsoft.com/office/drawing/2014/main" id="{7C3B47C0-BF5E-8851-51F8-CC49E9A02F2C}"/>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37" name="object 37">
              <a:extLst>
                <a:ext uri="{FF2B5EF4-FFF2-40B4-BE49-F238E27FC236}">
                  <a16:creationId xmlns:a16="http://schemas.microsoft.com/office/drawing/2014/main" id="{C38360EE-C192-2B48-FE76-B455E8733B41}"/>
                </a:ext>
              </a:extLst>
            </p:cNvPr>
            <p:cNvSpPr txBox="1"/>
            <p:nvPr/>
          </p:nvSpPr>
          <p:spPr>
            <a:xfrm>
              <a:off x="949716" y="6328116"/>
              <a:ext cx="1047813"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Overview</a:t>
              </a:r>
              <a:endParaRPr lang="en-US" sz="1401" b="1">
                <a:latin typeface="Avenir Next LT Pro" panose="020B0504020202020204" pitchFamily="34" charset="0"/>
                <a:cs typeface="Segoe UI"/>
              </a:endParaRPr>
            </a:p>
          </p:txBody>
        </p:sp>
        <p:sp>
          <p:nvSpPr>
            <p:cNvPr id="38" name="object 39">
              <a:extLst>
                <a:ext uri="{FF2B5EF4-FFF2-40B4-BE49-F238E27FC236}">
                  <a16:creationId xmlns:a16="http://schemas.microsoft.com/office/drawing/2014/main" id="{B593CEEE-B8C2-6194-A070-360C50F45CAE}"/>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39" name="object 40">
              <a:extLst>
                <a:ext uri="{FF2B5EF4-FFF2-40B4-BE49-F238E27FC236}">
                  <a16:creationId xmlns:a16="http://schemas.microsoft.com/office/drawing/2014/main" id="{05852F0A-1DA4-563A-B2D0-A86B38BB2509}"/>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40" name="object 41">
              <a:extLst>
                <a:ext uri="{FF2B5EF4-FFF2-40B4-BE49-F238E27FC236}">
                  <a16:creationId xmlns:a16="http://schemas.microsoft.com/office/drawing/2014/main" id="{A16B0CAB-50B6-0EF9-03AD-DDB5AFDAA820}"/>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graphicFrame>
        <p:nvGraphicFramePr>
          <p:cNvPr id="41" name="Chart 40">
            <a:extLst>
              <a:ext uri="{FF2B5EF4-FFF2-40B4-BE49-F238E27FC236}">
                <a16:creationId xmlns:a16="http://schemas.microsoft.com/office/drawing/2014/main" id="{3622E288-475F-ACE4-96B9-3BBCEFE0EFE6}"/>
              </a:ext>
            </a:extLst>
          </p:cNvPr>
          <p:cNvGraphicFramePr>
            <a:graphicFrameLocks/>
          </p:cNvGraphicFramePr>
          <p:nvPr>
            <p:extLst>
              <p:ext uri="{D42A27DB-BD31-4B8C-83A1-F6EECF244321}">
                <p14:modId xmlns:p14="http://schemas.microsoft.com/office/powerpoint/2010/main" val="1976061860"/>
              </p:ext>
            </p:extLst>
          </p:nvPr>
        </p:nvGraphicFramePr>
        <p:xfrm>
          <a:off x="743856" y="3414474"/>
          <a:ext cx="4567646" cy="2748964"/>
        </p:xfrm>
        <a:graphic>
          <a:graphicData uri="http://schemas.openxmlformats.org/drawingml/2006/chart">
            <c:chart xmlns:c="http://schemas.openxmlformats.org/drawingml/2006/chart" xmlns:r="http://schemas.openxmlformats.org/officeDocument/2006/relationships" r:id="rId1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42B79-DCBD-4911-4462-BB289102982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6C0994D-4332-89A9-89DB-D56FB2899397}"/>
              </a:ext>
            </a:extLst>
          </p:cNvPr>
          <p:cNvSpPr txBox="1">
            <a:spLocks noGrp="1"/>
          </p:cNvSpPr>
          <p:nvPr>
            <p:ph type="title"/>
          </p:nvPr>
        </p:nvSpPr>
        <p:spPr>
          <a:xfrm>
            <a:off x="428694" y="148580"/>
            <a:ext cx="5897203" cy="626133"/>
          </a:xfrm>
          <a:prstGeom prst="rect">
            <a:avLst/>
          </a:prstGeom>
        </p:spPr>
        <p:txBody>
          <a:bodyPr vert="horz" wrap="square" lIns="0" tIns="12700" rIns="0" bIns="0" rtlCol="0">
            <a:spAutoFit/>
          </a:bodyPr>
          <a:lstStyle/>
          <a:p>
            <a:pPr marL="12701">
              <a:spcBef>
                <a:spcPts val="100"/>
              </a:spcBef>
            </a:pPr>
            <a:r>
              <a:rPr lang="en-US">
                <a:solidFill>
                  <a:schemeClr val="accent2">
                    <a:lumMod val="75000"/>
                  </a:schemeClr>
                </a:solidFill>
                <a:hlinkClick r:id="rId5" action="ppaction://hlinksldjump">
                  <a:extLst>
                    <a:ext uri="{A12FA001-AC4F-418D-AE19-62706E023703}">
                      <ahyp:hlinkClr xmlns:ahyp="http://schemas.microsoft.com/office/drawing/2018/hyperlinkcolor" val="tx"/>
                    </a:ext>
                  </a:extLst>
                </a:hlinkClick>
              </a:rPr>
              <a:t>Industry Overview</a:t>
            </a:r>
            <a:endParaRPr lang="en-US" spc="-11">
              <a:solidFill>
                <a:schemeClr val="accent2">
                  <a:lumMod val="75000"/>
                </a:schemeClr>
              </a:solidFill>
              <a:hlinkClick r:id="rId5" action="ppaction://hlinksldjump">
                <a:extLst>
                  <a:ext uri="{A12FA001-AC4F-418D-AE19-62706E023703}">
                    <ahyp:hlinkClr xmlns:ahyp="http://schemas.microsoft.com/office/drawing/2018/hyperlinkcolor" val="tx"/>
                  </a:ext>
                </a:extLst>
              </a:hlinkClick>
            </a:endParaRPr>
          </a:p>
        </p:txBody>
      </p:sp>
      <p:sp>
        <p:nvSpPr>
          <p:cNvPr id="4" name="object 4">
            <a:extLst>
              <a:ext uri="{FF2B5EF4-FFF2-40B4-BE49-F238E27FC236}">
                <a16:creationId xmlns:a16="http://schemas.microsoft.com/office/drawing/2014/main" id="{F3EFEEC8-9E32-0918-D1A7-CE8B00D4C71D}"/>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aphicFrame>
        <p:nvGraphicFramePr>
          <p:cNvPr id="5" name="Chart 4">
            <a:extLst>
              <a:ext uri="{FF2B5EF4-FFF2-40B4-BE49-F238E27FC236}">
                <a16:creationId xmlns:a16="http://schemas.microsoft.com/office/drawing/2014/main" id="{CE9EDB3A-9D51-B909-76AA-48A8BFA16BC1}"/>
              </a:ext>
            </a:extLst>
          </p:cNvPr>
          <p:cNvGraphicFramePr>
            <a:graphicFrameLocks/>
          </p:cNvGraphicFramePr>
          <p:nvPr>
            <p:extLst>
              <p:ext uri="{D42A27DB-BD31-4B8C-83A1-F6EECF244321}">
                <p14:modId xmlns:p14="http://schemas.microsoft.com/office/powerpoint/2010/main" val="1307462206"/>
              </p:ext>
            </p:extLst>
          </p:nvPr>
        </p:nvGraphicFramePr>
        <p:xfrm>
          <a:off x="428693" y="985866"/>
          <a:ext cx="4223849" cy="239212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7" name="Chart 6">
            <a:extLst>
              <a:ext uri="{FF2B5EF4-FFF2-40B4-BE49-F238E27FC236}">
                <a16:creationId xmlns:a16="http://schemas.microsoft.com/office/drawing/2014/main" id="{15D929EF-BA91-010B-F5D9-9017F5F57837}"/>
              </a:ext>
            </a:extLst>
          </p:cNvPr>
          <p:cNvGraphicFramePr>
            <a:graphicFrameLocks/>
          </p:cNvGraphicFramePr>
          <p:nvPr>
            <p:extLst>
              <p:ext uri="{D42A27DB-BD31-4B8C-83A1-F6EECF244321}">
                <p14:modId xmlns:p14="http://schemas.microsoft.com/office/powerpoint/2010/main" val="1754048193"/>
              </p:ext>
            </p:extLst>
          </p:nvPr>
        </p:nvGraphicFramePr>
        <p:xfrm>
          <a:off x="428694" y="3497289"/>
          <a:ext cx="4223849" cy="262383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9" name="Table 8">
            <a:extLst>
              <a:ext uri="{FF2B5EF4-FFF2-40B4-BE49-F238E27FC236}">
                <a16:creationId xmlns:a16="http://schemas.microsoft.com/office/drawing/2014/main" id="{B53A6D72-2FC6-C588-C900-8DC64F1BEF2C}"/>
              </a:ext>
            </a:extLst>
          </p:cNvPr>
          <p:cNvGraphicFramePr>
            <a:graphicFrameLocks noGrp="1"/>
          </p:cNvGraphicFramePr>
          <p:nvPr>
            <p:custDataLst>
              <p:tags r:id="rId1"/>
            </p:custDataLst>
            <p:extLst>
              <p:ext uri="{D42A27DB-BD31-4B8C-83A1-F6EECF244321}">
                <p14:modId xmlns:p14="http://schemas.microsoft.com/office/powerpoint/2010/main" val="3776140625"/>
              </p:ext>
            </p:extLst>
          </p:nvPr>
        </p:nvGraphicFramePr>
        <p:xfrm>
          <a:off x="4864100" y="900311"/>
          <a:ext cx="5993888" cy="1245736"/>
        </p:xfrm>
        <a:graphic>
          <a:graphicData uri="http://schemas.openxmlformats.org/drawingml/2006/table">
            <a:tbl>
              <a:tblPr/>
              <a:tblGrid>
                <a:gridCol w="2237155">
                  <a:extLst>
                    <a:ext uri="{9D8B030D-6E8A-4147-A177-3AD203B41FA5}">
                      <a16:colId xmlns:a16="http://schemas.microsoft.com/office/drawing/2014/main" val="2879506052"/>
                    </a:ext>
                  </a:extLst>
                </a:gridCol>
                <a:gridCol w="1582894">
                  <a:extLst>
                    <a:ext uri="{9D8B030D-6E8A-4147-A177-3AD203B41FA5}">
                      <a16:colId xmlns:a16="http://schemas.microsoft.com/office/drawing/2014/main" val="695310032"/>
                    </a:ext>
                  </a:extLst>
                </a:gridCol>
                <a:gridCol w="2173839">
                  <a:extLst>
                    <a:ext uri="{9D8B030D-6E8A-4147-A177-3AD203B41FA5}">
                      <a16:colId xmlns:a16="http://schemas.microsoft.com/office/drawing/2014/main" val="2864048039"/>
                    </a:ext>
                  </a:extLst>
                </a:gridCol>
              </a:tblGrid>
              <a:tr h="404042">
                <a:tc>
                  <a:txBody>
                    <a:bodyPr/>
                    <a:lstStyle/>
                    <a:p>
                      <a:pPr algn="ctr" fontAlgn="b">
                        <a:buNone/>
                      </a:pPr>
                      <a:r>
                        <a:rPr lang="en-US" sz="1400" b="1" i="0" u="none" strike="noStrike">
                          <a:solidFill>
                            <a:srgbClr val="FFFFFF"/>
                          </a:solidFill>
                          <a:effectLst/>
                          <a:latin typeface="Avenir Next LT Pro" panose="020B0504020202020204" pitchFamily="34" charset="0"/>
                        </a:rPr>
                        <a:t> </a:t>
                      </a:r>
                    </a:p>
                  </a:txBody>
                  <a:tcPr marL="7620" marR="7620" marT="762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r>
                        <a:rPr lang="en-US" sz="1400" b="1" i="0" u="none" strike="noStrike">
                          <a:solidFill>
                            <a:srgbClr val="FFFFFF"/>
                          </a:solidFill>
                          <a:effectLst/>
                          <a:latin typeface="Avenir Next LT Pro" panose="020B0504020202020204" pitchFamily="34" charset="0"/>
                        </a:rPr>
                        <a:t>Harley Prices</a:t>
                      </a:r>
                    </a:p>
                  </a:txBody>
                  <a:tcPr marL="7620" marR="7620" marT="7620"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fontAlgn="b">
                        <a:buNone/>
                      </a:pPr>
                      <a:r>
                        <a:rPr lang="en-US" sz="1400" b="1" i="0" u="none" strike="noStrike">
                          <a:solidFill>
                            <a:srgbClr val="FFFFFF"/>
                          </a:solidFill>
                          <a:effectLst/>
                          <a:latin typeface="Avenir Next LT Pro" panose="020B0504020202020204" pitchFamily="34" charset="0"/>
                        </a:rPr>
                        <a:t>Peer Average Prices</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1777417856"/>
                  </a:ext>
                </a:extLst>
              </a:tr>
              <a:tr h="420847">
                <a:tc>
                  <a:txBody>
                    <a:bodyPr/>
                    <a:lstStyle/>
                    <a:p>
                      <a:pPr algn="ctr" fontAlgn="b">
                        <a:buNone/>
                      </a:pPr>
                      <a:r>
                        <a:rPr lang="en-US" sz="1400" b="1" i="0" u="none" strike="noStrike">
                          <a:solidFill>
                            <a:srgbClr val="FFFFFF"/>
                          </a:solidFill>
                          <a:effectLst/>
                          <a:latin typeface="Avenir Next LT Pro" panose="020B0504020202020204" pitchFamily="34" charset="0"/>
                        </a:rPr>
                        <a:t>Heavyweight Cruisers</a:t>
                      </a:r>
                    </a:p>
                  </a:txBody>
                  <a:tcPr marL="7620" marR="7620" marT="762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r>
                        <a:rPr lang="en-US" sz="1400" b="0" i="0" u="none" strike="noStrike">
                          <a:solidFill>
                            <a:srgbClr val="000000"/>
                          </a:solidFill>
                          <a:effectLst/>
                          <a:latin typeface="Avenir Next LT Pro" panose="020B0504020202020204" pitchFamily="34" charset="0"/>
                        </a:rPr>
                        <a:t>15k - 24k</a:t>
                      </a:r>
                    </a:p>
                  </a:txBody>
                  <a:tcPr marL="7620" marR="7620" marT="7620"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1A983"/>
                      </a:solidFill>
                      <a:prstDash val="solid"/>
                      <a:round/>
                      <a:headEnd type="none" w="med" len="med"/>
                      <a:tailEnd type="none" w="med" len="med"/>
                    </a:lnB>
                    <a:solidFill>
                      <a:srgbClr val="FBE2D5"/>
                    </a:solidFill>
                  </a:tcPr>
                </a:tc>
                <a:tc>
                  <a:txBody>
                    <a:bodyPr/>
                    <a:lstStyle/>
                    <a:p>
                      <a:pPr algn="ctr" fontAlgn="b">
                        <a:buNone/>
                      </a:pPr>
                      <a:r>
                        <a:rPr lang="en-US" sz="1400" b="0" i="0" u="none" strike="noStrike">
                          <a:solidFill>
                            <a:srgbClr val="000000"/>
                          </a:solidFill>
                          <a:effectLst/>
                          <a:latin typeface="Avenir Next LT Pro" panose="020B0504020202020204" pitchFamily="34" charset="0"/>
                        </a:rPr>
                        <a:t>9.5k - 17k</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1A983"/>
                      </a:solidFill>
                      <a:prstDash val="solid"/>
                      <a:round/>
                      <a:headEnd type="none" w="med" len="med"/>
                      <a:tailEnd type="none" w="med" len="med"/>
                    </a:lnB>
                    <a:solidFill>
                      <a:srgbClr val="FBE2D5"/>
                    </a:solidFill>
                  </a:tcPr>
                </a:tc>
                <a:extLst>
                  <a:ext uri="{0D108BD9-81ED-4DB2-BD59-A6C34878D82A}">
                    <a16:rowId xmlns:a16="http://schemas.microsoft.com/office/drawing/2014/main" val="2041031962"/>
                  </a:ext>
                </a:extLst>
              </a:tr>
              <a:tr h="420847">
                <a:tc>
                  <a:txBody>
                    <a:bodyPr/>
                    <a:lstStyle/>
                    <a:p>
                      <a:pPr algn="ctr" fontAlgn="b">
                        <a:buNone/>
                      </a:pPr>
                      <a:r>
                        <a:rPr lang="en-US" sz="1400" b="1" i="0" u="none" strike="noStrike">
                          <a:solidFill>
                            <a:srgbClr val="FFFFFF"/>
                          </a:solidFill>
                          <a:effectLst/>
                          <a:latin typeface="Avenir Next LT Pro" panose="020B0504020202020204" pitchFamily="34" charset="0"/>
                        </a:rPr>
                        <a:t>Middleweight Cruisers</a:t>
                      </a:r>
                    </a:p>
                  </a:txBody>
                  <a:tcPr marL="7620" marR="7620" marT="7620" marB="0" anchor="b">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r>
                        <a:rPr lang="en-US" sz="1400" b="0" i="0" u="none" strike="noStrike">
                          <a:solidFill>
                            <a:srgbClr val="000000"/>
                          </a:solidFill>
                          <a:effectLst/>
                          <a:latin typeface="Avenir Next LT Pro" panose="020B0504020202020204" pitchFamily="34" charset="0"/>
                        </a:rPr>
                        <a:t>8k - 14k</a:t>
                      </a:r>
                    </a:p>
                  </a:txBody>
                  <a:tcPr marL="7620" marR="7620" marT="7620" marB="0" anchor="b">
                    <a:lnL>
                      <a:noFill/>
                    </a:lnL>
                    <a:lnR w="12700" cap="flat" cmpd="sng" algn="ctr">
                      <a:solidFill>
                        <a:schemeClr val="tx1"/>
                      </a:solidFill>
                      <a:prstDash val="solid"/>
                      <a:round/>
                      <a:headEnd type="none" w="med" len="med"/>
                      <a:tailEnd type="none" w="med" len="med"/>
                    </a:lnR>
                    <a:lnT w="6350" cap="flat" cmpd="sng" algn="ctr">
                      <a:solidFill>
                        <a:srgbClr val="F1A98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Avenir Next LT Pro" panose="020B0504020202020204" pitchFamily="34" charset="0"/>
                        </a:rPr>
                        <a:t>6k - 11.5k</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1A98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4165239"/>
                  </a:ext>
                </a:extLst>
              </a:tr>
            </a:tbl>
          </a:graphicData>
        </a:graphic>
      </p:graphicFrame>
      <p:graphicFrame>
        <p:nvGraphicFramePr>
          <p:cNvPr id="11" name="Table 10">
            <a:extLst>
              <a:ext uri="{FF2B5EF4-FFF2-40B4-BE49-F238E27FC236}">
                <a16:creationId xmlns:a16="http://schemas.microsoft.com/office/drawing/2014/main" id="{F3758380-E1B9-E3D2-784B-232BA98A91EE}"/>
              </a:ext>
            </a:extLst>
          </p:cNvPr>
          <p:cNvGraphicFramePr>
            <a:graphicFrameLocks noGrp="1"/>
          </p:cNvGraphicFramePr>
          <p:nvPr>
            <p:custDataLst>
              <p:tags r:id="rId2"/>
            </p:custDataLst>
            <p:extLst>
              <p:ext uri="{D42A27DB-BD31-4B8C-83A1-F6EECF244321}">
                <p14:modId xmlns:p14="http://schemas.microsoft.com/office/powerpoint/2010/main" val="3464582329"/>
              </p:ext>
            </p:extLst>
          </p:nvPr>
        </p:nvGraphicFramePr>
        <p:xfrm>
          <a:off x="4864100" y="3557857"/>
          <a:ext cx="5993888" cy="2317351"/>
        </p:xfrm>
        <a:graphic>
          <a:graphicData uri="http://schemas.openxmlformats.org/drawingml/2006/table">
            <a:tbl>
              <a:tblPr>
                <a:tableStyleId>{5C22544A-7EE6-4342-B048-85BDC9FD1C3A}</a:tableStyleId>
              </a:tblPr>
              <a:tblGrid>
                <a:gridCol w="656184">
                  <a:extLst>
                    <a:ext uri="{9D8B030D-6E8A-4147-A177-3AD203B41FA5}">
                      <a16:colId xmlns:a16="http://schemas.microsoft.com/office/drawing/2014/main" val="3817182096"/>
                    </a:ext>
                  </a:extLst>
                </a:gridCol>
                <a:gridCol w="1149959">
                  <a:extLst>
                    <a:ext uri="{9D8B030D-6E8A-4147-A177-3AD203B41FA5}">
                      <a16:colId xmlns:a16="http://schemas.microsoft.com/office/drawing/2014/main" val="3199559242"/>
                    </a:ext>
                  </a:extLst>
                </a:gridCol>
                <a:gridCol w="654389">
                  <a:extLst>
                    <a:ext uri="{9D8B030D-6E8A-4147-A177-3AD203B41FA5}">
                      <a16:colId xmlns:a16="http://schemas.microsoft.com/office/drawing/2014/main" val="3287084888"/>
                    </a:ext>
                  </a:extLst>
                </a:gridCol>
                <a:gridCol w="392548">
                  <a:extLst>
                    <a:ext uri="{9D8B030D-6E8A-4147-A177-3AD203B41FA5}">
                      <a16:colId xmlns:a16="http://schemas.microsoft.com/office/drawing/2014/main" val="3503619335"/>
                    </a:ext>
                  </a:extLst>
                </a:gridCol>
                <a:gridCol w="523468">
                  <a:extLst>
                    <a:ext uri="{9D8B030D-6E8A-4147-A177-3AD203B41FA5}">
                      <a16:colId xmlns:a16="http://schemas.microsoft.com/office/drawing/2014/main" val="2623716449"/>
                    </a:ext>
                  </a:extLst>
                </a:gridCol>
                <a:gridCol w="523468">
                  <a:extLst>
                    <a:ext uri="{9D8B030D-6E8A-4147-A177-3AD203B41FA5}">
                      <a16:colId xmlns:a16="http://schemas.microsoft.com/office/drawing/2014/main" val="2191265830"/>
                    </a:ext>
                  </a:extLst>
                </a:gridCol>
                <a:gridCol w="523468">
                  <a:extLst>
                    <a:ext uri="{9D8B030D-6E8A-4147-A177-3AD203B41FA5}">
                      <a16:colId xmlns:a16="http://schemas.microsoft.com/office/drawing/2014/main" val="2915011902"/>
                    </a:ext>
                  </a:extLst>
                </a:gridCol>
                <a:gridCol w="523468">
                  <a:extLst>
                    <a:ext uri="{9D8B030D-6E8A-4147-A177-3AD203B41FA5}">
                      <a16:colId xmlns:a16="http://schemas.microsoft.com/office/drawing/2014/main" val="393114073"/>
                    </a:ext>
                  </a:extLst>
                </a:gridCol>
                <a:gridCol w="523468">
                  <a:extLst>
                    <a:ext uri="{9D8B030D-6E8A-4147-A177-3AD203B41FA5}">
                      <a16:colId xmlns:a16="http://schemas.microsoft.com/office/drawing/2014/main" val="1794439503"/>
                    </a:ext>
                  </a:extLst>
                </a:gridCol>
                <a:gridCol w="523468">
                  <a:extLst>
                    <a:ext uri="{9D8B030D-6E8A-4147-A177-3AD203B41FA5}">
                      <a16:colId xmlns:a16="http://schemas.microsoft.com/office/drawing/2014/main" val="4188699267"/>
                    </a:ext>
                  </a:extLst>
                </a:gridCol>
              </a:tblGrid>
              <a:tr h="250426">
                <a:tc gridSpan="10">
                  <a:txBody>
                    <a:bodyPr/>
                    <a:lstStyle/>
                    <a:p>
                      <a:pPr algn="l" rtl="0" fontAlgn="b">
                        <a:buNone/>
                      </a:pPr>
                      <a:r>
                        <a:rPr lang="en-US" sz="1100" b="1" i="0" u="none" strike="noStrike">
                          <a:solidFill>
                            <a:srgbClr val="FFFFFF"/>
                          </a:solidFill>
                          <a:effectLst/>
                          <a:latin typeface="Avenir Next LT Pro" panose="020B0504020202020204" pitchFamily="34" charset="0"/>
                        </a:rPr>
                        <a:t> Comps Sheet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3341497626"/>
                  </a:ext>
                </a:extLst>
              </a:tr>
              <a:tr h="365760">
                <a:tc>
                  <a:txBody>
                    <a:bodyPr/>
                    <a:lstStyle/>
                    <a:p>
                      <a:pPr algn="l" rtl="0" fontAlgn="b">
                        <a:buNone/>
                      </a:pPr>
                      <a:r>
                        <a:rPr lang="en-US" sz="1000" b="1" i="0" u="none" strike="noStrike">
                          <a:solidFill>
                            <a:schemeClr val="tx1"/>
                          </a:solidFill>
                          <a:effectLst/>
                          <a:latin typeface="Avenir Next LT Pro" panose="020B0504020202020204" pitchFamily="34" charset="0"/>
                        </a:rPr>
                        <a:t> Ticker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Avenir Next LT Pro" panose="020B0504020202020204" pitchFamily="34" charset="0"/>
                        </a:rPr>
                        <a:t>Name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Avenir Next LT Pro" panose="020B0504020202020204" pitchFamily="34" charset="0"/>
                        </a:rPr>
                        <a:t>Market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Avenir Next LT Pro" panose="020B0504020202020204" pitchFamily="34" charset="0"/>
                        </a:rPr>
                        <a:t>P/E TTM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Avenir Next LT Pro" panose="020B0504020202020204" pitchFamily="34" charset="0"/>
                        </a:rPr>
                        <a:t>P/B</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Avenir Next LT Pro" panose="020B0504020202020204" pitchFamily="34" charset="0"/>
                        </a:rPr>
                        <a:t>EV/</a:t>
                      </a:r>
                    </a:p>
                    <a:p>
                      <a:pPr algn="ctr" rtl="0" fontAlgn="b">
                        <a:buNone/>
                      </a:pPr>
                      <a:r>
                        <a:rPr lang="en-US" sz="1000" b="1" i="0" u="none" strike="noStrike">
                          <a:solidFill>
                            <a:schemeClr val="tx1"/>
                          </a:solidFill>
                          <a:effectLst/>
                          <a:latin typeface="Avenir Next LT Pro" panose="020B0504020202020204" pitchFamily="34" charset="0"/>
                        </a:rPr>
                        <a:t>EBITDA</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Avenir Next LT Pro" panose="020B0504020202020204" pitchFamily="34" charset="0"/>
                        </a:rPr>
                        <a:t>Net Margin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Avenir Next LT Pro" panose="020B0504020202020204" pitchFamily="34" charset="0"/>
                        </a:rPr>
                        <a:t>ROIC</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Avenir Next LT Pro" panose="020B0504020202020204" pitchFamily="34" charset="0"/>
                        </a:rPr>
                        <a:t>ROE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Avenir Next LT Pro" panose="020B0504020202020204" pitchFamily="34" charset="0"/>
                        </a:rPr>
                        <a:t>($B)</a:t>
                      </a:r>
                    </a:p>
                    <a:p>
                      <a:pPr algn="ctr" rtl="0" fontAlgn="b">
                        <a:buNone/>
                      </a:pPr>
                      <a:r>
                        <a:rPr lang="en-US" sz="1000" b="1" i="0" u="none" strike="noStrike">
                          <a:solidFill>
                            <a:schemeClr val="tx1"/>
                          </a:solidFill>
                          <a:effectLst/>
                          <a:latin typeface="Avenir Next LT Pro" panose="020B0504020202020204" pitchFamily="34" charset="0"/>
                        </a:rPr>
                        <a:t>LTM Sales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947995186"/>
                  </a:ext>
                </a:extLst>
              </a:tr>
              <a:tr h="228600">
                <a:tc>
                  <a:txBody>
                    <a:bodyPr/>
                    <a:lstStyle/>
                    <a:p>
                      <a:pPr algn="l" rtl="0" fontAlgn="b">
                        <a:buNone/>
                      </a:pPr>
                      <a:r>
                        <a:rPr lang="en-US" sz="1100" b="0" i="0" u="none" strike="noStrike">
                          <a:solidFill>
                            <a:srgbClr val="000000"/>
                          </a:solidFill>
                          <a:effectLst/>
                          <a:latin typeface="Avenir Next LT Pro" panose="020B0504020202020204" pitchFamily="34" charset="0"/>
                        </a:rPr>
                        <a:t> HOG</a:t>
                      </a:r>
                    </a:p>
                  </a:txBody>
                  <a:tcPr marL="0"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Harley</a:t>
                      </a:r>
                    </a:p>
                  </a:txBody>
                  <a:tcPr marL="0"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$2,398 </a:t>
                      </a:r>
                    </a:p>
                  </a:txBody>
                  <a:tcPr marL="0"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4.9</a:t>
                      </a:r>
                    </a:p>
                  </a:txBody>
                  <a:tcPr marL="0"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1.18</a:t>
                      </a:r>
                    </a:p>
                  </a:txBody>
                  <a:tcPr marL="0"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14.9</a:t>
                      </a:r>
                    </a:p>
                  </a:txBody>
                  <a:tcPr marL="0"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8.8%</a:t>
                      </a:r>
                    </a:p>
                  </a:txBody>
                  <a:tcPr marL="0"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5.7%</a:t>
                      </a:r>
                    </a:p>
                  </a:txBody>
                  <a:tcPr marL="0"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14.2%</a:t>
                      </a:r>
                    </a:p>
                  </a:txBody>
                  <a:tcPr marL="0"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4.7</a:t>
                      </a:r>
                    </a:p>
                  </a:txBody>
                  <a:tcPr marL="0"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52237486"/>
                  </a:ext>
                </a:extLst>
              </a:tr>
              <a:tr h="228600">
                <a:tc>
                  <a:txBody>
                    <a:bodyPr/>
                    <a:lstStyle/>
                    <a:p>
                      <a:pPr algn="l" rtl="0" fontAlgn="b">
                        <a:buNone/>
                      </a:pPr>
                      <a:r>
                        <a:rPr lang="en-US" sz="1100" b="0" i="0" u="none" strike="noStrike">
                          <a:solidFill>
                            <a:srgbClr val="000000"/>
                          </a:solidFill>
                          <a:effectLst/>
                          <a:latin typeface="Avenir Next LT Pro" panose="020B0504020202020204" pitchFamily="34" charset="0"/>
                        </a:rPr>
                        <a:t> HMC</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Honda</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$39,783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0.47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4.8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6.6%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144.3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908844778"/>
                  </a:ext>
                </a:extLst>
              </a:tr>
              <a:tr h="228600">
                <a:tc>
                  <a:txBody>
                    <a:bodyPr/>
                    <a:lstStyle/>
                    <a:p>
                      <a:pPr algn="l" rtl="0" fontAlgn="b">
                        <a:buNone/>
                      </a:pPr>
                      <a:r>
                        <a:rPr lang="en-US" sz="1100" b="0" i="0" u="none" strike="noStrike">
                          <a:solidFill>
                            <a:srgbClr val="000000"/>
                          </a:solidFill>
                          <a:effectLst/>
                          <a:latin typeface="Avenir Next LT Pro" panose="020B0504020202020204" pitchFamily="34" charset="0"/>
                        </a:rPr>
                        <a:t> YAMHF</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Yamaha</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$3,328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28.9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7.6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4.2%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7.4%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9.7%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16.8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99076827"/>
                  </a:ext>
                </a:extLst>
              </a:tr>
              <a:tr h="228600">
                <a:tc>
                  <a:txBody>
                    <a:bodyPr/>
                    <a:lstStyle/>
                    <a:p>
                      <a:pPr algn="l" rtl="0" fontAlgn="b">
                        <a:buNone/>
                      </a:pPr>
                      <a:r>
                        <a:rPr lang="en-US" sz="1100" b="0" i="0" u="none" strike="noStrike">
                          <a:solidFill>
                            <a:srgbClr val="000000"/>
                          </a:solidFill>
                          <a:effectLst/>
                          <a:latin typeface="Avenir Next LT Pro" panose="020B0504020202020204" pitchFamily="34" charset="0"/>
                        </a:rPr>
                        <a:t> SZKMF</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Suzuki</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$27,606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10.5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4.8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7.1%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12.8%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39.1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730992802"/>
                  </a:ext>
                </a:extLst>
              </a:tr>
              <a:tr h="228600">
                <a:tc>
                  <a:txBody>
                    <a:bodyPr/>
                    <a:lstStyle/>
                    <a:p>
                      <a:pPr algn="l" rtl="0" fontAlgn="b">
                        <a:buNone/>
                      </a:pPr>
                      <a:r>
                        <a:rPr lang="en-US" sz="1100" b="0" i="0" u="none" strike="noStrike">
                          <a:solidFill>
                            <a:srgbClr val="000000"/>
                          </a:solidFill>
                          <a:effectLst/>
                          <a:latin typeface="Avenir Next LT Pro" panose="020B0504020202020204" pitchFamily="34" charset="0"/>
                        </a:rPr>
                        <a:t> BAMXF</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BMW</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$62,823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0.62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7.0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5.0%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8.0%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150.6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30950576"/>
                  </a:ext>
                </a:extLst>
              </a:tr>
              <a:tr h="228600">
                <a:tc>
                  <a:txBody>
                    <a:bodyPr/>
                    <a:lstStyle/>
                    <a:p>
                      <a:pPr algn="l" rtl="0" fontAlgn="b">
                        <a:buNone/>
                      </a:pPr>
                      <a:r>
                        <a:rPr lang="en-US" sz="1100" b="0" i="0" u="none" strike="noStrike">
                          <a:solidFill>
                            <a:srgbClr val="000000"/>
                          </a:solidFill>
                          <a:effectLst/>
                          <a:latin typeface="Avenir Next LT Pro" panose="020B0504020202020204" pitchFamily="34" charset="0"/>
                        </a:rPr>
                        <a:t> Average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$27,188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0.91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7.8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5.8%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7.0%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71.1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41503199"/>
                  </a:ext>
                </a:extLst>
              </a:tr>
              <a:tr h="228600">
                <a:tc>
                  <a:txBody>
                    <a:bodyPr/>
                    <a:lstStyle/>
                    <a:p>
                      <a:pPr algn="l" rtl="0" fontAlgn="b">
                        <a:buNone/>
                      </a:pPr>
                      <a:r>
                        <a:rPr lang="en-US" sz="1100" b="0" i="0" u="none" strike="noStrike">
                          <a:solidFill>
                            <a:srgbClr val="000000"/>
                          </a:solidFill>
                          <a:effectLst/>
                          <a:latin typeface="Avenir Next LT Pro" panose="020B0504020202020204" pitchFamily="34" charset="0"/>
                        </a:rPr>
                        <a:t> Median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$27,606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1.12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7.0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5.7%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9.7%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Avenir Next LT Pro" panose="020B0504020202020204" pitchFamily="34" charset="0"/>
                        </a:rPr>
                        <a:t>39.1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83359673"/>
                  </a:ext>
                </a:extLst>
              </a:tr>
            </a:tbl>
          </a:graphicData>
        </a:graphic>
      </p:graphicFrame>
      <p:sp>
        <p:nvSpPr>
          <p:cNvPr id="13" name="Rectangle 12">
            <a:extLst>
              <a:ext uri="{FF2B5EF4-FFF2-40B4-BE49-F238E27FC236}">
                <a16:creationId xmlns:a16="http://schemas.microsoft.com/office/drawing/2014/main" id="{7D87A3C1-8194-77DB-4ED1-3EF438582DB8}"/>
              </a:ext>
            </a:extLst>
          </p:cNvPr>
          <p:cNvSpPr/>
          <p:nvPr/>
        </p:nvSpPr>
        <p:spPr>
          <a:xfrm>
            <a:off x="4864100" y="2340009"/>
            <a:ext cx="5993887" cy="1023886"/>
          </a:xfrm>
          <a:prstGeom prst="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700">
                <a:solidFill>
                  <a:schemeClr val="tx1"/>
                </a:solidFill>
                <a:latin typeface="Avenir Next LT Pro" panose="020B0504020202020204" pitchFamily="34" charset="0"/>
              </a:rPr>
              <a:t>Dominant in the heavyweight market but is slowest growing market segment</a:t>
            </a:r>
          </a:p>
          <a:p>
            <a:pPr marL="285750" indent="-285750">
              <a:buFont typeface="Arial" panose="020B0604020202020204" pitchFamily="34" charset="0"/>
              <a:buChar char="•"/>
            </a:pPr>
            <a:r>
              <a:rPr lang="en-US" sz="1700">
                <a:solidFill>
                  <a:schemeClr val="tx1"/>
                </a:solidFill>
                <a:latin typeface="Avenir Next LT Pro" panose="020B0504020202020204" pitchFamily="34" charset="0"/>
              </a:rPr>
              <a:t>2026 is a transition year</a:t>
            </a:r>
          </a:p>
          <a:p>
            <a:pPr marL="285750" indent="-285750">
              <a:buFont typeface="Arial" panose="020B0604020202020204" pitchFamily="34" charset="0"/>
              <a:buChar char="•"/>
            </a:pPr>
            <a:r>
              <a:rPr lang="en-US" sz="1700">
                <a:solidFill>
                  <a:schemeClr val="tx1"/>
                </a:solidFill>
                <a:latin typeface="Avenir Next LT Pro" panose="020B0504020202020204" pitchFamily="34" charset="0"/>
              </a:rPr>
              <a:t>Competition in foreign markets</a:t>
            </a:r>
          </a:p>
        </p:txBody>
      </p:sp>
      <p:pic>
        <p:nvPicPr>
          <p:cNvPr id="12" name="Picture 11" descr="Harley Davidson Logo PNG Image - PurePNG | Free transparent CC0 PNG ...">
            <a:extLst>
              <a:ext uri="{FF2B5EF4-FFF2-40B4-BE49-F238E27FC236}">
                <a16:creationId xmlns:a16="http://schemas.microsoft.com/office/drawing/2014/main" id="{C48E63D0-22A9-7FE1-0DE4-A851CC41CEF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6" name="object 3">
            <a:extLst>
              <a:ext uri="{FF2B5EF4-FFF2-40B4-BE49-F238E27FC236}">
                <a16:creationId xmlns:a16="http://schemas.microsoft.com/office/drawing/2014/main" id="{BD540B47-9892-A6E1-C65B-41407D74397B}"/>
              </a:ext>
            </a:extLst>
          </p:cNvPr>
          <p:cNvSpPr txBox="1">
            <a:spLocks/>
          </p:cNvSpPr>
          <p:nvPr/>
        </p:nvSpPr>
        <p:spPr>
          <a:xfrm>
            <a:off x="949717" y="3315421"/>
            <a:ext cx="2575577" cy="20800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1">
              <a:spcBef>
                <a:spcPts val="100"/>
              </a:spcBef>
            </a:pPr>
            <a:r>
              <a:rPr lang="en-US" sz="1400">
                <a:solidFill>
                  <a:schemeClr val="tx1">
                    <a:lumMod val="95000"/>
                    <a:lumOff val="5000"/>
                  </a:schemeClr>
                </a:solidFill>
                <a:latin typeface="Avenir Next LT Pro" panose="020B0504020202020204" pitchFamily="34" charset="0"/>
              </a:rPr>
              <a:t>Harley Bike Sales by Model</a:t>
            </a:r>
            <a:endParaRPr lang="en-US" sz="1400" spc="-11">
              <a:solidFill>
                <a:schemeClr val="tx1">
                  <a:lumMod val="95000"/>
                  <a:lumOff val="5000"/>
                </a:schemeClr>
              </a:solidFill>
              <a:latin typeface="Avenir Next LT Pro" panose="020B0504020202020204" pitchFamily="34" charset="0"/>
              <a:hlinkClick r:id="rId5" action="ppaction://hlinksldjump">
                <a:extLst>
                  <a:ext uri="{A12FA001-AC4F-418D-AE19-62706E023703}">
                    <ahyp:hlinkClr xmlns:ahyp="http://schemas.microsoft.com/office/drawing/2018/hyperlinkcolor" val="tx"/>
                  </a:ext>
                </a:extLst>
              </a:hlinkClick>
            </a:endParaRPr>
          </a:p>
        </p:txBody>
      </p:sp>
      <p:sp>
        <p:nvSpPr>
          <p:cNvPr id="8" name="TextBox 7">
            <a:extLst>
              <a:ext uri="{FF2B5EF4-FFF2-40B4-BE49-F238E27FC236}">
                <a16:creationId xmlns:a16="http://schemas.microsoft.com/office/drawing/2014/main" id="{08445433-CF0D-30F2-42C9-69E48D75F9A0}"/>
              </a:ext>
            </a:extLst>
          </p:cNvPr>
          <p:cNvSpPr txBox="1"/>
          <p:nvPr/>
        </p:nvSpPr>
        <p:spPr>
          <a:xfrm>
            <a:off x="902334" y="894009"/>
            <a:ext cx="3767818" cy="307777"/>
          </a:xfrm>
          <a:prstGeom prst="rect">
            <a:avLst/>
          </a:prstGeom>
          <a:noFill/>
        </p:spPr>
        <p:txBody>
          <a:bodyPr wrap="square" rtlCol="0">
            <a:spAutoFit/>
          </a:bodyPr>
          <a:lstStyle/>
          <a:p>
            <a:r>
              <a:rPr lang="en-US" sz="1400">
                <a:latin typeface="Avenir Next LT Pro" panose="020B0504020202020204" pitchFamily="34" charset="0"/>
              </a:rPr>
              <a:t>Harley vs Comps Price (Indexed)</a:t>
            </a:r>
          </a:p>
        </p:txBody>
      </p:sp>
      <p:grpSp>
        <p:nvGrpSpPr>
          <p:cNvPr id="2" name="Group 1">
            <a:extLst>
              <a:ext uri="{FF2B5EF4-FFF2-40B4-BE49-F238E27FC236}">
                <a16:creationId xmlns:a16="http://schemas.microsoft.com/office/drawing/2014/main" id="{AA204D08-D47D-2308-9F39-F841B2A98F01}"/>
              </a:ext>
            </a:extLst>
          </p:cNvPr>
          <p:cNvGrpSpPr/>
          <p:nvPr/>
        </p:nvGrpSpPr>
        <p:grpSpPr>
          <a:xfrm>
            <a:off x="695325" y="6302380"/>
            <a:ext cx="10429876" cy="265521"/>
            <a:chOff x="695325" y="6302380"/>
            <a:chExt cx="10429876" cy="265521"/>
          </a:xfrm>
        </p:grpSpPr>
        <p:sp>
          <p:nvSpPr>
            <p:cNvPr id="10" name="object 13">
              <a:extLst>
                <a:ext uri="{FF2B5EF4-FFF2-40B4-BE49-F238E27FC236}">
                  <a16:creationId xmlns:a16="http://schemas.microsoft.com/office/drawing/2014/main" id="{F6705600-0E35-99B4-1C3C-BEFA9C2901A2}"/>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15" name="object 14">
              <a:extLst>
                <a:ext uri="{FF2B5EF4-FFF2-40B4-BE49-F238E27FC236}">
                  <a16:creationId xmlns:a16="http://schemas.microsoft.com/office/drawing/2014/main" id="{616B4B5D-1ED2-5FA9-4238-6F38D18D9434}"/>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16" name="object 15">
              <a:extLst>
                <a:ext uri="{FF2B5EF4-FFF2-40B4-BE49-F238E27FC236}">
                  <a16:creationId xmlns:a16="http://schemas.microsoft.com/office/drawing/2014/main" id="{C3EFD592-EE3E-F0AC-9925-A9C1B6499498}"/>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9"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
          <p:nvSpPr>
            <p:cNvPr id="17" name="object 16">
              <a:extLst>
                <a:ext uri="{FF2B5EF4-FFF2-40B4-BE49-F238E27FC236}">
                  <a16:creationId xmlns:a16="http://schemas.microsoft.com/office/drawing/2014/main" id="{D862670A-71C3-ADB9-7CBC-F9B84B1B22A7}"/>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8" name="object 37">
              <a:extLst>
                <a:ext uri="{FF2B5EF4-FFF2-40B4-BE49-F238E27FC236}">
                  <a16:creationId xmlns:a16="http://schemas.microsoft.com/office/drawing/2014/main" id="{4E13E6F6-96A0-6EDC-32E8-CCA508D125CE}"/>
                </a:ext>
              </a:extLst>
            </p:cNvPr>
            <p:cNvSpPr txBox="1"/>
            <p:nvPr/>
          </p:nvSpPr>
          <p:spPr>
            <a:xfrm>
              <a:off x="949717" y="6328116"/>
              <a:ext cx="1096462"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Overview</a:t>
              </a:r>
              <a:endParaRPr lang="en-US" sz="1401" b="1">
                <a:latin typeface="Avenir Next LT Pro" panose="020B0504020202020204" pitchFamily="34" charset="0"/>
                <a:cs typeface="Segoe UI"/>
              </a:endParaRPr>
            </a:p>
          </p:txBody>
        </p:sp>
        <p:sp>
          <p:nvSpPr>
            <p:cNvPr id="19" name="object 39">
              <a:extLst>
                <a:ext uri="{FF2B5EF4-FFF2-40B4-BE49-F238E27FC236}">
                  <a16:creationId xmlns:a16="http://schemas.microsoft.com/office/drawing/2014/main" id="{2E23D9DD-E7F3-C019-209D-C5F55BCF86D8}"/>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20" name="object 40">
              <a:extLst>
                <a:ext uri="{FF2B5EF4-FFF2-40B4-BE49-F238E27FC236}">
                  <a16:creationId xmlns:a16="http://schemas.microsoft.com/office/drawing/2014/main" id="{F7C35BBE-9C26-9297-2C6F-95EBCA53666F}"/>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23" name="object 41">
              <a:extLst>
                <a:ext uri="{FF2B5EF4-FFF2-40B4-BE49-F238E27FC236}">
                  <a16:creationId xmlns:a16="http://schemas.microsoft.com/office/drawing/2014/main" id="{CE05522A-6241-5017-CAB1-939523E5D8EA}"/>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1828189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06A0B25-FAB5-023A-3C18-1063F2A42A5C}"/>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635F129-1284-67BF-C6BC-804DF1EA64A2}"/>
              </a:ext>
            </a:extLst>
          </p:cNvPr>
          <p:cNvSpPr/>
          <p:nvPr/>
        </p:nvSpPr>
        <p:spPr>
          <a:xfrm>
            <a:off x="-1" y="5370872"/>
            <a:ext cx="12192001" cy="14871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latin typeface="Avenir Next LT Pro" panose="020B0504020202020204" pitchFamily="34" charset="0"/>
            </a:endParaRPr>
          </a:p>
        </p:txBody>
      </p:sp>
      <p:pic>
        <p:nvPicPr>
          <p:cNvPr id="14" name="Picture 2" descr="Harley Davidson Logo PNG Image - PurePNG | Free transparent CC0 PNG ...">
            <a:extLst>
              <a:ext uri="{FF2B5EF4-FFF2-40B4-BE49-F238E27FC236}">
                <a16:creationId xmlns:a16="http://schemas.microsoft.com/office/drawing/2014/main" id="{FE150569-E462-0673-1F7A-BCAF69E42D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229" y="87086"/>
            <a:ext cx="2036921" cy="1633342"/>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3AD6BDE3-BE57-500F-87B9-59BD05F7A1B1}"/>
              </a:ext>
            </a:extLst>
          </p:cNvPr>
          <p:cNvSpPr txBox="1"/>
          <p:nvPr/>
        </p:nvSpPr>
        <p:spPr>
          <a:xfrm>
            <a:off x="562927" y="5377434"/>
            <a:ext cx="5866447" cy="1816651"/>
          </a:xfrm>
          <a:prstGeom prst="rect">
            <a:avLst/>
          </a:prstGeom>
        </p:spPr>
        <p:txBody>
          <a:bodyPr vert="horz" wrap="square" lIns="0" tIns="173355" rIns="0" bIns="0" rtlCol="0">
            <a:spAutoFit/>
          </a:bodyPr>
          <a:lstStyle/>
          <a:p>
            <a:pPr marL="12701">
              <a:spcBef>
                <a:spcPts val="1365"/>
              </a:spcBef>
            </a:pPr>
            <a:r>
              <a:rPr lang="en-US" sz="3600">
                <a:latin typeface="Avenir Next LT Pro" panose="020B0504020202020204" pitchFamily="34" charset="0"/>
                <a:cs typeface="Segoe UI"/>
              </a:rPr>
              <a:t>Business</a:t>
            </a:r>
            <a:r>
              <a:rPr lang="en-US" sz="3600" spc="-41">
                <a:latin typeface="Avenir Next LT Pro" panose="020B0504020202020204" pitchFamily="34" charset="0"/>
                <a:cs typeface="Segoe UI"/>
              </a:rPr>
              <a:t> </a:t>
            </a:r>
            <a:r>
              <a:rPr lang="en-US" sz="3600" spc="-11">
                <a:latin typeface="Avenir Next LT Pro" panose="020B0504020202020204" pitchFamily="34" charset="0"/>
                <a:cs typeface="Segoe UI"/>
              </a:rPr>
              <a:t>Drivers</a:t>
            </a:r>
          </a:p>
          <a:p>
            <a:pPr marL="12701">
              <a:spcBef>
                <a:spcPts val="1365"/>
              </a:spcBef>
            </a:pPr>
            <a:endParaRPr lang="en-US" sz="3600">
              <a:latin typeface="Avenir Next LT Pro" panose="020B0504020202020204" pitchFamily="34" charset="0"/>
              <a:cs typeface="Segoe UI"/>
            </a:endParaRPr>
          </a:p>
          <a:p>
            <a:pPr marL="12701">
              <a:spcBef>
                <a:spcPts val="635"/>
              </a:spcBef>
            </a:pPr>
            <a:endParaRPr lang="en-US" sz="1801">
              <a:latin typeface="Avenir Next LT Pro" panose="020B0504020202020204" pitchFamily="34" charset="0"/>
              <a:cs typeface="Segoe UI"/>
            </a:endParaRPr>
          </a:p>
        </p:txBody>
      </p:sp>
    </p:spTree>
    <p:extLst>
      <p:ext uri="{BB962C8B-B14F-4D97-AF65-F5344CB8AC3E}">
        <p14:creationId xmlns:p14="http://schemas.microsoft.com/office/powerpoint/2010/main" val="719582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E82F-19FD-3114-864F-2D3F633ADD86}"/>
              </a:ext>
            </a:extLst>
          </p:cNvPr>
          <p:cNvSpPr>
            <a:spLocks noGrp="1"/>
          </p:cNvSpPr>
          <p:nvPr>
            <p:ph type="title"/>
          </p:nvPr>
        </p:nvSpPr>
        <p:spPr>
          <a:xfrm>
            <a:off x="210879" y="128999"/>
            <a:ext cx="10515600" cy="996627"/>
          </a:xfrm>
        </p:spPr>
        <p:txBody>
          <a:bodyPr>
            <a:normAutofit fontScale="90000"/>
          </a:bodyPr>
          <a:lstStyle/>
          <a:p>
            <a:r>
              <a:rPr lang="en-US" u="sng">
                <a:solidFill>
                  <a:schemeClr val="accent2">
                    <a:lumMod val="75000"/>
                  </a:schemeClr>
                </a:solidFill>
              </a:rPr>
              <a:t>Driver 1: Lower Displacement Penetration</a:t>
            </a:r>
          </a:p>
        </p:txBody>
      </p:sp>
      <p:pic>
        <p:nvPicPr>
          <p:cNvPr id="7" name="Picture 6">
            <a:extLst>
              <a:ext uri="{FF2B5EF4-FFF2-40B4-BE49-F238E27FC236}">
                <a16:creationId xmlns:a16="http://schemas.microsoft.com/office/drawing/2014/main" id="{D4E430AA-2834-1A0D-8A01-A0F76D3DEEDD}"/>
              </a:ext>
            </a:extLst>
          </p:cNvPr>
          <p:cNvPicPr>
            <a:picLocks noChangeAspect="1"/>
          </p:cNvPicPr>
          <p:nvPr/>
        </p:nvPicPr>
        <p:blipFill>
          <a:blip r:embed="rId3"/>
          <a:srcRect t="3769" b="8584"/>
          <a:stretch>
            <a:fillRect/>
          </a:stretch>
        </p:blipFill>
        <p:spPr>
          <a:xfrm>
            <a:off x="7721601" y="1174871"/>
            <a:ext cx="4152899" cy="2438599"/>
          </a:xfrm>
          <a:prstGeom prst="rect">
            <a:avLst/>
          </a:prstGeom>
        </p:spPr>
      </p:pic>
      <p:graphicFrame>
        <p:nvGraphicFramePr>
          <p:cNvPr id="8" name="Chart 7">
            <a:extLst>
              <a:ext uri="{FF2B5EF4-FFF2-40B4-BE49-F238E27FC236}">
                <a16:creationId xmlns:a16="http://schemas.microsoft.com/office/drawing/2014/main" id="{EDFA6A52-DD81-5317-EC3E-28B2A19F5C18}"/>
              </a:ext>
            </a:extLst>
          </p:cNvPr>
          <p:cNvGraphicFramePr>
            <a:graphicFrameLocks/>
          </p:cNvGraphicFramePr>
          <p:nvPr>
            <p:extLst>
              <p:ext uri="{D42A27DB-BD31-4B8C-83A1-F6EECF244321}">
                <p14:modId xmlns:p14="http://schemas.microsoft.com/office/powerpoint/2010/main" val="2388183284"/>
              </p:ext>
            </p:extLst>
          </p:nvPr>
        </p:nvGraphicFramePr>
        <p:xfrm>
          <a:off x="243201" y="1233075"/>
          <a:ext cx="4194946" cy="232219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DEE03EE1-AA2D-FA1B-3F00-D88DAB6DBDF1}"/>
              </a:ext>
            </a:extLst>
          </p:cNvPr>
          <p:cNvGraphicFramePr>
            <a:graphicFrameLocks/>
          </p:cNvGraphicFramePr>
          <p:nvPr>
            <p:extLst>
              <p:ext uri="{D42A27DB-BD31-4B8C-83A1-F6EECF244321}">
                <p14:modId xmlns:p14="http://schemas.microsoft.com/office/powerpoint/2010/main" val="2193708351"/>
              </p:ext>
            </p:extLst>
          </p:nvPr>
        </p:nvGraphicFramePr>
        <p:xfrm>
          <a:off x="210137" y="4008888"/>
          <a:ext cx="4152899" cy="2134389"/>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Box 11">
            <a:extLst>
              <a:ext uri="{FF2B5EF4-FFF2-40B4-BE49-F238E27FC236}">
                <a16:creationId xmlns:a16="http://schemas.microsoft.com/office/drawing/2014/main" id="{86DC16AA-978D-213A-1666-41ECA525315F}"/>
              </a:ext>
            </a:extLst>
          </p:cNvPr>
          <p:cNvSpPr txBox="1"/>
          <p:nvPr/>
        </p:nvSpPr>
        <p:spPr>
          <a:xfrm>
            <a:off x="3723361" y="4088380"/>
            <a:ext cx="552587" cy="246221"/>
          </a:xfrm>
          <a:prstGeom prst="rect">
            <a:avLst/>
          </a:prstGeom>
          <a:noFill/>
        </p:spPr>
        <p:txBody>
          <a:bodyPr wrap="square" rtlCol="0">
            <a:spAutoFit/>
          </a:bodyPr>
          <a:lstStyle/>
          <a:p>
            <a:r>
              <a:rPr lang="en-US" sz="1000">
                <a:latin typeface="Avenir Next LT Pro" panose="020B0504020202020204" pitchFamily="34" charset="0"/>
              </a:rPr>
              <a:t>56M</a:t>
            </a:r>
          </a:p>
        </p:txBody>
      </p:sp>
      <p:sp>
        <p:nvSpPr>
          <p:cNvPr id="13" name="TextBox 12">
            <a:extLst>
              <a:ext uri="{FF2B5EF4-FFF2-40B4-BE49-F238E27FC236}">
                <a16:creationId xmlns:a16="http://schemas.microsoft.com/office/drawing/2014/main" id="{4B835255-6637-8DC3-CCD7-2134D4685812}"/>
              </a:ext>
            </a:extLst>
          </p:cNvPr>
          <p:cNvSpPr txBox="1"/>
          <p:nvPr/>
        </p:nvSpPr>
        <p:spPr>
          <a:xfrm>
            <a:off x="210137" y="930724"/>
            <a:ext cx="3251202" cy="307777"/>
          </a:xfrm>
          <a:prstGeom prst="rect">
            <a:avLst/>
          </a:prstGeom>
          <a:noFill/>
        </p:spPr>
        <p:txBody>
          <a:bodyPr wrap="square" rtlCol="0">
            <a:spAutoFit/>
          </a:bodyPr>
          <a:lstStyle/>
          <a:p>
            <a:r>
              <a:rPr lang="en-US" sz="1400" dirty="0">
                <a:latin typeface="Avenir Next LT Pro" panose="020B0504020202020204" pitchFamily="34" charset="0"/>
                <a:ea typeface="Calibri" panose="020F0502020204030204" pitchFamily="34" charset="0"/>
                <a:cs typeface="Calibri" panose="020F0502020204030204" pitchFamily="34" charset="0"/>
              </a:rPr>
              <a:t>Motorcycle Riders in the U.S. by Age</a:t>
            </a:r>
          </a:p>
        </p:txBody>
      </p:sp>
      <p:sp>
        <p:nvSpPr>
          <p:cNvPr id="11" name="TextBox 10">
            <a:extLst>
              <a:ext uri="{FF2B5EF4-FFF2-40B4-BE49-F238E27FC236}">
                <a16:creationId xmlns:a16="http://schemas.microsoft.com/office/drawing/2014/main" id="{0274A98C-F869-8F9B-32ED-D84B82C42DED}"/>
              </a:ext>
            </a:extLst>
          </p:cNvPr>
          <p:cNvSpPr txBox="1"/>
          <p:nvPr/>
        </p:nvSpPr>
        <p:spPr>
          <a:xfrm>
            <a:off x="698374" y="4688763"/>
            <a:ext cx="952500" cy="246221"/>
          </a:xfrm>
          <a:prstGeom prst="rect">
            <a:avLst/>
          </a:prstGeom>
          <a:noFill/>
        </p:spPr>
        <p:txBody>
          <a:bodyPr wrap="square" rtlCol="0">
            <a:spAutoFit/>
          </a:bodyPr>
          <a:lstStyle/>
          <a:p>
            <a:r>
              <a:rPr lang="en-US" sz="1000">
                <a:latin typeface="Avenir Next LT Pro" panose="020B0504020202020204" pitchFamily="34" charset="0"/>
              </a:rPr>
              <a:t>38M</a:t>
            </a:r>
          </a:p>
        </p:txBody>
      </p:sp>
      <p:sp>
        <p:nvSpPr>
          <p:cNvPr id="14" name="TextBox 13">
            <a:extLst>
              <a:ext uri="{FF2B5EF4-FFF2-40B4-BE49-F238E27FC236}">
                <a16:creationId xmlns:a16="http://schemas.microsoft.com/office/drawing/2014/main" id="{61DDD548-F342-2894-6B12-8293B8AB3E34}"/>
              </a:ext>
            </a:extLst>
          </p:cNvPr>
          <p:cNvSpPr txBox="1"/>
          <p:nvPr/>
        </p:nvSpPr>
        <p:spPr>
          <a:xfrm>
            <a:off x="7721601" y="3702471"/>
            <a:ext cx="3927604" cy="307777"/>
          </a:xfrm>
          <a:prstGeom prst="rect">
            <a:avLst/>
          </a:prstGeom>
          <a:noFill/>
        </p:spPr>
        <p:txBody>
          <a:bodyPr wrap="square" rtlCol="0">
            <a:spAutoFit/>
          </a:bodyPr>
          <a:lstStyle/>
          <a:p>
            <a:r>
              <a:rPr lang="en-US" sz="1400">
                <a:latin typeface="Avenir Next LT Pro" panose="020B0504020202020204" pitchFamily="34" charset="0"/>
                <a:ea typeface="Calibri" panose="020F0502020204030204" pitchFamily="34" charset="0"/>
                <a:cs typeface="Calibri" panose="020F0502020204030204" pitchFamily="34" charset="0"/>
              </a:rPr>
              <a:t>Small Displacement Motorcycles by Region</a:t>
            </a:r>
          </a:p>
        </p:txBody>
      </p:sp>
      <p:sp>
        <p:nvSpPr>
          <p:cNvPr id="15" name="TextBox 14">
            <a:extLst>
              <a:ext uri="{FF2B5EF4-FFF2-40B4-BE49-F238E27FC236}">
                <a16:creationId xmlns:a16="http://schemas.microsoft.com/office/drawing/2014/main" id="{BC9E0782-FF28-B528-0415-A0D991D58C1F}"/>
              </a:ext>
            </a:extLst>
          </p:cNvPr>
          <p:cNvSpPr txBox="1"/>
          <p:nvPr/>
        </p:nvSpPr>
        <p:spPr>
          <a:xfrm>
            <a:off x="7721601" y="872288"/>
            <a:ext cx="3251202" cy="307777"/>
          </a:xfrm>
          <a:prstGeom prst="rect">
            <a:avLst/>
          </a:prstGeom>
          <a:noFill/>
        </p:spPr>
        <p:txBody>
          <a:bodyPr wrap="square" rtlCol="0">
            <a:spAutoFit/>
          </a:bodyPr>
          <a:lstStyle/>
          <a:p>
            <a:r>
              <a:rPr lang="en-US" sz="1400">
                <a:latin typeface="Avenir Next LT Pro" panose="020B0504020202020204" pitchFamily="34" charset="0"/>
                <a:ea typeface="Calibri" panose="020F0502020204030204" pitchFamily="34" charset="0"/>
                <a:cs typeface="Calibri" panose="020F0502020204030204" pitchFamily="34" charset="0"/>
              </a:rPr>
              <a:t>Sprint Bike</a:t>
            </a:r>
          </a:p>
        </p:txBody>
      </p:sp>
      <p:sp>
        <p:nvSpPr>
          <p:cNvPr id="16" name="TextBox 15">
            <a:extLst>
              <a:ext uri="{FF2B5EF4-FFF2-40B4-BE49-F238E27FC236}">
                <a16:creationId xmlns:a16="http://schemas.microsoft.com/office/drawing/2014/main" id="{11AD68BB-E7A5-C50B-83D3-7B07DF9D25F4}"/>
              </a:ext>
            </a:extLst>
          </p:cNvPr>
          <p:cNvSpPr txBox="1"/>
          <p:nvPr/>
        </p:nvSpPr>
        <p:spPr>
          <a:xfrm>
            <a:off x="243797" y="3697848"/>
            <a:ext cx="4564216" cy="307777"/>
          </a:xfrm>
          <a:prstGeom prst="rect">
            <a:avLst/>
          </a:prstGeom>
          <a:noFill/>
        </p:spPr>
        <p:txBody>
          <a:bodyPr wrap="square" rtlCol="0">
            <a:spAutoFit/>
          </a:bodyPr>
          <a:lstStyle/>
          <a:p>
            <a:r>
              <a:rPr lang="en-US" sz="1400">
                <a:latin typeface="Avenir Next LT Pro" panose="020B0504020202020204" pitchFamily="34" charset="0"/>
                <a:ea typeface="Calibri" panose="020F0502020204030204" pitchFamily="34" charset="0"/>
                <a:cs typeface="Calibri" panose="020F0502020204030204" pitchFamily="34" charset="0"/>
              </a:rPr>
              <a:t>Global Total Annual Units of Small Displacement</a:t>
            </a:r>
          </a:p>
        </p:txBody>
      </p:sp>
      <p:sp>
        <p:nvSpPr>
          <p:cNvPr id="17" name="object 29">
            <a:extLst>
              <a:ext uri="{FF2B5EF4-FFF2-40B4-BE49-F238E27FC236}">
                <a16:creationId xmlns:a16="http://schemas.microsoft.com/office/drawing/2014/main" id="{FD06446E-8E98-631F-17B9-7F2D0E9CCB9E}"/>
              </a:ext>
            </a:extLst>
          </p:cNvPr>
          <p:cNvSpPr txBox="1"/>
          <p:nvPr/>
        </p:nvSpPr>
        <p:spPr>
          <a:xfrm>
            <a:off x="4611463" y="2538895"/>
            <a:ext cx="2773655" cy="1346522"/>
          </a:xfrm>
          <a:prstGeom prst="rect">
            <a:avLst/>
          </a:prstGeom>
          <a:solidFill>
            <a:schemeClr val="accent2">
              <a:lumMod val="20000"/>
              <a:lumOff val="80000"/>
            </a:schemeClr>
          </a:solidFill>
          <a:ln w="25400">
            <a:solidFill>
              <a:schemeClr val="accent2">
                <a:lumMod val="75000"/>
              </a:schemeClr>
            </a:solidFill>
          </a:ln>
        </p:spPr>
        <p:txBody>
          <a:bodyPr vert="horz" wrap="square" lIns="0" tIns="190500" rIns="0" bIns="0" rtlCol="0" anchor="ctr">
            <a:spAutoFit/>
          </a:bodyPr>
          <a:lstStyle/>
          <a:p>
            <a:pPr marL="375290" marR="226063" indent="-149227" algn="ctr">
              <a:lnSpc>
                <a:spcPts val="1801"/>
              </a:lnSpc>
              <a:spcBef>
                <a:spcPts val="1500"/>
              </a:spcBef>
            </a:pPr>
            <a:r>
              <a:rPr lang="en-US">
                <a:latin typeface="Avenir Next LT Pro" panose="020B0504020202020204" pitchFamily="34" charset="0"/>
                <a:ea typeface="Calibri" panose="020F0502020204030204" pitchFamily="34" charset="0"/>
                <a:cs typeface="Calibri" panose="020F0502020204030204" pitchFamily="34" charset="0"/>
              </a:rPr>
              <a:t>Affordable models like the Sprint serve as entry-level bikes that target the younger riders</a:t>
            </a:r>
            <a:endParaRPr lang="en-US" dirty="0">
              <a:latin typeface="Avenir Next LT Pro" panose="020B0504020202020204" pitchFamily="34" charset="0"/>
              <a:ea typeface="Calibri" panose="020F0502020204030204" pitchFamily="34" charset="0"/>
              <a:cs typeface="Calibri" panose="020F0502020204030204" pitchFamily="34" charset="0"/>
            </a:endParaRPr>
          </a:p>
        </p:txBody>
      </p:sp>
      <p:sp>
        <p:nvSpPr>
          <p:cNvPr id="18" name="object 29">
            <a:extLst>
              <a:ext uri="{FF2B5EF4-FFF2-40B4-BE49-F238E27FC236}">
                <a16:creationId xmlns:a16="http://schemas.microsoft.com/office/drawing/2014/main" id="{10E9E206-2C1A-C4B4-752F-0AEE6F55984B}"/>
              </a:ext>
            </a:extLst>
          </p:cNvPr>
          <p:cNvSpPr txBox="1"/>
          <p:nvPr/>
        </p:nvSpPr>
        <p:spPr>
          <a:xfrm>
            <a:off x="4610789" y="1185681"/>
            <a:ext cx="2773654" cy="1115690"/>
          </a:xfrm>
          <a:prstGeom prst="rect">
            <a:avLst/>
          </a:prstGeom>
          <a:solidFill>
            <a:schemeClr val="accent2">
              <a:lumMod val="20000"/>
              <a:lumOff val="80000"/>
            </a:schemeClr>
          </a:solidFill>
          <a:ln w="25400">
            <a:solidFill>
              <a:schemeClr val="accent2">
                <a:lumMod val="75000"/>
              </a:schemeClr>
            </a:solidFill>
          </a:ln>
        </p:spPr>
        <p:txBody>
          <a:bodyPr vert="horz" wrap="square" lIns="0" tIns="190500" rIns="0" bIns="0" rtlCol="0" anchor="ctr">
            <a:spAutoFit/>
          </a:bodyPr>
          <a:lstStyle/>
          <a:p>
            <a:pPr marL="375290" marR="226063" indent="-149227" algn="ctr">
              <a:lnSpc>
                <a:spcPts val="1801"/>
              </a:lnSpc>
              <a:spcBef>
                <a:spcPts val="1500"/>
              </a:spcBef>
              <a:spcAft>
                <a:spcPts val="1500"/>
              </a:spcAft>
            </a:pPr>
            <a:r>
              <a:rPr lang="en-US">
                <a:latin typeface="Avenir Next LT Pro" panose="020B0504020202020204" pitchFamily="34" charset="0"/>
                <a:ea typeface="Calibri" panose="020F0502020204030204" pitchFamily="34" charset="0"/>
                <a:cs typeface="Calibri" panose="020F0502020204030204" pitchFamily="34" charset="0"/>
              </a:rPr>
              <a:t>Demographic shift as Harley’s riders age out of their riding years</a:t>
            </a:r>
          </a:p>
        </p:txBody>
      </p:sp>
      <p:sp>
        <p:nvSpPr>
          <p:cNvPr id="19" name="object 29">
            <a:extLst>
              <a:ext uri="{FF2B5EF4-FFF2-40B4-BE49-F238E27FC236}">
                <a16:creationId xmlns:a16="http://schemas.microsoft.com/office/drawing/2014/main" id="{B1752889-7015-2CEC-9FE0-0386042E0F2A}"/>
              </a:ext>
            </a:extLst>
          </p:cNvPr>
          <p:cNvSpPr txBox="1"/>
          <p:nvPr/>
        </p:nvSpPr>
        <p:spPr>
          <a:xfrm>
            <a:off x="4610788" y="4127796"/>
            <a:ext cx="2773655" cy="884858"/>
          </a:xfrm>
          <a:prstGeom prst="rect">
            <a:avLst/>
          </a:prstGeom>
          <a:solidFill>
            <a:schemeClr val="accent2">
              <a:lumMod val="20000"/>
              <a:lumOff val="80000"/>
            </a:schemeClr>
          </a:solidFill>
          <a:ln w="25400">
            <a:solidFill>
              <a:schemeClr val="accent2">
                <a:lumMod val="75000"/>
              </a:schemeClr>
            </a:solidFill>
          </a:ln>
        </p:spPr>
        <p:txBody>
          <a:bodyPr vert="horz" wrap="square" lIns="0" tIns="190500" rIns="0" bIns="0" rtlCol="0" anchor="ctr">
            <a:spAutoFit/>
          </a:bodyPr>
          <a:lstStyle/>
          <a:p>
            <a:pPr marL="375290" marR="226063" indent="-149227" algn="ctr">
              <a:lnSpc>
                <a:spcPts val="1801"/>
              </a:lnSpc>
              <a:spcBef>
                <a:spcPts val="1500"/>
              </a:spcBef>
            </a:pPr>
            <a:r>
              <a:rPr lang="en-US">
                <a:latin typeface="Avenir Next LT Pro" panose="020B0504020202020204" pitchFamily="34" charset="0"/>
                <a:ea typeface="Calibri" panose="020F0502020204030204" pitchFamily="34" charset="0"/>
                <a:cs typeface="Calibri" panose="020F0502020204030204" pitchFamily="34" charset="0"/>
              </a:rPr>
              <a:t>Never been able to be done before due to lack of resources</a:t>
            </a:r>
          </a:p>
        </p:txBody>
      </p:sp>
      <p:pic>
        <p:nvPicPr>
          <p:cNvPr id="23" name="Picture 22" descr="Harley Davidson Logo PNG Image - PurePNG | Free transparent CC0 PNG ...">
            <a:extLst>
              <a:ext uri="{FF2B5EF4-FFF2-40B4-BE49-F238E27FC236}">
                <a16:creationId xmlns:a16="http://schemas.microsoft.com/office/drawing/2014/main" id="{611438DC-C727-89F0-21EB-0CF4D07662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4">
            <a:extLst>
              <a:ext uri="{FF2B5EF4-FFF2-40B4-BE49-F238E27FC236}">
                <a16:creationId xmlns:a16="http://schemas.microsoft.com/office/drawing/2014/main" id="{1F33422A-6369-D99D-F965-A425BA753C66}"/>
              </a:ext>
            </a:extLst>
          </p:cNvPr>
          <p:cNvSpPr txBox="1"/>
          <p:nvPr/>
        </p:nvSpPr>
        <p:spPr>
          <a:xfrm>
            <a:off x="78739" y="6657021"/>
            <a:ext cx="6281868"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 </a:t>
            </a:r>
            <a:r>
              <a:rPr lang="en-US" sz="950" i="1" err="1">
                <a:latin typeface="Avenir Next LT Pro" panose="020B0504020202020204" pitchFamily="34" charset="0"/>
                <a:cs typeface="Segoe UI" panose="020B0502040204020203" pitchFamily="34" charset="0"/>
              </a:rPr>
              <a:t>Datainsightsmarket</a:t>
            </a:r>
            <a:r>
              <a:rPr lang="en-US" sz="950" i="1">
                <a:latin typeface="Avenir Next LT Pro" panose="020B0504020202020204" pitchFamily="34" charset="0"/>
                <a:cs typeface="Segoe UI" panose="020B0502040204020203" pitchFamily="34" charset="0"/>
              </a:rPr>
              <a:t>, Motor &amp; Wheels</a:t>
            </a:r>
            <a:endParaRPr lang="en-US" sz="949">
              <a:latin typeface="Avenir Next LT Pro" panose="020B0504020202020204" pitchFamily="34" charset="0"/>
              <a:cs typeface="Segoe UI"/>
            </a:endParaRPr>
          </a:p>
        </p:txBody>
      </p:sp>
      <p:graphicFrame>
        <p:nvGraphicFramePr>
          <p:cNvPr id="29" name="Chart 28">
            <a:extLst>
              <a:ext uri="{FF2B5EF4-FFF2-40B4-BE49-F238E27FC236}">
                <a16:creationId xmlns:a16="http://schemas.microsoft.com/office/drawing/2014/main" id="{55C7793C-8C86-E4F0-DE02-77F731901844}"/>
              </a:ext>
            </a:extLst>
          </p:cNvPr>
          <p:cNvGraphicFramePr>
            <a:graphicFrameLocks/>
          </p:cNvGraphicFramePr>
          <p:nvPr>
            <p:extLst>
              <p:ext uri="{D42A27DB-BD31-4B8C-83A1-F6EECF244321}">
                <p14:modId xmlns:p14="http://schemas.microsoft.com/office/powerpoint/2010/main" val="170119730"/>
              </p:ext>
            </p:extLst>
          </p:nvPr>
        </p:nvGraphicFramePr>
        <p:xfrm>
          <a:off x="7385601" y="4008729"/>
          <a:ext cx="4640938" cy="2244587"/>
        </p:xfrm>
        <a:graphic>
          <a:graphicData uri="http://schemas.openxmlformats.org/drawingml/2006/chart">
            <c:chart xmlns:c="http://schemas.openxmlformats.org/drawingml/2006/chart" xmlns:r="http://schemas.openxmlformats.org/officeDocument/2006/relationships" r:id="rId7"/>
          </a:graphicData>
        </a:graphic>
      </p:graphicFrame>
      <p:grpSp>
        <p:nvGrpSpPr>
          <p:cNvPr id="20" name="Group 19">
            <a:extLst>
              <a:ext uri="{FF2B5EF4-FFF2-40B4-BE49-F238E27FC236}">
                <a16:creationId xmlns:a16="http://schemas.microsoft.com/office/drawing/2014/main" id="{8E501FE5-664F-23C1-58FE-B9D3DA6A04C0}"/>
              </a:ext>
            </a:extLst>
          </p:cNvPr>
          <p:cNvGrpSpPr/>
          <p:nvPr/>
        </p:nvGrpSpPr>
        <p:grpSpPr>
          <a:xfrm>
            <a:off x="695325" y="6302380"/>
            <a:ext cx="10429876" cy="265521"/>
            <a:chOff x="695325" y="6302380"/>
            <a:chExt cx="10429876" cy="265521"/>
          </a:xfrm>
        </p:grpSpPr>
        <p:sp>
          <p:nvSpPr>
            <p:cNvPr id="21" name="object 13">
              <a:extLst>
                <a:ext uri="{FF2B5EF4-FFF2-40B4-BE49-F238E27FC236}">
                  <a16:creationId xmlns:a16="http://schemas.microsoft.com/office/drawing/2014/main" id="{6653CB22-65A0-EB81-D047-938C78D94DD0}"/>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22" name="object 14">
              <a:extLst>
                <a:ext uri="{FF2B5EF4-FFF2-40B4-BE49-F238E27FC236}">
                  <a16:creationId xmlns:a16="http://schemas.microsoft.com/office/drawing/2014/main" id="{06481069-FA03-D4CE-D1BB-7AC34B3C87B1}"/>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30" name="object 15">
              <a:extLst>
                <a:ext uri="{FF2B5EF4-FFF2-40B4-BE49-F238E27FC236}">
                  <a16:creationId xmlns:a16="http://schemas.microsoft.com/office/drawing/2014/main" id="{1A96AB28-D376-AD94-5F18-D1C82307C330}"/>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8"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
          <p:nvSpPr>
            <p:cNvPr id="31" name="object 16">
              <a:extLst>
                <a:ext uri="{FF2B5EF4-FFF2-40B4-BE49-F238E27FC236}">
                  <a16:creationId xmlns:a16="http://schemas.microsoft.com/office/drawing/2014/main" id="{3A142303-82B6-6EB2-3D56-E20958F8E966}"/>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32" name="object 37">
              <a:extLst>
                <a:ext uri="{FF2B5EF4-FFF2-40B4-BE49-F238E27FC236}">
                  <a16:creationId xmlns:a16="http://schemas.microsoft.com/office/drawing/2014/main" id="{D5EC755F-44F6-8876-5916-24A2DEF8BAEC}"/>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33" name="object 39">
              <a:extLst>
                <a:ext uri="{FF2B5EF4-FFF2-40B4-BE49-F238E27FC236}">
                  <a16:creationId xmlns:a16="http://schemas.microsoft.com/office/drawing/2014/main" id="{EFC2ABFB-1DA6-ECC0-8D59-5BD00A641965}"/>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b="1" spc="-25">
                  <a:latin typeface="Avenir Next LT Pro" panose="020B0504020202020204" pitchFamily="34" charset="0"/>
                  <a:cs typeface="Segoe UI"/>
                </a:rPr>
                <a:t>Driver</a:t>
              </a:r>
              <a:endParaRPr lang="en-US" sz="1401" b="1">
                <a:latin typeface="Avenir Next LT Pro" panose="020B0504020202020204" pitchFamily="34" charset="0"/>
                <a:cs typeface="Segoe UI"/>
              </a:endParaRPr>
            </a:p>
          </p:txBody>
        </p:sp>
        <p:sp>
          <p:nvSpPr>
            <p:cNvPr id="34" name="object 40">
              <a:extLst>
                <a:ext uri="{FF2B5EF4-FFF2-40B4-BE49-F238E27FC236}">
                  <a16:creationId xmlns:a16="http://schemas.microsoft.com/office/drawing/2014/main" id="{E520E89E-877C-2D15-F2BA-B4B8EC0DB30E}"/>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35" name="object 41">
              <a:extLst>
                <a:ext uri="{FF2B5EF4-FFF2-40B4-BE49-F238E27FC236}">
                  <a16:creationId xmlns:a16="http://schemas.microsoft.com/office/drawing/2014/main" id="{CC84537C-6819-D895-0B10-871F99F07EC1}"/>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
        <p:nvSpPr>
          <p:cNvPr id="36" name="object 29">
            <a:extLst>
              <a:ext uri="{FF2B5EF4-FFF2-40B4-BE49-F238E27FC236}">
                <a16:creationId xmlns:a16="http://schemas.microsoft.com/office/drawing/2014/main" id="{3C0AC94D-4F2F-1A5E-0DF3-99452F3EBEA2}"/>
              </a:ext>
            </a:extLst>
          </p:cNvPr>
          <p:cNvSpPr txBox="1"/>
          <p:nvPr/>
        </p:nvSpPr>
        <p:spPr>
          <a:xfrm>
            <a:off x="4610787" y="5252489"/>
            <a:ext cx="2773655" cy="884858"/>
          </a:xfrm>
          <a:prstGeom prst="rect">
            <a:avLst/>
          </a:prstGeom>
          <a:solidFill>
            <a:schemeClr val="accent2">
              <a:lumMod val="20000"/>
              <a:lumOff val="80000"/>
            </a:schemeClr>
          </a:solidFill>
          <a:ln w="25400">
            <a:solidFill>
              <a:schemeClr val="accent2">
                <a:lumMod val="75000"/>
              </a:schemeClr>
            </a:solidFill>
          </a:ln>
        </p:spPr>
        <p:txBody>
          <a:bodyPr vert="horz" wrap="square" lIns="0" tIns="190500" rIns="0" bIns="0" rtlCol="0" anchor="ctr">
            <a:spAutoFit/>
          </a:bodyPr>
          <a:lstStyle/>
          <a:p>
            <a:pPr marL="375290" marR="226063" indent="-149227" algn="ctr">
              <a:lnSpc>
                <a:spcPts val="1801"/>
              </a:lnSpc>
              <a:spcBef>
                <a:spcPts val="1500"/>
              </a:spcBef>
            </a:pPr>
            <a:r>
              <a:rPr lang="en-US">
                <a:latin typeface="Avenir Next LT Pro" panose="020B0504020202020204" pitchFamily="34" charset="0"/>
                <a:ea typeface="Calibri" panose="020F0502020204030204" pitchFamily="34" charset="0"/>
                <a:cs typeface="Calibri" panose="020F0502020204030204" pitchFamily="34" charset="0"/>
              </a:rPr>
              <a:t>HDFS deal provides the financial flexibility needed</a:t>
            </a:r>
          </a:p>
        </p:txBody>
      </p:sp>
    </p:spTree>
    <p:extLst>
      <p:ext uri="{BB962C8B-B14F-4D97-AF65-F5344CB8AC3E}">
        <p14:creationId xmlns:p14="http://schemas.microsoft.com/office/powerpoint/2010/main" val="3179508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07201-601D-031E-3B04-483C6FA5F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56950-0312-936D-1A6A-A01B31258F51}"/>
              </a:ext>
            </a:extLst>
          </p:cNvPr>
          <p:cNvSpPr>
            <a:spLocks noGrp="1"/>
          </p:cNvSpPr>
          <p:nvPr>
            <p:ph type="title"/>
          </p:nvPr>
        </p:nvSpPr>
        <p:spPr>
          <a:xfrm>
            <a:off x="348788" y="135570"/>
            <a:ext cx="9774600" cy="994395"/>
          </a:xfrm>
        </p:spPr>
        <p:txBody>
          <a:bodyPr>
            <a:normAutofit/>
          </a:bodyPr>
          <a:lstStyle/>
          <a:p>
            <a:r>
              <a:rPr lang="en-US" u="sng">
                <a:solidFill>
                  <a:schemeClr val="accent2">
                    <a:lumMod val="75000"/>
                  </a:schemeClr>
                </a:solidFill>
                <a:latin typeface="Avenir Next LT Pro" panose="020B0504020202020204" pitchFamily="34" charset="0"/>
              </a:rPr>
              <a:t>Driver 2: HDFS Transaction </a:t>
            </a:r>
          </a:p>
        </p:txBody>
      </p:sp>
      <p:grpSp>
        <p:nvGrpSpPr>
          <p:cNvPr id="30" name="Group 29">
            <a:extLst>
              <a:ext uri="{FF2B5EF4-FFF2-40B4-BE49-F238E27FC236}">
                <a16:creationId xmlns:a16="http://schemas.microsoft.com/office/drawing/2014/main" id="{46FCB261-5750-5840-69B7-9A2816AE2276}"/>
              </a:ext>
            </a:extLst>
          </p:cNvPr>
          <p:cNvGrpSpPr/>
          <p:nvPr/>
        </p:nvGrpSpPr>
        <p:grpSpPr>
          <a:xfrm>
            <a:off x="348788" y="1906912"/>
            <a:ext cx="7123575" cy="4815518"/>
            <a:chOff x="-231020" y="1339031"/>
            <a:chExt cx="6214762" cy="3780004"/>
          </a:xfrm>
        </p:grpSpPr>
        <p:graphicFrame>
          <p:nvGraphicFramePr>
            <p:cNvPr id="4" name="Chart 3">
              <a:extLst>
                <a:ext uri="{FF2B5EF4-FFF2-40B4-BE49-F238E27FC236}">
                  <a16:creationId xmlns:a16="http://schemas.microsoft.com/office/drawing/2014/main" id="{0AC11DC4-6868-6C05-23FB-25A51B29A0D3}"/>
                </a:ext>
              </a:extLst>
            </p:cNvPr>
            <p:cNvGraphicFramePr>
              <a:graphicFrameLocks/>
            </p:cNvGraphicFramePr>
            <p:nvPr>
              <p:extLst>
                <p:ext uri="{D42A27DB-BD31-4B8C-83A1-F6EECF244321}">
                  <p14:modId xmlns:p14="http://schemas.microsoft.com/office/powerpoint/2010/main" val="928171967"/>
                </p:ext>
              </p:extLst>
            </p:nvPr>
          </p:nvGraphicFramePr>
          <p:xfrm>
            <a:off x="-89573" y="1372061"/>
            <a:ext cx="4789538" cy="3746974"/>
          </p:xfrm>
          <a:graphic>
            <a:graphicData uri="http://schemas.openxmlformats.org/drawingml/2006/chart">
              <c:chart xmlns:c="http://schemas.openxmlformats.org/drawingml/2006/chart" xmlns:r="http://schemas.openxmlformats.org/officeDocument/2006/relationships" r:id="rId3"/>
            </a:graphicData>
          </a:graphic>
        </p:graphicFrame>
        <p:cxnSp>
          <p:nvCxnSpPr>
            <p:cNvPr id="6" name="Straight Connector 5">
              <a:extLst>
                <a:ext uri="{FF2B5EF4-FFF2-40B4-BE49-F238E27FC236}">
                  <a16:creationId xmlns:a16="http://schemas.microsoft.com/office/drawing/2014/main" id="{5A2D6697-285E-DDEE-12AE-B94B6B3AD999}"/>
                </a:ext>
              </a:extLst>
            </p:cNvPr>
            <p:cNvCxnSpPr>
              <a:cxnSpLocks/>
            </p:cNvCxnSpPr>
            <p:nvPr/>
          </p:nvCxnSpPr>
          <p:spPr>
            <a:xfrm flipV="1">
              <a:off x="3464191" y="2226301"/>
              <a:ext cx="1339091" cy="7124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C7C67B9-E4D2-B64B-DCF0-E0598E5C8E3E}"/>
                </a:ext>
              </a:extLst>
            </p:cNvPr>
            <p:cNvCxnSpPr>
              <a:cxnSpLocks/>
            </p:cNvCxnSpPr>
            <p:nvPr/>
          </p:nvCxnSpPr>
          <p:spPr>
            <a:xfrm>
              <a:off x="860827" y="1628007"/>
              <a:ext cx="1057757" cy="62687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BCF14CA-37FE-19D9-325F-DCC5F2E8EDD9}"/>
                </a:ext>
              </a:extLst>
            </p:cNvPr>
            <p:cNvCxnSpPr>
              <a:cxnSpLocks/>
            </p:cNvCxnSpPr>
            <p:nvPr/>
          </p:nvCxnSpPr>
          <p:spPr>
            <a:xfrm flipV="1">
              <a:off x="657511" y="3361054"/>
              <a:ext cx="1517100" cy="108246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2494DF7-8ED7-7687-298F-69EF46CAE531}"/>
                </a:ext>
              </a:extLst>
            </p:cNvPr>
            <p:cNvSpPr txBox="1"/>
            <p:nvPr/>
          </p:nvSpPr>
          <p:spPr>
            <a:xfrm>
              <a:off x="3961554" y="1885494"/>
              <a:ext cx="2022188" cy="241594"/>
            </a:xfrm>
            <a:prstGeom prst="rect">
              <a:avLst/>
            </a:prstGeom>
            <a:noFill/>
          </p:spPr>
          <p:txBody>
            <a:bodyPr wrap="square" rtlCol="0">
              <a:spAutoFit/>
            </a:bodyPr>
            <a:lstStyle/>
            <a:p>
              <a:r>
                <a:rPr lang="en-US" sz="1400">
                  <a:latin typeface="Avenir Next LT Pro" panose="020B0504020202020204" pitchFamily="34" charset="0"/>
                </a:rPr>
                <a:t>Share Buybacks (40%)</a:t>
              </a:r>
            </a:p>
          </p:txBody>
        </p:sp>
        <p:sp>
          <p:nvSpPr>
            <p:cNvPr id="13" name="TextBox 12">
              <a:extLst>
                <a:ext uri="{FF2B5EF4-FFF2-40B4-BE49-F238E27FC236}">
                  <a16:creationId xmlns:a16="http://schemas.microsoft.com/office/drawing/2014/main" id="{FEF00088-33F0-0348-30CA-F3ADC3FF296F}"/>
                </a:ext>
              </a:extLst>
            </p:cNvPr>
            <p:cNvSpPr txBox="1"/>
            <p:nvPr/>
          </p:nvSpPr>
          <p:spPr>
            <a:xfrm>
              <a:off x="-85565" y="1339031"/>
              <a:ext cx="2311203" cy="241594"/>
            </a:xfrm>
            <a:prstGeom prst="rect">
              <a:avLst/>
            </a:prstGeom>
            <a:noFill/>
          </p:spPr>
          <p:txBody>
            <a:bodyPr wrap="square" rtlCol="0">
              <a:spAutoFit/>
            </a:bodyPr>
            <a:lstStyle/>
            <a:p>
              <a:r>
                <a:rPr lang="en-US" sz="1400">
                  <a:latin typeface="Avenir Next LT Pro" panose="020B0504020202020204" pitchFamily="34" charset="0"/>
                </a:rPr>
                <a:t>Future Investments (36%) </a:t>
              </a:r>
            </a:p>
          </p:txBody>
        </p:sp>
        <p:sp>
          <p:nvSpPr>
            <p:cNvPr id="15" name="TextBox 14">
              <a:extLst>
                <a:ext uri="{FF2B5EF4-FFF2-40B4-BE49-F238E27FC236}">
                  <a16:creationId xmlns:a16="http://schemas.microsoft.com/office/drawing/2014/main" id="{A78A41E4-B073-CD47-7015-2955C74389EB}"/>
                </a:ext>
              </a:extLst>
            </p:cNvPr>
            <p:cNvSpPr txBox="1"/>
            <p:nvPr/>
          </p:nvSpPr>
          <p:spPr>
            <a:xfrm>
              <a:off x="-231020" y="4509425"/>
              <a:ext cx="2311203" cy="241594"/>
            </a:xfrm>
            <a:prstGeom prst="rect">
              <a:avLst/>
            </a:prstGeom>
            <a:noFill/>
          </p:spPr>
          <p:txBody>
            <a:bodyPr wrap="square" rtlCol="0">
              <a:spAutoFit/>
            </a:bodyPr>
            <a:lstStyle/>
            <a:p>
              <a:r>
                <a:rPr lang="en-US" sz="1400">
                  <a:latin typeface="Avenir Next LT Pro" panose="020B0504020202020204" pitchFamily="34" charset="0"/>
                </a:rPr>
                <a:t>Payoff Debt (24%)</a:t>
              </a:r>
            </a:p>
          </p:txBody>
        </p:sp>
      </p:gr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99718668-CB8D-9F67-F223-275103F90D67}"/>
                  </a:ext>
                </a:extLst>
              </p:cNvPr>
              <p:cNvSpPr/>
              <p:nvPr/>
            </p:nvSpPr>
            <p:spPr>
              <a:xfrm>
                <a:off x="6433033" y="4046841"/>
                <a:ext cx="5593506" cy="1841839"/>
              </a:xfrm>
              <a:prstGeom prst="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a:solidFill>
                      <a:schemeClr val="tx1"/>
                    </a:solidFill>
                    <a:latin typeface="Avenir Next LT Pro" panose="020B0504020202020204" pitchFamily="34" charset="0"/>
                  </a:rPr>
                  <a:t>Unlocks $1.25 billion in cash</a:t>
                </a:r>
              </a:p>
              <a:p>
                <a:pPr marL="285750" indent="-285750">
                  <a:buFont typeface="Arial" panose="020B0604020202020204" pitchFamily="34" charset="0"/>
                  <a:buChar char="•"/>
                </a:pPr>
                <a:endParaRPr lang="en-US" sz="1600">
                  <a:solidFill>
                    <a:schemeClr val="tx1"/>
                  </a:solidFill>
                  <a:latin typeface="Avenir Next LT Pro" panose="020B0504020202020204" pitchFamily="34" charset="0"/>
                </a:endParaRPr>
              </a:p>
              <a:p>
                <a:pPr marL="285750" indent="-285750">
                  <a:buFont typeface="Arial" panose="020B0604020202020204" pitchFamily="34" charset="0"/>
                  <a:buChar char="•"/>
                </a:pPr>
                <a:r>
                  <a:rPr lang="en-US" sz="1600">
                    <a:solidFill>
                      <a:schemeClr val="tx1"/>
                    </a:solidFill>
                    <a:latin typeface="Avenir Next LT Pro" panose="020B0504020202020204" pitchFamily="34" charset="0"/>
                  </a:rPr>
                  <a:t> $500M allocated to share buybacks ( </a:t>
                </a:r>
                <a14:m>
                  <m:oMath xmlns:m="http://schemas.openxmlformats.org/officeDocument/2006/math">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1</m:t>
                        </m:r>
                      </m:num>
                      <m:den>
                        <m:r>
                          <a:rPr lang="en-US" sz="1600" i="1">
                            <a:solidFill>
                              <a:schemeClr val="tx1"/>
                            </a:solidFill>
                            <a:latin typeface="Cambria Math" panose="02040503050406030204" pitchFamily="18" charset="0"/>
                          </a:rPr>
                          <m:t>5</m:t>
                        </m:r>
                      </m:den>
                    </m:f>
                    <m:r>
                      <a:rPr lang="en-US" sz="1600">
                        <a:solidFill>
                          <a:schemeClr val="tx1"/>
                        </a:solidFill>
                        <a:latin typeface="Cambria Math" panose="02040503050406030204" pitchFamily="18" charset="0"/>
                      </a:rPr>
                      <m:t> </m:t>
                    </m:r>
                    <m:r>
                      <a:rPr lang="en-US" sz="1600" b="0" i="0" smtClean="0">
                        <a:solidFill>
                          <a:schemeClr val="tx1"/>
                        </a:solidFill>
                        <a:latin typeface="Cambria Math" panose="02040503050406030204" pitchFamily="18" charset="0"/>
                      </a:rPr>
                      <m:t> </m:t>
                    </m:r>
                    <m:r>
                      <m:rPr>
                        <m:sty m:val="p"/>
                      </m:rPr>
                      <a:rPr lang="en-US" sz="1600" b="0" i="0" smtClean="0">
                        <a:solidFill>
                          <a:schemeClr val="tx1"/>
                        </a:solidFill>
                        <a:latin typeface="Cambria Math" panose="02040503050406030204" pitchFamily="18" charset="0"/>
                      </a:rPr>
                      <m:t>of</m:t>
                    </m:r>
                    <m:r>
                      <a:rPr lang="en-US" sz="1600" b="0" i="0" smtClean="0">
                        <a:solidFill>
                          <a:schemeClr val="tx1"/>
                        </a:solidFill>
                        <a:latin typeface="Cambria Math" panose="02040503050406030204" pitchFamily="18" charset="0"/>
                      </a:rPr>
                      <m:t> </m:t>
                    </m:r>
                    <m:r>
                      <m:rPr>
                        <m:sty m:val="p"/>
                      </m:rPr>
                      <a:rPr lang="en-US" sz="1600" b="0" i="0" smtClean="0">
                        <a:solidFill>
                          <a:schemeClr val="tx1"/>
                        </a:solidFill>
                        <a:latin typeface="Cambria Math" panose="02040503050406030204" pitchFamily="18" charset="0"/>
                      </a:rPr>
                      <m:t>market</m:t>
                    </m:r>
                    <m:r>
                      <a:rPr lang="en-US" sz="1600" b="0" i="0" smtClean="0">
                        <a:solidFill>
                          <a:schemeClr val="tx1"/>
                        </a:solidFill>
                        <a:latin typeface="Cambria Math" panose="02040503050406030204" pitchFamily="18" charset="0"/>
                      </a:rPr>
                      <m:t> </m:t>
                    </m:r>
                    <m:r>
                      <m:rPr>
                        <m:sty m:val="p"/>
                      </m:rPr>
                      <a:rPr lang="en-US" sz="1600" b="0" i="0" smtClean="0">
                        <a:solidFill>
                          <a:schemeClr val="tx1"/>
                        </a:solidFill>
                        <a:latin typeface="Cambria Math" panose="02040503050406030204" pitchFamily="18" charset="0"/>
                      </a:rPr>
                      <m:t>cap</m:t>
                    </m:r>
                    <m:r>
                      <a:rPr lang="en-US" sz="1600">
                        <a:solidFill>
                          <a:schemeClr val="tx1"/>
                        </a:solidFill>
                        <a:latin typeface="Cambria Math" panose="02040503050406030204" pitchFamily="18" charset="0"/>
                      </a:rPr>
                      <m:t>)</m:t>
                    </m:r>
                  </m:oMath>
                </a14:m>
                <a:endParaRPr lang="en-US" sz="1600">
                  <a:solidFill>
                    <a:schemeClr val="tx1"/>
                  </a:solidFill>
                  <a:latin typeface="Avenir Next LT Pro" panose="020B0504020202020204" pitchFamily="34" charset="0"/>
                </a:endParaRPr>
              </a:p>
              <a:p>
                <a:pPr marL="285750" indent="-285750">
                  <a:buFont typeface="Arial" panose="020B0604020202020204" pitchFamily="34" charset="0"/>
                  <a:buChar char="•"/>
                </a:pPr>
                <a:r>
                  <a:rPr lang="en-US" sz="1600">
                    <a:solidFill>
                      <a:schemeClr val="tx1"/>
                    </a:solidFill>
                    <a:latin typeface="Avenir Next LT Pro" panose="020B0504020202020204" pitchFamily="34" charset="0"/>
                  </a:rPr>
                  <a:t> $450M allocated to pay off debt  </a:t>
                </a:r>
              </a:p>
              <a:p>
                <a:pPr marL="285750" indent="-285750">
                  <a:spcBef>
                    <a:spcPts val="400"/>
                  </a:spcBef>
                  <a:buFont typeface="Arial" panose="020B0604020202020204" pitchFamily="34" charset="0"/>
                  <a:buChar char="•"/>
                </a:pPr>
                <a:r>
                  <a:rPr lang="en-US" sz="1600">
                    <a:solidFill>
                      <a:schemeClr val="tx1"/>
                    </a:solidFill>
                    <a:latin typeface="Avenir Next LT Pro" panose="020B0504020202020204" pitchFamily="34" charset="0"/>
                  </a:rPr>
                  <a:t> $300M allocated to investing in future growth </a:t>
                </a:r>
              </a:p>
            </p:txBody>
          </p:sp>
        </mc:Choice>
        <mc:Fallback xmlns="">
          <p:sp>
            <p:nvSpPr>
              <p:cNvPr id="29" name="Rectangle 28">
                <a:extLst>
                  <a:ext uri="{FF2B5EF4-FFF2-40B4-BE49-F238E27FC236}">
                    <a16:creationId xmlns:a16="http://schemas.microsoft.com/office/drawing/2014/main" id="{99718668-CB8D-9F67-F223-275103F90D67}"/>
                  </a:ext>
                </a:extLst>
              </p:cNvPr>
              <p:cNvSpPr>
                <a:spLocks noRot="1" noChangeAspect="1" noMove="1" noResize="1" noEditPoints="1" noAdjustHandles="1" noChangeArrowheads="1" noChangeShapeType="1" noTextEdit="1"/>
              </p:cNvSpPr>
              <p:nvPr/>
            </p:nvSpPr>
            <p:spPr>
              <a:xfrm>
                <a:off x="6433033" y="4046841"/>
                <a:ext cx="5593506" cy="1841839"/>
              </a:xfrm>
              <a:prstGeom prst="rect">
                <a:avLst/>
              </a:prstGeom>
              <a:blipFill>
                <a:blip r:embed="rId4"/>
                <a:stretch>
                  <a:fillRect l="-326"/>
                </a:stretch>
              </a:blipFill>
              <a:ln>
                <a:solidFill>
                  <a:schemeClr val="accent2">
                    <a:lumMod val="75000"/>
                  </a:schemeClr>
                </a:solidFill>
              </a:ln>
            </p:spPr>
            <p:txBody>
              <a:bodyPr/>
              <a:lstStyle/>
              <a:p>
                <a:r>
                  <a:rPr lang="en-US">
                    <a:noFill/>
                  </a:rPr>
                  <a:t> </a:t>
                </a:r>
              </a:p>
            </p:txBody>
          </p:sp>
        </mc:Fallback>
      </mc:AlternateContent>
      <p:sp>
        <p:nvSpPr>
          <p:cNvPr id="31" name="Rectangle 30">
            <a:extLst>
              <a:ext uri="{FF2B5EF4-FFF2-40B4-BE49-F238E27FC236}">
                <a16:creationId xmlns:a16="http://schemas.microsoft.com/office/drawing/2014/main" id="{74D6DDBA-F6F2-AA14-E2EC-EB12DA1A8B44}"/>
              </a:ext>
            </a:extLst>
          </p:cNvPr>
          <p:cNvSpPr/>
          <p:nvPr/>
        </p:nvSpPr>
        <p:spPr>
          <a:xfrm>
            <a:off x="127637" y="1013877"/>
            <a:ext cx="6675808" cy="743376"/>
          </a:xfrm>
          <a:prstGeom prst="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Avenir Next LT Pro" panose="020B0504020202020204" pitchFamily="34" charset="0"/>
              </a:rPr>
              <a:t>Agreement to sell two-thirds of the segment to two outside firms (PIMCO, KKR) </a:t>
            </a:r>
          </a:p>
        </p:txBody>
      </p:sp>
      <p:pic>
        <p:nvPicPr>
          <p:cNvPr id="22" name="Picture 21" descr="Harley Davidson Logo PNG Image - PurePNG | Free transparent CC0 PNG ...">
            <a:extLst>
              <a:ext uri="{FF2B5EF4-FFF2-40B4-BE49-F238E27FC236}">
                <a16:creationId xmlns:a16="http://schemas.microsoft.com/office/drawing/2014/main" id="{9CDFEED9-51C7-D473-02A4-8DA2773606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4">
            <a:extLst>
              <a:ext uri="{FF2B5EF4-FFF2-40B4-BE49-F238E27FC236}">
                <a16:creationId xmlns:a16="http://schemas.microsoft.com/office/drawing/2014/main" id="{E0E29602-E5FC-3978-7154-56C5429BEAF4}"/>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sp>
        <p:nvSpPr>
          <p:cNvPr id="39" name="TextBox 38">
            <a:extLst>
              <a:ext uri="{FF2B5EF4-FFF2-40B4-BE49-F238E27FC236}">
                <a16:creationId xmlns:a16="http://schemas.microsoft.com/office/drawing/2014/main" id="{8F0E79C1-E3E2-8CDA-E6B5-4A9D9D2FD998}"/>
              </a:ext>
            </a:extLst>
          </p:cNvPr>
          <p:cNvSpPr txBox="1"/>
          <p:nvPr/>
        </p:nvSpPr>
        <p:spPr>
          <a:xfrm>
            <a:off x="7315335" y="885383"/>
            <a:ext cx="3244877" cy="307777"/>
          </a:xfrm>
          <a:prstGeom prst="rect">
            <a:avLst/>
          </a:prstGeom>
          <a:noFill/>
        </p:spPr>
        <p:txBody>
          <a:bodyPr wrap="square" rtlCol="0">
            <a:spAutoFit/>
          </a:bodyPr>
          <a:lstStyle/>
          <a:p>
            <a:r>
              <a:rPr lang="en-US" sz="1400" dirty="0">
                <a:latin typeface="Avenir Next LT Pro" panose="020B0504020202020204" pitchFamily="34" charset="0"/>
              </a:rPr>
              <a:t>Buybacks </a:t>
            </a:r>
            <a:r>
              <a:rPr lang="en-US" sz="1400">
                <a:latin typeface="Avenir Next LT Pro" panose="020B0504020202020204" pitchFamily="34" charset="0"/>
              </a:rPr>
              <a:t>Lead</a:t>
            </a:r>
            <a:r>
              <a:rPr lang="en-US" sz="1400" dirty="0">
                <a:latin typeface="Avenir Next LT Pro" panose="020B0504020202020204" pitchFamily="34" charset="0"/>
              </a:rPr>
              <a:t> to EPS Growth</a:t>
            </a:r>
          </a:p>
        </p:txBody>
      </p:sp>
      <p:graphicFrame>
        <p:nvGraphicFramePr>
          <p:cNvPr id="40" name="Chart 39">
            <a:extLst>
              <a:ext uri="{FF2B5EF4-FFF2-40B4-BE49-F238E27FC236}">
                <a16:creationId xmlns:a16="http://schemas.microsoft.com/office/drawing/2014/main" id="{1B10AAED-46FA-AA1C-8B0C-FE93D690B238}"/>
              </a:ext>
            </a:extLst>
          </p:cNvPr>
          <p:cNvGraphicFramePr>
            <a:graphicFrameLocks/>
          </p:cNvGraphicFramePr>
          <p:nvPr>
            <p:extLst>
              <p:ext uri="{D42A27DB-BD31-4B8C-83A1-F6EECF244321}">
                <p14:modId xmlns:p14="http://schemas.microsoft.com/office/powerpoint/2010/main" val="1363237882"/>
              </p:ext>
            </p:extLst>
          </p:nvPr>
        </p:nvGraphicFramePr>
        <p:xfrm>
          <a:off x="7240270" y="1207570"/>
          <a:ext cx="4572000" cy="2743200"/>
        </p:xfrm>
        <a:graphic>
          <a:graphicData uri="http://schemas.openxmlformats.org/drawingml/2006/chart">
            <c:chart xmlns:c="http://schemas.openxmlformats.org/drawingml/2006/chart" xmlns:r="http://schemas.openxmlformats.org/officeDocument/2006/relationships" r:id="rId6"/>
          </a:graphicData>
        </a:graphic>
      </p:graphicFrame>
      <p:grpSp>
        <p:nvGrpSpPr>
          <p:cNvPr id="3" name="Group 2">
            <a:extLst>
              <a:ext uri="{FF2B5EF4-FFF2-40B4-BE49-F238E27FC236}">
                <a16:creationId xmlns:a16="http://schemas.microsoft.com/office/drawing/2014/main" id="{F5C08B7D-341F-CF76-2ECD-D9253DF82DAA}"/>
              </a:ext>
            </a:extLst>
          </p:cNvPr>
          <p:cNvGrpSpPr/>
          <p:nvPr/>
        </p:nvGrpSpPr>
        <p:grpSpPr>
          <a:xfrm>
            <a:off x="695325" y="6302380"/>
            <a:ext cx="10429876" cy="265521"/>
            <a:chOff x="695325" y="6302380"/>
            <a:chExt cx="10429876" cy="265521"/>
          </a:xfrm>
        </p:grpSpPr>
        <p:sp>
          <p:nvSpPr>
            <p:cNvPr id="9" name="object 13">
              <a:extLst>
                <a:ext uri="{FF2B5EF4-FFF2-40B4-BE49-F238E27FC236}">
                  <a16:creationId xmlns:a16="http://schemas.microsoft.com/office/drawing/2014/main" id="{126BCF5E-B79C-D62C-9222-3E63D91919B1}"/>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10" name="object 14">
              <a:extLst>
                <a:ext uri="{FF2B5EF4-FFF2-40B4-BE49-F238E27FC236}">
                  <a16:creationId xmlns:a16="http://schemas.microsoft.com/office/drawing/2014/main" id="{0902E7B6-FBDE-27E8-D5C2-0BF655E57E9C}"/>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11" name="object 15">
              <a:extLst>
                <a:ext uri="{FF2B5EF4-FFF2-40B4-BE49-F238E27FC236}">
                  <a16:creationId xmlns:a16="http://schemas.microsoft.com/office/drawing/2014/main" id="{912B5369-EDAC-DFA6-7084-54A98A491BA5}"/>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7"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
          <p:nvSpPr>
            <p:cNvPr id="14" name="object 16">
              <a:extLst>
                <a:ext uri="{FF2B5EF4-FFF2-40B4-BE49-F238E27FC236}">
                  <a16:creationId xmlns:a16="http://schemas.microsoft.com/office/drawing/2014/main" id="{EED23D3C-5ECC-9CFF-4E0F-574AD93A99F2}"/>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6" name="object 37">
              <a:extLst>
                <a:ext uri="{FF2B5EF4-FFF2-40B4-BE49-F238E27FC236}">
                  <a16:creationId xmlns:a16="http://schemas.microsoft.com/office/drawing/2014/main" id="{54774698-46B3-CA78-E215-5C207151BB4F}"/>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7" name="object 39">
              <a:extLst>
                <a:ext uri="{FF2B5EF4-FFF2-40B4-BE49-F238E27FC236}">
                  <a16:creationId xmlns:a16="http://schemas.microsoft.com/office/drawing/2014/main" id="{A285927B-D4CE-93E6-424E-7700A42372BD}"/>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b="1" spc="-25">
                  <a:latin typeface="Avenir Next LT Pro" panose="020B0504020202020204" pitchFamily="34" charset="0"/>
                  <a:cs typeface="Segoe UI"/>
                </a:rPr>
                <a:t>Driver</a:t>
              </a:r>
              <a:endParaRPr lang="en-US" sz="1401" b="1">
                <a:latin typeface="Avenir Next LT Pro" panose="020B0504020202020204" pitchFamily="34" charset="0"/>
                <a:cs typeface="Segoe UI"/>
              </a:endParaRPr>
            </a:p>
          </p:txBody>
        </p:sp>
        <p:sp>
          <p:nvSpPr>
            <p:cNvPr id="18" name="object 40">
              <a:extLst>
                <a:ext uri="{FF2B5EF4-FFF2-40B4-BE49-F238E27FC236}">
                  <a16:creationId xmlns:a16="http://schemas.microsoft.com/office/drawing/2014/main" id="{82E160C5-D70A-5BD1-7E70-17AD9CAE665C}"/>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19" name="object 41">
              <a:extLst>
                <a:ext uri="{FF2B5EF4-FFF2-40B4-BE49-F238E27FC236}">
                  <a16:creationId xmlns:a16="http://schemas.microsoft.com/office/drawing/2014/main" id="{F4483A23-B88E-994D-7061-2864BDDF3804}"/>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750617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69C5F10-0C5B-4E7B-CED3-7922DDF04C13}"/>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5EF17B1-B828-A142-816D-5D488673E112}"/>
              </a:ext>
            </a:extLst>
          </p:cNvPr>
          <p:cNvSpPr/>
          <p:nvPr/>
        </p:nvSpPr>
        <p:spPr>
          <a:xfrm>
            <a:off x="-1" y="5370872"/>
            <a:ext cx="12192001" cy="14871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latin typeface="Avenir Next LT Pro" panose="020B0504020202020204" pitchFamily="34" charset="0"/>
            </a:endParaRPr>
          </a:p>
        </p:txBody>
      </p:sp>
      <p:sp>
        <p:nvSpPr>
          <p:cNvPr id="2" name="object 2">
            <a:extLst>
              <a:ext uri="{FF2B5EF4-FFF2-40B4-BE49-F238E27FC236}">
                <a16:creationId xmlns:a16="http://schemas.microsoft.com/office/drawing/2014/main" id="{3497F3FE-BD36-40E9-D0C4-47105F327D55}"/>
              </a:ext>
            </a:extLst>
          </p:cNvPr>
          <p:cNvSpPr txBox="1"/>
          <p:nvPr/>
        </p:nvSpPr>
        <p:spPr>
          <a:xfrm>
            <a:off x="562928" y="5377434"/>
            <a:ext cx="4351972" cy="1083117"/>
          </a:xfrm>
          <a:prstGeom prst="rect">
            <a:avLst/>
          </a:prstGeom>
        </p:spPr>
        <p:txBody>
          <a:bodyPr vert="horz" wrap="square" lIns="0" tIns="173355" rIns="0" bIns="0" rtlCol="0">
            <a:spAutoFit/>
          </a:bodyPr>
          <a:lstStyle/>
          <a:p>
            <a:pPr marL="12701">
              <a:spcBef>
                <a:spcPts val="1365"/>
              </a:spcBef>
            </a:pPr>
            <a:r>
              <a:rPr lang="en-US" sz="3600">
                <a:latin typeface="Avenir Next LT Pro" panose="020B0504020202020204" pitchFamily="34" charset="0"/>
                <a:cs typeface="Segoe UI"/>
              </a:rPr>
              <a:t>Financial</a:t>
            </a:r>
            <a:r>
              <a:rPr lang="en-US" sz="3600" spc="-185">
                <a:latin typeface="Avenir Next LT Pro" panose="020B0504020202020204" pitchFamily="34" charset="0"/>
                <a:cs typeface="Segoe UI"/>
              </a:rPr>
              <a:t> </a:t>
            </a:r>
            <a:r>
              <a:rPr lang="en-US" sz="3600" spc="-11">
                <a:latin typeface="Avenir Next LT Pro" panose="020B0504020202020204" pitchFamily="34" charset="0"/>
                <a:cs typeface="Segoe UI"/>
              </a:rPr>
              <a:t>Analysis</a:t>
            </a:r>
            <a:endParaRPr lang="en-US" sz="3600">
              <a:latin typeface="Avenir Next LT Pro" panose="020B0504020202020204" pitchFamily="34" charset="0"/>
              <a:cs typeface="Segoe UI"/>
            </a:endParaRPr>
          </a:p>
          <a:p>
            <a:pPr marL="12701">
              <a:spcBef>
                <a:spcPts val="635"/>
              </a:spcBef>
            </a:pPr>
            <a:r>
              <a:rPr lang="en-US" sz="1801">
                <a:solidFill>
                  <a:schemeClr val="accent2">
                    <a:lumMod val="75000"/>
                  </a:schemeClr>
                </a:solidFill>
                <a:latin typeface="Avenir Next LT Pro" panose="020B0504020202020204" pitchFamily="34" charset="0"/>
                <a:cs typeface="Segoe UI"/>
              </a:rPr>
              <a:t>Finances</a:t>
            </a:r>
            <a:r>
              <a:rPr lang="en-US" sz="1801" spc="-75">
                <a:solidFill>
                  <a:schemeClr val="accent2">
                    <a:lumMod val="75000"/>
                  </a:schemeClr>
                </a:solidFill>
                <a:latin typeface="Avenir Next LT Pro" panose="020B0504020202020204" pitchFamily="34" charset="0"/>
                <a:cs typeface="Segoe UI"/>
              </a:rPr>
              <a:t> </a:t>
            </a:r>
            <a:r>
              <a:rPr lang="en-US" sz="1801">
                <a:solidFill>
                  <a:schemeClr val="accent2">
                    <a:lumMod val="75000"/>
                  </a:schemeClr>
                </a:solidFill>
                <a:latin typeface="Avenir Next LT Pro" panose="020B0504020202020204" pitchFamily="34" charset="0"/>
                <a:cs typeface="Segoe UI"/>
              </a:rPr>
              <a:t>Guiding</a:t>
            </a:r>
            <a:r>
              <a:rPr lang="en-US" sz="1801" spc="-75">
                <a:solidFill>
                  <a:schemeClr val="accent2">
                    <a:lumMod val="75000"/>
                  </a:schemeClr>
                </a:solidFill>
                <a:latin typeface="Avenir Next LT Pro" panose="020B0504020202020204" pitchFamily="34" charset="0"/>
                <a:cs typeface="Segoe UI"/>
              </a:rPr>
              <a:t> </a:t>
            </a:r>
            <a:r>
              <a:rPr lang="en-US" sz="1801" spc="-11">
                <a:solidFill>
                  <a:schemeClr val="accent2">
                    <a:lumMod val="75000"/>
                  </a:schemeClr>
                </a:solidFill>
                <a:latin typeface="Avenir Next LT Pro" panose="020B0504020202020204" pitchFamily="34" charset="0"/>
                <a:cs typeface="Segoe UI"/>
              </a:rPr>
              <a:t>Innovation</a:t>
            </a:r>
            <a:endParaRPr lang="en-US" sz="1801">
              <a:solidFill>
                <a:schemeClr val="accent2">
                  <a:lumMod val="75000"/>
                </a:schemeClr>
              </a:solidFill>
              <a:latin typeface="Avenir Next LT Pro" panose="020B0504020202020204" pitchFamily="34" charset="0"/>
              <a:cs typeface="Segoe UI"/>
            </a:endParaRPr>
          </a:p>
        </p:txBody>
      </p:sp>
      <p:pic>
        <p:nvPicPr>
          <p:cNvPr id="14" name="Picture 2" descr="Harley Davidson Logo PNG Image - PurePNG | Free transparent CC0 PNG ...">
            <a:extLst>
              <a:ext uri="{FF2B5EF4-FFF2-40B4-BE49-F238E27FC236}">
                <a16:creationId xmlns:a16="http://schemas.microsoft.com/office/drawing/2014/main" id="{237E1267-4335-9290-7879-EA0F80B0D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229" y="87086"/>
            <a:ext cx="2036921" cy="1633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006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DDCB9-8D73-E770-5486-8070843A9810}"/>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3FA8B124-7481-694A-AC15-CDA8CFA36F7A}"/>
              </a:ext>
            </a:extLst>
          </p:cNvPr>
          <p:cNvSpPr/>
          <p:nvPr/>
        </p:nvSpPr>
        <p:spPr>
          <a:xfrm>
            <a:off x="304800" y="133976"/>
            <a:ext cx="11500337" cy="890954"/>
          </a:xfrm>
          <a:prstGeom prst="flowChartProcess">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a:solidFill>
                  <a:schemeClr val="bg1"/>
                </a:solidFill>
                <a:latin typeface="Avenir Next LT Pro" panose="020B0504020202020204" pitchFamily="34" charset="0"/>
              </a:rPr>
              <a:t>The HDFS Transaction Timeline</a:t>
            </a:r>
          </a:p>
        </p:txBody>
      </p:sp>
      <p:graphicFrame>
        <p:nvGraphicFramePr>
          <p:cNvPr id="5" name="Table 4">
            <a:extLst>
              <a:ext uri="{FF2B5EF4-FFF2-40B4-BE49-F238E27FC236}">
                <a16:creationId xmlns:a16="http://schemas.microsoft.com/office/drawing/2014/main" id="{9A4113AD-99FA-1848-4317-05E50C5C87AC}"/>
              </a:ext>
            </a:extLst>
          </p:cNvPr>
          <p:cNvGraphicFramePr>
            <a:graphicFrameLocks noGrp="1"/>
          </p:cNvGraphicFramePr>
          <p:nvPr>
            <p:custDataLst>
              <p:tags r:id="rId1"/>
            </p:custDataLst>
            <p:extLst>
              <p:ext uri="{D42A27DB-BD31-4B8C-83A1-F6EECF244321}">
                <p14:modId xmlns:p14="http://schemas.microsoft.com/office/powerpoint/2010/main" val="4145797435"/>
              </p:ext>
            </p:extLst>
          </p:nvPr>
        </p:nvGraphicFramePr>
        <p:xfrm>
          <a:off x="304799" y="1089068"/>
          <a:ext cx="11500336" cy="4297680"/>
        </p:xfrm>
        <a:graphic>
          <a:graphicData uri="http://schemas.openxmlformats.org/drawingml/2006/table">
            <a:tbl>
              <a:tblPr firstRow="1" bandRow="1">
                <a:tableStyleId>{5C22544A-7EE6-4342-B048-85BDC9FD1C3A}</a:tableStyleId>
              </a:tblPr>
              <a:tblGrid>
                <a:gridCol w="3751384">
                  <a:extLst>
                    <a:ext uri="{9D8B030D-6E8A-4147-A177-3AD203B41FA5}">
                      <a16:colId xmlns:a16="http://schemas.microsoft.com/office/drawing/2014/main" val="3459138027"/>
                    </a:ext>
                  </a:extLst>
                </a:gridCol>
                <a:gridCol w="4103078">
                  <a:extLst>
                    <a:ext uri="{9D8B030D-6E8A-4147-A177-3AD203B41FA5}">
                      <a16:colId xmlns:a16="http://schemas.microsoft.com/office/drawing/2014/main" val="2666857821"/>
                    </a:ext>
                  </a:extLst>
                </a:gridCol>
                <a:gridCol w="3645874">
                  <a:extLst>
                    <a:ext uri="{9D8B030D-6E8A-4147-A177-3AD203B41FA5}">
                      <a16:colId xmlns:a16="http://schemas.microsoft.com/office/drawing/2014/main" val="10119757"/>
                    </a:ext>
                  </a:extLst>
                </a:gridCol>
              </a:tblGrid>
              <a:tr h="295512">
                <a:tc>
                  <a:txBody>
                    <a:bodyPr/>
                    <a:lstStyle/>
                    <a:p>
                      <a:r>
                        <a:rPr lang="en-US"/>
                        <a:t>Q3 2025</a:t>
                      </a:r>
                    </a:p>
                  </a:txBody>
                  <a:tcPr>
                    <a:solidFill>
                      <a:schemeClr val="accent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Q4 2025</a:t>
                      </a:r>
                    </a:p>
                  </a:txBody>
                  <a:tcPr>
                    <a:solidFill>
                      <a:schemeClr val="accent2">
                        <a:lumMod val="75000"/>
                      </a:schemeClr>
                    </a:solidFill>
                  </a:tcPr>
                </a:tc>
                <a:tc>
                  <a:txBody>
                    <a:bodyPr/>
                    <a:lstStyle/>
                    <a:p>
                      <a:r>
                        <a:rPr lang="en-US"/>
                        <a:t>2026 and on</a:t>
                      </a:r>
                    </a:p>
                  </a:txBody>
                  <a:tcPr>
                    <a:solidFill>
                      <a:schemeClr val="accent2">
                        <a:lumMod val="75000"/>
                      </a:schemeClr>
                    </a:solidFill>
                  </a:tcPr>
                </a:tc>
                <a:extLst>
                  <a:ext uri="{0D108BD9-81ED-4DB2-BD59-A6C34878D82A}">
                    <a16:rowId xmlns:a16="http://schemas.microsoft.com/office/drawing/2014/main" val="3676802731"/>
                  </a:ext>
                </a:extLst>
              </a:tr>
              <a:tr h="3839033">
                <a:tc>
                  <a:txBody>
                    <a:bodyPr/>
                    <a:lstStyle/>
                    <a:p>
                      <a:r>
                        <a:rPr lang="en-US" sz="1800" b="1" i="0" kern="1200">
                          <a:solidFill>
                            <a:schemeClr val="dk1"/>
                          </a:solidFill>
                          <a:effectLst/>
                          <a:latin typeface="Avenir Next LT Pro" panose="020B0504020202020204" pitchFamily="34" charset="0"/>
                          <a:ea typeface="+mn-ea"/>
                          <a:cs typeface="+mn-cs"/>
                        </a:rPr>
                        <a:t>Credit Loss Reversal:</a:t>
                      </a:r>
                      <a:r>
                        <a:rPr lang="en-US" sz="1800" b="0" i="0" kern="1200">
                          <a:solidFill>
                            <a:schemeClr val="dk1"/>
                          </a:solidFill>
                          <a:effectLst/>
                          <a:latin typeface="Avenir Next LT Pro" panose="020B0504020202020204" pitchFamily="34" charset="0"/>
                          <a:ea typeface="+mn-ea"/>
                          <a:cs typeface="+mn-cs"/>
                        </a:rPr>
                        <a:t> </a:t>
                      </a:r>
                      <a:r>
                        <a:rPr lang="en-US" sz="1800" b="1" i="0" kern="1200">
                          <a:solidFill>
                            <a:schemeClr val="dk1"/>
                          </a:solidFill>
                          <a:effectLst/>
                          <a:latin typeface="Avenir Next LT Pro" panose="020B0504020202020204" pitchFamily="34" charset="0"/>
                          <a:ea typeface="+mn-ea"/>
                          <a:cs typeface="+mn-cs"/>
                        </a:rPr>
                        <a:t>$301M gain</a:t>
                      </a:r>
                      <a:r>
                        <a:rPr lang="en-US" sz="1800" b="0" i="0" kern="1200">
                          <a:solidFill>
                            <a:schemeClr val="dk1"/>
                          </a:solidFill>
                          <a:effectLst/>
                          <a:latin typeface="Avenir Next LT Pro" panose="020B0504020202020204" pitchFamily="34" charset="0"/>
                          <a:ea typeface="+mn-ea"/>
                          <a:cs typeface="+mn-cs"/>
                        </a:rPr>
                        <a:t> on paper</a:t>
                      </a:r>
                    </a:p>
                    <a:p>
                      <a:endParaRPr lang="en-US" sz="1800" b="0" i="0" kern="1200">
                        <a:solidFill>
                          <a:schemeClr val="dk1"/>
                        </a:solidFill>
                        <a:effectLst/>
                        <a:latin typeface="Avenir Next LT Pro" panose="020B0504020202020204" pitchFamily="34" charset="0"/>
                        <a:ea typeface="+mn-ea"/>
                        <a:cs typeface="+mn-cs"/>
                      </a:endParaRPr>
                    </a:p>
                    <a:p>
                      <a:r>
                        <a:rPr lang="en-US" sz="1800" b="1" i="0" kern="1200">
                          <a:solidFill>
                            <a:schemeClr val="dk1"/>
                          </a:solidFill>
                          <a:effectLst/>
                          <a:latin typeface="Avenir Next LT Pro" panose="020B0504020202020204" pitchFamily="34" charset="0"/>
                          <a:ea typeface="+mn-ea"/>
                          <a:cs typeface="+mn-cs"/>
                        </a:rPr>
                        <a:t>Asset Reclassification:</a:t>
                      </a:r>
                      <a:r>
                        <a:rPr lang="en-US" sz="1800" b="0" i="0" kern="1200">
                          <a:solidFill>
                            <a:schemeClr val="dk1"/>
                          </a:solidFill>
                          <a:effectLst/>
                          <a:latin typeface="Avenir Next LT Pro" panose="020B0504020202020204" pitchFamily="34" charset="0"/>
                          <a:ea typeface="+mn-ea"/>
                          <a:cs typeface="+mn-cs"/>
                        </a:rPr>
                        <a:t> </a:t>
                      </a:r>
                      <a:r>
                        <a:rPr lang="en-US" sz="1800" b="1" i="0" kern="1200">
                          <a:solidFill>
                            <a:schemeClr val="dk1"/>
                          </a:solidFill>
                          <a:effectLst/>
                          <a:latin typeface="Avenir Next LT Pro" panose="020B0504020202020204" pitchFamily="34" charset="0"/>
                          <a:ea typeface="+mn-ea"/>
                          <a:cs typeface="+mn-cs"/>
                        </a:rPr>
                        <a:t>$4.1B in loans</a:t>
                      </a:r>
                      <a:r>
                        <a:rPr lang="en-US" sz="1800" b="0" i="0" kern="1200">
                          <a:solidFill>
                            <a:schemeClr val="dk1"/>
                          </a:solidFill>
                          <a:effectLst/>
                          <a:latin typeface="Avenir Next LT Pro" panose="020B0504020202020204" pitchFamily="34" charset="0"/>
                          <a:ea typeface="+mn-ea"/>
                          <a:cs typeface="+mn-cs"/>
                        </a:rPr>
                        <a:t> moved to "Held-for-Sale," effectively removing them from long-term risk</a:t>
                      </a:r>
                    </a:p>
                  </a:txBody>
                  <a:tcPr>
                    <a:solidFill>
                      <a:schemeClr val="accent2">
                        <a:lumMod val="20000"/>
                        <a:lumOff val="80000"/>
                      </a:schemeClr>
                    </a:solidFill>
                  </a:tcPr>
                </a:tc>
                <a:tc>
                  <a:txBody>
                    <a:bodyPr/>
                    <a:lstStyle/>
                    <a:p>
                      <a:r>
                        <a:rPr lang="en-US" sz="1800" b="1" i="0" kern="1200">
                          <a:solidFill>
                            <a:schemeClr val="dk1"/>
                          </a:solidFill>
                          <a:effectLst/>
                          <a:latin typeface="Avenir Next LT Pro" panose="020B0504020202020204" pitchFamily="34" charset="0"/>
                          <a:ea typeface="+mn-ea"/>
                          <a:cs typeface="+mn-cs"/>
                        </a:rPr>
                        <a:t>The $1B Dividend:</a:t>
                      </a:r>
                      <a:r>
                        <a:rPr lang="en-US" sz="1800" b="0" i="0" kern="1200">
                          <a:solidFill>
                            <a:schemeClr val="dk1"/>
                          </a:solidFill>
                          <a:effectLst/>
                          <a:latin typeface="Avenir Next LT Pro" panose="020B0504020202020204" pitchFamily="34" charset="0"/>
                          <a:ea typeface="+mn-ea"/>
                          <a:cs typeface="+mn-cs"/>
                        </a:rPr>
                        <a:t> HDFS officially transferred </a:t>
                      </a:r>
                      <a:r>
                        <a:rPr lang="en-US" sz="1800" b="1" i="0" kern="1200">
                          <a:solidFill>
                            <a:schemeClr val="dk1"/>
                          </a:solidFill>
                          <a:effectLst/>
                          <a:latin typeface="Avenir Next LT Pro" panose="020B0504020202020204" pitchFamily="34" charset="0"/>
                          <a:ea typeface="+mn-ea"/>
                          <a:cs typeface="+mn-cs"/>
                        </a:rPr>
                        <a:t>$1 billion in cash</a:t>
                      </a:r>
                      <a:r>
                        <a:rPr lang="en-US" sz="1800" b="0" i="0" kern="1200">
                          <a:solidFill>
                            <a:schemeClr val="dk1"/>
                          </a:solidFill>
                          <a:effectLst/>
                          <a:latin typeface="Avenir Next LT Pro" panose="020B0504020202020204" pitchFamily="34" charset="0"/>
                          <a:ea typeface="+mn-ea"/>
                          <a:cs typeface="+mn-cs"/>
                        </a:rPr>
                        <a:t> to the parent company, which was used to fund share buybacks</a:t>
                      </a:r>
                    </a:p>
                    <a:p>
                      <a:endParaRPr lang="en-US" sz="1800" b="1" i="0" kern="1200">
                        <a:solidFill>
                          <a:schemeClr val="dk1"/>
                        </a:solidFill>
                        <a:effectLst/>
                        <a:latin typeface="Avenir Next LT Pro" panose="020B0504020202020204" pitchFamily="34" charset="0"/>
                        <a:ea typeface="+mn-ea"/>
                        <a:cs typeface="+mn-cs"/>
                      </a:endParaRPr>
                    </a:p>
                    <a:p>
                      <a:r>
                        <a:rPr lang="en-US" sz="1800" b="1" i="0" kern="1200">
                          <a:solidFill>
                            <a:schemeClr val="dk1"/>
                          </a:solidFill>
                          <a:effectLst/>
                          <a:latin typeface="Avenir Next LT Pro" panose="020B0504020202020204" pitchFamily="34" charset="0"/>
                          <a:ea typeface="+mn-ea"/>
                          <a:cs typeface="+mn-cs"/>
                        </a:rPr>
                        <a:t>Debt Reduction:</a:t>
                      </a:r>
                      <a:r>
                        <a:rPr lang="en-US" sz="1800" b="0" i="0" kern="1200">
                          <a:solidFill>
                            <a:schemeClr val="dk1"/>
                          </a:solidFill>
                          <a:effectLst/>
                          <a:latin typeface="Avenir Next LT Pro" panose="020B0504020202020204" pitchFamily="34" charset="0"/>
                          <a:ea typeface="+mn-ea"/>
                          <a:cs typeface="+mn-cs"/>
                        </a:rPr>
                        <a:t> HDFS debt dropped from </a:t>
                      </a:r>
                      <a:r>
                        <a:rPr lang="en-US" sz="1800" b="1" i="0" kern="1200">
                          <a:solidFill>
                            <a:schemeClr val="dk1"/>
                          </a:solidFill>
                          <a:effectLst/>
                          <a:latin typeface="Avenir Next LT Pro" panose="020B0504020202020204" pitchFamily="34" charset="0"/>
                          <a:ea typeface="+mn-ea"/>
                          <a:cs typeface="+mn-cs"/>
                        </a:rPr>
                        <a:t>$6.1B to $2.7B</a:t>
                      </a:r>
                      <a:r>
                        <a:rPr lang="en-US" sz="1800" b="0" i="0" kern="1200">
                          <a:solidFill>
                            <a:schemeClr val="dk1"/>
                          </a:solidFill>
                          <a:effectLst/>
                          <a:latin typeface="Avenir Next LT Pro" panose="020B0504020202020204" pitchFamily="34" charset="0"/>
                          <a:ea typeface="+mn-ea"/>
                          <a:cs typeface="+mn-cs"/>
                        </a:rPr>
                        <a:t>. The company paid </a:t>
                      </a:r>
                      <a:r>
                        <a:rPr lang="en-US" sz="1800" b="1" i="0" kern="1200">
                          <a:solidFill>
                            <a:schemeClr val="dk1"/>
                          </a:solidFill>
                          <a:effectLst/>
                          <a:latin typeface="Avenir Next LT Pro" panose="020B0504020202020204" pitchFamily="34" charset="0"/>
                          <a:ea typeface="+mn-ea"/>
                          <a:cs typeface="+mn-cs"/>
                        </a:rPr>
                        <a:t>$73M in one-time costs</a:t>
                      </a:r>
                    </a:p>
                    <a:p>
                      <a:endParaRPr lang="en-US" sz="1800" b="1" i="0" kern="1200">
                        <a:solidFill>
                          <a:schemeClr val="dk1"/>
                        </a:solidFill>
                        <a:effectLst/>
                        <a:latin typeface="Avenir Next LT Pro" panose="020B0504020202020204" pitchFamily="34" charset="0"/>
                        <a:ea typeface="+mn-ea"/>
                        <a:cs typeface="+mn-cs"/>
                      </a:endParaRPr>
                    </a:p>
                  </a:txBody>
                  <a:tcPr>
                    <a:solidFill>
                      <a:schemeClr val="accent2">
                        <a:lumMod val="20000"/>
                        <a:lumOff val="80000"/>
                      </a:schemeClr>
                    </a:solidFill>
                  </a:tcPr>
                </a:tc>
                <a:tc>
                  <a:txBody>
                    <a:bodyPr/>
                    <a:lstStyle/>
                    <a:p>
                      <a:r>
                        <a:rPr lang="en-US" sz="1800" b="1" i="0" kern="1200">
                          <a:solidFill>
                            <a:schemeClr val="dk1"/>
                          </a:solidFill>
                          <a:effectLst/>
                          <a:latin typeface="Avenir Next LT Pro" panose="020B0504020202020204" pitchFamily="34" charset="0"/>
                          <a:ea typeface="+mn-ea"/>
                          <a:cs typeface="+mn-cs"/>
                        </a:rPr>
                        <a:t>Forward Flow Agreement</a:t>
                      </a:r>
                      <a:r>
                        <a:rPr lang="en-US" sz="1800" b="0" i="0" kern="1200">
                          <a:solidFill>
                            <a:schemeClr val="dk1"/>
                          </a:solidFill>
                          <a:effectLst/>
                          <a:latin typeface="Avenir Next LT Pro" panose="020B0504020202020204" pitchFamily="34" charset="0"/>
                          <a:ea typeface="+mn-ea"/>
                          <a:cs typeface="+mn-cs"/>
                        </a:rPr>
                        <a:t>: KKR and PIMCO entered a </a:t>
                      </a:r>
                      <a:r>
                        <a:rPr lang="en-US" sz="1800" b="1" i="0" kern="1200">
                          <a:solidFill>
                            <a:schemeClr val="dk1"/>
                          </a:solidFill>
                          <a:effectLst/>
                          <a:latin typeface="Avenir Next LT Pro" panose="020B0504020202020204" pitchFamily="34" charset="0"/>
                          <a:ea typeface="+mn-ea"/>
                          <a:cs typeface="+mn-cs"/>
                        </a:rPr>
                        <a:t>five-year agreement</a:t>
                      </a:r>
                      <a:r>
                        <a:rPr lang="en-US" sz="1800" b="0" i="0" kern="1200">
                          <a:solidFill>
                            <a:schemeClr val="dk1"/>
                          </a:solidFill>
                          <a:effectLst/>
                          <a:latin typeface="Avenir Next LT Pro" panose="020B0504020202020204" pitchFamily="34" charset="0"/>
                          <a:ea typeface="+mn-ea"/>
                          <a:cs typeface="+mn-cs"/>
                        </a:rPr>
                        <a:t> to purchase </a:t>
                      </a:r>
                      <a:r>
                        <a:rPr lang="en-US" sz="1800" b="1" i="0" kern="1200">
                          <a:solidFill>
                            <a:schemeClr val="dk1"/>
                          </a:solidFill>
                          <a:effectLst/>
                          <a:latin typeface="Avenir Next LT Pro" panose="020B0504020202020204" pitchFamily="34" charset="0"/>
                          <a:ea typeface="+mn-ea"/>
                          <a:cs typeface="+mn-cs"/>
                        </a:rPr>
                        <a:t>two-thirds</a:t>
                      </a:r>
                      <a:r>
                        <a:rPr lang="en-US" sz="1800" b="0" i="0" kern="1200">
                          <a:solidFill>
                            <a:schemeClr val="dk1"/>
                          </a:solidFill>
                          <a:effectLst/>
                          <a:latin typeface="Avenir Next LT Pro" panose="020B0504020202020204" pitchFamily="34" charset="0"/>
                          <a:ea typeface="+mn-ea"/>
                          <a:cs typeface="+mn-cs"/>
                        </a:rPr>
                        <a:t> of HDFS's future annual retail loan originations</a:t>
                      </a:r>
                    </a:p>
                    <a:p>
                      <a:endParaRPr lang="en-US" sz="1800" b="0" i="0" kern="1200">
                        <a:solidFill>
                          <a:schemeClr val="dk1"/>
                        </a:solidFill>
                        <a:effectLst/>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a:solidFill>
                            <a:schemeClr val="dk1"/>
                          </a:solidFill>
                          <a:effectLst/>
                          <a:latin typeface="Avenir Next LT Pro" panose="020B0504020202020204" pitchFamily="34" charset="0"/>
                          <a:ea typeface="+mn-ea"/>
                          <a:cs typeface="+mn-cs"/>
                        </a:rPr>
                        <a:t>Servicing Fees</a:t>
                      </a:r>
                      <a:r>
                        <a:rPr lang="en-US" sz="1800" b="0" i="0" kern="1200">
                          <a:solidFill>
                            <a:schemeClr val="dk1"/>
                          </a:solidFill>
                          <a:effectLst/>
                          <a:latin typeface="Avenir Next LT Pro" panose="020B0504020202020204" pitchFamily="34" charset="0"/>
                          <a:ea typeface="+mn-ea"/>
                          <a:cs typeface="+mn-cs"/>
                        </a:rPr>
                        <a:t>: HDFS generates new revenue by charging KKR and PIMCO a fixed servicing fee for the loans they purchase: </a:t>
                      </a:r>
                      <a:r>
                        <a:rPr lang="en-US" sz="1800" b="1" i="0" kern="1200">
                          <a:solidFill>
                            <a:schemeClr val="dk1"/>
                          </a:solidFill>
                          <a:effectLst/>
                          <a:latin typeface="Avenir Next LT Pro" panose="020B0504020202020204" pitchFamily="34" charset="0"/>
                          <a:ea typeface="+mn-ea"/>
                          <a:cs typeface="+mn-cs"/>
                        </a:rPr>
                        <a:t>1.0% for prime loans</a:t>
                      </a:r>
                      <a:r>
                        <a:rPr lang="en-US" sz="1800" b="0" i="0" kern="1200">
                          <a:solidFill>
                            <a:schemeClr val="dk1"/>
                          </a:solidFill>
                          <a:effectLst/>
                          <a:latin typeface="Avenir Next LT Pro" panose="020B0504020202020204" pitchFamily="34" charset="0"/>
                          <a:ea typeface="+mn-ea"/>
                          <a:cs typeface="+mn-cs"/>
                        </a:rPr>
                        <a:t> and </a:t>
                      </a:r>
                      <a:r>
                        <a:rPr lang="en-US" sz="1800" b="1" i="0" kern="1200">
                          <a:solidFill>
                            <a:schemeClr val="dk1"/>
                          </a:solidFill>
                          <a:effectLst/>
                          <a:latin typeface="Avenir Next LT Pro" panose="020B0504020202020204" pitchFamily="34" charset="0"/>
                          <a:ea typeface="+mn-ea"/>
                          <a:cs typeface="+mn-cs"/>
                        </a:rPr>
                        <a:t>2.5% for subprime loans</a:t>
                      </a:r>
                      <a:endParaRPr lang="en-US" sz="1800" b="0" i="0" kern="1200">
                        <a:solidFill>
                          <a:schemeClr val="dk1"/>
                        </a:solidFill>
                        <a:effectLst/>
                        <a:latin typeface="Avenir Next LT Pro" panose="020B0504020202020204" pitchFamily="34" charset="0"/>
                        <a:ea typeface="+mn-ea"/>
                        <a:cs typeface="+mn-cs"/>
                      </a:endParaRPr>
                    </a:p>
                    <a:p>
                      <a:endParaRPr lang="en-US" sz="1800" b="0" i="0" kern="1200">
                        <a:solidFill>
                          <a:schemeClr val="dk1"/>
                        </a:solidFill>
                        <a:effectLst/>
                        <a:latin typeface="Avenir Next LT Pro" panose="020B0504020202020204" pitchFamily="34" charset="0"/>
                        <a:ea typeface="+mn-ea"/>
                        <a:cs typeface="+mn-cs"/>
                      </a:endParaRPr>
                    </a:p>
                  </a:txBody>
                  <a:tcPr>
                    <a:solidFill>
                      <a:schemeClr val="accent2">
                        <a:lumMod val="20000"/>
                        <a:lumOff val="80000"/>
                      </a:schemeClr>
                    </a:solidFill>
                  </a:tcPr>
                </a:tc>
                <a:extLst>
                  <a:ext uri="{0D108BD9-81ED-4DB2-BD59-A6C34878D82A}">
                    <a16:rowId xmlns:a16="http://schemas.microsoft.com/office/drawing/2014/main" val="3769555664"/>
                  </a:ext>
                </a:extLst>
              </a:tr>
            </a:tbl>
          </a:graphicData>
        </a:graphic>
      </p:graphicFrame>
      <p:sp>
        <p:nvSpPr>
          <p:cNvPr id="3" name="object 4">
            <a:extLst>
              <a:ext uri="{FF2B5EF4-FFF2-40B4-BE49-F238E27FC236}">
                <a16:creationId xmlns:a16="http://schemas.microsoft.com/office/drawing/2014/main" id="{9D1C7108-EBB5-3E46-14A8-A54D74F75E77}"/>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sp>
        <p:nvSpPr>
          <p:cNvPr id="14" name="Rectangle 13">
            <a:extLst>
              <a:ext uri="{FF2B5EF4-FFF2-40B4-BE49-F238E27FC236}">
                <a16:creationId xmlns:a16="http://schemas.microsoft.com/office/drawing/2014/main" id="{89E64515-D615-9F24-2EA4-9AE4D1B8ACCF}"/>
              </a:ext>
            </a:extLst>
          </p:cNvPr>
          <p:cNvSpPr/>
          <p:nvPr/>
        </p:nvSpPr>
        <p:spPr>
          <a:xfrm>
            <a:off x="304799" y="5499100"/>
            <a:ext cx="11500336" cy="685643"/>
          </a:xfrm>
          <a:prstGeom prst="rect">
            <a:avLst/>
          </a:prstGeom>
          <a:solidFill>
            <a:schemeClr val="accent2">
              <a:lumMod val="75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venir Next LT Pro" panose="020B0504020202020204" pitchFamily="34" charset="0"/>
              </a:rPr>
              <a:t>This transaction reduces income by 30%, reduces share count by 20%, substantially reduces debt and adds $300M cash to the balance sheet to invest in growth</a:t>
            </a:r>
          </a:p>
        </p:txBody>
      </p:sp>
      <p:grpSp>
        <p:nvGrpSpPr>
          <p:cNvPr id="15" name="Group 14">
            <a:extLst>
              <a:ext uri="{FF2B5EF4-FFF2-40B4-BE49-F238E27FC236}">
                <a16:creationId xmlns:a16="http://schemas.microsoft.com/office/drawing/2014/main" id="{077BDBF2-EAA1-D81B-A662-76AB2327898E}"/>
              </a:ext>
            </a:extLst>
          </p:cNvPr>
          <p:cNvGrpSpPr/>
          <p:nvPr/>
        </p:nvGrpSpPr>
        <p:grpSpPr>
          <a:xfrm>
            <a:off x="695325" y="6302380"/>
            <a:ext cx="10429876" cy="265521"/>
            <a:chOff x="695325" y="6302380"/>
            <a:chExt cx="10429876" cy="265521"/>
          </a:xfrm>
        </p:grpSpPr>
        <p:sp>
          <p:nvSpPr>
            <p:cNvPr id="16" name="object 13">
              <a:extLst>
                <a:ext uri="{FF2B5EF4-FFF2-40B4-BE49-F238E27FC236}">
                  <a16:creationId xmlns:a16="http://schemas.microsoft.com/office/drawing/2014/main" id="{5F1E4786-D679-F7B9-52C2-11A228956DA2}"/>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17" name="object 14">
              <a:extLst>
                <a:ext uri="{FF2B5EF4-FFF2-40B4-BE49-F238E27FC236}">
                  <a16:creationId xmlns:a16="http://schemas.microsoft.com/office/drawing/2014/main" id="{48113A4D-DE00-B8C1-FB38-20A8666D450F}"/>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18" name="object 15">
              <a:extLst>
                <a:ext uri="{FF2B5EF4-FFF2-40B4-BE49-F238E27FC236}">
                  <a16:creationId xmlns:a16="http://schemas.microsoft.com/office/drawing/2014/main" id="{B045F37B-4CBE-9E98-EABC-0C1068AFA6E5}"/>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
          <p:nvSpPr>
            <p:cNvPr id="19" name="object 16">
              <a:extLst>
                <a:ext uri="{FF2B5EF4-FFF2-40B4-BE49-F238E27FC236}">
                  <a16:creationId xmlns:a16="http://schemas.microsoft.com/office/drawing/2014/main" id="{FB185465-4274-E015-CB7B-9F0B8B4066D8}"/>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20" name="object 37">
              <a:extLst>
                <a:ext uri="{FF2B5EF4-FFF2-40B4-BE49-F238E27FC236}">
                  <a16:creationId xmlns:a16="http://schemas.microsoft.com/office/drawing/2014/main" id="{73FD51AD-45EE-4F96-99DB-9C32C092E150}"/>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21" name="object 39">
              <a:extLst>
                <a:ext uri="{FF2B5EF4-FFF2-40B4-BE49-F238E27FC236}">
                  <a16:creationId xmlns:a16="http://schemas.microsoft.com/office/drawing/2014/main" id="{18F43AE8-70C9-D51E-AD6E-6037FF524C7E}"/>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22" name="object 40">
              <a:extLst>
                <a:ext uri="{FF2B5EF4-FFF2-40B4-BE49-F238E27FC236}">
                  <a16:creationId xmlns:a16="http://schemas.microsoft.com/office/drawing/2014/main" id="{D7A1D37E-F58C-275B-1749-67F3D45FD132}"/>
                </a:ext>
              </a:extLst>
            </p:cNvPr>
            <p:cNvSpPr txBox="1"/>
            <p:nvPr/>
          </p:nvSpPr>
          <p:spPr>
            <a:xfrm>
              <a:off x="4287374" y="6322739"/>
              <a:ext cx="978693"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Financials</a:t>
              </a:r>
              <a:endParaRPr lang="en-US" sz="1401" b="1">
                <a:latin typeface="Avenir Next LT Pro" panose="020B0504020202020204" pitchFamily="34" charset="0"/>
                <a:cs typeface="Segoe UI"/>
              </a:endParaRPr>
            </a:p>
          </p:txBody>
        </p:sp>
        <p:sp>
          <p:nvSpPr>
            <p:cNvPr id="23" name="object 41">
              <a:extLst>
                <a:ext uri="{FF2B5EF4-FFF2-40B4-BE49-F238E27FC236}">
                  <a16:creationId xmlns:a16="http://schemas.microsoft.com/office/drawing/2014/main" id="{AEE82176-BFDA-7739-BF55-27164359D541}"/>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1803123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a:extLst>
              <a:ext uri="{FF2B5EF4-FFF2-40B4-BE49-F238E27FC236}">
                <a16:creationId xmlns:a16="http://schemas.microsoft.com/office/drawing/2014/main" id="{1E75560A-CC3D-9195-DEBB-1C451FEC3FBD}"/>
              </a:ext>
            </a:extLst>
          </p:cNvPr>
          <p:cNvSpPr/>
          <p:nvPr/>
        </p:nvSpPr>
        <p:spPr>
          <a:xfrm>
            <a:off x="304801" y="440490"/>
            <a:ext cx="6084276" cy="890954"/>
          </a:xfrm>
          <a:prstGeom prst="flowChartProcess">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a:solidFill>
                  <a:schemeClr val="bg1"/>
                </a:solidFill>
                <a:latin typeface="Avenir Next LT Pro" panose="020B0504020202020204" pitchFamily="34" charset="0"/>
                <a:cs typeface="Segoe UI" panose="020B0502040204020203" pitchFamily="34" charset="0"/>
              </a:rPr>
              <a:t>The Income Problem</a:t>
            </a:r>
          </a:p>
        </p:txBody>
      </p:sp>
      <p:sp>
        <p:nvSpPr>
          <p:cNvPr id="3" name="Flowchart: Process 2">
            <a:extLst>
              <a:ext uri="{FF2B5EF4-FFF2-40B4-BE49-F238E27FC236}">
                <a16:creationId xmlns:a16="http://schemas.microsoft.com/office/drawing/2014/main" id="{EB53A9F4-453A-1929-12C1-44BD38C100E8}"/>
              </a:ext>
            </a:extLst>
          </p:cNvPr>
          <p:cNvSpPr/>
          <p:nvPr/>
        </p:nvSpPr>
        <p:spPr>
          <a:xfrm>
            <a:off x="304801" y="1477107"/>
            <a:ext cx="6084276" cy="4744926"/>
          </a:xfrm>
          <a:prstGeom prst="flowChartProcess">
            <a:avLst/>
          </a:prstGeom>
          <a:solidFill>
            <a:schemeClr val="accent2">
              <a:lumMod val="20000"/>
              <a:lumOff val="80000"/>
            </a:schemeClr>
          </a:solidFill>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n-US" dirty="0">
                <a:solidFill>
                  <a:sysClr val="windowText" lastClr="000000"/>
                </a:solidFill>
                <a:latin typeface="Avenir Next LT Pro" panose="020B0504020202020204" pitchFamily="34" charset="0"/>
                <a:ea typeface="Calibri"/>
                <a:cs typeface="Calibri"/>
              </a:rPr>
              <a:t>At first glance, Harley-Davidson's 2025 Q3 financial statements show a dramatic year-over-year increase in profitability, though it was largely driven by a one-time strategic maneuver</a:t>
            </a:r>
          </a:p>
          <a:p>
            <a:pPr algn="just"/>
            <a:endParaRPr lang="en-US" dirty="0">
              <a:solidFill>
                <a:sysClr val="windowText" lastClr="000000"/>
              </a:solidFill>
              <a:latin typeface="Avenir Next LT Pro" panose="020B0504020202020204" pitchFamily="34" charset="0"/>
              <a:ea typeface="Calibri"/>
              <a:cs typeface="Calibri"/>
            </a:endParaRPr>
          </a:p>
          <a:p>
            <a:pPr algn="just"/>
            <a:r>
              <a:rPr lang="en-US" dirty="0">
                <a:solidFill>
                  <a:sysClr val="windowText" lastClr="000000"/>
                </a:solidFill>
                <a:latin typeface="Avenir Next LT Pro" panose="020B0504020202020204" pitchFamily="34" charset="0"/>
                <a:ea typeface="Calibri"/>
                <a:cs typeface="Calibri"/>
              </a:rPr>
              <a:t>$301 Million of the $339 Million 2025 net income was attributable to a credit loss reversal</a:t>
            </a:r>
          </a:p>
          <a:p>
            <a:pPr algn="just"/>
            <a:endParaRPr lang="en-US" dirty="0">
              <a:solidFill>
                <a:sysClr val="windowText" lastClr="000000"/>
              </a:solidFill>
              <a:latin typeface="Avenir Next LT Pro" panose="020B0504020202020204" pitchFamily="34" charset="0"/>
              <a:ea typeface="Calibri"/>
              <a:cs typeface="Calibri"/>
            </a:endParaRPr>
          </a:p>
          <a:p>
            <a:pPr algn="just"/>
            <a:r>
              <a:rPr lang="en-US" dirty="0">
                <a:solidFill>
                  <a:sysClr val="windowText" lastClr="000000"/>
                </a:solidFill>
                <a:latin typeface="Avenir Next LT Pro" panose="020B0504020202020204" pitchFamily="34" charset="0"/>
                <a:ea typeface="Calibri"/>
                <a:cs typeface="Calibri"/>
              </a:rPr>
              <a:t>Livewire reported a net loss of $75 Million</a:t>
            </a:r>
          </a:p>
          <a:p>
            <a:pPr algn="just"/>
            <a:endParaRPr lang="en-US" dirty="0">
              <a:solidFill>
                <a:sysClr val="windowText" lastClr="000000"/>
              </a:solidFill>
              <a:latin typeface="Avenir Next LT Pro" panose="020B0504020202020204" pitchFamily="34" charset="0"/>
              <a:ea typeface="Calibri"/>
              <a:cs typeface="Calibri"/>
            </a:endParaRPr>
          </a:p>
          <a:p>
            <a:pPr algn="just"/>
            <a:r>
              <a:rPr lang="en-US" dirty="0">
                <a:solidFill>
                  <a:sysClr val="windowText" lastClr="000000"/>
                </a:solidFill>
                <a:latin typeface="Avenir Next LT Pro" panose="020B0504020202020204" pitchFamily="34" charset="0"/>
                <a:ea typeface="Calibri"/>
                <a:cs typeface="Calibri"/>
              </a:rPr>
              <a:t> 2025 Reported EPS(Diluted) = $2.78</a:t>
            </a:r>
          </a:p>
          <a:p>
            <a:pPr algn="just"/>
            <a:r>
              <a:rPr lang="en-US" u="sng" dirty="0">
                <a:solidFill>
                  <a:sysClr val="windowText" lastClr="000000"/>
                </a:solidFill>
                <a:latin typeface="Avenir Next LT Pro" panose="020B0504020202020204" pitchFamily="34" charset="0"/>
                <a:ea typeface="Calibri"/>
                <a:cs typeface="Calibri"/>
              </a:rPr>
              <a:t>- Credit Loss Reversal Portion ($301M/122.12M Shares) = $2.46</a:t>
            </a:r>
          </a:p>
          <a:p>
            <a:pPr algn="just"/>
            <a:r>
              <a:rPr lang="en-US" dirty="0">
                <a:solidFill>
                  <a:sysClr val="windowText" lastClr="000000"/>
                </a:solidFill>
                <a:latin typeface="Avenir Next LT Pro" panose="020B0504020202020204" pitchFamily="34" charset="0"/>
                <a:ea typeface="Calibri"/>
                <a:cs typeface="Calibri"/>
              </a:rPr>
              <a:t>Adjusted EPS = $0.32</a:t>
            </a:r>
          </a:p>
          <a:p>
            <a:pPr algn="just"/>
            <a:endParaRPr lang="en-US" dirty="0">
              <a:solidFill>
                <a:sysClr val="windowText" lastClr="000000"/>
              </a:solidFill>
              <a:latin typeface="Avenir Next LT Pro" panose="020B0504020202020204" pitchFamily="34" charset="0"/>
              <a:ea typeface="Calibri"/>
              <a:cs typeface="Calibri"/>
            </a:endParaRPr>
          </a:p>
          <a:p>
            <a:pPr algn="just"/>
            <a:r>
              <a:rPr lang="en-US" u="sng" dirty="0">
                <a:solidFill>
                  <a:sysClr val="windowText" lastClr="000000"/>
                </a:solidFill>
                <a:latin typeface="Avenir Next LT Pro" panose="020B0504020202020204" pitchFamily="34" charset="0"/>
                <a:ea typeface="Calibri"/>
                <a:cs typeface="Calibri"/>
              </a:rPr>
              <a:t>Current Share Price $20.26/Adjusted EPS of $0.32</a:t>
            </a:r>
          </a:p>
          <a:p>
            <a:pPr algn="just"/>
            <a:r>
              <a:rPr lang="en-US" dirty="0">
                <a:solidFill>
                  <a:sysClr val="windowText" lastClr="000000"/>
                </a:solidFill>
                <a:latin typeface="Avenir Next LT Pro" panose="020B0504020202020204" pitchFamily="34" charset="0"/>
                <a:ea typeface="Calibri"/>
                <a:cs typeface="Calibri"/>
              </a:rPr>
              <a:t>Adjusted TTM PE of 63.31x</a:t>
            </a:r>
          </a:p>
        </p:txBody>
      </p:sp>
      <p:graphicFrame>
        <p:nvGraphicFramePr>
          <p:cNvPr id="4" name="Table 3">
            <a:extLst>
              <a:ext uri="{FF2B5EF4-FFF2-40B4-BE49-F238E27FC236}">
                <a16:creationId xmlns:a16="http://schemas.microsoft.com/office/drawing/2014/main" id="{15AA5531-F061-D95D-5B97-5F9DB67DB9DD}"/>
              </a:ext>
            </a:extLst>
          </p:cNvPr>
          <p:cNvGraphicFramePr>
            <a:graphicFrameLocks noGrp="1"/>
          </p:cNvGraphicFramePr>
          <p:nvPr>
            <p:custDataLst>
              <p:tags r:id="rId1"/>
            </p:custDataLst>
            <p:extLst>
              <p:ext uri="{D42A27DB-BD31-4B8C-83A1-F6EECF244321}">
                <p14:modId xmlns:p14="http://schemas.microsoft.com/office/powerpoint/2010/main" val="2680648140"/>
              </p:ext>
            </p:extLst>
          </p:nvPr>
        </p:nvGraphicFramePr>
        <p:xfrm>
          <a:off x="6569951" y="3792194"/>
          <a:ext cx="5249517" cy="2432692"/>
        </p:xfrm>
        <a:graphic>
          <a:graphicData uri="http://schemas.openxmlformats.org/drawingml/2006/table">
            <a:tbl>
              <a:tblPr firstRow="1" bandRow="1">
                <a:tableStyleId>{5C22544A-7EE6-4342-B048-85BDC9FD1C3A}</a:tableStyleId>
              </a:tblPr>
              <a:tblGrid>
                <a:gridCol w="1126550">
                  <a:extLst>
                    <a:ext uri="{9D8B030D-6E8A-4147-A177-3AD203B41FA5}">
                      <a16:colId xmlns:a16="http://schemas.microsoft.com/office/drawing/2014/main" val="1913663222"/>
                    </a:ext>
                  </a:extLst>
                </a:gridCol>
                <a:gridCol w="845440">
                  <a:extLst>
                    <a:ext uri="{9D8B030D-6E8A-4147-A177-3AD203B41FA5}">
                      <a16:colId xmlns:a16="http://schemas.microsoft.com/office/drawing/2014/main" val="2878123810"/>
                    </a:ext>
                  </a:extLst>
                </a:gridCol>
                <a:gridCol w="845440">
                  <a:extLst>
                    <a:ext uri="{9D8B030D-6E8A-4147-A177-3AD203B41FA5}">
                      <a16:colId xmlns:a16="http://schemas.microsoft.com/office/drawing/2014/main" val="414380528"/>
                    </a:ext>
                  </a:extLst>
                </a:gridCol>
                <a:gridCol w="903347">
                  <a:extLst>
                    <a:ext uri="{9D8B030D-6E8A-4147-A177-3AD203B41FA5}">
                      <a16:colId xmlns:a16="http://schemas.microsoft.com/office/drawing/2014/main" val="4227438148"/>
                    </a:ext>
                  </a:extLst>
                </a:gridCol>
                <a:gridCol w="732872">
                  <a:extLst>
                    <a:ext uri="{9D8B030D-6E8A-4147-A177-3AD203B41FA5}">
                      <a16:colId xmlns:a16="http://schemas.microsoft.com/office/drawing/2014/main" val="152878797"/>
                    </a:ext>
                  </a:extLst>
                </a:gridCol>
                <a:gridCol w="795868">
                  <a:extLst>
                    <a:ext uri="{9D8B030D-6E8A-4147-A177-3AD203B41FA5}">
                      <a16:colId xmlns:a16="http://schemas.microsoft.com/office/drawing/2014/main" val="318840051"/>
                    </a:ext>
                  </a:extLst>
                </a:gridCol>
              </a:tblGrid>
              <a:tr h="479367">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Metric</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2025</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Adjusted 2025</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2024</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buNone/>
                      </a:pPr>
                      <a:r>
                        <a:rPr lang="en-US" sz="1100" dirty="0">
                          <a:latin typeface="Avenir Next LT Pro" panose="020B0504020202020204" pitchFamily="34" charset="0"/>
                          <a:ea typeface="Calibri" panose="020F0502020204030204" pitchFamily="34" charset="0"/>
                          <a:cs typeface="Calibri" panose="020F0502020204030204" pitchFamily="34" charset="0"/>
                        </a:rPr>
                        <a:t>YOY Change</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buNone/>
                      </a:pPr>
                      <a:r>
                        <a:rPr lang="en-US" sz="1100" dirty="0">
                          <a:latin typeface="Avenir Next LT Pro" panose="020B0504020202020204" pitchFamily="34" charset="0"/>
                          <a:ea typeface="Calibri" panose="020F0502020204030204" pitchFamily="34" charset="0"/>
                          <a:cs typeface="Calibri" panose="020F0502020204030204" pitchFamily="34" charset="0"/>
                        </a:rPr>
                        <a:t>Adjusted YOY Change</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3919129943"/>
                  </a:ext>
                </a:extLst>
              </a:tr>
              <a:tr h="344161">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Consolidated Revenue</a:t>
                      </a:r>
                      <a:endParaRPr lang="en-US" sz="1100">
                        <a:latin typeface="Avenir Next LT Pro" panose="020B050402020202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$4.47 Billion</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$4.47 Billion</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$5.19 Billion</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-14%</a:t>
                      </a:r>
                      <a:endParaRPr lang="en-US" sz="1100">
                        <a:latin typeface="Avenir Next LT Pro" panose="020B050402020202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-14%</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352739594"/>
                  </a:ext>
                </a:extLst>
              </a:tr>
              <a:tr h="344161">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Net Income</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$339 Million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$38 Million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$455 Million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-25%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-92%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1138712"/>
                  </a:ext>
                </a:extLst>
              </a:tr>
              <a:tr h="208955">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Diluted EPS</a:t>
                      </a:r>
                      <a:endParaRPr lang="en-US" sz="1100">
                        <a:latin typeface="Avenir Next LT Pro" panose="020B050402020202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$2.78</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$0.32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$3.44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-19%</a:t>
                      </a:r>
                      <a:endParaRPr lang="en-US" sz="1100">
                        <a:latin typeface="Avenir Next LT Pro" panose="020B050402020202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-91%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659067654"/>
                  </a:ext>
                </a:extLst>
              </a:tr>
              <a:tr h="299092">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PE (TTM)</a:t>
                      </a:r>
                      <a:endParaRPr lang="en-US" sz="1100">
                        <a:latin typeface="Avenir Next LT Pro" panose="020B050402020202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7.81x</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100">
                          <a:latin typeface="Avenir Next LT Pro" panose="020B0504020202020204" pitchFamily="34" charset="0"/>
                          <a:ea typeface="Calibri" panose="020F0502020204030204" pitchFamily="34" charset="0"/>
                          <a:cs typeface="Calibri" panose="020F0502020204030204" pitchFamily="34" charset="0"/>
                        </a:rPr>
                        <a:t>63.31x</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7.49</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+4%</a:t>
                      </a:r>
                      <a:endParaRPr lang="en-US" sz="1100">
                        <a:latin typeface="Avenir Next LT Pro" panose="020B050402020202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745%</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01694212"/>
                  </a:ext>
                </a:extLst>
              </a:tr>
              <a:tr h="344161">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Cash Position</a:t>
                      </a:r>
                      <a:endParaRPr lang="en-US" sz="1100">
                        <a:latin typeface="Avenir Next LT Pro" panose="020B050402020202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$3.09 Billion</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100">
                          <a:latin typeface="Avenir Next LT Pro" panose="020B0504020202020204" pitchFamily="34" charset="0"/>
                          <a:ea typeface="Calibri" panose="020F0502020204030204" pitchFamily="34" charset="0"/>
                          <a:cs typeface="Calibri" panose="020F0502020204030204" pitchFamily="34" charset="0"/>
                        </a:rPr>
                        <a:t>$3.09 Billion</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Avenir Next LT Pro" panose="020B0504020202020204" pitchFamily="34" charset="0"/>
                          <a:ea typeface="Calibri" panose="020F0502020204030204" pitchFamily="34" charset="0"/>
                          <a:cs typeface="Calibri" panose="020F0502020204030204" pitchFamily="34" charset="0"/>
                        </a:rPr>
                        <a:t>$1.73 Billion</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Avenir Next LT Pro" panose="020B0504020202020204" pitchFamily="34" charset="0"/>
                          <a:ea typeface="Calibri" panose="020F0502020204030204" pitchFamily="34" charset="0"/>
                          <a:cs typeface="Calibri" panose="020F0502020204030204" pitchFamily="34" charset="0"/>
                        </a:rPr>
                        <a:t>+79%</a:t>
                      </a:r>
                      <a:endParaRPr lang="en-US" sz="1100">
                        <a:latin typeface="Avenir Next LT Pro" panose="020B050402020202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dirty="0">
                          <a:latin typeface="Avenir Next LT Pro" panose="020B0504020202020204" pitchFamily="34" charset="0"/>
                          <a:ea typeface="Calibri" panose="020F0502020204030204" pitchFamily="34" charset="0"/>
                          <a:cs typeface="Calibri" panose="020F0502020204030204" pitchFamily="34" charset="0"/>
                        </a:rPr>
                        <a:t>+79%</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90038720"/>
                  </a:ext>
                </a:extLst>
              </a:tr>
            </a:tbl>
          </a:graphicData>
        </a:graphic>
      </p:graphicFrame>
      <p:graphicFrame>
        <p:nvGraphicFramePr>
          <p:cNvPr id="5" name="Chart 4">
            <a:extLst>
              <a:ext uri="{FF2B5EF4-FFF2-40B4-BE49-F238E27FC236}">
                <a16:creationId xmlns:a16="http://schemas.microsoft.com/office/drawing/2014/main" id="{1C72BB03-F0F2-AE4C-2901-D7601BE9682B}"/>
              </a:ext>
            </a:extLst>
          </p:cNvPr>
          <p:cNvGraphicFramePr>
            <a:graphicFrameLocks/>
          </p:cNvGraphicFramePr>
          <p:nvPr>
            <p:extLst>
              <p:ext uri="{D42A27DB-BD31-4B8C-83A1-F6EECF244321}">
                <p14:modId xmlns:p14="http://schemas.microsoft.com/office/powerpoint/2010/main" val="773582757"/>
              </p:ext>
            </p:extLst>
          </p:nvPr>
        </p:nvGraphicFramePr>
        <p:xfrm>
          <a:off x="6569951" y="90433"/>
          <a:ext cx="5317248" cy="358893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33574F81-07BF-8D57-E179-373FD8234E6F}"/>
              </a:ext>
            </a:extLst>
          </p:cNvPr>
          <p:cNvGraphicFramePr>
            <a:graphicFrameLocks/>
          </p:cNvGraphicFramePr>
          <p:nvPr>
            <p:extLst>
              <p:ext uri="{D42A27DB-BD31-4B8C-83A1-F6EECF244321}">
                <p14:modId xmlns:p14="http://schemas.microsoft.com/office/powerpoint/2010/main" val="2345151521"/>
              </p:ext>
            </p:extLst>
          </p:nvPr>
        </p:nvGraphicFramePr>
        <p:xfrm>
          <a:off x="10004809" y="226086"/>
          <a:ext cx="2508740" cy="2351258"/>
        </p:xfrm>
        <a:graphic>
          <a:graphicData uri="http://schemas.openxmlformats.org/drawingml/2006/chart">
            <c:chart xmlns:c="http://schemas.openxmlformats.org/drawingml/2006/chart" xmlns:r="http://schemas.openxmlformats.org/officeDocument/2006/relationships" r:id="rId5"/>
          </a:graphicData>
        </a:graphic>
      </p:graphicFrame>
      <p:cxnSp>
        <p:nvCxnSpPr>
          <p:cNvPr id="8" name="Straight Arrow Connector 7">
            <a:extLst>
              <a:ext uri="{FF2B5EF4-FFF2-40B4-BE49-F238E27FC236}">
                <a16:creationId xmlns:a16="http://schemas.microsoft.com/office/drawing/2014/main" id="{35433987-093A-78F3-65A2-A3676085F186}"/>
              </a:ext>
            </a:extLst>
          </p:cNvPr>
          <p:cNvCxnSpPr/>
          <p:nvPr/>
        </p:nvCxnSpPr>
        <p:spPr>
          <a:xfrm flipV="1">
            <a:off x="10234246" y="1499687"/>
            <a:ext cx="304800" cy="149078"/>
          </a:xfrm>
          <a:prstGeom prst="straightConnector1">
            <a:avLst/>
          </a:prstGeom>
          <a:ln>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 name="object 4">
            <a:extLst>
              <a:ext uri="{FF2B5EF4-FFF2-40B4-BE49-F238E27FC236}">
                <a16:creationId xmlns:a16="http://schemas.microsoft.com/office/drawing/2014/main" id="{75C98948-ED28-A37B-2FE5-B230FC5AD57D}"/>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pSp>
        <p:nvGrpSpPr>
          <p:cNvPr id="9" name="Group 8">
            <a:extLst>
              <a:ext uri="{FF2B5EF4-FFF2-40B4-BE49-F238E27FC236}">
                <a16:creationId xmlns:a16="http://schemas.microsoft.com/office/drawing/2014/main" id="{7DB0C6FB-19F5-3B93-E944-55F51E74504E}"/>
              </a:ext>
            </a:extLst>
          </p:cNvPr>
          <p:cNvGrpSpPr/>
          <p:nvPr/>
        </p:nvGrpSpPr>
        <p:grpSpPr>
          <a:xfrm>
            <a:off x="695325" y="6367696"/>
            <a:ext cx="10429876" cy="265521"/>
            <a:chOff x="695325" y="6302380"/>
            <a:chExt cx="10429876" cy="265521"/>
          </a:xfrm>
        </p:grpSpPr>
        <p:sp>
          <p:nvSpPr>
            <p:cNvPr id="10" name="object 13">
              <a:extLst>
                <a:ext uri="{FF2B5EF4-FFF2-40B4-BE49-F238E27FC236}">
                  <a16:creationId xmlns:a16="http://schemas.microsoft.com/office/drawing/2014/main" id="{654C9038-32A9-F5FA-3F5B-0D645DEE42E5}"/>
                </a:ext>
              </a:extLst>
            </p:cNvPr>
            <p:cNvSpPr txBox="1"/>
            <p:nvPr/>
          </p:nvSpPr>
          <p:spPr>
            <a:xfrm>
              <a:off x="7699204" y="6334466"/>
              <a:ext cx="547660"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11" name="object 14">
              <a:extLst>
                <a:ext uri="{FF2B5EF4-FFF2-40B4-BE49-F238E27FC236}">
                  <a16:creationId xmlns:a16="http://schemas.microsoft.com/office/drawing/2014/main" id="{F0FCBB30-0E59-EDF9-69F0-358F5CD58909}"/>
                </a:ext>
              </a:extLst>
            </p:cNvPr>
            <p:cNvSpPr txBox="1"/>
            <p:nvPr/>
          </p:nvSpPr>
          <p:spPr>
            <a:xfrm>
              <a:off x="8957749" y="6334466"/>
              <a:ext cx="42037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13" name="object 16">
              <a:extLst>
                <a:ext uri="{FF2B5EF4-FFF2-40B4-BE49-F238E27FC236}">
                  <a16:creationId xmlns:a16="http://schemas.microsoft.com/office/drawing/2014/main" id="{3A5500B3-E62B-03E4-58BE-50110AE833AC}"/>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4" name="object 37">
              <a:extLst>
                <a:ext uri="{FF2B5EF4-FFF2-40B4-BE49-F238E27FC236}">
                  <a16:creationId xmlns:a16="http://schemas.microsoft.com/office/drawing/2014/main" id="{534EEBDC-CCAE-99B0-9AF7-0D77A7FADC36}"/>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5" name="object 39">
              <a:extLst>
                <a:ext uri="{FF2B5EF4-FFF2-40B4-BE49-F238E27FC236}">
                  <a16:creationId xmlns:a16="http://schemas.microsoft.com/office/drawing/2014/main" id="{D1FB644C-5C60-5872-692E-46B775EC2AF6}"/>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6" name="object 40">
              <a:extLst>
                <a:ext uri="{FF2B5EF4-FFF2-40B4-BE49-F238E27FC236}">
                  <a16:creationId xmlns:a16="http://schemas.microsoft.com/office/drawing/2014/main" id="{0C758CF5-F716-C7B1-1BB6-390864A130BE}"/>
                </a:ext>
              </a:extLst>
            </p:cNvPr>
            <p:cNvSpPr txBox="1"/>
            <p:nvPr/>
          </p:nvSpPr>
          <p:spPr>
            <a:xfrm>
              <a:off x="4287374" y="6322739"/>
              <a:ext cx="856405"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Financials</a:t>
              </a:r>
              <a:endParaRPr lang="en-US" sz="1401" b="1">
                <a:latin typeface="Avenir Next LT Pro" panose="020B0504020202020204" pitchFamily="34" charset="0"/>
                <a:cs typeface="Segoe UI"/>
              </a:endParaRPr>
            </a:p>
          </p:txBody>
        </p:sp>
        <p:sp>
          <p:nvSpPr>
            <p:cNvPr id="17" name="object 41">
              <a:extLst>
                <a:ext uri="{FF2B5EF4-FFF2-40B4-BE49-F238E27FC236}">
                  <a16:creationId xmlns:a16="http://schemas.microsoft.com/office/drawing/2014/main" id="{59F7090E-2A58-1225-D278-04AE5A14B99F}"/>
                </a:ext>
              </a:extLst>
            </p:cNvPr>
            <p:cNvSpPr txBox="1"/>
            <p:nvPr/>
          </p:nvSpPr>
          <p:spPr>
            <a:xfrm>
              <a:off x="6039539" y="6322739"/>
              <a:ext cx="763906"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
        <p:nvSpPr>
          <p:cNvPr id="19" name="object 15">
            <a:extLst>
              <a:ext uri="{FF2B5EF4-FFF2-40B4-BE49-F238E27FC236}">
                <a16:creationId xmlns:a16="http://schemas.microsoft.com/office/drawing/2014/main" id="{8BF6012E-7578-28F8-AED2-06298AD8E31F}"/>
              </a:ext>
            </a:extLst>
          </p:cNvPr>
          <p:cNvSpPr txBox="1"/>
          <p:nvPr/>
        </p:nvSpPr>
        <p:spPr>
          <a:xfrm>
            <a:off x="10089004" y="6388055"/>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6"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Tree>
    <p:extLst>
      <p:ext uri="{BB962C8B-B14F-4D97-AF65-F5344CB8AC3E}">
        <p14:creationId xmlns:p14="http://schemas.microsoft.com/office/powerpoint/2010/main" val="719710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3725-CE82-5F21-FBCF-B5EFF6F3AC29}"/>
            </a:ext>
          </a:extLst>
        </p:cNvPr>
        <p:cNvGrpSpPr/>
        <p:nvPr/>
      </p:nvGrpSpPr>
      <p:grpSpPr>
        <a:xfrm>
          <a:off x="0" y="0"/>
          <a:ext cx="0" cy="0"/>
          <a:chOff x="0" y="0"/>
          <a:chExt cx="0" cy="0"/>
        </a:xfrm>
      </p:grpSpPr>
      <p:graphicFrame>
        <p:nvGraphicFramePr>
          <p:cNvPr id="22" name="Chart 21">
            <a:extLst>
              <a:ext uri="{FF2B5EF4-FFF2-40B4-BE49-F238E27FC236}">
                <a16:creationId xmlns:a16="http://schemas.microsoft.com/office/drawing/2014/main" id="{C5E47E08-AA94-702E-7D9C-7331A0E7EA4F}"/>
              </a:ext>
            </a:extLst>
          </p:cNvPr>
          <p:cNvGraphicFramePr>
            <a:graphicFrameLocks/>
          </p:cNvGraphicFramePr>
          <p:nvPr>
            <p:extLst>
              <p:ext uri="{D42A27DB-BD31-4B8C-83A1-F6EECF244321}">
                <p14:modId xmlns:p14="http://schemas.microsoft.com/office/powerpoint/2010/main" val="2314639872"/>
              </p:ext>
            </p:extLst>
          </p:nvPr>
        </p:nvGraphicFramePr>
        <p:xfrm>
          <a:off x="6879214" y="3558015"/>
          <a:ext cx="4572000" cy="277645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9CD61093-D936-CDD2-395A-9D7BF1A764E7}"/>
              </a:ext>
            </a:extLst>
          </p:cNvPr>
          <p:cNvGraphicFramePr>
            <a:graphicFrameLocks/>
          </p:cNvGraphicFramePr>
          <p:nvPr>
            <p:extLst>
              <p:ext uri="{D42A27DB-BD31-4B8C-83A1-F6EECF244321}">
                <p14:modId xmlns:p14="http://schemas.microsoft.com/office/powerpoint/2010/main" val="2666414648"/>
              </p:ext>
            </p:extLst>
          </p:nvPr>
        </p:nvGraphicFramePr>
        <p:xfrm>
          <a:off x="6951785" y="631080"/>
          <a:ext cx="4572000" cy="2782956"/>
        </p:xfrm>
        <a:graphic>
          <a:graphicData uri="http://schemas.openxmlformats.org/drawingml/2006/chart">
            <c:chart xmlns:c="http://schemas.openxmlformats.org/drawingml/2006/chart" xmlns:r="http://schemas.openxmlformats.org/officeDocument/2006/relationships" r:id="rId4"/>
          </a:graphicData>
        </a:graphic>
      </p:graphicFrame>
      <p:sp>
        <p:nvSpPr>
          <p:cNvPr id="2" name="Flowchart: Process 1">
            <a:extLst>
              <a:ext uri="{FF2B5EF4-FFF2-40B4-BE49-F238E27FC236}">
                <a16:creationId xmlns:a16="http://schemas.microsoft.com/office/drawing/2014/main" id="{030E191F-45B4-86E5-5C4B-CB0BC133D72B}"/>
              </a:ext>
            </a:extLst>
          </p:cNvPr>
          <p:cNvSpPr/>
          <p:nvPr/>
        </p:nvSpPr>
        <p:spPr>
          <a:xfrm>
            <a:off x="304801" y="199291"/>
            <a:ext cx="6084276" cy="900165"/>
          </a:xfrm>
          <a:prstGeom prst="flowChartProcess">
            <a:avLst/>
          </a:prstGeom>
          <a:solidFill>
            <a:schemeClr val="accent2">
              <a:lumMod val="75000"/>
            </a:schemeClr>
          </a:solidFill>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4400">
                <a:solidFill>
                  <a:schemeClr val="bg1"/>
                </a:solidFill>
                <a:latin typeface="Avenir Next LT Pro" panose="020B0504020202020204" pitchFamily="34" charset="0"/>
              </a:rPr>
              <a:t>The Tariff Drain</a:t>
            </a:r>
          </a:p>
        </p:txBody>
      </p:sp>
      <p:sp>
        <p:nvSpPr>
          <p:cNvPr id="3" name="Flowchart: Process 2">
            <a:extLst>
              <a:ext uri="{FF2B5EF4-FFF2-40B4-BE49-F238E27FC236}">
                <a16:creationId xmlns:a16="http://schemas.microsoft.com/office/drawing/2014/main" id="{62DA1CDE-6A3A-6C27-67F7-3D70B988E6AE}"/>
              </a:ext>
            </a:extLst>
          </p:cNvPr>
          <p:cNvSpPr/>
          <p:nvPr/>
        </p:nvSpPr>
        <p:spPr>
          <a:xfrm>
            <a:off x="304801" y="1324707"/>
            <a:ext cx="6084276" cy="4814386"/>
          </a:xfrm>
          <a:prstGeom prst="flowChartProcess">
            <a:avLst/>
          </a:prstGeom>
          <a:solidFill>
            <a:schemeClr val="accent2">
              <a:lumMod val="20000"/>
              <a:lumOff val="80000"/>
            </a:schemeClr>
          </a:solidFill>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r>
              <a:rPr lang="en-US">
                <a:solidFill>
                  <a:schemeClr val="tx1">
                    <a:lumMod val="95000"/>
                    <a:lumOff val="5000"/>
                  </a:schemeClr>
                </a:solidFill>
                <a:latin typeface="Avenir Next LT Pro" panose="020B0504020202020204" pitchFamily="34" charset="0"/>
                <a:ea typeface="Calibri"/>
                <a:cs typeface="Calibri"/>
              </a:rPr>
              <a:t>Cumulative Cost in 2025 of $67 Million</a:t>
            </a:r>
          </a:p>
          <a:p>
            <a:endParaRPr lang="en-US">
              <a:solidFill>
                <a:schemeClr val="tx1">
                  <a:lumMod val="95000"/>
                  <a:lumOff val="5000"/>
                </a:schemeClr>
              </a:solidFill>
              <a:latin typeface="Avenir Next LT Pro" panose="020B0504020202020204" pitchFamily="34" charset="0"/>
              <a:ea typeface="Calibri"/>
              <a:cs typeface="Calibri"/>
            </a:endParaRPr>
          </a:p>
          <a:p>
            <a:r>
              <a:rPr lang="en-US">
                <a:solidFill>
                  <a:schemeClr val="tx1">
                    <a:lumMod val="95000"/>
                    <a:lumOff val="5000"/>
                  </a:schemeClr>
                </a:solidFill>
                <a:latin typeface="Avenir Next LT Pro" panose="020B0504020202020204" pitchFamily="34" charset="0"/>
              </a:rPr>
              <a:t>Senior management have projected $75 to $105 Million in Tariff expenses for 2026</a:t>
            </a:r>
          </a:p>
          <a:p>
            <a:endParaRPr lang="en-US">
              <a:solidFill>
                <a:schemeClr val="tx1">
                  <a:lumMod val="95000"/>
                  <a:lumOff val="5000"/>
                </a:schemeClr>
              </a:solidFill>
              <a:latin typeface="Avenir Next LT Pro" panose="020B0504020202020204" pitchFamily="34" charset="0"/>
              <a:ea typeface="Calibri"/>
              <a:cs typeface="Calibri"/>
            </a:endParaRPr>
          </a:p>
          <a:p>
            <a:r>
              <a:rPr lang="en-US">
                <a:solidFill>
                  <a:schemeClr val="tx1">
                    <a:lumMod val="95000"/>
                    <a:lumOff val="5000"/>
                  </a:schemeClr>
                </a:solidFill>
                <a:latin typeface="Avenir Next LT Pro" panose="020B0504020202020204" pitchFamily="34" charset="0"/>
                <a:ea typeface="Calibri"/>
                <a:cs typeface="Calibri"/>
              </a:rPr>
              <a:t>To combat this, the “Transition Year” strategy was announced to align wholesale shipments with retail demand and save $150 Million annually</a:t>
            </a:r>
          </a:p>
          <a:p>
            <a:endParaRPr lang="en-US">
              <a:solidFill>
                <a:schemeClr val="tx1">
                  <a:lumMod val="95000"/>
                  <a:lumOff val="5000"/>
                </a:schemeClr>
              </a:solidFill>
              <a:latin typeface="Avenir Next LT Pro" panose="020B0504020202020204" pitchFamily="34" charset="0"/>
              <a:ea typeface="Calibri"/>
              <a:cs typeface="Calibri"/>
            </a:endParaRPr>
          </a:p>
          <a:p>
            <a:r>
              <a:rPr lang="en-US">
                <a:solidFill>
                  <a:schemeClr val="tx1">
                    <a:lumMod val="95000"/>
                    <a:lumOff val="5000"/>
                  </a:schemeClr>
                </a:solidFill>
                <a:latin typeface="Avenir Next LT Pro"/>
                <a:ea typeface="Calibri"/>
                <a:cs typeface="Calibri"/>
              </a:rPr>
              <a:t>We believe that EBIT margins will continue on a downward trend until 2027, which will mark a multi-year march up to historical eps as tariffs move to the rear-view mirror</a:t>
            </a:r>
          </a:p>
        </p:txBody>
      </p:sp>
      <p:sp>
        <p:nvSpPr>
          <p:cNvPr id="5" name="object 4">
            <a:extLst>
              <a:ext uri="{FF2B5EF4-FFF2-40B4-BE49-F238E27FC236}">
                <a16:creationId xmlns:a16="http://schemas.microsoft.com/office/drawing/2014/main" id="{52C68E25-B43A-FAA7-E43B-B4F599EB5A80}"/>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dirty="0">
                <a:latin typeface="Calibri" panose="020F050202020403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pSp>
        <p:nvGrpSpPr>
          <p:cNvPr id="6" name="Group 5">
            <a:extLst>
              <a:ext uri="{FF2B5EF4-FFF2-40B4-BE49-F238E27FC236}">
                <a16:creationId xmlns:a16="http://schemas.microsoft.com/office/drawing/2014/main" id="{E15258FF-FFBF-ECF9-54C0-D6EBE7875EE6}"/>
              </a:ext>
            </a:extLst>
          </p:cNvPr>
          <p:cNvGrpSpPr/>
          <p:nvPr/>
        </p:nvGrpSpPr>
        <p:grpSpPr>
          <a:xfrm>
            <a:off x="695325" y="6302380"/>
            <a:ext cx="10429876" cy="265521"/>
            <a:chOff x="695325" y="6302380"/>
            <a:chExt cx="10429876" cy="265521"/>
          </a:xfrm>
        </p:grpSpPr>
        <p:sp>
          <p:nvSpPr>
            <p:cNvPr id="8" name="object 13">
              <a:extLst>
                <a:ext uri="{FF2B5EF4-FFF2-40B4-BE49-F238E27FC236}">
                  <a16:creationId xmlns:a16="http://schemas.microsoft.com/office/drawing/2014/main" id="{DE88CB95-F1B9-CC38-D7D8-C1108C1DC21E}"/>
                </a:ext>
              </a:extLst>
            </p:cNvPr>
            <p:cNvSpPr txBox="1"/>
            <p:nvPr/>
          </p:nvSpPr>
          <p:spPr>
            <a:xfrm>
              <a:off x="7699204" y="6334466"/>
              <a:ext cx="420370"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9" name="object 14">
              <a:extLst>
                <a:ext uri="{FF2B5EF4-FFF2-40B4-BE49-F238E27FC236}">
                  <a16:creationId xmlns:a16="http://schemas.microsoft.com/office/drawing/2014/main" id="{BD05E595-3960-5EAA-77A3-E6DB65C98382}"/>
                </a:ext>
              </a:extLst>
            </p:cNvPr>
            <p:cNvSpPr txBox="1"/>
            <p:nvPr/>
          </p:nvSpPr>
          <p:spPr>
            <a:xfrm>
              <a:off x="8957749" y="6334466"/>
              <a:ext cx="42037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11" name="object 16">
              <a:extLst>
                <a:ext uri="{FF2B5EF4-FFF2-40B4-BE49-F238E27FC236}">
                  <a16:creationId xmlns:a16="http://schemas.microsoft.com/office/drawing/2014/main" id="{0DF272BA-DF86-920C-78EB-156C3E1D34DC}"/>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2" name="object 37">
              <a:extLst>
                <a:ext uri="{FF2B5EF4-FFF2-40B4-BE49-F238E27FC236}">
                  <a16:creationId xmlns:a16="http://schemas.microsoft.com/office/drawing/2014/main" id="{3F199C65-BECF-876D-C1DC-E81E784D72E3}"/>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3" name="object 39">
              <a:extLst>
                <a:ext uri="{FF2B5EF4-FFF2-40B4-BE49-F238E27FC236}">
                  <a16:creationId xmlns:a16="http://schemas.microsoft.com/office/drawing/2014/main" id="{152646A9-84F0-23FE-1E27-1E07C6C04C96}"/>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4" name="object 40">
              <a:extLst>
                <a:ext uri="{FF2B5EF4-FFF2-40B4-BE49-F238E27FC236}">
                  <a16:creationId xmlns:a16="http://schemas.microsoft.com/office/drawing/2014/main" id="{7116471E-C02A-C1F5-0D13-F6D4DAD7D07C}"/>
                </a:ext>
              </a:extLst>
            </p:cNvPr>
            <p:cNvSpPr txBox="1"/>
            <p:nvPr/>
          </p:nvSpPr>
          <p:spPr>
            <a:xfrm>
              <a:off x="4178517" y="6322739"/>
              <a:ext cx="856405"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Financials</a:t>
              </a:r>
              <a:endParaRPr lang="en-US" sz="1401" b="1">
                <a:latin typeface="Avenir Next LT Pro" panose="020B0504020202020204" pitchFamily="34" charset="0"/>
                <a:cs typeface="Segoe UI"/>
              </a:endParaRPr>
            </a:p>
          </p:txBody>
        </p:sp>
        <p:sp>
          <p:nvSpPr>
            <p:cNvPr id="15" name="object 41">
              <a:extLst>
                <a:ext uri="{FF2B5EF4-FFF2-40B4-BE49-F238E27FC236}">
                  <a16:creationId xmlns:a16="http://schemas.microsoft.com/office/drawing/2014/main" id="{1D3DA317-B386-2801-6B3F-354BFB9BF4DF}"/>
                </a:ext>
              </a:extLst>
            </p:cNvPr>
            <p:cNvSpPr txBox="1"/>
            <p:nvPr/>
          </p:nvSpPr>
          <p:spPr>
            <a:xfrm>
              <a:off x="6039539" y="6322739"/>
              <a:ext cx="763906"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
        <p:nvSpPr>
          <p:cNvPr id="19" name="TextBox 18">
            <a:extLst>
              <a:ext uri="{FF2B5EF4-FFF2-40B4-BE49-F238E27FC236}">
                <a16:creationId xmlns:a16="http://schemas.microsoft.com/office/drawing/2014/main" id="{620276FE-BDE0-610E-DDC5-A27F7EDBA605}"/>
              </a:ext>
            </a:extLst>
          </p:cNvPr>
          <p:cNvSpPr txBox="1"/>
          <p:nvPr/>
        </p:nvSpPr>
        <p:spPr>
          <a:xfrm>
            <a:off x="7612184" y="325397"/>
            <a:ext cx="3251202" cy="307777"/>
          </a:xfrm>
          <a:prstGeom prst="rect">
            <a:avLst/>
          </a:prstGeom>
          <a:noFill/>
        </p:spPr>
        <p:txBody>
          <a:bodyPr wrap="square" rtlCol="0">
            <a:spAutoFit/>
          </a:bodyPr>
          <a:lstStyle/>
          <a:p>
            <a:pPr algn="ctr"/>
            <a:r>
              <a:rPr lang="en-US" sz="1400" dirty="0">
                <a:latin typeface="Avenir Next LT Pro" panose="020B0504020202020204" pitchFamily="34" charset="0"/>
                <a:ea typeface="Calibri" panose="020F0502020204030204" pitchFamily="34" charset="0"/>
                <a:cs typeface="Calibri" panose="020F0502020204030204" pitchFamily="34" charset="0"/>
              </a:rPr>
              <a:t>EBIT Margin Slowly Rebounds</a:t>
            </a:r>
            <a:endParaRPr lang="en-US" sz="1400">
              <a:latin typeface="Avenir Next LT Pro" panose="020B0504020202020204" pitchFamily="34" charset="0"/>
              <a:ea typeface="Calibri" panose="020F0502020204030204" pitchFamily="34" charset="0"/>
              <a:cs typeface="Calibri" panose="020F0502020204030204" pitchFamily="34" charset="0"/>
            </a:endParaRPr>
          </a:p>
        </p:txBody>
      </p:sp>
      <p:sp>
        <p:nvSpPr>
          <p:cNvPr id="18" name="object 15">
            <a:extLst>
              <a:ext uri="{FF2B5EF4-FFF2-40B4-BE49-F238E27FC236}">
                <a16:creationId xmlns:a16="http://schemas.microsoft.com/office/drawing/2014/main" id="{F637D935-FB78-8050-D99A-31F8B228895B}"/>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5"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
        <p:nvSpPr>
          <p:cNvPr id="10" name="TextBox 9">
            <a:extLst>
              <a:ext uri="{FF2B5EF4-FFF2-40B4-BE49-F238E27FC236}">
                <a16:creationId xmlns:a16="http://schemas.microsoft.com/office/drawing/2014/main" id="{92C2E564-4D49-CFF2-88F4-14DBE51C240D}"/>
              </a:ext>
            </a:extLst>
          </p:cNvPr>
          <p:cNvSpPr txBox="1"/>
          <p:nvPr/>
        </p:nvSpPr>
        <p:spPr>
          <a:xfrm>
            <a:off x="7539613" y="3412796"/>
            <a:ext cx="3251202" cy="307777"/>
          </a:xfrm>
          <a:prstGeom prst="rect">
            <a:avLst/>
          </a:prstGeom>
          <a:noFill/>
        </p:spPr>
        <p:txBody>
          <a:bodyPr wrap="square" rtlCol="0">
            <a:spAutoFit/>
          </a:bodyPr>
          <a:lstStyle/>
          <a:p>
            <a:pPr algn="ctr"/>
            <a:r>
              <a:rPr lang="en-US" sz="1400">
                <a:latin typeface="Avenir Next LT Pro" panose="020B0504020202020204" pitchFamily="34" charset="0"/>
                <a:ea typeface="Calibri" panose="020F0502020204030204" pitchFamily="34" charset="0"/>
                <a:cs typeface="Calibri" panose="020F0502020204030204" pitchFamily="34" charset="0"/>
              </a:rPr>
              <a:t>Tariffs Reduced 2025 Adj. EPS by 64%</a:t>
            </a:r>
          </a:p>
        </p:txBody>
      </p:sp>
      <p:cxnSp>
        <p:nvCxnSpPr>
          <p:cNvPr id="21" name="Straight Arrow Connector 20">
            <a:extLst>
              <a:ext uri="{FF2B5EF4-FFF2-40B4-BE49-F238E27FC236}">
                <a16:creationId xmlns:a16="http://schemas.microsoft.com/office/drawing/2014/main" id="{02C67F06-5813-2C25-AAE9-42FF04E43790}"/>
              </a:ext>
            </a:extLst>
          </p:cNvPr>
          <p:cNvCxnSpPr/>
          <p:nvPr/>
        </p:nvCxnSpPr>
        <p:spPr>
          <a:xfrm>
            <a:off x="8743406" y="4296229"/>
            <a:ext cx="1059543" cy="89988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35734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3E01B-17BB-BCA9-2BEB-85BC39075B5C}"/>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23C7D6A5-2ABB-F679-2412-24CD79A7E43B}"/>
              </a:ext>
            </a:extLst>
          </p:cNvPr>
          <p:cNvSpPr/>
          <p:nvPr/>
        </p:nvSpPr>
        <p:spPr>
          <a:xfrm>
            <a:off x="304800" y="199292"/>
            <a:ext cx="6084275" cy="890954"/>
          </a:xfrm>
          <a:prstGeom prst="flowChartProcess">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a:solidFill>
                  <a:schemeClr val="bg1"/>
                </a:solidFill>
                <a:latin typeface="Avenir Next LT Pro" panose="020B0504020202020204" pitchFamily="34" charset="0"/>
              </a:rPr>
              <a:t>Buying Back</a:t>
            </a:r>
          </a:p>
        </p:txBody>
      </p:sp>
      <p:sp>
        <p:nvSpPr>
          <p:cNvPr id="3" name="Flowchart: Process 2">
            <a:extLst>
              <a:ext uri="{FF2B5EF4-FFF2-40B4-BE49-F238E27FC236}">
                <a16:creationId xmlns:a16="http://schemas.microsoft.com/office/drawing/2014/main" id="{861DD4A0-FDCA-B8F3-369A-673B4B21EAA8}"/>
              </a:ext>
            </a:extLst>
          </p:cNvPr>
          <p:cNvSpPr/>
          <p:nvPr/>
        </p:nvSpPr>
        <p:spPr>
          <a:xfrm>
            <a:off x="304800" y="1324707"/>
            <a:ext cx="6084277" cy="4879086"/>
          </a:xfrm>
          <a:prstGeom prst="flowChartProcess">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n-US">
                <a:solidFill>
                  <a:schemeClr val="tx1"/>
                </a:solidFill>
                <a:latin typeface="Avenir Next LT Pro" panose="020B0504020202020204" pitchFamily="34" charset="0"/>
                <a:ea typeface="Calibri"/>
                <a:cs typeface="Calibri"/>
              </a:rPr>
              <a:t>Harley bought back almost a fourth of it’s existing shares over the past five years</a:t>
            </a:r>
          </a:p>
          <a:p>
            <a:pPr algn="just"/>
            <a:endParaRPr lang="en-US">
              <a:solidFill>
                <a:schemeClr val="tx1"/>
              </a:solidFill>
              <a:latin typeface="Avenir Next LT Pro" panose="020B0504020202020204" pitchFamily="34" charset="0"/>
              <a:ea typeface="Calibri"/>
              <a:cs typeface="Calibri"/>
            </a:endParaRPr>
          </a:p>
          <a:p>
            <a:pPr algn="just"/>
            <a:r>
              <a:rPr lang="en-US">
                <a:solidFill>
                  <a:schemeClr val="tx1"/>
                </a:solidFill>
                <a:latin typeface="Avenir Next LT Pro" panose="020B0504020202020204" pitchFamily="34" charset="0"/>
                <a:ea typeface="Calibri"/>
                <a:cs typeface="Calibri"/>
              </a:rPr>
              <a:t>Price = Price/Earnings*Earnings</a:t>
            </a:r>
          </a:p>
          <a:p>
            <a:pPr algn="just"/>
            <a:endParaRPr lang="en-US">
              <a:solidFill>
                <a:schemeClr val="tx1"/>
              </a:solidFill>
              <a:latin typeface="Avenir Next LT Pro" panose="020B0504020202020204" pitchFamily="34" charset="0"/>
              <a:ea typeface="Calibri"/>
              <a:cs typeface="Calibri"/>
            </a:endParaRPr>
          </a:p>
          <a:p>
            <a:pPr algn="just"/>
            <a:r>
              <a:rPr lang="en-US">
                <a:solidFill>
                  <a:schemeClr val="tx1"/>
                </a:solidFill>
                <a:latin typeface="Avenir Next LT Pro" panose="020B0504020202020204" pitchFamily="34" charset="0"/>
                <a:ea typeface="Calibri"/>
                <a:cs typeface="Calibri"/>
              </a:rPr>
              <a:t>As shares decrease, we expect</a:t>
            </a:r>
          </a:p>
          <a:p>
            <a:pPr marL="285750" indent="-285750" algn="just">
              <a:buFont typeface="Arial" panose="020B0604020202020204" pitchFamily="34" charset="0"/>
              <a:buChar char="•"/>
            </a:pPr>
            <a:r>
              <a:rPr lang="en-US">
                <a:solidFill>
                  <a:schemeClr val="tx1"/>
                </a:solidFill>
                <a:latin typeface="Avenir Next LT Pro" panose="020B0504020202020204" pitchFamily="34" charset="0"/>
                <a:ea typeface="Calibri"/>
                <a:cs typeface="Calibri"/>
              </a:rPr>
              <a:t>EPS to increase especially if earnings increase, and even if earnings moderately decline</a:t>
            </a:r>
          </a:p>
          <a:p>
            <a:pPr marL="285750" indent="-285750" algn="just">
              <a:buFont typeface="Arial" panose="020B0604020202020204" pitchFamily="34" charset="0"/>
              <a:buChar char="•"/>
            </a:pPr>
            <a:r>
              <a:rPr lang="en-US">
                <a:solidFill>
                  <a:schemeClr val="tx1"/>
                </a:solidFill>
                <a:latin typeface="Avenir Next LT Pro" panose="020B0504020202020204" pitchFamily="34" charset="0"/>
                <a:ea typeface="Calibri"/>
                <a:cs typeface="Calibri"/>
              </a:rPr>
              <a:t>A higher PE to reflect that EPS Growth</a:t>
            </a:r>
          </a:p>
          <a:p>
            <a:pPr algn="just"/>
            <a:endParaRPr lang="en-US">
              <a:solidFill>
                <a:schemeClr val="tx1"/>
              </a:solidFill>
              <a:latin typeface="Avenir Next LT Pro" panose="020B0504020202020204" pitchFamily="34" charset="0"/>
              <a:ea typeface="Calibri"/>
              <a:cs typeface="Calibri"/>
            </a:endParaRPr>
          </a:p>
          <a:p>
            <a:pPr algn="just"/>
            <a:r>
              <a:rPr lang="en-US">
                <a:solidFill>
                  <a:schemeClr val="tx1"/>
                </a:solidFill>
                <a:latin typeface="Avenir Next LT Pro" panose="020B0504020202020204" pitchFamily="34" charset="0"/>
                <a:ea typeface="Calibri"/>
                <a:cs typeface="Calibri"/>
              </a:rPr>
              <a:t>In summary, buybacks offer more upside potential and more downside insulation</a:t>
            </a:r>
          </a:p>
          <a:p>
            <a:pPr marL="285750" indent="-285750" algn="just">
              <a:buFont typeface="Arial" panose="020B0604020202020204" pitchFamily="34" charset="0"/>
              <a:buChar char="•"/>
            </a:pPr>
            <a:endParaRPr lang="en-US">
              <a:solidFill>
                <a:schemeClr val="tx1"/>
              </a:solidFill>
              <a:latin typeface="Avenir Next LT Pro" panose="020B0504020202020204" pitchFamily="34" charset="0"/>
              <a:ea typeface="Calibri"/>
              <a:cs typeface="Calibri"/>
            </a:endParaRPr>
          </a:p>
          <a:p>
            <a:pPr algn="just"/>
            <a:endParaRPr lang="en-US">
              <a:solidFill>
                <a:schemeClr val="tx1"/>
              </a:solidFill>
              <a:latin typeface="Avenir Next LT Pro" panose="020B0504020202020204" pitchFamily="34" charset="0"/>
              <a:ea typeface="Calibri"/>
              <a:cs typeface="Calibri"/>
            </a:endParaRPr>
          </a:p>
        </p:txBody>
      </p:sp>
      <p:graphicFrame>
        <p:nvGraphicFramePr>
          <p:cNvPr id="5" name="Chart 4">
            <a:extLst>
              <a:ext uri="{FF2B5EF4-FFF2-40B4-BE49-F238E27FC236}">
                <a16:creationId xmlns:a16="http://schemas.microsoft.com/office/drawing/2014/main" id="{0CD96507-5B70-86C5-D0C1-A3ABD9E4FF57}"/>
              </a:ext>
            </a:extLst>
          </p:cNvPr>
          <p:cNvGraphicFramePr>
            <a:graphicFrameLocks/>
          </p:cNvGraphicFramePr>
          <p:nvPr>
            <p:extLst>
              <p:ext uri="{D42A27DB-BD31-4B8C-83A1-F6EECF244321}">
                <p14:modId xmlns:p14="http://schemas.microsoft.com/office/powerpoint/2010/main" val="3455334624"/>
              </p:ext>
            </p:extLst>
          </p:nvPr>
        </p:nvGraphicFramePr>
        <p:xfrm>
          <a:off x="6596744" y="199292"/>
          <a:ext cx="5404756"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4" name="object 4">
            <a:extLst>
              <a:ext uri="{FF2B5EF4-FFF2-40B4-BE49-F238E27FC236}">
                <a16:creationId xmlns:a16="http://schemas.microsoft.com/office/drawing/2014/main" id="{06B7C5B1-4BE0-8FAF-49CE-574E75DCE12B}"/>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Calibri" panose="020F050202020403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pSp>
        <p:nvGrpSpPr>
          <p:cNvPr id="7" name="Group 6">
            <a:extLst>
              <a:ext uri="{FF2B5EF4-FFF2-40B4-BE49-F238E27FC236}">
                <a16:creationId xmlns:a16="http://schemas.microsoft.com/office/drawing/2014/main" id="{E9A56588-D979-5838-480D-D031B4D6A986}"/>
              </a:ext>
            </a:extLst>
          </p:cNvPr>
          <p:cNvGrpSpPr/>
          <p:nvPr/>
        </p:nvGrpSpPr>
        <p:grpSpPr>
          <a:xfrm>
            <a:off x="695325" y="6302380"/>
            <a:ext cx="10429876" cy="265521"/>
            <a:chOff x="695325" y="6302380"/>
            <a:chExt cx="10429876" cy="265521"/>
          </a:xfrm>
        </p:grpSpPr>
        <p:sp>
          <p:nvSpPr>
            <p:cNvPr id="8" name="object 13">
              <a:extLst>
                <a:ext uri="{FF2B5EF4-FFF2-40B4-BE49-F238E27FC236}">
                  <a16:creationId xmlns:a16="http://schemas.microsoft.com/office/drawing/2014/main" id="{34365A86-FA06-C401-81FF-C7C8FD258637}"/>
                </a:ext>
              </a:extLst>
            </p:cNvPr>
            <p:cNvSpPr txBox="1"/>
            <p:nvPr/>
          </p:nvSpPr>
          <p:spPr>
            <a:xfrm>
              <a:off x="7699204" y="6334466"/>
              <a:ext cx="547660"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9" name="object 14">
              <a:extLst>
                <a:ext uri="{FF2B5EF4-FFF2-40B4-BE49-F238E27FC236}">
                  <a16:creationId xmlns:a16="http://schemas.microsoft.com/office/drawing/2014/main" id="{794007A8-22C2-446E-EB98-58EFB3B91624}"/>
                </a:ext>
              </a:extLst>
            </p:cNvPr>
            <p:cNvSpPr txBox="1"/>
            <p:nvPr/>
          </p:nvSpPr>
          <p:spPr>
            <a:xfrm>
              <a:off x="8957749" y="6334466"/>
              <a:ext cx="42037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11" name="object 16">
              <a:extLst>
                <a:ext uri="{FF2B5EF4-FFF2-40B4-BE49-F238E27FC236}">
                  <a16:creationId xmlns:a16="http://schemas.microsoft.com/office/drawing/2014/main" id="{E7638874-8AF8-B32D-55B3-D1CD8723D116}"/>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2" name="object 37">
              <a:extLst>
                <a:ext uri="{FF2B5EF4-FFF2-40B4-BE49-F238E27FC236}">
                  <a16:creationId xmlns:a16="http://schemas.microsoft.com/office/drawing/2014/main" id="{0506E83B-93A1-1BA5-FED7-0DD2D5751A62}"/>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3" name="object 39">
              <a:extLst>
                <a:ext uri="{FF2B5EF4-FFF2-40B4-BE49-F238E27FC236}">
                  <a16:creationId xmlns:a16="http://schemas.microsoft.com/office/drawing/2014/main" id="{DBCBE0C9-12CD-1124-6C92-49D11169E845}"/>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4" name="object 40">
              <a:extLst>
                <a:ext uri="{FF2B5EF4-FFF2-40B4-BE49-F238E27FC236}">
                  <a16:creationId xmlns:a16="http://schemas.microsoft.com/office/drawing/2014/main" id="{622E4E8E-BE60-1355-9C19-585DB17658DB}"/>
                </a:ext>
              </a:extLst>
            </p:cNvPr>
            <p:cNvSpPr txBox="1"/>
            <p:nvPr/>
          </p:nvSpPr>
          <p:spPr>
            <a:xfrm>
              <a:off x="4178514" y="6322739"/>
              <a:ext cx="856405"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Financials</a:t>
              </a:r>
              <a:endParaRPr lang="en-US" sz="1401" b="1">
                <a:latin typeface="Avenir Next LT Pro" panose="020B0504020202020204" pitchFamily="34" charset="0"/>
                <a:cs typeface="Segoe UI"/>
              </a:endParaRPr>
            </a:p>
          </p:txBody>
        </p:sp>
        <p:sp>
          <p:nvSpPr>
            <p:cNvPr id="15" name="object 41">
              <a:extLst>
                <a:ext uri="{FF2B5EF4-FFF2-40B4-BE49-F238E27FC236}">
                  <a16:creationId xmlns:a16="http://schemas.microsoft.com/office/drawing/2014/main" id="{657E997B-0003-478F-3AB6-FD069DD0D698}"/>
                </a:ext>
              </a:extLst>
            </p:cNvPr>
            <p:cNvSpPr txBox="1"/>
            <p:nvPr/>
          </p:nvSpPr>
          <p:spPr>
            <a:xfrm>
              <a:off x="6039539" y="6322739"/>
              <a:ext cx="763906"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graphicFrame>
        <p:nvGraphicFramePr>
          <p:cNvPr id="18" name="Chart 17">
            <a:extLst>
              <a:ext uri="{FF2B5EF4-FFF2-40B4-BE49-F238E27FC236}">
                <a16:creationId xmlns:a16="http://schemas.microsoft.com/office/drawing/2014/main" id="{670BB28C-9C69-8C43-18D1-327379A18DB7}"/>
              </a:ext>
            </a:extLst>
          </p:cNvPr>
          <p:cNvGraphicFramePr>
            <a:graphicFrameLocks/>
          </p:cNvGraphicFramePr>
          <p:nvPr>
            <p:extLst>
              <p:ext uri="{D42A27DB-BD31-4B8C-83A1-F6EECF244321}">
                <p14:modId xmlns:p14="http://schemas.microsoft.com/office/powerpoint/2010/main" val="100938422"/>
              </p:ext>
            </p:extLst>
          </p:nvPr>
        </p:nvGraphicFramePr>
        <p:xfrm>
          <a:off x="6596744" y="3158309"/>
          <a:ext cx="5486400" cy="3045483"/>
        </p:xfrm>
        <a:graphic>
          <a:graphicData uri="http://schemas.openxmlformats.org/drawingml/2006/chart">
            <c:chart xmlns:c="http://schemas.openxmlformats.org/drawingml/2006/chart" xmlns:r="http://schemas.openxmlformats.org/officeDocument/2006/relationships" r:id="rId4"/>
          </a:graphicData>
        </a:graphic>
      </p:graphicFrame>
      <p:sp>
        <p:nvSpPr>
          <p:cNvPr id="19" name="object 15">
            <a:extLst>
              <a:ext uri="{FF2B5EF4-FFF2-40B4-BE49-F238E27FC236}">
                <a16:creationId xmlns:a16="http://schemas.microsoft.com/office/drawing/2014/main" id="{B264320E-7737-2412-9AF1-CAAEB8925839}"/>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5"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Tree>
    <p:extLst>
      <p:ext uri="{BB962C8B-B14F-4D97-AF65-F5344CB8AC3E}">
        <p14:creationId xmlns:p14="http://schemas.microsoft.com/office/powerpoint/2010/main" val="1930073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8A20F12-4BFF-AE0C-360F-9F1F5133BBC0}"/>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9EDD16E-3FEE-C32D-86A3-7FBD524EE725}"/>
              </a:ext>
            </a:extLst>
          </p:cNvPr>
          <p:cNvSpPr/>
          <p:nvPr/>
        </p:nvSpPr>
        <p:spPr>
          <a:xfrm>
            <a:off x="-1" y="5370872"/>
            <a:ext cx="12192001" cy="14871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pic>
        <p:nvPicPr>
          <p:cNvPr id="14" name="Picture 2" descr="Harley Davidson Logo PNG Image - PurePNG | Free transparent CC0 PNG ...">
            <a:extLst>
              <a:ext uri="{FF2B5EF4-FFF2-40B4-BE49-F238E27FC236}">
                <a16:creationId xmlns:a16="http://schemas.microsoft.com/office/drawing/2014/main" id="{3600E1B7-77C8-938E-5437-396FF9A48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229" y="87086"/>
            <a:ext cx="2036921" cy="1633342"/>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65AC8B46-0FAA-92E7-EA04-BFC0F7ADBEA6}"/>
              </a:ext>
            </a:extLst>
          </p:cNvPr>
          <p:cNvSpPr txBox="1"/>
          <p:nvPr/>
        </p:nvSpPr>
        <p:spPr>
          <a:xfrm>
            <a:off x="562929" y="5377434"/>
            <a:ext cx="1943735" cy="1083117"/>
          </a:xfrm>
          <a:prstGeom prst="rect">
            <a:avLst/>
          </a:prstGeom>
          <a:ln>
            <a:noFill/>
          </a:ln>
        </p:spPr>
        <p:txBody>
          <a:bodyPr vert="horz" wrap="square" lIns="0" tIns="173355" rIns="0" bIns="0" rtlCol="0">
            <a:spAutoFit/>
          </a:bodyPr>
          <a:lstStyle/>
          <a:p>
            <a:pPr marL="12701">
              <a:spcBef>
                <a:spcPts val="1365"/>
              </a:spcBef>
            </a:pPr>
            <a:r>
              <a:rPr lang="en-US" sz="3600" spc="-11">
                <a:latin typeface="Avenir Next LT Pro" panose="020B0504020202020204" pitchFamily="34" charset="0"/>
                <a:cs typeface="Segoe UI"/>
              </a:rPr>
              <a:t>Valuation</a:t>
            </a:r>
            <a:endParaRPr lang="en-US" sz="3600">
              <a:latin typeface="Avenir Next LT Pro" panose="020B0504020202020204" pitchFamily="34" charset="0"/>
              <a:cs typeface="Segoe UI"/>
            </a:endParaRPr>
          </a:p>
          <a:p>
            <a:pPr marL="12701">
              <a:spcBef>
                <a:spcPts val="635"/>
              </a:spcBef>
            </a:pPr>
            <a:r>
              <a:rPr lang="en-US" sz="1801">
                <a:solidFill>
                  <a:schemeClr val="accent2">
                    <a:lumMod val="75000"/>
                  </a:schemeClr>
                </a:solidFill>
                <a:latin typeface="Avenir Next LT Pro" panose="020B0504020202020204" pitchFamily="34" charset="0"/>
                <a:cs typeface="Segoe UI"/>
              </a:rPr>
              <a:t>It’s</a:t>
            </a:r>
            <a:r>
              <a:rPr lang="en-US" sz="1801" spc="5">
                <a:solidFill>
                  <a:schemeClr val="accent2">
                    <a:lumMod val="75000"/>
                  </a:schemeClr>
                </a:solidFill>
                <a:latin typeface="Avenir Next LT Pro" panose="020B0504020202020204" pitchFamily="34" charset="0"/>
                <a:cs typeface="Segoe UI"/>
              </a:rPr>
              <a:t> </a:t>
            </a:r>
            <a:r>
              <a:rPr lang="en-US" sz="1801">
                <a:solidFill>
                  <a:schemeClr val="accent2">
                    <a:lumMod val="75000"/>
                  </a:schemeClr>
                </a:solidFill>
                <a:latin typeface="Avenir Next LT Pro" panose="020B0504020202020204" pitchFamily="34" charset="0"/>
                <a:cs typeface="Segoe UI"/>
              </a:rPr>
              <a:t>Time</a:t>
            </a:r>
            <a:r>
              <a:rPr lang="en-US" sz="1801" spc="-30">
                <a:solidFill>
                  <a:schemeClr val="accent2">
                    <a:lumMod val="75000"/>
                  </a:schemeClr>
                </a:solidFill>
                <a:latin typeface="Avenir Next LT Pro" panose="020B0504020202020204" pitchFamily="34" charset="0"/>
                <a:cs typeface="Segoe UI"/>
              </a:rPr>
              <a:t> </a:t>
            </a:r>
            <a:r>
              <a:rPr lang="en-US" sz="1801">
                <a:solidFill>
                  <a:schemeClr val="accent2">
                    <a:lumMod val="75000"/>
                  </a:schemeClr>
                </a:solidFill>
                <a:latin typeface="Avenir Next LT Pro" panose="020B0504020202020204" pitchFamily="34" charset="0"/>
                <a:cs typeface="Segoe UI"/>
              </a:rPr>
              <a:t>To</a:t>
            </a:r>
            <a:r>
              <a:rPr lang="en-US" sz="1801" spc="-55">
                <a:solidFill>
                  <a:schemeClr val="accent2">
                    <a:lumMod val="75000"/>
                  </a:schemeClr>
                </a:solidFill>
                <a:latin typeface="Avenir Next LT Pro" panose="020B0504020202020204" pitchFamily="34" charset="0"/>
                <a:cs typeface="Segoe UI"/>
              </a:rPr>
              <a:t> </a:t>
            </a:r>
            <a:r>
              <a:rPr lang="en-US" sz="1801" spc="-25">
                <a:solidFill>
                  <a:schemeClr val="accent2">
                    <a:lumMod val="75000"/>
                  </a:schemeClr>
                </a:solidFill>
                <a:latin typeface="Avenir Next LT Pro" panose="020B0504020202020204" pitchFamily="34" charset="0"/>
                <a:cs typeface="Segoe UI"/>
              </a:rPr>
              <a:t>Buy</a:t>
            </a:r>
            <a:endParaRPr lang="en-US" sz="1801">
              <a:solidFill>
                <a:schemeClr val="accent2">
                  <a:lumMod val="75000"/>
                </a:schemeClr>
              </a:solidFill>
              <a:latin typeface="Avenir Next LT Pro" panose="020B0504020202020204" pitchFamily="34" charset="0"/>
              <a:cs typeface="Segoe UI"/>
            </a:endParaRPr>
          </a:p>
        </p:txBody>
      </p:sp>
    </p:spTree>
    <p:extLst>
      <p:ext uri="{BB962C8B-B14F-4D97-AF65-F5344CB8AC3E}">
        <p14:creationId xmlns:p14="http://schemas.microsoft.com/office/powerpoint/2010/main" val="1954608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7">
            <a:extLst>
              <a:ext uri="{FF2B5EF4-FFF2-40B4-BE49-F238E27FC236}">
                <a16:creationId xmlns:a16="http://schemas.microsoft.com/office/drawing/2014/main" id="{5E2131C5-8B70-76C0-95B6-CFD546AF75A2}"/>
              </a:ext>
            </a:extLst>
          </p:cNvPr>
          <p:cNvSpPr txBox="1">
            <a:spLocks noGrp="1"/>
          </p:cNvSpPr>
          <p:nvPr>
            <p:ph type="title"/>
          </p:nvPr>
        </p:nvSpPr>
        <p:spPr>
          <a:xfrm>
            <a:off x="3627494" y="522347"/>
            <a:ext cx="6229025" cy="378950"/>
          </a:xfrm>
          <a:prstGeom prst="rect">
            <a:avLst/>
          </a:prstGeom>
          <a:solidFill>
            <a:schemeClr val="accent2">
              <a:lumMod val="20000"/>
              <a:lumOff val="80000"/>
            </a:schemeClr>
          </a:solidFill>
          <a:ln w="25400">
            <a:solidFill>
              <a:schemeClr val="accent2">
                <a:lumMod val="75000"/>
              </a:schemeClr>
            </a:solidFill>
          </a:ln>
        </p:spPr>
        <p:txBody>
          <a:bodyPr vert="horz" wrap="square" lIns="0" tIns="100965" rIns="0" bIns="0" rtlCol="0">
            <a:spAutoFit/>
          </a:bodyPr>
          <a:lstStyle/>
          <a:p>
            <a:pPr marL="466731">
              <a:spcBef>
                <a:spcPts val="795"/>
              </a:spcBef>
            </a:pPr>
            <a:r>
              <a:rPr lang="en-US" sz="2000">
                <a:latin typeface="Avenir Next LT Pro" panose="020B0504020202020204" pitchFamily="34" charset="0"/>
                <a:cs typeface="Segoe UI Light"/>
              </a:rPr>
              <a:t>We</a:t>
            </a:r>
            <a:r>
              <a:rPr lang="en-US" sz="2000" spc="-80">
                <a:latin typeface="Avenir Next LT Pro" panose="020B0504020202020204" pitchFamily="34" charset="0"/>
                <a:cs typeface="Segoe UI Light"/>
              </a:rPr>
              <a:t> </a:t>
            </a:r>
            <a:r>
              <a:rPr lang="en-US" sz="2000">
                <a:latin typeface="Avenir Next LT Pro" panose="020B0504020202020204" pitchFamily="34" charset="0"/>
                <a:cs typeface="Segoe UI Light"/>
              </a:rPr>
              <a:t>calculated</a:t>
            </a:r>
            <a:r>
              <a:rPr lang="en-US" sz="2000" spc="-69">
                <a:latin typeface="Avenir Next LT Pro" panose="020B0504020202020204" pitchFamily="34" charset="0"/>
                <a:cs typeface="Segoe UI Light"/>
              </a:rPr>
              <a:t> </a:t>
            </a:r>
            <a:r>
              <a:rPr lang="en-US" sz="2000">
                <a:latin typeface="Avenir Next LT Pro" panose="020B0504020202020204" pitchFamily="34" charset="0"/>
                <a:cs typeface="Segoe UI Light"/>
              </a:rPr>
              <a:t>a </a:t>
            </a:r>
            <a:r>
              <a:rPr lang="en-US" sz="2000" spc="-30">
                <a:latin typeface="Avenir Next LT Pro" panose="020B0504020202020204" pitchFamily="34" charset="0"/>
                <a:cs typeface="Segoe UI Light"/>
              </a:rPr>
              <a:t>12-</a:t>
            </a:r>
            <a:r>
              <a:rPr lang="en-US" sz="2000">
                <a:latin typeface="Avenir Next LT Pro" panose="020B0504020202020204" pitchFamily="34" charset="0"/>
                <a:cs typeface="Segoe UI Light"/>
              </a:rPr>
              <a:t>month</a:t>
            </a:r>
            <a:r>
              <a:rPr lang="en-US" sz="2000" spc="-11">
                <a:latin typeface="Avenir Next LT Pro" panose="020B0504020202020204" pitchFamily="34" charset="0"/>
                <a:cs typeface="Segoe UI Light"/>
              </a:rPr>
              <a:t> </a:t>
            </a:r>
            <a:r>
              <a:rPr lang="en-US" sz="2000">
                <a:latin typeface="Avenir Next LT Pro" panose="020B0504020202020204" pitchFamily="34" charset="0"/>
                <a:cs typeface="Segoe UI Light"/>
              </a:rPr>
              <a:t>target</a:t>
            </a:r>
            <a:r>
              <a:rPr lang="en-US" sz="2000" spc="20">
                <a:latin typeface="Avenir Next LT Pro" panose="020B0504020202020204" pitchFamily="34" charset="0"/>
                <a:cs typeface="Segoe UI Light"/>
              </a:rPr>
              <a:t> </a:t>
            </a:r>
            <a:r>
              <a:rPr lang="en-US" sz="2000">
                <a:latin typeface="Avenir Next LT Pro" panose="020B0504020202020204" pitchFamily="34" charset="0"/>
                <a:cs typeface="Segoe UI Light"/>
              </a:rPr>
              <a:t>price</a:t>
            </a:r>
            <a:r>
              <a:rPr lang="en-US" sz="2000" spc="-20">
                <a:latin typeface="Avenir Next LT Pro" panose="020B0504020202020204" pitchFamily="34" charset="0"/>
                <a:cs typeface="Segoe UI Light"/>
              </a:rPr>
              <a:t> </a:t>
            </a:r>
            <a:r>
              <a:rPr lang="en-US" sz="2000">
                <a:latin typeface="Avenir Next LT Pro" panose="020B0504020202020204" pitchFamily="34" charset="0"/>
                <a:cs typeface="Segoe UI Light"/>
              </a:rPr>
              <a:t>of</a:t>
            </a:r>
            <a:r>
              <a:rPr lang="en-US" sz="2000" spc="-75">
                <a:latin typeface="Avenir Next LT Pro" panose="020B0504020202020204" pitchFamily="34" charset="0"/>
                <a:cs typeface="Segoe UI Light"/>
              </a:rPr>
              <a:t> </a:t>
            </a:r>
            <a:r>
              <a:rPr lang="en-US" sz="2000" spc="-11">
                <a:latin typeface="Avenir Next LT Pro" panose="020B0504020202020204" pitchFamily="34" charset="0"/>
                <a:cs typeface="Segoe UI Light"/>
              </a:rPr>
              <a:t>$67.99</a:t>
            </a:r>
            <a:endParaRPr lang="en-US" sz="2000">
              <a:latin typeface="Avenir Next LT Pro" panose="020B0504020202020204" pitchFamily="34" charset="0"/>
              <a:cs typeface="Segoe UI Light"/>
            </a:endParaRPr>
          </a:p>
        </p:txBody>
      </p:sp>
      <p:graphicFrame>
        <p:nvGraphicFramePr>
          <p:cNvPr id="5" name="Table 4">
            <a:extLst>
              <a:ext uri="{FF2B5EF4-FFF2-40B4-BE49-F238E27FC236}">
                <a16:creationId xmlns:a16="http://schemas.microsoft.com/office/drawing/2014/main" id="{32C4AEAA-20EA-7020-E65B-3CD370992552}"/>
              </a:ext>
            </a:extLst>
          </p:cNvPr>
          <p:cNvGraphicFramePr>
            <a:graphicFrameLocks noGrp="1"/>
          </p:cNvGraphicFramePr>
          <p:nvPr>
            <p:custDataLst>
              <p:tags r:id="rId1"/>
            </p:custDataLst>
            <p:extLst>
              <p:ext uri="{D42A27DB-BD31-4B8C-83A1-F6EECF244321}">
                <p14:modId xmlns:p14="http://schemas.microsoft.com/office/powerpoint/2010/main" val="3180233377"/>
              </p:ext>
            </p:extLst>
          </p:nvPr>
        </p:nvGraphicFramePr>
        <p:xfrm>
          <a:off x="9497391" y="1316599"/>
          <a:ext cx="2233596" cy="1683095"/>
        </p:xfrm>
        <a:graphic>
          <a:graphicData uri="http://schemas.openxmlformats.org/drawingml/2006/table">
            <a:tbl>
              <a:tblPr>
                <a:tableStyleId>{5C22544A-7EE6-4342-B048-85BDC9FD1C3A}</a:tableStyleId>
              </a:tblPr>
              <a:tblGrid>
                <a:gridCol w="1145209">
                  <a:extLst>
                    <a:ext uri="{9D8B030D-6E8A-4147-A177-3AD203B41FA5}">
                      <a16:colId xmlns:a16="http://schemas.microsoft.com/office/drawing/2014/main" val="749176421"/>
                    </a:ext>
                  </a:extLst>
                </a:gridCol>
                <a:gridCol w="436257">
                  <a:extLst>
                    <a:ext uri="{9D8B030D-6E8A-4147-A177-3AD203B41FA5}">
                      <a16:colId xmlns:a16="http://schemas.microsoft.com/office/drawing/2014/main" val="2677028977"/>
                    </a:ext>
                  </a:extLst>
                </a:gridCol>
                <a:gridCol w="652130">
                  <a:extLst>
                    <a:ext uri="{9D8B030D-6E8A-4147-A177-3AD203B41FA5}">
                      <a16:colId xmlns:a16="http://schemas.microsoft.com/office/drawing/2014/main" val="2528942"/>
                    </a:ext>
                  </a:extLst>
                </a:gridCol>
              </a:tblGrid>
              <a:tr h="337152">
                <a:tc gridSpan="3">
                  <a:txBody>
                    <a:bodyPr/>
                    <a:lstStyle/>
                    <a:p>
                      <a:pPr algn="l" fontAlgn="b"/>
                      <a:r>
                        <a:rPr lang="en-US" sz="1000" b="1">
                          <a:solidFill>
                            <a:schemeClr val="bg1"/>
                          </a:solidFill>
                          <a:latin typeface="Avenir Next LT Pro" panose="020B0504020202020204" pitchFamily="34" charset="0"/>
                          <a:cs typeface="Calibri"/>
                        </a:rPr>
                        <a:t> WACC Calculation</a:t>
                      </a:r>
                    </a:p>
                    <a:p>
                      <a:pPr algn="l" fontAlgn="b"/>
                      <a:endParaRPr lang="en-US" sz="300" b="0" i="0" u="none" strike="noStrike">
                        <a:solidFill>
                          <a:srgbClr val="000000"/>
                        </a:solidFill>
                        <a:effectLst/>
                        <a:latin typeface="Avenir Next LT Pro" panose="020B05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03368194"/>
                  </a:ext>
                </a:extLst>
              </a:tr>
              <a:tr h="306335">
                <a:tc>
                  <a:txBody>
                    <a:bodyPr/>
                    <a:lstStyle/>
                    <a:p>
                      <a:pPr algn="l" fontAlgn="b"/>
                      <a:r>
                        <a:rPr lang="en-US" sz="1000" u="none" strike="noStrike">
                          <a:effectLst/>
                          <a:latin typeface="Avenir Next LT Pro" panose="020B0504020202020204" pitchFamily="34" charset="0"/>
                          <a:cs typeface="Calibri"/>
                        </a:rPr>
                        <a:t> AT - Cost of Debt</a:t>
                      </a:r>
                      <a:endParaRPr lang="en-US" sz="1000" b="0" i="0" u="none" strike="noStrike">
                        <a:solidFill>
                          <a:srgbClr val="000000"/>
                        </a:solidFill>
                        <a:effectLst/>
                        <a:latin typeface="Avenir Next LT Pro" panose="020B0504020202020204" pitchFamily="34" charset="0"/>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a:endParaRPr>
                    </a:p>
                    <a:p>
                      <a:pPr algn="l" fontAlgn="b"/>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0" cmpd="sng">
                      <a:noFill/>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b="0" i="0" u="none" strike="noStrike">
                          <a:solidFill>
                            <a:srgbClr val="000000"/>
                          </a:solidFill>
                          <a:effectLst/>
                          <a:latin typeface="Avenir Next LT Pro" panose="020B0504020202020204" pitchFamily="34" charset="0"/>
                          <a:cs typeface="Calibri"/>
                        </a:rPr>
                        <a:t>4.78%</a:t>
                      </a:r>
                    </a:p>
                  </a:txBody>
                  <a:tcPr marL="0" marR="0" marT="0" marB="0" anchor="b">
                    <a:lnL w="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3448610"/>
                  </a:ext>
                </a:extLst>
              </a:tr>
              <a:tr h="247847">
                <a:tc>
                  <a:txBody>
                    <a:bodyPr/>
                    <a:lstStyle/>
                    <a:p>
                      <a:pPr algn="l" fontAlgn="b"/>
                      <a:r>
                        <a:rPr lang="en-US" sz="1000" u="none" strike="noStrike">
                          <a:effectLst/>
                          <a:latin typeface="Avenir Next LT Pro" panose="020B0504020202020204" pitchFamily="34" charset="0"/>
                          <a:cs typeface="Calibri"/>
                        </a:rPr>
                        <a:t> Cost of Equity</a:t>
                      </a:r>
                      <a:endParaRPr lang="en-US" sz="1000" b="0" i="0" u="none" strike="noStrike">
                        <a:solidFill>
                          <a:srgbClr val="000000"/>
                        </a:solidFill>
                        <a:effectLst/>
                        <a:latin typeface="Avenir Next LT Pro" panose="020B0504020202020204" pitchFamily="34" charset="0"/>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r" fontAlgn="b"/>
                      <a:r>
                        <a:rPr lang="en-US" sz="1000" b="0" i="0" u="none" strike="noStrike">
                          <a:solidFill>
                            <a:srgbClr val="000000"/>
                          </a:solidFill>
                          <a:effectLst/>
                          <a:latin typeface="Avenir Next LT Pro" panose="020B0504020202020204" pitchFamily="34" charset="0"/>
                          <a:cs typeface="Calibri"/>
                        </a:rPr>
                        <a:t>11.1%</a:t>
                      </a: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4764584"/>
                  </a:ext>
                </a:extLst>
              </a:tr>
              <a:tr h="247847">
                <a:tc>
                  <a:txBody>
                    <a:bodyPr/>
                    <a:lstStyle/>
                    <a:p>
                      <a:pPr algn="l" fontAlgn="b"/>
                      <a:r>
                        <a:rPr lang="en-US" sz="1000" u="none" strike="noStrike">
                          <a:effectLst/>
                          <a:latin typeface="Avenir Next LT Pro" panose="020B0504020202020204" pitchFamily="34" charset="0"/>
                          <a:cs typeface="Calibri"/>
                        </a:rPr>
                        <a:t> Weight of Debt</a:t>
                      </a:r>
                      <a:endParaRPr lang="en-US" sz="1000" b="0" i="0" u="none" strike="noStrike">
                        <a:solidFill>
                          <a:srgbClr val="000000"/>
                        </a:solidFill>
                        <a:effectLst/>
                        <a:latin typeface="Avenir Next LT Pro" panose="020B0504020202020204" pitchFamily="34" charset="0"/>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b="0" i="0" u="none" strike="noStrike">
                          <a:solidFill>
                            <a:srgbClr val="000000"/>
                          </a:solidFill>
                          <a:effectLst/>
                          <a:latin typeface="Avenir Next LT Pro" panose="020B0504020202020204" pitchFamily="34" charset="0"/>
                          <a:cs typeface="Calibri"/>
                        </a:rPr>
                        <a:t>89.7%</a:t>
                      </a: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15239072"/>
                  </a:ext>
                </a:extLst>
              </a:tr>
              <a:tr h="296067">
                <a:tc>
                  <a:txBody>
                    <a:bodyPr/>
                    <a:lstStyle/>
                    <a:p>
                      <a:pPr algn="l" fontAlgn="b"/>
                      <a:r>
                        <a:rPr lang="en-US" sz="1000" u="none" strike="noStrike">
                          <a:effectLst/>
                          <a:latin typeface="Avenir Next LT Pro" panose="020B0504020202020204" pitchFamily="34" charset="0"/>
                          <a:cs typeface="Calibri"/>
                        </a:rPr>
                        <a:t> Weight of Equity</a:t>
                      </a:r>
                      <a:endParaRPr lang="en-US" sz="1000" b="0" i="0" u="none" strike="noStrike">
                        <a:solidFill>
                          <a:srgbClr val="000000"/>
                        </a:solidFill>
                        <a:effectLst/>
                        <a:latin typeface="Avenir Next LT Pro" panose="020B0504020202020204" pitchFamily="34" charset="0"/>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r" fontAlgn="b"/>
                      <a:r>
                        <a:rPr lang="en-US" sz="1000" b="0" i="0" u="none" strike="noStrike">
                          <a:solidFill>
                            <a:srgbClr val="000000"/>
                          </a:solidFill>
                          <a:effectLst/>
                          <a:latin typeface="Avenir Next LT Pro" panose="020B0504020202020204" pitchFamily="34" charset="0"/>
                          <a:cs typeface="Calibri"/>
                        </a:rPr>
                        <a:t>10.3%</a:t>
                      </a: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8414371"/>
                  </a:ext>
                </a:extLst>
              </a:tr>
              <a:tr h="247847">
                <a:tc>
                  <a:txBody>
                    <a:bodyPr/>
                    <a:lstStyle/>
                    <a:p>
                      <a:pPr algn="l" fontAlgn="b"/>
                      <a:r>
                        <a:rPr lang="en-US" sz="1000" u="none" strike="noStrike">
                          <a:effectLst/>
                          <a:latin typeface="Avenir Next LT Pro" panose="020B0504020202020204" pitchFamily="34" charset="0"/>
                          <a:cs typeface="Calibri"/>
                        </a:rPr>
                        <a:t> WACC</a:t>
                      </a:r>
                      <a:endParaRPr lang="en-US" sz="1000" b="0" i="0" u="none" strike="noStrike">
                        <a:solidFill>
                          <a:srgbClr val="000000"/>
                        </a:solidFill>
                        <a:effectLst/>
                        <a:latin typeface="Avenir Next LT Pro" panose="020B0504020202020204" pitchFamily="34" charset="0"/>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0" cmpd="sng">
                      <a:noFill/>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b="0" i="0" u="none" strike="noStrike">
                          <a:solidFill>
                            <a:srgbClr val="000000"/>
                          </a:solidFill>
                          <a:effectLst/>
                          <a:latin typeface="Avenir Next LT Pro" panose="020B0504020202020204" pitchFamily="34" charset="0"/>
                          <a:cs typeface="Calibri"/>
                        </a:rPr>
                        <a:t>4.57%</a:t>
                      </a: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051531461"/>
                  </a:ext>
                </a:extLst>
              </a:tr>
            </a:tbl>
          </a:graphicData>
        </a:graphic>
      </p:graphicFrame>
      <p:sp>
        <p:nvSpPr>
          <p:cNvPr id="8" name="object 7">
            <a:extLst>
              <a:ext uri="{FF2B5EF4-FFF2-40B4-BE49-F238E27FC236}">
                <a16:creationId xmlns:a16="http://schemas.microsoft.com/office/drawing/2014/main" id="{D4276FE4-E318-5685-C8D2-B5206AE697FA}"/>
              </a:ext>
            </a:extLst>
          </p:cNvPr>
          <p:cNvSpPr txBox="1">
            <a:spLocks/>
          </p:cNvSpPr>
          <p:nvPr/>
        </p:nvSpPr>
        <p:spPr>
          <a:xfrm>
            <a:off x="552630" y="1327267"/>
            <a:ext cx="3541788" cy="378950"/>
          </a:xfrm>
          <a:prstGeom prst="rect">
            <a:avLst/>
          </a:prstGeom>
          <a:solidFill>
            <a:schemeClr val="accent2">
              <a:lumMod val="20000"/>
              <a:lumOff val="80000"/>
            </a:schemeClr>
          </a:solidFill>
          <a:ln w="25400">
            <a:solidFill>
              <a:schemeClr val="accent2">
                <a:lumMod val="75000"/>
              </a:schemeClr>
            </a:solidFill>
          </a:ln>
        </p:spPr>
        <p:txBody>
          <a:bodyPr vert="horz" wrap="square" lIns="0" tIns="100965"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6731">
              <a:spcBef>
                <a:spcPts val="795"/>
              </a:spcBef>
            </a:pPr>
            <a:r>
              <a:rPr lang="en-US" sz="2000" dirty="0">
                <a:latin typeface="Avenir Next LT Pro" panose="020B0504020202020204" pitchFamily="34" charset="0"/>
                <a:cs typeface="Segoe UI Light"/>
              </a:rPr>
              <a:t>Sales Revenue Estimates</a:t>
            </a:r>
          </a:p>
        </p:txBody>
      </p:sp>
      <p:pic>
        <p:nvPicPr>
          <p:cNvPr id="2" name="Picture 1" descr="Harley Davidson Logo PNG Image - PurePNG | Free transparent CC0 PNG ...">
            <a:extLst>
              <a:ext uri="{FF2B5EF4-FFF2-40B4-BE49-F238E27FC236}">
                <a16:creationId xmlns:a16="http://schemas.microsoft.com/office/drawing/2014/main" id="{73C3907E-4622-9AB2-5D3B-09D0C8D6DD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CD25F4F8-E219-5341-FC94-61F774D4757C}"/>
              </a:ext>
            </a:extLst>
          </p:cNvPr>
          <p:cNvGraphicFramePr>
            <a:graphicFrameLocks noGrp="1"/>
          </p:cNvGraphicFramePr>
          <p:nvPr>
            <p:custDataLst>
              <p:tags r:id="rId2"/>
            </p:custDataLst>
            <p:extLst>
              <p:ext uri="{D42A27DB-BD31-4B8C-83A1-F6EECF244321}">
                <p14:modId xmlns:p14="http://schemas.microsoft.com/office/powerpoint/2010/main" val="3114808115"/>
              </p:ext>
            </p:extLst>
          </p:nvPr>
        </p:nvGraphicFramePr>
        <p:xfrm>
          <a:off x="4714813" y="1316921"/>
          <a:ext cx="1821454" cy="1678576"/>
        </p:xfrm>
        <a:graphic>
          <a:graphicData uri="http://schemas.openxmlformats.org/drawingml/2006/table">
            <a:tbl>
              <a:tblPr>
                <a:tableStyleId>{5C22544A-7EE6-4342-B048-85BDC9FD1C3A}</a:tableStyleId>
              </a:tblPr>
              <a:tblGrid>
                <a:gridCol w="1293081">
                  <a:extLst>
                    <a:ext uri="{9D8B030D-6E8A-4147-A177-3AD203B41FA5}">
                      <a16:colId xmlns:a16="http://schemas.microsoft.com/office/drawing/2014/main" val="749176421"/>
                    </a:ext>
                  </a:extLst>
                </a:gridCol>
                <a:gridCol w="528373">
                  <a:extLst>
                    <a:ext uri="{9D8B030D-6E8A-4147-A177-3AD203B41FA5}">
                      <a16:colId xmlns:a16="http://schemas.microsoft.com/office/drawing/2014/main" val="2677028977"/>
                    </a:ext>
                  </a:extLst>
                </a:gridCol>
              </a:tblGrid>
              <a:tr h="419644">
                <a:tc>
                  <a:txBody>
                    <a:bodyPr/>
                    <a:lstStyle/>
                    <a:p>
                      <a:pPr algn="l" fontAlgn="b"/>
                      <a:r>
                        <a:rPr lang="en-US" sz="1000" b="1">
                          <a:solidFill>
                            <a:schemeClr val="tx1"/>
                          </a:solidFill>
                          <a:latin typeface="Avenir Next LT Pro" panose="020B0504020202020204" pitchFamily="34" charset="0"/>
                          <a:cs typeface="Calibri"/>
                        </a:rPr>
                        <a:t>  </a:t>
                      </a:r>
                      <a:r>
                        <a:rPr lang="en-US" sz="1000" b="1">
                          <a:solidFill>
                            <a:schemeClr val="bg1"/>
                          </a:solidFill>
                          <a:latin typeface="Avenir Next LT Pro" panose="020B0504020202020204" pitchFamily="34" charset="0"/>
                          <a:cs typeface="Calibri"/>
                        </a:rPr>
                        <a:t>Price Target</a:t>
                      </a:r>
                    </a:p>
                    <a:p>
                      <a:pPr algn="l" fontAlgn="b"/>
                      <a:endParaRPr lang="en-US" sz="300" b="0" i="0" u="none" strike="noStrike">
                        <a:solidFill>
                          <a:srgbClr val="000000"/>
                        </a:solidFill>
                        <a:effectLst/>
                        <a:latin typeface="Avenir Next LT Pro" panose="020B0504020202020204" pitchFamily="34" charset="0"/>
                      </a:endParaRPr>
                    </a:p>
                  </a:txBody>
                  <a:tcPr marL="0" marR="0" marT="0" marB="0" anchor="ctr">
                    <a:lnL w="12700" cap="flat" cmpd="sng" algn="ctr">
                      <a:solidFill>
                        <a:schemeClr val="tx1"/>
                      </a:solidFill>
                      <a:prstDash val="solid"/>
                      <a:round/>
                      <a:headEnd type="none" w="med" len="med"/>
                      <a:tailEnd type="none" w="med" len="med"/>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endParaRPr lang="en-US" sz="1000" b="0" i="0" u="none" strike="noStrike">
                        <a:solidFill>
                          <a:schemeClr val="tx1"/>
                        </a:solidFill>
                        <a:effectLst/>
                        <a:latin typeface="Avenir Next LT Pro" panose="020B0504020202020204" pitchFamily="34" charset="0"/>
                        <a:cs typeface="Calibri"/>
                      </a:endParaRPr>
                    </a:p>
                  </a:txBody>
                  <a:tcPr marL="0" marR="0" marT="0" marB="0" anchor="ctr">
                    <a:lnL w="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414833420"/>
                  </a:ext>
                </a:extLst>
              </a:tr>
              <a:tr h="419644">
                <a:tc>
                  <a:txBody>
                    <a:bodyPr/>
                    <a:lstStyle/>
                    <a:p>
                      <a:pPr algn="l" fontAlgn="b"/>
                      <a:r>
                        <a:rPr lang="en-US" sz="1000" b="0" i="0" u="none" strike="noStrike">
                          <a:solidFill>
                            <a:schemeClr val="tx1"/>
                          </a:solidFill>
                          <a:effectLst/>
                          <a:latin typeface="Avenir Next LT Pro" panose="020B0504020202020204" pitchFamily="34" charset="0"/>
                          <a:cs typeface="Calibri"/>
                        </a:rPr>
                        <a:t> PV Cash Flows </a:t>
                      </a:r>
                    </a:p>
                  </a:txBody>
                  <a:tcPr marL="0" marR="0" marT="0" marB="0" anchor="b">
                    <a:lnL w="12700" cap="flat" cmpd="sng" algn="ctr">
                      <a:solidFill>
                        <a:schemeClr val="tx1"/>
                      </a:solidFill>
                      <a:prstDash val="solid"/>
                      <a:round/>
                      <a:headEnd type="none" w="med" len="med"/>
                      <a:tailEnd type="none" w="med" len="med"/>
                    </a:lnL>
                    <a:lnR w="0" cmpd="sng">
                      <a:noFill/>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buNone/>
                      </a:pPr>
                      <a:r>
                        <a:rPr lang="en-US" sz="1000" b="0" i="0" u="none" strike="noStrike">
                          <a:solidFill>
                            <a:srgbClr val="141414"/>
                          </a:solidFill>
                          <a:effectLst/>
                          <a:latin typeface="Avenir Next LT Pro" panose="020B0504020202020204" pitchFamily="34" charset="0"/>
                        </a:rPr>
                        <a:t>$12.21 </a:t>
                      </a:r>
                    </a:p>
                  </a:txBody>
                  <a:tcPr marL="0" marR="0" marT="0" marB="0" anchor="b">
                    <a:lnL w="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15239072"/>
                  </a:ext>
                </a:extLst>
              </a:tr>
              <a:tr h="419644">
                <a:tc>
                  <a:txBody>
                    <a:bodyPr/>
                    <a:lstStyle/>
                    <a:p>
                      <a:pPr algn="l" fontAlgn="b"/>
                      <a:r>
                        <a:rPr lang="en-US" sz="1000" b="0" i="0" u="none" strike="noStrike">
                          <a:solidFill>
                            <a:srgbClr val="000000"/>
                          </a:solidFill>
                          <a:effectLst/>
                          <a:latin typeface="Avenir Next LT Pro" panose="020B0504020202020204" pitchFamily="34" charset="0"/>
                          <a:cs typeface="Calibri"/>
                        </a:rPr>
                        <a:t> Terminal Value</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buNone/>
                      </a:pPr>
                      <a:r>
                        <a:rPr lang="en-US" sz="1000" b="0" i="0" u="none" strike="noStrike" dirty="0">
                          <a:solidFill>
                            <a:srgbClr val="141414"/>
                          </a:solidFill>
                          <a:effectLst/>
                          <a:latin typeface="Avenir Next LT Pro" panose="020B0504020202020204" pitchFamily="34" charset="0"/>
                        </a:rPr>
                        <a:t>$55.78 </a:t>
                      </a: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8414371"/>
                  </a:ext>
                </a:extLst>
              </a:tr>
              <a:tr h="419644">
                <a:tc>
                  <a:txBody>
                    <a:bodyPr/>
                    <a:lstStyle/>
                    <a:p>
                      <a:pPr algn="l" fontAlgn="b"/>
                      <a:r>
                        <a:rPr lang="en-US" sz="1000" b="0" i="0" u="none" strike="noStrike">
                          <a:solidFill>
                            <a:srgbClr val="000000"/>
                          </a:solidFill>
                          <a:effectLst/>
                          <a:latin typeface="Avenir Next LT Pro" panose="020B0504020202020204" pitchFamily="34" charset="0"/>
                          <a:cs typeface="Calibri"/>
                        </a:rPr>
                        <a:t> Price Target</a:t>
                      </a:r>
                    </a:p>
                  </a:txBody>
                  <a:tcPr marL="0" marR="0" marT="0" marB="0" anchor="b">
                    <a:lnL w="12700" cap="flat" cmpd="sng" algn="ctr">
                      <a:solidFill>
                        <a:schemeClr val="tx1"/>
                      </a:solidFill>
                      <a:prstDash val="solid"/>
                      <a:round/>
                      <a:headEnd type="none" w="med" len="med"/>
                      <a:tailEnd type="none" w="med" len="med"/>
                    </a:lnL>
                    <a:lnR w="0" cmpd="sng">
                      <a:noFill/>
                    </a:lnR>
                    <a:lnT w="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buNone/>
                      </a:pPr>
                      <a:r>
                        <a:rPr lang="en-US" sz="1000" b="1" i="0" u="none" strike="noStrike" dirty="0">
                          <a:solidFill>
                            <a:srgbClr val="141414"/>
                          </a:solidFill>
                          <a:effectLst/>
                          <a:latin typeface="Avenir Next LT Pro" panose="020B0504020202020204" pitchFamily="34" charset="0"/>
                        </a:rPr>
                        <a:t>$67.99 </a:t>
                      </a:r>
                    </a:p>
                  </a:txBody>
                  <a:tcPr marL="0" marR="0" marT="0" marB="0" anchor="b">
                    <a:lnL w="0" cmpd="sng">
                      <a:noFill/>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051531461"/>
                  </a:ext>
                </a:extLst>
              </a:tr>
            </a:tbl>
          </a:graphicData>
        </a:graphic>
      </p:graphicFrame>
      <p:graphicFrame>
        <p:nvGraphicFramePr>
          <p:cNvPr id="10" name="Table 9">
            <a:extLst>
              <a:ext uri="{FF2B5EF4-FFF2-40B4-BE49-F238E27FC236}">
                <a16:creationId xmlns:a16="http://schemas.microsoft.com/office/drawing/2014/main" id="{ED164E1B-24E0-16A1-C89A-04779B530758}"/>
              </a:ext>
            </a:extLst>
          </p:cNvPr>
          <p:cNvGraphicFramePr>
            <a:graphicFrameLocks noGrp="1"/>
          </p:cNvGraphicFramePr>
          <p:nvPr>
            <p:custDataLst>
              <p:tags r:id="rId3"/>
            </p:custDataLst>
            <p:extLst>
              <p:ext uri="{D42A27DB-BD31-4B8C-83A1-F6EECF244321}">
                <p14:modId xmlns:p14="http://schemas.microsoft.com/office/powerpoint/2010/main" val="3879043684"/>
              </p:ext>
            </p:extLst>
          </p:nvPr>
        </p:nvGraphicFramePr>
        <p:xfrm>
          <a:off x="6700279" y="1312400"/>
          <a:ext cx="2584190" cy="1683097"/>
        </p:xfrm>
        <a:graphic>
          <a:graphicData uri="http://schemas.openxmlformats.org/drawingml/2006/table">
            <a:tbl>
              <a:tblPr>
                <a:tableStyleId>{5C22544A-7EE6-4342-B048-85BDC9FD1C3A}</a:tableStyleId>
              </a:tblPr>
              <a:tblGrid>
                <a:gridCol w="1265002">
                  <a:extLst>
                    <a:ext uri="{9D8B030D-6E8A-4147-A177-3AD203B41FA5}">
                      <a16:colId xmlns:a16="http://schemas.microsoft.com/office/drawing/2014/main" val="749176421"/>
                    </a:ext>
                  </a:extLst>
                </a:gridCol>
                <a:gridCol w="564696">
                  <a:extLst>
                    <a:ext uri="{9D8B030D-6E8A-4147-A177-3AD203B41FA5}">
                      <a16:colId xmlns:a16="http://schemas.microsoft.com/office/drawing/2014/main" val="2677028977"/>
                    </a:ext>
                  </a:extLst>
                </a:gridCol>
                <a:gridCol w="754492">
                  <a:extLst>
                    <a:ext uri="{9D8B030D-6E8A-4147-A177-3AD203B41FA5}">
                      <a16:colId xmlns:a16="http://schemas.microsoft.com/office/drawing/2014/main" val="2528942"/>
                    </a:ext>
                  </a:extLst>
                </a:gridCol>
              </a:tblGrid>
              <a:tr h="260477">
                <a:tc gridSpan="3">
                  <a:txBody>
                    <a:bodyPr/>
                    <a:lstStyle/>
                    <a:p>
                      <a:pPr algn="l" fontAlgn="b"/>
                      <a:r>
                        <a:rPr lang="en-US" sz="1000" b="1">
                          <a:solidFill>
                            <a:schemeClr val="bg1"/>
                          </a:solidFill>
                          <a:latin typeface="Avenir Next LT Pro" panose="020B0504020202020204" pitchFamily="34" charset="0"/>
                          <a:cs typeface="Calibri"/>
                        </a:rPr>
                        <a:t>  Cost of Equity </a:t>
                      </a:r>
                    </a:p>
                    <a:p>
                      <a:pPr algn="l" fontAlgn="b"/>
                      <a:endParaRPr lang="en-US" sz="300" b="0" i="0" u="none" strike="noStrike">
                        <a:solidFill>
                          <a:srgbClr val="000000"/>
                        </a:solidFill>
                        <a:effectLst/>
                        <a:latin typeface="Avenir Next LT Pro" panose="020B05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03368194"/>
                  </a:ext>
                </a:extLst>
              </a:tr>
              <a:tr h="234844">
                <a:tc>
                  <a:txBody>
                    <a:bodyPr/>
                    <a:lstStyle/>
                    <a:p>
                      <a:pPr algn="l" fontAlgn="b"/>
                      <a:r>
                        <a:rPr lang="en-US" sz="1000" u="none" strike="noStrike">
                          <a:effectLst/>
                          <a:latin typeface="Avenir Next LT Pro" panose="020B0504020202020204" pitchFamily="34" charset="0"/>
                          <a:cs typeface="Calibri"/>
                        </a:rPr>
                        <a:t> Market Return </a:t>
                      </a:r>
                      <a:endParaRPr lang="en-US" sz="1000" b="0" i="0" u="none" strike="noStrike">
                        <a:solidFill>
                          <a:srgbClr val="000000"/>
                        </a:solidFill>
                        <a:effectLst/>
                        <a:latin typeface="Avenir Next LT Pro" panose="020B0504020202020204" pitchFamily="34" charset="0"/>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0" cmpd="sng">
                      <a:noFill/>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u="none" strike="noStrike">
                          <a:effectLst/>
                          <a:latin typeface="Avenir Next LT Pro" panose="020B0504020202020204" pitchFamily="34" charset="0"/>
                          <a:cs typeface="Calibri"/>
                        </a:rPr>
                        <a:t>10.0% </a:t>
                      </a:r>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3448610"/>
                  </a:ext>
                </a:extLst>
              </a:tr>
              <a:tr h="234844">
                <a:tc>
                  <a:txBody>
                    <a:bodyPr/>
                    <a:lstStyle/>
                    <a:p>
                      <a:pPr algn="l" fontAlgn="b"/>
                      <a:r>
                        <a:rPr lang="en-US" sz="1000" b="0" i="0" u="none" strike="noStrike">
                          <a:solidFill>
                            <a:srgbClr val="000000"/>
                          </a:solidFill>
                          <a:effectLst/>
                          <a:latin typeface="Avenir Next LT Pro" panose="020B0504020202020204" pitchFamily="34" charset="0"/>
                          <a:cs typeface="Calibri"/>
                        </a:rPr>
                        <a:t> Risk Free Rate</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r" fontAlgn="b"/>
                      <a:r>
                        <a:rPr lang="en-US" sz="1000" u="none" strike="noStrike" dirty="0">
                          <a:effectLst/>
                          <a:latin typeface="Avenir Next LT Pro" panose="020B0504020202020204" pitchFamily="34" charset="0"/>
                          <a:cs typeface="Calibri"/>
                        </a:rPr>
                        <a:t>4.07% </a:t>
                      </a:r>
                      <a:endParaRPr lang="en-US" sz="1000" b="0" i="0" u="none" strike="noStrike" dirty="0">
                        <a:solidFill>
                          <a:srgbClr val="000000"/>
                        </a:solidFill>
                        <a:effectLst/>
                        <a:latin typeface="Avenir Next LT Pro" panose="020B0504020202020204" pitchFamily="34" charset="0"/>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4764584"/>
                  </a:ext>
                </a:extLst>
              </a:tr>
              <a:tr h="248400">
                <a:tc>
                  <a:txBody>
                    <a:bodyPr/>
                    <a:lstStyle/>
                    <a:p>
                      <a:pPr algn="l" fontAlgn="b"/>
                      <a:r>
                        <a:rPr lang="en-US" sz="1000" b="0" i="0" u="none" strike="noStrike">
                          <a:solidFill>
                            <a:srgbClr val="000000"/>
                          </a:solidFill>
                          <a:effectLst/>
                          <a:latin typeface="Avenir Next LT Pro" panose="020B0504020202020204" pitchFamily="34" charset="0"/>
                          <a:cs typeface="Calibri"/>
                        </a:rPr>
                        <a:t> Market Risk Prem.</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u="none" strike="noStrike" dirty="0">
                          <a:effectLst/>
                          <a:latin typeface="Avenir Next LT Pro" panose="020B0504020202020204" pitchFamily="34" charset="0"/>
                          <a:cs typeface="Calibri"/>
                        </a:rPr>
                        <a:t>5.9%</a:t>
                      </a:r>
                      <a:endParaRPr lang="en-US" sz="1000" b="0" i="0" u="none" strike="noStrike" dirty="0">
                        <a:solidFill>
                          <a:srgbClr val="000000"/>
                        </a:solidFill>
                        <a:effectLst/>
                        <a:latin typeface="Avenir Next LT Pro" panose="020B0504020202020204" pitchFamily="34" charset="0"/>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15239072"/>
                  </a:ext>
                </a:extLst>
              </a:tr>
              <a:tr h="234844">
                <a:tc>
                  <a:txBody>
                    <a:bodyPr/>
                    <a:lstStyle/>
                    <a:p>
                      <a:pPr algn="l" fontAlgn="b"/>
                      <a:r>
                        <a:rPr lang="en-US" sz="1000" b="0" i="0" u="none" strike="noStrike">
                          <a:solidFill>
                            <a:srgbClr val="000000"/>
                          </a:solidFill>
                          <a:effectLst/>
                          <a:latin typeface="Avenir Next LT Pro" panose="020B0504020202020204" pitchFamily="34" charset="0"/>
                          <a:cs typeface="Calibri"/>
                        </a:rPr>
                        <a:t> Beta</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r" fontAlgn="b"/>
                      <a:r>
                        <a:rPr lang="en-US" sz="1000" b="0" i="0" u="none" strike="noStrike" dirty="0">
                          <a:solidFill>
                            <a:srgbClr val="000000"/>
                          </a:solidFill>
                          <a:effectLst/>
                          <a:latin typeface="Avenir Next LT Pro" panose="020B0504020202020204" pitchFamily="34" charset="0"/>
                          <a:cs typeface="Calibri"/>
                        </a:rPr>
                        <a:t>1.19</a:t>
                      </a: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8414371"/>
                  </a:ext>
                </a:extLst>
              </a:tr>
              <a:tr h="234844">
                <a:tc>
                  <a:txBody>
                    <a:bodyPr/>
                    <a:lstStyle/>
                    <a:p>
                      <a:pPr algn="l" fontAlgn="b"/>
                      <a:r>
                        <a:rPr lang="en-US" sz="1000" b="0" i="0" u="none" strike="noStrike">
                          <a:solidFill>
                            <a:srgbClr val="000000"/>
                          </a:solidFill>
                          <a:effectLst/>
                          <a:latin typeface="Avenir Next LT Pro" panose="020B0504020202020204" pitchFamily="34" charset="0"/>
                          <a:cs typeface="Calibri"/>
                        </a:rPr>
                        <a:t> Stock Risk Prem.</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u="none" strike="noStrike" dirty="0">
                          <a:effectLst/>
                          <a:latin typeface="Avenir Next LT Pro" panose="020B0504020202020204" pitchFamily="34" charset="0"/>
                          <a:cs typeface="Calibri"/>
                        </a:rPr>
                        <a:t>7.1%</a:t>
                      </a:r>
                      <a:endParaRPr lang="en-US" sz="1000" b="0" i="0" u="none" strike="noStrike" dirty="0">
                        <a:solidFill>
                          <a:srgbClr val="000000"/>
                        </a:solidFill>
                        <a:effectLst/>
                        <a:latin typeface="Avenir Next LT Pro" panose="020B0504020202020204" pitchFamily="34" charset="0"/>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051531461"/>
                  </a:ext>
                </a:extLst>
              </a:tr>
              <a:tr h="234844">
                <a:tc>
                  <a:txBody>
                    <a:bodyPr/>
                    <a:lstStyle/>
                    <a:p>
                      <a:pPr algn="l" fontAlgn="b"/>
                      <a:r>
                        <a:rPr lang="en-US" sz="1000" b="0" i="0" u="none" strike="noStrike">
                          <a:solidFill>
                            <a:srgbClr val="000000"/>
                          </a:solidFill>
                          <a:effectLst/>
                          <a:latin typeface="Avenir Next LT Pro" panose="020B0504020202020204" pitchFamily="34" charset="0"/>
                          <a:cs typeface="Calibri"/>
                        </a:rPr>
                        <a:t>  r = rf + stock RP</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US" sz="1000" b="0" i="0" u="none" strike="noStrike">
                        <a:solidFill>
                          <a:srgbClr val="000000"/>
                        </a:solidFill>
                        <a:effectLst/>
                        <a:latin typeface="Avenir Next LT Pro" panose="020B0504020202020204" pitchFamily="34" charset="0"/>
                        <a:cs typeface="Calibri" panose="020F0502020204030204" pitchFamily="34" charset="0"/>
                      </a:endParaRPr>
                    </a:p>
                  </a:txBody>
                  <a:tcPr marL="0" marR="0" marT="0" marB="0" anchor="b">
                    <a:lnL w="0" cmpd="sng">
                      <a:noFill/>
                    </a:lnL>
                    <a:lnR w="0" cmpd="sng">
                      <a:noFill/>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000" b="0" i="0" u="none" strike="noStrike" dirty="0">
                          <a:solidFill>
                            <a:srgbClr val="000000"/>
                          </a:solidFill>
                          <a:effectLst/>
                          <a:latin typeface="Avenir Next LT Pro" panose="020B0504020202020204" pitchFamily="34" charset="0"/>
                          <a:cs typeface="Calibri"/>
                        </a:rPr>
                        <a:t>11.1%</a:t>
                      </a: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10295208"/>
                  </a:ext>
                </a:extLst>
              </a:tr>
            </a:tbl>
          </a:graphicData>
        </a:graphic>
      </p:graphicFrame>
      <p:sp>
        <p:nvSpPr>
          <p:cNvPr id="3" name="object 4">
            <a:extLst>
              <a:ext uri="{FF2B5EF4-FFF2-40B4-BE49-F238E27FC236}">
                <a16:creationId xmlns:a16="http://schemas.microsoft.com/office/drawing/2014/main" id="{9219FA0F-F7F7-AFD9-B288-5BD53487632B}"/>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Calibri" panose="020F050202020403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sp>
        <p:nvSpPr>
          <p:cNvPr id="6" name="Title 1">
            <a:extLst>
              <a:ext uri="{FF2B5EF4-FFF2-40B4-BE49-F238E27FC236}">
                <a16:creationId xmlns:a16="http://schemas.microsoft.com/office/drawing/2014/main" id="{885EA252-599A-5776-11BA-D83878D70BCF}"/>
              </a:ext>
            </a:extLst>
          </p:cNvPr>
          <p:cNvSpPr txBox="1">
            <a:spLocks/>
          </p:cNvSpPr>
          <p:nvPr/>
        </p:nvSpPr>
        <p:spPr>
          <a:xfrm>
            <a:off x="348788" y="135570"/>
            <a:ext cx="9774600" cy="994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a:solidFill>
                  <a:schemeClr val="accent2">
                    <a:lumMod val="75000"/>
                  </a:schemeClr>
                </a:solidFill>
                <a:latin typeface="Avenir Next LT Pro" panose="020B0504020202020204" pitchFamily="34" charset="0"/>
              </a:rPr>
              <a:t>Valuation</a:t>
            </a:r>
          </a:p>
        </p:txBody>
      </p:sp>
      <p:graphicFrame>
        <p:nvGraphicFramePr>
          <p:cNvPr id="7" name="Table 6">
            <a:extLst>
              <a:ext uri="{FF2B5EF4-FFF2-40B4-BE49-F238E27FC236}">
                <a16:creationId xmlns:a16="http://schemas.microsoft.com/office/drawing/2014/main" id="{FCE53FC5-634B-F394-DE1D-FF48313820C6}"/>
              </a:ext>
            </a:extLst>
          </p:cNvPr>
          <p:cNvGraphicFramePr>
            <a:graphicFrameLocks noGrp="1"/>
          </p:cNvGraphicFramePr>
          <p:nvPr>
            <p:custDataLst>
              <p:tags r:id="rId4"/>
            </p:custDataLst>
            <p:extLst>
              <p:ext uri="{D42A27DB-BD31-4B8C-83A1-F6EECF244321}">
                <p14:modId xmlns:p14="http://schemas.microsoft.com/office/powerpoint/2010/main" val="2528060183"/>
              </p:ext>
            </p:extLst>
          </p:nvPr>
        </p:nvGraphicFramePr>
        <p:xfrm>
          <a:off x="4714813" y="3076259"/>
          <a:ext cx="7016174" cy="3028374"/>
        </p:xfrm>
        <a:graphic>
          <a:graphicData uri="http://schemas.openxmlformats.org/drawingml/2006/table">
            <a:tbl>
              <a:tblPr>
                <a:tableStyleId>{5C22544A-7EE6-4342-B048-85BDC9FD1C3A}</a:tableStyleId>
              </a:tblPr>
              <a:tblGrid>
                <a:gridCol w="1399676">
                  <a:extLst>
                    <a:ext uri="{9D8B030D-6E8A-4147-A177-3AD203B41FA5}">
                      <a16:colId xmlns:a16="http://schemas.microsoft.com/office/drawing/2014/main" val="633458626"/>
                    </a:ext>
                  </a:extLst>
                </a:gridCol>
                <a:gridCol w="485548">
                  <a:extLst>
                    <a:ext uri="{9D8B030D-6E8A-4147-A177-3AD203B41FA5}">
                      <a16:colId xmlns:a16="http://schemas.microsoft.com/office/drawing/2014/main" val="1418794668"/>
                    </a:ext>
                  </a:extLst>
                </a:gridCol>
                <a:gridCol w="588163">
                  <a:extLst>
                    <a:ext uri="{9D8B030D-6E8A-4147-A177-3AD203B41FA5}">
                      <a16:colId xmlns:a16="http://schemas.microsoft.com/office/drawing/2014/main" val="1760181129"/>
                    </a:ext>
                  </a:extLst>
                </a:gridCol>
                <a:gridCol w="344737">
                  <a:extLst>
                    <a:ext uri="{9D8B030D-6E8A-4147-A177-3AD203B41FA5}">
                      <a16:colId xmlns:a16="http://schemas.microsoft.com/office/drawing/2014/main" val="2171775760"/>
                    </a:ext>
                  </a:extLst>
                </a:gridCol>
                <a:gridCol w="466450">
                  <a:extLst>
                    <a:ext uri="{9D8B030D-6E8A-4147-A177-3AD203B41FA5}">
                      <a16:colId xmlns:a16="http://schemas.microsoft.com/office/drawing/2014/main" val="625812938"/>
                    </a:ext>
                  </a:extLst>
                </a:gridCol>
                <a:gridCol w="466450">
                  <a:extLst>
                    <a:ext uri="{9D8B030D-6E8A-4147-A177-3AD203B41FA5}">
                      <a16:colId xmlns:a16="http://schemas.microsoft.com/office/drawing/2014/main" val="3896168602"/>
                    </a:ext>
                  </a:extLst>
                </a:gridCol>
                <a:gridCol w="466450">
                  <a:extLst>
                    <a:ext uri="{9D8B030D-6E8A-4147-A177-3AD203B41FA5}">
                      <a16:colId xmlns:a16="http://schemas.microsoft.com/office/drawing/2014/main" val="166290453"/>
                    </a:ext>
                  </a:extLst>
                </a:gridCol>
                <a:gridCol w="466450">
                  <a:extLst>
                    <a:ext uri="{9D8B030D-6E8A-4147-A177-3AD203B41FA5}">
                      <a16:colId xmlns:a16="http://schemas.microsoft.com/office/drawing/2014/main" val="2259977100"/>
                    </a:ext>
                  </a:extLst>
                </a:gridCol>
                <a:gridCol w="466450">
                  <a:extLst>
                    <a:ext uri="{9D8B030D-6E8A-4147-A177-3AD203B41FA5}">
                      <a16:colId xmlns:a16="http://schemas.microsoft.com/office/drawing/2014/main" val="606922762"/>
                    </a:ext>
                  </a:extLst>
                </a:gridCol>
                <a:gridCol w="466450">
                  <a:extLst>
                    <a:ext uri="{9D8B030D-6E8A-4147-A177-3AD203B41FA5}">
                      <a16:colId xmlns:a16="http://schemas.microsoft.com/office/drawing/2014/main" val="202146955"/>
                    </a:ext>
                  </a:extLst>
                </a:gridCol>
                <a:gridCol w="466450">
                  <a:extLst>
                    <a:ext uri="{9D8B030D-6E8A-4147-A177-3AD203B41FA5}">
                      <a16:colId xmlns:a16="http://schemas.microsoft.com/office/drawing/2014/main" val="1234734329"/>
                    </a:ext>
                  </a:extLst>
                </a:gridCol>
                <a:gridCol w="466450">
                  <a:extLst>
                    <a:ext uri="{9D8B030D-6E8A-4147-A177-3AD203B41FA5}">
                      <a16:colId xmlns:a16="http://schemas.microsoft.com/office/drawing/2014/main" val="4047410458"/>
                    </a:ext>
                  </a:extLst>
                </a:gridCol>
                <a:gridCol w="466450">
                  <a:extLst>
                    <a:ext uri="{9D8B030D-6E8A-4147-A177-3AD203B41FA5}">
                      <a16:colId xmlns:a16="http://schemas.microsoft.com/office/drawing/2014/main" val="3009638071"/>
                    </a:ext>
                  </a:extLst>
                </a:gridCol>
              </a:tblGrid>
              <a:tr h="218787">
                <a:tc>
                  <a:txBody>
                    <a:bodyPr/>
                    <a:lstStyle/>
                    <a:p>
                      <a:pPr>
                        <a:lnSpc>
                          <a:spcPts val="400"/>
                        </a:lnSpc>
                      </a:pPr>
                      <a:endParaRPr lang="en-US" sz="900" b="1">
                        <a:solidFill>
                          <a:schemeClr val="bg1"/>
                        </a:solidFill>
                        <a:latin typeface="Avenir Next LT Pro" panose="020B0504020202020204" pitchFamily="34" charset="0"/>
                        <a:ea typeface="Cambria" panose="02040503050406030204" pitchFamily="18" charset="0"/>
                        <a:cs typeface="Calibri" panose="020F0502020204030204" pitchFamily="34" charset="0"/>
                      </a:endParaRPr>
                    </a:p>
                    <a:p>
                      <a:pPr>
                        <a:lnSpc>
                          <a:spcPts val="400"/>
                        </a:lnSpc>
                      </a:pPr>
                      <a:r>
                        <a:rPr lang="en-US" sz="1200" b="1">
                          <a:solidFill>
                            <a:schemeClr val="bg1"/>
                          </a:solidFill>
                          <a:latin typeface="Avenir Next LT Pro" panose="020B0504020202020204" pitchFamily="34" charset="0"/>
                          <a:ea typeface="Cambria" panose="02040503050406030204" pitchFamily="18" charset="0"/>
                          <a:cs typeface="Calibri" panose="020F0502020204030204" pitchFamily="34" charset="0"/>
                        </a:rPr>
                        <a:t> </a:t>
                      </a:r>
                      <a:r>
                        <a:rPr lang="en-US" sz="1100" b="1">
                          <a:solidFill>
                            <a:schemeClr val="bg1"/>
                          </a:solidFill>
                          <a:latin typeface="Avenir Next LT Pro" panose="020B0504020202020204" pitchFamily="34" charset="0"/>
                          <a:ea typeface="Cambria" panose="02040503050406030204" pitchFamily="18" charset="0"/>
                          <a:cs typeface="Calibri" panose="020F0502020204030204" pitchFamily="34" charset="0"/>
                        </a:rPr>
                        <a:t> DCF Base</a:t>
                      </a:r>
                      <a:endParaRPr lang="en-US" sz="1200" b="1" i="0" u="none" strike="noStrike" dirty="0">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495330609"/>
                  </a:ext>
                </a:extLst>
              </a:tr>
              <a:tr h="218787">
                <a:tc>
                  <a:txBody>
                    <a:bodyPr/>
                    <a:lstStyle/>
                    <a:p>
                      <a:pPr algn="ctr" fontAlgn="b">
                        <a:buNone/>
                      </a:pPr>
                      <a:endParaRPr lang="en-US" sz="10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dirty="0">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2026E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2027E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2028E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2029E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2030E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2031E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511231703"/>
                  </a:ext>
                </a:extLst>
              </a:tr>
              <a:tr h="228600">
                <a:tc>
                  <a:txBody>
                    <a:bodyPr/>
                    <a:lstStyle/>
                    <a:p>
                      <a:pPr algn="ctr" fontAlgn="b">
                        <a:buNone/>
                      </a:pPr>
                      <a:r>
                        <a:rPr lang="en-US" sz="1000" b="0" i="0" u="none" strike="noStrike">
                          <a:solidFill>
                            <a:srgbClr val="141414"/>
                          </a:solidFill>
                          <a:effectLst/>
                          <a:latin typeface="Avenir Next LT Pro" panose="020B0504020202020204" pitchFamily="34" charset="0"/>
                        </a:rPr>
                        <a:t>Net income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$650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$739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$695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$445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$38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$181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$333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$465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$621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$685</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28000634"/>
                  </a:ext>
                </a:extLst>
              </a:tr>
              <a:tr h="228600">
                <a:tc>
                  <a:txBody>
                    <a:bodyPr/>
                    <a:lstStyle/>
                    <a:p>
                      <a:pPr algn="ctr" fontAlgn="b">
                        <a:buNone/>
                      </a:pPr>
                      <a:r>
                        <a:rPr lang="en-US" sz="1000" b="0" i="0" u="none" strike="noStrike">
                          <a:solidFill>
                            <a:srgbClr val="141414"/>
                          </a:solidFill>
                          <a:effectLst/>
                          <a:latin typeface="Avenir Next LT Pro" panose="020B0504020202020204" pitchFamily="34" charset="0"/>
                        </a:rPr>
                        <a:t>    % of sales</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12.2%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12.8%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11.9%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8.6%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0.9%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0.2%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3.6%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6.0%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7.6%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9.2%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9.2%</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15665071"/>
                  </a:ext>
                </a:extLst>
              </a:tr>
              <a:tr h="228600">
                <a:tc>
                  <a:txBody>
                    <a:bodyPr/>
                    <a:lstStyle/>
                    <a:p>
                      <a:pPr algn="ctr" fontAlgn="b">
                        <a:buNone/>
                      </a:pPr>
                      <a:r>
                        <a:rPr lang="en-US" sz="1000" b="0" i="0" u="none" strike="noStrike">
                          <a:solidFill>
                            <a:srgbClr val="141414"/>
                          </a:solidFill>
                          <a:effectLst/>
                          <a:latin typeface="Avenir Next LT Pro" panose="020B0504020202020204" pitchFamily="34" charset="0"/>
                        </a:rPr>
                        <a:t>EPS</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$0.01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$4.23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$5.07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$5.10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$3.58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$0.34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$0.11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$2.09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$4.06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$6.04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$8.26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$9.31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5668616"/>
                  </a:ext>
                </a:extLst>
              </a:tr>
              <a:tr h="228600">
                <a:tc>
                  <a:txBody>
                    <a:bodyPr/>
                    <a:lstStyle/>
                    <a:p>
                      <a:pPr algn="ctr" fontAlgn="b">
                        <a:buNone/>
                      </a:pPr>
                      <a:r>
                        <a:rPr lang="en-US" sz="1000" b="0" i="0" u="none" strike="noStrike">
                          <a:solidFill>
                            <a:srgbClr val="141414"/>
                          </a:solidFill>
                          <a:effectLst/>
                          <a:latin typeface="Avenir Next LT Pro" panose="020B0504020202020204" pitchFamily="34" charset="0"/>
                        </a:rPr>
                        <a:t>  Growth</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dirty="0">
                          <a:solidFill>
                            <a:srgbClr val="141414"/>
                          </a:solidFill>
                          <a:effectLst/>
                          <a:latin typeface="Avenir Next LT Pro" panose="020B0504020202020204" pitchFamily="34" charset="0"/>
                        </a:rPr>
                        <a:t>49770.2%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19.7%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0.6%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-29.8%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-90.4%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-67.2%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1751.6%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94.4%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48.8%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36.7%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141414"/>
                          </a:solidFill>
                          <a:effectLst/>
                          <a:latin typeface="Avenir Next LT Pro" panose="020B0504020202020204" pitchFamily="34" charset="0"/>
                        </a:rPr>
                        <a:t>12.7%</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918616070"/>
                  </a:ext>
                </a:extLst>
              </a:tr>
              <a:tr h="228600">
                <a:tc>
                  <a:txBody>
                    <a:bodyPr/>
                    <a:lstStyle/>
                    <a:p>
                      <a:pPr algn="ctr" fontAlgn="b">
                        <a:buNone/>
                      </a:pPr>
                      <a:r>
                        <a:rPr lang="en-US" sz="1000" b="0" i="0" u="none" strike="noStrike">
                          <a:solidFill>
                            <a:srgbClr val="141414"/>
                          </a:solidFill>
                          <a:effectLst/>
                          <a:latin typeface="Avenir Next LT Pro" panose="020B0504020202020204" pitchFamily="34" charset="0"/>
                        </a:rPr>
                        <a:t>Terminal P/E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dirty="0">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10.00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947075"/>
                  </a:ext>
                </a:extLst>
              </a:tr>
              <a:tr h="228600">
                <a:tc>
                  <a:txBody>
                    <a:bodyPr/>
                    <a:lstStyle/>
                    <a:p>
                      <a:pPr algn="ctr" fontAlgn="b">
                        <a:buNone/>
                      </a:pPr>
                      <a:r>
                        <a:rPr lang="en-US" sz="1000" b="0" i="0" u="none" strike="noStrike">
                          <a:solidFill>
                            <a:srgbClr val="141414"/>
                          </a:solidFill>
                          <a:effectLst/>
                          <a:latin typeface="Avenir Next LT Pro" panose="020B0504020202020204" pitchFamily="34" charset="0"/>
                        </a:rPr>
                        <a:t>* Terminal EPS</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$9.31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38219482"/>
                  </a:ext>
                </a:extLst>
              </a:tr>
              <a:tr h="228600">
                <a:tc>
                  <a:txBody>
                    <a:bodyPr/>
                    <a:lstStyle/>
                    <a:p>
                      <a:pPr algn="ctr" fontAlgn="b">
                        <a:buNone/>
                      </a:pPr>
                      <a:r>
                        <a:rPr lang="en-US" sz="1000" b="0" i="0" u="none" strike="noStrike">
                          <a:solidFill>
                            <a:srgbClr val="141414"/>
                          </a:solidFill>
                          <a:effectLst/>
                          <a:latin typeface="Avenir Next LT Pro" panose="020B0504020202020204" pitchFamily="34" charset="0"/>
                        </a:rPr>
                        <a:t>Terminal value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$93.09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93200764"/>
                  </a:ext>
                </a:extLst>
              </a:tr>
              <a:tr h="228600">
                <a:tc>
                  <a:txBody>
                    <a:bodyPr/>
                    <a:lstStyle/>
                    <a:p>
                      <a:pPr algn="ctr" fontAlgn="b">
                        <a:buNone/>
                      </a:pPr>
                      <a:r>
                        <a:rPr lang="en-US" sz="1000" b="0" i="0" u="none" strike="noStrike">
                          <a:solidFill>
                            <a:srgbClr val="141414"/>
                          </a:solidFill>
                          <a:effectLst/>
                          <a:latin typeface="Avenir Next LT Pro" panose="020B0504020202020204" pitchFamily="34" charset="0"/>
                        </a:rPr>
                        <a:t>* Discount factor</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dirty="0">
                          <a:solidFill>
                            <a:srgbClr val="141414"/>
                          </a:solidFill>
                          <a:effectLst/>
                          <a:latin typeface="Avenir Next LT Pro" panose="020B0504020202020204" pitchFamily="34" charset="0"/>
                        </a:rPr>
                        <a:t>0.60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19301773"/>
                  </a:ext>
                </a:extLst>
              </a:tr>
              <a:tr h="228600">
                <a:tc>
                  <a:txBody>
                    <a:bodyPr/>
                    <a:lstStyle/>
                    <a:p>
                      <a:pPr algn="ctr" fontAlgn="b">
                        <a:buNone/>
                      </a:pPr>
                      <a:r>
                        <a:rPr lang="en-US" sz="1000" b="0" i="0" u="none" strike="noStrike">
                          <a:solidFill>
                            <a:srgbClr val="141414"/>
                          </a:solidFill>
                          <a:effectLst/>
                          <a:latin typeface="Avenir Next LT Pro" panose="020B0504020202020204" pitchFamily="34" charset="0"/>
                        </a:rPr>
                        <a:t>Discounted terminal value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dirty="0">
                          <a:solidFill>
                            <a:srgbClr val="141414"/>
                          </a:solidFill>
                          <a:effectLst/>
                          <a:latin typeface="Avenir Next LT Pro" panose="020B0504020202020204" pitchFamily="34" charset="0"/>
                        </a:rPr>
                        <a:t>$55.78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48216123"/>
                  </a:ext>
                </a:extLst>
              </a:tr>
              <a:tr h="228600">
                <a:tc>
                  <a:txBody>
                    <a:bodyPr/>
                    <a:lstStyle/>
                    <a:p>
                      <a:pPr algn="ctr" fontAlgn="b">
                        <a:buNone/>
                      </a:pPr>
                      <a:r>
                        <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 First Stage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0" i="0" u="none" strike="noStrike">
                          <a:solidFill>
                            <a:srgbClr val="141414"/>
                          </a:solidFill>
                          <a:effectLst/>
                          <a:latin typeface="Avenir Next LT Pro" panose="020B0504020202020204" pitchFamily="34" charset="0"/>
                        </a:rPr>
                        <a:t>$12.21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36129115"/>
                  </a:ext>
                </a:extLst>
              </a:tr>
              <a:tr h="228600">
                <a:tc>
                  <a:txBody>
                    <a:bodyPr/>
                    <a:lstStyle/>
                    <a:p>
                      <a:pPr algn="ctr" fontAlgn="b">
                        <a:buNone/>
                      </a:pPr>
                      <a:r>
                        <a:rPr lang="en-US" sz="10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 Value P/E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000" b="1" i="0" u="none" strike="noStrike" dirty="0">
                          <a:solidFill>
                            <a:srgbClr val="141414"/>
                          </a:solidFill>
                          <a:effectLst/>
                          <a:latin typeface="Avenir Next LT Pro" panose="020B0504020202020204" pitchFamily="34" charset="0"/>
                        </a:rPr>
                        <a:t>$67.99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21455106"/>
                  </a:ext>
                </a:extLst>
              </a:tr>
            </a:tbl>
          </a:graphicData>
        </a:graphic>
      </p:graphicFrame>
      <p:grpSp>
        <p:nvGrpSpPr>
          <p:cNvPr id="32" name="Group 31">
            <a:extLst>
              <a:ext uri="{FF2B5EF4-FFF2-40B4-BE49-F238E27FC236}">
                <a16:creationId xmlns:a16="http://schemas.microsoft.com/office/drawing/2014/main" id="{F9B18145-04A6-5BB0-E903-A5CF7C85414F}"/>
              </a:ext>
            </a:extLst>
          </p:cNvPr>
          <p:cNvGrpSpPr/>
          <p:nvPr/>
        </p:nvGrpSpPr>
        <p:grpSpPr>
          <a:xfrm>
            <a:off x="695325" y="6302380"/>
            <a:ext cx="10429876" cy="265521"/>
            <a:chOff x="695325" y="6302380"/>
            <a:chExt cx="10429876" cy="265521"/>
          </a:xfrm>
        </p:grpSpPr>
        <p:sp>
          <p:nvSpPr>
            <p:cNvPr id="33" name="object 13">
              <a:extLst>
                <a:ext uri="{FF2B5EF4-FFF2-40B4-BE49-F238E27FC236}">
                  <a16:creationId xmlns:a16="http://schemas.microsoft.com/office/drawing/2014/main" id="{5150E41D-42B9-348E-D2D6-3A8557678392}"/>
                </a:ext>
              </a:extLst>
            </p:cNvPr>
            <p:cNvSpPr txBox="1"/>
            <p:nvPr/>
          </p:nvSpPr>
          <p:spPr>
            <a:xfrm>
              <a:off x="7699204" y="6334466"/>
              <a:ext cx="380813"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34" name="object 14">
              <a:extLst>
                <a:ext uri="{FF2B5EF4-FFF2-40B4-BE49-F238E27FC236}">
                  <a16:creationId xmlns:a16="http://schemas.microsoft.com/office/drawing/2014/main" id="{A441FE07-ABBF-35E0-4FDE-0939F64460C9}"/>
                </a:ext>
              </a:extLst>
            </p:cNvPr>
            <p:cNvSpPr txBox="1"/>
            <p:nvPr/>
          </p:nvSpPr>
          <p:spPr>
            <a:xfrm>
              <a:off x="8957749" y="6334466"/>
              <a:ext cx="42037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36" name="object 16">
              <a:extLst>
                <a:ext uri="{FF2B5EF4-FFF2-40B4-BE49-F238E27FC236}">
                  <a16:creationId xmlns:a16="http://schemas.microsoft.com/office/drawing/2014/main" id="{03EA7AD1-824D-D325-627C-09D7CBF1ACB3}"/>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37" name="object 37">
              <a:extLst>
                <a:ext uri="{FF2B5EF4-FFF2-40B4-BE49-F238E27FC236}">
                  <a16:creationId xmlns:a16="http://schemas.microsoft.com/office/drawing/2014/main" id="{35052AEA-379E-EA0C-6A0A-5DF908BB5DF6}"/>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38" name="object 39">
              <a:extLst>
                <a:ext uri="{FF2B5EF4-FFF2-40B4-BE49-F238E27FC236}">
                  <a16:creationId xmlns:a16="http://schemas.microsoft.com/office/drawing/2014/main" id="{85D42BBA-055D-03CA-759A-F061DBC21B63}"/>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39" name="object 40">
              <a:extLst>
                <a:ext uri="{FF2B5EF4-FFF2-40B4-BE49-F238E27FC236}">
                  <a16:creationId xmlns:a16="http://schemas.microsoft.com/office/drawing/2014/main" id="{EB077B01-30C5-0429-4F2C-D3EF4E299DAE}"/>
                </a:ext>
              </a:extLst>
            </p:cNvPr>
            <p:cNvSpPr txBox="1"/>
            <p:nvPr/>
          </p:nvSpPr>
          <p:spPr>
            <a:xfrm>
              <a:off x="4287374" y="6322739"/>
              <a:ext cx="978693"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40" name="object 41">
              <a:extLst>
                <a:ext uri="{FF2B5EF4-FFF2-40B4-BE49-F238E27FC236}">
                  <a16:creationId xmlns:a16="http://schemas.microsoft.com/office/drawing/2014/main" id="{FC9C20C1-3B42-BB62-51F0-552DF8CD5B23}"/>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Valuation</a:t>
              </a:r>
              <a:endParaRPr lang="en-US" sz="1401" b="1">
                <a:latin typeface="Avenir Next LT Pro" panose="020B0504020202020204" pitchFamily="34" charset="0"/>
                <a:cs typeface="Segoe UI"/>
              </a:endParaRPr>
            </a:p>
          </p:txBody>
        </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33C2B9F-12F2-9643-A70B-1891238AD2BE}"/>
                  </a:ext>
                </a:extLst>
              </p:cNvPr>
              <p:cNvSpPr txBox="1"/>
              <p:nvPr/>
            </p:nvSpPr>
            <p:spPr>
              <a:xfrm>
                <a:off x="-1002532" y="4783233"/>
                <a:ext cx="6865033" cy="276999"/>
              </a:xfrm>
              <a:prstGeom prst="rect">
                <a:avLst/>
              </a:prstGeom>
              <a:noFill/>
            </p:spPr>
            <p:txBody>
              <a:bodyPr wrap="square" rtlCol="0">
                <a:spAutoFit/>
              </a:bodyPr>
              <a:lstStyle/>
              <a:p>
                <a:pPr algn="ctr"/>
                <a14:m>
                  <m:oMath xmlns:m="http://schemas.openxmlformats.org/officeDocument/2006/math">
                    <m:sSub>
                      <m:sSubPr>
                        <m:ctrlPr>
                          <a:rPr lang="en-US" sz="1200" b="0" i="1" smtClean="0">
                            <a:solidFill>
                              <a:schemeClr val="accent2">
                                <a:lumMod val="75000"/>
                              </a:schemeClr>
                            </a:solidFill>
                            <a:latin typeface="Cambria Math" panose="02040503050406030204" pitchFamily="18" charset="0"/>
                          </a:rPr>
                        </m:ctrlPr>
                      </m:sSubPr>
                      <m:e>
                        <m:r>
                          <a:rPr lang="en-US" sz="1200" b="0" i="1" smtClean="0">
                            <a:solidFill>
                              <a:schemeClr val="tx1">
                                <a:lumMod val="95000"/>
                                <a:lumOff val="5000"/>
                              </a:schemeClr>
                            </a:solidFill>
                            <a:latin typeface="Cambria Math" panose="02040503050406030204" pitchFamily="18" charset="0"/>
                          </a:rPr>
                          <m:t>𝑃𝑉</m:t>
                        </m:r>
                        <m:d>
                          <m:dPr>
                            <m:ctrlPr>
                              <a:rPr lang="en-US" sz="1200" b="0" i="1" smtClean="0">
                                <a:solidFill>
                                  <a:schemeClr val="tx1">
                                    <a:lumMod val="95000"/>
                                    <a:lumOff val="5000"/>
                                  </a:schemeClr>
                                </a:solidFill>
                                <a:latin typeface="Cambria Math" panose="02040503050406030204" pitchFamily="18" charset="0"/>
                              </a:rPr>
                            </m:ctrlPr>
                          </m:dPr>
                          <m:e>
                            <m:sSub>
                              <m:sSubPr>
                                <m:ctrlPr>
                                  <a:rPr lang="en-US" sz="1200" b="0" i="1" smtClean="0">
                                    <a:solidFill>
                                      <a:schemeClr val="tx1">
                                        <a:lumMod val="95000"/>
                                        <a:lumOff val="5000"/>
                                      </a:schemeClr>
                                    </a:solidFill>
                                    <a:latin typeface="Cambria Math" panose="02040503050406030204" pitchFamily="18" charset="0"/>
                                  </a:rPr>
                                </m:ctrlPr>
                              </m:sSubPr>
                              <m:e>
                                <m:r>
                                  <a:rPr lang="en-US" sz="1200" b="0" i="1" smtClean="0">
                                    <a:solidFill>
                                      <a:schemeClr val="tx1">
                                        <a:lumMod val="95000"/>
                                        <a:lumOff val="5000"/>
                                      </a:schemeClr>
                                    </a:solidFill>
                                    <a:latin typeface="Cambria Math" panose="02040503050406030204" pitchFamily="18" charset="0"/>
                                  </a:rPr>
                                  <m:t>𝐹𝐶𝐹𝐸</m:t>
                                </m:r>
                              </m:e>
                              <m:sub>
                                <m:r>
                                  <a:rPr lang="en-US" sz="1200" b="0" i="1" smtClean="0">
                                    <a:solidFill>
                                      <a:schemeClr val="tx1">
                                        <a:lumMod val="95000"/>
                                        <a:lumOff val="5000"/>
                                      </a:schemeClr>
                                    </a:solidFill>
                                    <a:latin typeface="Cambria Math" panose="02040503050406030204" pitchFamily="18" charset="0"/>
                                  </a:rPr>
                                  <m:t>1</m:t>
                                </m:r>
                                <m:r>
                                  <a:rPr lang="en-US" sz="1200" b="0" i="1" smtClean="0">
                                    <a:solidFill>
                                      <a:schemeClr val="tx1">
                                        <a:lumMod val="95000"/>
                                        <a:lumOff val="5000"/>
                                      </a:schemeClr>
                                    </a:solidFill>
                                    <a:latin typeface="Cambria Math" panose="02040503050406030204" pitchFamily="18" charset="0"/>
                                    <a:ea typeface="Cambria Math" panose="02040503050406030204" pitchFamily="18" charset="0"/>
                                  </a:rPr>
                                  <m:t>→6</m:t>
                                </m:r>
                              </m:sub>
                            </m:sSub>
                          </m:e>
                        </m:d>
                        <m:r>
                          <a:rPr lang="en-US" sz="1200" b="0" i="1" smtClean="0">
                            <a:solidFill>
                              <a:schemeClr val="tx1">
                                <a:lumMod val="95000"/>
                                <a:lumOff val="5000"/>
                              </a:schemeClr>
                            </a:solidFill>
                            <a:latin typeface="Cambria Math" panose="02040503050406030204" pitchFamily="18" charset="0"/>
                          </a:rPr>
                          <m:t>+</m:t>
                        </m:r>
                        <m:r>
                          <a:rPr lang="en-US" sz="1200" b="0" i="1" smtClean="0">
                            <a:solidFill>
                              <a:schemeClr val="accent2">
                                <a:lumMod val="75000"/>
                              </a:schemeClr>
                            </a:solidFill>
                            <a:latin typeface="Cambria Math" panose="02040503050406030204" pitchFamily="18" charset="0"/>
                          </a:rPr>
                          <m:t>𝑃𝑉</m:t>
                        </m:r>
                        <m:r>
                          <a:rPr lang="en-US" sz="1200" b="0" i="1" smtClean="0">
                            <a:solidFill>
                              <a:schemeClr val="accent2">
                                <a:lumMod val="75000"/>
                              </a:schemeClr>
                            </a:solidFill>
                            <a:latin typeface="Cambria Math" panose="02040503050406030204" pitchFamily="18" charset="0"/>
                          </a:rPr>
                          <m:t>(</m:t>
                        </m:r>
                        <m:r>
                          <a:rPr lang="en-US" sz="1200" b="0" i="1" smtClean="0">
                            <a:solidFill>
                              <a:schemeClr val="accent2">
                                <a:lumMod val="75000"/>
                              </a:schemeClr>
                            </a:solidFill>
                            <a:latin typeface="Cambria Math" panose="02040503050406030204" pitchFamily="18" charset="0"/>
                          </a:rPr>
                          <m:t>𝐸𝑃𝑆</m:t>
                        </m:r>
                      </m:e>
                      <m:sub>
                        <m:r>
                          <a:rPr lang="en-US" sz="1200" b="0" i="1" smtClean="0">
                            <a:solidFill>
                              <a:schemeClr val="accent2">
                                <a:lumMod val="75000"/>
                              </a:schemeClr>
                            </a:solidFill>
                            <a:latin typeface="Cambria Math" panose="02040503050406030204" pitchFamily="18" charset="0"/>
                          </a:rPr>
                          <m:t>6</m:t>
                        </m:r>
                      </m:sub>
                    </m:sSub>
                  </m:oMath>
                </a14:m>
                <a:r>
                  <a:rPr lang="en-US" sz="1200">
                    <a:solidFill>
                      <a:schemeClr val="accent2">
                        <a:lumMod val="75000"/>
                      </a:schemeClr>
                    </a:solidFill>
                    <a:latin typeface="Avenir Next LT Pro" panose="020B0504020202020204" pitchFamily="34" charset="0"/>
                  </a:rPr>
                  <a:t>*</a:t>
                </a:r>
                <a14:m>
                  <m:oMath xmlns:m="http://schemas.openxmlformats.org/officeDocument/2006/math">
                    <m:sSub>
                      <m:sSubPr>
                        <m:ctrlPr>
                          <a:rPr lang="en-US" sz="1200" i="1" dirty="0" smtClean="0">
                            <a:solidFill>
                              <a:schemeClr val="accent2">
                                <a:lumMod val="75000"/>
                              </a:schemeClr>
                            </a:solidFill>
                            <a:latin typeface="Cambria Math" panose="02040503050406030204" pitchFamily="18" charset="0"/>
                          </a:rPr>
                        </m:ctrlPr>
                      </m:sSubPr>
                      <m:e>
                        <m:r>
                          <a:rPr lang="en-US" sz="1200" b="0" i="1" dirty="0" smtClean="0">
                            <a:solidFill>
                              <a:schemeClr val="accent2">
                                <a:lumMod val="75000"/>
                              </a:schemeClr>
                            </a:solidFill>
                            <a:latin typeface="Cambria Math" panose="02040503050406030204" pitchFamily="18" charset="0"/>
                          </a:rPr>
                          <m:t>𝑃𝐸</m:t>
                        </m:r>
                      </m:e>
                      <m:sub>
                        <m:r>
                          <a:rPr lang="en-US" sz="1200" b="0" i="1" dirty="0" smtClean="0">
                            <a:solidFill>
                              <a:schemeClr val="accent2">
                                <a:lumMod val="75000"/>
                              </a:schemeClr>
                            </a:solidFill>
                            <a:latin typeface="Cambria Math" panose="02040503050406030204" pitchFamily="18" charset="0"/>
                          </a:rPr>
                          <m:t>6</m:t>
                        </m:r>
                      </m:sub>
                    </m:sSub>
                  </m:oMath>
                </a14:m>
                <a:r>
                  <a:rPr lang="en-US" sz="1200">
                    <a:solidFill>
                      <a:schemeClr val="accent2">
                        <a:lumMod val="75000"/>
                      </a:schemeClr>
                    </a:solidFill>
                    <a:latin typeface="Avenir Next LT Pro" panose="020B0504020202020204" pitchFamily="34" charset="0"/>
                  </a:rPr>
                  <a:t>) </a:t>
                </a:r>
                <a:r>
                  <a:rPr lang="en-US" sz="1200">
                    <a:solidFill>
                      <a:schemeClr val="tx1">
                        <a:lumMod val="95000"/>
                        <a:lumOff val="5000"/>
                      </a:schemeClr>
                    </a:solidFill>
                    <a:latin typeface="Avenir Next LT Pro" panose="020B0504020202020204" pitchFamily="34" charset="0"/>
                  </a:rPr>
                  <a:t>= V</a:t>
                </a:r>
              </a:p>
            </p:txBody>
          </p:sp>
        </mc:Choice>
        <mc:Fallback xmlns="">
          <p:sp>
            <p:nvSpPr>
              <p:cNvPr id="41" name="TextBox 40">
                <a:extLst>
                  <a:ext uri="{FF2B5EF4-FFF2-40B4-BE49-F238E27FC236}">
                    <a16:creationId xmlns:a16="http://schemas.microsoft.com/office/drawing/2014/main" id="{833C2B9F-12F2-9643-A70B-1891238AD2BE}"/>
                  </a:ext>
                </a:extLst>
              </p:cNvPr>
              <p:cNvSpPr txBox="1">
                <a:spLocks noRot="1" noChangeAspect="1" noMove="1" noResize="1" noEditPoints="1" noAdjustHandles="1" noChangeArrowheads="1" noChangeShapeType="1" noTextEdit="1"/>
              </p:cNvSpPr>
              <p:nvPr/>
            </p:nvSpPr>
            <p:spPr>
              <a:xfrm>
                <a:off x="-1002532" y="4783233"/>
                <a:ext cx="6865033" cy="276999"/>
              </a:xfrm>
              <a:prstGeom prst="rect">
                <a:avLst/>
              </a:prstGeom>
              <a:blipFill>
                <a:blip r:embed="rId8"/>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E7FCFF-F963-4878-6D7D-D7A09DFCFD51}"/>
                  </a:ext>
                </a:extLst>
              </p:cNvPr>
              <p:cNvSpPr txBox="1"/>
              <p:nvPr/>
            </p:nvSpPr>
            <p:spPr>
              <a:xfrm>
                <a:off x="-3353376" y="4425472"/>
                <a:ext cx="11353800" cy="276999"/>
              </a:xfrm>
              <a:prstGeom prst="rect">
                <a:avLst/>
              </a:prstGeom>
              <a:noFill/>
            </p:spPr>
            <p:txBody>
              <a:bodyPr wrap="square" rtlCol="0">
                <a:spAutoFit/>
              </a:bodyPr>
              <a:lstStyle/>
              <a:p>
                <a:pPr algn="ctr"/>
                <a14:m>
                  <m:oMath xmlns:m="http://schemas.openxmlformats.org/officeDocument/2006/math">
                    <m:sSup>
                      <m:sSupPr>
                        <m:ctrlPr>
                          <a:rPr lang="en-US" sz="1200" i="1" dirty="0" smtClean="0">
                            <a:solidFill>
                              <a:schemeClr val="tx1">
                                <a:lumMod val="95000"/>
                                <a:lumOff val="5000"/>
                              </a:schemeClr>
                            </a:solidFill>
                            <a:latin typeface="Cambria Math" panose="02040503050406030204" pitchFamily="18" charset="0"/>
                          </a:rPr>
                        </m:ctrlPr>
                      </m:sSupPr>
                      <m:e>
                        <m:r>
                          <a:rPr lang="en-US" sz="1200" i="1" dirty="0">
                            <a:solidFill>
                              <a:schemeClr val="tx1">
                                <a:lumMod val="95000"/>
                                <a:lumOff val="5000"/>
                              </a:schemeClr>
                            </a:solidFill>
                            <a:latin typeface="Cambria Math" panose="02040503050406030204" pitchFamily="18" charset="0"/>
                          </a:rPr>
                          <m:t>(</m:t>
                        </m:r>
                        <m:r>
                          <a:rPr lang="en-US" sz="1200" b="0" i="1" dirty="0" smtClean="0">
                            <a:solidFill>
                              <a:schemeClr val="tx1">
                                <a:lumMod val="95000"/>
                                <a:lumOff val="5000"/>
                              </a:schemeClr>
                            </a:solidFill>
                            <a:latin typeface="Cambria Math" panose="02040503050406030204" pitchFamily="18" charset="0"/>
                          </a:rPr>
                          <m:t>𝐹𝐶𝐹𝐸</m:t>
                        </m:r>
                        <m:r>
                          <a:rPr lang="en-US" sz="1200" b="0" i="1" baseline="-25000" dirty="0" smtClean="0">
                            <a:solidFill>
                              <a:schemeClr val="tx1">
                                <a:lumMod val="95000"/>
                                <a:lumOff val="5000"/>
                              </a:schemeClr>
                            </a:solidFill>
                            <a:latin typeface="Cambria Math" panose="02040503050406030204" pitchFamily="18" charset="0"/>
                          </a:rPr>
                          <m:t>1</m:t>
                        </m:r>
                        <m:r>
                          <a:rPr lang="en-US" sz="1200" b="0" i="1" dirty="0" smtClean="0">
                            <a:solidFill>
                              <a:schemeClr val="tx1">
                                <a:lumMod val="95000"/>
                                <a:lumOff val="5000"/>
                              </a:schemeClr>
                            </a:solidFill>
                            <a:latin typeface="Cambria Math" panose="02040503050406030204" pitchFamily="18" charset="0"/>
                          </a:rPr>
                          <m:t>/(1+</m:t>
                        </m:r>
                        <m:r>
                          <a:rPr lang="en-US" sz="1200" b="0" i="1" dirty="0" smtClean="0">
                            <a:solidFill>
                              <a:schemeClr val="tx1">
                                <a:lumMod val="95000"/>
                                <a:lumOff val="5000"/>
                              </a:schemeClr>
                            </a:solidFill>
                            <a:latin typeface="Cambria Math" panose="02040503050406030204" pitchFamily="18" charset="0"/>
                          </a:rPr>
                          <m:t>𝑟</m:t>
                        </m:r>
                        <m:r>
                          <a:rPr lang="en-US" sz="1200" i="1" dirty="0">
                            <a:solidFill>
                              <a:schemeClr val="tx1">
                                <a:lumMod val="95000"/>
                                <a:lumOff val="5000"/>
                              </a:schemeClr>
                            </a:solidFill>
                            <a:latin typeface="Cambria Math" panose="02040503050406030204" pitchFamily="18" charset="0"/>
                          </a:rPr>
                          <m:t>)</m:t>
                        </m:r>
                      </m:e>
                      <m:sup>
                        <m:r>
                          <a:rPr lang="en-US" sz="1200" i="1" dirty="0">
                            <a:solidFill>
                              <a:schemeClr val="tx1">
                                <a:lumMod val="95000"/>
                                <a:lumOff val="5000"/>
                              </a:schemeClr>
                            </a:solidFill>
                            <a:latin typeface="Cambria Math" panose="02040503050406030204" pitchFamily="18" charset="0"/>
                          </a:rPr>
                          <m:t>1</m:t>
                        </m:r>
                      </m:sup>
                    </m:sSup>
                  </m:oMath>
                </a14:m>
                <a:r>
                  <a:rPr lang="en-US" sz="1200" dirty="0">
                    <a:solidFill>
                      <a:schemeClr val="tx1">
                        <a:lumMod val="95000"/>
                        <a:lumOff val="5000"/>
                      </a:schemeClr>
                    </a:solidFill>
                    <a:latin typeface="Avenir Next LT Pro" panose="020B0504020202020204" pitchFamily="34" charset="0"/>
                  </a:rPr>
                  <a:t> + …</a:t>
                </a:r>
                <a14:m>
                  <m:oMath xmlns:m="http://schemas.openxmlformats.org/officeDocument/2006/math">
                    <m:sSup>
                      <m:sSupPr>
                        <m:ctrlPr>
                          <a:rPr lang="en-US" sz="1200" i="1" dirty="0" smtClean="0">
                            <a:solidFill>
                              <a:schemeClr val="tx1">
                                <a:lumMod val="95000"/>
                                <a:lumOff val="5000"/>
                              </a:schemeClr>
                            </a:solidFill>
                            <a:latin typeface="Cambria Math" panose="02040503050406030204" pitchFamily="18" charset="0"/>
                          </a:rPr>
                        </m:ctrlPr>
                      </m:sSupPr>
                      <m:e>
                        <m:sSub>
                          <m:sSubPr>
                            <m:ctrlPr>
                              <a:rPr lang="en-US" sz="1200" i="1" dirty="0" smtClean="0">
                                <a:solidFill>
                                  <a:schemeClr val="tx1">
                                    <a:lumMod val="95000"/>
                                    <a:lumOff val="5000"/>
                                  </a:schemeClr>
                                </a:solidFill>
                                <a:latin typeface="Cambria Math" panose="02040503050406030204" pitchFamily="18" charset="0"/>
                              </a:rPr>
                            </m:ctrlPr>
                          </m:sSubPr>
                          <m:e>
                            <m:r>
                              <a:rPr lang="en-US" sz="1200" b="0" i="1" dirty="0" smtClean="0">
                                <a:solidFill>
                                  <a:schemeClr val="tx1">
                                    <a:lumMod val="95000"/>
                                    <a:lumOff val="5000"/>
                                  </a:schemeClr>
                                </a:solidFill>
                                <a:latin typeface="Cambria Math" panose="02040503050406030204" pitchFamily="18" charset="0"/>
                              </a:rPr>
                              <m:t>(</m:t>
                            </m:r>
                            <m:r>
                              <a:rPr lang="en-US" sz="1200" b="0" i="1" dirty="0" smtClean="0">
                                <a:solidFill>
                                  <a:schemeClr val="tx1">
                                    <a:lumMod val="95000"/>
                                    <a:lumOff val="5000"/>
                                  </a:schemeClr>
                                </a:solidFill>
                                <a:latin typeface="Cambria Math" panose="02040503050406030204" pitchFamily="18" charset="0"/>
                              </a:rPr>
                              <m:t>𝐹𝐶𝐹𝐸</m:t>
                            </m:r>
                          </m:e>
                          <m:sub>
                            <m:r>
                              <a:rPr lang="en-US" sz="1200" b="0" i="1" dirty="0" smtClean="0">
                                <a:solidFill>
                                  <a:schemeClr val="tx1">
                                    <a:lumMod val="95000"/>
                                    <a:lumOff val="5000"/>
                                  </a:schemeClr>
                                </a:solidFill>
                                <a:latin typeface="Cambria Math" panose="02040503050406030204" pitchFamily="18" charset="0"/>
                              </a:rPr>
                              <m:t>6</m:t>
                            </m:r>
                          </m:sub>
                        </m:sSub>
                        <m:r>
                          <a:rPr lang="en-US" sz="1200" i="1" dirty="0">
                            <a:solidFill>
                              <a:schemeClr val="tx1">
                                <a:lumMod val="95000"/>
                                <a:lumOff val="5000"/>
                              </a:schemeClr>
                            </a:solidFill>
                            <a:latin typeface="Cambria Math" panose="02040503050406030204" pitchFamily="18" charset="0"/>
                          </a:rPr>
                          <m:t>/(1</m:t>
                        </m:r>
                        <m:r>
                          <a:rPr lang="en-US" sz="1200" b="0" i="1" dirty="0" smtClean="0">
                            <a:solidFill>
                              <a:schemeClr val="tx1">
                                <a:lumMod val="95000"/>
                                <a:lumOff val="5000"/>
                              </a:schemeClr>
                            </a:solidFill>
                            <a:latin typeface="Cambria Math" panose="02040503050406030204" pitchFamily="18" charset="0"/>
                          </a:rPr>
                          <m:t>+</m:t>
                        </m:r>
                        <m:r>
                          <a:rPr lang="en-US" sz="1200" i="1" dirty="0">
                            <a:solidFill>
                              <a:schemeClr val="tx1">
                                <a:lumMod val="95000"/>
                                <a:lumOff val="5000"/>
                              </a:schemeClr>
                            </a:solidFill>
                            <a:latin typeface="Cambria Math" panose="02040503050406030204" pitchFamily="18" charset="0"/>
                          </a:rPr>
                          <m:t>𝑟</m:t>
                        </m:r>
                        <m:r>
                          <a:rPr lang="en-US" sz="1200" i="1" dirty="0">
                            <a:solidFill>
                              <a:schemeClr val="tx1">
                                <a:lumMod val="95000"/>
                                <a:lumOff val="5000"/>
                              </a:schemeClr>
                            </a:solidFill>
                            <a:latin typeface="Cambria Math" panose="02040503050406030204" pitchFamily="18" charset="0"/>
                          </a:rPr>
                          <m:t>)</m:t>
                        </m:r>
                      </m:e>
                      <m:sup>
                        <m:r>
                          <a:rPr lang="en-US" sz="1200" b="0" i="1" dirty="0" smtClean="0">
                            <a:solidFill>
                              <a:schemeClr val="tx1">
                                <a:lumMod val="95000"/>
                                <a:lumOff val="5000"/>
                              </a:schemeClr>
                            </a:solidFill>
                            <a:latin typeface="Cambria Math" panose="02040503050406030204" pitchFamily="18" charset="0"/>
                          </a:rPr>
                          <m:t>6</m:t>
                        </m:r>
                      </m:sup>
                    </m:sSup>
                  </m:oMath>
                </a14:m>
                <a:r>
                  <a:rPr lang="en-US" sz="1200" dirty="0">
                    <a:solidFill>
                      <a:schemeClr val="tx1">
                        <a:lumMod val="95000"/>
                        <a:lumOff val="5000"/>
                      </a:schemeClr>
                    </a:solidFill>
                    <a:latin typeface="Avenir Next LT Pro" panose="020B0504020202020204" pitchFamily="34" charset="0"/>
                  </a:rPr>
                  <a:t> ) +</a:t>
                </a:r>
                <a:r>
                  <a:rPr lang="en-US" sz="1200" dirty="0">
                    <a:solidFill>
                      <a:schemeClr val="accent2">
                        <a:lumMod val="75000"/>
                      </a:schemeClr>
                    </a:solidFill>
                    <a:latin typeface="Avenir Next LT Pro" panose="020B0504020202020204" pitchFamily="34" charset="0"/>
                  </a:rPr>
                  <a:t>(</a:t>
                </a:r>
                <a14:m>
                  <m:oMath xmlns:m="http://schemas.openxmlformats.org/officeDocument/2006/math">
                    <m:sSub>
                      <m:sSubPr>
                        <m:ctrlPr>
                          <a:rPr lang="en-US" sz="1200" i="1" dirty="0">
                            <a:solidFill>
                              <a:schemeClr val="accent2">
                                <a:lumMod val="75000"/>
                              </a:schemeClr>
                            </a:solidFill>
                            <a:latin typeface="Cambria Math" panose="02040503050406030204" pitchFamily="18" charset="0"/>
                          </a:rPr>
                        </m:ctrlPr>
                      </m:sSubPr>
                      <m:e>
                        <m:r>
                          <a:rPr lang="en-US" sz="1200" b="0" i="1" dirty="0" smtClean="0">
                            <a:solidFill>
                              <a:schemeClr val="accent2">
                                <a:lumMod val="75000"/>
                              </a:schemeClr>
                            </a:solidFill>
                            <a:latin typeface="Cambria Math" panose="02040503050406030204" pitchFamily="18" charset="0"/>
                          </a:rPr>
                          <m:t>(</m:t>
                        </m:r>
                        <m:r>
                          <a:rPr lang="en-US" sz="1200" i="1" dirty="0">
                            <a:solidFill>
                              <a:schemeClr val="accent2">
                                <a:lumMod val="75000"/>
                              </a:schemeClr>
                            </a:solidFill>
                            <a:latin typeface="Cambria Math" panose="02040503050406030204" pitchFamily="18" charset="0"/>
                          </a:rPr>
                          <m:t>𝐸𝑃𝑆</m:t>
                        </m:r>
                      </m:e>
                      <m:sub>
                        <m:r>
                          <a:rPr lang="en-US" sz="1200" b="0" i="1" dirty="0" smtClean="0">
                            <a:solidFill>
                              <a:schemeClr val="accent2">
                                <a:lumMod val="75000"/>
                              </a:schemeClr>
                            </a:solidFill>
                            <a:latin typeface="Cambria Math" panose="02040503050406030204" pitchFamily="18" charset="0"/>
                          </a:rPr>
                          <m:t>6</m:t>
                        </m:r>
                      </m:sub>
                    </m:sSub>
                  </m:oMath>
                </a14:m>
                <a:r>
                  <a:rPr lang="en-US" sz="1200" dirty="0">
                    <a:solidFill>
                      <a:schemeClr val="accent2">
                        <a:lumMod val="75000"/>
                      </a:schemeClr>
                    </a:solidFill>
                    <a:latin typeface="Avenir Next LT Pro" panose="020B0504020202020204" pitchFamily="34" charset="0"/>
                  </a:rPr>
                  <a:t>*</a:t>
                </a:r>
                <a14:m>
                  <m:oMath xmlns:m="http://schemas.openxmlformats.org/officeDocument/2006/math">
                    <m:sSub>
                      <m:sSubPr>
                        <m:ctrlPr>
                          <a:rPr lang="en-US" sz="1200" i="1" smtClean="0">
                            <a:solidFill>
                              <a:schemeClr val="accent2">
                                <a:lumMod val="75000"/>
                              </a:schemeClr>
                            </a:solidFill>
                            <a:latin typeface="Cambria Math" panose="02040503050406030204" pitchFamily="18" charset="0"/>
                          </a:rPr>
                        </m:ctrlPr>
                      </m:sSubPr>
                      <m:e>
                        <m:r>
                          <a:rPr lang="en-US" sz="1200" b="0" i="1" smtClean="0">
                            <a:solidFill>
                              <a:schemeClr val="accent2">
                                <a:lumMod val="75000"/>
                              </a:schemeClr>
                            </a:solidFill>
                            <a:latin typeface="Cambria Math" panose="02040503050406030204" pitchFamily="18" charset="0"/>
                          </a:rPr>
                          <m:t>𝑃𝐸</m:t>
                        </m:r>
                      </m:e>
                      <m:sub>
                        <m:r>
                          <a:rPr lang="en-US" sz="1200" b="0" i="1" smtClean="0">
                            <a:solidFill>
                              <a:schemeClr val="accent2">
                                <a:lumMod val="75000"/>
                              </a:schemeClr>
                            </a:solidFill>
                            <a:latin typeface="Cambria Math" panose="02040503050406030204" pitchFamily="18" charset="0"/>
                          </a:rPr>
                          <m:t>6</m:t>
                        </m:r>
                      </m:sub>
                    </m:sSub>
                  </m:oMath>
                </a14:m>
                <a:r>
                  <a:rPr lang="en-US" sz="1200" dirty="0">
                    <a:solidFill>
                      <a:schemeClr val="accent2">
                        <a:lumMod val="75000"/>
                      </a:schemeClr>
                    </a:solidFill>
                    <a:latin typeface="Avenir Next LT Pro" panose="020B0504020202020204" pitchFamily="34" charset="0"/>
                  </a:rPr>
                  <a:t>)</a:t>
                </a:r>
                <a:r>
                  <a:rPr lang="en-US" sz="1200" dirty="0">
                    <a:solidFill>
                      <a:schemeClr val="accent2">
                        <a:lumMod val="75000"/>
                      </a:schemeClr>
                    </a:solidFill>
                  </a:rPr>
                  <a:t> </a:t>
                </a:r>
                <a14:m>
                  <m:oMath xmlns:m="http://schemas.openxmlformats.org/officeDocument/2006/math">
                    <m:sSup>
                      <m:sSupPr>
                        <m:ctrlPr>
                          <a:rPr lang="en-US" sz="1200" i="1" dirty="0">
                            <a:solidFill>
                              <a:schemeClr val="accent2">
                                <a:lumMod val="75000"/>
                              </a:schemeClr>
                            </a:solidFill>
                            <a:latin typeface="Cambria Math" panose="02040503050406030204" pitchFamily="18" charset="0"/>
                          </a:rPr>
                        </m:ctrlPr>
                      </m:sSupPr>
                      <m:e>
                        <m:r>
                          <a:rPr lang="en-US" sz="1200" b="0" i="1" dirty="0" smtClean="0">
                            <a:solidFill>
                              <a:schemeClr val="accent2">
                                <a:lumMod val="75000"/>
                              </a:schemeClr>
                            </a:solidFill>
                            <a:latin typeface="Cambria Math" panose="02040503050406030204" pitchFamily="18" charset="0"/>
                          </a:rPr>
                          <m:t>/</m:t>
                        </m:r>
                        <m:r>
                          <a:rPr lang="en-US" sz="1200" i="1" dirty="0">
                            <a:solidFill>
                              <a:schemeClr val="accent2">
                                <a:lumMod val="75000"/>
                              </a:schemeClr>
                            </a:solidFill>
                            <a:latin typeface="Cambria Math" panose="02040503050406030204" pitchFamily="18" charset="0"/>
                          </a:rPr>
                          <m:t>(1</m:t>
                        </m:r>
                        <m:r>
                          <a:rPr lang="en-US" sz="1200" b="0" i="1" dirty="0" smtClean="0">
                            <a:solidFill>
                              <a:schemeClr val="accent2">
                                <a:lumMod val="75000"/>
                              </a:schemeClr>
                            </a:solidFill>
                            <a:latin typeface="Cambria Math" panose="02040503050406030204" pitchFamily="18" charset="0"/>
                          </a:rPr>
                          <m:t>+</m:t>
                        </m:r>
                        <m:r>
                          <a:rPr lang="en-US" sz="1200" i="1" dirty="0">
                            <a:solidFill>
                              <a:schemeClr val="accent2">
                                <a:lumMod val="75000"/>
                              </a:schemeClr>
                            </a:solidFill>
                            <a:latin typeface="Cambria Math" panose="02040503050406030204" pitchFamily="18" charset="0"/>
                          </a:rPr>
                          <m:t>𝑟</m:t>
                        </m:r>
                        <m:r>
                          <a:rPr lang="en-US" sz="1200" i="1" dirty="0">
                            <a:solidFill>
                              <a:schemeClr val="accent2">
                                <a:lumMod val="75000"/>
                              </a:schemeClr>
                            </a:solidFill>
                            <a:latin typeface="Cambria Math" panose="02040503050406030204" pitchFamily="18" charset="0"/>
                          </a:rPr>
                          <m:t>)</m:t>
                        </m:r>
                      </m:e>
                      <m:sup>
                        <m:r>
                          <a:rPr lang="en-US" sz="1200" b="0" i="1" dirty="0" smtClean="0">
                            <a:solidFill>
                              <a:schemeClr val="accent2">
                                <a:lumMod val="75000"/>
                              </a:schemeClr>
                            </a:solidFill>
                            <a:latin typeface="Cambria Math" panose="02040503050406030204" pitchFamily="18" charset="0"/>
                          </a:rPr>
                          <m:t>6</m:t>
                        </m:r>
                      </m:sup>
                    </m:sSup>
                  </m:oMath>
                </a14:m>
                <a:r>
                  <a:rPr lang="en-US" sz="1200" dirty="0">
                    <a:solidFill>
                      <a:schemeClr val="accent2">
                        <a:lumMod val="75000"/>
                      </a:schemeClr>
                    </a:solidFill>
                    <a:latin typeface="Avenir Next LT Pro" panose="020B0504020202020204" pitchFamily="34" charset="0"/>
                  </a:rPr>
                  <a:t> ) </a:t>
                </a:r>
                <a:r>
                  <a:rPr lang="en-US" sz="1200" dirty="0">
                    <a:solidFill>
                      <a:schemeClr val="tx1">
                        <a:lumMod val="95000"/>
                        <a:lumOff val="5000"/>
                      </a:schemeClr>
                    </a:solidFill>
                    <a:latin typeface="Avenir Next LT Pro" panose="020B0504020202020204" pitchFamily="34" charset="0"/>
                  </a:rPr>
                  <a:t>= V</a:t>
                </a:r>
              </a:p>
            </p:txBody>
          </p:sp>
        </mc:Choice>
        <mc:Fallback xmlns="">
          <p:sp>
            <p:nvSpPr>
              <p:cNvPr id="42" name="TextBox 41">
                <a:extLst>
                  <a:ext uri="{FF2B5EF4-FFF2-40B4-BE49-F238E27FC236}">
                    <a16:creationId xmlns:a16="http://schemas.microsoft.com/office/drawing/2014/main" id="{39E7FCFF-F963-4878-6D7D-D7A09DFCFD51}"/>
                  </a:ext>
                </a:extLst>
              </p:cNvPr>
              <p:cNvSpPr txBox="1">
                <a:spLocks noRot="1" noChangeAspect="1" noMove="1" noResize="1" noEditPoints="1" noAdjustHandles="1" noChangeArrowheads="1" noChangeShapeType="1" noTextEdit="1"/>
              </p:cNvSpPr>
              <p:nvPr/>
            </p:nvSpPr>
            <p:spPr>
              <a:xfrm>
                <a:off x="-3353376" y="4425472"/>
                <a:ext cx="11353800" cy="276999"/>
              </a:xfrm>
              <a:prstGeom prst="rect">
                <a:avLst/>
              </a:prstGeom>
              <a:blipFill>
                <a:blip r:embed="rId9"/>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8EE3AE6-4B5B-A836-6946-5C548DECB5B4}"/>
                  </a:ext>
                </a:extLst>
              </p:cNvPr>
              <p:cNvSpPr txBox="1"/>
              <p:nvPr/>
            </p:nvSpPr>
            <p:spPr>
              <a:xfrm>
                <a:off x="-1015233" y="5119480"/>
                <a:ext cx="6865033" cy="276999"/>
              </a:xfrm>
              <a:prstGeom prst="rect">
                <a:avLst/>
              </a:prstGeom>
              <a:noFill/>
            </p:spPr>
            <p:txBody>
              <a:bodyPr wrap="square" rtlCol="0">
                <a:spAutoFit/>
              </a:bodyPr>
              <a:lstStyle/>
              <a:p>
                <a:pPr algn="ctr"/>
                <a14:m>
                  <m:oMath xmlns:m="http://schemas.openxmlformats.org/officeDocument/2006/math">
                    <m:r>
                      <a:rPr lang="en-US" sz="1200" b="0" i="1" smtClean="0">
                        <a:solidFill>
                          <a:schemeClr val="tx1">
                            <a:lumMod val="95000"/>
                            <a:lumOff val="5000"/>
                          </a:schemeClr>
                        </a:solidFill>
                        <a:latin typeface="Cambria Math" panose="02040503050406030204" pitchFamily="18" charset="0"/>
                      </a:rPr>
                      <m:t>$12.21+</m:t>
                    </m:r>
                    <m:r>
                      <a:rPr lang="en-US" sz="1200" b="0" i="1" smtClean="0">
                        <a:solidFill>
                          <a:schemeClr val="accent2">
                            <a:lumMod val="75000"/>
                          </a:schemeClr>
                        </a:solidFill>
                        <a:latin typeface="Cambria Math" panose="02040503050406030204" pitchFamily="18" charset="0"/>
                      </a:rPr>
                      <m:t>𝑃𝑉</m:t>
                    </m:r>
                    <m:d>
                      <m:dPr>
                        <m:ctrlPr>
                          <a:rPr lang="en-US" sz="1200" b="0" i="1" smtClean="0">
                            <a:solidFill>
                              <a:schemeClr val="accent2">
                                <a:lumMod val="75000"/>
                              </a:schemeClr>
                            </a:solidFill>
                            <a:latin typeface="Cambria Math" panose="02040503050406030204" pitchFamily="18" charset="0"/>
                          </a:rPr>
                        </m:ctrlPr>
                      </m:dPr>
                      <m:e>
                        <m:r>
                          <a:rPr lang="en-US" sz="1200" b="0" i="1" smtClean="0">
                            <a:solidFill>
                              <a:schemeClr val="accent2">
                                <a:lumMod val="75000"/>
                              </a:schemeClr>
                            </a:solidFill>
                            <a:latin typeface="Cambria Math" panose="02040503050406030204" pitchFamily="18" charset="0"/>
                          </a:rPr>
                          <m:t>$9.31∗10</m:t>
                        </m:r>
                      </m:e>
                    </m:d>
                  </m:oMath>
                </a14:m>
                <a:r>
                  <a:rPr lang="en-US" sz="1200">
                    <a:latin typeface="Avenir Next LT Pro" panose="020B0504020202020204" pitchFamily="34" charset="0"/>
                  </a:rPr>
                  <a:t> </a:t>
                </a:r>
                <a:r>
                  <a:rPr lang="en-US" sz="1200">
                    <a:solidFill>
                      <a:schemeClr val="tx1">
                        <a:lumMod val="95000"/>
                        <a:lumOff val="5000"/>
                      </a:schemeClr>
                    </a:solidFill>
                    <a:latin typeface="Avenir Next LT Pro" panose="020B0504020202020204" pitchFamily="34" charset="0"/>
                  </a:rPr>
                  <a:t>= V</a:t>
                </a:r>
              </a:p>
            </p:txBody>
          </p:sp>
        </mc:Choice>
        <mc:Fallback xmlns="">
          <p:sp>
            <p:nvSpPr>
              <p:cNvPr id="43" name="TextBox 42">
                <a:extLst>
                  <a:ext uri="{FF2B5EF4-FFF2-40B4-BE49-F238E27FC236}">
                    <a16:creationId xmlns:a16="http://schemas.microsoft.com/office/drawing/2014/main" id="{88EE3AE6-4B5B-A836-6946-5C548DECB5B4}"/>
                  </a:ext>
                </a:extLst>
              </p:cNvPr>
              <p:cNvSpPr txBox="1">
                <a:spLocks noRot="1" noChangeAspect="1" noMove="1" noResize="1" noEditPoints="1" noAdjustHandles="1" noChangeArrowheads="1" noChangeShapeType="1" noTextEdit="1"/>
              </p:cNvSpPr>
              <p:nvPr/>
            </p:nvSpPr>
            <p:spPr>
              <a:xfrm>
                <a:off x="-1015233" y="5119480"/>
                <a:ext cx="6865033" cy="276999"/>
              </a:xfrm>
              <a:prstGeom prst="rect">
                <a:avLst/>
              </a:prstGeom>
              <a:blipFill>
                <a:blip r:embed="rId10"/>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4855694-B764-D017-8167-740F379A5933}"/>
                  </a:ext>
                </a:extLst>
              </p:cNvPr>
              <p:cNvSpPr txBox="1"/>
              <p:nvPr/>
            </p:nvSpPr>
            <p:spPr>
              <a:xfrm>
                <a:off x="-1015233" y="5841643"/>
                <a:ext cx="6865033" cy="276999"/>
              </a:xfrm>
              <a:prstGeom prst="rect">
                <a:avLst/>
              </a:prstGeom>
              <a:noFill/>
            </p:spPr>
            <p:txBody>
              <a:bodyPr wrap="square" rtlCol="0">
                <a:spAutoFit/>
              </a:bodyPr>
              <a:lstStyle/>
              <a:p>
                <a:pPr algn="ctr"/>
                <a14:m>
                  <m:oMath xmlns:m="http://schemas.openxmlformats.org/officeDocument/2006/math">
                    <m:r>
                      <a:rPr lang="en-US" sz="1200" b="0" i="1" smtClean="0">
                        <a:solidFill>
                          <a:schemeClr val="tx1">
                            <a:lumMod val="95000"/>
                            <a:lumOff val="5000"/>
                          </a:schemeClr>
                        </a:solidFill>
                        <a:latin typeface="Cambria Math" panose="02040503050406030204" pitchFamily="18" charset="0"/>
                      </a:rPr>
                      <m:t>$12.21</m:t>
                    </m:r>
                    <m:r>
                      <a:rPr lang="en-US" sz="1200" b="0" i="1" smtClean="0">
                        <a:latin typeface="Cambria Math" panose="02040503050406030204" pitchFamily="18" charset="0"/>
                      </a:rPr>
                      <m:t>+</m:t>
                    </m:r>
                    <m:r>
                      <a:rPr lang="en-US" sz="1200" b="0" i="1" smtClean="0">
                        <a:solidFill>
                          <a:schemeClr val="accent2">
                            <a:lumMod val="75000"/>
                          </a:schemeClr>
                        </a:solidFill>
                        <a:latin typeface="Cambria Math" panose="02040503050406030204" pitchFamily="18" charset="0"/>
                      </a:rPr>
                      <m:t>$55.78 </m:t>
                    </m:r>
                  </m:oMath>
                </a14:m>
                <a:r>
                  <a:rPr lang="en-US" sz="1200">
                    <a:latin typeface="Avenir Next LT Pro" panose="020B0504020202020204" pitchFamily="34" charset="0"/>
                  </a:rPr>
                  <a:t>= </a:t>
                </a:r>
                <a:r>
                  <a:rPr lang="en-US" sz="1200" b="1">
                    <a:latin typeface="Avenir Next LT Pro" panose="020B0504020202020204" pitchFamily="34" charset="0"/>
                  </a:rPr>
                  <a:t>$67.99</a:t>
                </a:r>
              </a:p>
            </p:txBody>
          </p:sp>
        </mc:Choice>
        <mc:Fallback xmlns="">
          <p:sp>
            <p:nvSpPr>
              <p:cNvPr id="44" name="TextBox 43">
                <a:extLst>
                  <a:ext uri="{FF2B5EF4-FFF2-40B4-BE49-F238E27FC236}">
                    <a16:creationId xmlns:a16="http://schemas.microsoft.com/office/drawing/2014/main" id="{D4855694-B764-D017-8167-740F379A5933}"/>
                  </a:ext>
                </a:extLst>
              </p:cNvPr>
              <p:cNvSpPr txBox="1">
                <a:spLocks noRot="1" noChangeAspect="1" noMove="1" noResize="1" noEditPoints="1" noAdjustHandles="1" noChangeArrowheads="1" noChangeShapeType="1" noTextEdit="1"/>
              </p:cNvSpPr>
              <p:nvPr/>
            </p:nvSpPr>
            <p:spPr>
              <a:xfrm>
                <a:off x="-1015233" y="5841643"/>
                <a:ext cx="6865033" cy="276999"/>
              </a:xfrm>
              <a:prstGeom prst="rect">
                <a:avLst/>
              </a:prstGeom>
              <a:blipFill>
                <a:blip r:embed="rId11"/>
                <a:stretch>
                  <a:fillRect b="-15217"/>
                </a:stretch>
              </a:blipFill>
            </p:spPr>
            <p:txBody>
              <a:bodyPr/>
              <a:lstStyle/>
              <a:p>
                <a:r>
                  <a:rPr lang="en-US">
                    <a:noFill/>
                  </a:rPr>
                  <a:t> </a:t>
                </a:r>
              </a:p>
            </p:txBody>
          </p:sp>
        </mc:Fallback>
      </mc:AlternateContent>
      <p:sp>
        <p:nvSpPr>
          <p:cNvPr id="45" name="Arrow: Down 44">
            <a:extLst>
              <a:ext uri="{FF2B5EF4-FFF2-40B4-BE49-F238E27FC236}">
                <a16:creationId xmlns:a16="http://schemas.microsoft.com/office/drawing/2014/main" id="{0EEA626A-F058-398B-83D0-FD54D6FCD045}"/>
              </a:ext>
            </a:extLst>
          </p:cNvPr>
          <p:cNvSpPr/>
          <p:nvPr/>
        </p:nvSpPr>
        <p:spPr>
          <a:xfrm>
            <a:off x="2190173" y="5472775"/>
            <a:ext cx="266702" cy="276999"/>
          </a:xfrm>
          <a:prstGeom prst="downArrow">
            <a:avLst/>
          </a:prstGeom>
          <a:solidFill>
            <a:schemeClr val="accent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hart 17">
            <a:extLst>
              <a:ext uri="{FF2B5EF4-FFF2-40B4-BE49-F238E27FC236}">
                <a16:creationId xmlns:a16="http://schemas.microsoft.com/office/drawing/2014/main" id="{63D2978B-CB79-7533-8B73-BD88CE38AE35}"/>
              </a:ext>
            </a:extLst>
          </p:cNvPr>
          <p:cNvGraphicFramePr>
            <a:graphicFrameLocks/>
          </p:cNvGraphicFramePr>
          <p:nvPr>
            <p:extLst>
              <p:ext uri="{D42A27DB-BD31-4B8C-83A1-F6EECF244321}">
                <p14:modId xmlns:p14="http://schemas.microsoft.com/office/powerpoint/2010/main" val="2211552968"/>
              </p:ext>
            </p:extLst>
          </p:nvPr>
        </p:nvGraphicFramePr>
        <p:xfrm>
          <a:off x="131283" y="1712417"/>
          <a:ext cx="4572000" cy="2743200"/>
        </p:xfrm>
        <a:graphic>
          <a:graphicData uri="http://schemas.openxmlformats.org/drawingml/2006/chart">
            <c:chart xmlns:c="http://schemas.openxmlformats.org/drawingml/2006/chart" xmlns:r="http://schemas.openxmlformats.org/officeDocument/2006/relationships" r:id="rId12"/>
          </a:graphicData>
        </a:graphic>
      </p:graphicFrame>
      <p:sp>
        <p:nvSpPr>
          <p:cNvPr id="11" name="object 15">
            <a:extLst>
              <a:ext uri="{FF2B5EF4-FFF2-40B4-BE49-F238E27FC236}">
                <a16:creationId xmlns:a16="http://schemas.microsoft.com/office/drawing/2014/main" id="{5A37802F-4C9D-95EF-82ED-8ABC008110A5}"/>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13"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Tree>
    <p:extLst>
      <p:ext uri="{BB962C8B-B14F-4D97-AF65-F5344CB8AC3E}">
        <p14:creationId xmlns:p14="http://schemas.microsoft.com/office/powerpoint/2010/main" val="2832332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A772452-5289-9240-A530-0E94E8AF7889}"/>
              </a:ext>
            </a:extLst>
          </p:cNvPr>
          <p:cNvGraphicFramePr>
            <a:graphicFrameLocks noGrp="1"/>
          </p:cNvGraphicFramePr>
          <p:nvPr>
            <p:extLst>
              <p:ext uri="{D42A27DB-BD31-4B8C-83A1-F6EECF244321}">
                <p14:modId xmlns:p14="http://schemas.microsoft.com/office/powerpoint/2010/main" val="1458848149"/>
              </p:ext>
            </p:extLst>
          </p:nvPr>
        </p:nvGraphicFramePr>
        <p:xfrm>
          <a:off x="431320" y="1150188"/>
          <a:ext cx="3896877" cy="1175385"/>
        </p:xfrm>
        <a:graphic>
          <a:graphicData uri="http://schemas.openxmlformats.org/drawingml/2006/table">
            <a:tbl>
              <a:tblPr/>
              <a:tblGrid>
                <a:gridCol w="2231277">
                  <a:extLst>
                    <a:ext uri="{9D8B030D-6E8A-4147-A177-3AD203B41FA5}">
                      <a16:colId xmlns:a16="http://schemas.microsoft.com/office/drawing/2014/main" val="2525770353"/>
                    </a:ext>
                  </a:extLst>
                </a:gridCol>
                <a:gridCol w="1665600">
                  <a:extLst>
                    <a:ext uri="{9D8B030D-6E8A-4147-A177-3AD203B41FA5}">
                      <a16:colId xmlns:a16="http://schemas.microsoft.com/office/drawing/2014/main" val="101786443"/>
                    </a:ext>
                  </a:extLst>
                </a:gridCol>
              </a:tblGrid>
              <a:tr h="200025">
                <a:tc gridSpan="2">
                  <a:txBody>
                    <a:bodyPr/>
                    <a:lstStyle/>
                    <a:p>
                      <a:pPr algn="l" fontAlgn="base">
                        <a:lnSpc>
                          <a:spcPts val="225"/>
                        </a:lnSpc>
                        <a:buNone/>
                      </a:pPr>
                      <a:r>
                        <a:rPr lang="en-US" sz="200" b="0" i="0">
                          <a:solidFill>
                            <a:srgbClr val="000000"/>
                          </a:solidFill>
                          <a:effectLst/>
                          <a:latin typeface="Aptos Narrow" panose="020B0004020202020204" pitchFamily="34" charset="0"/>
                        </a:rPr>
                        <a:t>​</a:t>
                      </a:r>
                      <a:endParaRPr lang="en-US" b="0" i="0">
                        <a:solidFill>
                          <a:srgbClr val="000000"/>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2092796069"/>
                  </a:ext>
                </a:extLst>
              </a:tr>
              <a:tr h="200025">
                <a:tc>
                  <a:txBody>
                    <a:bodyPr/>
                    <a:lstStyle/>
                    <a:p>
                      <a:pPr algn="l" fontAlgn="auto">
                        <a:lnSpc>
                          <a:spcPts val="1200"/>
                        </a:lnSpc>
                        <a:buNone/>
                      </a:pPr>
                      <a:r>
                        <a:rPr lang="en-US" sz="1000" b="0" i="0" u="none" strike="noStrike">
                          <a:solidFill>
                            <a:srgbClr val="FFFFFF"/>
                          </a:solidFill>
                          <a:effectLst/>
                          <a:latin typeface="Calibri" panose="020F0502020204030204" pitchFamily="34" charset="0"/>
                        </a:rPr>
                        <a:t>​</a:t>
                      </a:r>
                    </a:p>
                  </a:txBody>
                  <a:tcPr anchor="b">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4F15"/>
                    </a:solidFill>
                  </a:tcPr>
                </a:tc>
                <a:tc>
                  <a:txBody>
                    <a:bodyPr/>
                    <a:lstStyle/>
                    <a:p>
                      <a:pPr algn="ctr" fontAlgn="base">
                        <a:lnSpc>
                          <a:spcPts val="1200"/>
                        </a:lnSpc>
                        <a:buNone/>
                      </a:pPr>
                      <a:r>
                        <a:rPr lang="en-US" sz="1000" b="1" i="0" u="none" strike="noStrike">
                          <a:solidFill>
                            <a:srgbClr val="FFFFFF"/>
                          </a:solidFill>
                          <a:effectLst/>
                          <a:latin typeface="Avenir Next LT Pro" panose="020B0504020202020204" pitchFamily="34" charset="0"/>
                        </a:rPr>
                        <a:t>Price Target</a:t>
                      </a:r>
                      <a:r>
                        <a:rPr lang="en-US" sz="1000" b="0" i="0">
                          <a:solidFill>
                            <a:srgbClr val="000000"/>
                          </a:solidFill>
                          <a:effectLst/>
                          <a:latin typeface="Calibri" panose="020F0502020204030204" pitchFamily="34" charset="0"/>
                        </a:rPr>
                        <a:t>​</a:t>
                      </a:r>
                      <a:endParaRPr lang="en-US" b="0" i="0">
                        <a:solidFill>
                          <a:srgbClr val="000000"/>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4F15"/>
                    </a:solidFill>
                  </a:tcPr>
                </a:tc>
                <a:extLst>
                  <a:ext uri="{0D108BD9-81ED-4DB2-BD59-A6C34878D82A}">
                    <a16:rowId xmlns:a16="http://schemas.microsoft.com/office/drawing/2014/main" val="4257352912"/>
                  </a:ext>
                </a:extLst>
              </a:tr>
              <a:tr h="200025">
                <a:tc>
                  <a:txBody>
                    <a:bodyPr/>
                    <a:lstStyle/>
                    <a:p>
                      <a:pPr algn="l" fontAlgn="base">
                        <a:lnSpc>
                          <a:spcPts val="1200"/>
                        </a:lnSpc>
                        <a:buNone/>
                      </a:pPr>
                      <a:r>
                        <a:rPr lang="en-US" sz="1000" b="0" i="0" u="none" strike="noStrike">
                          <a:solidFill>
                            <a:srgbClr val="000000"/>
                          </a:solidFill>
                          <a:effectLst/>
                          <a:latin typeface="Avenir Next LT Pro" panose="020B0504020202020204" pitchFamily="34" charset="0"/>
                        </a:rPr>
                        <a:t>Bull Case Valuation</a:t>
                      </a:r>
                      <a:r>
                        <a:rPr lang="en-US" sz="1000" b="0" i="0">
                          <a:solidFill>
                            <a:srgbClr val="000000"/>
                          </a:solidFill>
                          <a:effectLst/>
                          <a:latin typeface="Avenir Next LT Pro" panose="020B0504020202020204" pitchFamily="34" charset="0"/>
                        </a:rPr>
                        <a:t>​</a:t>
                      </a:r>
                      <a:endParaRPr lang="en-US" b="0" i="0">
                        <a:solidFill>
                          <a:srgbClr val="000000"/>
                        </a:solidFill>
                        <a:effectLst/>
                        <a:latin typeface="Avenir Next LT Pro" panose="020B0504020202020204" pitchFamily="34" charset="0"/>
                      </a:endParaRPr>
                    </a:p>
                  </a:txBody>
                  <a:tcPr anchor="b">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3D6"/>
                    </a:solidFill>
                  </a:tcPr>
                </a:tc>
                <a:tc>
                  <a:txBody>
                    <a:bodyPr/>
                    <a:lstStyle/>
                    <a:p>
                      <a:pPr algn="ctr" fontAlgn="base">
                        <a:lnSpc>
                          <a:spcPts val="1200"/>
                        </a:lnSpc>
                        <a:buNone/>
                      </a:pPr>
                      <a:r>
                        <a:rPr lang="en-US" sz="1000" b="0" i="0" u="none" strike="noStrike">
                          <a:solidFill>
                            <a:srgbClr val="000000"/>
                          </a:solidFill>
                          <a:effectLst/>
                          <a:latin typeface="Avenir Next LT Pro" panose="020B0504020202020204" pitchFamily="34" charset="0"/>
                        </a:rPr>
                        <a:t>$82</a:t>
                      </a:r>
                      <a:endParaRPr lang="en-US" b="0" i="0">
                        <a:solidFill>
                          <a:srgbClr val="000000"/>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3D6"/>
                    </a:solidFill>
                  </a:tcPr>
                </a:tc>
                <a:extLst>
                  <a:ext uri="{0D108BD9-81ED-4DB2-BD59-A6C34878D82A}">
                    <a16:rowId xmlns:a16="http://schemas.microsoft.com/office/drawing/2014/main" val="4276941343"/>
                  </a:ext>
                </a:extLst>
              </a:tr>
              <a:tr h="200025">
                <a:tc>
                  <a:txBody>
                    <a:bodyPr/>
                    <a:lstStyle/>
                    <a:p>
                      <a:pPr algn="l" fontAlgn="base">
                        <a:lnSpc>
                          <a:spcPts val="1200"/>
                        </a:lnSpc>
                        <a:buNone/>
                      </a:pPr>
                      <a:r>
                        <a:rPr lang="en-US" sz="1000" b="0" i="0" u="none" strike="noStrike">
                          <a:solidFill>
                            <a:srgbClr val="000000"/>
                          </a:solidFill>
                          <a:effectLst/>
                          <a:latin typeface="Avenir Next LT Pro" panose="020B0504020202020204" pitchFamily="34" charset="0"/>
                        </a:rPr>
                        <a:t>Base Case Valuation</a:t>
                      </a:r>
                      <a:r>
                        <a:rPr lang="en-US" sz="1000" b="0" i="0">
                          <a:solidFill>
                            <a:srgbClr val="000000"/>
                          </a:solidFill>
                          <a:effectLst/>
                          <a:latin typeface="Avenir Next LT Pro" panose="020B0504020202020204" pitchFamily="34" charset="0"/>
                        </a:rPr>
                        <a:t>​</a:t>
                      </a:r>
                      <a:endParaRPr lang="en-US" b="0" i="0">
                        <a:solidFill>
                          <a:srgbClr val="000000"/>
                        </a:solidFill>
                        <a:effectLst/>
                        <a:latin typeface="Avenir Next LT Pro" panose="020B0504020202020204" pitchFamily="34" charset="0"/>
                      </a:endParaRPr>
                    </a:p>
                  </a:txBody>
                  <a:tcPr anchor="b">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1200"/>
                        </a:lnSpc>
                        <a:buNone/>
                      </a:pPr>
                      <a:r>
                        <a:rPr lang="en-US" sz="1000" b="0" i="0" u="none" strike="noStrike">
                          <a:solidFill>
                            <a:srgbClr val="000000"/>
                          </a:solidFill>
                          <a:effectLst/>
                          <a:latin typeface="Avenir Next LT Pro" panose="020B0504020202020204" pitchFamily="34" charset="0"/>
                        </a:rPr>
                        <a:t>$68</a:t>
                      </a:r>
                      <a:endParaRPr lang="en-US" b="0" i="0">
                        <a:solidFill>
                          <a:srgbClr val="000000"/>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829849629"/>
                  </a:ext>
                </a:extLst>
              </a:tr>
              <a:tr h="200025">
                <a:tc>
                  <a:txBody>
                    <a:bodyPr/>
                    <a:lstStyle/>
                    <a:p>
                      <a:pPr algn="l" fontAlgn="base">
                        <a:lnSpc>
                          <a:spcPts val="1200"/>
                        </a:lnSpc>
                        <a:buNone/>
                      </a:pPr>
                      <a:r>
                        <a:rPr lang="en-US" sz="1000" b="0" i="0" u="none" strike="noStrike" dirty="0">
                          <a:solidFill>
                            <a:srgbClr val="000000"/>
                          </a:solidFill>
                          <a:effectLst/>
                          <a:latin typeface="Avenir Next LT Pro" panose="020B0504020202020204" pitchFamily="34" charset="0"/>
                        </a:rPr>
                        <a:t>Bear Case Valuation</a:t>
                      </a:r>
                      <a:r>
                        <a:rPr lang="en-US" sz="1000" b="0" i="0" dirty="0">
                          <a:solidFill>
                            <a:srgbClr val="000000"/>
                          </a:solidFill>
                          <a:effectLst/>
                          <a:latin typeface="Avenir Next LT Pro" panose="020B0504020202020204" pitchFamily="34" charset="0"/>
                        </a:rPr>
                        <a:t>​</a:t>
                      </a:r>
                      <a:endParaRPr lang="en-US" b="0" i="0" dirty="0">
                        <a:solidFill>
                          <a:srgbClr val="000000"/>
                        </a:solidFill>
                        <a:effectLst/>
                        <a:latin typeface="Avenir Next LT Pro" panose="020B0504020202020204" pitchFamily="34" charset="0"/>
                      </a:endParaRPr>
                    </a:p>
                  </a:txBody>
                  <a:tcPr anchor="b">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algn="ctr" fontAlgn="base">
                        <a:lnSpc>
                          <a:spcPts val="1200"/>
                        </a:lnSpc>
                        <a:buNone/>
                      </a:pPr>
                      <a:r>
                        <a:rPr lang="en-US" sz="1000" b="0" i="0" u="none" strike="noStrike">
                          <a:solidFill>
                            <a:srgbClr val="000000"/>
                          </a:solidFill>
                          <a:effectLst/>
                          <a:latin typeface="Avenir Next LT Pro" panose="020B0504020202020204" pitchFamily="34" charset="0"/>
                        </a:rPr>
                        <a:t>$29</a:t>
                      </a:r>
                      <a:endParaRPr lang="en-US" b="0" i="0">
                        <a:solidFill>
                          <a:srgbClr val="000000"/>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extLst>
                  <a:ext uri="{0D108BD9-81ED-4DB2-BD59-A6C34878D82A}">
                    <a16:rowId xmlns:a16="http://schemas.microsoft.com/office/drawing/2014/main" val="1962813678"/>
                  </a:ext>
                </a:extLst>
              </a:tr>
            </a:tbl>
          </a:graphicData>
        </a:graphic>
      </p:graphicFrame>
      <p:graphicFrame>
        <p:nvGraphicFramePr>
          <p:cNvPr id="11" name="Table 10">
            <a:extLst>
              <a:ext uri="{FF2B5EF4-FFF2-40B4-BE49-F238E27FC236}">
                <a16:creationId xmlns:a16="http://schemas.microsoft.com/office/drawing/2014/main" id="{1DB1BFF4-0356-97FA-4CDD-B698D3F37605}"/>
              </a:ext>
            </a:extLst>
          </p:cNvPr>
          <p:cNvGraphicFramePr>
            <a:graphicFrameLocks noGrp="1"/>
          </p:cNvGraphicFramePr>
          <p:nvPr>
            <p:custDataLst>
              <p:tags r:id="rId1"/>
            </p:custDataLst>
            <p:extLst>
              <p:ext uri="{D42A27DB-BD31-4B8C-83A1-F6EECF244321}">
                <p14:modId xmlns:p14="http://schemas.microsoft.com/office/powerpoint/2010/main" val="205514334"/>
              </p:ext>
            </p:extLst>
          </p:nvPr>
        </p:nvGraphicFramePr>
        <p:xfrm>
          <a:off x="4773088" y="1357395"/>
          <a:ext cx="3346288" cy="518668"/>
        </p:xfrm>
        <a:graphic>
          <a:graphicData uri="http://schemas.openxmlformats.org/drawingml/2006/table">
            <a:tbl>
              <a:tblPr/>
              <a:tblGrid>
                <a:gridCol w="989603">
                  <a:extLst>
                    <a:ext uri="{9D8B030D-6E8A-4147-A177-3AD203B41FA5}">
                      <a16:colId xmlns:a16="http://schemas.microsoft.com/office/drawing/2014/main" val="1381010219"/>
                    </a:ext>
                  </a:extLst>
                </a:gridCol>
                <a:gridCol w="1305869">
                  <a:extLst>
                    <a:ext uri="{9D8B030D-6E8A-4147-A177-3AD203B41FA5}">
                      <a16:colId xmlns:a16="http://schemas.microsoft.com/office/drawing/2014/main" val="3933525619"/>
                    </a:ext>
                  </a:extLst>
                </a:gridCol>
                <a:gridCol w="1050816">
                  <a:extLst>
                    <a:ext uri="{9D8B030D-6E8A-4147-A177-3AD203B41FA5}">
                      <a16:colId xmlns:a16="http://schemas.microsoft.com/office/drawing/2014/main" val="1218771673"/>
                    </a:ext>
                  </a:extLst>
                </a:gridCol>
              </a:tblGrid>
              <a:tr h="238125">
                <a:tc>
                  <a:txBody>
                    <a:bodyPr/>
                    <a:lstStyle/>
                    <a:p>
                      <a:pPr algn="ctr" fontAlgn="base">
                        <a:lnSpc>
                          <a:spcPts val="1350"/>
                        </a:lnSpc>
                        <a:buNone/>
                      </a:pPr>
                      <a:r>
                        <a:rPr lang="en-US" sz="1100" b="1" i="0" u="none" strike="noStrike">
                          <a:solidFill>
                            <a:srgbClr val="FFFFFF"/>
                          </a:solidFill>
                          <a:effectLst/>
                          <a:latin typeface="Avenir Next LT Pro" panose="020B0504020202020204" pitchFamily="34" charset="0"/>
                        </a:rPr>
                        <a:t>First stage</a:t>
                      </a:r>
                      <a:endParaRPr lang="en-US" b="1" i="0">
                        <a:solidFill>
                          <a:srgbClr val="FFFFFF"/>
                        </a:solidFill>
                        <a:effectLst/>
                        <a:latin typeface="Avenir Next LT Pro" panose="020B0504020202020204" pitchFamily="34" charset="0"/>
                      </a:endParaRPr>
                    </a:p>
                  </a:txBody>
                  <a:tcPr anchor="b">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4F15"/>
                    </a:solidFill>
                  </a:tcPr>
                </a:tc>
                <a:tc>
                  <a:txBody>
                    <a:bodyPr/>
                    <a:lstStyle/>
                    <a:p>
                      <a:pPr algn="ctr" fontAlgn="base">
                        <a:lnSpc>
                          <a:spcPts val="1350"/>
                        </a:lnSpc>
                        <a:buNone/>
                      </a:pPr>
                      <a:r>
                        <a:rPr lang="en-US" sz="1100" b="1" i="0" u="none" strike="noStrike">
                          <a:solidFill>
                            <a:srgbClr val="FFFFFF"/>
                          </a:solidFill>
                          <a:effectLst/>
                          <a:latin typeface="Avenir Next LT Pro" panose="020B0504020202020204" pitchFamily="34" charset="0"/>
                        </a:rPr>
                        <a:t>Terminal value</a:t>
                      </a:r>
                      <a:r>
                        <a:rPr lang="en-US" sz="1100" b="1" i="0">
                          <a:solidFill>
                            <a:srgbClr val="FFFFFF"/>
                          </a:solidFill>
                          <a:effectLst/>
                          <a:latin typeface="Avenir Next LT Pro" panose="020B0504020202020204" pitchFamily="34" charset="0"/>
                        </a:rPr>
                        <a:t>​</a:t>
                      </a:r>
                      <a:endParaRPr lang="en-US" b="1" i="0">
                        <a:solidFill>
                          <a:srgbClr val="FFFFFF"/>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4F15"/>
                    </a:solidFill>
                  </a:tcPr>
                </a:tc>
                <a:tc>
                  <a:txBody>
                    <a:bodyPr/>
                    <a:lstStyle/>
                    <a:p>
                      <a:pPr algn="ctr" fontAlgn="base">
                        <a:lnSpc>
                          <a:spcPts val="1350"/>
                        </a:lnSpc>
                        <a:buNone/>
                      </a:pPr>
                      <a:r>
                        <a:rPr lang="en-US" sz="1100" b="1" i="0" u="none" strike="noStrike">
                          <a:solidFill>
                            <a:srgbClr val="FFFFFF"/>
                          </a:solidFill>
                          <a:effectLst/>
                          <a:latin typeface="Avenir Next LT Pro" panose="020B0504020202020204" pitchFamily="34" charset="0"/>
                        </a:rPr>
                        <a:t>Value </a:t>
                      </a:r>
                      <a:r>
                        <a:rPr lang="en-US" sz="1100" b="1" i="0">
                          <a:solidFill>
                            <a:srgbClr val="FFFFFF"/>
                          </a:solidFill>
                          <a:effectLst/>
                          <a:latin typeface="Avenir Next LT Pro" panose="020B0504020202020204" pitchFamily="34" charset="0"/>
                        </a:rPr>
                        <a:t>​</a:t>
                      </a:r>
                      <a:endParaRPr lang="en-US" b="1" i="0">
                        <a:solidFill>
                          <a:srgbClr val="FFFFFF"/>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4F15"/>
                    </a:solidFill>
                  </a:tcPr>
                </a:tc>
                <a:extLst>
                  <a:ext uri="{0D108BD9-81ED-4DB2-BD59-A6C34878D82A}">
                    <a16:rowId xmlns:a16="http://schemas.microsoft.com/office/drawing/2014/main" val="4073780321"/>
                  </a:ext>
                </a:extLst>
              </a:tr>
              <a:tr h="219075">
                <a:tc>
                  <a:txBody>
                    <a:bodyPr/>
                    <a:lstStyle/>
                    <a:p>
                      <a:pPr algn="ctr" fontAlgn="base">
                        <a:lnSpc>
                          <a:spcPts val="1350"/>
                        </a:lnSpc>
                        <a:buNone/>
                      </a:pPr>
                      <a:r>
                        <a:rPr lang="en-US" sz="1100" b="0" i="0">
                          <a:solidFill>
                            <a:srgbClr val="000000"/>
                          </a:solidFill>
                          <a:effectLst/>
                          <a:latin typeface="Avenir Next LT Pro" panose="020B0504020202020204" pitchFamily="34" charset="0"/>
                        </a:rPr>
                        <a:t>$​9.53</a:t>
                      </a:r>
                      <a:endParaRPr lang="en-US" b="0" i="0">
                        <a:solidFill>
                          <a:srgbClr val="000000"/>
                        </a:solidFill>
                        <a:effectLst/>
                        <a:latin typeface="Avenir Next LT Pro" panose="020B0504020202020204" pitchFamily="34" charset="0"/>
                      </a:endParaRPr>
                    </a:p>
                  </a:txBody>
                  <a:tcPr anchor="b">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BE8"/>
                    </a:solidFill>
                  </a:tcPr>
                </a:tc>
                <a:tc>
                  <a:txBody>
                    <a:bodyPr/>
                    <a:lstStyle/>
                    <a:p>
                      <a:pPr algn="ctr" fontAlgn="base">
                        <a:lnSpc>
                          <a:spcPts val="1350"/>
                        </a:lnSpc>
                        <a:buNone/>
                      </a:pPr>
                      <a:r>
                        <a:rPr lang="en-US" sz="1100" b="0" i="0">
                          <a:solidFill>
                            <a:srgbClr val="000000"/>
                          </a:solidFill>
                          <a:effectLst/>
                          <a:latin typeface="Avenir Next LT Pro" panose="020B0504020202020204" pitchFamily="34" charset="0"/>
                        </a:rPr>
                        <a:t>$72.95</a:t>
                      </a:r>
                    </a:p>
                  </a:txBody>
                  <a:tcPr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BE8"/>
                    </a:solidFill>
                  </a:tcPr>
                </a:tc>
                <a:tc>
                  <a:txBody>
                    <a:bodyPr/>
                    <a:lstStyle/>
                    <a:p>
                      <a:pPr algn="ctr" fontAlgn="base">
                        <a:lnSpc>
                          <a:spcPts val="1350"/>
                        </a:lnSpc>
                        <a:buNone/>
                      </a:pPr>
                      <a:r>
                        <a:rPr lang="en-US" sz="1100" b="0" i="0">
                          <a:solidFill>
                            <a:srgbClr val="000000"/>
                          </a:solidFill>
                          <a:effectLst/>
                          <a:latin typeface="Avenir Next LT Pro" panose="020B0504020202020204" pitchFamily="34" charset="0"/>
                        </a:rPr>
                        <a:t>$82.48​</a:t>
                      </a:r>
                      <a:endParaRPr lang="en-US" b="0" i="0">
                        <a:solidFill>
                          <a:srgbClr val="000000"/>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BE8"/>
                    </a:solidFill>
                  </a:tcPr>
                </a:tc>
                <a:extLst>
                  <a:ext uri="{0D108BD9-81ED-4DB2-BD59-A6C34878D82A}">
                    <a16:rowId xmlns:a16="http://schemas.microsoft.com/office/drawing/2014/main" val="1630619843"/>
                  </a:ext>
                </a:extLst>
              </a:tr>
            </a:tbl>
          </a:graphicData>
        </a:graphic>
      </p:graphicFrame>
      <p:graphicFrame>
        <p:nvGraphicFramePr>
          <p:cNvPr id="16" name="Table 15">
            <a:extLst>
              <a:ext uri="{FF2B5EF4-FFF2-40B4-BE49-F238E27FC236}">
                <a16:creationId xmlns:a16="http://schemas.microsoft.com/office/drawing/2014/main" id="{591A15DF-C75C-A28E-B346-C5EF3C624896}"/>
              </a:ext>
            </a:extLst>
          </p:cNvPr>
          <p:cNvGraphicFramePr>
            <a:graphicFrameLocks noGrp="1"/>
          </p:cNvGraphicFramePr>
          <p:nvPr>
            <p:extLst>
              <p:ext uri="{D42A27DB-BD31-4B8C-83A1-F6EECF244321}">
                <p14:modId xmlns:p14="http://schemas.microsoft.com/office/powerpoint/2010/main" val="4195557280"/>
              </p:ext>
            </p:extLst>
          </p:nvPr>
        </p:nvGraphicFramePr>
        <p:xfrm>
          <a:off x="8433948" y="1368281"/>
          <a:ext cx="3346288" cy="518097"/>
        </p:xfrm>
        <a:graphic>
          <a:graphicData uri="http://schemas.openxmlformats.org/drawingml/2006/table">
            <a:tbl>
              <a:tblPr/>
              <a:tblGrid>
                <a:gridCol w="989604">
                  <a:extLst>
                    <a:ext uri="{9D8B030D-6E8A-4147-A177-3AD203B41FA5}">
                      <a16:colId xmlns:a16="http://schemas.microsoft.com/office/drawing/2014/main" val="2779488833"/>
                    </a:ext>
                  </a:extLst>
                </a:gridCol>
                <a:gridCol w="1305868">
                  <a:extLst>
                    <a:ext uri="{9D8B030D-6E8A-4147-A177-3AD203B41FA5}">
                      <a16:colId xmlns:a16="http://schemas.microsoft.com/office/drawing/2014/main" val="1233795467"/>
                    </a:ext>
                  </a:extLst>
                </a:gridCol>
                <a:gridCol w="1050816">
                  <a:extLst>
                    <a:ext uri="{9D8B030D-6E8A-4147-A177-3AD203B41FA5}">
                      <a16:colId xmlns:a16="http://schemas.microsoft.com/office/drawing/2014/main" val="2108325703"/>
                    </a:ext>
                  </a:extLst>
                </a:gridCol>
              </a:tblGrid>
              <a:tr h="190205">
                <a:tc>
                  <a:txBody>
                    <a:bodyPr/>
                    <a:lstStyle/>
                    <a:p>
                      <a:pPr algn="ctr" fontAlgn="base">
                        <a:lnSpc>
                          <a:spcPts val="1350"/>
                        </a:lnSpc>
                        <a:buNone/>
                      </a:pPr>
                      <a:r>
                        <a:rPr lang="en-US" sz="1100" b="1" i="0" u="none" strike="noStrike">
                          <a:solidFill>
                            <a:srgbClr val="FFFFFF"/>
                          </a:solidFill>
                          <a:effectLst/>
                          <a:latin typeface="Avenir Next LT Pro" panose="020B0504020202020204" pitchFamily="34" charset="0"/>
                        </a:rPr>
                        <a:t>First stage</a:t>
                      </a:r>
                      <a:r>
                        <a:rPr lang="en-US" sz="1100" b="1" i="0">
                          <a:solidFill>
                            <a:srgbClr val="FFFFFF"/>
                          </a:solidFill>
                          <a:effectLst/>
                          <a:latin typeface="Avenir Next LT Pro" panose="020B0504020202020204" pitchFamily="34" charset="0"/>
                        </a:rPr>
                        <a:t>​</a:t>
                      </a:r>
                      <a:endParaRPr lang="en-US" b="1" i="0">
                        <a:solidFill>
                          <a:srgbClr val="FFFFFF"/>
                        </a:solidFill>
                        <a:effectLst/>
                        <a:latin typeface="Avenir Next LT Pro" panose="020B0504020202020204" pitchFamily="34" charset="0"/>
                      </a:endParaRPr>
                    </a:p>
                  </a:txBody>
                  <a:tcPr anchor="b">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4F15"/>
                    </a:solidFill>
                  </a:tcPr>
                </a:tc>
                <a:tc>
                  <a:txBody>
                    <a:bodyPr/>
                    <a:lstStyle/>
                    <a:p>
                      <a:pPr algn="ctr" fontAlgn="base">
                        <a:lnSpc>
                          <a:spcPts val="1350"/>
                        </a:lnSpc>
                        <a:buNone/>
                      </a:pPr>
                      <a:r>
                        <a:rPr lang="en-US" sz="1100" b="1" i="0" u="none" strike="noStrike">
                          <a:solidFill>
                            <a:srgbClr val="FFFFFF"/>
                          </a:solidFill>
                          <a:effectLst/>
                          <a:latin typeface="Avenir Next LT Pro" panose="020B0504020202020204" pitchFamily="34" charset="0"/>
                        </a:rPr>
                        <a:t>Terminal value</a:t>
                      </a:r>
                      <a:r>
                        <a:rPr lang="en-US" sz="1100" b="1" i="0">
                          <a:solidFill>
                            <a:srgbClr val="FFFFFF"/>
                          </a:solidFill>
                          <a:effectLst/>
                          <a:latin typeface="Avenir Next LT Pro" panose="020B0504020202020204" pitchFamily="34" charset="0"/>
                        </a:rPr>
                        <a:t>​</a:t>
                      </a:r>
                      <a:endParaRPr lang="en-US" b="1" i="0">
                        <a:solidFill>
                          <a:srgbClr val="FFFFFF"/>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4F15"/>
                    </a:solidFill>
                  </a:tcPr>
                </a:tc>
                <a:tc>
                  <a:txBody>
                    <a:bodyPr/>
                    <a:lstStyle/>
                    <a:p>
                      <a:pPr algn="ctr" fontAlgn="base">
                        <a:lnSpc>
                          <a:spcPts val="1350"/>
                        </a:lnSpc>
                        <a:buNone/>
                      </a:pPr>
                      <a:r>
                        <a:rPr lang="en-US" sz="1100" b="1" i="0" u="none" strike="noStrike">
                          <a:solidFill>
                            <a:srgbClr val="FFFFFF"/>
                          </a:solidFill>
                          <a:effectLst/>
                          <a:latin typeface="Avenir Next LT Pro" panose="020B0504020202020204" pitchFamily="34" charset="0"/>
                        </a:rPr>
                        <a:t>Value </a:t>
                      </a:r>
                      <a:r>
                        <a:rPr lang="en-US" sz="1100" b="1" i="0">
                          <a:solidFill>
                            <a:srgbClr val="FFFFFF"/>
                          </a:solidFill>
                          <a:effectLst/>
                          <a:latin typeface="Avenir Next LT Pro" panose="020B0504020202020204" pitchFamily="34" charset="0"/>
                        </a:rPr>
                        <a:t>​</a:t>
                      </a:r>
                      <a:endParaRPr lang="en-US" b="1" i="0">
                        <a:solidFill>
                          <a:srgbClr val="FFFFFF"/>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4F15"/>
                    </a:solidFill>
                  </a:tcPr>
                </a:tc>
                <a:extLst>
                  <a:ext uri="{0D108BD9-81ED-4DB2-BD59-A6C34878D82A}">
                    <a16:rowId xmlns:a16="http://schemas.microsoft.com/office/drawing/2014/main" val="3587458821"/>
                  </a:ext>
                </a:extLst>
              </a:tr>
              <a:tr h="205156">
                <a:tc>
                  <a:txBody>
                    <a:bodyPr/>
                    <a:lstStyle/>
                    <a:p>
                      <a:pPr algn="ctr" fontAlgn="base">
                        <a:lnSpc>
                          <a:spcPts val="1350"/>
                        </a:lnSpc>
                        <a:buNone/>
                      </a:pPr>
                      <a:r>
                        <a:rPr lang="en-US" sz="1100" b="0" i="0">
                          <a:solidFill>
                            <a:srgbClr val="000000"/>
                          </a:solidFill>
                          <a:effectLst/>
                          <a:latin typeface="Avenir Next LT Pro" panose="020B0504020202020204" pitchFamily="34" charset="0"/>
                        </a:rPr>
                        <a:t>$17.05</a:t>
                      </a:r>
                    </a:p>
                  </a:txBody>
                  <a:tcPr anchor="b">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BE8"/>
                    </a:solidFill>
                  </a:tcPr>
                </a:tc>
                <a:tc>
                  <a:txBody>
                    <a:bodyPr/>
                    <a:lstStyle/>
                    <a:p>
                      <a:pPr algn="ctr" fontAlgn="base">
                        <a:lnSpc>
                          <a:spcPts val="1350"/>
                        </a:lnSpc>
                        <a:buNone/>
                      </a:pPr>
                      <a:r>
                        <a:rPr lang="en-US" sz="1100" b="0" i="0">
                          <a:solidFill>
                            <a:srgbClr val="000000"/>
                          </a:solidFill>
                          <a:effectLst/>
                          <a:latin typeface="Avenir Next LT Pro" panose="020B0504020202020204" pitchFamily="34" charset="0"/>
                        </a:rPr>
                        <a:t>$12.06</a:t>
                      </a:r>
                    </a:p>
                  </a:txBody>
                  <a:tcPr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BE8"/>
                    </a:solidFill>
                  </a:tcPr>
                </a:tc>
                <a:tc>
                  <a:txBody>
                    <a:bodyPr/>
                    <a:lstStyle/>
                    <a:p>
                      <a:pPr algn="ctr" fontAlgn="base">
                        <a:lnSpc>
                          <a:spcPts val="1350"/>
                        </a:lnSpc>
                        <a:buNone/>
                      </a:pPr>
                      <a:r>
                        <a:rPr lang="en-US" sz="1100" b="0" i="0" u="none" strike="noStrike">
                          <a:solidFill>
                            <a:srgbClr val="000000"/>
                          </a:solidFill>
                          <a:effectLst/>
                          <a:latin typeface="Avenir Next LT Pro" panose="020B0504020202020204" pitchFamily="34" charset="0"/>
                        </a:rPr>
                        <a:t>$29.11</a:t>
                      </a:r>
                      <a:endParaRPr lang="en-US" b="0" i="0">
                        <a:solidFill>
                          <a:srgbClr val="000000"/>
                        </a:solidFill>
                        <a:effectLst/>
                        <a:latin typeface="Avenir Next LT Pro" panose="020B0504020202020204" pitchFamily="34" charset="0"/>
                      </a:endParaRPr>
                    </a:p>
                  </a:txBody>
                  <a:tcPr anchor="b">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BE8"/>
                    </a:solidFill>
                  </a:tcPr>
                </a:tc>
                <a:extLst>
                  <a:ext uri="{0D108BD9-81ED-4DB2-BD59-A6C34878D82A}">
                    <a16:rowId xmlns:a16="http://schemas.microsoft.com/office/drawing/2014/main" val="1291653636"/>
                  </a:ext>
                </a:extLst>
              </a:tr>
            </a:tbl>
          </a:graphicData>
        </a:graphic>
      </p:graphicFrame>
      <p:sp>
        <p:nvSpPr>
          <p:cNvPr id="17" name="Rectangle 5">
            <a:extLst>
              <a:ext uri="{FF2B5EF4-FFF2-40B4-BE49-F238E27FC236}">
                <a16:creationId xmlns:a16="http://schemas.microsoft.com/office/drawing/2014/main" id="{6254DD27-2BC8-A61F-CD7A-B9CDB5881740}"/>
              </a:ext>
            </a:extLst>
          </p:cNvPr>
          <p:cNvSpPr>
            <a:spLocks noChangeArrowheads="1"/>
          </p:cNvSpPr>
          <p:nvPr/>
        </p:nvSpPr>
        <p:spPr bwMode="auto">
          <a:xfrm>
            <a:off x="4084841" y="256883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7" name="Table 26">
            <a:extLst>
              <a:ext uri="{FF2B5EF4-FFF2-40B4-BE49-F238E27FC236}">
                <a16:creationId xmlns:a16="http://schemas.microsoft.com/office/drawing/2014/main" id="{90411B62-C9FF-88E1-B456-BC043514762E}"/>
              </a:ext>
            </a:extLst>
          </p:cNvPr>
          <p:cNvGraphicFramePr>
            <a:graphicFrameLocks noGrp="1"/>
          </p:cNvGraphicFramePr>
          <p:nvPr>
            <p:custDataLst>
              <p:tags r:id="rId2"/>
            </p:custDataLst>
            <p:extLst>
              <p:ext uri="{D42A27DB-BD31-4B8C-83A1-F6EECF244321}">
                <p14:modId xmlns:p14="http://schemas.microsoft.com/office/powerpoint/2010/main" val="244191838"/>
              </p:ext>
            </p:extLst>
          </p:nvPr>
        </p:nvGraphicFramePr>
        <p:xfrm>
          <a:off x="4773085" y="4009623"/>
          <a:ext cx="3544598" cy="1959209"/>
        </p:xfrm>
        <a:graphic>
          <a:graphicData uri="http://schemas.openxmlformats.org/drawingml/2006/table">
            <a:tbl>
              <a:tblPr bandRow="1">
                <a:tableStyleId>{0E3FDE45-AF77-4B5C-9715-49D594BDF05E}</a:tableStyleId>
              </a:tblPr>
              <a:tblGrid>
                <a:gridCol w="1772299">
                  <a:extLst>
                    <a:ext uri="{9D8B030D-6E8A-4147-A177-3AD203B41FA5}">
                      <a16:colId xmlns:a16="http://schemas.microsoft.com/office/drawing/2014/main" val="2715671013"/>
                    </a:ext>
                  </a:extLst>
                </a:gridCol>
                <a:gridCol w="1772299">
                  <a:extLst>
                    <a:ext uri="{9D8B030D-6E8A-4147-A177-3AD203B41FA5}">
                      <a16:colId xmlns:a16="http://schemas.microsoft.com/office/drawing/2014/main" val="428071874"/>
                    </a:ext>
                  </a:extLst>
                </a:gridCol>
              </a:tblGrid>
              <a:tr h="279887">
                <a:tc>
                  <a:txBody>
                    <a:bodyPr/>
                    <a:lstStyle/>
                    <a:p>
                      <a:pPr algn="l" rtl="0" fontAlgn="base">
                        <a:lnSpc>
                          <a:spcPts val="450"/>
                        </a:lnSpc>
                        <a:buNone/>
                      </a:pPr>
                      <a:r>
                        <a:rPr lang="en-US" sz="900" b="1" u="none" strike="noStrike">
                          <a:solidFill>
                            <a:srgbClr val="000000"/>
                          </a:solidFill>
                          <a:effectLst/>
                          <a:latin typeface="Avenir Next LT Pro" panose="020B0504020202020204" pitchFamily="34" charset="0"/>
                        </a:rPr>
                        <a:t>Terminal P/E</a:t>
                      </a:r>
                      <a:r>
                        <a:rPr lang="en-US" sz="900" b="1" u="none">
                          <a:solidFill>
                            <a:srgbClr val="000000"/>
                          </a:solidFill>
                          <a:effectLst/>
                          <a:latin typeface="Avenir Next LT Pro" panose="020B0504020202020204" pitchFamily="34" charset="0"/>
                        </a:rPr>
                        <a:t>​</a:t>
                      </a:r>
                      <a:endParaRPr lang="en-US" sz="900" b="1" i="0" u="none">
                        <a:solidFill>
                          <a:srgbClr val="000000"/>
                        </a:solidFill>
                        <a:effectLst/>
                        <a:latin typeface="Avenir Next LT Pro" panose="020B0504020202020204" pitchFamily="34" charset="0"/>
                      </a:endParaRPr>
                    </a:p>
                  </a:txBody>
                  <a:tcPr anchor="ctr"/>
                </a:tc>
                <a:tc>
                  <a:txBody>
                    <a:bodyPr/>
                    <a:lstStyle/>
                    <a:p>
                      <a:pPr marL="0" algn="ctr" defTabSz="914400" rtl="0" eaLnBrk="1" fontAlgn="base" latinLnBrk="0" hangingPunct="1">
                        <a:lnSpc>
                          <a:spcPts val="450"/>
                        </a:lnSpc>
                        <a:buNone/>
                      </a:pPr>
                      <a:r>
                        <a:rPr lang="en-US" sz="900" b="1" u="none" strike="noStrike" kern="1200">
                          <a:solidFill>
                            <a:srgbClr val="000000"/>
                          </a:solidFill>
                          <a:effectLst/>
                          <a:latin typeface="Avenir Next LT Pro" panose="020B0504020202020204" pitchFamily="34" charset="0"/>
                        </a:rPr>
                        <a:t>12.00 </a:t>
                      </a:r>
                      <a:endParaRPr lang="en-US" sz="900" b="1" i="0" u="none" strike="noStrike" kern="1200">
                        <a:solidFill>
                          <a:srgbClr val="000000"/>
                        </a:solidFill>
                        <a:effectLst/>
                        <a:latin typeface="Avenir Next LT Pro" panose="020B0504020202020204" pitchFamily="34" charset="0"/>
                        <a:ea typeface="+mn-ea"/>
                        <a:cs typeface="+mn-cs"/>
                      </a:endParaRPr>
                    </a:p>
                  </a:txBody>
                  <a:tcPr marL="0" marR="0" marT="0" marB="0" anchor="ctr"/>
                </a:tc>
                <a:extLst>
                  <a:ext uri="{0D108BD9-81ED-4DB2-BD59-A6C34878D82A}">
                    <a16:rowId xmlns:a16="http://schemas.microsoft.com/office/drawing/2014/main" val="197812016"/>
                  </a:ext>
                </a:extLst>
              </a:tr>
              <a:tr h="279887">
                <a:tc>
                  <a:txBody>
                    <a:bodyPr/>
                    <a:lstStyle/>
                    <a:p>
                      <a:pPr algn="l" rtl="0" fontAlgn="base">
                        <a:lnSpc>
                          <a:spcPts val="450"/>
                        </a:lnSpc>
                        <a:buNone/>
                      </a:pPr>
                      <a:r>
                        <a:rPr lang="en-US" sz="900" b="1" u="none" strike="noStrike">
                          <a:solidFill>
                            <a:srgbClr val="000000"/>
                          </a:solidFill>
                          <a:effectLst/>
                          <a:latin typeface="Avenir Next LT Pro" panose="020B0504020202020204" pitchFamily="34" charset="0"/>
                        </a:rPr>
                        <a:t>* Terminal EPS</a:t>
                      </a:r>
                      <a:r>
                        <a:rPr lang="en-US" sz="900" b="1" u="none">
                          <a:solidFill>
                            <a:srgbClr val="000000"/>
                          </a:solidFill>
                          <a:effectLst/>
                          <a:latin typeface="Avenir Next LT Pro" panose="020B0504020202020204" pitchFamily="34" charset="0"/>
                        </a:rPr>
                        <a:t>​</a:t>
                      </a:r>
                      <a:endParaRPr lang="en-US" sz="900" b="1" i="0" u="none">
                        <a:solidFill>
                          <a:srgbClr val="000000"/>
                        </a:solidFill>
                        <a:effectLst/>
                        <a:latin typeface="Avenir Next LT Pro" panose="020B0504020202020204" pitchFamily="34" charset="0"/>
                      </a:endParaRPr>
                    </a:p>
                  </a:txBody>
                  <a:tcPr anchor="ctr"/>
                </a:tc>
                <a:tc>
                  <a:txBody>
                    <a:bodyPr/>
                    <a:lstStyle/>
                    <a:p>
                      <a:pPr marL="0" algn="ctr" defTabSz="914400" rtl="0" eaLnBrk="1" fontAlgn="base" latinLnBrk="0" hangingPunct="1">
                        <a:lnSpc>
                          <a:spcPts val="450"/>
                        </a:lnSpc>
                        <a:buNone/>
                      </a:pPr>
                      <a:r>
                        <a:rPr lang="en-US" sz="900" b="1" u="none" strike="noStrike" kern="1200">
                          <a:solidFill>
                            <a:srgbClr val="000000"/>
                          </a:solidFill>
                          <a:effectLst/>
                          <a:latin typeface="Avenir Next LT Pro" panose="020B0504020202020204" pitchFamily="34" charset="0"/>
                        </a:rPr>
                        <a:t>$10.15 </a:t>
                      </a:r>
                      <a:endParaRPr lang="en-US" sz="900" b="1" i="0" u="none" strike="noStrike" kern="1200">
                        <a:solidFill>
                          <a:srgbClr val="000000"/>
                        </a:solidFill>
                        <a:effectLst/>
                        <a:latin typeface="Avenir Next LT Pro" panose="020B0504020202020204" pitchFamily="34" charset="0"/>
                        <a:ea typeface="+mn-ea"/>
                        <a:cs typeface="+mn-cs"/>
                      </a:endParaRPr>
                    </a:p>
                  </a:txBody>
                  <a:tcPr marL="0" marR="0" marT="0" marB="0" anchor="ctr"/>
                </a:tc>
                <a:extLst>
                  <a:ext uri="{0D108BD9-81ED-4DB2-BD59-A6C34878D82A}">
                    <a16:rowId xmlns:a16="http://schemas.microsoft.com/office/drawing/2014/main" val="2382882623"/>
                  </a:ext>
                </a:extLst>
              </a:tr>
              <a:tr h="279887">
                <a:tc>
                  <a:txBody>
                    <a:bodyPr/>
                    <a:lstStyle/>
                    <a:p>
                      <a:pPr algn="l" rtl="0" fontAlgn="base">
                        <a:lnSpc>
                          <a:spcPts val="450"/>
                        </a:lnSpc>
                        <a:buNone/>
                      </a:pPr>
                      <a:r>
                        <a:rPr lang="en-US" sz="900" b="1" u="none" strike="noStrike">
                          <a:solidFill>
                            <a:srgbClr val="000000"/>
                          </a:solidFill>
                          <a:effectLst/>
                          <a:latin typeface="Avenir Next LT Pro" panose="020B0504020202020204" pitchFamily="34" charset="0"/>
                        </a:rPr>
                        <a:t>Terminal value</a:t>
                      </a:r>
                      <a:r>
                        <a:rPr lang="en-US" sz="900" b="1" u="none">
                          <a:solidFill>
                            <a:srgbClr val="000000"/>
                          </a:solidFill>
                          <a:effectLst/>
                          <a:latin typeface="Avenir Next LT Pro" panose="020B0504020202020204" pitchFamily="34" charset="0"/>
                        </a:rPr>
                        <a:t>​</a:t>
                      </a:r>
                      <a:endParaRPr lang="en-US" sz="900" b="1" i="0" u="none">
                        <a:solidFill>
                          <a:srgbClr val="000000"/>
                        </a:solidFill>
                        <a:effectLst/>
                        <a:latin typeface="Avenir Next LT Pro" panose="020B0504020202020204" pitchFamily="34" charset="0"/>
                      </a:endParaRPr>
                    </a:p>
                  </a:txBody>
                  <a:tcPr anchor="ctr"/>
                </a:tc>
                <a:tc>
                  <a:txBody>
                    <a:bodyPr/>
                    <a:lstStyle/>
                    <a:p>
                      <a:pPr marL="0" algn="ctr" defTabSz="914400" rtl="0" eaLnBrk="1" fontAlgn="base" latinLnBrk="0" hangingPunct="1">
                        <a:lnSpc>
                          <a:spcPts val="450"/>
                        </a:lnSpc>
                        <a:buNone/>
                      </a:pPr>
                      <a:r>
                        <a:rPr lang="en-US" sz="900" b="1" u="none" strike="noStrike" kern="1200">
                          <a:solidFill>
                            <a:srgbClr val="000000"/>
                          </a:solidFill>
                          <a:effectLst/>
                          <a:latin typeface="Avenir Next LT Pro" panose="020B0504020202020204" pitchFamily="34" charset="0"/>
                        </a:rPr>
                        <a:t>$121.76 </a:t>
                      </a:r>
                      <a:endParaRPr lang="en-US" sz="900" b="1" i="0" u="none" strike="noStrike" kern="1200">
                        <a:solidFill>
                          <a:srgbClr val="000000"/>
                        </a:solidFill>
                        <a:effectLst/>
                        <a:latin typeface="Avenir Next LT Pro" panose="020B0504020202020204" pitchFamily="34" charset="0"/>
                        <a:ea typeface="+mn-ea"/>
                        <a:cs typeface="+mn-cs"/>
                      </a:endParaRPr>
                    </a:p>
                  </a:txBody>
                  <a:tcPr marL="0" marR="0" marT="0" marB="0" anchor="ctr"/>
                </a:tc>
                <a:extLst>
                  <a:ext uri="{0D108BD9-81ED-4DB2-BD59-A6C34878D82A}">
                    <a16:rowId xmlns:a16="http://schemas.microsoft.com/office/drawing/2014/main" val="3056197020"/>
                  </a:ext>
                </a:extLst>
              </a:tr>
              <a:tr h="279887">
                <a:tc>
                  <a:txBody>
                    <a:bodyPr/>
                    <a:lstStyle/>
                    <a:p>
                      <a:pPr algn="l" rtl="0" fontAlgn="base">
                        <a:lnSpc>
                          <a:spcPts val="450"/>
                        </a:lnSpc>
                        <a:buNone/>
                      </a:pPr>
                      <a:r>
                        <a:rPr lang="en-US" sz="900" b="1" u="none" strike="noStrike">
                          <a:solidFill>
                            <a:srgbClr val="000000"/>
                          </a:solidFill>
                          <a:effectLst/>
                          <a:latin typeface="Avenir Next LT Pro" panose="020B0504020202020204" pitchFamily="34" charset="0"/>
                        </a:rPr>
                        <a:t>* Discount factor</a:t>
                      </a:r>
                      <a:r>
                        <a:rPr lang="en-US" sz="900" b="1" u="none">
                          <a:solidFill>
                            <a:srgbClr val="000000"/>
                          </a:solidFill>
                          <a:effectLst/>
                          <a:latin typeface="Avenir Next LT Pro" panose="020B0504020202020204" pitchFamily="34" charset="0"/>
                        </a:rPr>
                        <a:t>​</a:t>
                      </a:r>
                      <a:endParaRPr lang="en-US" sz="900" b="1" i="0" u="none">
                        <a:solidFill>
                          <a:srgbClr val="000000"/>
                        </a:solidFill>
                        <a:effectLst/>
                        <a:latin typeface="Avenir Next LT Pro" panose="020B0504020202020204" pitchFamily="34" charset="0"/>
                      </a:endParaRPr>
                    </a:p>
                  </a:txBody>
                  <a:tcPr anchor="ctr"/>
                </a:tc>
                <a:tc>
                  <a:txBody>
                    <a:bodyPr/>
                    <a:lstStyle/>
                    <a:p>
                      <a:pPr marL="0" algn="ctr" defTabSz="914400" rtl="0" eaLnBrk="1" fontAlgn="base" latinLnBrk="0" hangingPunct="1">
                        <a:lnSpc>
                          <a:spcPts val="450"/>
                        </a:lnSpc>
                        <a:buNone/>
                      </a:pPr>
                      <a:r>
                        <a:rPr lang="en-US" sz="900" b="1" u="none" strike="noStrike" kern="1200">
                          <a:solidFill>
                            <a:srgbClr val="000000"/>
                          </a:solidFill>
                          <a:effectLst/>
                          <a:latin typeface="Avenir Next LT Pro" panose="020B0504020202020204" pitchFamily="34" charset="0"/>
                        </a:rPr>
                        <a:t>0.60 </a:t>
                      </a:r>
                      <a:endParaRPr lang="en-US" sz="900" b="1" i="0" u="none" strike="noStrike" kern="1200">
                        <a:solidFill>
                          <a:srgbClr val="000000"/>
                        </a:solidFill>
                        <a:effectLst/>
                        <a:latin typeface="Avenir Next LT Pro" panose="020B0504020202020204" pitchFamily="34" charset="0"/>
                        <a:ea typeface="+mn-ea"/>
                        <a:cs typeface="+mn-cs"/>
                      </a:endParaRPr>
                    </a:p>
                  </a:txBody>
                  <a:tcPr marL="0" marR="0" marT="0" marB="0" anchor="ctr"/>
                </a:tc>
                <a:extLst>
                  <a:ext uri="{0D108BD9-81ED-4DB2-BD59-A6C34878D82A}">
                    <a16:rowId xmlns:a16="http://schemas.microsoft.com/office/drawing/2014/main" val="4175446060"/>
                  </a:ext>
                </a:extLst>
              </a:tr>
              <a:tr h="279887">
                <a:tc>
                  <a:txBody>
                    <a:bodyPr/>
                    <a:lstStyle/>
                    <a:p>
                      <a:pPr algn="l" rtl="0" fontAlgn="base">
                        <a:lnSpc>
                          <a:spcPts val="450"/>
                        </a:lnSpc>
                        <a:buNone/>
                      </a:pPr>
                      <a:r>
                        <a:rPr lang="en-US" sz="900" b="1" u="none" strike="noStrike">
                          <a:solidFill>
                            <a:srgbClr val="000000"/>
                          </a:solidFill>
                          <a:effectLst/>
                          <a:latin typeface="Avenir Next LT Pro" panose="020B0504020202020204" pitchFamily="34" charset="0"/>
                        </a:rPr>
                        <a:t>Discounted terminal value</a:t>
                      </a:r>
                      <a:r>
                        <a:rPr lang="en-US" sz="900" b="1" u="none">
                          <a:solidFill>
                            <a:srgbClr val="000000"/>
                          </a:solidFill>
                          <a:effectLst/>
                          <a:latin typeface="Avenir Next LT Pro" panose="020B0504020202020204" pitchFamily="34" charset="0"/>
                        </a:rPr>
                        <a:t>​</a:t>
                      </a:r>
                      <a:endParaRPr lang="en-US" sz="900" b="1" i="0" u="none">
                        <a:solidFill>
                          <a:srgbClr val="000000"/>
                        </a:solidFill>
                        <a:effectLst/>
                        <a:latin typeface="Avenir Next LT Pro" panose="020B0504020202020204" pitchFamily="34" charset="0"/>
                      </a:endParaRPr>
                    </a:p>
                  </a:txBody>
                  <a:tcPr anchor="ctr"/>
                </a:tc>
                <a:tc>
                  <a:txBody>
                    <a:bodyPr/>
                    <a:lstStyle/>
                    <a:p>
                      <a:pPr marL="0" algn="ctr" defTabSz="914400" rtl="0" eaLnBrk="1" fontAlgn="base" latinLnBrk="0" hangingPunct="1">
                        <a:lnSpc>
                          <a:spcPts val="450"/>
                        </a:lnSpc>
                        <a:buNone/>
                      </a:pPr>
                      <a:r>
                        <a:rPr lang="en-US" sz="900" b="1" u="none" strike="noStrike" kern="1200">
                          <a:solidFill>
                            <a:srgbClr val="000000"/>
                          </a:solidFill>
                          <a:effectLst/>
                          <a:latin typeface="Avenir Next LT Pro" panose="020B0504020202020204" pitchFamily="34" charset="0"/>
                        </a:rPr>
                        <a:t>$72.95 </a:t>
                      </a:r>
                      <a:endParaRPr lang="en-US" sz="900" b="1" i="0" u="none" strike="noStrike" kern="1200">
                        <a:solidFill>
                          <a:srgbClr val="000000"/>
                        </a:solidFill>
                        <a:effectLst/>
                        <a:latin typeface="Avenir Next LT Pro" panose="020B0504020202020204" pitchFamily="34" charset="0"/>
                        <a:ea typeface="+mn-ea"/>
                        <a:cs typeface="+mn-cs"/>
                      </a:endParaRPr>
                    </a:p>
                  </a:txBody>
                  <a:tcPr marL="0" marR="0" marT="0" marB="0" anchor="ctr"/>
                </a:tc>
                <a:extLst>
                  <a:ext uri="{0D108BD9-81ED-4DB2-BD59-A6C34878D82A}">
                    <a16:rowId xmlns:a16="http://schemas.microsoft.com/office/drawing/2014/main" val="1861575213"/>
                  </a:ext>
                </a:extLst>
              </a:tr>
              <a:tr h="279887">
                <a:tc>
                  <a:txBody>
                    <a:bodyPr/>
                    <a:lstStyle/>
                    <a:p>
                      <a:pPr algn="l" rtl="0" fontAlgn="base">
                        <a:lnSpc>
                          <a:spcPts val="450"/>
                        </a:lnSpc>
                        <a:buNone/>
                      </a:pPr>
                      <a:r>
                        <a:rPr lang="en-US" sz="900" b="1" u="none" strike="noStrike">
                          <a:solidFill>
                            <a:srgbClr val="141414"/>
                          </a:solidFill>
                          <a:effectLst/>
                          <a:latin typeface="Avenir Next LT Pro" panose="020B0504020202020204" pitchFamily="34" charset="0"/>
                        </a:rPr>
                        <a:t>First Stage</a:t>
                      </a:r>
                      <a:r>
                        <a:rPr lang="en-US" sz="900" b="1" u="none">
                          <a:solidFill>
                            <a:srgbClr val="000000"/>
                          </a:solidFill>
                          <a:effectLst/>
                          <a:latin typeface="Avenir Next LT Pro" panose="020B0504020202020204" pitchFamily="34" charset="0"/>
                        </a:rPr>
                        <a:t>​</a:t>
                      </a:r>
                      <a:endParaRPr lang="en-US" sz="900" b="1" i="0" u="none">
                        <a:solidFill>
                          <a:srgbClr val="000000"/>
                        </a:solidFill>
                        <a:effectLst/>
                        <a:latin typeface="Avenir Next LT Pro" panose="020B0504020202020204" pitchFamily="34" charset="0"/>
                      </a:endParaRPr>
                    </a:p>
                  </a:txBody>
                  <a:tcPr anchor="ctr"/>
                </a:tc>
                <a:tc>
                  <a:txBody>
                    <a:bodyPr/>
                    <a:lstStyle/>
                    <a:p>
                      <a:pPr algn="ctr" rtl="0" fontAlgn="base">
                        <a:lnSpc>
                          <a:spcPts val="450"/>
                        </a:lnSpc>
                        <a:buNone/>
                      </a:pPr>
                      <a:r>
                        <a:rPr lang="en-US" sz="900" b="1" u="none" strike="noStrike">
                          <a:solidFill>
                            <a:srgbClr val="141414"/>
                          </a:solidFill>
                          <a:effectLst/>
                          <a:latin typeface="Avenir Next LT Pro" panose="020B0504020202020204" pitchFamily="34" charset="0"/>
                        </a:rPr>
                        <a:t>$9.53</a:t>
                      </a:r>
                      <a:r>
                        <a:rPr lang="en-US" sz="900" b="1">
                          <a:solidFill>
                            <a:srgbClr val="000000"/>
                          </a:solidFill>
                          <a:effectLst/>
                          <a:latin typeface="Avenir Next LT Pro" panose="020B0504020202020204" pitchFamily="34" charset="0"/>
                        </a:rPr>
                        <a:t>​ </a:t>
                      </a:r>
                      <a:endParaRPr lang="en-US" sz="900" b="1" i="0">
                        <a:solidFill>
                          <a:srgbClr val="000000"/>
                        </a:solidFill>
                        <a:effectLst/>
                        <a:latin typeface="Avenir Next LT Pro" panose="020B0504020202020204" pitchFamily="34" charset="0"/>
                      </a:endParaRPr>
                    </a:p>
                  </a:txBody>
                  <a:tcPr anchor="ctr"/>
                </a:tc>
                <a:extLst>
                  <a:ext uri="{0D108BD9-81ED-4DB2-BD59-A6C34878D82A}">
                    <a16:rowId xmlns:a16="http://schemas.microsoft.com/office/drawing/2014/main" val="2035868787"/>
                  </a:ext>
                </a:extLst>
              </a:tr>
              <a:tr h="279887">
                <a:tc>
                  <a:txBody>
                    <a:bodyPr/>
                    <a:lstStyle/>
                    <a:p>
                      <a:pPr algn="l" rtl="0" fontAlgn="base">
                        <a:lnSpc>
                          <a:spcPts val="450"/>
                        </a:lnSpc>
                        <a:buNone/>
                      </a:pPr>
                      <a:r>
                        <a:rPr lang="en-US" sz="900" b="1" u="none" strike="noStrike">
                          <a:solidFill>
                            <a:srgbClr val="141414"/>
                          </a:solidFill>
                          <a:effectLst/>
                          <a:latin typeface="Avenir Next LT Pro" panose="020B0504020202020204" pitchFamily="34" charset="0"/>
                        </a:rPr>
                        <a:t>Value P/E</a:t>
                      </a:r>
                      <a:r>
                        <a:rPr lang="en-US" sz="900" b="1" u="none">
                          <a:solidFill>
                            <a:srgbClr val="000000"/>
                          </a:solidFill>
                          <a:effectLst/>
                          <a:latin typeface="Avenir Next LT Pro" panose="020B0504020202020204" pitchFamily="34" charset="0"/>
                        </a:rPr>
                        <a:t>​</a:t>
                      </a:r>
                      <a:endParaRPr lang="en-US" sz="900" b="1" i="0" u="none">
                        <a:solidFill>
                          <a:srgbClr val="000000"/>
                        </a:solidFill>
                        <a:effectLst/>
                        <a:latin typeface="Avenir Next LT Pro" panose="020B0504020202020204" pitchFamily="34" charset="0"/>
                      </a:endParaRPr>
                    </a:p>
                  </a:txBody>
                  <a:tcPr anchor="ctr"/>
                </a:tc>
                <a:tc>
                  <a:txBody>
                    <a:bodyPr/>
                    <a:lstStyle/>
                    <a:p>
                      <a:pPr algn="ctr" rtl="0" fontAlgn="base">
                        <a:lnSpc>
                          <a:spcPts val="450"/>
                        </a:lnSpc>
                        <a:buNone/>
                      </a:pPr>
                      <a:r>
                        <a:rPr lang="en-US" sz="900" b="1" u="none" strike="noStrike">
                          <a:solidFill>
                            <a:srgbClr val="141414"/>
                          </a:solidFill>
                          <a:effectLst/>
                          <a:latin typeface="Avenir Next LT Pro" panose="020B0504020202020204" pitchFamily="34" charset="0"/>
                        </a:rPr>
                        <a:t>$82.48</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extLst>
                  <a:ext uri="{0D108BD9-81ED-4DB2-BD59-A6C34878D82A}">
                    <a16:rowId xmlns:a16="http://schemas.microsoft.com/office/drawing/2014/main" val="1058645715"/>
                  </a:ext>
                </a:extLst>
              </a:tr>
            </a:tbl>
          </a:graphicData>
        </a:graphic>
      </p:graphicFrame>
      <p:graphicFrame>
        <p:nvGraphicFramePr>
          <p:cNvPr id="29" name="Table 28">
            <a:extLst>
              <a:ext uri="{FF2B5EF4-FFF2-40B4-BE49-F238E27FC236}">
                <a16:creationId xmlns:a16="http://schemas.microsoft.com/office/drawing/2014/main" id="{090DB1A7-C5DC-599B-823F-95787F923501}"/>
              </a:ext>
            </a:extLst>
          </p:cNvPr>
          <p:cNvGraphicFramePr>
            <a:graphicFrameLocks noGrp="1"/>
          </p:cNvGraphicFramePr>
          <p:nvPr>
            <p:extLst>
              <p:ext uri="{D42A27DB-BD31-4B8C-83A1-F6EECF244321}">
                <p14:modId xmlns:p14="http://schemas.microsoft.com/office/powerpoint/2010/main" val="2735978166"/>
              </p:ext>
            </p:extLst>
          </p:nvPr>
        </p:nvGraphicFramePr>
        <p:xfrm>
          <a:off x="8433947" y="3997664"/>
          <a:ext cx="3544598" cy="1959209"/>
        </p:xfrm>
        <a:graphic>
          <a:graphicData uri="http://schemas.openxmlformats.org/drawingml/2006/table">
            <a:tbl>
              <a:tblPr bandRow="1">
                <a:tableStyleId>{0E3FDE45-AF77-4B5C-9715-49D594BDF05E}</a:tableStyleId>
              </a:tblPr>
              <a:tblGrid>
                <a:gridCol w="1772299">
                  <a:extLst>
                    <a:ext uri="{9D8B030D-6E8A-4147-A177-3AD203B41FA5}">
                      <a16:colId xmlns:a16="http://schemas.microsoft.com/office/drawing/2014/main" val="794430394"/>
                    </a:ext>
                  </a:extLst>
                </a:gridCol>
                <a:gridCol w="1772299">
                  <a:extLst>
                    <a:ext uri="{9D8B030D-6E8A-4147-A177-3AD203B41FA5}">
                      <a16:colId xmlns:a16="http://schemas.microsoft.com/office/drawing/2014/main" val="620498659"/>
                    </a:ext>
                  </a:extLst>
                </a:gridCol>
              </a:tblGrid>
              <a:tr h="279887">
                <a:tc>
                  <a:txBody>
                    <a:bodyPr/>
                    <a:lstStyle/>
                    <a:p>
                      <a:pPr algn="l" rtl="0" fontAlgn="base">
                        <a:lnSpc>
                          <a:spcPts val="450"/>
                        </a:lnSpc>
                        <a:buNone/>
                      </a:pPr>
                      <a:r>
                        <a:rPr lang="en-US" sz="900" b="1" u="none" strike="noStrike">
                          <a:solidFill>
                            <a:srgbClr val="000000"/>
                          </a:solidFill>
                          <a:effectLst/>
                          <a:latin typeface="Avenir Next LT Pro" panose="020B0504020202020204" pitchFamily="34" charset="0"/>
                        </a:rPr>
                        <a:t>Terminal P/E</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tc>
                  <a:txBody>
                    <a:bodyPr/>
                    <a:lstStyle/>
                    <a:p>
                      <a:pPr algn="ctr" rtl="0" fontAlgn="base">
                        <a:lnSpc>
                          <a:spcPts val="450"/>
                        </a:lnSpc>
                        <a:buNone/>
                      </a:pPr>
                      <a:r>
                        <a:rPr lang="en-US" sz="900" b="1" u="none" strike="noStrike">
                          <a:solidFill>
                            <a:srgbClr val="000000"/>
                          </a:solidFill>
                          <a:effectLst/>
                          <a:latin typeface="Avenir Next LT Pro" panose="020B0504020202020204" pitchFamily="34" charset="0"/>
                        </a:rPr>
                        <a:t>8.00 </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extLst>
                  <a:ext uri="{0D108BD9-81ED-4DB2-BD59-A6C34878D82A}">
                    <a16:rowId xmlns:a16="http://schemas.microsoft.com/office/drawing/2014/main" val="498131498"/>
                  </a:ext>
                </a:extLst>
              </a:tr>
              <a:tr h="279887">
                <a:tc>
                  <a:txBody>
                    <a:bodyPr/>
                    <a:lstStyle/>
                    <a:p>
                      <a:pPr algn="l" rtl="0" fontAlgn="base">
                        <a:lnSpc>
                          <a:spcPts val="450"/>
                        </a:lnSpc>
                        <a:buNone/>
                      </a:pPr>
                      <a:r>
                        <a:rPr lang="en-US" sz="900" b="1" u="none" strike="noStrike">
                          <a:solidFill>
                            <a:srgbClr val="000000"/>
                          </a:solidFill>
                          <a:effectLst/>
                          <a:latin typeface="Avenir Next LT Pro" panose="020B0504020202020204" pitchFamily="34" charset="0"/>
                        </a:rPr>
                        <a:t>* Terminal EPS</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tc>
                  <a:txBody>
                    <a:bodyPr/>
                    <a:lstStyle/>
                    <a:p>
                      <a:pPr algn="ctr" rtl="0" fontAlgn="base">
                        <a:lnSpc>
                          <a:spcPts val="450"/>
                        </a:lnSpc>
                        <a:buNone/>
                      </a:pPr>
                      <a:r>
                        <a:rPr lang="en-US" sz="900" b="1" u="none" strike="noStrike">
                          <a:solidFill>
                            <a:srgbClr val="000000"/>
                          </a:solidFill>
                          <a:effectLst/>
                          <a:latin typeface="Avenir Next LT Pro" panose="020B0504020202020204" pitchFamily="34" charset="0"/>
                        </a:rPr>
                        <a:t>$2.52 </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extLst>
                  <a:ext uri="{0D108BD9-81ED-4DB2-BD59-A6C34878D82A}">
                    <a16:rowId xmlns:a16="http://schemas.microsoft.com/office/drawing/2014/main" val="4033060581"/>
                  </a:ext>
                </a:extLst>
              </a:tr>
              <a:tr h="279887">
                <a:tc>
                  <a:txBody>
                    <a:bodyPr/>
                    <a:lstStyle/>
                    <a:p>
                      <a:pPr algn="l" rtl="0" fontAlgn="base">
                        <a:lnSpc>
                          <a:spcPts val="450"/>
                        </a:lnSpc>
                        <a:buNone/>
                      </a:pPr>
                      <a:r>
                        <a:rPr lang="en-US" sz="900" b="1" u="none" strike="noStrike">
                          <a:solidFill>
                            <a:srgbClr val="000000"/>
                          </a:solidFill>
                          <a:effectLst/>
                          <a:latin typeface="Avenir Next LT Pro" panose="020B0504020202020204" pitchFamily="34" charset="0"/>
                        </a:rPr>
                        <a:t>Terminal value</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tc>
                  <a:txBody>
                    <a:bodyPr/>
                    <a:lstStyle/>
                    <a:p>
                      <a:pPr algn="ctr" rtl="0" fontAlgn="base">
                        <a:lnSpc>
                          <a:spcPts val="450"/>
                        </a:lnSpc>
                        <a:buNone/>
                      </a:pPr>
                      <a:r>
                        <a:rPr lang="en-US" sz="900" b="1" u="none" strike="noStrike">
                          <a:solidFill>
                            <a:srgbClr val="000000"/>
                          </a:solidFill>
                          <a:effectLst/>
                          <a:latin typeface="Avenir Next LT Pro" panose="020B0504020202020204" pitchFamily="34" charset="0"/>
                        </a:rPr>
                        <a:t>$20.13 </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extLst>
                  <a:ext uri="{0D108BD9-81ED-4DB2-BD59-A6C34878D82A}">
                    <a16:rowId xmlns:a16="http://schemas.microsoft.com/office/drawing/2014/main" val="3956244542"/>
                  </a:ext>
                </a:extLst>
              </a:tr>
              <a:tr h="279887">
                <a:tc>
                  <a:txBody>
                    <a:bodyPr/>
                    <a:lstStyle/>
                    <a:p>
                      <a:pPr algn="l" rtl="0" fontAlgn="base">
                        <a:lnSpc>
                          <a:spcPts val="450"/>
                        </a:lnSpc>
                        <a:buNone/>
                      </a:pPr>
                      <a:r>
                        <a:rPr lang="en-US" sz="900" b="1" u="none" strike="noStrike">
                          <a:solidFill>
                            <a:srgbClr val="000000"/>
                          </a:solidFill>
                          <a:effectLst/>
                          <a:latin typeface="Avenir Next LT Pro" panose="020B0504020202020204" pitchFamily="34" charset="0"/>
                        </a:rPr>
                        <a:t>* Discount factor</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tc>
                  <a:txBody>
                    <a:bodyPr/>
                    <a:lstStyle/>
                    <a:p>
                      <a:pPr algn="ctr" rtl="0" fontAlgn="base">
                        <a:lnSpc>
                          <a:spcPts val="450"/>
                        </a:lnSpc>
                        <a:buNone/>
                      </a:pPr>
                      <a:r>
                        <a:rPr lang="en-US" sz="900" b="1" u="none" strike="noStrike">
                          <a:solidFill>
                            <a:srgbClr val="000000"/>
                          </a:solidFill>
                          <a:effectLst/>
                          <a:latin typeface="Avenir Next LT Pro" panose="020B0504020202020204" pitchFamily="34" charset="0"/>
                        </a:rPr>
                        <a:t>0.60 </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extLst>
                  <a:ext uri="{0D108BD9-81ED-4DB2-BD59-A6C34878D82A}">
                    <a16:rowId xmlns:a16="http://schemas.microsoft.com/office/drawing/2014/main" val="4076145218"/>
                  </a:ext>
                </a:extLst>
              </a:tr>
              <a:tr h="279887">
                <a:tc>
                  <a:txBody>
                    <a:bodyPr/>
                    <a:lstStyle/>
                    <a:p>
                      <a:pPr algn="l" rtl="0" fontAlgn="base">
                        <a:lnSpc>
                          <a:spcPts val="450"/>
                        </a:lnSpc>
                        <a:buNone/>
                      </a:pPr>
                      <a:r>
                        <a:rPr lang="en-US" sz="900" b="1" u="none" strike="noStrike">
                          <a:solidFill>
                            <a:srgbClr val="000000"/>
                          </a:solidFill>
                          <a:effectLst/>
                          <a:latin typeface="Avenir Next LT Pro" panose="020B0504020202020204" pitchFamily="34" charset="0"/>
                        </a:rPr>
                        <a:t>Discounted terminal value</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tc>
                  <a:txBody>
                    <a:bodyPr/>
                    <a:lstStyle/>
                    <a:p>
                      <a:pPr algn="ctr" rtl="0" fontAlgn="base">
                        <a:lnSpc>
                          <a:spcPts val="450"/>
                        </a:lnSpc>
                        <a:buNone/>
                      </a:pPr>
                      <a:r>
                        <a:rPr lang="en-US" sz="900" b="1" u="none" strike="noStrike">
                          <a:solidFill>
                            <a:srgbClr val="000000"/>
                          </a:solidFill>
                          <a:effectLst/>
                          <a:latin typeface="Avenir Next LT Pro" panose="020B0504020202020204" pitchFamily="34" charset="0"/>
                        </a:rPr>
                        <a:t>$12.06 </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extLst>
                  <a:ext uri="{0D108BD9-81ED-4DB2-BD59-A6C34878D82A}">
                    <a16:rowId xmlns:a16="http://schemas.microsoft.com/office/drawing/2014/main" val="4269551952"/>
                  </a:ext>
                </a:extLst>
              </a:tr>
              <a:tr h="279887">
                <a:tc>
                  <a:txBody>
                    <a:bodyPr/>
                    <a:lstStyle/>
                    <a:p>
                      <a:pPr algn="l" rtl="0" fontAlgn="base">
                        <a:lnSpc>
                          <a:spcPts val="450"/>
                        </a:lnSpc>
                        <a:buNone/>
                      </a:pPr>
                      <a:r>
                        <a:rPr lang="en-US" sz="900" b="1" u="none" strike="noStrike">
                          <a:solidFill>
                            <a:srgbClr val="141414"/>
                          </a:solidFill>
                          <a:effectLst/>
                          <a:latin typeface="Avenir Next LT Pro" panose="020B0504020202020204" pitchFamily="34" charset="0"/>
                        </a:rPr>
                        <a:t>First Stage</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tc>
                  <a:txBody>
                    <a:bodyPr/>
                    <a:lstStyle/>
                    <a:p>
                      <a:pPr algn="ctr" rtl="0" fontAlgn="base">
                        <a:lnSpc>
                          <a:spcPts val="450"/>
                        </a:lnSpc>
                        <a:buNone/>
                      </a:pPr>
                      <a:r>
                        <a:rPr lang="en-US" sz="900" b="1" u="none" strike="noStrike">
                          <a:solidFill>
                            <a:srgbClr val="141414"/>
                          </a:solidFill>
                          <a:effectLst/>
                          <a:latin typeface="Avenir Next LT Pro" panose="020B0504020202020204" pitchFamily="34" charset="0"/>
                        </a:rPr>
                        <a:t>$17.05</a:t>
                      </a:r>
                      <a:endParaRPr lang="en-US" sz="900" b="1" i="0">
                        <a:solidFill>
                          <a:srgbClr val="000000"/>
                        </a:solidFill>
                        <a:effectLst/>
                        <a:latin typeface="Avenir Next LT Pro" panose="020B0504020202020204" pitchFamily="34" charset="0"/>
                      </a:endParaRPr>
                    </a:p>
                  </a:txBody>
                  <a:tcPr anchor="ctr"/>
                </a:tc>
                <a:extLst>
                  <a:ext uri="{0D108BD9-81ED-4DB2-BD59-A6C34878D82A}">
                    <a16:rowId xmlns:a16="http://schemas.microsoft.com/office/drawing/2014/main" val="3909716647"/>
                  </a:ext>
                </a:extLst>
              </a:tr>
              <a:tr h="279887">
                <a:tc>
                  <a:txBody>
                    <a:bodyPr/>
                    <a:lstStyle/>
                    <a:p>
                      <a:pPr algn="l" rtl="0" fontAlgn="base">
                        <a:lnSpc>
                          <a:spcPts val="450"/>
                        </a:lnSpc>
                        <a:buNone/>
                      </a:pPr>
                      <a:r>
                        <a:rPr lang="en-US" sz="900" b="1" u="none" strike="noStrike">
                          <a:solidFill>
                            <a:srgbClr val="141414"/>
                          </a:solidFill>
                          <a:effectLst/>
                          <a:latin typeface="Avenir Next LT Pro" panose="020B0504020202020204" pitchFamily="34" charset="0"/>
                        </a:rPr>
                        <a:t>Value P/E</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tc>
                  <a:txBody>
                    <a:bodyPr/>
                    <a:lstStyle/>
                    <a:p>
                      <a:pPr algn="ctr" rtl="0" fontAlgn="base">
                        <a:lnSpc>
                          <a:spcPts val="450"/>
                        </a:lnSpc>
                        <a:buNone/>
                      </a:pPr>
                      <a:r>
                        <a:rPr lang="en-US" sz="900" b="1" u="none" strike="noStrike">
                          <a:solidFill>
                            <a:srgbClr val="141414"/>
                          </a:solidFill>
                          <a:effectLst/>
                          <a:latin typeface="Avenir Next LT Pro" panose="020B0504020202020204" pitchFamily="34" charset="0"/>
                        </a:rPr>
                        <a:t>$29.11</a:t>
                      </a:r>
                      <a:r>
                        <a:rPr lang="en-US" sz="900" b="1">
                          <a:solidFill>
                            <a:srgbClr val="000000"/>
                          </a:solidFill>
                          <a:effectLst/>
                          <a:latin typeface="Avenir Next LT Pro" panose="020B0504020202020204" pitchFamily="34" charset="0"/>
                        </a:rPr>
                        <a:t>​</a:t>
                      </a:r>
                      <a:endParaRPr lang="en-US" sz="900" b="1" i="0">
                        <a:solidFill>
                          <a:srgbClr val="000000"/>
                        </a:solidFill>
                        <a:effectLst/>
                        <a:latin typeface="Avenir Next LT Pro" panose="020B0504020202020204" pitchFamily="34" charset="0"/>
                      </a:endParaRPr>
                    </a:p>
                  </a:txBody>
                  <a:tcPr anchor="ctr"/>
                </a:tc>
                <a:extLst>
                  <a:ext uri="{0D108BD9-81ED-4DB2-BD59-A6C34878D82A}">
                    <a16:rowId xmlns:a16="http://schemas.microsoft.com/office/drawing/2014/main" val="272816218"/>
                  </a:ext>
                </a:extLst>
              </a:tr>
            </a:tbl>
          </a:graphicData>
        </a:graphic>
      </p:graphicFrame>
      <p:pic>
        <p:nvPicPr>
          <p:cNvPr id="3" name="Picture 2" descr="Harley Davidson Logo PNG Image - PurePNG | Free transparent CC0 PNG ...">
            <a:extLst>
              <a:ext uri="{FF2B5EF4-FFF2-40B4-BE49-F238E27FC236}">
                <a16:creationId xmlns:a16="http://schemas.microsoft.com/office/drawing/2014/main" id="{20422C35-34D0-2BD4-2FD9-A2C956A68E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6" name="object 4">
            <a:extLst>
              <a:ext uri="{FF2B5EF4-FFF2-40B4-BE49-F238E27FC236}">
                <a16:creationId xmlns:a16="http://schemas.microsoft.com/office/drawing/2014/main" id="{102F1A2E-2903-D8E4-ABF0-2E9D6F24C64C}"/>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Calibri" panose="020F050202020403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pSp>
        <p:nvGrpSpPr>
          <p:cNvPr id="21" name="Group 20">
            <a:extLst>
              <a:ext uri="{FF2B5EF4-FFF2-40B4-BE49-F238E27FC236}">
                <a16:creationId xmlns:a16="http://schemas.microsoft.com/office/drawing/2014/main" id="{24077C4B-2085-61E0-5ED2-EE94A00CFB5E}"/>
              </a:ext>
            </a:extLst>
          </p:cNvPr>
          <p:cNvGrpSpPr/>
          <p:nvPr/>
        </p:nvGrpSpPr>
        <p:grpSpPr>
          <a:xfrm>
            <a:off x="695325" y="6302380"/>
            <a:ext cx="10429876" cy="265521"/>
            <a:chOff x="695325" y="6302380"/>
            <a:chExt cx="10429876" cy="265521"/>
          </a:xfrm>
        </p:grpSpPr>
        <p:sp>
          <p:nvSpPr>
            <p:cNvPr id="22" name="object 13">
              <a:extLst>
                <a:ext uri="{FF2B5EF4-FFF2-40B4-BE49-F238E27FC236}">
                  <a16:creationId xmlns:a16="http://schemas.microsoft.com/office/drawing/2014/main" id="{68B3C495-3B13-BB1B-3DEB-7A6C3235CA17}"/>
                </a:ext>
              </a:extLst>
            </p:cNvPr>
            <p:cNvSpPr txBox="1"/>
            <p:nvPr/>
          </p:nvSpPr>
          <p:spPr>
            <a:xfrm>
              <a:off x="7699204" y="6334466"/>
              <a:ext cx="618479"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24" name="object 14">
              <a:extLst>
                <a:ext uri="{FF2B5EF4-FFF2-40B4-BE49-F238E27FC236}">
                  <a16:creationId xmlns:a16="http://schemas.microsoft.com/office/drawing/2014/main" id="{3EA6C23E-358D-CCB9-023E-75D13C860482}"/>
                </a:ext>
              </a:extLst>
            </p:cNvPr>
            <p:cNvSpPr txBox="1"/>
            <p:nvPr/>
          </p:nvSpPr>
          <p:spPr>
            <a:xfrm>
              <a:off x="8957749" y="6334466"/>
              <a:ext cx="42037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26" name="object 16">
              <a:extLst>
                <a:ext uri="{FF2B5EF4-FFF2-40B4-BE49-F238E27FC236}">
                  <a16:creationId xmlns:a16="http://schemas.microsoft.com/office/drawing/2014/main" id="{23663812-26AD-36CE-6908-DB68B241FC4A}"/>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28" name="object 37">
              <a:extLst>
                <a:ext uri="{FF2B5EF4-FFF2-40B4-BE49-F238E27FC236}">
                  <a16:creationId xmlns:a16="http://schemas.microsoft.com/office/drawing/2014/main" id="{362BA62B-1BC0-2858-9A16-B1837339FBF7}"/>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30" name="object 39">
              <a:extLst>
                <a:ext uri="{FF2B5EF4-FFF2-40B4-BE49-F238E27FC236}">
                  <a16:creationId xmlns:a16="http://schemas.microsoft.com/office/drawing/2014/main" id="{041D3ADD-493F-4077-1B66-97B2E7EA61F6}"/>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31" name="object 40">
              <a:extLst>
                <a:ext uri="{FF2B5EF4-FFF2-40B4-BE49-F238E27FC236}">
                  <a16:creationId xmlns:a16="http://schemas.microsoft.com/office/drawing/2014/main" id="{75B47727-505E-778D-C687-F299DCE7BCF1}"/>
                </a:ext>
              </a:extLst>
            </p:cNvPr>
            <p:cNvSpPr txBox="1"/>
            <p:nvPr/>
          </p:nvSpPr>
          <p:spPr>
            <a:xfrm>
              <a:off x="4287375" y="6322739"/>
              <a:ext cx="94911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32" name="object 41">
              <a:extLst>
                <a:ext uri="{FF2B5EF4-FFF2-40B4-BE49-F238E27FC236}">
                  <a16:creationId xmlns:a16="http://schemas.microsoft.com/office/drawing/2014/main" id="{9560456E-4405-B34C-88E0-71DE0B96D25D}"/>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Valuation</a:t>
              </a:r>
              <a:endParaRPr lang="en-US" sz="1401" b="1">
                <a:latin typeface="Avenir Next LT Pro" panose="020B0504020202020204" pitchFamily="34" charset="0"/>
                <a:cs typeface="Segoe UI"/>
              </a:endParaRPr>
            </a:p>
          </p:txBody>
        </p:sp>
      </p:grpSp>
      <p:graphicFrame>
        <p:nvGraphicFramePr>
          <p:cNvPr id="8" name="Chart 7">
            <a:extLst>
              <a:ext uri="{FF2B5EF4-FFF2-40B4-BE49-F238E27FC236}">
                <a16:creationId xmlns:a16="http://schemas.microsoft.com/office/drawing/2014/main" id="{00000000-0008-0000-1100-000008000000}"/>
              </a:ext>
            </a:extLst>
          </p:cNvPr>
          <p:cNvGraphicFramePr>
            <a:graphicFrameLocks/>
          </p:cNvGraphicFramePr>
          <p:nvPr>
            <p:extLst>
              <p:ext uri="{D42A27DB-BD31-4B8C-83A1-F6EECF244321}">
                <p14:modId xmlns:p14="http://schemas.microsoft.com/office/powerpoint/2010/main" val="2002887220"/>
              </p:ext>
            </p:extLst>
          </p:nvPr>
        </p:nvGraphicFramePr>
        <p:xfrm>
          <a:off x="80949" y="2859469"/>
          <a:ext cx="4279951" cy="3039410"/>
        </p:xfrm>
        <a:graphic>
          <a:graphicData uri="http://schemas.openxmlformats.org/drawingml/2006/chart">
            <c:chart xmlns:c="http://schemas.openxmlformats.org/drawingml/2006/chart" xmlns:r="http://schemas.openxmlformats.org/officeDocument/2006/relationships" r:id="rId6"/>
          </a:graphicData>
        </a:graphic>
      </p:graphicFrame>
      <p:sp>
        <p:nvSpPr>
          <p:cNvPr id="9" name="Isosceles Triangle 8">
            <a:extLst>
              <a:ext uri="{FF2B5EF4-FFF2-40B4-BE49-F238E27FC236}">
                <a16:creationId xmlns:a16="http://schemas.microsoft.com/office/drawing/2014/main" id="{ED45DC6B-B6B9-42D2-6C6D-B0C17B48E69D}"/>
              </a:ext>
            </a:extLst>
          </p:cNvPr>
          <p:cNvSpPr/>
          <p:nvPr/>
        </p:nvSpPr>
        <p:spPr>
          <a:xfrm>
            <a:off x="863599" y="3450301"/>
            <a:ext cx="2806701" cy="2300980"/>
          </a:xfrm>
          <a:custGeom>
            <a:avLst/>
            <a:gdLst>
              <a:gd name="csX0" fmla="*/ 0 w 3436475"/>
              <a:gd name="csY0" fmla="*/ 2300980 h 2300980"/>
              <a:gd name="csX1" fmla="*/ 3436475 w 3436475"/>
              <a:gd name="csY1" fmla="*/ 0 h 2300980"/>
              <a:gd name="csX2" fmla="*/ 3436475 w 3436475"/>
              <a:gd name="csY2" fmla="*/ 2300980 h 2300980"/>
              <a:gd name="csX3" fmla="*/ 0 w 3436475"/>
              <a:gd name="csY3" fmla="*/ 2300980 h 2300980"/>
              <a:gd name="csX0" fmla="*/ 0 w 3360275"/>
              <a:gd name="csY0" fmla="*/ 2300980 h 2300980"/>
              <a:gd name="csX1" fmla="*/ 3360275 w 3360275"/>
              <a:gd name="csY1" fmla="*/ 0 h 2300980"/>
              <a:gd name="csX2" fmla="*/ 3360275 w 3360275"/>
              <a:gd name="csY2" fmla="*/ 2300980 h 2300980"/>
              <a:gd name="csX3" fmla="*/ 0 w 3360275"/>
              <a:gd name="csY3" fmla="*/ 2300980 h 2300980"/>
              <a:gd name="csX0" fmla="*/ 0 w 3360275"/>
              <a:gd name="csY0" fmla="*/ 2300980 h 2300980"/>
              <a:gd name="csX1" fmla="*/ 3360275 w 3360275"/>
              <a:gd name="csY1" fmla="*/ 0 h 2300980"/>
              <a:gd name="csX2" fmla="*/ 3360275 w 3360275"/>
              <a:gd name="csY2" fmla="*/ 1577080 h 2300980"/>
              <a:gd name="csX3" fmla="*/ 0 w 3360275"/>
              <a:gd name="csY3" fmla="*/ 2300980 h 2300980"/>
              <a:gd name="csX0" fmla="*/ 0 w 3360275"/>
              <a:gd name="csY0" fmla="*/ 2300980 h 2300980"/>
              <a:gd name="csX1" fmla="*/ 3360275 w 3360275"/>
              <a:gd name="csY1" fmla="*/ 0 h 2300980"/>
              <a:gd name="csX2" fmla="*/ 3360275 w 3360275"/>
              <a:gd name="csY2" fmla="*/ 1551680 h 2300980"/>
              <a:gd name="csX3" fmla="*/ 0 w 3360275"/>
              <a:gd name="csY3" fmla="*/ 2300980 h 2300980"/>
            </a:gdLst>
            <a:ahLst/>
            <a:cxnLst>
              <a:cxn ang="0">
                <a:pos x="csX0" y="csY0"/>
              </a:cxn>
              <a:cxn ang="0">
                <a:pos x="csX1" y="csY1"/>
              </a:cxn>
              <a:cxn ang="0">
                <a:pos x="csX2" y="csY2"/>
              </a:cxn>
              <a:cxn ang="0">
                <a:pos x="csX3" y="csY3"/>
              </a:cxn>
            </a:cxnLst>
            <a:rect l="l" t="t" r="r" b="b"/>
            <a:pathLst>
              <a:path w="3360275" h="2300980">
                <a:moveTo>
                  <a:pt x="0" y="2300980"/>
                </a:moveTo>
                <a:lnTo>
                  <a:pt x="3360275" y="0"/>
                </a:lnTo>
                <a:lnTo>
                  <a:pt x="3360275" y="1551680"/>
                </a:lnTo>
                <a:lnTo>
                  <a:pt x="0" y="2300980"/>
                </a:lnTo>
                <a:close/>
              </a:path>
            </a:pathLst>
          </a:custGeom>
          <a:gradFill>
            <a:gsLst>
              <a:gs pos="0">
                <a:schemeClr val="accent2">
                  <a:lumMod val="20000"/>
                  <a:lumOff val="80000"/>
                </a:schemeClr>
              </a:gs>
              <a:gs pos="22000">
                <a:schemeClr val="accent6">
                  <a:lumMod val="20000"/>
                  <a:lumOff val="80000"/>
                </a:schemeClr>
              </a:gs>
              <a:gs pos="58000">
                <a:schemeClr val="accent6">
                  <a:lumMod val="60000"/>
                  <a:lumOff val="40000"/>
                </a:schemeClr>
              </a:gs>
              <a:gs pos="100000">
                <a:schemeClr val="accent6">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322419C0-39CD-21AB-714B-0E785A56D340}"/>
              </a:ext>
            </a:extLst>
          </p:cNvPr>
          <p:cNvSpPr txBox="1">
            <a:spLocks/>
          </p:cNvSpPr>
          <p:nvPr/>
        </p:nvSpPr>
        <p:spPr>
          <a:xfrm>
            <a:off x="348788" y="135570"/>
            <a:ext cx="9774600" cy="994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a:solidFill>
                  <a:schemeClr val="accent2">
                    <a:lumMod val="75000"/>
                  </a:schemeClr>
                </a:solidFill>
                <a:latin typeface="Avenir Next LT Pro" panose="020B0504020202020204" pitchFamily="34" charset="0"/>
              </a:rPr>
              <a:t>Valuation</a:t>
            </a:r>
          </a:p>
        </p:txBody>
      </p:sp>
      <p:sp>
        <p:nvSpPr>
          <p:cNvPr id="15" name="TextBox 14">
            <a:extLst>
              <a:ext uri="{FF2B5EF4-FFF2-40B4-BE49-F238E27FC236}">
                <a16:creationId xmlns:a16="http://schemas.microsoft.com/office/drawing/2014/main" id="{5AC14AE4-FD23-D018-9D24-4E1098091357}"/>
              </a:ext>
            </a:extLst>
          </p:cNvPr>
          <p:cNvSpPr txBox="1"/>
          <p:nvPr/>
        </p:nvSpPr>
        <p:spPr>
          <a:xfrm>
            <a:off x="4773085" y="1040150"/>
            <a:ext cx="2926119" cy="307777"/>
          </a:xfrm>
          <a:prstGeom prst="rect">
            <a:avLst/>
          </a:prstGeom>
          <a:noFill/>
        </p:spPr>
        <p:txBody>
          <a:bodyPr wrap="square" rtlCol="0">
            <a:spAutoFit/>
          </a:bodyPr>
          <a:lstStyle/>
          <a:p>
            <a:r>
              <a:rPr lang="en-US" sz="1400">
                <a:latin typeface="Avenir Next LT Pro" panose="020B0504020202020204" pitchFamily="34" charset="0"/>
              </a:rPr>
              <a:t>Bull Case</a:t>
            </a:r>
          </a:p>
        </p:txBody>
      </p:sp>
      <p:sp>
        <p:nvSpPr>
          <p:cNvPr id="19" name="TextBox 18">
            <a:extLst>
              <a:ext uri="{FF2B5EF4-FFF2-40B4-BE49-F238E27FC236}">
                <a16:creationId xmlns:a16="http://schemas.microsoft.com/office/drawing/2014/main" id="{712A4013-74E7-0401-DB48-8B9C496EE39F}"/>
              </a:ext>
            </a:extLst>
          </p:cNvPr>
          <p:cNvSpPr txBox="1"/>
          <p:nvPr/>
        </p:nvSpPr>
        <p:spPr>
          <a:xfrm>
            <a:off x="8451685" y="1034849"/>
            <a:ext cx="6096000" cy="523220"/>
          </a:xfrm>
          <a:prstGeom prst="rect">
            <a:avLst/>
          </a:prstGeom>
          <a:noFill/>
        </p:spPr>
        <p:txBody>
          <a:bodyPr wrap="square">
            <a:spAutoFit/>
          </a:bodyPr>
          <a:lstStyle/>
          <a:p>
            <a:r>
              <a:rPr lang="en-US" sz="1400">
                <a:latin typeface="Avenir Next LT Pro" panose="020B0504020202020204" pitchFamily="34" charset="0"/>
              </a:rPr>
              <a:t>Bear Case</a:t>
            </a:r>
          </a:p>
          <a:p>
            <a:endParaRPr lang="en-US" sz="1400">
              <a:latin typeface="Avenir Next LT Pro" panose="020B0504020202020204" pitchFamily="34" charset="0"/>
            </a:endParaRPr>
          </a:p>
        </p:txBody>
      </p:sp>
      <p:pic>
        <p:nvPicPr>
          <p:cNvPr id="18" name="Picture 17">
            <a:extLst>
              <a:ext uri="{FF2B5EF4-FFF2-40B4-BE49-F238E27FC236}">
                <a16:creationId xmlns:a16="http://schemas.microsoft.com/office/drawing/2014/main" id="{CEDC8416-081F-8D25-71CF-BBC2EFBE9BB6}"/>
              </a:ext>
            </a:extLst>
          </p:cNvPr>
          <p:cNvPicPr>
            <a:picLocks noChangeAspect="1"/>
          </p:cNvPicPr>
          <p:nvPr/>
        </p:nvPicPr>
        <p:blipFill>
          <a:blip r:embed="rId7"/>
          <a:stretch>
            <a:fillRect/>
          </a:stretch>
        </p:blipFill>
        <p:spPr>
          <a:xfrm>
            <a:off x="4773085" y="1946855"/>
            <a:ext cx="3346291" cy="1943189"/>
          </a:xfrm>
          <a:prstGeom prst="rect">
            <a:avLst/>
          </a:prstGeom>
        </p:spPr>
      </p:pic>
      <p:pic>
        <p:nvPicPr>
          <p:cNvPr id="33" name="Picture 32">
            <a:extLst>
              <a:ext uri="{FF2B5EF4-FFF2-40B4-BE49-F238E27FC236}">
                <a16:creationId xmlns:a16="http://schemas.microsoft.com/office/drawing/2014/main" id="{CBD43C33-6847-A68E-FBBB-9B0F811547E1}"/>
              </a:ext>
            </a:extLst>
          </p:cNvPr>
          <p:cNvPicPr>
            <a:picLocks noChangeAspect="1"/>
          </p:cNvPicPr>
          <p:nvPr/>
        </p:nvPicPr>
        <p:blipFill>
          <a:blip r:embed="rId8"/>
          <a:stretch>
            <a:fillRect/>
          </a:stretch>
        </p:blipFill>
        <p:spPr>
          <a:xfrm>
            <a:off x="8434709" y="1946855"/>
            <a:ext cx="3346291" cy="1893239"/>
          </a:xfrm>
          <a:prstGeom prst="rect">
            <a:avLst/>
          </a:prstGeom>
        </p:spPr>
      </p:pic>
      <p:sp>
        <p:nvSpPr>
          <p:cNvPr id="12" name="object 15">
            <a:extLst>
              <a:ext uri="{FF2B5EF4-FFF2-40B4-BE49-F238E27FC236}">
                <a16:creationId xmlns:a16="http://schemas.microsoft.com/office/drawing/2014/main" id="{646CDA18-C0DE-5531-2339-D050017DD655}"/>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9"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Tree>
    <p:extLst>
      <p:ext uri="{BB962C8B-B14F-4D97-AF65-F5344CB8AC3E}">
        <p14:creationId xmlns:p14="http://schemas.microsoft.com/office/powerpoint/2010/main" val="705405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CDAC10F-F90D-ABD5-9804-A68B4DA9008C}"/>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9B528BF4-6823-2A46-8652-5914A0FBEF33}"/>
              </a:ext>
            </a:extLst>
          </p:cNvPr>
          <p:cNvSpPr/>
          <p:nvPr/>
        </p:nvSpPr>
        <p:spPr>
          <a:xfrm>
            <a:off x="367" y="5370872"/>
            <a:ext cx="12187167" cy="14871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2" name="object 2">
            <a:extLst>
              <a:ext uri="{FF2B5EF4-FFF2-40B4-BE49-F238E27FC236}">
                <a16:creationId xmlns:a16="http://schemas.microsoft.com/office/drawing/2014/main" id="{6D4E0743-768A-76C6-2B8A-32B4404BC3CF}"/>
              </a:ext>
            </a:extLst>
          </p:cNvPr>
          <p:cNvSpPr txBox="1"/>
          <p:nvPr/>
        </p:nvSpPr>
        <p:spPr>
          <a:xfrm>
            <a:off x="562929" y="5377435"/>
            <a:ext cx="8898571" cy="2185855"/>
          </a:xfrm>
          <a:prstGeom prst="rect">
            <a:avLst/>
          </a:prstGeom>
        </p:spPr>
        <p:txBody>
          <a:bodyPr vert="horz" wrap="square" lIns="0" tIns="173355" rIns="0" bIns="0" rtlCol="0" anchor="t">
            <a:spAutoFit/>
          </a:bodyPr>
          <a:lstStyle/>
          <a:p>
            <a:pPr marL="12700">
              <a:spcBef>
                <a:spcPts val="1365"/>
              </a:spcBef>
            </a:pPr>
            <a:r>
              <a:rPr lang="en-US" sz="3600">
                <a:latin typeface="Avenir Next LT Pro" panose="020B0504020202020204" pitchFamily="34" charset="0"/>
                <a:ea typeface="Calibri"/>
                <a:cs typeface="Calibri"/>
              </a:rPr>
              <a:t>Environmental,</a:t>
            </a:r>
            <a:r>
              <a:rPr lang="en-US" sz="3600" spc="-75">
                <a:latin typeface="Avenir Next LT Pro" panose="020B0504020202020204" pitchFamily="34" charset="0"/>
                <a:ea typeface="Calibri"/>
                <a:cs typeface="Calibri"/>
              </a:rPr>
              <a:t> </a:t>
            </a:r>
            <a:r>
              <a:rPr lang="en-US" sz="3600">
                <a:latin typeface="Avenir Next LT Pro" panose="020B0504020202020204" pitchFamily="34" charset="0"/>
                <a:ea typeface="Calibri"/>
                <a:cs typeface="Calibri"/>
              </a:rPr>
              <a:t>Social</a:t>
            </a:r>
            <a:r>
              <a:rPr lang="en-US" sz="3600" spc="-80">
                <a:latin typeface="Avenir Next LT Pro" panose="020B0504020202020204" pitchFamily="34" charset="0"/>
                <a:ea typeface="Calibri"/>
                <a:cs typeface="Calibri"/>
              </a:rPr>
              <a:t> </a:t>
            </a:r>
            <a:r>
              <a:rPr lang="en-US" sz="3600">
                <a:latin typeface="Avenir Next LT Pro" panose="020B0504020202020204" pitchFamily="34" charset="0"/>
                <a:ea typeface="Calibri"/>
                <a:cs typeface="Calibri"/>
              </a:rPr>
              <a:t>&amp;</a:t>
            </a:r>
            <a:r>
              <a:rPr lang="en-US" sz="3600" spc="-94">
                <a:latin typeface="Avenir Next LT Pro" panose="020B0504020202020204" pitchFamily="34" charset="0"/>
                <a:ea typeface="Calibri"/>
                <a:cs typeface="Calibri"/>
              </a:rPr>
              <a:t> </a:t>
            </a:r>
            <a:r>
              <a:rPr lang="en-US" sz="3600" spc="-11">
                <a:latin typeface="Avenir Next LT Pro" panose="020B0504020202020204" pitchFamily="34" charset="0"/>
                <a:ea typeface="Calibri"/>
                <a:cs typeface="Calibri"/>
              </a:rPr>
              <a:t>Governance</a:t>
            </a:r>
            <a:endParaRPr lang="en-US" sz="3600">
              <a:latin typeface="Avenir Next LT Pro" panose="020B0504020202020204" pitchFamily="34" charset="0"/>
              <a:ea typeface="Calibri"/>
              <a:cs typeface="Calibri"/>
            </a:endParaRPr>
          </a:p>
          <a:p>
            <a:r>
              <a:rPr lang="en-US" sz="2400" spc="-11">
                <a:solidFill>
                  <a:schemeClr val="accent2">
                    <a:lumMod val="76000"/>
                  </a:schemeClr>
                </a:solidFill>
                <a:latin typeface="Avenir Next LT Pro" panose="020B0504020202020204" pitchFamily="34" charset="0"/>
                <a:ea typeface="Calibri"/>
                <a:cs typeface="Calibri"/>
              </a:rPr>
              <a:t>Long Term Transition Remains Manageable</a:t>
            </a:r>
          </a:p>
          <a:p>
            <a:pPr marL="12700">
              <a:spcBef>
                <a:spcPts val="1365"/>
              </a:spcBef>
            </a:pPr>
            <a:endParaRPr lang="en-US" sz="3600" spc="-11">
              <a:latin typeface="Avenir Next LT Pro" panose="020B0504020202020204" pitchFamily="34" charset="0"/>
              <a:ea typeface="Calibri"/>
              <a:cs typeface="Calibri"/>
            </a:endParaRPr>
          </a:p>
          <a:p>
            <a:pPr marL="12700">
              <a:spcBef>
                <a:spcPts val="635"/>
              </a:spcBef>
            </a:pPr>
            <a:endParaRPr lang="en-US">
              <a:latin typeface="Avenir Next LT Pro" panose="020B0504020202020204" pitchFamily="34" charset="0"/>
              <a:ea typeface="Calibri"/>
              <a:cs typeface="Calibri"/>
            </a:endParaRPr>
          </a:p>
        </p:txBody>
      </p:sp>
      <p:pic>
        <p:nvPicPr>
          <p:cNvPr id="14" name="Picture 2" descr="Harley Davidson Logo PNG Image - PurePNG | Free transparent CC0 PNG ...">
            <a:extLst>
              <a:ext uri="{FF2B5EF4-FFF2-40B4-BE49-F238E27FC236}">
                <a16:creationId xmlns:a16="http://schemas.microsoft.com/office/drawing/2014/main" id="{5B2A1E9A-8EF4-D08A-0C24-0DBD7006F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229" y="87086"/>
            <a:ext cx="2036921" cy="1633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385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1CC6F7A-8093-D14C-161A-4252F2602D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0784" y="1337192"/>
            <a:ext cx="5450431" cy="3319581"/>
          </a:xfrm>
          <a:prstGeom prst="rect">
            <a:avLst/>
          </a:prstGeom>
        </p:spPr>
      </p:pic>
      <p:sp>
        <p:nvSpPr>
          <p:cNvPr id="3" name="object 107">
            <a:extLst>
              <a:ext uri="{FF2B5EF4-FFF2-40B4-BE49-F238E27FC236}">
                <a16:creationId xmlns:a16="http://schemas.microsoft.com/office/drawing/2014/main" id="{3C1433B4-2E8A-F001-EEBA-389BABFD82E0}"/>
              </a:ext>
            </a:extLst>
          </p:cNvPr>
          <p:cNvSpPr txBox="1"/>
          <p:nvPr/>
        </p:nvSpPr>
        <p:spPr>
          <a:xfrm>
            <a:off x="153090" y="62698"/>
            <a:ext cx="11331244" cy="690574"/>
          </a:xfrm>
          <a:prstGeom prst="rect">
            <a:avLst/>
          </a:prstGeom>
          <a:solidFill>
            <a:schemeClr val="bg1"/>
          </a:solidFill>
        </p:spPr>
        <p:txBody>
          <a:bodyPr vert="horz" wrap="square" lIns="0" tIns="13335" rIns="0" bIns="0" rtlCol="0" anchor="t">
            <a:spAutoFit/>
          </a:bodyPr>
          <a:lstStyle/>
          <a:p>
            <a:pPr marL="12700">
              <a:spcBef>
                <a:spcPts val="105"/>
              </a:spcBef>
            </a:pPr>
            <a:r>
              <a:rPr lang="en-US" sz="4400" spc="-10">
                <a:solidFill>
                  <a:schemeClr val="accent2">
                    <a:lumMod val="75000"/>
                  </a:schemeClr>
                </a:solidFill>
                <a:latin typeface="Avenir Next LT Pro" panose="020B0504020202020204" pitchFamily="34" charset="0"/>
                <a:cs typeface="Segoe UI"/>
                <a:hlinkClick r:id="" action="ppaction://noaction">
                  <a:extLst>
                    <a:ext uri="{A12FA001-AC4F-418D-AE19-62706E023703}">
                      <ahyp:hlinkClr xmlns:ahyp="http://schemas.microsoft.com/office/drawing/2018/hyperlinkcolor" val="tx"/>
                    </a:ext>
                  </a:extLst>
                </a:hlinkClick>
              </a:rPr>
              <a:t>Environmental, Social &amp; Governance</a:t>
            </a:r>
            <a:endParaRPr lang="en-US" sz="4400" spc="-10">
              <a:solidFill>
                <a:schemeClr val="accent2">
                  <a:lumMod val="75000"/>
                </a:schemeClr>
              </a:solidFill>
              <a:latin typeface="Avenir Next LT Pro" panose="020B0504020202020204" pitchFamily="34" charset="0"/>
              <a:cs typeface="Segoe UI"/>
            </a:endParaRPr>
          </a:p>
        </p:txBody>
      </p:sp>
      <p:sp>
        <p:nvSpPr>
          <p:cNvPr id="6" name="Title 1">
            <a:extLst>
              <a:ext uri="{FF2B5EF4-FFF2-40B4-BE49-F238E27FC236}">
                <a16:creationId xmlns:a16="http://schemas.microsoft.com/office/drawing/2014/main" id="{0A82DEE6-0BAA-9D18-DFC1-580CD192A2F2}"/>
              </a:ext>
            </a:extLst>
          </p:cNvPr>
          <p:cNvSpPr>
            <a:spLocks noGrp="1"/>
          </p:cNvSpPr>
          <p:nvPr/>
        </p:nvSpPr>
        <p:spPr>
          <a:xfrm>
            <a:off x="90578" y="646618"/>
            <a:ext cx="9926128" cy="635450"/>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b="1">
              <a:latin typeface="Avenir Next LT Pro" panose="020B0504020202020204" pitchFamily="34" charset="0"/>
              <a:ea typeface="Calibri"/>
              <a:cs typeface="Calibri"/>
            </a:endParaRPr>
          </a:p>
        </p:txBody>
      </p:sp>
      <p:sp>
        <p:nvSpPr>
          <p:cNvPr id="7" name="TextBox 6">
            <a:extLst>
              <a:ext uri="{FF2B5EF4-FFF2-40B4-BE49-F238E27FC236}">
                <a16:creationId xmlns:a16="http://schemas.microsoft.com/office/drawing/2014/main" id="{EA28D3B1-56A2-AC18-1C46-0C9F9524C1CD}"/>
              </a:ext>
            </a:extLst>
          </p:cNvPr>
          <p:cNvSpPr txBox="1"/>
          <p:nvPr/>
        </p:nvSpPr>
        <p:spPr>
          <a:xfrm>
            <a:off x="90578" y="1735901"/>
            <a:ext cx="3613914" cy="2862322"/>
          </a:xfrm>
          <a:prstGeom prst="rect">
            <a:avLst/>
          </a:prstGeom>
          <a:solidFill>
            <a:schemeClr val="accent2">
              <a:lumMod val="20000"/>
              <a:lumOff val="80000"/>
            </a:schemeClr>
          </a:solidFill>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tx1">
                    <a:lumMod val="95000"/>
                    <a:lumOff val="5000"/>
                  </a:schemeClr>
                </a:solidFill>
                <a:latin typeface="Avenir Next LT Pro" panose="020B0504020202020204" pitchFamily="34" charset="0"/>
                <a:ea typeface="Calibri" panose="020F0502020204030204" pitchFamily="34" charset="0"/>
                <a:cs typeface="Calibri" panose="020F0502020204030204" pitchFamily="34" charset="0"/>
              </a:rPr>
              <a:t>Regulation affects the future</a:t>
            </a:r>
          </a:p>
          <a:p>
            <a:endParaRPr lang="en-US" b="1" dirty="0">
              <a:solidFill>
                <a:schemeClr val="tx1">
                  <a:lumMod val="95000"/>
                  <a:lumOff val="5000"/>
                </a:schemeClr>
              </a:solidFill>
              <a:latin typeface="Avenir Next LT Pro" panose="020B050402020202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FontTx/>
              <a:buChar char="•"/>
            </a:pPr>
            <a:r>
              <a:rPr lang="en-US" altLang="en-US" dirty="0">
                <a:solidFill>
                  <a:schemeClr val="tx1">
                    <a:lumMod val="95000"/>
                    <a:lumOff val="5000"/>
                  </a:schemeClr>
                </a:solidFill>
                <a:latin typeface="Avenir Next LT Pro" panose="020B0504020202020204" pitchFamily="34" charset="0"/>
                <a:ea typeface="Calibri" panose="020F0502020204030204" pitchFamily="34" charset="0"/>
                <a:cs typeface="Calibri" panose="020F0502020204030204" pitchFamily="34" charset="0"/>
              </a:rPr>
              <a:t>Tightening emissions standards</a:t>
            </a:r>
          </a:p>
          <a:p>
            <a:pPr eaLnBrk="0" fontAlgn="base" hangingPunct="0">
              <a:spcBef>
                <a:spcPct val="0"/>
              </a:spcBef>
              <a:spcAft>
                <a:spcPct val="0"/>
              </a:spcAft>
              <a:buFontTx/>
              <a:buChar char="•"/>
            </a:pPr>
            <a:r>
              <a:rPr lang="en-US" altLang="en-US" dirty="0">
                <a:solidFill>
                  <a:schemeClr val="tx1">
                    <a:lumMod val="95000"/>
                    <a:lumOff val="5000"/>
                  </a:schemeClr>
                </a:solidFill>
                <a:latin typeface="Avenir Next LT Pro" panose="020B0504020202020204" pitchFamily="34" charset="0"/>
                <a:ea typeface="Calibri" panose="020F0502020204030204" pitchFamily="34" charset="0"/>
                <a:cs typeface="Calibri" panose="020F0502020204030204" pitchFamily="34" charset="0"/>
              </a:rPr>
              <a:t>Livewire enables electrification</a:t>
            </a:r>
          </a:p>
          <a:p>
            <a:pPr eaLnBrk="0" fontAlgn="base" hangingPunct="0">
              <a:spcBef>
                <a:spcPct val="0"/>
              </a:spcBef>
              <a:spcAft>
                <a:spcPct val="0"/>
              </a:spcAft>
              <a:buFontTx/>
              <a:buChar char="•"/>
            </a:pPr>
            <a:r>
              <a:rPr lang="en-US" altLang="en-US" dirty="0">
                <a:solidFill>
                  <a:schemeClr val="tx1">
                    <a:lumMod val="95000"/>
                    <a:lumOff val="5000"/>
                  </a:schemeClr>
                </a:solidFill>
                <a:latin typeface="Avenir Next LT Pro" panose="020B0504020202020204" pitchFamily="34" charset="0"/>
                <a:ea typeface="Calibri" panose="020F0502020204030204" pitchFamily="34" charset="0"/>
                <a:cs typeface="Calibri" panose="020F0502020204030204" pitchFamily="34" charset="0"/>
              </a:rPr>
              <a:t>Manufacturing lower cc bikes</a:t>
            </a:r>
          </a:p>
          <a:p>
            <a:pPr lvl="0" eaLnBrk="0" fontAlgn="base" hangingPunct="0">
              <a:spcBef>
                <a:spcPct val="0"/>
              </a:spcBef>
              <a:spcAft>
                <a:spcPct val="0"/>
              </a:spcAft>
              <a:buFontTx/>
              <a:buChar char="•"/>
            </a:pPr>
            <a:r>
              <a:rPr lang="en-US" altLang="en-US" dirty="0">
                <a:solidFill>
                  <a:schemeClr val="tx1">
                    <a:lumMod val="95000"/>
                    <a:lumOff val="5000"/>
                  </a:schemeClr>
                </a:solidFill>
                <a:latin typeface="Avenir Next LT Pro" panose="020B0504020202020204" pitchFamily="34" charset="0"/>
                <a:ea typeface="Calibri" panose="020F0502020204030204" pitchFamily="34" charset="0"/>
                <a:cs typeface="Calibri" panose="020F0502020204030204" pitchFamily="34" charset="0"/>
              </a:rPr>
              <a:t>No near-term demand impact</a:t>
            </a:r>
          </a:p>
          <a:p>
            <a:pPr lvl="0" eaLnBrk="0" fontAlgn="base" hangingPunct="0">
              <a:spcBef>
                <a:spcPct val="0"/>
              </a:spcBef>
              <a:spcAft>
                <a:spcPct val="0"/>
              </a:spcAft>
              <a:buFontTx/>
              <a:buChar char="•"/>
            </a:pPr>
            <a:endParaRPr lang="en-US" dirty="0">
              <a:solidFill>
                <a:schemeClr val="tx1">
                  <a:lumMod val="95000"/>
                  <a:lumOff val="5000"/>
                </a:schemeClr>
              </a:solidFill>
              <a:latin typeface="Avenir Next LT Pro" panose="020B0504020202020204" pitchFamily="34" charset="0"/>
              <a:ea typeface="Calibri" panose="020F0502020204030204" pitchFamily="34" charset="0"/>
              <a:cs typeface="Calibri" panose="020F0502020204030204" pitchFamily="34" charset="0"/>
            </a:endParaRPr>
          </a:p>
          <a:p>
            <a:r>
              <a:rPr lang="en-US" b="1" dirty="0">
                <a:solidFill>
                  <a:schemeClr val="tx1">
                    <a:lumMod val="95000"/>
                    <a:lumOff val="5000"/>
                  </a:schemeClr>
                </a:solidFill>
                <a:latin typeface="Avenir Next LT Pro" panose="020B0504020202020204" pitchFamily="34" charset="0"/>
                <a:ea typeface="Calibri" panose="020F0502020204030204" pitchFamily="34" charset="0"/>
                <a:cs typeface="Calibri" panose="020F0502020204030204" pitchFamily="34" charset="0"/>
              </a:rPr>
              <a:t>Result</a:t>
            </a:r>
            <a:r>
              <a:rPr lang="en-US" dirty="0">
                <a:solidFill>
                  <a:schemeClr val="tx1">
                    <a:lumMod val="95000"/>
                    <a:lumOff val="5000"/>
                  </a:schemeClr>
                </a:solidFill>
                <a:latin typeface="Avenir Next LT Pro" panose="020B0504020202020204" pitchFamily="34" charset="0"/>
                <a:ea typeface="Calibri" panose="020F0502020204030204" pitchFamily="34" charset="0"/>
                <a:cs typeface="Calibri" panose="020F0502020204030204" pitchFamily="34" charset="0"/>
              </a:rPr>
              <a:t>: Impacts future growth, not today’s profits</a:t>
            </a:r>
          </a:p>
          <a:p>
            <a:pPr algn="l"/>
            <a:endParaRPr lang="en-US" dirty="0">
              <a:solidFill>
                <a:schemeClr val="bg1"/>
              </a:solidFill>
              <a:latin typeface="Avenir Next LT Pro" panose="020B0504020202020204" pitchFamily="34" charset="0"/>
              <a:ea typeface="Calibri"/>
              <a:cs typeface="Calibri"/>
            </a:endParaRPr>
          </a:p>
        </p:txBody>
      </p:sp>
      <p:sp>
        <p:nvSpPr>
          <p:cNvPr id="9" name="TextBox 8">
            <a:extLst>
              <a:ext uri="{FF2B5EF4-FFF2-40B4-BE49-F238E27FC236}">
                <a16:creationId xmlns:a16="http://schemas.microsoft.com/office/drawing/2014/main" id="{7BE744AC-3C26-1570-5A2C-2B86F24BC4DB}"/>
              </a:ext>
            </a:extLst>
          </p:cNvPr>
          <p:cNvSpPr txBox="1"/>
          <p:nvPr/>
        </p:nvSpPr>
        <p:spPr>
          <a:xfrm>
            <a:off x="723090" y="1140360"/>
            <a:ext cx="2110153" cy="369332"/>
          </a:xfrm>
          <a:prstGeom prst="rect">
            <a:avLst/>
          </a:prstGeom>
          <a:solidFill>
            <a:schemeClr val="accent2">
              <a:lumMod val="20000"/>
              <a:lumOff val="80000"/>
            </a:schemeClr>
          </a:solidFill>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chemeClr val="tx1">
                    <a:lumMod val="95000"/>
                    <a:lumOff val="5000"/>
                  </a:schemeClr>
                </a:solidFill>
                <a:latin typeface="Avenir Next LT Pro" panose="020B0504020202020204" pitchFamily="34" charset="0"/>
              </a:rPr>
              <a:t>Environmental</a:t>
            </a:r>
          </a:p>
        </p:txBody>
      </p:sp>
      <p:sp>
        <p:nvSpPr>
          <p:cNvPr id="11" name="TextBox 10">
            <a:extLst>
              <a:ext uri="{FF2B5EF4-FFF2-40B4-BE49-F238E27FC236}">
                <a16:creationId xmlns:a16="http://schemas.microsoft.com/office/drawing/2014/main" id="{9DB48498-68A1-587A-1FDD-0717826DB2C2}"/>
              </a:ext>
            </a:extLst>
          </p:cNvPr>
          <p:cNvSpPr txBox="1"/>
          <p:nvPr/>
        </p:nvSpPr>
        <p:spPr>
          <a:xfrm>
            <a:off x="9288249" y="1169115"/>
            <a:ext cx="2110153" cy="369332"/>
          </a:xfrm>
          <a:prstGeom prst="rect">
            <a:avLst/>
          </a:prstGeom>
          <a:solidFill>
            <a:schemeClr val="accent2">
              <a:lumMod val="20000"/>
              <a:lumOff val="80000"/>
            </a:schemeClr>
          </a:solidFill>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defRPr b="1">
                <a:solidFill>
                  <a:schemeClr val="bg1"/>
                </a:solidFill>
                <a:latin typeface="Arial" panose="020B0604020202020204" pitchFamily="34" charset="0"/>
              </a:defRPr>
            </a:lvl1pPr>
          </a:lstStyle>
          <a:p>
            <a:pPr algn="ctr"/>
            <a:r>
              <a:rPr lang="en-US">
                <a:solidFill>
                  <a:schemeClr val="tx1">
                    <a:lumMod val="95000"/>
                    <a:lumOff val="5000"/>
                  </a:schemeClr>
                </a:solidFill>
                <a:latin typeface="Avenir Next LT Pro" panose="020B0504020202020204" pitchFamily="34" charset="0"/>
              </a:rPr>
              <a:t>Social</a:t>
            </a:r>
          </a:p>
        </p:txBody>
      </p:sp>
      <p:sp>
        <p:nvSpPr>
          <p:cNvPr id="13" name="TextBox 12">
            <a:extLst>
              <a:ext uri="{FF2B5EF4-FFF2-40B4-BE49-F238E27FC236}">
                <a16:creationId xmlns:a16="http://schemas.microsoft.com/office/drawing/2014/main" id="{506538A4-F4D3-E013-A0A4-82BBA33F75B2}"/>
              </a:ext>
            </a:extLst>
          </p:cNvPr>
          <p:cNvSpPr txBox="1"/>
          <p:nvPr/>
        </p:nvSpPr>
        <p:spPr>
          <a:xfrm>
            <a:off x="8716109" y="1745345"/>
            <a:ext cx="3240405" cy="2862322"/>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defRPr b="1">
                <a:solidFill>
                  <a:schemeClr val="bg1"/>
                </a:solidFill>
                <a:latin typeface="Calibri"/>
                <a:ea typeface="+mn-lt"/>
                <a:cs typeface="+mn-lt"/>
              </a:defRPr>
            </a:lvl1pPr>
          </a:lstStyle>
          <a:p>
            <a:r>
              <a:rPr lang="en-US">
                <a:solidFill>
                  <a:schemeClr val="tx1">
                    <a:lumMod val="95000"/>
                    <a:lumOff val="5000"/>
                  </a:schemeClr>
                </a:solidFill>
                <a:latin typeface="Avenir Next LT Pro" panose="020B0504020202020204" pitchFamily="34" charset="0"/>
              </a:rPr>
              <a:t>Stable Drivers</a:t>
            </a:r>
          </a:p>
          <a:p>
            <a:pPr marL="285750" indent="-285750">
              <a:buFont typeface="Arial" panose="020B0604020202020204" pitchFamily="34" charset="0"/>
              <a:buChar char="•"/>
            </a:pPr>
            <a:r>
              <a:rPr lang="en-US" b="0">
                <a:solidFill>
                  <a:schemeClr val="tx1">
                    <a:lumMod val="95000"/>
                    <a:lumOff val="5000"/>
                  </a:schemeClr>
                </a:solidFill>
                <a:latin typeface="Avenir Next LT Pro" panose="020B0504020202020204" pitchFamily="34" charset="0"/>
              </a:rPr>
              <a:t>Strong brand loyalty </a:t>
            </a:r>
          </a:p>
          <a:p>
            <a:pPr marL="285750" indent="-285750">
              <a:buFont typeface="Arial" panose="020B0604020202020204" pitchFamily="34" charset="0"/>
              <a:buChar char="•"/>
            </a:pPr>
            <a:r>
              <a:rPr lang="en-US" b="0">
                <a:solidFill>
                  <a:schemeClr val="tx1">
                    <a:lumMod val="95000"/>
                    <a:lumOff val="5000"/>
                  </a:schemeClr>
                </a:solidFill>
                <a:latin typeface="Avenir Next LT Pro" panose="020B0504020202020204" pitchFamily="34" charset="0"/>
              </a:rPr>
              <a:t>No material labor or regulatory controversies</a:t>
            </a:r>
          </a:p>
          <a:p>
            <a:endParaRPr lang="en-US" b="0">
              <a:solidFill>
                <a:schemeClr val="tx1">
                  <a:lumMod val="95000"/>
                  <a:lumOff val="5000"/>
                </a:schemeClr>
              </a:solidFill>
              <a:latin typeface="Avenir Next LT Pro" panose="020B0504020202020204" pitchFamily="34" charset="0"/>
            </a:endParaRPr>
          </a:p>
          <a:p>
            <a:r>
              <a:rPr lang="en-US">
                <a:solidFill>
                  <a:schemeClr val="tx1">
                    <a:lumMod val="95000"/>
                    <a:lumOff val="5000"/>
                  </a:schemeClr>
                </a:solidFill>
                <a:latin typeface="Avenir Next LT Pro" panose="020B0504020202020204" pitchFamily="34" charset="0"/>
              </a:rPr>
              <a:t>Headwinds</a:t>
            </a:r>
          </a:p>
          <a:p>
            <a:pPr marL="285750" indent="-285750">
              <a:buFont typeface="Arial" panose="020B0604020202020204" pitchFamily="34" charset="0"/>
              <a:buChar char="•"/>
            </a:pPr>
            <a:r>
              <a:rPr lang="en-US" b="0">
                <a:solidFill>
                  <a:schemeClr val="tx1">
                    <a:lumMod val="95000"/>
                    <a:lumOff val="5000"/>
                  </a:schemeClr>
                </a:solidFill>
                <a:latin typeface="Avenir Next LT Pro" panose="020B0504020202020204" pitchFamily="34" charset="0"/>
              </a:rPr>
              <a:t>Aging demographic</a:t>
            </a:r>
          </a:p>
          <a:p>
            <a:pPr marL="285750" indent="-285750">
              <a:buFont typeface="Arial" panose="020B0604020202020204" pitchFamily="34" charset="0"/>
              <a:buChar char="•"/>
            </a:pPr>
            <a:r>
              <a:rPr lang="en-US" b="0">
                <a:solidFill>
                  <a:schemeClr val="tx1">
                    <a:lumMod val="95000"/>
                    <a:lumOff val="5000"/>
                  </a:schemeClr>
                </a:solidFill>
                <a:latin typeface="Avenir Next LT Pro" panose="020B0504020202020204" pitchFamily="34" charset="0"/>
              </a:rPr>
              <a:t>Younger rider adoption slower</a:t>
            </a:r>
          </a:p>
          <a:p>
            <a:pPr marL="285750" indent="-285750">
              <a:buFont typeface="Arial" panose="020B0604020202020204" pitchFamily="34" charset="0"/>
              <a:buChar char="•"/>
            </a:pPr>
            <a:endParaRPr lang="en-US" b="0">
              <a:solidFill>
                <a:schemeClr val="tx1">
                  <a:lumMod val="95000"/>
                  <a:lumOff val="5000"/>
                </a:schemeClr>
              </a:solidFill>
              <a:latin typeface="Avenir Next LT Pro" panose="020B0504020202020204" pitchFamily="34" charset="0"/>
            </a:endParaRPr>
          </a:p>
        </p:txBody>
      </p:sp>
      <p:sp>
        <p:nvSpPr>
          <p:cNvPr id="15" name="TextBox 14">
            <a:extLst>
              <a:ext uri="{FF2B5EF4-FFF2-40B4-BE49-F238E27FC236}">
                <a16:creationId xmlns:a16="http://schemas.microsoft.com/office/drawing/2014/main" id="{24AAF56B-3D8C-A1CC-92D0-D71A96DE56C1}"/>
              </a:ext>
            </a:extLst>
          </p:cNvPr>
          <p:cNvSpPr txBox="1"/>
          <p:nvPr/>
        </p:nvSpPr>
        <p:spPr>
          <a:xfrm>
            <a:off x="4227884" y="4382693"/>
            <a:ext cx="3964832" cy="369332"/>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defRPr b="1">
                <a:solidFill>
                  <a:schemeClr val="bg1"/>
                </a:solidFill>
                <a:latin typeface="Arial" panose="020B0604020202020204" pitchFamily="34" charset="0"/>
              </a:defRPr>
            </a:lvl1pPr>
          </a:lstStyle>
          <a:p>
            <a:pPr algn="ctr"/>
            <a:r>
              <a:rPr lang="en-US">
                <a:solidFill>
                  <a:schemeClr val="tx1">
                    <a:lumMod val="95000"/>
                    <a:lumOff val="5000"/>
                  </a:schemeClr>
                </a:solidFill>
                <a:latin typeface="Avenir Next LT Pro" panose="020B0504020202020204" pitchFamily="34" charset="0"/>
              </a:rPr>
              <a:t>Investment Interpretation</a:t>
            </a:r>
          </a:p>
        </p:txBody>
      </p:sp>
      <p:sp>
        <p:nvSpPr>
          <p:cNvPr id="19" name="TextBox 18">
            <a:extLst>
              <a:ext uri="{FF2B5EF4-FFF2-40B4-BE49-F238E27FC236}">
                <a16:creationId xmlns:a16="http://schemas.microsoft.com/office/drawing/2014/main" id="{D104F41D-9335-0C16-C5C8-EAF00092C3EA}"/>
              </a:ext>
            </a:extLst>
          </p:cNvPr>
          <p:cNvSpPr txBox="1"/>
          <p:nvPr/>
        </p:nvSpPr>
        <p:spPr>
          <a:xfrm>
            <a:off x="3773304" y="4962915"/>
            <a:ext cx="4873991" cy="1200329"/>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defRPr b="1">
                <a:solidFill>
                  <a:schemeClr val="bg1"/>
                </a:solidFill>
                <a:latin typeface="Calibri"/>
                <a:ea typeface="+mn-lt"/>
                <a:cs typeface="+mn-lt"/>
              </a:defRPr>
            </a:lvl1pPr>
          </a:lstStyle>
          <a:p>
            <a:pPr algn="ctr"/>
            <a:r>
              <a:rPr lang="en-US" b="0">
                <a:solidFill>
                  <a:schemeClr val="tx1">
                    <a:lumMod val="95000"/>
                    <a:lumOff val="5000"/>
                  </a:schemeClr>
                </a:solidFill>
                <a:latin typeface="Avenir Next LT Pro" panose="020B0504020202020204" pitchFamily="34" charset="0"/>
              </a:rPr>
              <a:t>Environmental and Social considerations positively  influence long-term growth assumptions but do not impair near-term cash flows or margins.</a:t>
            </a:r>
          </a:p>
        </p:txBody>
      </p:sp>
      <p:sp>
        <p:nvSpPr>
          <p:cNvPr id="20" name="Arrow: Right 19">
            <a:extLst>
              <a:ext uri="{FF2B5EF4-FFF2-40B4-BE49-F238E27FC236}">
                <a16:creationId xmlns:a16="http://schemas.microsoft.com/office/drawing/2014/main" id="{8A5DC5BA-5840-30D4-E2AC-E4394B463E39}"/>
              </a:ext>
            </a:extLst>
          </p:cNvPr>
          <p:cNvSpPr/>
          <p:nvPr/>
        </p:nvSpPr>
        <p:spPr>
          <a:xfrm>
            <a:off x="750629" y="5377985"/>
            <a:ext cx="1825036" cy="513278"/>
          </a:xfrm>
          <a:prstGeom prst="rightArrow">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21" name="Arrow: Right 20">
            <a:extLst>
              <a:ext uri="{FF2B5EF4-FFF2-40B4-BE49-F238E27FC236}">
                <a16:creationId xmlns:a16="http://schemas.microsoft.com/office/drawing/2014/main" id="{BAD6D61B-BA0E-33E0-6322-B720DA6DBA65}"/>
              </a:ext>
            </a:extLst>
          </p:cNvPr>
          <p:cNvSpPr/>
          <p:nvPr/>
        </p:nvSpPr>
        <p:spPr>
          <a:xfrm rot="10800000">
            <a:off x="9547460" y="5397355"/>
            <a:ext cx="1840896" cy="513278"/>
          </a:xfrm>
          <a:prstGeom prst="rightArrow">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22" name="Minus Sign 21">
            <a:extLst>
              <a:ext uri="{FF2B5EF4-FFF2-40B4-BE49-F238E27FC236}">
                <a16:creationId xmlns:a16="http://schemas.microsoft.com/office/drawing/2014/main" id="{D1C4EAA8-CFAB-C2E0-5EC9-63BF64BAF346}"/>
              </a:ext>
            </a:extLst>
          </p:cNvPr>
          <p:cNvSpPr/>
          <p:nvPr/>
        </p:nvSpPr>
        <p:spPr>
          <a:xfrm>
            <a:off x="11049359" y="3426517"/>
            <a:ext cx="397893" cy="3777193"/>
          </a:xfrm>
          <a:prstGeom prst="mathMinus">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Minus Sign 22">
            <a:extLst>
              <a:ext uri="{FF2B5EF4-FFF2-40B4-BE49-F238E27FC236}">
                <a16:creationId xmlns:a16="http://schemas.microsoft.com/office/drawing/2014/main" id="{9814A305-4C00-29DE-5CF7-680EC30237A8}"/>
              </a:ext>
            </a:extLst>
          </p:cNvPr>
          <p:cNvSpPr/>
          <p:nvPr/>
        </p:nvSpPr>
        <p:spPr>
          <a:xfrm>
            <a:off x="696058" y="3569287"/>
            <a:ext cx="380136" cy="3553956"/>
          </a:xfrm>
          <a:prstGeom prst="mathMinus">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Harley Davidson Logo PNG Image - PurePNG | Free transparent CC0 PNG ...">
            <a:extLst>
              <a:ext uri="{FF2B5EF4-FFF2-40B4-BE49-F238E27FC236}">
                <a16:creationId xmlns:a16="http://schemas.microsoft.com/office/drawing/2014/main" id="{EAA912CA-7E6B-F736-0EB5-B0BD7287DD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solidFill>
            <a:schemeClr val="bg1"/>
          </a:solidFill>
        </p:spPr>
      </p:pic>
      <p:sp>
        <p:nvSpPr>
          <p:cNvPr id="4" name="object 4">
            <a:extLst>
              <a:ext uri="{FF2B5EF4-FFF2-40B4-BE49-F238E27FC236}">
                <a16:creationId xmlns:a16="http://schemas.microsoft.com/office/drawing/2014/main" id="{ADD8C59C-B7B0-DD64-E4A1-23C974B9097F}"/>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sp>
        <p:nvSpPr>
          <p:cNvPr id="26" name="TextBox 25">
            <a:extLst>
              <a:ext uri="{FF2B5EF4-FFF2-40B4-BE49-F238E27FC236}">
                <a16:creationId xmlns:a16="http://schemas.microsoft.com/office/drawing/2014/main" id="{4C2DAE35-CF3B-3B65-171C-2024F5E2D3D4}"/>
              </a:ext>
            </a:extLst>
          </p:cNvPr>
          <p:cNvSpPr txBox="1"/>
          <p:nvPr/>
        </p:nvSpPr>
        <p:spPr>
          <a:xfrm>
            <a:off x="4605710" y="3880231"/>
            <a:ext cx="4144110" cy="338554"/>
          </a:xfrm>
          <a:prstGeom prst="rect">
            <a:avLst/>
          </a:prstGeom>
          <a:noFill/>
        </p:spPr>
        <p:txBody>
          <a:bodyPr wrap="square" lIns="91440" tIns="45720" rIns="91440" bIns="45720" rtlCol="0" anchor="t">
            <a:spAutoFit/>
          </a:bodyPr>
          <a:lstStyle/>
          <a:p>
            <a:r>
              <a:rPr lang="en-US" sz="1600" b="1">
                <a:latin typeface="Avenir Next LT Pro"/>
              </a:rPr>
              <a:t>0-5Y                   5-10Y                   10Y+</a:t>
            </a:r>
          </a:p>
        </p:txBody>
      </p:sp>
      <p:grpSp>
        <p:nvGrpSpPr>
          <p:cNvPr id="28" name="Group 27">
            <a:extLst>
              <a:ext uri="{FF2B5EF4-FFF2-40B4-BE49-F238E27FC236}">
                <a16:creationId xmlns:a16="http://schemas.microsoft.com/office/drawing/2014/main" id="{B227C4A4-8C36-41FE-2FFF-28BB70076900}"/>
              </a:ext>
            </a:extLst>
          </p:cNvPr>
          <p:cNvGrpSpPr/>
          <p:nvPr/>
        </p:nvGrpSpPr>
        <p:grpSpPr>
          <a:xfrm>
            <a:off x="695325" y="6302380"/>
            <a:ext cx="10429876" cy="265521"/>
            <a:chOff x="695325" y="6302380"/>
            <a:chExt cx="10429876" cy="265521"/>
          </a:xfrm>
        </p:grpSpPr>
        <p:sp>
          <p:nvSpPr>
            <p:cNvPr id="29" name="object 13">
              <a:extLst>
                <a:ext uri="{FF2B5EF4-FFF2-40B4-BE49-F238E27FC236}">
                  <a16:creationId xmlns:a16="http://schemas.microsoft.com/office/drawing/2014/main" id="{8C66B763-0A5F-C269-7AE9-99D7219C5DF1}"/>
                </a:ext>
              </a:extLst>
            </p:cNvPr>
            <p:cNvSpPr txBox="1"/>
            <p:nvPr/>
          </p:nvSpPr>
          <p:spPr>
            <a:xfrm>
              <a:off x="7699204" y="6334466"/>
              <a:ext cx="661195" cy="230318"/>
            </a:xfrm>
            <a:prstGeom prst="rect">
              <a:avLst/>
            </a:prstGeom>
          </p:spPr>
          <p:txBody>
            <a:bodyPr vert="horz" wrap="square" lIns="0" tIns="14604" rIns="0" bIns="0" rtlCol="0">
              <a:spAutoFit/>
            </a:bodyPr>
            <a:lstStyle/>
            <a:p>
              <a:pPr marL="12701">
                <a:spcBef>
                  <a:spcPts val="114"/>
                </a:spcBef>
              </a:pPr>
              <a:r>
                <a:rPr lang="en-US" sz="1401" b="1" spc="-25">
                  <a:latin typeface="Avenir Next LT Pro" panose="020B0504020202020204" pitchFamily="34" charset="0"/>
                  <a:cs typeface="Segoe UI"/>
                </a:rPr>
                <a:t>ESG</a:t>
              </a:r>
              <a:endParaRPr lang="en-US" sz="1401" b="1">
                <a:latin typeface="Avenir Next LT Pro" panose="020B0504020202020204" pitchFamily="34" charset="0"/>
                <a:cs typeface="Segoe UI"/>
              </a:endParaRPr>
            </a:p>
          </p:txBody>
        </p:sp>
        <p:sp>
          <p:nvSpPr>
            <p:cNvPr id="30" name="object 14">
              <a:extLst>
                <a:ext uri="{FF2B5EF4-FFF2-40B4-BE49-F238E27FC236}">
                  <a16:creationId xmlns:a16="http://schemas.microsoft.com/office/drawing/2014/main" id="{1B6C9D26-D7BE-B8D1-C5E6-473598A9EEEF}"/>
                </a:ext>
              </a:extLst>
            </p:cNvPr>
            <p:cNvSpPr txBox="1"/>
            <p:nvPr/>
          </p:nvSpPr>
          <p:spPr>
            <a:xfrm>
              <a:off x="8957749" y="6334466"/>
              <a:ext cx="42037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32" name="object 16">
              <a:extLst>
                <a:ext uri="{FF2B5EF4-FFF2-40B4-BE49-F238E27FC236}">
                  <a16:creationId xmlns:a16="http://schemas.microsoft.com/office/drawing/2014/main" id="{A64258B2-2700-B055-6649-04922ABECB05}"/>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33" name="object 37">
              <a:extLst>
                <a:ext uri="{FF2B5EF4-FFF2-40B4-BE49-F238E27FC236}">
                  <a16:creationId xmlns:a16="http://schemas.microsoft.com/office/drawing/2014/main" id="{87AE0070-98F2-EE38-0B74-9F156E3AC0AA}"/>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34" name="object 39">
              <a:extLst>
                <a:ext uri="{FF2B5EF4-FFF2-40B4-BE49-F238E27FC236}">
                  <a16:creationId xmlns:a16="http://schemas.microsoft.com/office/drawing/2014/main" id="{99F77F49-9F42-964F-E357-1CE1729637D3}"/>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35" name="object 40">
              <a:extLst>
                <a:ext uri="{FF2B5EF4-FFF2-40B4-BE49-F238E27FC236}">
                  <a16:creationId xmlns:a16="http://schemas.microsoft.com/office/drawing/2014/main" id="{1BC3AE67-59F5-236A-A6C9-BBA4383ED1AE}"/>
                </a:ext>
              </a:extLst>
            </p:cNvPr>
            <p:cNvSpPr txBox="1"/>
            <p:nvPr/>
          </p:nvSpPr>
          <p:spPr>
            <a:xfrm>
              <a:off x="4287374" y="6322739"/>
              <a:ext cx="886193"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36" name="object 41">
              <a:extLst>
                <a:ext uri="{FF2B5EF4-FFF2-40B4-BE49-F238E27FC236}">
                  <a16:creationId xmlns:a16="http://schemas.microsoft.com/office/drawing/2014/main" id="{ACBEA550-6091-DB88-74AF-DF41C5E5F59B}"/>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
        <p:nvSpPr>
          <p:cNvPr id="38" name="object 15">
            <a:extLst>
              <a:ext uri="{FF2B5EF4-FFF2-40B4-BE49-F238E27FC236}">
                <a16:creationId xmlns:a16="http://schemas.microsoft.com/office/drawing/2014/main" id="{D1EAE9A5-130C-891E-2830-66CEC33BD8AD}"/>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5"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Tree>
    <p:extLst>
      <p:ext uri="{BB962C8B-B14F-4D97-AF65-F5344CB8AC3E}">
        <p14:creationId xmlns:p14="http://schemas.microsoft.com/office/powerpoint/2010/main" val="2537464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107">
            <a:extLst>
              <a:ext uri="{FF2B5EF4-FFF2-40B4-BE49-F238E27FC236}">
                <a16:creationId xmlns:a16="http://schemas.microsoft.com/office/drawing/2014/main" id="{90847847-2397-F750-A2D6-E9FFD6B477A2}"/>
              </a:ext>
            </a:extLst>
          </p:cNvPr>
          <p:cNvSpPr txBox="1"/>
          <p:nvPr/>
        </p:nvSpPr>
        <p:spPr>
          <a:xfrm>
            <a:off x="153090" y="62698"/>
            <a:ext cx="11331244" cy="690574"/>
          </a:xfrm>
          <a:prstGeom prst="rect">
            <a:avLst/>
          </a:prstGeom>
        </p:spPr>
        <p:txBody>
          <a:bodyPr vert="horz" wrap="square" lIns="0" tIns="13335" rIns="0" bIns="0" rtlCol="0" anchor="t">
            <a:spAutoFit/>
          </a:bodyPr>
          <a:lstStyle/>
          <a:p>
            <a:pPr marL="12700">
              <a:spcBef>
                <a:spcPts val="105"/>
              </a:spcBef>
            </a:pPr>
            <a:r>
              <a:rPr lang="en-US" sz="4400" spc="-10">
                <a:solidFill>
                  <a:schemeClr val="accent2">
                    <a:lumMod val="75000"/>
                  </a:schemeClr>
                </a:solidFill>
                <a:latin typeface="Avenir Next LT Pro" panose="020B0504020202020204" pitchFamily="34" charset="0"/>
                <a:cs typeface="Segoe UI"/>
                <a:hlinkClick r:id="" action="ppaction://noaction">
                  <a:extLst>
                    <a:ext uri="{A12FA001-AC4F-418D-AE19-62706E023703}">
                      <ahyp:hlinkClr xmlns:ahyp="http://schemas.microsoft.com/office/drawing/2018/hyperlinkcolor" val="tx"/>
                    </a:ext>
                  </a:extLst>
                </a:hlinkClick>
              </a:rPr>
              <a:t>Environmental, Social &amp; Governance</a:t>
            </a:r>
            <a:endParaRPr lang="en-US" sz="4400" spc="-10">
              <a:solidFill>
                <a:schemeClr val="accent2">
                  <a:lumMod val="75000"/>
                </a:schemeClr>
              </a:solidFill>
              <a:latin typeface="Avenir Next LT Pro" panose="020B0504020202020204" pitchFamily="34" charset="0"/>
              <a:cs typeface="Segoe UI"/>
            </a:endParaRPr>
          </a:p>
        </p:txBody>
      </p:sp>
      <p:graphicFrame>
        <p:nvGraphicFramePr>
          <p:cNvPr id="13" name="Table 12">
            <a:extLst>
              <a:ext uri="{FF2B5EF4-FFF2-40B4-BE49-F238E27FC236}">
                <a16:creationId xmlns:a16="http://schemas.microsoft.com/office/drawing/2014/main" id="{B8D04B3D-C8A1-4E70-011B-CBF7B90298BF}"/>
              </a:ext>
            </a:extLst>
          </p:cNvPr>
          <p:cNvGraphicFramePr>
            <a:graphicFrameLocks noGrp="1"/>
          </p:cNvGraphicFramePr>
          <p:nvPr>
            <p:extLst>
              <p:ext uri="{D42A27DB-BD31-4B8C-83A1-F6EECF244321}">
                <p14:modId xmlns:p14="http://schemas.microsoft.com/office/powerpoint/2010/main" val="960424187"/>
              </p:ext>
            </p:extLst>
          </p:nvPr>
        </p:nvGraphicFramePr>
        <p:xfrm>
          <a:off x="7398229" y="4139885"/>
          <a:ext cx="3951796" cy="1754325"/>
        </p:xfrm>
        <a:graphic>
          <a:graphicData uri="http://schemas.openxmlformats.org/drawingml/2006/table">
            <a:tbl>
              <a:tblPr bandRow="1">
                <a:tableStyleId>{5C22544A-7EE6-4342-B048-85BDC9FD1C3A}</a:tableStyleId>
              </a:tblPr>
              <a:tblGrid>
                <a:gridCol w="1951727">
                  <a:extLst>
                    <a:ext uri="{9D8B030D-6E8A-4147-A177-3AD203B41FA5}">
                      <a16:colId xmlns:a16="http://schemas.microsoft.com/office/drawing/2014/main" val="2028164572"/>
                    </a:ext>
                  </a:extLst>
                </a:gridCol>
                <a:gridCol w="965139">
                  <a:extLst>
                    <a:ext uri="{9D8B030D-6E8A-4147-A177-3AD203B41FA5}">
                      <a16:colId xmlns:a16="http://schemas.microsoft.com/office/drawing/2014/main" val="1480459290"/>
                    </a:ext>
                  </a:extLst>
                </a:gridCol>
                <a:gridCol w="1034930">
                  <a:extLst>
                    <a:ext uri="{9D8B030D-6E8A-4147-A177-3AD203B41FA5}">
                      <a16:colId xmlns:a16="http://schemas.microsoft.com/office/drawing/2014/main" val="2909218664"/>
                    </a:ext>
                  </a:extLst>
                </a:gridCol>
              </a:tblGrid>
              <a:tr h="350865">
                <a:tc>
                  <a:txBody>
                    <a:bodyPr/>
                    <a:lstStyle/>
                    <a:p>
                      <a:pPr>
                        <a:buNone/>
                      </a:pPr>
                      <a:r>
                        <a:rPr lang="en-US" b="1">
                          <a:solidFill>
                            <a:schemeClr val="bg1"/>
                          </a:solidFill>
                          <a:effectLst/>
                          <a:latin typeface="Avenir Next LT Pro" panose="020B0504020202020204" pitchFamily="34" charset="0"/>
                        </a:rPr>
                        <a:t> Category</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buNone/>
                      </a:pPr>
                      <a:r>
                        <a:rPr lang="en-US" b="1">
                          <a:solidFill>
                            <a:schemeClr val="bg1"/>
                          </a:solidFill>
                          <a:effectLst/>
                          <a:latin typeface="Avenir Next LT Pro" panose="020B0504020202020204" pitchFamily="34" charset="0"/>
                        </a:rPr>
                        <a:t>Weight</a:t>
                      </a:r>
                    </a:p>
                  </a:txBody>
                  <a:tcPr marL="0" marR="0" marT="0" marB="0" anchor="ctr">
                    <a:lnL w="12700" cap="flat" cmpd="sng" algn="ctr">
                      <a:noFill/>
                      <a:prstDash val="solid"/>
                      <a:round/>
                      <a:headEnd type="none" w="med" len="med"/>
                      <a:tailEnd type="none" w="med" len="med"/>
                    </a:lnL>
                    <a:lnR w="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accent2">
                        <a:lumMod val="75000"/>
                      </a:schemeClr>
                    </a:solidFill>
                  </a:tcPr>
                </a:tc>
                <a:tc>
                  <a:txBody>
                    <a:bodyPr/>
                    <a:lstStyle/>
                    <a:p>
                      <a:pPr algn="ctr">
                        <a:buNone/>
                      </a:pPr>
                      <a:r>
                        <a:rPr lang="en-US" b="1">
                          <a:solidFill>
                            <a:schemeClr val="bg1"/>
                          </a:solidFill>
                          <a:effectLst/>
                          <a:latin typeface="Avenir Next LT Pro" panose="020B0504020202020204" pitchFamily="34" charset="0"/>
                        </a:rPr>
                        <a:t>Score</a:t>
                      </a:r>
                    </a:p>
                  </a:txBody>
                  <a:tcPr marL="0" marR="0" marT="0" marB="0" anchor="ctr">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044766803"/>
                  </a:ext>
                </a:extLst>
              </a:tr>
              <a:tr h="350865">
                <a:tc>
                  <a:txBody>
                    <a:bodyPr/>
                    <a:lstStyle/>
                    <a:p>
                      <a:pPr>
                        <a:buNone/>
                      </a:pPr>
                      <a:r>
                        <a:rPr lang="en-US">
                          <a:effectLst/>
                          <a:latin typeface="Avenir Next LT Pro" panose="020B0504020202020204" pitchFamily="34" charset="0"/>
                        </a:rPr>
                        <a:t> Environmental</a:t>
                      </a:r>
                    </a:p>
                  </a:txBody>
                  <a:tcPr marL="0" marR="0" marT="0" marB="0" anchor="ctr">
                    <a:lnL w="12700" cap="flat" cmpd="sng" algn="ctr">
                      <a:solidFill>
                        <a:schemeClr val="tx1"/>
                      </a:solidFill>
                      <a:prstDash val="solid"/>
                      <a:round/>
                      <a:headEnd type="none" w="med" len="med"/>
                      <a:tailEnd type="none" w="med" len="med"/>
                    </a:lnL>
                    <a:lnR w="0">
                      <a:noFill/>
                    </a:lnR>
                    <a:lnT w="12700" cap="flat" cmpd="sng" algn="ctr">
                      <a:noFill/>
                      <a:prstDash val="solid"/>
                      <a:round/>
                      <a:headEnd type="none" w="med" len="med"/>
                      <a:tailEnd type="none" w="med" len="med"/>
                    </a:lnT>
                    <a:lnB w="0">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buNone/>
                      </a:pPr>
                      <a:r>
                        <a:rPr lang="en-US">
                          <a:effectLst/>
                          <a:latin typeface="Avenir Next LT Pro" panose="020B0504020202020204" pitchFamily="34" charset="0"/>
                        </a:rPr>
                        <a:t>0.333</a:t>
                      </a:r>
                    </a:p>
                  </a:txBody>
                  <a:tcPr marL="0" marR="0" marT="0" marB="0" anchor="ctr">
                    <a:lnL w="0">
                      <a:noFill/>
                    </a:lnL>
                    <a:lnR w="0">
                      <a:noFill/>
                    </a:lnR>
                    <a:lnT w="0">
                      <a:noFill/>
                    </a:lnT>
                    <a:lnB w="0">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buNone/>
                      </a:pPr>
                      <a:r>
                        <a:rPr lang="en-US">
                          <a:effectLst/>
                          <a:latin typeface="Avenir Next LT Pro" panose="020B0504020202020204" pitchFamily="34" charset="0"/>
                        </a:rPr>
                        <a:t>60.0%</a:t>
                      </a:r>
                    </a:p>
                  </a:txBody>
                  <a:tcPr marL="0" marR="0" marT="0"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04761133"/>
                  </a:ext>
                </a:extLst>
              </a:tr>
              <a:tr h="350865">
                <a:tc>
                  <a:txBody>
                    <a:bodyPr/>
                    <a:lstStyle/>
                    <a:p>
                      <a:pPr>
                        <a:buNone/>
                      </a:pPr>
                      <a:r>
                        <a:rPr lang="en-US">
                          <a:effectLst/>
                          <a:latin typeface="Avenir Next LT Pro" panose="020B0504020202020204" pitchFamily="34" charset="0"/>
                        </a:rPr>
                        <a:t> Social</a:t>
                      </a:r>
                    </a:p>
                  </a:txBody>
                  <a:tcPr marL="0" marR="0" marT="0"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noFill/>
                  </a:tcPr>
                </a:tc>
                <a:tc>
                  <a:txBody>
                    <a:bodyPr/>
                    <a:lstStyle/>
                    <a:p>
                      <a:pPr algn="ctr">
                        <a:buNone/>
                      </a:pPr>
                      <a:r>
                        <a:rPr lang="en-US">
                          <a:effectLst/>
                          <a:latin typeface="Avenir Next LT Pro" panose="020B0504020202020204" pitchFamily="34" charset="0"/>
                        </a:rPr>
                        <a:t>0.333</a:t>
                      </a:r>
                    </a:p>
                  </a:txBody>
                  <a:tcPr marL="0" marR="0" marT="0" marB="0" anchor="ctr">
                    <a:lnL w="0">
                      <a:noFill/>
                    </a:lnL>
                    <a:lnR w="0">
                      <a:noFill/>
                    </a:lnR>
                    <a:lnT w="0">
                      <a:noFill/>
                    </a:lnT>
                    <a:lnB w="0">
                      <a:noFill/>
                    </a:lnB>
                    <a:lnTlToBr w="12700" cmpd="sng">
                      <a:noFill/>
                      <a:prstDash val="solid"/>
                    </a:lnTlToBr>
                    <a:lnBlToTr w="12700" cmpd="sng">
                      <a:noFill/>
                      <a:prstDash val="solid"/>
                    </a:lnBlToTr>
                    <a:noFill/>
                  </a:tcPr>
                </a:tc>
                <a:tc>
                  <a:txBody>
                    <a:bodyPr/>
                    <a:lstStyle/>
                    <a:p>
                      <a:pPr algn="ctr">
                        <a:buNone/>
                      </a:pPr>
                      <a:r>
                        <a:rPr lang="en-US">
                          <a:effectLst/>
                          <a:latin typeface="Avenir Next LT Pro" panose="020B0504020202020204" pitchFamily="34" charset="0"/>
                        </a:rPr>
                        <a:t>53.3%</a:t>
                      </a:r>
                    </a:p>
                  </a:txBody>
                  <a:tcPr marL="0" marR="0" marT="0"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noFill/>
                  </a:tcPr>
                </a:tc>
                <a:extLst>
                  <a:ext uri="{0D108BD9-81ED-4DB2-BD59-A6C34878D82A}">
                    <a16:rowId xmlns:a16="http://schemas.microsoft.com/office/drawing/2014/main" val="443622141"/>
                  </a:ext>
                </a:extLst>
              </a:tr>
              <a:tr h="350865">
                <a:tc>
                  <a:txBody>
                    <a:bodyPr/>
                    <a:lstStyle/>
                    <a:p>
                      <a:pPr>
                        <a:buNone/>
                      </a:pPr>
                      <a:r>
                        <a:rPr lang="en-US">
                          <a:effectLst/>
                          <a:latin typeface="Avenir Next LT Pro" panose="020B0504020202020204" pitchFamily="34" charset="0"/>
                        </a:rPr>
                        <a:t> Governance</a:t>
                      </a:r>
                    </a:p>
                  </a:txBody>
                  <a:tcPr marL="0" marR="0" marT="0"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buNone/>
                      </a:pPr>
                      <a:r>
                        <a:rPr lang="en-US">
                          <a:effectLst/>
                          <a:latin typeface="Avenir Next LT Pro" panose="020B0504020202020204" pitchFamily="34" charset="0"/>
                        </a:rPr>
                        <a:t>0.333</a:t>
                      </a:r>
                    </a:p>
                  </a:txBody>
                  <a:tcPr marL="0" marR="0" marT="0" marB="0" anchor="ctr">
                    <a:lnL w="0">
                      <a:noFill/>
                    </a:lnL>
                    <a:lnR w="0">
                      <a:noFill/>
                    </a:lnR>
                    <a:lnT w="0">
                      <a:noFill/>
                    </a:lnT>
                    <a:lnB w="0">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buNone/>
                      </a:pPr>
                      <a:r>
                        <a:rPr lang="en-US">
                          <a:effectLst/>
                          <a:latin typeface="Avenir Next LT Pro" panose="020B0504020202020204" pitchFamily="34" charset="0"/>
                        </a:rPr>
                        <a:t>50.0%</a:t>
                      </a:r>
                    </a:p>
                  </a:txBody>
                  <a:tcPr marL="0" marR="0" marT="0"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513502892"/>
                  </a:ext>
                </a:extLst>
              </a:tr>
              <a:tr h="350865">
                <a:tc>
                  <a:txBody>
                    <a:bodyPr/>
                    <a:lstStyle/>
                    <a:p>
                      <a:pPr>
                        <a:buNone/>
                      </a:pPr>
                      <a:r>
                        <a:rPr lang="en-US">
                          <a:effectLst/>
                          <a:latin typeface="Avenir Next LT Pro" panose="020B0504020202020204" pitchFamily="34" charset="0"/>
                        </a:rPr>
                        <a:t> Total ESG score</a:t>
                      </a:r>
                    </a:p>
                  </a:txBody>
                  <a:tcPr marL="0" marR="0" marT="0" marB="0" anchor="ctr">
                    <a:lnL w="12700" cap="flat" cmpd="sng" algn="ctr">
                      <a:solidFill>
                        <a:schemeClr val="tx1"/>
                      </a:solidFill>
                      <a:prstDash val="solid"/>
                      <a:round/>
                      <a:headEnd type="none" w="med" len="med"/>
                      <a:tailEnd type="none" w="med" len="med"/>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effectLst/>
                          <a:latin typeface="Avenir Next LT Pro" panose="020B0504020202020204" pitchFamily="34" charset="0"/>
                        </a:rPr>
                        <a:t>1</a:t>
                      </a:r>
                    </a:p>
                  </a:txBody>
                  <a:tcPr marL="0" marR="0" marT="0" marB="0" anchor="ctr">
                    <a:lnL w="0">
                      <a:noFill/>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effectLst/>
                          <a:latin typeface="Avenir Next LT Pro" panose="020B0504020202020204" pitchFamily="34" charset="0"/>
                        </a:rPr>
                        <a:t>54.4%</a:t>
                      </a:r>
                    </a:p>
                  </a:txBody>
                  <a:tcPr marL="0" marR="0" marT="0" marB="0" anchor="ctr">
                    <a:lnL w="0">
                      <a:noFill/>
                    </a:lnL>
                    <a:lnR w="12700" cap="flat" cmpd="sng" algn="ctr">
                      <a:solidFill>
                        <a:schemeClr val="tx1"/>
                      </a:solidFill>
                      <a:prstDash val="solid"/>
                      <a:round/>
                      <a:headEnd type="none" w="med" len="med"/>
                      <a:tailEnd type="none" w="med" len="med"/>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8617395"/>
                  </a:ext>
                </a:extLst>
              </a:tr>
            </a:tbl>
          </a:graphicData>
        </a:graphic>
      </p:graphicFrame>
      <p:sp>
        <p:nvSpPr>
          <p:cNvPr id="15" name="TextBox 14">
            <a:extLst>
              <a:ext uri="{FF2B5EF4-FFF2-40B4-BE49-F238E27FC236}">
                <a16:creationId xmlns:a16="http://schemas.microsoft.com/office/drawing/2014/main" id="{34151062-62F4-482B-8A61-36B3D0CD3610}"/>
              </a:ext>
            </a:extLst>
          </p:cNvPr>
          <p:cNvSpPr txBox="1"/>
          <p:nvPr/>
        </p:nvSpPr>
        <p:spPr>
          <a:xfrm>
            <a:off x="157063" y="1712924"/>
            <a:ext cx="6846907" cy="2031325"/>
          </a:xfrm>
          <a:prstGeom prst="rect">
            <a:avLst/>
          </a:prstGeom>
          <a:solidFill>
            <a:schemeClr val="accent2">
              <a:lumMod val="20000"/>
              <a:lumOff val="80000"/>
            </a:schemeClr>
          </a:solidFill>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tx1">
                    <a:lumMod val="95000"/>
                    <a:lumOff val="5000"/>
                  </a:schemeClr>
                </a:solidFill>
                <a:latin typeface="Avenir Next LT Pro" panose="020B0504020202020204" pitchFamily="34" charset="0"/>
                <a:ea typeface="+mn-lt"/>
                <a:cs typeface="+mn-lt"/>
              </a:rPr>
              <a:t>Shareholder Alignment</a:t>
            </a:r>
            <a:endParaRPr lang="en-US">
              <a:solidFill>
                <a:schemeClr val="tx1">
                  <a:lumMod val="95000"/>
                  <a:lumOff val="5000"/>
                </a:schemeClr>
              </a:solidFill>
              <a:latin typeface="Avenir Next LT Pro" panose="020B0504020202020204" pitchFamily="34" charset="0"/>
            </a:endParaRPr>
          </a:p>
          <a:p>
            <a:endParaRPr lang="en-US" b="1">
              <a:solidFill>
                <a:schemeClr val="tx1">
                  <a:lumMod val="95000"/>
                  <a:lumOff val="5000"/>
                </a:schemeClr>
              </a:solidFill>
              <a:latin typeface="Avenir Next LT Pro" panose="020B0504020202020204" pitchFamily="34" charset="0"/>
              <a:ea typeface="+mn-lt"/>
              <a:cs typeface="+mn-lt"/>
            </a:endParaRPr>
          </a:p>
          <a:p>
            <a:r>
              <a:rPr lang="en-US">
                <a:solidFill>
                  <a:schemeClr val="tx1">
                    <a:lumMod val="95000"/>
                    <a:lumOff val="5000"/>
                  </a:schemeClr>
                </a:solidFill>
                <a:latin typeface="Avenir Next LT Pro"/>
                <a:ea typeface="+mn-lt"/>
                <a:cs typeface="+mn-lt"/>
              </a:rPr>
              <a:t> • Independent board oversight</a:t>
            </a:r>
            <a:br>
              <a:rPr lang="en-US">
                <a:latin typeface="Avenir Next LT Pro" panose="020B0504020202020204" pitchFamily="34" charset="0"/>
                <a:ea typeface="+mn-lt"/>
                <a:cs typeface="+mn-lt"/>
              </a:rPr>
            </a:br>
            <a:r>
              <a:rPr lang="en-US">
                <a:solidFill>
                  <a:schemeClr val="tx1">
                    <a:lumMod val="95000"/>
                    <a:lumOff val="5000"/>
                  </a:schemeClr>
                </a:solidFill>
                <a:latin typeface="Avenir Next LT Pro"/>
                <a:ea typeface="+mn-lt"/>
                <a:cs typeface="+mn-lt"/>
              </a:rPr>
              <a:t> • Strong shareholder voting rights</a:t>
            </a:r>
            <a:br>
              <a:rPr lang="en-US">
                <a:latin typeface="Avenir Next LT Pro" panose="020B0504020202020204" pitchFamily="34" charset="0"/>
                <a:ea typeface="+mn-lt"/>
                <a:cs typeface="+mn-lt"/>
              </a:rPr>
            </a:br>
            <a:r>
              <a:rPr lang="en-US">
                <a:solidFill>
                  <a:schemeClr val="tx1">
                    <a:lumMod val="95000"/>
                    <a:lumOff val="5000"/>
                  </a:schemeClr>
                </a:solidFill>
                <a:latin typeface="Avenir Next LT Pro"/>
                <a:ea typeface="+mn-lt"/>
                <a:cs typeface="+mn-lt"/>
              </a:rPr>
              <a:t> • No structural control provisions</a:t>
            </a:r>
            <a:br>
              <a:rPr lang="en-US">
                <a:latin typeface="Avenir Next LT Pro" panose="020B0504020202020204" pitchFamily="34" charset="0"/>
                <a:ea typeface="+mn-lt"/>
                <a:cs typeface="+mn-lt"/>
              </a:rPr>
            </a:br>
            <a:r>
              <a:rPr lang="en-US">
                <a:solidFill>
                  <a:schemeClr val="tx1">
                    <a:lumMod val="95000"/>
                    <a:lumOff val="5000"/>
                  </a:schemeClr>
                </a:solidFill>
                <a:latin typeface="Avenir Next LT Pro"/>
                <a:ea typeface="+mn-lt"/>
                <a:cs typeface="+mn-lt"/>
              </a:rPr>
              <a:t> • 50% board diversity (female or other)</a:t>
            </a:r>
            <a:endParaRPr lang="en-US">
              <a:solidFill>
                <a:schemeClr val="tx1">
                  <a:lumMod val="95000"/>
                  <a:lumOff val="5000"/>
                </a:schemeClr>
              </a:solidFill>
              <a:latin typeface="Avenir Next LT Pro" panose="020B0504020202020204" pitchFamily="34" charset="0"/>
            </a:endParaRPr>
          </a:p>
          <a:p>
            <a:pPr algn="l"/>
            <a:r>
              <a:rPr lang="en-US">
                <a:latin typeface="Avenir Next LT Pro"/>
              </a:rPr>
              <a:t> </a:t>
            </a:r>
          </a:p>
        </p:txBody>
      </p:sp>
      <p:sp>
        <p:nvSpPr>
          <p:cNvPr id="16" name="TextBox 15">
            <a:extLst>
              <a:ext uri="{FF2B5EF4-FFF2-40B4-BE49-F238E27FC236}">
                <a16:creationId xmlns:a16="http://schemas.microsoft.com/office/drawing/2014/main" id="{AA901112-DF39-066D-792F-D41EF01A15AD}"/>
              </a:ext>
            </a:extLst>
          </p:cNvPr>
          <p:cNvSpPr txBox="1"/>
          <p:nvPr/>
        </p:nvSpPr>
        <p:spPr>
          <a:xfrm>
            <a:off x="157064" y="4136394"/>
            <a:ext cx="6846904" cy="1754326"/>
          </a:xfrm>
          <a:prstGeom prst="rect">
            <a:avLst/>
          </a:prstGeom>
          <a:solidFill>
            <a:schemeClr val="accent2">
              <a:lumMod val="20000"/>
              <a:lumOff val="80000"/>
            </a:schemeClr>
          </a:solidFill>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tx1">
                    <a:lumMod val="95000"/>
                    <a:lumOff val="5000"/>
                  </a:schemeClr>
                </a:solidFill>
                <a:latin typeface="Avenir Next LT Pro" panose="020B0504020202020204" pitchFamily="34" charset="0"/>
                <a:ea typeface="+mn-lt"/>
                <a:cs typeface="+mn-lt"/>
              </a:rPr>
              <a:t>Remaining ESG Considerations</a:t>
            </a:r>
            <a:endParaRPr lang="en-US">
              <a:solidFill>
                <a:schemeClr val="tx1">
                  <a:lumMod val="95000"/>
                  <a:lumOff val="5000"/>
                </a:schemeClr>
              </a:solidFill>
              <a:latin typeface="Avenir Next LT Pro" panose="020B0504020202020204" pitchFamily="34" charset="0"/>
            </a:endParaRPr>
          </a:p>
          <a:p>
            <a:endParaRPr lang="en-US" b="1">
              <a:solidFill>
                <a:schemeClr val="tx1">
                  <a:lumMod val="95000"/>
                  <a:lumOff val="5000"/>
                </a:schemeClr>
              </a:solidFill>
              <a:latin typeface="Avenir Next LT Pro" panose="020B0504020202020204" pitchFamily="34" charset="0"/>
              <a:ea typeface="+mn-lt"/>
              <a:cs typeface="+mn-lt"/>
            </a:endParaRPr>
          </a:p>
          <a:p>
            <a:r>
              <a:rPr lang="en-US">
                <a:solidFill>
                  <a:schemeClr val="tx1">
                    <a:lumMod val="95000"/>
                    <a:lumOff val="5000"/>
                  </a:schemeClr>
                </a:solidFill>
                <a:latin typeface="Avenir Next LT Pro"/>
                <a:ea typeface="+mn-lt"/>
                <a:cs typeface="+mn-lt"/>
              </a:rPr>
              <a:t> • No dual board and chair</a:t>
            </a:r>
            <a:br>
              <a:rPr lang="en-US">
                <a:latin typeface="Avenir Next LT Pro"/>
                <a:ea typeface="+mn-lt"/>
                <a:cs typeface="+mn-lt"/>
              </a:rPr>
            </a:br>
            <a:r>
              <a:rPr lang="en-US">
                <a:solidFill>
                  <a:schemeClr val="tx1">
                    <a:lumMod val="95000"/>
                    <a:lumOff val="5000"/>
                  </a:schemeClr>
                </a:solidFill>
                <a:latin typeface="Avenir Next LT Pro"/>
                <a:ea typeface="+mn-lt"/>
                <a:cs typeface="+mn-lt"/>
              </a:rPr>
              <a:t> • Risk in executing electrification strategy</a:t>
            </a:r>
          </a:p>
          <a:p>
            <a:r>
              <a:rPr lang="en-US">
                <a:solidFill>
                  <a:schemeClr val="tx1">
                    <a:lumMod val="95000"/>
                    <a:lumOff val="5000"/>
                  </a:schemeClr>
                </a:solidFill>
                <a:latin typeface="Avenir Next LT Pro"/>
                <a:ea typeface="+mn-lt"/>
                <a:cs typeface="+mn-lt"/>
              </a:rPr>
              <a:t> • 39% of board and management renewed within the past year</a:t>
            </a:r>
          </a:p>
          <a:p>
            <a:pPr algn="l"/>
            <a:endParaRPr lang="en-US" b="1">
              <a:solidFill>
                <a:schemeClr val="bg1"/>
              </a:solidFill>
              <a:latin typeface="Avenir Next LT Pro" panose="020B0504020202020204" pitchFamily="34" charset="0"/>
            </a:endParaRPr>
          </a:p>
        </p:txBody>
      </p:sp>
      <p:pic>
        <p:nvPicPr>
          <p:cNvPr id="2" name="Picture 1" descr="Harley Davidson Logo PNG Image - PurePNG | Free transparent CC0 PNG ...">
            <a:extLst>
              <a:ext uri="{FF2B5EF4-FFF2-40B4-BE49-F238E27FC236}">
                <a16:creationId xmlns:a16="http://schemas.microsoft.com/office/drawing/2014/main" id="{5CA8C418-BDE9-269F-2869-72231E08E0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4">
            <a:extLst>
              <a:ext uri="{FF2B5EF4-FFF2-40B4-BE49-F238E27FC236}">
                <a16:creationId xmlns:a16="http://schemas.microsoft.com/office/drawing/2014/main" id="{E793DBF4-C03C-B24F-1780-ECC87563589A}"/>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pSp>
        <p:nvGrpSpPr>
          <p:cNvPr id="9" name="Group 8">
            <a:extLst>
              <a:ext uri="{FF2B5EF4-FFF2-40B4-BE49-F238E27FC236}">
                <a16:creationId xmlns:a16="http://schemas.microsoft.com/office/drawing/2014/main" id="{C8A8067A-076C-B4BB-6EFA-881E4E333CBC}"/>
              </a:ext>
            </a:extLst>
          </p:cNvPr>
          <p:cNvGrpSpPr/>
          <p:nvPr/>
        </p:nvGrpSpPr>
        <p:grpSpPr>
          <a:xfrm>
            <a:off x="695325" y="6302380"/>
            <a:ext cx="10429876" cy="265521"/>
            <a:chOff x="695325" y="6302380"/>
            <a:chExt cx="10429876" cy="265521"/>
          </a:xfrm>
        </p:grpSpPr>
        <p:sp>
          <p:nvSpPr>
            <p:cNvPr id="17" name="object 13">
              <a:extLst>
                <a:ext uri="{FF2B5EF4-FFF2-40B4-BE49-F238E27FC236}">
                  <a16:creationId xmlns:a16="http://schemas.microsoft.com/office/drawing/2014/main" id="{B721C051-5F96-CC03-63B8-0900B3E4C24B}"/>
                </a:ext>
              </a:extLst>
            </p:cNvPr>
            <p:cNvSpPr txBox="1"/>
            <p:nvPr/>
          </p:nvSpPr>
          <p:spPr>
            <a:xfrm>
              <a:off x="7699204" y="6334466"/>
              <a:ext cx="420370" cy="230318"/>
            </a:xfrm>
            <a:prstGeom prst="rect">
              <a:avLst/>
            </a:prstGeom>
          </p:spPr>
          <p:txBody>
            <a:bodyPr vert="horz" wrap="square" lIns="0" tIns="14604" rIns="0" bIns="0" rtlCol="0">
              <a:spAutoFit/>
            </a:bodyPr>
            <a:lstStyle/>
            <a:p>
              <a:pPr marL="12701">
                <a:spcBef>
                  <a:spcPts val="114"/>
                </a:spcBef>
              </a:pPr>
              <a:r>
                <a:rPr lang="en-US" sz="1401" b="1" spc="-25">
                  <a:latin typeface="Avenir Next LT Pro" panose="020B0504020202020204" pitchFamily="34" charset="0"/>
                  <a:cs typeface="Segoe UI"/>
                </a:rPr>
                <a:t>ESG</a:t>
              </a:r>
              <a:endParaRPr lang="en-US" sz="1401" b="1">
                <a:latin typeface="Avenir Next LT Pro" panose="020B0504020202020204" pitchFamily="34" charset="0"/>
                <a:cs typeface="Segoe UI"/>
              </a:endParaRPr>
            </a:p>
          </p:txBody>
        </p:sp>
        <p:sp>
          <p:nvSpPr>
            <p:cNvPr id="22" name="object 14">
              <a:extLst>
                <a:ext uri="{FF2B5EF4-FFF2-40B4-BE49-F238E27FC236}">
                  <a16:creationId xmlns:a16="http://schemas.microsoft.com/office/drawing/2014/main" id="{D6A01581-C902-2B73-37D2-68065AAA5EC5}"/>
                </a:ext>
              </a:extLst>
            </p:cNvPr>
            <p:cNvSpPr txBox="1"/>
            <p:nvPr/>
          </p:nvSpPr>
          <p:spPr>
            <a:xfrm>
              <a:off x="8957749" y="6334466"/>
              <a:ext cx="42037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24" name="object 16">
              <a:extLst>
                <a:ext uri="{FF2B5EF4-FFF2-40B4-BE49-F238E27FC236}">
                  <a16:creationId xmlns:a16="http://schemas.microsoft.com/office/drawing/2014/main" id="{E7FFD1BF-372C-E295-50C6-4EF1CB4997D8}"/>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25" name="object 37">
              <a:extLst>
                <a:ext uri="{FF2B5EF4-FFF2-40B4-BE49-F238E27FC236}">
                  <a16:creationId xmlns:a16="http://schemas.microsoft.com/office/drawing/2014/main" id="{B56808C5-041A-A7CE-71AD-F4D60B5E4801}"/>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26" name="object 39">
              <a:extLst>
                <a:ext uri="{FF2B5EF4-FFF2-40B4-BE49-F238E27FC236}">
                  <a16:creationId xmlns:a16="http://schemas.microsoft.com/office/drawing/2014/main" id="{89A9E3EE-9BA8-DE3A-FD75-C62F7E17340E}"/>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27" name="object 40">
              <a:extLst>
                <a:ext uri="{FF2B5EF4-FFF2-40B4-BE49-F238E27FC236}">
                  <a16:creationId xmlns:a16="http://schemas.microsoft.com/office/drawing/2014/main" id="{2529A1A1-27A2-122E-A819-B54E839AFC2F}"/>
                </a:ext>
              </a:extLst>
            </p:cNvPr>
            <p:cNvSpPr txBox="1"/>
            <p:nvPr/>
          </p:nvSpPr>
          <p:spPr>
            <a:xfrm>
              <a:off x="4287374" y="6322739"/>
              <a:ext cx="978693"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28" name="object 41">
              <a:extLst>
                <a:ext uri="{FF2B5EF4-FFF2-40B4-BE49-F238E27FC236}">
                  <a16:creationId xmlns:a16="http://schemas.microsoft.com/office/drawing/2014/main" id="{F7958F1F-CA90-83B1-9ECE-C154C22DBEBD}"/>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
        <p:nvSpPr>
          <p:cNvPr id="8" name="TextBox 7">
            <a:extLst>
              <a:ext uri="{FF2B5EF4-FFF2-40B4-BE49-F238E27FC236}">
                <a16:creationId xmlns:a16="http://schemas.microsoft.com/office/drawing/2014/main" id="{1E5E4A93-DE5F-604A-18FB-DC0BFC7E6DD5}"/>
              </a:ext>
            </a:extLst>
          </p:cNvPr>
          <p:cNvSpPr txBox="1"/>
          <p:nvPr/>
        </p:nvSpPr>
        <p:spPr>
          <a:xfrm>
            <a:off x="7125059" y="842110"/>
            <a:ext cx="3159889" cy="307777"/>
          </a:xfrm>
          <a:prstGeom prst="rect">
            <a:avLst/>
          </a:prstGeom>
          <a:noFill/>
        </p:spPr>
        <p:txBody>
          <a:bodyPr wrap="square" lIns="91440" tIns="45720" rIns="91440" bIns="45720" rtlCol="0" anchor="t">
            <a:spAutoFit/>
          </a:bodyPr>
          <a:lstStyle/>
          <a:p>
            <a:r>
              <a:rPr lang="en-US" sz="1400">
                <a:latin typeface="Avenir Next LT Pro"/>
              </a:rPr>
              <a:t>Board Independence </a:t>
            </a:r>
            <a:endParaRPr lang="en-US" sz="1400">
              <a:latin typeface="Avenir Next LT Pro" panose="020B0504020202020204" pitchFamily="34" charset="0"/>
            </a:endParaRPr>
          </a:p>
        </p:txBody>
      </p:sp>
      <p:graphicFrame>
        <p:nvGraphicFramePr>
          <p:cNvPr id="5" name="Chart 4">
            <a:extLst>
              <a:ext uri="{FF2B5EF4-FFF2-40B4-BE49-F238E27FC236}">
                <a16:creationId xmlns:a16="http://schemas.microsoft.com/office/drawing/2014/main" id="{723AD344-9AC8-BD36-B243-73F1B8C76A82}"/>
              </a:ext>
            </a:extLst>
          </p:cNvPr>
          <p:cNvGraphicFramePr>
            <a:graphicFrameLocks/>
          </p:cNvGraphicFramePr>
          <p:nvPr>
            <p:extLst>
              <p:ext uri="{D42A27DB-BD31-4B8C-83A1-F6EECF244321}">
                <p14:modId xmlns:p14="http://schemas.microsoft.com/office/powerpoint/2010/main" val="3506008672"/>
              </p:ext>
            </p:extLst>
          </p:nvPr>
        </p:nvGraphicFramePr>
        <p:xfrm>
          <a:off x="7380437" y="1127724"/>
          <a:ext cx="4155058" cy="2800709"/>
        </p:xfrm>
        <a:graphic>
          <a:graphicData uri="http://schemas.openxmlformats.org/drawingml/2006/chart">
            <c:chart xmlns:c="http://schemas.openxmlformats.org/drawingml/2006/chart" xmlns:r="http://schemas.openxmlformats.org/officeDocument/2006/relationships" r:id="rId4"/>
          </a:graphicData>
        </a:graphic>
      </p:graphicFrame>
      <p:sp>
        <p:nvSpPr>
          <p:cNvPr id="29" name="object 15">
            <a:extLst>
              <a:ext uri="{FF2B5EF4-FFF2-40B4-BE49-F238E27FC236}">
                <a16:creationId xmlns:a16="http://schemas.microsoft.com/office/drawing/2014/main" id="{3A0EE6EF-94F1-1CAA-C1B2-5C5F77DBC7BF}"/>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5"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Tree>
    <p:extLst>
      <p:ext uri="{BB962C8B-B14F-4D97-AF65-F5344CB8AC3E}">
        <p14:creationId xmlns:p14="http://schemas.microsoft.com/office/powerpoint/2010/main" val="2804975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B902FD6-05BF-F5D2-F5DB-86357EE870A2}"/>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EF898733-ECF5-A2BD-6DE7-BE86EC1B1A60}"/>
              </a:ext>
            </a:extLst>
          </p:cNvPr>
          <p:cNvSpPr/>
          <p:nvPr/>
        </p:nvSpPr>
        <p:spPr>
          <a:xfrm>
            <a:off x="4833" y="5377434"/>
            <a:ext cx="12187167" cy="14871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latin typeface="Avenir Next LT Pro" panose="020B0504020202020204" pitchFamily="34" charset="0"/>
            </a:endParaRPr>
          </a:p>
        </p:txBody>
      </p:sp>
      <p:pic>
        <p:nvPicPr>
          <p:cNvPr id="14" name="Picture 2" descr="Harley Davidson Logo PNG Image - PurePNG | Free transparent CC0 PNG ...">
            <a:extLst>
              <a:ext uri="{FF2B5EF4-FFF2-40B4-BE49-F238E27FC236}">
                <a16:creationId xmlns:a16="http://schemas.microsoft.com/office/drawing/2014/main" id="{ED0BC480-6437-DB82-329C-580ADD6401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229" y="87086"/>
            <a:ext cx="2036921" cy="1633342"/>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2">
            <a:extLst>
              <a:ext uri="{FF2B5EF4-FFF2-40B4-BE49-F238E27FC236}">
                <a16:creationId xmlns:a16="http://schemas.microsoft.com/office/drawing/2014/main" id="{C5A64D82-615C-6FB4-90E6-01C1B336DC1C}"/>
              </a:ext>
            </a:extLst>
          </p:cNvPr>
          <p:cNvSpPr txBox="1"/>
          <p:nvPr/>
        </p:nvSpPr>
        <p:spPr>
          <a:xfrm>
            <a:off x="562928" y="5377434"/>
            <a:ext cx="4538980" cy="1083117"/>
          </a:xfrm>
          <a:prstGeom prst="rect">
            <a:avLst/>
          </a:prstGeom>
        </p:spPr>
        <p:txBody>
          <a:bodyPr vert="horz" wrap="square" lIns="0" tIns="173355" rIns="0" bIns="0" rtlCol="0">
            <a:spAutoFit/>
          </a:bodyPr>
          <a:lstStyle/>
          <a:p>
            <a:pPr marL="12701">
              <a:spcBef>
                <a:spcPts val="1365"/>
              </a:spcBef>
            </a:pPr>
            <a:r>
              <a:rPr lang="en-US" sz="3600">
                <a:latin typeface="Avenir Next LT Pro" panose="020B0504020202020204" pitchFamily="34" charset="0"/>
                <a:cs typeface="Segoe UI"/>
              </a:rPr>
              <a:t>Investment</a:t>
            </a:r>
            <a:r>
              <a:rPr lang="en-US" sz="3600" spc="-130">
                <a:latin typeface="Avenir Next LT Pro" panose="020B0504020202020204" pitchFamily="34" charset="0"/>
                <a:cs typeface="Segoe UI"/>
              </a:rPr>
              <a:t> </a:t>
            </a:r>
            <a:r>
              <a:rPr lang="en-US" sz="3600" spc="-11">
                <a:latin typeface="Avenir Next LT Pro" panose="020B0504020202020204" pitchFamily="34" charset="0"/>
                <a:cs typeface="Segoe UI"/>
              </a:rPr>
              <a:t>Risks  </a:t>
            </a:r>
            <a:endParaRPr lang="en-US" sz="3600">
              <a:latin typeface="Avenir Next LT Pro" panose="020B0504020202020204" pitchFamily="34" charset="0"/>
              <a:cs typeface="Segoe UI"/>
            </a:endParaRPr>
          </a:p>
          <a:p>
            <a:pPr marL="12701">
              <a:spcBef>
                <a:spcPts val="635"/>
              </a:spcBef>
            </a:pPr>
            <a:r>
              <a:rPr lang="en-US" sz="1801">
                <a:solidFill>
                  <a:schemeClr val="accent2">
                    <a:lumMod val="75000"/>
                  </a:schemeClr>
                </a:solidFill>
                <a:latin typeface="Avenir Next LT Pro" panose="020B0504020202020204" pitchFamily="34" charset="0"/>
                <a:cs typeface="Segoe UI"/>
              </a:rPr>
              <a:t>Demographic Solutions</a:t>
            </a:r>
            <a:r>
              <a:rPr lang="en-US" sz="1801" spc="-44">
                <a:solidFill>
                  <a:schemeClr val="accent2">
                    <a:lumMod val="75000"/>
                  </a:schemeClr>
                </a:solidFill>
                <a:latin typeface="Avenir Next LT Pro" panose="020B0504020202020204" pitchFamily="34" charset="0"/>
                <a:cs typeface="Segoe UI"/>
              </a:rPr>
              <a:t> </a:t>
            </a:r>
            <a:r>
              <a:rPr lang="en-US" sz="1801">
                <a:solidFill>
                  <a:schemeClr val="accent2">
                    <a:lumMod val="75000"/>
                  </a:schemeClr>
                </a:solidFill>
                <a:latin typeface="Avenir Next LT Pro" panose="020B0504020202020204" pitchFamily="34" charset="0"/>
                <a:cs typeface="Segoe UI"/>
              </a:rPr>
              <a:t>For</a:t>
            </a:r>
            <a:r>
              <a:rPr lang="en-US" sz="1801" spc="-114">
                <a:solidFill>
                  <a:schemeClr val="accent2">
                    <a:lumMod val="75000"/>
                  </a:schemeClr>
                </a:solidFill>
                <a:latin typeface="Avenir Next LT Pro" panose="020B0504020202020204" pitchFamily="34" charset="0"/>
                <a:cs typeface="Segoe UI"/>
              </a:rPr>
              <a:t> </a:t>
            </a:r>
            <a:r>
              <a:rPr lang="en-US" sz="1801">
                <a:solidFill>
                  <a:schemeClr val="accent2">
                    <a:lumMod val="75000"/>
                  </a:schemeClr>
                </a:solidFill>
                <a:latin typeface="Avenir Next LT Pro" panose="020B0504020202020204" pitchFamily="34" charset="0"/>
                <a:cs typeface="Segoe UI"/>
              </a:rPr>
              <a:t>a</a:t>
            </a:r>
            <a:r>
              <a:rPr lang="en-US" sz="1801" spc="-44">
                <a:solidFill>
                  <a:schemeClr val="accent2">
                    <a:lumMod val="75000"/>
                  </a:schemeClr>
                </a:solidFill>
                <a:latin typeface="Avenir Next LT Pro" panose="020B0504020202020204" pitchFamily="34" charset="0"/>
                <a:cs typeface="Segoe UI"/>
              </a:rPr>
              <a:t> </a:t>
            </a:r>
            <a:r>
              <a:rPr lang="en-US" sz="1801">
                <a:solidFill>
                  <a:schemeClr val="accent2">
                    <a:lumMod val="75000"/>
                  </a:schemeClr>
                </a:solidFill>
                <a:latin typeface="Avenir Next LT Pro" panose="020B0504020202020204" pitchFamily="34" charset="0"/>
                <a:cs typeface="Segoe UI"/>
              </a:rPr>
              <a:t>Tough</a:t>
            </a:r>
            <a:r>
              <a:rPr lang="en-US" sz="1801" spc="-66">
                <a:solidFill>
                  <a:schemeClr val="accent2">
                    <a:lumMod val="75000"/>
                  </a:schemeClr>
                </a:solidFill>
                <a:latin typeface="Avenir Next LT Pro" panose="020B0504020202020204" pitchFamily="34" charset="0"/>
                <a:cs typeface="Segoe UI"/>
              </a:rPr>
              <a:t> </a:t>
            </a:r>
            <a:r>
              <a:rPr lang="en-US" sz="1801" spc="-11">
                <a:solidFill>
                  <a:schemeClr val="accent2">
                    <a:lumMod val="75000"/>
                  </a:schemeClr>
                </a:solidFill>
                <a:latin typeface="Avenir Next LT Pro" panose="020B0504020202020204" pitchFamily="34" charset="0"/>
                <a:cs typeface="Segoe UI"/>
              </a:rPr>
              <a:t>Market</a:t>
            </a:r>
            <a:endParaRPr lang="en-US" sz="1801">
              <a:solidFill>
                <a:schemeClr val="accent2">
                  <a:lumMod val="75000"/>
                </a:schemeClr>
              </a:solidFill>
              <a:latin typeface="Avenir Next LT Pro" panose="020B0504020202020204" pitchFamily="34" charset="0"/>
              <a:cs typeface="Segoe UI"/>
            </a:endParaRPr>
          </a:p>
        </p:txBody>
      </p:sp>
    </p:spTree>
    <p:extLst>
      <p:ext uri="{BB962C8B-B14F-4D97-AF65-F5344CB8AC3E}">
        <p14:creationId xmlns:p14="http://schemas.microsoft.com/office/powerpoint/2010/main" val="1366266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object 82"/>
          <p:cNvSpPr txBox="1"/>
          <p:nvPr/>
        </p:nvSpPr>
        <p:spPr>
          <a:xfrm>
            <a:off x="584411" y="956657"/>
            <a:ext cx="2089785" cy="231474"/>
          </a:xfrm>
          <a:prstGeom prst="rect">
            <a:avLst/>
          </a:prstGeom>
        </p:spPr>
        <p:txBody>
          <a:bodyPr vert="horz" wrap="square" lIns="0" tIns="15875" rIns="0" bIns="0" rtlCol="0">
            <a:spAutoFit/>
          </a:bodyPr>
          <a:lstStyle/>
          <a:p>
            <a:pPr marL="12700">
              <a:lnSpc>
                <a:spcPct val="100000"/>
              </a:lnSpc>
              <a:spcBef>
                <a:spcPts val="125"/>
              </a:spcBef>
            </a:pPr>
            <a:r>
              <a:rPr lang="en-US" sz="1400">
                <a:latin typeface="Avenir Next LT Pro" panose="020B0504020202020204" pitchFamily="34" charset="0"/>
                <a:ea typeface="Calibri" panose="020F0502020204030204" pitchFamily="34" charset="0"/>
                <a:cs typeface="Calibri" panose="020F0502020204030204" pitchFamily="34" charset="0"/>
              </a:rPr>
              <a:t>Investment</a:t>
            </a:r>
            <a:r>
              <a:rPr lang="en-US" sz="1400" spc="-20">
                <a:latin typeface="Avenir Next LT Pro" panose="020B0504020202020204" pitchFamily="34" charset="0"/>
                <a:ea typeface="Calibri" panose="020F0502020204030204" pitchFamily="34" charset="0"/>
                <a:cs typeface="Calibri" panose="020F0502020204030204" pitchFamily="34" charset="0"/>
              </a:rPr>
              <a:t> </a:t>
            </a:r>
            <a:r>
              <a:rPr lang="en-US" sz="1400">
                <a:latin typeface="Avenir Next LT Pro" panose="020B0504020202020204" pitchFamily="34" charset="0"/>
                <a:ea typeface="Calibri" panose="020F0502020204030204" pitchFamily="34" charset="0"/>
                <a:cs typeface="Calibri" panose="020F0502020204030204" pitchFamily="34" charset="0"/>
              </a:rPr>
              <a:t>Risk</a:t>
            </a:r>
            <a:r>
              <a:rPr lang="en-US" sz="1400" spc="-15">
                <a:latin typeface="Avenir Next LT Pro" panose="020B0504020202020204" pitchFamily="34" charset="0"/>
                <a:ea typeface="Calibri" panose="020F0502020204030204" pitchFamily="34" charset="0"/>
                <a:cs typeface="Calibri" panose="020F0502020204030204" pitchFamily="34" charset="0"/>
              </a:rPr>
              <a:t> </a:t>
            </a:r>
            <a:r>
              <a:rPr lang="en-US" sz="1400">
                <a:latin typeface="Avenir Next LT Pro" panose="020B0504020202020204" pitchFamily="34" charset="0"/>
                <a:ea typeface="Calibri" panose="020F0502020204030204" pitchFamily="34" charset="0"/>
                <a:cs typeface="Calibri" panose="020F0502020204030204" pitchFamily="34" charset="0"/>
              </a:rPr>
              <a:t>Heat</a:t>
            </a:r>
            <a:r>
              <a:rPr lang="en-US" sz="1400" spc="-15">
                <a:latin typeface="Avenir Next LT Pro" panose="020B0504020202020204" pitchFamily="34" charset="0"/>
                <a:ea typeface="Calibri" panose="020F0502020204030204" pitchFamily="34" charset="0"/>
                <a:cs typeface="Calibri" panose="020F0502020204030204" pitchFamily="34" charset="0"/>
              </a:rPr>
              <a:t> </a:t>
            </a:r>
            <a:r>
              <a:rPr lang="en-US" sz="1400" spc="-25">
                <a:latin typeface="Avenir Next LT Pro" panose="020B0504020202020204" pitchFamily="34" charset="0"/>
                <a:ea typeface="Calibri" panose="020F0502020204030204" pitchFamily="34" charset="0"/>
                <a:cs typeface="Calibri" panose="020F0502020204030204" pitchFamily="34" charset="0"/>
              </a:rPr>
              <a:t>Map</a:t>
            </a:r>
            <a:endParaRPr lang="en-US" sz="1400">
              <a:latin typeface="Avenir Next LT Pro" panose="020B0504020202020204" pitchFamily="34" charset="0"/>
              <a:ea typeface="Calibri" panose="020F0502020204030204" pitchFamily="34" charset="0"/>
              <a:cs typeface="Calibri" panose="020F0502020204030204" pitchFamily="34" charset="0"/>
            </a:endParaRPr>
          </a:p>
        </p:txBody>
      </p:sp>
      <p:sp>
        <p:nvSpPr>
          <p:cNvPr id="107" name="object 107"/>
          <p:cNvSpPr txBox="1"/>
          <p:nvPr/>
        </p:nvSpPr>
        <p:spPr>
          <a:xfrm>
            <a:off x="584411" y="278358"/>
            <a:ext cx="5450905" cy="690574"/>
          </a:xfrm>
          <a:prstGeom prst="rect">
            <a:avLst/>
          </a:prstGeom>
        </p:spPr>
        <p:txBody>
          <a:bodyPr vert="horz" wrap="square" lIns="0" tIns="13335" rIns="0" bIns="0" rtlCol="0">
            <a:spAutoFit/>
          </a:bodyPr>
          <a:lstStyle/>
          <a:p>
            <a:pPr marL="12700">
              <a:lnSpc>
                <a:spcPct val="100000"/>
              </a:lnSpc>
              <a:spcBef>
                <a:spcPts val="105"/>
              </a:spcBef>
            </a:pPr>
            <a:r>
              <a:rPr lang="en-US" sz="4400" u="sng" spc="-10">
                <a:solidFill>
                  <a:schemeClr val="accent2">
                    <a:lumMod val="75000"/>
                  </a:schemeClr>
                </a:solidFill>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Investment</a:t>
            </a:r>
            <a:r>
              <a:rPr lang="en-US" sz="4400" u="sng" spc="-75">
                <a:solidFill>
                  <a:schemeClr val="accent2">
                    <a:lumMod val="75000"/>
                  </a:schemeClr>
                </a:solidFill>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 </a:t>
            </a:r>
            <a:r>
              <a:rPr lang="en-US" sz="4400" u="sng" spc="-10">
                <a:solidFill>
                  <a:schemeClr val="accent2">
                    <a:lumMod val="75000"/>
                  </a:schemeClr>
                </a:solidFill>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Risks</a:t>
            </a:r>
            <a:endParaRPr lang="en-US" sz="4400" u="sng">
              <a:solidFill>
                <a:schemeClr val="accent2">
                  <a:lumMod val="75000"/>
                </a:schemeClr>
              </a:solidFill>
              <a:latin typeface="Avenir Next LT Pro" panose="020B0504020202020204" pitchFamily="34" charset="0"/>
              <a:cs typeface="Segoe UI"/>
            </a:endParaRPr>
          </a:p>
        </p:txBody>
      </p:sp>
      <p:sp>
        <p:nvSpPr>
          <p:cNvPr id="110" name="Rectangle 109">
            <a:extLst>
              <a:ext uri="{FF2B5EF4-FFF2-40B4-BE49-F238E27FC236}">
                <a16:creationId xmlns:a16="http://schemas.microsoft.com/office/drawing/2014/main" id="{9117C88D-BD73-4485-F762-173E38DDDC3E}"/>
              </a:ext>
            </a:extLst>
          </p:cNvPr>
          <p:cNvSpPr/>
          <p:nvPr/>
        </p:nvSpPr>
        <p:spPr>
          <a:xfrm>
            <a:off x="557071" y="1247089"/>
            <a:ext cx="4607069" cy="2590967"/>
          </a:xfrm>
          <a:prstGeom prst="rect">
            <a:avLst/>
          </a:prstGeom>
          <a:gradFill flip="none" rotWithShape="1">
            <a:gsLst>
              <a:gs pos="50000">
                <a:srgbClr val="FFFF00">
                  <a:lumMod val="100000"/>
                </a:srgbClr>
              </a:gs>
              <a:gs pos="0">
                <a:srgbClr val="3BB00F"/>
              </a:gs>
              <a:gs pos="100000">
                <a:srgbClr val="FF0000"/>
              </a:gs>
            </a:gsLst>
            <a:lin ang="18600000" scaled="0"/>
            <a:tileRect/>
          </a:gra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a:latin typeface="Avenir Next LT Pro" panose="020B0504020202020204" pitchFamily="34" charset="0"/>
              </a:rPr>
              <a:t>c</a:t>
            </a:r>
          </a:p>
        </p:txBody>
      </p:sp>
      <p:graphicFrame>
        <p:nvGraphicFramePr>
          <p:cNvPr id="111" name="Chart 110">
            <a:extLst>
              <a:ext uri="{FF2B5EF4-FFF2-40B4-BE49-F238E27FC236}">
                <a16:creationId xmlns:a16="http://schemas.microsoft.com/office/drawing/2014/main" id="{28F3C931-14AC-429F-8A44-A3DD2912F50C}"/>
              </a:ext>
            </a:extLst>
          </p:cNvPr>
          <p:cNvGraphicFramePr>
            <a:graphicFrameLocks/>
          </p:cNvGraphicFramePr>
          <p:nvPr>
            <p:extLst>
              <p:ext uri="{D42A27DB-BD31-4B8C-83A1-F6EECF244321}">
                <p14:modId xmlns:p14="http://schemas.microsoft.com/office/powerpoint/2010/main" val="4223686447"/>
              </p:ext>
            </p:extLst>
          </p:nvPr>
        </p:nvGraphicFramePr>
        <p:xfrm>
          <a:off x="6688899" y="1226282"/>
          <a:ext cx="3920891" cy="213303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3" name="Table 112">
            <a:extLst>
              <a:ext uri="{FF2B5EF4-FFF2-40B4-BE49-F238E27FC236}">
                <a16:creationId xmlns:a16="http://schemas.microsoft.com/office/drawing/2014/main" id="{92F3A8AC-4255-347B-8EA2-C4E7EDC790CC}"/>
              </a:ext>
            </a:extLst>
          </p:cNvPr>
          <p:cNvGraphicFramePr>
            <a:graphicFrameLocks noGrp="1"/>
          </p:cNvGraphicFramePr>
          <p:nvPr>
            <p:custDataLst>
              <p:tags r:id="rId1"/>
            </p:custDataLst>
            <p:extLst>
              <p:ext uri="{D42A27DB-BD31-4B8C-83A1-F6EECF244321}">
                <p14:modId xmlns:p14="http://schemas.microsoft.com/office/powerpoint/2010/main" val="1911254730"/>
              </p:ext>
            </p:extLst>
          </p:nvPr>
        </p:nvGraphicFramePr>
        <p:xfrm>
          <a:off x="551669" y="4692607"/>
          <a:ext cx="4607069" cy="755221"/>
        </p:xfrm>
        <a:graphic>
          <a:graphicData uri="http://schemas.openxmlformats.org/drawingml/2006/table">
            <a:tbl>
              <a:tblPr/>
              <a:tblGrid>
                <a:gridCol w="636655">
                  <a:extLst>
                    <a:ext uri="{9D8B030D-6E8A-4147-A177-3AD203B41FA5}">
                      <a16:colId xmlns:a16="http://schemas.microsoft.com/office/drawing/2014/main" val="2421707137"/>
                    </a:ext>
                  </a:extLst>
                </a:gridCol>
                <a:gridCol w="1794210">
                  <a:extLst>
                    <a:ext uri="{9D8B030D-6E8A-4147-A177-3AD203B41FA5}">
                      <a16:colId xmlns:a16="http://schemas.microsoft.com/office/drawing/2014/main" val="2982859927"/>
                    </a:ext>
                  </a:extLst>
                </a:gridCol>
                <a:gridCol w="2176204">
                  <a:extLst>
                    <a:ext uri="{9D8B030D-6E8A-4147-A177-3AD203B41FA5}">
                      <a16:colId xmlns:a16="http://schemas.microsoft.com/office/drawing/2014/main" val="2647477646"/>
                    </a:ext>
                  </a:extLst>
                </a:gridCol>
              </a:tblGrid>
              <a:tr h="216117">
                <a:tc>
                  <a:txBody>
                    <a:bodyPr/>
                    <a:lstStyle/>
                    <a:p>
                      <a:pPr algn="ctr" fontAlgn="ctr">
                        <a:buNone/>
                      </a:pPr>
                      <a:r>
                        <a:rPr lang="en-US" sz="1100" b="1" i="0" u="none" strike="noStrike">
                          <a:solidFill>
                            <a:srgbClr val="FFFFFF"/>
                          </a:solidFill>
                          <a:effectLst/>
                          <a:latin typeface="Aptos Narrow" panose="020B0004020202020204" pitchFamily="34" charset="0"/>
                        </a:rPr>
                        <a:t>Category</a:t>
                      </a:r>
                    </a:p>
                  </a:txBody>
                  <a:tcPr marL="7620" marR="7620" marT="762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ctr">
                        <a:buNone/>
                      </a:pPr>
                      <a:r>
                        <a:rPr lang="en-US" sz="1100" b="1" i="0" u="none" strike="noStrike">
                          <a:solidFill>
                            <a:srgbClr val="FFFFFF"/>
                          </a:solidFill>
                          <a:effectLst/>
                          <a:latin typeface="Aptos Narrow" panose="020B0004020202020204" pitchFamily="34" charset="0"/>
                        </a:rPr>
                        <a:t>Challenge</a:t>
                      </a: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ctr">
                        <a:buNone/>
                      </a:pPr>
                      <a:r>
                        <a:rPr lang="en-US" sz="1100" b="1" i="0" u="none" strike="noStrike">
                          <a:solidFill>
                            <a:srgbClr val="FFFFFF"/>
                          </a:solidFill>
                          <a:effectLst/>
                          <a:latin typeface="Aptos Narrow" panose="020B0004020202020204" pitchFamily="34" charset="0"/>
                        </a:rPr>
                        <a:t>Mitigation</a:t>
                      </a:r>
                    </a:p>
                  </a:txBody>
                  <a:tcPr marL="7620" marR="7620" marT="762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203732733"/>
                  </a:ext>
                </a:extLst>
              </a:tr>
              <a:tr h="539104">
                <a:tc>
                  <a:txBody>
                    <a:bodyPr/>
                    <a:lstStyle/>
                    <a:p>
                      <a:pPr algn="ctr" fontAlgn="ctr">
                        <a:buNone/>
                      </a:pPr>
                      <a:r>
                        <a:rPr lang="en-US" sz="1100" b="0" i="0" u="none" strike="noStrike">
                          <a:solidFill>
                            <a:srgbClr val="000000"/>
                          </a:solidFill>
                          <a:effectLst/>
                          <a:latin typeface="Aptos Narrow" panose="020B0004020202020204" pitchFamily="34" charset="0"/>
                        </a:rPr>
                        <a:t>[M1]</a:t>
                      </a:r>
                    </a:p>
                  </a:txBody>
                  <a:tcPr marL="7620" marR="7620" marT="762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Aging rider base and high-cost barrier for younger riders</a:t>
                      </a: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2026 debut of the $6k Sprint line to attract younger, budget-conscious riders</a:t>
                      </a:r>
                    </a:p>
                  </a:txBody>
                  <a:tcPr marL="7620" marR="7620" marT="762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610695988"/>
                  </a:ext>
                </a:extLst>
              </a:tr>
            </a:tbl>
          </a:graphicData>
        </a:graphic>
      </p:graphicFrame>
      <p:sp>
        <p:nvSpPr>
          <p:cNvPr id="8" name="TextBox 7">
            <a:extLst>
              <a:ext uri="{FF2B5EF4-FFF2-40B4-BE49-F238E27FC236}">
                <a16:creationId xmlns:a16="http://schemas.microsoft.com/office/drawing/2014/main" id="{4D61EAA2-01AE-16F0-E3F1-D24A41407C2E}"/>
              </a:ext>
            </a:extLst>
          </p:cNvPr>
          <p:cNvSpPr txBox="1"/>
          <p:nvPr/>
        </p:nvSpPr>
        <p:spPr>
          <a:xfrm>
            <a:off x="551669" y="3927176"/>
            <a:ext cx="2520866" cy="307777"/>
          </a:xfrm>
          <a:prstGeom prst="rect">
            <a:avLst/>
          </a:prstGeom>
          <a:noFill/>
        </p:spPr>
        <p:txBody>
          <a:bodyPr wrap="square" rtlCol="0">
            <a:spAutoFit/>
          </a:bodyPr>
          <a:lstStyle/>
          <a:p>
            <a:r>
              <a:rPr lang="en-US" sz="1400">
                <a:latin typeface="Avenir Next LT Pro" panose="020B0504020202020204" pitchFamily="34" charset="0"/>
                <a:ea typeface="Calibri" panose="020F0502020204030204" pitchFamily="34" charset="0"/>
                <a:cs typeface="Calibri" panose="020F0502020204030204" pitchFamily="34" charset="0"/>
              </a:rPr>
              <a:t>Impact</a:t>
            </a:r>
          </a:p>
        </p:txBody>
      </p:sp>
      <p:sp>
        <p:nvSpPr>
          <p:cNvPr id="9" name="TextBox 8">
            <a:extLst>
              <a:ext uri="{FF2B5EF4-FFF2-40B4-BE49-F238E27FC236}">
                <a16:creationId xmlns:a16="http://schemas.microsoft.com/office/drawing/2014/main" id="{8F481983-5085-A16D-E985-8334D9D758BC}"/>
              </a:ext>
            </a:extLst>
          </p:cNvPr>
          <p:cNvSpPr txBox="1"/>
          <p:nvPr/>
        </p:nvSpPr>
        <p:spPr>
          <a:xfrm>
            <a:off x="184301" y="2080022"/>
            <a:ext cx="400110" cy="646331"/>
          </a:xfrm>
          <a:prstGeom prst="rect">
            <a:avLst/>
          </a:prstGeom>
          <a:noFill/>
        </p:spPr>
        <p:txBody>
          <a:bodyPr vert="vert270" wrap="square" rtlCol="0">
            <a:spAutoFit/>
          </a:bodyPr>
          <a:lstStyle/>
          <a:p>
            <a:r>
              <a:rPr lang="en-US" sz="1400">
                <a:latin typeface="Calibri" panose="020F0502020204030204" pitchFamily="34" charset="0"/>
                <a:ea typeface="Calibri" panose="020F0502020204030204" pitchFamily="34" charset="0"/>
                <a:cs typeface="Calibri" panose="020F0502020204030204" pitchFamily="34" charset="0"/>
              </a:rPr>
              <a:t>Risk</a:t>
            </a:r>
          </a:p>
        </p:txBody>
      </p:sp>
      <p:sp>
        <p:nvSpPr>
          <p:cNvPr id="17" name="Rectangle 16">
            <a:extLst>
              <a:ext uri="{FF2B5EF4-FFF2-40B4-BE49-F238E27FC236}">
                <a16:creationId xmlns:a16="http://schemas.microsoft.com/office/drawing/2014/main" id="{DA20D01A-DC42-8153-459D-8E63551B4DC8}"/>
              </a:ext>
            </a:extLst>
          </p:cNvPr>
          <p:cNvSpPr/>
          <p:nvPr/>
        </p:nvSpPr>
        <p:spPr>
          <a:xfrm>
            <a:off x="2474141" y="2553763"/>
            <a:ext cx="400110" cy="33919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Avenir Next LT Pro" panose="020B0504020202020204" pitchFamily="34" charset="0"/>
              </a:rPr>
              <a:t>MF1</a:t>
            </a:r>
          </a:p>
        </p:txBody>
      </p:sp>
      <p:sp>
        <p:nvSpPr>
          <p:cNvPr id="21" name="TextBox 20">
            <a:extLst>
              <a:ext uri="{FF2B5EF4-FFF2-40B4-BE49-F238E27FC236}">
                <a16:creationId xmlns:a16="http://schemas.microsoft.com/office/drawing/2014/main" id="{D7259B66-2D6F-7018-4051-0FB731F72415}"/>
              </a:ext>
            </a:extLst>
          </p:cNvPr>
          <p:cNvSpPr txBox="1"/>
          <p:nvPr/>
        </p:nvSpPr>
        <p:spPr>
          <a:xfrm>
            <a:off x="6688899" y="942353"/>
            <a:ext cx="4087311" cy="307777"/>
          </a:xfrm>
          <a:prstGeom prst="rect">
            <a:avLst/>
          </a:prstGeom>
          <a:noFill/>
        </p:spPr>
        <p:txBody>
          <a:bodyPr wrap="square" rtlCol="0">
            <a:spAutoFit/>
          </a:bodyPr>
          <a:lstStyle/>
          <a:p>
            <a:r>
              <a:rPr lang="en-US" sz="1400">
                <a:latin typeface="Avenir Next LT Pro" panose="020B0504020202020204" pitchFamily="34" charset="0"/>
                <a:ea typeface="Calibri" panose="020F0502020204030204" pitchFamily="34" charset="0"/>
                <a:cs typeface="Calibri" panose="020F0502020204030204" pitchFamily="34" charset="0"/>
              </a:rPr>
              <a:t>Motorcycle Riders in the U.S. by Age Group</a:t>
            </a:r>
          </a:p>
        </p:txBody>
      </p:sp>
      <p:sp>
        <p:nvSpPr>
          <p:cNvPr id="23" name="TextBox 22">
            <a:extLst>
              <a:ext uri="{FF2B5EF4-FFF2-40B4-BE49-F238E27FC236}">
                <a16:creationId xmlns:a16="http://schemas.microsoft.com/office/drawing/2014/main" id="{875C2196-A939-10A5-D835-47E99AFA3AAD}"/>
              </a:ext>
            </a:extLst>
          </p:cNvPr>
          <p:cNvSpPr txBox="1"/>
          <p:nvPr/>
        </p:nvSpPr>
        <p:spPr>
          <a:xfrm>
            <a:off x="8907829" y="3619399"/>
            <a:ext cx="2551773" cy="307777"/>
          </a:xfrm>
          <a:prstGeom prst="rect">
            <a:avLst/>
          </a:prstGeom>
          <a:noFill/>
        </p:spPr>
        <p:txBody>
          <a:bodyPr wrap="square" rtlCol="0">
            <a:spAutoFit/>
          </a:bodyPr>
          <a:lstStyle/>
          <a:p>
            <a:r>
              <a:rPr lang="en-US" sz="1400">
                <a:latin typeface="Avenir Next LT Pro" panose="020B0504020202020204" pitchFamily="34" charset="0"/>
                <a:ea typeface="Calibri" panose="020F0502020204030204" pitchFamily="34" charset="0"/>
                <a:cs typeface="Calibri" panose="020F0502020204030204" pitchFamily="34" charset="0"/>
              </a:rPr>
              <a:t>Revenue if Sprint Bike Fails</a:t>
            </a:r>
          </a:p>
        </p:txBody>
      </p:sp>
      <p:pic>
        <p:nvPicPr>
          <p:cNvPr id="24" name="Picture 23" descr="Harley Davidson Logo PNG Image - PurePNG | Free transparent CC0 PNG ...">
            <a:extLst>
              <a:ext uri="{FF2B5EF4-FFF2-40B4-BE49-F238E27FC236}">
                <a16:creationId xmlns:a16="http://schemas.microsoft.com/office/drawing/2014/main" id="{0FA3DE2F-78DE-7B58-075B-2612010DA5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4">
            <a:extLst>
              <a:ext uri="{FF2B5EF4-FFF2-40B4-BE49-F238E27FC236}">
                <a16:creationId xmlns:a16="http://schemas.microsoft.com/office/drawing/2014/main" id="{A58F85AD-61F4-8212-82D3-C41501EFE0CD}"/>
              </a:ext>
            </a:extLst>
          </p:cNvPr>
          <p:cNvSpPr txBox="1"/>
          <p:nvPr/>
        </p:nvSpPr>
        <p:spPr>
          <a:xfrm>
            <a:off x="78739" y="6657021"/>
            <a:ext cx="4505647"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dirty="0">
                <a:latin typeface="Calibri" panose="020F050202020403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 Motor &amp; Wheels</a:t>
            </a:r>
            <a:endParaRPr lang="en-US" sz="949">
              <a:latin typeface="Avenir Next LT Pro" panose="020B0504020202020204" pitchFamily="34" charset="0"/>
              <a:cs typeface="Segoe UI"/>
            </a:endParaRPr>
          </a:p>
        </p:txBody>
      </p:sp>
      <p:grpSp>
        <p:nvGrpSpPr>
          <p:cNvPr id="4" name="Group 3">
            <a:extLst>
              <a:ext uri="{FF2B5EF4-FFF2-40B4-BE49-F238E27FC236}">
                <a16:creationId xmlns:a16="http://schemas.microsoft.com/office/drawing/2014/main" id="{C19834EC-1F1D-D5E7-E118-ED0539622C21}"/>
              </a:ext>
            </a:extLst>
          </p:cNvPr>
          <p:cNvGrpSpPr/>
          <p:nvPr/>
        </p:nvGrpSpPr>
        <p:grpSpPr>
          <a:xfrm>
            <a:off x="695325" y="6302380"/>
            <a:ext cx="10429876" cy="265521"/>
            <a:chOff x="695325" y="6302380"/>
            <a:chExt cx="10429876" cy="265521"/>
          </a:xfrm>
        </p:grpSpPr>
        <p:sp>
          <p:nvSpPr>
            <p:cNvPr id="5" name="object 13">
              <a:extLst>
                <a:ext uri="{FF2B5EF4-FFF2-40B4-BE49-F238E27FC236}">
                  <a16:creationId xmlns:a16="http://schemas.microsoft.com/office/drawing/2014/main" id="{B60C938A-28C9-F9E2-2A18-C75CA1D9D1C9}"/>
                </a:ext>
              </a:extLst>
            </p:cNvPr>
            <p:cNvSpPr txBox="1"/>
            <p:nvPr/>
          </p:nvSpPr>
          <p:spPr>
            <a:xfrm>
              <a:off x="7699204" y="6334466"/>
              <a:ext cx="380813"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6" name="object 14">
              <a:extLst>
                <a:ext uri="{FF2B5EF4-FFF2-40B4-BE49-F238E27FC236}">
                  <a16:creationId xmlns:a16="http://schemas.microsoft.com/office/drawing/2014/main" id="{F388A6B3-D85E-0543-EAEF-3A9DB97A588E}"/>
                </a:ext>
              </a:extLst>
            </p:cNvPr>
            <p:cNvSpPr txBox="1"/>
            <p:nvPr/>
          </p:nvSpPr>
          <p:spPr>
            <a:xfrm>
              <a:off x="8907830" y="6334466"/>
              <a:ext cx="498637"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Risks</a:t>
              </a:r>
              <a:endParaRPr lang="en-US" sz="1401" b="1">
                <a:latin typeface="Avenir Next LT Pro" panose="020B0504020202020204" pitchFamily="34" charset="0"/>
                <a:cs typeface="Segoe UI"/>
              </a:endParaRPr>
            </a:p>
          </p:txBody>
        </p:sp>
        <p:sp>
          <p:nvSpPr>
            <p:cNvPr id="12" name="object 16">
              <a:extLst>
                <a:ext uri="{FF2B5EF4-FFF2-40B4-BE49-F238E27FC236}">
                  <a16:creationId xmlns:a16="http://schemas.microsoft.com/office/drawing/2014/main" id="{33008D7D-5378-1A9E-B414-D6DF371802A4}"/>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3" name="object 37">
              <a:extLst>
                <a:ext uri="{FF2B5EF4-FFF2-40B4-BE49-F238E27FC236}">
                  <a16:creationId xmlns:a16="http://schemas.microsoft.com/office/drawing/2014/main" id="{9FBD373E-EFC1-E57B-EB47-5B7D04D842E8}"/>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4" name="object 39">
              <a:extLst>
                <a:ext uri="{FF2B5EF4-FFF2-40B4-BE49-F238E27FC236}">
                  <a16:creationId xmlns:a16="http://schemas.microsoft.com/office/drawing/2014/main" id="{B6308A38-03A1-C032-0BD7-BDA7F9D7582B}"/>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5" name="object 40">
              <a:extLst>
                <a:ext uri="{FF2B5EF4-FFF2-40B4-BE49-F238E27FC236}">
                  <a16:creationId xmlns:a16="http://schemas.microsoft.com/office/drawing/2014/main" id="{7228F590-448D-F1FC-B743-256CA748A58C}"/>
                </a:ext>
              </a:extLst>
            </p:cNvPr>
            <p:cNvSpPr txBox="1"/>
            <p:nvPr/>
          </p:nvSpPr>
          <p:spPr>
            <a:xfrm>
              <a:off x="4287375"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16" name="object 41">
              <a:extLst>
                <a:ext uri="{FF2B5EF4-FFF2-40B4-BE49-F238E27FC236}">
                  <a16:creationId xmlns:a16="http://schemas.microsoft.com/office/drawing/2014/main" id="{7D25ECC7-56B8-B8CB-82F2-C0F5804F2666}"/>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
        <p:nvSpPr>
          <p:cNvPr id="25" name="Rectangle 24">
            <a:extLst>
              <a:ext uri="{FF2B5EF4-FFF2-40B4-BE49-F238E27FC236}">
                <a16:creationId xmlns:a16="http://schemas.microsoft.com/office/drawing/2014/main" id="{7693AFA0-C69D-C6EA-0F1A-41EFA675506B}"/>
              </a:ext>
            </a:extLst>
          </p:cNvPr>
          <p:cNvSpPr/>
          <p:nvPr/>
        </p:nvSpPr>
        <p:spPr>
          <a:xfrm>
            <a:off x="1182100" y="3072624"/>
            <a:ext cx="400110" cy="33919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Avenir Next LT Pro" panose="020B0504020202020204" pitchFamily="34" charset="0"/>
              </a:rPr>
              <a:t>MS1</a:t>
            </a:r>
          </a:p>
        </p:txBody>
      </p:sp>
      <p:graphicFrame>
        <p:nvGraphicFramePr>
          <p:cNvPr id="26" name="Chart 25">
            <a:extLst>
              <a:ext uri="{FF2B5EF4-FFF2-40B4-BE49-F238E27FC236}">
                <a16:creationId xmlns:a16="http://schemas.microsoft.com/office/drawing/2014/main" id="{F703583D-FCB8-85AC-4B55-F6E96734D688}"/>
              </a:ext>
            </a:extLst>
          </p:cNvPr>
          <p:cNvGraphicFramePr>
            <a:graphicFrameLocks/>
          </p:cNvGraphicFramePr>
          <p:nvPr>
            <p:extLst>
              <p:ext uri="{D42A27DB-BD31-4B8C-83A1-F6EECF244321}">
                <p14:modId xmlns:p14="http://schemas.microsoft.com/office/powerpoint/2010/main" val="3456475923"/>
              </p:ext>
            </p:extLst>
          </p:nvPr>
        </p:nvGraphicFramePr>
        <p:xfrm>
          <a:off x="8893389" y="3863792"/>
          <a:ext cx="2741540" cy="216478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7" name="Chart 26">
            <a:extLst>
              <a:ext uri="{FF2B5EF4-FFF2-40B4-BE49-F238E27FC236}">
                <a16:creationId xmlns:a16="http://schemas.microsoft.com/office/drawing/2014/main" id="{6B032CFC-6D31-C357-98CF-E634360C9D50}"/>
              </a:ext>
            </a:extLst>
          </p:cNvPr>
          <p:cNvGraphicFramePr>
            <a:graphicFrameLocks/>
          </p:cNvGraphicFramePr>
          <p:nvPr>
            <p:extLst>
              <p:ext uri="{D42A27DB-BD31-4B8C-83A1-F6EECF244321}">
                <p14:modId xmlns:p14="http://schemas.microsoft.com/office/powerpoint/2010/main" val="3632920904"/>
              </p:ext>
            </p:extLst>
          </p:nvPr>
        </p:nvGraphicFramePr>
        <p:xfrm>
          <a:off x="5554963" y="3933527"/>
          <a:ext cx="3052008" cy="209505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7">
            <a:extLst>
              <a:ext uri="{FF2B5EF4-FFF2-40B4-BE49-F238E27FC236}">
                <a16:creationId xmlns:a16="http://schemas.microsoft.com/office/drawing/2014/main" id="{D25137FB-1392-6414-7863-382ED56DBBC8}"/>
              </a:ext>
            </a:extLst>
          </p:cNvPr>
          <p:cNvSpPr txBox="1"/>
          <p:nvPr/>
        </p:nvSpPr>
        <p:spPr>
          <a:xfrm>
            <a:off x="5554962" y="3625750"/>
            <a:ext cx="2931195" cy="307777"/>
          </a:xfrm>
          <a:prstGeom prst="rect">
            <a:avLst/>
          </a:prstGeom>
          <a:noFill/>
        </p:spPr>
        <p:txBody>
          <a:bodyPr wrap="square" rtlCol="0">
            <a:spAutoFit/>
          </a:bodyPr>
          <a:lstStyle/>
          <a:p>
            <a:r>
              <a:rPr lang="en-US" sz="1400">
                <a:latin typeface="Avenir Next LT Pro" panose="020B0504020202020204" pitchFamily="34" charset="0"/>
                <a:ea typeface="Calibri" panose="020F0502020204030204" pitchFamily="34" charset="0"/>
                <a:cs typeface="Calibri" panose="020F0502020204030204" pitchFamily="34" charset="0"/>
              </a:rPr>
              <a:t>Revenue if Sprint Bike Succeeds</a:t>
            </a:r>
          </a:p>
        </p:txBody>
      </p:sp>
      <p:sp>
        <p:nvSpPr>
          <p:cNvPr id="29" name="object 15">
            <a:extLst>
              <a:ext uri="{FF2B5EF4-FFF2-40B4-BE49-F238E27FC236}">
                <a16:creationId xmlns:a16="http://schemas.microsoft.com/office/drawing/2014/main" id="{7B36D5BE-379F-2188-E3A8-4A9BCEABE40E}"/>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tx1">
                    <a:lumMod val="95000"/>
                    <a:lumOff val="5000"/>
                  </a:schemeClr>
                </a:solidFill>
                <a:latin typeface="Avenir Next LT Pro" panose="020B0504020202020204" pitchFamily="34" charset="0"/>
                <a:cs typeface="Segoe UI"/>
                <a:hlinkClick r:id="rId9" action="ppaction://hlinksldjump">
                  <a:extLst>
                    <a:ext uri="{A12FA001-AC4F-418D-AE19-62706E023703}">
                      <ahyp:hlinkClr xmlns:ahyp="http://schemas.microsoft.com/office/drawing/2018/hyperlinkcolor" val="tx"/>
                    </a:ext>
                  </a:extLst>
                </a:hlinkClick>
              </a:rPr>
              <a:t>Appendix</a:t>
            </a:r>
            <a:endParaRPr lang="en-US" sz="1401">
              <a:solidFill>
                <a:schemeClr val="tx1">
                  <a:lumMod val="95000"/>
                  <a:lumOff val="5000"/>
                </a:schemeClr>
              </a:solidFill>
              <a:latin typeface="Avenir Next LT Pro" panose="020B0504020202020204" pitchFamily="34" charset="0"/>
              <a:cs typeface="Segoe U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8C3CE2-2C57-7065-A1D3-B11C4257F137}"/>
              </a:ext>
            </a:extLst>
          </p:cNvPr>
          <p:cNvPicPr>
            <a:picLocks noChangeAspect="1"/>
          </p:cNvPicPr>
          <p:nvPr/>
        </p:nvPicPr>
        <p:blipFill>
          <a:blip r:embed="rId3"/>
          <a:stretch>
            <a:fillRect/>
          </a:stretch>
        </p:blipFill>
        <p:spPr>
          <a:xfrm>
            <a:off x="517706" y="891228"/>
            <a:ext cx="11089883" cy="5411152"/>
          </a:xfrm>
          <a:prstGeom prst="rect">
            <a:avLst/>
          </a:prstGeom>
        </p:spPr>
      </p:pic>
      <p:sp>
        <p:nvSpPr>
          <p:cNvPr id="4" name="object 107">
            <a:extLst>
              <a:ext uri="{FF2B5EF4-FFF2-40B4-BE49-F238E27FC236}">
                <a16:creationId xmlns:a16="http://schemas.microsoft.com/office/drawing/2014/main" id="{CDF093F3-642B-9858-9AE8-72CA1F4E2E99}"/>
              </a:ext>
            </a:extLst>
          </p:cNvPr>
          <p:cNvSpPr txBox="1"/>
          <p:nvPr/>
        </p:nvSpPr>
        <p:spPr>
          <a:xfrm>
            <a:off x="584411" y="278358"/>
            <a:ext cx="5450905" cy="690574"/>
          </a:xfrm>
          <a:prstGeom prst="rect">
            <a:avLst/>
          </a:prstGeom>
        </p:spPr>
        <p:txBody>
          <a:bodyPr vert="horz" wrap="square" lIns="0" tIns="13335" rIns="0" bIns="0" rtlCol="0">
            <a:spAutoFit/>
          </a:bodyPr>
          <a:lstStyle/>
          <a:p>
            <a:pPr marL="12700">
              <a:lnSpc>
                <a:spcPct val="100000"/>
              </a:lnSpc>
              <a:spcBef>
                <a:spcPts val="105"/>
              </a:spcBef>
            </a:pPr>
            <a:r>
              <a:rPr lang="en-US" sz="4400" u="sng" spc="-10">
                <a:solidFill>
                  <a:schemeClr val="accent2">
                    <a:lumMod val="75000"/>
                  </a:schemeClr>
                </a:solidFill>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Investment</a:t>
            </a:r>
            <a:r>
              <a:rPr lang="en-US" sz="4400" u="sng" spc="-75">
                <a:solidFill>
                  <a:schemeClr val="accent2">
                    <a:lumMod val="75000"/>
                  </a:schemeClr>
                </a:solidFill>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 </a:t>
            </a:r>
            <a:r>
              <a:rPr lang="en-US" sz="4400" u="sng" spc="-10">
                <a:solidFill>
                  <a:schemeClr val="accent2">
                    <a:lumMod val="75000"/>
                  </a:schemeClr>
                </a:solidFill>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Risks</a:t>
            </a:r>
            <a:endParaRPr lang="en-US" sz="4400" u="sng">
              <a:solidFill>
                <a:schemeClr val="accent2">
                  <a:lumMod val="75000"/>
                </a:schemeClr>
              </a:solidFill>
              <a:latin typeface="Avenir Next LT Pro" panose="020B0504020202020204" pitchFamily="34" charset="0"/>
              <a:cs typeface="Segoe UI"/>
            </a:endParaRPr>
          </a:p>
        </p:txBody>
      </p:sp>
      <p:pic>
        <p:nvPicPr>
          <p:cNvPr id="5" name="Picture 4" descr="Harley Davidson Logo PNG Image - PurePNG | Free transparent CC0 PNG ...">
            <a:extLst>
              <a:ext uri="{FF2B5EF4-FFF2-40B4-BE49-F238E27FC236}">
                <a16:creationId xmlns:a16="http://schemas.microsoft.com/office/drawing/2014/main" id="{14A2E869-3BB2-2C4C-C380-DD308942E8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8F99E724-F1CA-E9CF-1498-EFD8444D53FC}"/>
              </a:ext>
            </a:extLst>
          </p:cNvPr>
          <p:cNvGrpSpPr/>
          <p:nvPr/>
        </p:nvGrpSpPr>
        <p:grpSpPr>
          <a:xfrm>
            <a:off x="695325" y="6302380"/>
            <a:ext cx="10429876" cy="265521"/>
            <a:chOff x="695325" y="6302380"/>
            <a:chExt cx="10429876" cy="265521"/>
          </a:xfrm>
        </p:grpSpPr>
        <p:sp>
          <p:nvSpPr>
            <p:cNvPr id="7" name="object 13">
              <a:extLst>
                <a:ext uri="{FF2B5EF4-FFF2-40B4-BE49-F238E27FC236}">
                  <a16:creationId xmlns:a16="http://schemas.microsoft.com/office/drawing/2014/main" id="{26F039A3-874D-41B9-BA4B-716B913D899C}"/>
                </a:ext>
              </a:extLst>
            </p:cNvPr>
            <p:cNvSpPr txBox="1"/>
            <p:nvPr/>
          </p:nvSpPr>
          <p:spPr>
            <a:xfrm>
              <a:off x="7699204" y="6334466"/>
              <a:ext cx="380813"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8" name="object 14">
              <a:extLst>
                <a:ext uri="{FF2B5EF4-FFF2-40B4-BE49-F238E27FC236}">
                  <a16:creationId xmlns:a16="http://schemas.microsoft.com/office/drawing/2014/main" id="{575DBE4F-F32F-10DF-0DEF-128F6AD778C2}"/>
                </a:ext>
              </a:extLst>
            </p:cNvPr>
            <p:cNvSpPr txBox="1"/>
            <p:nvPr/>
          </p:nvSpPr>
          <p:spPr>
            <a:xfrm>
              <a:off x="8907830" y="6334466"/>
              <a:ext cx="498637"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rPr>
                <a:t>Risks</a:t>
              </a:r>
              <a:endParaRPr lang="en-US" sz="1401" b="1">
                <a:latin typeface="Avenir Next LT Pro" panose="020B0504020202020204" pitchFamily="34" charset="0"/>
                <a:cs typeface="Segoe UI"/>
              </a:endParaRPr>
            </a:p>
          </p:txBody>
        </p:sp>
        <p:sp>
          <p:nvSpPr>
            <p:cNvPr id="9" name="object 15">
              <a:extLst>
                <a:ext uri="{FF2B5EF4-FFF2-40B4-BE49-F238E27FC236}">
                  <a16:creationId xmlns:a16="http://schemas.microsoft.com/office/drawing/2014/main" id="{933F0BA4-64B4-26EB-BED3-2B08F2C6F58C}"/>
                </a:ext>
              </a:extLst>
            </p:cNvPr>
            <p:cNvSpPr txBox="1"/>
            <p:nvPr/>
          </p:nvSpPr>
          <p:spPr>
            <a:xfrm>
              <a:off x="10089004" y="6334466"/>
              <a:ext cx="968856"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Appendix</a:t>
              </a:r>
              <a:endParaRPr lang="en-US" sz="1401">
                <a:latin typeface="Avenir Next LT Pro" panose="020B0504020202020204" pitchFamily="34" charset="0"/>
                <a:cs typeface="Segoe UI"/>
              </a:endParaRPr>
            </a:p>
          </p:txBody>
        </p:sp>
        <p:sp>
          <p:nvSpPr>
            <p:cNvPr id="10" name="object 16">
              <a:extLst>
                <a:ext uri="{FF2B5EF4-FFF2-40B4-BE49-F238E27FC236}">
                  <a16:creationId xmlns:a16="http://schemas.microsoft.com/office/drawing/2014/main" id="{58038DA0-0395-4C6B-6526-201A58AB8E52}"/>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1" name="object 37">
              <a:extLst>
                <a:ext uri="{FF2B5EF4-FFF2-40B4-BE49-F238E27FC236}">
                  <a16:creationId xmlns:a16="http://schemas.microsoft.com/office/drawing/2014/main" id="{E077A53F-FDA3-3AE9-CD36-26F84E388D4E}"/>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2" name="object 39">
              <a:extLst>
                <a:ext uri="{FF2B5EF4-FFF2-40B4-BE49-F238E27FC236}">
                  <a16:creationId xmlns:a16="http://schemas.microsoft.com/office/drawing/2014/main" id="{79606442-1A80-E20A-C868-57F6A0C23E1C}"/>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3" name="object 40">
              <a:extLst>
                <a:ext uri="{FF2B5EF4-FFF2-40B4-BE49-F238E27FC236}">
                  <a16:creationId xmlns:a16="http://schemas.microsoft.com/office/drawing/2014/main" id="{088AE222-0600-EAD5-4A32-1984B2157463}"/>
                </a:ext>
              </a:extLst>
            </p:cNvPr>
            <p:cNvSpPr txBox="1"/>
            <p:nvPr/>
          </p:nvSpPr>
          <p:spPr>
            <a:xfrm>
              <a:off x="4287375"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14" name="object 41">
              <a:extLst>
                <a:ext uri="{FF2B5EF4-FFF2-40B4-BE49-F238E27FC236}">
                  <a16:creationId xmlns:a16="http://schemas.microsoft.com/office/drawing/2014/main" id="{42E14BD0-77EA-0DF0-5F7E-88346FB3CC04}"/>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
        <p:nvSpPr>
          <p:cNvPr id="15" name="object 13">
            <a:extLst>
              <a:ext uri="{FF2B5EF4-FFF2-40B4-BE49-F238E27FC236}">
                <a16:creationId xmlns:a16="http://schemas.microsoft.com/office/drawing/2014/main" id="{3C6F7AC2-F711-8792-CE6E-EEA03452F696}"/>
              </a:ext>
            </a:extLst>
          </p:cNvPr>
          <p:cNvSpPr txBox="1"/>
          <p:nvPr/>
        </p:nvSpPr>
        <p:spPr>
          <a:xfrm>
            <a:off x="7851604" y="6486866"/>
            <a:ext cx="380813" cy="230318"/>
          </a:xfrm>
          <a:prstGeom prst="rect">
            <a:avLst/>
          </a:prstGeom>
        </p:spPr>
        <p:txBody>
          <a:bodyPr vert="horz" wrap="square" lIns="0" tIns="14604" rIns="0" bIns="0" rtlCol="0">
            <a:spAutoFit/>
          </a:bodyPr>
          <a:lstStyle/>
          <a:p>
            <a:pPr marL="12701">
              <a:spcBef>
                <a:spcPts val="114"/>
              </a:spcBef>
            </a:pPr>
            <a:r>
              <a:rPr lang="en-US" sz="1401" spc="-25">
                <a:solidFill>
                  <a:schemeClr val="bg1"/>
                </a:solidFill>
                <a:latin typeface="Avenir Next LT Pro" panose="020B0504020202020204" pitchFamily="34" charset="0"/>
                <a:cs typeface="Segoe UI"/>
              </a:rPr>
              <a:t>ESG</a:t>
            </a:r>
            <a:endParaRPr lang="en-US" sz="1401">
              <a:solidFill>
                <a:schemeClr val="bg1"/>
              </a:solidFill>
              <a:latin typeface="Avenir Next LT Pro" panose="020B0504020202020204" pitchFamily="34" charset="0"/>
              <a:cs typeface="Segoe UI"/>
            </a:endParaRPr>
          </a:p>
        </p:txBody>
      </p:sp>
      <p:sp>
        <p:nvSpPr>
          <p:cNvPr id="16" name="object 14">
            <a:extLst>
              <a:ext uri="{FF2B5EF4-FFF2-40B4-BE49-F238E27FC236}">
                <a16:creationId xmlns:a16="http://schemas.microsoft.com/office/drawing/2014/main" id="{9438081E-9920-D043-0773-FB4BA97408ED}"/>
              </a:ext>
            </a:extLst>
          </p:cNvPr>
          <p:cNvSpPr txBox="1"/>
          <p:nvPr/>
        </p:nvSpPr>
        <p:spPr>
          <a:xfrm>
            <a:off x="9060230" y="6486866"/>
            <a:ext cx="498637" cy="230318"/>
          </a:xfrm>
          <a:prstGeom prst="rect">
            <a:avLst/>
          </a:prstGeom>
        </p:spPr>
        <p:txBody>
          <a:bodyPr vert="horz" wrap="square" lIns="0" tIns="14604" rIns="0" bIns="0" rtlCol="0">
            <a:spAutoFit/>
          </a:bodyPr>
          <a:lstStyle/>
          <a:p>
            <a:pPr marL="12701">
              <a:spcBef>
                <a:spcPts val="114"/>
              </a:spcBef>
            </a:pPr>
            <a:r>
              <a:rPr lang="en-US" sz="1401" b="1" spc="-11">
                <a:solidFill>
                  <a:schemeClr val="bg1"/>
                </a:solidFill>
                <a:latin typeface="Avenir Next LT Pro" panose="020B0504020202020204" pitchFamily="34" charset="0"/>
                <a:cs typeface="Segoe UI"/>
              </a:rPr>
              <a:t>Risks</a:t>
            </a:r>
            <a:endParaRPr lang="en-US" sz="1401" b="1">
              <a:solidFill>
                <a:schemeClr val="bg1"/>
              </a:solidFill>
              <a:latin typeface="Avenir Next LT Pro" panose="020B0504020202020204" pitchFamily="34" charset="0"/>
              <a:cs typeface="Segoe UI"/>
            </a:endParaRPr>
          </a:p>
        </p:txBody>
      </p:sp>
      <p:sp>
        <p:nvSpPr>
          <p:cNvPr id="18" name="object 37">
            <a:extLst>
              <a:ext uri="{FF2B5EF4-FFF2-40B4-BE49-F238E27FC236}">
                <a16:creationId xmlns:a16="http://schemas.microsoft.com/office/drawing/2014/main" id="{EB8379E6-D2D0-C573-7A91-3EE638B949B3}"/>
              </a:ext>
            </a:extLst>
          </p:cNvPr>
          <p:cNvSpPr txBox="1"/>
          <p:nvPr/>
        </p:nvSpPr>
        <p:spPr>
          <a:xfrm>
            <a:off x="1102117" y="6480516"/>
            <a:ext cx="806450" cy="230318"/>
          </a:xfrm>
          <a:prstGeom prst="rect">
            <a:avLst/>
          </a:prstGeom>
        </p:spPr>
        <p:txBody>
          <a:bodyPr vert="horz" wrap="square" lIns="0" tIns="14604" rIns="0" bIns="0" rtlCol="0">
            <a:spAutoFit/>
          </a:bodyPr>
          <a:lstStyle/>
          <a:p>
            <a:pPr marL="12701">
              <a:spcBef>
                <a:spcPts val="114"/>
              </a:spcBef>
            </a:pPr>
            <a:r>
              <a:rPr lang="en-US" sz="1401" spc="-11">
                <a:solidFill>
                  <a:schemeClr val="bg1"/>
                </a:solidFill>
                <a:latin typeface="Avenir Next LT Pro" panose="020B0504020202020204" pitchFamily="34" charset="0"/>
                <a:cs typeface="Segoe UI"/>
              </a:rPr>
              <a:t>Overview</a:t>
            </a:r>
            <a:endParaRPr lang="en-US" sz="1401">
              <a:solidFill>
                <a:schemeClr val="bg1"/>
              </a:solidFill>
              <a:latin typeface="Avenir Next LT Pro" panose="020B0504020202020204" pitchFamily="34" charset="0"/>
              <a:cs typeface="Segoe UI"/>
            </a:endParaRPr>
          </a:p>
        </p:txBody>
      </p:sp>
      <p:sp>
        <p:nvSpPr>
          <p:cNvPr id="19" name="object 39">
            <a:extLst>
              <a:ext uri="{FF2B5EF4-FFF2-40B4-BE49-F238E27FC236}">
                <a16:creationId xmlns:a16="http://schemas.microsoft.com/office/drawing/2014/main" id="{62ECAD39-84B3-CA5B-8335-1C911D8052FA}"/>
              </a:ext>
            </a:extLst>
          </p:cNvPr>
          <p:cNvSpPr txBox="1"/>
          <p:nvPr/>
        </p:nvSpPr>
        <p:spPr>
          <a:xfrm>
            <a:off x="2832467" y="6489983"/>
            <a:ext cx="624657" cy="230318"/>
          </a:xfrm>
          <a:prstGeom prst="rect">
            <a:avLst/>
          </a:prstGeom>
        </p:spPr>
        <p:txBody>
          <a:bodyPr vert="horz" wrap="square" lIns="0" tIns="14604" rIns="0" bIns="0" rtlCol="0">
            <a:spAutoFit/>
          </a:bodyPr>
          <a:lstStyle/>
          <a:p>
            <a:pPr marL="12701">
              <a:spcBef>
                <a:spcPts val="114"/>
              </a:spcBef>
            </a:pPr>
            <a:r>
              <a:rPr lang="en-US" sz="1401" spc="-25">
                <a:solidFill>
                  <a:schemeClr val="bg1"/>
                </a:solidFill>
                <a:latin typeface="Avenir Next LT Pro" panose="020B0504020202020204" pitchFamily="34" charset="0"/>
                <a:cs typeface="Segoe UI"/>
              </a:rPr>
              <a:t>Driver</a:t>
            </a:r>
            <a:endParaRPr lang="en-US" sz="1401">
              <a:solidFill>
                <a:schemeClr val="bg1"/>
              </a:solidFill>
              <a:latin typeface="Avenir Next LT Pro" panose="020B0504020202020204" pitchFamily="34" charset="0"/>
              <a:cs typeface="Segoe UI"/>
            </a:endParaRPr>
          </a:p>
        </p:txBody>
      </p:sp>
      <p:sp>
        <p:nvSpPr>
          <p:cNvPr id="20" name="object 40">
            <a:extLst>
              <a:ext uri="{FF2B5EF4-FFF2-40B4-BE49-F238E27FC236}">
                <a16:creationId xmlns:a16="http://schemas.microsoft.com/office/drawing/2014/main" id="{5325E40C-4791-E650-DB96-7A4AEF0782CA}"/>
              </a:ext>
            </a:extLst>
          </p:cNvPr>
          <p:cNvSpPr txBox="1"/>
          <p:nvPr/>
        </p:nvSpPr>
        <p:spPr>
          <a:xfrm>
            <a:off x="4439775" y="6475139"/>
            <a:ext cx="886194" cy="230318"/>
          </a:xfrm>
          <a:prstGeom prst="rect">
            <a:avLst/>
          </a:prstGeom>
        </p:spPr>
        <p:txBody>
          <a:bodyPr vert="horz" wrap="square" lIns="0" tIns="14604" rIns="0" bIns="0" rtlCol="0">
            <a:spAutoFit/>
          </a:bodyPr>
          <a:lstStyle/>
          <a:p>
            <a:pPr marL="12701">
              <a:spcBef>
                <a:spcPts val="114"/>
              </a:spcBef>
            </a:pPr>
            <a:r>
              <a:rPr lang="en-US" sz="1401" spc="-11">
                <a:solidFill>
                  <a:schemeClr val="bg1"/>
                </a:solidFill>
                <a:latin typeface="Avenir Next LT Pro" panose="020B0504020202020204" pitchFamily="34" charset="0"/>
                <a:cs typeface="Segoe UI"/>
              </a:rPr>
              <a:t>Financials</a:t>
            </a:r>
            <a:endParaRPr lang="en-US" sz="1401">
              <a:solidFill>
                <a:schemeClr val="bg1"/>
              </a:solidFill>
              <a:latin typeface="Avenir Next LT Pro" panose="020B0504020202020204" pitchFamily="34" charset="0"/>
              <a:cs typeface="Segoe UI"/>
            </a:endParaRPr>
          </a:p>
        </p:txBody>
      </p:sp>
      <p:sp>
        <p:nvSpPr>
          <p:cNvPr id="21" name="object 41">
            <a:extLst>
              <a:ext uri="{FF2B5EF4-FFF2-40B4-BE49-F238E27FC236}">
                <a16:creationId xmlns:a16="http://schemas.microsoft.com/office/drawing/2014/main" id="{300BB1F1-878E-9E65-E91F-5978D3B340A7}"/>
              </a:ext>
            </a:extLst>
          </p:cNvPr>
          <p:cNvSpPr txBox="1"/>
          <p:nvPr/>
        </p:nvSpPr>
        <p:spPr>
          <a:xfrm>
            <a:off x="6191939" y="6475139"/>
            <a:ext cx="886194" cy="230318"/>
          </a:xfrm>
          <a:prstGeom prst="rect">
            <a:avLst/>
          </a:prstGeom>
        </p:spPr>
        <p:txBody>
          <a:bodyPr vert="horz" wrap="square" lIns="0" tIns="14604" rIns="0" bIns="0" rtlCol="0">
            <a:spAutoFit/>
          </a:bodyPr>
          <a:lstStyle/>
          <a:p>
            <a:pPr marL="12701">
              <a:spcBef>
                <a:spcPts val="114"/>
              </a:spcBef>
            </a:pPr>
            <a:r>
              <a:rPr lang="en-US" sz="1401" spc="-11">
                <a:solidFill>
                  <a:schemeClr val="bg1"/>
                </a:solidFill>
                <a:latin typeface="Avenir Next LT Pro" panose="020B0504020202020204" pitchFamily="34" charset="0"/>
                <a:cs typeface="Segoe UI"/>
              </a:rPr>
              <a:t>Valuation</a:t>
            </a:r>
            <a:endParaRPr lang="en-US" sz="1401">
              <a:solidFill>
                <a:schemeClr val="bg1"/>
              </a:solidFill>
              <a:latin typeface="Avenir Next LT Pro" panose="020B0504020202020204" pitchFamily="34" charset="0"/>
              <a:cs typeface="Segoe UI"/>
            </a:endParaRPr>
          </a:p>
        </p:txBody>
      </p:sp>
      <p:sp>
        <p:nvSpPr>
          <p:cNvPr id="2" name="Rectangle 1">
            <a:extLst>
              <a:ext uri="{FF2B5EF4-FFF2-40B4-BE49-F238E27FC236}">
                <a16:creationId xmlns:a16="http://schemas.microsoft.com/office/drawing/2014/main" id="{10A6B23B-2083-AEDE-7903-244116791114}"/>
              </a:ext>
            </a:extLst>
          </p:cNvPr>
          <p:cNvSpPr/>
          <p:nvPr/>
        </p:nvSpPr>
        <p:spPr>
          <a:xfrm>
            <a:off x="6384481" y="884878"/>
            <a:ext cx="1387304" cy="391472"/>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bject 15">
            <a:extLst>
              <a:ext uri="{FF2B5EF4-FFF2-40B4-BE49-F238E27FC236}">
                <a16:creationId xmlns:a16="http://schemas.microsoft.com/office/drawing/2014/main" id="{9E0E0390-E434-7869-ECCE-124117B1856C}"/>
              </a:ext>
            </a:extLst>
          </p:cNvPr>
          <p:cNvSpPr txBox="1"/>
          <p:nvPr/>
        </p:nvSpPr>
        <p:spPr>
          <a:xfrm>
            <a:off x="10089004" y="6486866"/>
            <a:ext cx="883796" cy="230318"/>
          </a:xfrm>
          <a:prstGeom prst="rect">
            <a:avLst/>
          </a:prstGeom>
        </p:spPr>
        <p:txBody>
          <a:bodyPr vert="horz" wrap="square" lIns="0" tIns="14604" rIns="0" bIns="0" rtlCol="0">
            <a:spAutoFit/>
          </a:bodyPr>
          <a:lstStyle/>
          <a:p>
            <a:pPr marL="12701">
              <a:spcBef>
                <a:spcPts val="114"/>
              </a:spcBef>
            </a:pPr>
            <a:r>
              <a:rPr lang="en-US" sz="1401" spc="-11">
                <a:solidFill>
                  <a:schemeClr val="bg1"/>
                </a:solidFill>
                <a:latin typeface="Avenir Next LT Pro" panose="020B0504020202020204" pitchFamily="34" charset="0"/>
                <a:cs typeface="Segoe UI"/>
                <a:hlinkClick r:id="rId6" action="ppaction://hlinksldjump">
                  <a:extLst>
                    <a:ext uri="{A12FA001-AC4F-418D-AE19-62706E023703}">
                      <ahyp:hlinkClr xmlns:ahyp="http://schemas.microsoft.com/office/drawing/2018/hyperlinkcolor" val="tx"/>
                    </a:ext>
                  </a:extLst>
                </a:hlinkClick>
              </a:rPr>
              <a:t>Appendix</a:t>
            </a:r>
            <a:endParaRPr lang="en-US" sz="1401">
              <a:solidFill>
                <a:schemeClr val="bg1"/>
              </a:solidFill>
              <a:latin typeface="Avenir Next LT Pro" panose="020B0504020202020204" pitchFamily="34" charset="0"/>
              <a:cs typeface="Segoe UI"/>
            </a:endParaRPr>
          </a:p>
        </p:txBody>
      </p:sp>
    </p:spTree>
    <p:extLst>
      <p:ext uri="{BB962C8B-B14F-4D97-AF65-F5344CB8AC3E}">
        <p14:creationId xmlns:p14="http://schemas.microsoft.com/office/powerpoint/2010/main" val="4109623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C194C2C-DAF8-BB23-E212-655F2B946B8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F0E078-D1A1-AE64-1D1A-06EEC8B40146}"/>
              </a:ext>
            </a:extLst>
          </p:cNvPr>
          <p:cNvSpPr/>
          <p:nvPr/>
        </p:nvSpPr>
        <p:spPr>
          <a:xfrm>
            <a:off x="4833" y="5377434"/>
            <a:ext cx="12187167" cy="14871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latin typeface="Avenir Next LT Pro" panose="020B0504020202020204" pitchFamily="34" charset="0"/>
            </a:endParaRPr>
          </a:p>
        </p:txBody>
      </p:sp>
      <p:sp>
        <p:nvSpPr>
          <p:cNvPr id="2" name="object 2">
            <a:extLst>
              <a:ext uri="{FF2B5EF4-FFF2-40B4-BE49-F238E27FC236}">
                <a16:creationId xmlns:a16="http://schemas.microsoft.com/office/drawing/2014/main" id="{3ADD788D-38F5-95D8-9B4C-60B8FD6279DD}"/>
              </a:ext>
            </a:extLst>
          </p:cNvPr>
          <p:cNvSpPr txBox="1"/>
          <p:nvPr/>
        </p:nvSpPr>
        <p:spPr>
          <a:xfrm>
            <a:off x="376815" y="0"/>
            <a:ext cx="2447665" cy="898323"/>
          </a:xfrm>
          <a:prstGeom prst="rect">
            <a:avLst/>
          </a:prstGeom>
        </p:spPr>
        <p:txBody>
          <a:bodyPr vert="horz" wrap="square" lIns="0" tIns="173355" rIns="0" bIns="0" rtlCol="0">
            <a:spAutoFit/>
          </a:bodyPr>
          <a:lstStyle/>
          <a:p>
            <a:pPr marL="12701">
              <a:spcBef>
                <a:spcPts val="1365"/>
              </a:spcBef>
            </a:pPr>
            <a:r>
              <a:rPr lang="en-US" sz="2400">
                <a:latin typeface="Avenir Next LT Pro" panose="020B0504020202020204" pitchFamily="34" charset="0"/>
                <a:cs typeface="Segoe UI"/>
              </a:rPr>
              <a:t>Summary</a:t>
            </a:r>
            <a:endParaRPr lang="en-US" sz="1200">
              <a:latin typeface="Avenir Next LT Pro" panose="020B0504020202020204" pitchFamily="34" charset="0"/>
              <a:cs typeface="Segoe UI"/>
            </a:endParaRPr>
          </a:p>
          <a:p>
            <a:pPr marL="12701">
              <a:spcBef>
                <a:spcPts val="635"/>
              </a:spcBef>
            </a:pPr>
            <a:endParaRPr lang="en-US">
              <a:latin typeface="Avenir Next LT Pro" panose="020B0504020202020204" pitchFamily="34" charset="0"/>
              <a:cs typeface="Segoe UI"/>
            </a:endParaRPr>
          </a:p>
        </p:txBody>
      </p:sp>
      <p:pic>
        <p:nvPicPr>
          <p:cNvPr id="14" name="Picture 2" descr="Harley Davidson Logo PNG Image - PurePNG | Free transparent CC0 PNG ...">
            <a:extLst>
              <a:ext uri="{FF2B5EF4-FFF2-40B4-BE49-F238E27FC236}">
                <a16:creationId xmlns:a16="http://schemas.microsoft.com/office/drawing/2014/main" id="{062755A7-FCFA-C3DA-CB13-1E050183A0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229" y="87086"/>
            <a:ext cx="2036921" cy="163334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823B00C-EF99-549D-FD11-5F630EABDC7F}"/>
              </a:ext>
            </a:extLst>
          </p:cNvPr>
          <p:cNvSpPr txBox="1"/>
          <p:nvPr/>
        </p:nvSpPr>
        <p:spPr>
          <a:xfrm>
            <a:off x="119440" y="5847584"/>
            <a:ext cx="10010080" cy="923330"/>
          </a:xfrm>
          <a:prstGeom prst="rect">
            <a:avLst/>
          </a:prstGeom>
          <a:noFill/>
        </p:spPr>
        <p:txBody>
          <a:bodyPr wrap="square" rtlCol="0">
            <a:spAutoFit/>
          </a:bodyPr>
          <a:lstStyle/>
          <a:p>
            <a:endParaRPr lang="en-US">
              <a:latin typeface="Avenir Next LT Pro" panose="020B0504020202020204" pitchFamily="34" charset="0"/>
            </a:endParaRPr>
          </a:p>
          <a:p>
            <a:r>
              <a:rPr lang="en-US">
                <a:latin typeface="Avenir Next LT Pro" panose="020B0504020202020204" pitchFamily="34" charset="0"/>
              </a:rPr>
              <a:t>Target Price $68</a:t>
            </a:r>
          </a:p>
          <a:p>
            <a:r>
              <a:rPr lang="en-US">
                <a:latin typeface="Avenir Next LT Pro" panose="020B0504020202020204" pitchFamily="34" charset="0"/>
              </a:rPr>
              <a:t>Closing Price $20.11</a:t>
            </a:r>
          </a:p>
        </p:txBody>
      </p:sp>
      <p:sp>
        <p:nvSpPr>
          <p:cNvPr id="5" name="TextBox 4">
            <a:extLst>
              <a:ext uri="{FF2B5EF4-FFF2-40B4-BE49-F238E27FC236}">
                <a16:creationId xmlns:a16="http://schemas.microsoft.com/office/drawing/2014/main" id="{81DB03CA-2EE0-FF0D-D79A-0A7998982A7D}"/>
              </a:ext>
            </a:extLst>
          </p:cNvPr>
          <p:cNvSpPr txBox="1"/>
          <p:nvPr/>
        </p:nvSpPr>
        <p:spPr>
          <a:xfrm>
            <a:off x="5016592" y="5397145"/>
            <a:ext cx="2997200" cy="1107996"/>
          </a:xfrm>
          <a:prstGeom prst="rect">
            <a:avLst/>
          </a:prstGeom>
          <a:noFill/>
        </p:spPr>
        <p:txBody>
          <a:bodyPr wrap="square" rtlCol="0">
            <a:spAutoFit/>
          </a:bodyPr>
          <a:lstStyle/>
          <a:p>
            <a:r>
              <a:rPr lang="en-US" sz="6600" b="1">
                <a:solidFill>
                  <a:schemeClr val="accent3"/>
                </a:solidFill>
                <a:latin typeface="Avenir Next LT Pro" panose="020B0504020202020204" pitchFamily="34" charset="0"/>
              </a:rPr>
              <a:t>BUY</a:t>
            </a:r>
            <a:endParaRPr lang="en-US" sz="6600"/>
          </a:p>
        </p:txBody>
      </p:sp>
      <p:sp>
        <p:nvSpPr>
          <p:cNvPr id="10" name="TextBox 9">
            <a:extLst>
              <a:ext uri="{FF2B5EF4-FFF2-40B4-BE49-F238E27FC236}">
                <a16:creationId xmlns:a16="http://schemas.microsoft.com/office/drawing/2014/main" id="{9D3E2764-757C-E3CE-5609-D09C938113B4}"/>
              </a:ext>
            </a:extLst>
          </p:cNvPr>
          <p:cNvSpPr txBox="1"/>
          <p:nvPr/>
        </p:nvSpPr>
        <p:spPr>
          <a:xfrm>
            <a:off x="8153583" y="5397145"/>
            <a:ext cx="4384287" cy="1754326"/>
          </a:xfrm>
          <a:prstGeom prst="rect">
            <a:avLst/>
          </a:prstGeom>
          <a:noFill/>
        </p:spPr>
        <p:txBody>
          <a:bodyPr wrap="square" rtlCol="0">
            <a:spAutoFit/>
          </a:bodyPr>
          <a:lstStyle/>
          <a:p>
            <a:endParaRPr lang="en-US" dirty="0">
              <a:latin typeface="Avenir Next LT Pro" panose="020B0504020202020204" pitchFamily="34" charset="0"/>
            </a:endParaRPr>
          </a:p>
          <a:p>
            <a:r>
              <a:rPr lang="en-US" dirty="0">
                <a:latin typeface="Avenir Next LT Pro" panose="020B0504020202020204" pitchFamily="34" charset="0"/>
              </a:rPr>
              <a:t>Industry: Automobile Manufacturing</a:t>
            </a:r>
          </a:p>
          <a:p>
            <a:endParaRPr lang="en-US" dirty="0">
              <a:latin typeface="Avenir Next LT Pro" panose="020B0504020202020204" pitchFamily="34" charset="0"/>
            </a:endParaRPr>
          </a:p>
          <a:p>
            <a:r>
              <a:rPr lang="en-US" dirty="0">
                <a:latin typeface="Avenir Next LT Pro" panose="020B0504020202020204" pitchFamily="34" charset="0"/>
              </a:rPr>
              <a:t>Sector: Consumer Discretionary</a:t>
            </a:r>
          </a:p>
          <a:p>
            <a:endParaRPr lang="en-US" dirty="0">
              <a:latin typeface="Avenir Next LT Pro" panose="020B0504020202020204" pitchFamily="34" charset="0"/>
            </a:endParaRPr>
          </a:p>
          <a:p>
            <a:endParaRPr lang="en-US" dirty="0"/>
          </a:p>
        </p:txBody>
      </p:sp>
      <p:sp>
        <p:nvSpPr>
          <p:cNvPr id="11" name="TextBox 10">
            <a:extLst>
              <a:ext uri="{FF2B5EF4-FFF2-40B4-BE49-F238E27FC236}">
                <a16:creationId xmlns:a16="http://schemas.microsoft.com/office/drawing/2014/main" id="{7BE4C1EA-99DF-5D2A-1B8D-DA369E25311C}"/>
              </a:ext>
            </a:extLst>
          </p:cNvPr>
          <p:cNvSpPr txBox="1"/>
          <p:nvPr/>
        </p:nvSpPr>
        <p:spPr>
          <a:xfrm>
            <a:off x="5232400" y="6360129"/>
            <a:ext cx="1544320" cy="369332"/>
          </a:xfrm>
          <a:prstGeom prst="rect">
            <a:avLst/>
          </a:prstGeom>
          <a:noFill/>
        </p:spPr>
        <p:txBody>
          <a:bodyPr wrap="square" rtlCol="0">
            <a:spAutoFit/>
          </a:bodyPr>
          <a:lstStyle/>
          <a:p>
            <a:r>
              <a:rPr lang="en-US" dirty="0"/>
              <a:t>Upside 238%</a:t>
            </a:r>
          </a:p>
        </p:txBody>
      </p:sp>
    </p:spTree>
    <p:extLst>
      <p:ext uri="{BB962C8B-B14F-4D97-AF65-F5344CB8AC3E}">
        <p14:creationId xmlns:p14="http://schemas.microsoft.com/office/powerpoint/2010/main" val="703860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descr="Financial Performance and Valuation Table&#10;">
            <a:extLst>
              <a:ext uri="{FF2B5EF4-FFF2-40B4-BE49-F238E27FC236}">
                <a16:creationId xmlns:a16="http://schemas.microsoft.com/office/drawing/2014/main" id="{B7D3613B-BE68-5692-3179-0EFA16799209}"/>
              </a:ext>
            </a:extLst>
          </p:cNvPr>
          <p:cNvGraphicFramePr>
            <a:graphicFrameLocks noGrp="1"/>
          </p:cNvGraphicFramePr>
          <p:nvPr>
            <p:custDataLst>
              <p:tags r:id="rId1"/>
            </p:custDataLst>
            <p:extLst>
              <p:ext uri="{D42A27DB-BD31-4B8C-83A1-F6EECF244321}">
                <p14:modId xmlns:p14="http://schemas.microsoft.com/office/powerpoint/2010/main" val="389359292"/>
              </p:ext>
            </p:extLst>
          </p:nvPr>
        </p:nvGraphicFramePr>
        <p:xfrm>
          <a:off x="1767039" y="1417488"/>
          <a:ext cx="8438845" cy="4023024"/>
        </p:xfrm>
        <a:graphic>
          <a:graphicData uri="http://schemas.openxmlformats.org/drawingml/2006/table">
            <a:tbl>
              <a:tblPr bandRow="1">
                <a:tableStyleId>{21E4AEA4-8DFA-4A89-87EB-49C32662AFE0}</a:tableStyleId>
              </a:tblPr>
              <a:tblGrid>
                <a:gridCol w="4148827">
                  <a:extLst>
                    <a:ext uri="{9D8B030D-6E8A-4147-A177-3AD203B41FA5}">
                      <a16:colId xmlns:a16="http://schemas.microsoft.com/office/drawing/2014/main" val="721269843"/>
                    </a:ext>
                  </a:extLst>
                </a:gridCol>
                <a:gridCol w="4290018">
                  <a:extLst>
                    <a:ext uri="{9D8B030D-6E8A-4147-A177-3AD203B41FA5}">
                      <a16:colId xmlns:a16="http://schemas.microsoft.com/office/drawing/2014/main" val="79497469"/>
                    </a:ext>
                  </a:extLst>
                </a:gridCol>
              </a:tblGrid>
              <a:tr h="502878">
                <a:tc>
                  <a:txBody>
                    <a:bodyPr/>
                    <a:lstStyle/>
                    <a:p>
                      <a:pPr fontAlgn="base">
                        <a:lnSpc>
                          <a:spcPts val="1200"/>
                        </a:lnSpc>
                        <a:buNone/>
                      </a:pPr>
                      <a:r>
                        <a:rPr lang="en-US" sz="1400" b="1" dirty="0">
                          <a:solidFill>
                            <a:schemeClr val="bg1"/>
                          </a:solidFill>
                          <a:effectLst/>
                          <a:latin typeface="Avenir Next LT Pro" panose="020B0504020202020204" pitchFamily="34" charset="0"/>
                        </a:rPr>
                        <a:t>Financial Performance</a:t>
                      </a:r>
                    </a:p>
                  </a:txBody>
                  <a:tcPr marT="45721" marB="45721"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fontAlgn="base">
                        <a:lnSpc>
                          <a:spcPts val="1200"/>
                        </a:lnSpc>
                        <a:buNone/>
                      </a:pPr>
                      <a:r>
                        <a:rPr lang="en-US" sz="1400" b="1">
                          <a:solidFill>
                            <a:schemeClr val="bg1"/>
                          </a:solidFill>
                          <a:effectLst/>
                          <a:latin typeface="Avenir Next LT Pro" panose="020B0504020202020204" pitchFamily="34" charset="0"/>
                        </a:rPr>
                        <a:t>Valuation</a:t>
                      </a:r>
                    </a:p>
                  </a:txBody>
                  <a:tcPr marT="45721" marB="45721"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3360067243"/>
                  </a:ext>
                </a:extLst>
              </a:tr>
              <a:tr h="502878">
                <a:tc>
                  <a:txBody>
                    <a:bodyPr/>
                    <a:lstStyle/>
                    <a:p>
                      <a:pPr fontAlgn="base">
                        <a:lnSpc>
                          <a:spcPts val="1200"/>
                        </a:lnSpc>
                        <a:buNone/>
                      </a:pPr>
                      <a:r>
                        <a:rPr lang="en-US" sz="1400" dirty="0">
                          <a:solidFill>
                            <a:schemeClr val="tx1"/>
                          </a:solidFill>
                          <a:effectLst/>
                          <a:latin typeface="Avenir Next LT Pro" panose="020B0504020202020204" pitchFamily="34" charset="0"/>
                        </a:rPr>
                        <a:t>1. </a:t>
                      </a:r>
                      <a:r>
                        <a:rPr lang="en-US" sz="1400" dirty="0">
                          <a:solidFill>
                            <a:schemeClr val="tx1"/>
                          </a:solidFill>
                          <a:effectLst/>
                          <a:latin typeface="Avenir Next LT Pro" panose="020B0504020202020204" pitchFamily="34" charset="0"/>
                          <a:hlinkClick r:id="rId4" action="ppaction://hlinksldjump">
                            <a:extLst>
                              <a:ext uri="{A12FA001-AC4F-418D-AE19-62706E023703}">
                                <ahyp:hlinkClr xmlns:ahyp="http://schemas.microsoft.com/office/drawing/2018/hyperlinkcolor" val="tx"/>
                              </a:ext>
                            </a:extLst>
                          </a:hlinkClick>
                        </a:rPr>
                        <a:t>Income Statement</a:t>
                      </a:r>
                      <a:endParaRPr lang="en-US" sz="1400" dirty="0">
                        <a:solidFill>
                          <a:schemeClr val="tx1"/>
                        </a:solidFill>
                        <a:effectLst/>
                        <a:latin typeface="Avenir Next LT Pro" panose="020B0504020202020204" pitchFamily="34" charset="0"/>
                      </a:endParaRPr>
                    </a:p>
                  </a:txBody>
                  <a:tcPr marT="45721" marB="45721"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fontAlgn="base">
                        <a:lnSpc>
                          <a:spcPts val="1200"/>
                        </a:lnSpc>
                        <a:buNone/>
                      </a:pPr>
                      <a:r>
                        <a:rPr lang="en-US" sz="1400" dirty="0">
                          <a:solidFill>
                            <a:schemeClr val="tx1"/>
                          </a:solidFill>
                          <a:effectLst/>
                          <a:latin typeface="Avenir Next LT Pro" panose="020B0504020202020204" pitchFamily="34" charset="0"/>
                        </a:rPr>
                        <a:t>6. </a:t>
                      </a:r>
                      <a:r>
                        <a:rPr lang="en-US" sz="1400" dirty="0">
                          <a:solidFill>
                            <a:schemeClr val="tx1"/>
                          </a:solidFill>
                          <a:effectLst/>
                          <a:latin typeface="Avenir Next LT Pro" panose="020B0504020202020204" pitchFamily="34" charset="0"/>
                          <a:hlinkClick r:id="rId5" action="ppaction://hlinksldjump">
                            <a:extLst>
                              <a:ext uri="{A12FA001-AC4F-418D-AE19-62706E023703}">
                                <ahyp:hlinkClr xmlns:ahyp="http://schemas.microsoft.com/office/drawing/2018/hyperlinkcolor" val="tx"/>
                              </a:ext>
                            </a:extLst>
                          </a:hlinkClick>
                        </a:rPr>
                        <a:t>DCF Base</a:t>
                      </a:r>
                      <a:endParaRPr lang="en-US" sz="1400" dirty="0">
                        <a:solidFill>
                          <a:schemeClr val="tx1"/>
                        </a:solidFill>
                        <a:effectLst/>
                        <a:latin typeface="Avenir Next LT Pro" panose="020B0504020202020204" pitchFamily="34" charset="0"/>
                      </a:endParaRPr>
                    </a:p>
                  </a:txBody>
                  <a:tcPr marT="45721" marB="45721"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2679329"/>
                  </a:ext>
                </a:extLst>
              </a:tr>
              <a:tr h="502878">
                <a:tc>
                  <a:txBody>
                    <a:bodyPr/>
                    <a:lstStyle/>
                    <a:p>
                      <a:pPr fontAlgn="base">
                        <a:lnSpc>
                          <a:spcPts val="1200"/>
                        </a:lnSpc>
                        <a:buNone/>
                      </a:pPr>
                      <a:r>
                        <a:rPr lang="en-US" sz="1400" dirty="0">
                          <a:solidFill>
                            <a:schemeClr val="tx1"/>
                          </a:solidFill>
                          <a:effectLst/>
                          <a:latin typeface="Avenir Next LT Pro" panose="020B0504020202020204" pitchFamily="34" charset="0"/>
                        </a:rPr>
                        <a:t>2. </a:t>
                      </a:r>
                      <a:r>
                        <a:rPr lang="en-US" sz="1400" dirty="0">
                          <a:solidFill>
                            <a:schemeClr val="tx1"/>
                          </a:solidFill>
                          <a:effectLst/>
                          <a:latin typeface="Avenir Next LT Pro" panose="020B0504020202020204" pitchFamily="34" charset="0"/>
                          <a:hlinkClick r:id="rId6" action="ppaction://hlinksldjump">
                            <a:extLst>
                              <a:ext uri="{A12FA001-AC4F-418D-AE19-62706E023703}">
                                <ahyp:hlinkClr xmlns:ahyp="http://schemas.microsoft.com/office/drawing/2018/hyperlinkcolor" val="tx"/>
                              </a:ext>
                            </a:extLst>
                          </a:hlinkClick>
                        </a:rPr>
                        <a:t>Balance Sheet</a:t>
                      </a:r>
                      <a:endParaRPr lang="en-US" sz="1400" dirty="0">
                        <a:solidFill>
                          <a:schemeClr val="tx1"/>
                        </a:solidFill>
                        <a:effectLst/>
                        <a:latin typeface="Avenir Next LT Pro" panose="020B0504020202020204" pitchFamily="34" charset="0"/>
                      </a:endParaRPr>
                    </a:p>
                  </a:txBody>
                  <a:tcPr marT="45721" marB="45721"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base">
                        <a:lnSpc>
                          <a:spcPts val="1200"/>
                        </a:lnSpc>
                        <a:buNone/>
                      </a:pPr>
                      <a:r>
                        <a:rPr lang="en-US" sz="1400" dirty="0">
                          <a:solidFill>
                            <a:schemeClr val="tx1"/>
                          </a:solidFill>
                          <a:effectLst/>
                          <a:latin typeface="Avenir Next LT Pro" panose="020B0504020202020204" pitchFamily="34" charset="0"/>
                        </a:rPr>
                        <a:t>7. </a:t>
                      </a:r>
                      <a:r>
                        <a:rPr lang="en-US" sz="1400" dirty="0">
                          <a:solidFill>
                            <a:schemeClr val="tx1"/>
                          </a:solidFill>
                          <a:effectLst/>
                          <a:latin typeface="Avenir Next LT Pro" panose="020B0504020202020204" pitchFamily="34" charset="0"/>
                          <a:hlinkClick r:id="rId7" action="ppaction://hlinksldjump">
                            <a:extLst>
                              <a:ext uri="{A12FA001-AC4F-418D-AE19-62706E023703}">
                                <ahyp:hlinkClr xmlns:ahyp="http://schemas.microsoft.com/office/drawing/2018/hyperlinkcolor" val="tx"/>
                              </a:ext>
                            </a:extLst>
                          </a:hlinkClick>
                        </a:rPr>
                        <a:t>DCF Bull</a:t>
                      </a:r>
                      <a:endParaRPr lang="en-US" sz="1400" dirty="0">
                        <a:solidFill>
                          <a:schemeClr val="tx1"/>
                        </a:solidFill>
                        <a:effectLst/>
                        <a:latin typeface="Avenir Next LT Pro" panose="020B0504020202020204" pitchFamily="34" charset="0"/>
                      </a:endParaRPr>
                    </a:p>
                  </a:txBody>
                  <a:tcPr marT="45721" marB="4572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5973035"/>
                  </a:ext>
                </a:extLst>
              </a:tr>
              <a:tr h="502878">
                <a:tc>
                  <a:txBody>
                    <a:bodyPr/>
                    <a:lstStyle/>
                    <a:p>
                      <a:pPr fontAlgn="base">
                        <a:lnSpc>
                          <a:spcPts val="1200"/>
                        </a:lnSpc>
                        <a:buNone/>
                      </a:pPr>
                      <a:r>
                        <a:rPr lang="en-US" sz="1400" dirty="0">
                          <a:solidFill>
                            <a:schemeClr val="tx1"/>
                          </a:solidFill>
                          <a:effectLst/>
                          <a:latin typeface="Avenir Next LT Pro" panose="020B0504020202020204" pitchFamily="34" charset="0"/>
                        </a:rPr>
                        <a:t>3. </a:t>
                      </a:r>
                      <a:r>
                        <a:rPr lang="en-US" sz="1400" dirty="0">
                          <a:solidFill>
                            <a:schemeClr val="tx1"/>
                          </a:solidFill>
                          <a:effectLst/>
                          <a:latin typeface="Avenir Next LT Pro" panose="020B0504020202020204" pitchFamily="34" charset="0"/>
                          <a:hlinkClick r:id="rId8" action="ppaction://hlinksldjump">
                            <a:extLst>
                              <a:ext uri="{A12FA001-AC4F-418D-AE19-62706E023703}">
                                <ahyp:hlinkClr xmlns:ahyp="http://schemas.microsoft.com/office/drawing/2018/hyperlinkcolor" val="tx"/>
                              </a:ext>
                            </a:extLst>
                          </a:hlinkClick>
                        </a:rPr>
                        <a:t>Statement of Cashflows</a:t>
                      </a:r>
                      <a:endParaRPr lang="en-US" sz="1400" dirty="0">
                        <a:solidFill>
                          <a:schemeClr val="tx1"/>
                        </a:solidFill>
                        <a:effectLst/>
                        <a:latin typeface="Avenir Next LT Pro" panose="020B0504020202020204" pitchFamily="34" charset="0"/>
                      </a:endParaRPr>
                    </a:p>
                  </a:txBody>
                  <a:tcPr marT="45721" marB="45721"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base">
                        <a:lnSpc>
                          <a:spcPts val="1200"/>
                        </a:lnSpc>
                        <a:buNone/>
                      </a:pPr>
                      <a:r>
                        <a:rPr lang="en-US" sz="1400" dirty="0">
                          <a:solidFill>
                            <a:schemeClr val="tx1"/>
                          </a:solidFill>
                          <a:effectLst/>
                          <a:latin typeface="Avenir Next LT Pro" panose="020B0504020202020204" pitchFamily="34" charset="0"/>
                        </a:rPr>
                        <a:t>8. </a:t>
                      </a:r>
                      <a:r>
                        <a:rPr lang="en-US" sz="1400" dirty="0">
                          <a:solidFill>
                            <a:schemeClr val="tx1"/>
                          </a:solidFill>
                          <a:effectLst/>
                          <a:latin typeface="Avenir Next LT Pro" panose="020B0504020202020204" pitchFamily="34" charset="0"/>
                          <a:hlinkClick r:id="rId9" action="ppaction://hlinksldjump">
                            <a:extLst>
                              <a:ext uri="{A12FA001-AC4F-418D-AE19-62706E023703}">
                                <ahyp:hlinkClr xmlns:ahyp="http://schemas.microsoft.com/office/drawing/2018/hyperlinkcolor" val="tx"/>
                              </a:ext>
                            </a:extLst>
                          </a:hlinkClick>
                        </a:rPr>
                        <a:t>DCF Bear</a:t>
                      </a:r>
                      <a:endParaRPr lang="en-US" sz="1400" dirty="0">
                        <a:solidFill>
                          <a:schemeClr val="tx1"/>
                        </a:solidFill>
                        <a:effectLst/>
                        <a:latin typeface="Avenir Next LT Pro" panose="020B0504020202020204" pitchFamily="34" charset="0"/>
                      </a:endParaRPr>
                    </a:p>
                  </a:txBody>
                  <a:tcPr marT="45721" marB="45721"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75121638"/>
                  </a:ext>
                </a:extLst>
              </a:tr>
              <a:tr h="502878">
                <a:tc>
                  <a:txBody>
                    <a:bodyPr/>
                    <a:lstStyle/>
                    <a:p>
                      <a:pPr fontAlgn="base">
                        <a:lnSpc>
                          <a:spcPts val="1200"/>
                        </a:lnSpc>
                        <a:buNone/>
                      </a:pPr>
                      <a:r>
                        <a:rPr lang="en-US" sz="1400" dirty="0">
                          <a:solidFill>
                            <a:schemeClr val="tx1"/>
                          </a:solidFill>
                          <a:effectLst/>
                          <a:latin typeface="Avenir Next LT Pro" panose="020B0504020202020204" pitchFamily="34" charset="0"/>
                        </a:rPr>
                        <a:t>4. </a:t>
                      </a:r>
                      <a:r>
                        <a:rPr lang="en-US" sz="1400" dirty="0">
                          <a:solidFill>
                            <a:schemeClr val="tx1"/>
                          </a:solidFill>
                          <a:effectLst/>
                          <a:latin typeface="Avenir Next LT Pro" panose="020B0504020202020204" pitchFamily="34" charset="0"/>
                          <a:hlinkClick r:id="rId10" action="ppaction://hlinksldjump">
                            <a:extLst>
                              <a:ext uri="{A12FA001-AC4F-418D-AE19-62706E023703}">
                                <ahyp:hlinkClr xmlns:ahyp="http://schemas.microsoft.com/office/drawing/2018/hyperlinkcolor" val="tx"/>
                              </a:ext>
                            </a:extLst>
                          </a:hlinkClick>
                        </a:rPr>
                        <a:t>Facility/Status</a:t>
                      </a:r>
                      <a:endParaRPr lang="en-US" sz="1400" dirty="0">
                        <a:solidFill>
                          <a:schemeClr val="tx1"/>
                        </a:solidFill>
                        <a:effectLst/>
                        <a:latin typeface="Avenir Next LT Pro" panose="020B0504020202020204" pitchFamily="34" charset="0"/>
                      </a:endParaRPr>
                    </a:p>
                  </a:txBody>
                  <a:tcPr marT="45721" marB="4572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fontAlgn="base">
                        <a:lnSpc>
                          <a:spcPts val="1200"/>
                        </a:lnSpc>
                        <a:buNone/>
                      </a:pPr>
                      <a:r>
                        <a:rPr lang="en-US" sz="1400" b="1" dirty="0">
                          <a:solidFill>
                            <a:schemeClr val="bg1"/>
                          </a:solidFill>
                          <a:effectLst/>
                          <a:latin typeface="Avenir Next LT Pro" panose="020B0504020202020204" pitchFamily="34" charset="0"/>
                        </a:rPr>
                        <a:t>Miscellaneous</a:t>
                      </a:r>
                    </a:p>
                  </a:txBody>
                  <a:tcPr marT="45721" marB="4572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188535404"/>
                  </a:ext>
                </a:extLst>
              </a:tr>
              <a:tr h="502878">
                <a:tc>
                  <a:txBody>
                    <a:bodyPr/>
                    <a:lstStyle/>
                    <a:p>
                      <a:pPr fontAlgn="base">
                        <a:lnSpc>
                          <a:spcPts val="1200"/>
                        </a:lnSpc>
                        <a:buNone/>
                      </a:pPr>
                      <a:r>
                        <a:rPr lang="en-US" sz="1400" dirty="0">
                          <a:solidFill>
                            <a:schemeClr val="tx1"/>
                          </a:solidFill>
                          <a:effectLst/>
                          <a:latin typeface="Avenir Next LT Pro" panose="020B0504020202020204" pitchFamily="34" charset="0"/>
                        </a:rPr>
                        <a:t>5. </a:t>
                      </a:r>
                      <a:r>
                        <a:rPr lang="en-US" sz="1400" dirty="0">
                          <a:solidFill>
                            <a:schemeClr val="tx1"/>
                          </a:solidFill>
                          <a:effectLst/>
                          <a:latin typeface="Avenir Next LT Pro" panose="020B0504020202020204" pitchFamily="34" charset="0"/>
                          <a:hlinkClick r:id="rId11" action="ppaction://hlinksldjump">
                            <a:extLst>
                              <a:ext uri="{A12FA001-AC4F-418D-AE19-62706E023703}">
                                <ahyp:hlinkClr xmlns:ahyp="http://schemas.microsoft.com/office/drawing/2018/hyperlinkcolor" val="tx"/>
                              </a:ext>
                            </a:extLst>
                          </a:hlinkClick>
                        </a:rPr>
                        <a:t>Geographic Segment of Revenue</a:t>
                      </a:r>
                      <a:endParaRPr lang="en-US" sz="1400" dirty="0">
                        <a:solidFill>
                          <a:schemeClr val="tx1"/>
                        </a:solidFill>
                        <a:effectLst/>
                        <a:latin typeface="Avenir Next LT Pro" panose="020B0504020202020204" pitchFamily="34" charset="0"/>
                      </a:endParaRPr>
                    </a:p>
                  </a:txBody>
                  <a:tcPr marT="45721" marB="45721"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base">
                        <a:lnSpc>
                          <a:spcPts val="1200"/>
                        </a:lnSpc>
                        <a:buNone/>
                      </a:pPr>
                      <a:r>
                        <a:rPr lang="en-US" sz="1400" dirty="0">
                          <a:solidFill>
                            <a:schemeClr val="tx1"/>
                          </a:solidFill>
                          <a:effectLst/>
                          <a:latin typeface="Avenir Next LT Pro" panose="020B0504020202020204" pitchFamily="34" charset="0"/>
                        </a:rPr>
                        <a:t>9. </a:t>
                      </a:r>
                      <a:r>
                        <a:rPr lang="en-US" sz="1400" dirty="0">
                          <a:solidFill>
                            <a:schemeClr val="tx1"/>
                          </a:solidFill>
                          <a:effectLst/>
                          <a:latin typeface="Avenir Next LT Pro" panose="020B0504020202020204" pitchFamily="34" charset="0"/>
                          <a:hlinkClick r:id="rId12" action="ppaction://hlinksldjump">
                            <a:extLst>
                              <a:ext uri="{A12FA001-AC4F-418D-AE19-62706E023703}">
                                <ahyp:hlinkClr xmlns:ahyp="http://schemas.microsoft.com/office/drawing/2018/hyperlinkcolor" val="tx"/>
                              </a:ext>
                            </a:extLst>
                          </a:hlinkClick>
                        </a:rPr>
                        <a:t>SWOT Analysis</a:t>
                      </a:r>
                      <a:endParaRPr lang="en-US" sz="1400" dirty="0">
                        <a:solidFill>
                          <a:schemeClr val="tx1"/>
                        </a:solidFill>
                        <a:effectLst/>
                        <a:latin typeface="Avenir Next LT Pro" panose="020B0504020202020204" pitchFamily="34" charset="0"/>
                      </a:endParaRPr>
                    </a:p>
                  </a:txBody>
                  <a:tcPr marT="45721" marB="45721"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42114451"/>
                  </a:ext>
                </a:extLst>
              </a:tr>
              <a:tr h="502878">
                <a:tc>
                  <a:txBody>
                    <a:bodyPr/>
                    <a:lstStyle/>
                    <a:p>
                      <a:pPr fontAlgn="base">
                        <a:lnSpc>
                          <a:spcPts val="1200"/>
                        </a:lnSpc>
                        <a:buNone/>
                      </a:pPr>
                      <a:endParaRPr lang="en-US" sz="1400">
                        <a:solidFill>
                          <a:schemeClr val="tx1"/>
                        </a:solidFill>
                        <a:effectLst/>
                        <a:latin typeface="Avenir Next LT Pro" panose="020B0504020202020204" pitchFamily="34" charset="0"/>
                      </a:endParaRPr>
                    </a:p>
                  </a:txBody>
                  <a:tcPr marT="45721" marB="45721"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base">
                        <a:lnSpc>
                          <a:spcPts val="1200"/>
                        </a:lnSpc>
                        <a:buNone/>
                      </a:pPr>
                      <a:r>
                        <a:rPr lang="en-US" sz="1400" dirty="0">
                          <a:solidFill>
                            <a:schemeClr val="tx1"/>
                          </a:solidFill>
                          <a:effectLst/>
                          <a:latin typeface="Avenir Next LT Pro" panose="020B0504020202020204" pitchFamily="34" charset="0"/>
                        </a:rPr>
                        <a:t>10. </a:t>
                      </a:r>
                      <a:r>
                        <a:rPr lang="en-US" sz="1400" dirty="0">
                          <a:solidFill>
                            <a:schemeClr val="tx1"/>
                          </a:solidFill>
                          <a:effectLst/>
                          <a:latin typeface="Avenir Next LT Pro" panose="020B0504020202020204" pitchFamily="34" charset="0"/>
                          <a:hlinkClick r:id="rId13" action="ppaction://hlinksldjump">
                            <a:extLst>
                              <a:ext uri="{A12FA001-AC4F-418D-AE19-62706E023703}">
                                <ahyp:hlinkClr xmlns:ahyp="http://schemas.microsoft.com/office/drawing/2018/hyperlinkcolor" val="tx"/>
                              </a:ext>
                            </a:extLst>
                          </a:hlinkClick>
                        </a:rPr>
                        <a:t>Porter Five Forces </a:t>
                      </a:r>
                      <a:endParaRPr lang="en-US" sz="1400" dirty="0">
                        <a:solidFill>
                          <a:schemeClr val="tx1"/>
                        </a:solidFill>
                        <a:effectLst/>
                        <a:latin typeface="Avenir Next LT Pro" panose="020B0504020202020204" pitchFamily="34" charset="0"/>
                      </a:endParaRPr>
                    </a:p>
                  </a:txBody>
                  <a:tcPr marT="45721" marB="45721"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04369086"/>
                  </a:ext>
                </a:extLst>
              </a:tr>
              <a:tr h="502878">
                <a:tc>
                  <a:txBody>
                    <a:bodyPr/>
                    <a:lstStyle/>
                    <a:p>
                      <a:pPr fontAlgn="base">
                        <a:lnSpc>
                          <a:spcPts val="1200"/>
                        </a:lnSpc>
                        <a:buNone/>
                      </a:pPr>
                      <a:endParaRPr lang="en-US" sz="1400" dirty="0">
                        <a:solidFill>
                          <a:schemeClr val="tx1"/>
                        </a:solidFill>
                        <a:effectLst/>
                        <a:latin typeface="Avenir Next LT Pro" panose="020B0504020202020204" pitchFamily="34" charset="0"/>
                      </a:endParaRPr>
                    </a:p>
                  </a:txBody>
                  <a:tcPr marT="45721" marB="45721"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base">
                        <a:lnSpc>
                          <a:spcPts val="1200"/>
                        </a:lnSpc>
                        <a:buNone/>
                      </a:pPr>
                      <a:r>
                        <a:rPr lang="en-US" sz="1400" dirty="0">
                          <a:solidFill>
                            <a:schemeClr val="tx1"/>
                          </a:solidFill>
                          <a:effectLst/>
                          <a:latin typeface="Avenir Next LT Pro" panose="020B0504020202020204" pitchFamily="34" charset="0"/>
                        </a:rPr>
                        <a:t>11. </a:t>
                      </a:r>
                      <a:r>
                        <a:rPr lang="en-US" sz="1400" dirty="0">
                          <a:solidFill>
                            <a:schemeClr val="tx1"/>
                          </a:solidFill>
                          <a:effectLst/>
                          <a:latin typeface="Avenir Next LT Pro" panose="020B0504020202020204" pitchFamily="34" charset="0"/>
                          <a:hlinkClick r:id="rId14" action="ppaction://hlinksldjump">
                            <a:extLst>
                              <a:ext uri="{A12FA001-AC4F-418D-AE19-62706E023703}">
                                <ahyp:hlinkClr xmlns:ahyp="http://schemas.microsoft.com/office/drawing/2018/hyperlinkcolor" val="tx"/>
                              </a:ext>
                            </a:extLst>
                          </a:hlinkClick>
                        </a:rPr>
                        <a:t>Rating Table Breakdown and ESG Ranking</a:t>
                      </a:r>
                      <a:endParaRPr lang="en-US" sz="1400" dirty="0">
                        <a:solidFill>
                          <a:schemeClr val="tx1"/>
                        </a:solidFill>
                        <a:effectLst/>
                        <a:latin typeface="Avenir Next LT Pro" panose="020B0504020202020204" pitchFamily="34" charset="0"/>
                      </a:endParaRPr>
                    </a:p>
                  </a:txBody>
                  <a:tcPr marT="45721" marB="45721"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0202514"/>
                  </a:ext>
                </a:extLst>
              </a:tr>
            </a:tbl>
          </a:graphicData>
        </a:graphic>
      </p:graphicFrame>
      <p:pic>
        <p:nvPicPr>
          <p:cNvPr id="4" name="Picture 3" descr="Harley Davidson Logo PNG Image - PurePNG | Free transparent CC0 PNG ...">
            <a:extLst>
              <a:ext uri="{FF2B5EF4-FFF2-40B4-BE49-F238E27FC236}">
                <a16:creationId xmlns:a16="http://schemas.microsoft.com/office/drawing/2014/main" id="{C9C77EC0-FF44-74D9-0219-4CEBBFA15C2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4">
            <a:extLst>
              <a:ext uri="{FF2B5EF4-FFF2-40B4-BE49-F238E27FC236}">
                <a16:creationId xmlns:a16="http://schemas.microsoft.com/office/drawing/2014/main" id="{C6F85A33-402E-9CF4-B628-E1428A5B593E}"/>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Q1-Q3</a:t>
            </a:r>
            <a:endParaRPr lang="en-US" sz="949">
              <a:latin typeface="Avenir Next LT Pro" panose="020B0504020202020204" pitchFamily="34" charset="0"/>
              <a:cs typeface="Segoe UI"/>
            </a:endParaRPr>
          </a:p>
        </p:txBody>
      </p:sp>
      <p:grpSp>
        <p:nvGrpSpPr>
          <p:cNvPr id="3" name="Group 2">
            <a:extLst>
              <a:ext uri="{FF2B5EF4-FFF2-40B4-BE49-F238E27FC236}">
                <a16:creationId xmlns:a16="http://schemas.microsoft.com/office/drawing/2014/main" id="{40B03C08-1F3B-BC7B-D4FF-2C2359569FB6}"/>
              </a:ext>
            </a:extLst>
          </p:cNvPr>
          <p:cNvGrpSpPr/>
          <p:nvPr/>
        </p:nvGrpSpPr>
        <p:grpSpPr>
          <a:xfrm>
            <a:off x="695325" y="6302380"/>
            <a:ext cx="10429876" cy="265521"/>
            <a:chOff x="695325" y="6302380"/>
            <a:chExt cx="10429876" cy="265521"/>
          </a:xfrm>
        </p:grpSpPr>
        <p:sp>
          <p:nvSpPr>
            <p:cNvPr id="7" name="object 13">
              <a:extLst>
                <a:ext uri="{FF2B5EF4-FFF2-40B4-BE49-F238E27FC236}">
                  <a16:creationId xmlns:a16="http://schemas.microsoft.com/office/drawing/2014/main" id="{0A44F5EB-5959-0C76-D2AA-59AE1F312873}"/>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dirty="0">
                  <a:latin typeface="Avenir Next LT Pro" panose="020B0504020202020204" pitchFamily="34" charset="0"/>
                  <a:cs typeface="Segoe UI"/>
                  <a:hlinkClick r:id="rId16" action="ppaction://hlinksldjump">
                    <a:extLst>
                      <a:ext uri="{A12FA001-AC4F-418D-AE19-62706E023703}">
                        <ahyp:hlinkClr xmlns:ahyp="http://schemas.microsoft.com/office/drawing/2018/hyperlinkcolor" val="tx"/>
                      </a:ext>
                    </a:extLst>
                  </a:hlinkClick>
                </a:rPr>
                <a:t>ESG</a:t>
              </a:r>
              <a:endParaRPr lang="en-US" sz="1401" dirty="0">
                <a:latin typeface="Avenir Next LT Pro" panose="020B0504020202020204" pitchFamily="34" charset="0"/>
                <a:cs typeface="Segoe UI"/>
              </a:endParaRPr>
            </a:p>
          </p:txBody>
        </p:sp>
        <p:sp>
          <p:nvSpPr>
            <p:cNvPr id="8" name="object 14">
              <a:extLst>
                <a:ext uri="{FF2B5EF4-FFF2-40B4-BE49-F238E27FC236}">
                  <a16:creationId xmlns:a16="http://schemas.microsoft.com/office/drawing/2014/main" id="{08B611EB-DB9F-0D67-91A0-AB6B75D5BB87}"/>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dirty="0">
                  <a:latin typeface="Avenir Next LT Pro" panose="020B0504020202020204" pitchFamily="34" charset="0"/>
                  <a:cs typeface="Segoe UI"/>
                  <a:hlinkClick r:id="rId17" action="ppaction://hlinksldjump">
                    <a:extLst>
                      <a:ext uri="{A12FA001-AC4F-418D-AE19-62706E023703}">
                        <ahyp:hlinkClr xmlns:ahyp="http://schemas.microsoft.com/office/drawing/2018/hyperlinkcolor" val="tx"/>
                      </a:ext>
                    </a:extLst>
                  </a:hlinkClick>
                </a:rPr>
                <a:t>Risks</a:t>
              </a:r>
              <a:endParaRPr lang="en-US" sz="1401" dirty="0">
                <a:latin typeface="Avenir Next LT Pro" panose="020B0504020202020204" pitchFamily="34" charset="0"/>
                <a:cs typeface="Segoe UI"/>
              </a:endParaRPr>
            </a:p>
          </p:txBody>
        </p:sp>
        <p:sp>
          <p:nvSpPr>
            <p:cNvPr id="10" name="object 15">
              <a:extLst>
                <a:ext uri="{FF2B5EF4-FFF2-40B4-BE49-F238E27FC236}">
                  <a16:creationId xmlns:a16="http://schemas.microsoft.com/office/drawing/2014/main" id="{EDFDA4AF-40AE-8647-F8A7-22A0A1C0F2F2}"/>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18">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11" name="object 16">
              <a:extLst>
                <a:ext uri="{FF2B5EF4-FFF2-40B4-BE49-F238E27FC236}">
                  <a16:creationId xmlns:a16="http://schemas.microsoft.com/office/drawing/2014/main" id="{481FE9EE-9E12-8DC2-1991-132395F2415E}"/>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2" name="object 37">
              <a:extLst>
                <a:ext uri="{FF2B5EF4-FFF2-40B4-BE49-F238E27FC236}">
                  <a16:creationId xmlns:a16="http://schemas.microsoft.com/office/drawing/2014/main" id="{3170AACE-0080-D458-8C9B-B79692FA4FB4}"/>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dirty="0">
                  <a:latin typeface="Avenir Next LT Pro" panose="020B0504020202020204" pitchFamily="34" charset="0"/>
                  <a:cs typeface="Segoe UI"/>
                  <a:hlinkClick r:id="rId19" action="ppaction://hlinksldjump">
                    <a:extLst>
                      <a:ext uri="{A12FA001-AC4F-418D-AE19-62706E023703}">
                        <ahyp:hlinkClr xmlns:ahyp="http://schemas.microsoft.com/office/drawing/2018/hyperlinkcolor" val="tx"/>
                      </a:ext>
                    </a:extLst>
                  </a:hlinkClick>
                </a:rPr>
                <a:t>Overview</a:t>
              </a:r>
              <a:endParaRPr lang="en-US" sz="1401" dirty="0">
                <a:latin typeface="Avenir Next LT Pro" panose="020B0504020202020204" pitchFamily="34" charset="0"/>
                <a:cs typeface="Segoe UI"/>
              </a:endParaRPr>
            </a:p>
          </p:txBody>
        </p:sp>
        <p:sp>
          <p:nvSpPr>
            <p:cNvPr id="13" name="object 39">
              <a:extLst>
                <a:ext uri="{FF2B5EF4-FFF2-40B4-BE49-F238E27FC236}">
                  <a16:creationId xmlns:a16="http://schemas.microsoft.com/office/drawing/2014/main" id="{54511305-044A-8B69-BC78-64FDD3608548}"/>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dirty="0">
                  <a:latin typeface="Avenir Next LT Pro" panose="020B0504020202020204" pitchFamily="34" charset="0"/>
                  <a:cs typeface="Segoe UI"/>
                  <a:hlinkClick r:id="rId20" action="ppaction://hlinksldjump">
                    <a:extLst>
                      <a:ext uri="{A12FA001-AC4F-418D-AE19-62706E023703}">
                        <ahyp:hlinkClr xmlns:ahyp="http://schemas.microsoft.com/office/drawing/2018/hyperlinkcolor" val="tx"/>
                      </a:ext>
                    </a:extLst>
                  </a:hlinkClick>
                </a:rPr>
                <a:t>Driver</a:t>
              </a:r>
              <a:endParaRPr lang="en-US" sz="1401" dirty="0">
                <a:latin typeface="Avenir Next LT Pro" panose="020B0504020202020204" pitchFamily="34" charset="0"/>
                <a:cs typeface="Segoe UI"/>
              </a:endParaRPr>
            </a:p>
          </p:txBody>
        </p:sp>
        <p:sp>
          <p:nvSpPr>
            <p:cNvPr id="14" name="object 40">
              <a:extLst>
                <a:ext uri="{FF2B5EF4-FFF2-40B4-BE49-F238E27FC236}">
                  <a16:creationId xmlns:a16="http://schemas.microsoft.com/office/drawing/2014/main" id="{F4FEA5CA-5880-16BA-8FAD-2575AF44A27B}"/>
                </a:ext>
              </a:extLst>
            </p:cNvPr>
            <p:cNvSpPr txBox="1"/>
            <p:nvPr/>
          </p:nvSpPr>
          <p:spPr>
            <a:xfrm>
              <a:off x="4287375" y="6322739"/>
              <a:ext cx="886194" cy="230318"/>
            </a:xfrm>
            <a:prstGeom prst="rect">
              <a:avLst/>
            </a:prstGeom>
          </p:spPr>
          <p:txBody>
            <a:bodyPr vert="horz" wrap="square" lIns="0" tIns="14604" rIns="0" bIns="0" rtlCol="0">
              <a:spAutoFit/>
            </a:bodyPr>
            <a:lstStyle/>
            <a:p>
              <a:pPr marL="12701">
                <a:spcBef>
                  <a:spcPts val="114"/>
                </a:spcBef>
              </a:pPr>
              <a:r>
                <a:rPr lang="en-US" sz="1401" spc="-11" dirty="0">
                  <a:latin typeface="Avenir Next LT Pro" panose="020B0504020202020204" pitchFamily="34" charset="0"/>
                  <a:cs typeface="Segoe UI"/>
                  <a:hlinkClick r:id="rId21" action="ppaction://hlinksldjump">
                    <a:extLst>
                      <a:ext uri="{A12FA001-AC4F-418D-AE19-62706E023703}">
                        <ahyp:hlinkClr xmlns:ahyp="http://schemas.microsoft.com/office/drawing/2018/hyperlinkcolor" val="tx"/>
                      </a:ext>
                    </a:extLst>
                  </a:hlinkClick>
                </a:rPr>
                <a:t>Financials</a:t>
              </a:r>
              <a:endParaRPr lang="en-US" sz="1401" dirty="0">
                <a:latin typeface="Avenir Next LT Pro" panose="020B0504020202020204" pitchFamily="34" charset="0"/>
                <a:cs typeface="Segoe UI"/>
              </a:endParaRPr>
            </a:p>
          </p:txBody>
        </p:sp>
        <p:sp>
          <p:nvSpPr>
            <p:cNvPr id="15" name="object 41">
              <a:extLst>
                <a:ext uri="{FF2B5EF4-FFF2-40B4-BE49-F238E27FC236}">
                  <a16:creationId xmlns:a16="http://schemas.microsoft.com/office/drawing/2014/main" id="{F0E89EF6-A630-53D6-EDBE-3289533C5929}"/>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dirty="0">
                  <a:latin typeface="Avenir Next LT Pro" panose="020B0504020202020204" pitchFamily="34" charset="0"/>
                  <a:cs typeface="Segoe UI"/>
                  <a:hlinkClick r:id="rId22" action="ppaction://hlinksldjump">
                    <a:extLst>
                      <a:ext uri="{A12FA001-AC4F-418D-AE19-62706E023703}">
                        <ahyp:hlinkClr xmlns:ahyp="http://schemas.microsoft.com/office/drawing/2018/hyperlinkcolor" val="tx"/>
                      </a:ext>
                    </a:extLst>
                  </a:hlinkClick>
                </a:rPr>
                <a:t>Valuation</a:t>
              </a:r>
              <a:endParaRPr lang="en-US" sz="1401" dirty="0">
                <a:latin typeface="Avenir Next LT Pro" panose="020B0504020202020204" pitchFamily="34" charset="0"/>
                <a:cs typeface="Segoe U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45E8C-6598-4FB6-0865-9DD532D6CF01}"/>
            </a:ext>
          </a:extLst>
        </p:cNvPr>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E8F24315-9510-8577-8C61-423EB7ED3D45}"/>
              </a:ext>
            </a:extLst>
          </p:cNvPr>
          <p:cNvGraphicFramePr>
            <a:graphicFrameLocks noGrp="1"/>
          </p:cNvGraphicFramePr>
          <p:nvPr>
            <p:custDataLst>
              <p:tags r:id="rId1"/>
            </p:custDataLst>
            <p:extLst>
              <p:ext uri="{D42A27DB-BD31-4B8C-83A1-F6EECF244321}">
                <p14:modId xmlns:p14="http://schemas.microsoft.com/office/powerpoint/2010/main" val="455644938"/>
              </p:ext>
            </p:extLst>
          </p:nvPr>
        </p:nvGraphicFramePr>
        <p:xfrm>
          <a:off x="1700462" y="137560"/>
          <a:ext cx="8411873" cy="6078171"/>
        </p:xfrm>
        <a:graphic>
          <a:graphicData uri="http://schemas.openxmlformats.org/drawingml/2006/table">
            <a:tbl>
              <a:tblPr bandRow="1">
                <a:tableStyleId>{5C22544A-7EE6-4342-B048-85BDC9FD1C3A}</a:tableStyleId>
              </a:tblPr>
              <a:tblGrid>
                <a:gridCol w="1986289">
                  <a:extLst>
                    <a:ext uri="{9D8B030D-6E8A-4147-A177-3AD203B41FA5}">
                      <a16:colId xmlns:a16="http://schemas.microsoft.com/office/drawing/2014/main" val="1830476992"/>
                    </a:ext>
                  </a:extLst>
                </a:gridCol>
                <a:gridCol w="803198">
                  <a:extLst>
                    <a:ext uri="{9D8B030D-6E8A-4147-A177-3AD203B41FA5}">
                      <a16:colId xmlns:a16="http://schemas.microsoft.com/office/drawing/2014/main" val="435827919"/>
                    </a:ext>
                  </a:extLst>
                </a:gridCol>
                <a:gridCol w="803198">
                  <a:extLst>
                    <a:ext uri="{9D8B030D-6E8A-4147-A177-3AD203B41FA5}">
                      <a16:colId xmlns:a16="http://schemas.microsoft.com/office/drawing/2014/main" val="3011274315"/>
                    </a:ext>
                  </a:extLst>
                </a:gridCol>
                <a:gridCol w="803198">
                  <a:extLst>
                    <a:ext uri="{9D8B030D-6E8A-4147-A177-3AD203B41FA5}">
                      <a16:colId xmlns:a16="http://schemas.microsoft.com/office/drawing/2014/main" val="3067659141"/>
                    </a:ext>
                  </a:extLst>
                </a:gridCol>
                <a:gridCol w="803198">
                  <a:extLst>
                    <a:ext uri="{9D8B030D-6E8A-4147-A177-3AD203B41FA5}">
                      <a16:colId xmlns:a16="http://schemas.microsoft.com/office/drawing/2014/main" val="1614819433"/>
                    </a:ext>
                  </a:extLst>
                </a:gridCol>
                <a:gridCol w="803198">
                  <a:extLst>
                    <a:ext uri="{9D8B030D-6E8A-4147-A177-3AD203B41FA5}">
                      <a16:colId xmlns:a16="http://schemas.microsoft.com/office/drawing/2014/main" val="4051440088"/>
                    </a:ext>
                  </a:extLst>
                </a:gridCol>
                <a:gridCol w="803198">
                  <a:extLst>
                    <a:ext uri="{9D8B030D-6E8A-4147-A177-3AD203B41FA5}">
                      <a16:colId xmlns:a16="http://schemas.microsoft.com/office/drawing/2014/main" val="1022673861"/>
                    </a:ext>
                  </a:extLst>
                </a:gridCol>
                <a:gridCol w="803198">
                  <a:extLst>
                    <a:ext uri="{9D8B030D-6E8A-4147-A177-3AD203B41FA5}">
                      <a16:colId xmlns:a16="http://schemas.microsoft.com/office/drawing/2014/main" val="882578954"/>
                    </a:ext>
                  </a:extLst>
                </a:gridCol>
                <a:gridCol w="803198">
                  <a:extLst>
                    <a:ext uri="{9D8B030D-6E8A-4147-A177-3AD203B41FA5}">
                      <a16:colId xmlns:a16="http://schemas.microsoft.com/office/drawing/2014/main" val="1607577106"/>
                    </a:ext>
                  </a:extLst>
                </a:gridCol>
              </a:tblGrid>
              <a:tr h="218875">
                <a:tc gridSpan="9">
                  <a:txBody>
                    <a:bodyPr/>
                    <a:lstStyle/>
                    <a:p>
                      <a:pPr fontAlgn="base">
                        <a:lnSpc>
                          <a:spcPts val="1350"/>
                        </a:lnSpc>
                        <a:buNone/>
                      </a:pPr>
                      <a:r>
                        <a:rPr lang="en-US" sz="1400" b="1">
                          <a:solidFill>
                            <a:srgbClr val="FFFFFF"/>
                          </a:solidFill>
                          <a:effectLst/>
                          <a:latin typeface="Avenir Next LT Pro" panose="020B0504020202020204" pitchFamily="34" charset="0"/>
                          <a:ea typeface="Calibri" panose="020F0502020204030204" pitchFamily="34" charset="0"/>
                          <a:cs typeface="Calibri" panose="020F0502020204030204" pitchFamily="34" charset="0"/>
                        </a:rPr>
                        <a:t>1. Income Statement</a:t>
                      </a:r>
                      <a:endParaRPr lang="en-US" sz="14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4F1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4994865"/>
                  </a:ext>
                </a:extLst>
              </a:tr>
              <a:tr h="218623">
                <a:tc>
                  <a:txBody>
                    <a:bodyPr/>
                    <a:lstStyle/>
                    <a:p>
                      <a:pPr fontAlgn="base">
                        <a:lnSpc>
                          <a:spcPts val="10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 All Figures are in Thousands</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fontAlgn="base">
                        <a:lnSpc>
                          <a:spcPts val="10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2020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fontAlgn="base">
                        <a:lnSpc>
                          <a:spcPts val="10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2021</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fontAlgn="base">
                        <a:lnSpc>
                          <a:spcPts val="10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2022</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fontAlgn="base">
                        <a:lnSpc>
                          <a:spcPts val="10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2023</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fontAlgn="base">
                        <a:lnSpc>
                          <a:spcPts val="10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2024</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fontAlgn="base">
                        <a:lnSpc>
                          <a:spcPts val="10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2025</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fontAlgn="base">
                        <a:lnSpc>
                          <a:spcPts val="10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2026E</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fontAlgn="base">
                        <a:lnSpc>
                          <a:spcPts val="10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2027E</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extLst>
                  <a:ext uri="{0D108BD9-81ED-4DB2-BD59-A6C34878D82A}">
                    <a16:rowId xmlns:a16="http://schemas.microsoft.com/office/drawing/2014/main" val="3853496458"/>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Sales</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4054.4</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5336.3</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5755.1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5836.5</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5186.8</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4472.8</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4696.5</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5072.2</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453181723"/>
                  </a:ext>
                </a:extLst>
              </a:tr>
              <a:tr h="218875">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%Growth</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 </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31.6%</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7.8%</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1.4%</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-11.1%</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-13.8%</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5.0%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8.0%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933630514"/>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Direct costs </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2874.2</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3589.6</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3808.6</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3759.7</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3394.6</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2907.3</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3287.5</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3499.8</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758713796"/>
                  </a:ext>
                </a:extLst>
              </a:tr>
              <a:tr h="218875">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%Growth</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 </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24.9%</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6.1%</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-1.3%</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-9.7%</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-14.4%</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13.1%</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6.5 %</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863662807"/>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Gross Margin</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1180.2</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1746.7</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1946.5</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2076.8</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1792.2</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1565.5</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1408.9</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1572.4</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965150301"/>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SG&amp;A, R&amp;D, D&amp;A, and other</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1170.5</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923.3</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1037.2</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1297.7</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1375.6</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1406.3</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1362.0</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1318.8</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4154732668"/>
                  </a:ext>
                </a:extLst>
              </a:tr>
              <a:tr h="218875">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%Growth</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 </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-21.1%</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12.3%</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25.1%</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6.0%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2.2%</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-3.1%</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-3.2%</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50575773"/>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EBIT</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9.7</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823.4</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909.3</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779.1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416.6</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159.2</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47.0</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253.6</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607494427"/>
                  </a:ext>
                </a:extLst>
              </a:tr>
              <a:tr h="218875">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%Growth</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 </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8407.5%</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10.4%</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-14.3%</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-46.5%</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-61.8%</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-70.5%</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440.0%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836391451"/>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Net Interest</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-23.6</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-24.3</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-26.7</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16.0</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27.9</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25.8</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25.6</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27.8</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514076615"/>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Other</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-1.8</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2.0</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4.9</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7.2</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7.2</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4.5</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4.7</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5.1</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865710289"/>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EBT</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35.1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845.7</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931.1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755.9</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381.5</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129.0</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16.6</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220.7</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008932811"/>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Taxes</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-17.0</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169.2</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192.0</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171.8</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72.0</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25.8</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3.3</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44.1</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794691699"/>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Income</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52.1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676.5</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739.1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584.1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309.5</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103.2</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13.3</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176.6</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450469180"/>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Other</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50.8</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26.5</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-0.1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-111.0</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-135.7</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65.0</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3.0</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3.0</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965211176"/>
                  </a:ext>
                </a:extLst>
              </a:tr>
              <a:tr h="218875">
                <a:tc>
                  <a:txBody>
                    <a:bodyPr/>
                    <a:lstStyle/>
                    <a:p>
                      <a:pPr fontAlgn="base">
                        <a:lnSpc>
                          <a:spcPts val="13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 Net income</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1.3</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650.0</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739.2</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695.0</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445.2</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38.2</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10.3</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b="1">
                          <a:effectLst/>
                          <a:latin typeface="Avenir Next LT Pro" panose="020B0504020202020204" pitchFamily="34" charset="0"/>
                          <a:ea typeface="Calibri" panose="020F0502020204030204" pitchFamily="34" charset="0"/>
                          <a:cs typeface="Calibri" panose="020F0502020204030204" pitchFamily="34" charset="0"/>
                        </a:rPr>
                        <a:t>173.6</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401081243"/>
                  </a:ext>
                </a:extLst>
              </a:tr>
              <a:tr h="218875">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%Growth</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 </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49978.9%</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13.7%</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-6.0%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-36.0%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-91.4%</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-73.0%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1582.0%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081424571"/>
                  </a:ext>
                </a:extLst>
              </a:tr>
              <a:tr h="318767">
                <a:tc>
                  <a:txBody>
                    <a:bodyPr/>
                    <a:lstStyle/>
                    <a:p>
                      <a:pPr fontAlgn="ctr">
                        <a:buNone/>
                      </a:pP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fontAlgn="ctr">
                        <a:buNone/>
                      </a:pP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fontAlgn="ctr">
                        <a:buNone/>
                      </a:pP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fontAlgn="ctr">
                        <a:buNone/>
                      </a:pP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fontAlgn="ctr">
                        <a:buNone/>
                      </a:pP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fontAlgn="ctr">
                        <a:buNone/>
                      </a:pP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fontAlgn="ctr">
                        <a:buNone/>
                      </a:pP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fontAlgn="ctr">
                        <a:buNone/>
                      </a:pP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fontAlgn="ctr">
                        <a:buNone/>
                      </a:pP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4214789542"/>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Basic Shares</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152.93</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153.57</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145.86</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136.31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124.28</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111.18</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91.48</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86.48</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631607382"/>
                  </a:ext>
                </a:extLst>
              </a:tr>
              <a:tr h="218875">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%Growth</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 </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0.4%</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-5.0%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-6.5%</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-8.8%</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-10.5%</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-17.7%</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-5.5%</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34149819"/>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Fully Diluted Shares</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153.91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154.98</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149.39</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145.10</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132.29</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119.19</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99.49</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94.94</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437729509"/>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EPS Basic </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0.01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4.23</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5.07</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5.10</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3.58</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.34</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.11</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2.01</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406872089"/>
                  </a:ext>
                </a:extLst>
              </a:tr>
              <a:tr h="218875">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%Growth</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 </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49770.2%</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19.7%</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0.6%</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-29.8%</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-90.4%</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-67.2%</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1679.3%</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775387891"/>
                  </a:ext>
                </a:extLst>
              </a:tr>
              <a:tr h="218875">
                <a:tc>
                  <a:txBody>
                    <a:bodyPr/>
                    <a:lstStyle/>
                    <a:p>
                      <a:pP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 EPS Fully Diluted</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0.01</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4.19</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4.95</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4.79</a:t>
                      </a: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3.37</a:t>
                      </a: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.32</a:t>
                      </a: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.10</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1.84</a:t>
                      </a: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674665654"/>
                  </a:ext>
                </a:extLst>
              </a:tr>
              <a:tr h="218875">
                <a:tc>
                  <a:txBody>
                    <a:bodyPr/>
                    <a:lstStyle/>
                    <a:p>
                      <a:pPr algn="ctr" fontAlgn="base">
                        <a:lnSpc>
                          <a:spcPts val="1350"/>
                        </a:lnSpc>
                        <a:buNone/>
                      </a:pPr>
                      <a:r>
                        <a:rPr lang="en-US" sz="1100">
                          <a:effectLst/>
                          <a:latin typeface="Avenir Next LT Pro" panose="020B0504020202020204" pitchFamily="34" charset="0"/>
                          <a:ea typeface="Calibri" panose="020F0502020204030204" pitchFamily="34" charset="0"/>
                          <a:cs typeface="Calibri" panose="020F0502020204030204" pitchFamily="34" charset="0"/>
                        </a:rPr>
                        <a:t>%Growth</a:t>
                      </a: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 </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49633.1%</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18.0%</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-3.2%</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-29.7%</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-90.5%</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a:effectLst/>
                          <a:latin typeface="Avenir Next LT Pro" panose="020B0504020202020204" pitchFamily="34" charset="0"/>
                          <a:ea typeface="Calibri" panose="020F0502020204030204" pitchFamily="34" charset="0"/>
                          <a:cs typeface="Calibri" panose="020F0502020204030204" pitchFamily="34" charset="0"/>
                        </a:rPr>
                        <a:t>-67.6%</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050"/>
                        </a:lnSpc>
                        <a:buNone/>
                      </a:pPr>
                      <a:r>
                        <a:rPr lang="en-US" sz="1100" i="1" dirty="0">
                          <a:effectLst/>
                          <a:latin typeface="Avenir Next LT Pro" panose="020B0504020202020204" pitchFamily="34" charset="0"/>
                          <a:ea typeface="Calibri" panose="020F0502020204030204" pitchFamily="34" charset="0"/>
                          <a:cs typeface="Calibri" panose="020F0502020204030204" pitchFamily="34" charset="0"/>
                        </a:rPr>
                        <a:t>1671.0%</a:t>
                      </a:r>
                      <a:endParaRPr lang="en-US" sz="1100" dirty="0">
                        <a:effectLst/>
                        <a:latin typeface="Avenir Next LT Pro" panose="020B0504020202020204" pitchFamily="34" charset="0"/>
                        <a:ea typeface="Calibri" panose="020F0502020204030204" pitchFamily="34" charset="0"/>
                        <a:cs typeface="Calibri" panose="020F0502020204030204" pitchFamily="34" charset="0"/>
                      </a:endParaRPr>
                    </a:p>
                  </a:txBody>
                  <a:tcPr marL="7620" marR="7620" marT="7620"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280404821"/>
                  </a:ext>
                </a:extLst>
              </a:tr>
            </a:tbl>
          </a:graphicData>
        </a:graphic>
      </p:graphicFrame>
      <p:pic>
        <p:nvPicPr>
          <p:cNvPr id="4" name="Picture 3" descr="Harley Davidson Logo PNG Image - PurePNG | Free transparent CC0 PNG ...">
            <a:extLst>
              <a:ext uri="{FF2B5EF4-FFF2-40B4-BE49-F238E27FC236}">
                <a16:creationId xmlns:a16="http://schemas.microsoft.com/office/drawing/2014/main" id="{BEE7979B-B7B6-4A5D-8AE9-FB4E43C24C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4">
            <a:extLst>
              <a:ext uri="{FF2B5EF4-FFF2-40B4-BE49-F238E27FC236}">
                <a16:creationId xmlns:a16="http://schemas.microsoft.com/office/drawing/2014/main" id="{4FB4E42D-776D-B47F-6D7D-71368DE7D262}"/>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Q1-Q3</a:t>
            </a:r>
            <a:endParaRPr lang="en-US" sz="949">
              <a:latin typeface="Avenir Next LT Pro" panose="020B0504020202020204" pitchFamily="34" charset="0"/>
              <a:cs typeface="Segoe UI"/>
            </a:endParaRPr>
          </a:p>
        </p:txBody>
      </p:sp>
      <p:grpSp>
        <p:nvGrpSpPr>
          <p:cNvPr id="5" name="Group 4">
            <a:extLst>
              <a:ext uri="{FF2B5EF4-FFF2-40B4-BE49-F238E27FC236}">
                <a16:creationId xmlns:a16="http://schemas.microsoft.com/office/drawing/2014/main" id="{85C9D90F-25CD-DE3B-FCF0-95A3D656CF43}"/>
              </a:ext>
            </a:extLst>
          </p:cNvPr>
          <p:cNvGrpSpPr/>
          <p:nvPr/>
        </p:nvGrpSpPr>
        <p:grpSpPr>
          <a:xfrm>
            <a:off x="695325" y="6302380"/>
            <a:ext cx="10429876" cy="265521"/>
            <a:chOff x="695325" y="6302380"/>
            <a:chExt cx="10429876" cy="265521"/>
          </a:xfrm>
        </p:grpSpPr>
        <p:sp>
          <p:nvSpPr>
            <p:cNvPr id="16" name="object 13">
              <a:extLst>
                <a:ext uri="{FF2B5EF4-FFF2-40B4-BE49-F238E27FC236}">
                  <a16:creationId xmlns:a16="http://schemas.microsoft.com/office/drawing/2014/main" id="{9EA493A5-8737-DDB6-36D1-1BB13834D84C}"/>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17" name="object 14">
              <a:extLst>
                <a:ext uri="{FF2B5EF4-FFF2-40B4-BE49-F238E27FC236}">
                  <a16:creationId xmlns:a16="http://schemas.microsoft.com/office/drawing/2014/main" id="{AB311160-F7EA-0F41-CF72-656EBFDF9A46}"/>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18" name="object 15">
              <a:extLst>
                <a:ext uri="{FF2B5EF4-FFF2-40B4-BE49-F238E27FC236}">
                  <a16:creationId xmlns:a16="http://schemas.microsoft.com/office/drawing/2014/main" id="{8E72133E-138E-8F3D-B463-5793993EE0FF}"/>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20" name="object 16">
              <a:extLst>
                <a:ext uri="{FF2B5EF4-FFF2-40B4-BE49-F238E27FC236}">
                  <a16:creationId xmlns:a16="http://schemas.microsoft.com/office/drawing/2014/main" id="{F0DB8192-DDFE-582C-BCF5-06218D8E6543}"/>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21" name="object 37">
              <a:extLst>
                <a:ext uri="{FF2B5EF4-FFF2-40B4-BE49-F238E27FC236}">
                  <a16:creationId xmlns:a16="http://schemas.microsoft.com/office/drawing/2014/main" id="{F7979200-DD57-3643-ADA1-AA23FEC7EEC1}"/>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22" name="object 39">
              <a:extLst>
                <a:ext uri="{FF2B5EF4-FFF2-40B4-BE49-F238E27FC236}">
                  <a16:creationId xmlns:a16="http://schemas.microsoft.com/office/drawing/2014/main" id="{FAAB5F0A-156A-252C-D644-6FFED6DF2AA4}"/>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23" name="object 40">
              <a:extLst>
                <a:ext uri="{FF2B5EF4-FFF2-40B4-BE49-F238E27FC236}">
                  <a16:creationId xmlns:a16="http://schemas.microsoft.com/office/drawing/2014/main" id="{FBDA0497-C4D5-FAD5-FF20-60C29972D193}"/>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24" name="object 41">
              <a:extLst>
                <a:ext uri="{FF2B5EF4-FFF2-40B4-BE49-F238E27FC236}">
                  <a16:creationId xmlns:a16="http://schemas.microsoft.com/office/drawing/2014/main" id="{5543FFFF-2A88-873D-9E39-0A66CAFA266F}"/>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2420042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3162A-151D-9D45-C436-433E3417B7CA}"/>
            </a:ext>
          </a:extLst>
        </p:cNvPr>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7A3D5D1C-E9A6-8E58-ACA9-47A790E197D1}"/>
              </a:ext>
            </a:extLst>
          </p:cNvPr>
          <p:cNvGraphicFramePr>
            <a:graphicFrameLocks noGrp="1"/>
          </p:cNvGraphicFramePr>
          <p:nvPr>
            <p:custDataLst>
              <p:tags r:id="rId1"/>
            </p:custDataLst>
            <p:extLst>
              <p:ext uri="{D42A27DB-BD31-4B8C-83A1-F6EECF244321}">
                <p14:modId xmlns:p14="http://schemas.microsoft.com/office/powerpoint/2010/main" val="90936703"/>
              </p:ext>
            </p:extLst>
          </p:nvPr>
        </p:nvGraphicFramePr>
        <p:xfrm>
          <a:off x="1280160" y="555620"/>
          <a:ext cx="9307632" cy="5413378"/>
        </p:xfrm>
        <a:graphic>
          <a:graphicData uri="http://schemas.openxmlformats.org/drawingml/2006/table">
            <a:tbl>
              <a:tblPr bandRow="1">
                <a:tableStyleId>{5C22544A-7EE6-4342-B048-85BDC9FD1C3A}</a:tableStyleId>
              </a:tblPr>
              <a:tblGrid>
                <a:gridCol w="2472338">
                  <a:extLst>
                    <a:ext uri="{9D8B030D-6E8A-4147-A177-3AD203B41FA5}">
                      <a16:colId xmlns:a16="http://schemas.microsoft.com/office/drawing/2014/main" val="3153424666"/>
                    </a:ext>
                  </a:extLst>
                </a:gridCol>
                <a:gridCol w="836233">
                  <a:extLst>
                    <a:ext uri="{9D8B030D-6E8A-4147-A177-3AD203B41FA5}">
                      <a16:colId xmlns:a16="http://schemas.microsoft.com/office/drawing/2014/main" val="3191324784"/>
                    </a:ext>
                  </a:extLst>
                </a:gridCol>
                <a:gridCol w="836233">
                  <a:extLst>
                    <a:ext uri="{9D8B030D-6E8A-4147-A177-3AD203B41FA5}">
                      <a16:colId xmlns:a16="http://schemas.microsoft.com/office/drawing/2014/main" val="2506675757"/>
                    </a:ext>
                  </a:extLst>
                </a:gridCol>
                <a:gridCol w="836233">
                  <a:extLst>
                    <a:ext uri="{9D8B030D-6E8A-4147-A177-3AD203B41FA5}">
                      <a16:colId xmlns:a16="http://schemas.microsoft.com/office/drawing/2014/main" val="44805242"/>
                    </a:ext>
                  </a:extLst>
                </a:gridCol>
                <a:gridCol w="836233">
                  <a:extLst>
                    <a:ext uri="{9D8B030D-6E8A-4147-A177-3AD203B41FA5}">
                      <a16:colId xmlns:a16="http://schemas.microsoft.com/office/drawing/2014/main" val="269366865"/>
                    </a:ext>
                  </a:extLst>
                </a:gridCol>
                <a:gridCol w="836233">
                  <a:extLst>
                    <a:ext uri="{9D8B030D-6E8A-4147-A177-3AD203B41FA5}">
                      <a16:colId xmlns:a16="http://schemas.microsoft.com/office/drawing/2014/main" val="416811509"/>
                    </a:ext>
                  </a:extLst>
                </a:gridCol>
                <a:gridCol w="836233">
                  <a:extLst>
                    <a:ext uri="{9D8B030D-6E8A-4147-A177-3AD203B41FA5}">
                      <a16:colId xmlns:a16="http://schemas.microsoft.com/office/drawing/2014/main" val="3283536290"/>
                    </a:ext>
                  </a:extLst>
                </a:gridCol>
                <a:gridCol w="908948">
                  <a:extLst>
                    <a:ext uri="{9D8B030D-6E8A-4147-A177-3AD203B41FA5}">
                      <a16:colId xmlns:a16="http://schemas.microsoft.com/office/drawing/2014/main" val="84518909"/>
                    </a:ext>
                  </a:extLst>
                </a:gridCol>
                <a:gridCol w="908948">
                  <a:extLst>
                    <a:ext uri="{9D8B030D-6E8A-4147-A177-3AD203B41FA5}">
                      <a16:colId xmlns:a16="http://schemas.microsoft.com/office/drawing/2014/main" val="508959511"/>
                    </a:ext>
                  </a:extLst>
                </a:gridCol>
              </a:tblGrid>
              <a:tr h="244481">
                <a:tc gridSpan="9">
                  <a:txBody>
                    <a:bodyPr/>
                    <a:lstStyle/>
                    <a:p>
                      <a:pPr fontAlgn="base">
                        <a:lnSpc>
                          <a:spcPts val="1350"/>
                        </a:lnSpc>
                        <a:buNone/>
                      </a:pPr>
                      <a:r>
                        <a:rPr lang="en-US" sz="1000" b="1" dirty="0">
                          <a:solidFill>
                            <a:srgbClr val="FFFFFF"/>
                          </a:solidFill>
                          <a:effectLst/>
                          <a:latin typeface="Avenir Next LT Pro" panose="020B0504020202020204" pitchFamily="34" charset="0"/>
                        </a:rPr>
                        <a:t> </a:t>
                      </a:r>
                      <a:r>
                        <a:rPr lang="en-US" sz="1400" b="1" dirty="0">
                          <a:solidFill>
                            <a:srgbClr val="FFFFFF"/>
                          </a:solidFill>
                          <a:effectLst/>
                          <a:latin typeface="Avenir Next LT Pro" panose="020B0504020202020204" pitchFamily="34" charset="0"/>
                        </a:rPr>
                        <a:t>2. Balance Sheet </a:t>
                      </a:r>
                      <a:endParaRPr lang="en-US" sz="1400" dirty="0">
                        <a:effectLst/>
                        <a:latin typeface="Avenir Next LT Pro" panose="020B0504020202020204" pitchFamily="34" charset="0"/>
                      </a:endParaRPr>
                    </a:p>
                  </a:txBody>
                  <a:tcPr marL="9173" marR="9173" marT="9173" marB="4572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4F1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13534921"/>
                  </a:ext>
                </a:extLst>
              </a:tr>
              <a:tr h="244481">
                <a:tc>
                  <a:txBody>
                    <a:bodyPr/>
                    <a:lstStyle/>
                    <a:p>
                      <a:pPr fontAlgn="base">
                        <a:lnSpc>
                          <a:spcPts val="1350"/>
                        </a:lnSpc>
                        <a:buNone/>
                      </a:pPr>
                      <a:r>
                        <a:rPr lang="en-US" sz="1100" b="1">
                          <a:effectLst/>
                          <a:latin typeface="Avenir Next LT Pro" panose="020B0504020202020204" pitchFamily="34" charset="0"/>
                        </a:rPr>
                        <a:t> All Figures are in Thousands</a:t>
                      </a:r>
                      <a:endParaRPr lang="en-US" sz="1100">
                        <a:effectLst/>
                        <a:latin typeface="Avenir Next LT Pro" panose="020B0504020202020204" pitchFamily="34" charset="0"/>
                      </a:endParaRPr>
                    </a:p>
                  </a:txBody>
                  <a:tcPr marL="9173" marR="9173" marT="9173" marB="45721"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ase">
                        <a:lnSpc>
                          <a:spcPts val="1350"/>
                        </a:lnSpc>
                        <a:buNone/>
                      </a:pPr>
                      <a:r>
                        <a:rPr lang="en-US" sz="1100" b="1">
                          <a:effectLst/>
                          <a:latin typeface="Avenir Next LT Pro" panose="020B0504020202020204" pitchFamily="34" charset="0"/>
                        </a:rPr>
                        <a:t>2020</a:t>
                      </a:r>
                      <a:endParaRPr lang="en-US" sz="1100">
                        <a:effectLst/>
                        <a:latin typeface="Avenir Next LT Pro" panose="020B0504020202020204" pitchFamily="34" charset="0"/>
                      </a:endParaRP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ase">
                        <a:lnSpc>
                          <a:spcPts val="1350"/>
                        </a:lnSpc>
                        <a:buNone/>
                      </a:pPr>
                      <a:r>
                        <a:rPr lang="en-US" sz="1100" b="1">
                          <a:effectLst/>
                          <a:latin typeface="Avenir Next LT Pro" panose="020B0504020202020204" pitchFamily="34" charset="0"/>
                        </a:rPr>
                        <a:t>2021</a:t>
                      </a:r>
                      <a:endParaRPr lang="en-US" sz="1100">
                        <a:effectLst/>
                        <a:latin typeface="Avenir Next LT Pro" panose="020B0504020202020204" pitchFamily="34" charset="0"/>
                      </a:endParaRP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ase">
                        <a:lnSpc>
                          <a:spcPts val="1350"/>
                        </a:lnSpc>
                        <a:buNone/>
                      </a:pPr>
                      <a:r>
                        <a:rPr lang="en-US" sz="1100" b="1">
                          <a:effectLst/>
                          <a:latin typeface="Avenir Next LT Pro" panose="020B0504020202020204" pitchFamily="34" charset="0"/>
                        </a:rPr>
                        <a:t>2022</a:t>
                      </a:r>
                      <a:endParaRPr lang="en-US" sz="1100">
                        <a:effectLst/>
                        <a:latin typeface="Avenir Next LT Pro" panose="020B0504020202020204" pitchFamily="34" charset="0"/>
                      </a:endParaRP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ase">
                        <a:lnSpc>
                          <a:spcPts val="1350"/>
                        </a:lnSpc>
                        <a:buNone/>
                      </a:pPr>
                      <a:r>
                        <a:rPr lang="en-US" sz="1100" b="1">
                          <a:effectLst/>
                          <a:latin typeface="Avenir Next LT Pro" panose="020B0504020202020204" pitchFamily="34" charset="0"/>
                        </a:rPr>
                        <a:t>2023</a:t>
                      </a:r>
                      <a:endParaRPr lang="en-US" sz="1100">
                        <a:effectLst/>
                        <a:latin typeface="Avenir Next LT Pro" panose="020B0504020202020204" pitchFamily="34" charset="0"/>
                      </a:endParaRP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ase">
                        <a:lnSpc>
                          <a:spcPts val="1350"/>
                        </a:lnSpc>
                        <a:buNone/>
                      </a:pPr>
                      <a:r>
                        <a:rPr lang="en-US" sz="1100" b="1">
                          <a:effectLst/>
                          <a:latin typeface="Avenir Next LT Pro" panose="020B0504020202020204" pitchFamily="34" charset="0"/>
                        </a:rPr>
                        <a:t>2024</a:t>
                      </a:r>
                      <a:endParaRPr lang="en-US" sz="1100">
                        <a:effectLst/>
                        <a:latin typeface="Avenir Next LT Pro" panose="020B0504020202020204" pitchFamily="34" charset="0"/>
                      </a:endParaRP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ase">
                        <a:lnSpc>
                          <a:spcPts val="1350"/>
                        </a:lnSpc>
                        <a:buNone/>
                      </a:pPr>
                      <a:r>
                        <a:rPr lang="en-US" sz="1100" b="1" dirty="0">
                          <a:effectLst/>
                          <a:latin typeface="Avenir Next LT Pro" panose="020B0504020202020204" pitchFamily="34" charset="0"/>
                        </a:rPr>
                        <a:t>2025</a:t>
                      </a:r>
                      <a:endParaRPr lang="en-US" sz="1100" dirty="0">
                        <a:effectLst/>
                        <a:latin typeface="Avenir Next LT Pro" panose="020B0504020202020204" pitchFamily="34" charset="0"/>
                      </a:endParaRP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ase">
                        <a:lnSpc>
                          <a:spcPts val="1350"/>
                        </a:lnSpc>
                        <a:buNone/>
                      </a:pPr>
                      <a:r>
                        <a:rPr lang="en-US" sz="1100" b="1">
                          <a:effectLst/>
                          <a:latin typeface="Avenir Next LT Pro" panose="020B0504020202020204" pitchFamily="34" charset="0"/>
                        </a:rPr>
                        <a:t>2026E</a:t>
                      </a:r>
                      <a:endParaRPr lang="en-US" sz="1100">
                        <a:effectLst/>
                        <a:latin typeface="Avenir Next LT Pro" panose="020B0504020202020204" pitchFamily="34" charset="0"/>
                      </a:endParaRP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ase">
                        <a:lnSpc>
                          <a:spcPts val="1350"/>
                        </a:lnSpc>
                        <a:buNone/>
                      </a:pPr>
                      <a:r>
                        <a:rPr lang="en-US" sz="1100" b="1">
                          <a:effectLst/>
                          <a:latin typeface="Avenir Next LT Pro" panose="020B0504020202020204" pitchFamily="34" charset="0"/>
                        </a:rPr>
                        <a:t>2027E</a:t>
                      </a:r>
                      <a:endParaRPr lang="en-US" sz="1100">
                        <a:effectLst/>
                        <a:latin typeface="Avenir Next LT Pro" panose="020B0504020202020204" pitchFamily="34" charset="0"/>
                      </a:endParaRP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extLst>
                  <a:ext uri="{0D108BD9-81ED-4DB2-BD59-A6C34878D82A}">
                    <a16:rowId xmlns:a16="http://schemas.microsoft.com/office/drawing/2014/main" val="1793296752"/>
                  </a:ext>
                </a:extLst>
              </a:tr>
              <a:tr h="244481">
                <a:tc>
                  <a:txBody>
                    <a:bodyPr/>
                    <a:lstStyle/>
                    <a:p>
                      <a:pPr fontAlgn="base">
                        <a:lnSpc>
                          <a:spcPts val="1350"/>
                        </a:lnSpc>
                        <a:buNone/>
                      </a:pPr>
                      <a:r>
                        <a:rPr lang="en-US" sz="1100">
                          <a:effectLst/>
                          <a:latin typeface="Avenir Next LT Pro" panose="020B0504020202020204" pitchFamily="34" charset="0"/>
                        </a:rPr>
                        <a:t> Cash</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3,257 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1,875 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1,433 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1,534 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1,590 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3,091</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2,533 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2,425 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138839987"/>
                  </a:ext>
                </a:extLst>
              </a:tr>
              <a:tr h="244481">
                <a:tc>
                  <a:txBody>
                    <a:bodyPr/>
                    <a:lstStyle/>
                    <a:p>
                      <a:pPr fontAlgn="base">
                        <a:lnSpc>
                          <a:spcPts val="1350"/>
                        </a:lnSpc>
                        <a:buNone/>
                      </a:pPr>
                      <a:r>
                        <a:rPr lang="en-US" sz="1100">
                          <a:effectLst/>
                          <a:latin typeface="Avenir Next LT Pro" panose="020B0504020202020204" pitchFamily="34" charset="0"/>
                        </a:rPr>
                        <a:t> Operating assets ex cash</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2,588 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2,675 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3,317 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3,630 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3,407 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1,700 </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1,785 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1,927 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340269928"/>
                  </a:ext>
                </a:extLst>
              </a:tr>
              <a:tr h="231888">
                <a:tc>
                  <a:txBody>
                    <a:bodyPr/>
                    <a:lstStyle/>
                    <a:p>
                      <a:pPr fontAlgn="base">
                        <a:lnSpc>
                          <a:spcPts val="1350"/>
                        </a:lnSpc>
                        <a:buNone/>
                      </a:pPr>
                      <a:r>
                        <a:rPr lang="en-US" sz="1100">
                          <a:effectLst/>
                          <a:latin typeface="Avenir Next LT Pro" panose="020B0504020202020204" pitchFamily="34" charset="0"/>
                        </a:rPr>
                        <a:t> Operating assets</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5,845 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4,550 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4,751 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5,164 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4,997 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4,790 </a:t>
                      </a: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4,318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4,352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018056415"/>
                  </a:ext>
                </a:extLst>
              </a:tr>
              <a:tr h="244481">
                <a:tc>
                  <a:txBody>
                    <a:bodyPr/>
                    <a:lstStyle/>
                    <a:p>
                      <a:pPr fontAlgn="base">
                        <a:lnSpc>
                          <a:spcPts val="1350"/>
                        </a:lnSpc>
                        <a:buNone/>
                      </a:pPr>
                      <a:r>
                        <a:rPr lang="en-US" sz="1100">
                          <a:effectLst/>
                          <a:latin typeface="Avenir Next LT Pro" panose="020B0504020202020204" pitchFamily="34" charset="0"/>
                        </a:rPr>
                        <a:t> Operating liabilities</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3,982 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3,343 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3,534 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3,384 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3,557 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2,907 </a:t>
                      </a: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3,053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3,297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226823377"/>
                  </a:ext>
                </a:extLst>
              </a:tr>
              <a:tr h="244481">
                <a:tc>
                  <a:txBody>
                    <a:bodyPr/>
                    <a:lstStyle/>
                    <a:p>
                      <a:pPr fontAlgn="base">
                        <a:lnSpc>
                          <a:spcPts val="1350"/>
                        </a:lnSpc>
                        <a:buNone/>
                      </a:pPr>
                      <a:r>
                        <a:rPr lang="en-US" sz="1100">
                          <a:effectLst/>
                          <a:latin typeface="Avenir Next LT Pro" panose="020B0504020202020204" pitchFamily="34" charset="0"/>
                        </a:rPr>
                        <a:t> NOWC</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1,863 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1,207 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1,217 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1,779 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1,439 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1,883 </a:t>
                      </a: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1,265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1,056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555265743"/>
                  </a:ext>
                </a:extLst>
              </a:tr>
              <a:tr h="244481">
                <a:tc>
                  <a:txBody>
                    <a:bodyPr/>
                    <a:lstStyle/>
                    <a:p>
                      <a:pPr fontAlgn="base">
                        <a:lnSpc>
                          <a:spcPts val="1350"/>
                        </a:lnSpc>
                        <a:buNone/>
                      </a:pPr>
                      <a:r>
                        <a:rPr lang="en-US" sz="1100">
                          <a:effectLst/>
                          <a:latin typeface="Avenir Next LT Pro" panose="020B0504020202020204" pitchFamily="34" charset="0"/>
                        </a:rPr>
                        <a:t> NOWC ex cash (NWC)</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(1,394)</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(668)</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(216)</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246 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(150)</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(1,208)</a:t>
                      </a: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(1,268)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(1,369)</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708903323"/>
                  </a:ext>
                </a:extLst>
              </a:tr>
              <a:tr h="244481">
                <a:tc>
                  <a:txBody>
                    <a:bodyPr/>
                    <a:lstStyle/>
                    <a:p>
                      <a:pPr fontAlgn="base">
                        <a:lnSpc>
                          <a:spcPts val="1350"/>
                        </a:lnSpc>
                        <a:buNone/>
                      </a:pPr>
                      <a:r>
                        <a:rPr lang="en-US" sz="1100">
                          <a:effectLst/>
                          <a:latin typeface="Avenir Next LT Pro" panose="020B0504020202020204" pitchFamily="34" charset="0"/>
                        </a:rPr>
                        <a:t> NFA</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6,165 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6,501 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6,742 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6,977 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6,885 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5,937 </a:t>
                      </a: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6,234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6,733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4155391895"/>
                  </a:ext>
                </a:extLst>
              </a:tr>
              <a:tr h="244481">
                <a:tc>
                  <a:txBody>
                    <a:bodyPr/>
                    <a:lstStyle/>
                    <a:p>
                      <a:pPr fontAlgn="base">
                        <a:lnSpc>
                          <a:spcPts val="1350"/>
                        </a:lnSpc>
                        <a:buNone/>
                      </a:pPr>
                      <a:r>
                        <a:rPr lang="en-US" sz="1100">
                          <a:effectLst/>
                          <a:latin typeface="Avenir Next LT Pro" panose="020B0504020202020204" pitchFamily="34" charset="0"/>
                        </a:rPr>
                        <a:t> Invested capital</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8,029 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7,708 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7,959 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8,756 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8,324 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7,820</a:t>
                      </a: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7,499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7,788</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934691718"/>
                  </a:ext>
                </a:extLst>
              </a:tr>
              <a:tr h="244481">
                <a:tc>
                  <a:txBody>
                    <a:bodyPr/>
                    <a:lstStyle/>
                    <a:p>
                      <a:pP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947313356"/>
                  </a:ext>
                </a:extLst>
              </a:tr>
              <a:tr h="244481">
                <a:tc>
                  <a:txBody>
                    <a:bodyPr/>
                    <a:lstStyle/>
                    <a:p>
                      <a:pPr fontAlgn="base">
                        <a:lnSpc>
                          <a:spcPts val="1350"/>
                        </a:lnSpc>
                        <a:buNone/>
                      </a:pPr>
                      <a:r>
                        <a:rPr lang="en-US" sz="1100">
                          <a:effectLst/>
                          <a:latin typeface="Avenir Next LT Pro" panose="020B0504020202020204" pitchFamily="34" charset="0"/>
                        </a:rPr>
                        <a:t> Marketable securities</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77274730"/>
                  </a:ext>
                </a:extLst>
              </a:tr>
              <a:tr h="244481">
                <a:tc>
                  <a:txBody>
                    <a:bodyPr/>
                    <a:lstStyle/>
                    <a:p>
                      <a:pPr fontAlgn="base">
                        <a:lnSpc>
                          <a:spcPts val="1350"/>
                        </a:lnSpc>
                        <a:buNone/>
                      </a:pPr>
                      <a:r>
                        <a:rPr lang="en-US" sz="1100" b="1">
                          <a:effectLst/>
                          <a:latin typeface="Avenir Next LT Pro" panose="020B0504020202020204" pitchFamily="34" charset="0"/>
                        </a:rPr>
                        <a:t> Total assets</a:t>
                      </a:r>
                      <a:endParaRPr lang="en-US" sz="1100">
                        <a:effectLst/>
                        <a:latin typeface="Avenir Next LT Pro" panose="020B0504020202020204" pitchFamily="34" charset="0"/>
                      </a:endParaRP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12,011 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11,051 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11,492 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12,141 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11,882 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1" i="0" u="none" strike="noStrike">
                          <a:solidFill>
                            <a:srgbClr val="141414"/>
                          </a:solidFill>
                          <a:effectLst/>
                          <a:latin typeface="Avenir Next LT Pro" panose="020B0504020202020204" pitchFamily="34" charset="0"/>
                        </a:rPr>
                        <a:t>$10,728</a:t>
                      </a: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1" i="0" u="none" strike="noStrike">
                          <a:solidFill>
                            <a:srgbClr val="141414"/>
                          </a:solidFill>
                          <a:effectLst/>
                          <a:latin typeface="Avenir Next LT Pro" panose="020B0504020202020204" pitchFamily="34" charset="0"/>
                        </a:rPr>
                        <a:t>$10,552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1" i="0" u="none" strike="noStrike">
                          <a:solidFill>
                            <a:srgbClr val="141414"/>
                          </a:solidFill>
                          <a:effectLst/>
                          <a:latin typeface="Avenir Next LT Pro" panose="020B0504020202020204" pitchFamily="34" charset="0"/>
                        </a:rPr>
                        <a:t>$11,085</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39626918"/>
                  </a:ext>
                </a:extLst>
              </a:tr>
              <a:tr h="244481">
                <a:tc>
                  <a:txBody>
                    <a:bodyPr/>
                    <a:lstStyle/>
                    <a:p>
                      <a:pP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565710980"/>
                  </a:ext>
                </a:extLst>
              </a:tr>
              <a:tr h="300568">
                <a:tc>
                  <a:txBody>
                    <a:bodyPr/>
                    <a:lstStyle/>
                    <a:p>
                      <a:pPr fontAlgn="base">
                        <a:lnSpc>
                          <a:spcPts val="1350"/>
                        </a:lnSpc>
                        <a:buNone/>
                      </a:pPr>
                      <a:r>
                        <a:rPr lang="en-US" sz="1100">
                          <a:effectLst/>
                          <a:latin typeface="Avenir Next LT Pro" panose="020B0504020202020204" pitchFamily="34" charset="0"/>
                        </a:rPr>
                        <a:t> S-T and L-T debt and financing leases</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5,963 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4,844 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4,721 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5,237 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4,894 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4,444 </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4,844 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5,244 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415545991"/>
                  </a:ext>
                </a:extLst>
              </a:tr>
              <a:tr h="480264">
                <a:tc>
                  <a:txBody>
                    <a:bodyPr/>
                    <a:lstStyle/>
                    <a:p>
                      <a:pPr fontAlgn="base">
                        <a:lnSpc>
                          <a:spcPts val="1350"/>
                        </a:lnSpc>
                        <a:buNone/>
                      </a:pPr>
                      <a:r>
                        <a:rPr lang="en-US" sz="1100">
                          <a:effectLst/>
                          <a:latin typeface="Avenir Next LT Pro" panose="020B0504020202020204" pitchFamily="34" charset="0"/>
                        </a:rPr>
                        <a:t> Other liabilities and noncontrolling  interests</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343 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311 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330 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267 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272 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272 </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272 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272 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030402250"/>
                  </a:ext>
                </a:extLst>
              </a:tr>
              <a:tr h="244481">
                <a:tc>
                  <a:txBody>
                    <a:bodyPr/>
                    <a:lstStyle/>
                    <a:p>
                      <a:pPr fontAlgn="base">
                        <a:lnSpc>
                          <a:spcPts val="1350"/>
                        </a:lnSpc>
                        <a:buNone/>
                      </a:pPr>
                      <a:r>
                        <a:rPr lang="en-US" sz="1100">
                          <a:effectLst/>
                          <a:latin typeface="Avenir Next LT Pro" panose="020B0504020202020204" pitchFamily="34" charset="0"/>
                        </a:rPr>
                        <a:t> Debt/equity-like securities</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90654854"/>
                  </a:ext>
                </a:extLst>
              </a:tr>
              <a:tr h="244481">
                <a:tc>
                  <a:txBody>
                    <a:bodyPr/>
                    <a:lstStyle/>
                    <a:p>
                      <a:pPr fontAlgn="base">
                        <a:lnSpc>
                          <a:spcPts val="1350"/>
                        </a:lnSpc>
                        <a:buNone/>
                      </a:pPr>
                      <a:r>
                        <a:rPr lang="en-US" sz="1100">
                          <a:effectLst/>
                          <a:latin typeface="Avenir Next LT Pro" panose="020B0504020202020204" pitchFamily="34" charset="0"/>
                        </a:rPr>
                        <a:t> Equity</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1,723 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2,553 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2,907 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3,253 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3,159 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3,105</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2,383 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2,273 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608122190"/>
                  </a:ext>
                </a:extLst>
              </a:tr>
              <a:tr h="244481">
                <a:tc>
                  <a:txBody>
                    <a:bodyPr/>
                    <a:lstStyle/>
                    <a:p>
                      <a:pPr fontAlgn="base">
                        <a:lnSpc>
                          <a:spcPts val="1350"/>
                        </a:lnSpc>
                        <a:buNone/>
                      </a:pPr>
                      <a:r>
                        <a:rPr lang="en-US" sz="1100">
                          <a:effectLst/>
                          <a:latin typeface="Avenir Next LT Pro" panose="020B0504020202020204" pitchFamily="34" charset="0"/>
                        </a:rPr>
                        <a:t> Total supplied capital</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8,029 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7,708 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7,959 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8,757 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8,324 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7,414 </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7,537 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a:effectLst/>
                          <a:latin typeface="Avenir Next LT Pro" panose="020B0504020202020204" pitchFamily="34" charset="0"/>
                        </a:rPr>
                        <a:t>8,373 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419190354"/>
                  </a:ext>
                </a:extLst>
              </a:tr>
              <a:tr h="244481">
                <a:tc>
                  <a:txBody>
                    <a:bodyPr/>
                    <a:lstStyle/>
                    <a:p>
                      <a:pP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ase">
                        <a:lnSpc>
                          <a:spcPts val="1350"/>
                        </a:lnSpc>
                        <a:buNone/>
                      </a:pPr>
                      <a:r>
                        <a:rPr lang="en-US" sz="1100">
                          <a:effectLst/>
                          <a:latin typeface="Avenir Next LT Pro" panose="020B0504020202020204" pitchFamily="34" charset="0"/>
                        </a:rPr>
                        <a:t>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491544951"/>
                  </a:ext>
                </a:extLst>
              </a:tr>
              <a:tr h="244481">
                <a:tc>
                  <a:txBody>
                    <a:bodyPr/>
                    <a:lstStyle/>
                    <a:p>
                      <a:pPr fontAlgn="base">
                        <a:lnSpc>
                          <a:spcPts val="1350"/>
                        </a:lnSpc>
                        <a:buNone/>
                      </a:pPr>
                      <a:r>
                        <a:rPr lang="en-US" sz="1100" b="1">
                          <a:effectLst/>
                          <a:latin typeface="Avenir Next LT Pro" panose="020B0504020202020204" pitchFamily="34" charset="0"/>
                        </a:rPr>
                        <a:t> Total liabilities and equity</a:t>
                      </a:r>
                      <a:endParaRPr lang="en-US" sz="1100">
                        <a:effectLst/>
                        <a:latin typeface="Avenir Next LT Pro" panose="020B0504020202020204" pitchFamily="34" charset="0"/>
                      </a:endParaRPr>
                    </a:p>
                  </a:txBody>
                  <a:tcPr marL="9173" marR="9173" marT="9173" marB="4572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12,011 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11,051 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11,492 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12,141 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11,882 </a:t>
                      </a:r>
                    </a:p>
                  </a:txBody>
                  <a:tcPr marL="9173" marR="9173" marT="9173"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10,728 </a:t>
                      </a:r>
                    </a:p>
                  </a:txBody>
                  <a:tcPr marL="9173" marR="9173" marT="9173"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a:effectLst/>
                          <a:latin typeface="Avenir Next LT Pro" panose="020B0504020202020204" pitchFamily="34" charset="0"/>
                        </a:rPr>
                        <a:t>10,552 </a:t>
                      </a:r>
                    </a:p>
                  </a:txBody>
                  <a:tcPr marL="9173" marR="9173" marT="9173"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auto">
                        <a:lnSpc>
                          <a:spcPts val="1350"/>
                        </a:lnSpc>
                        <a:buNone/>
                      </a:pPr>
                      <a:r>
                        <a:rPr lang="en-US" sz="1100" b="1" dirty="0">
                          <a:effectLst/>
                          <a:latin typeface="Avenir Next LT Pro" panose="020B0504020202020204" pitchFamily="34" charset="0"/>
                        </a:rPr>
                        <a:t>11,085 </a:t>
                      </a:r>
                    </a:p>
                  </a:txBody>
                  <a:tcPr marL="9173" marR="9173" marT="9173"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4192398066"/>
                  </a:ext>
                </a:extLst>
              </a:tr>
            </a:tbl>
          </a:graphicData>
        </a:graphic>
      </p:graphicFrame>
      <p:pic>
        <p:nvPicPr>
          <p:cNvPr id="5" name="Picture 4" descr="Harley Davidson Logo PNG Image - PurePNG | Free transparent CC0 PNG ...">
            <a:extLst>
              <a:ext uri="{FF2B5EF4-FFF2-40B4-BE49-F238E27FC236}">
                <a16:creationId xmlns:a16="http://schemas.microsoft.com/office/drawing/2014/main" id="{11A3AF6A-58D8-5778-02A9-1825B2902C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4">
            <a:extLst>
              <a:ext uri="{FF2B5EF4-FFF2-40B4-BE49-F238E27FC236}">
                <a16:creationId xmlns:a16="http://schemas.microsoft.com/office/drawing/2014/main" id="{5BB4E7A9-08AF-543A-A230-6BF28325D8F9}"/>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pSp>
        <p:nvGrpSpPr>
          <p:cNvPr id="3" name="Group 2">
            <a:extLst>
              <a:ext uri="{FF2B5EF4-FFF2-40B4-BE49-F238E27FC236}">
                <a16:creationId xmlns:a16="http://schemas.microsoft.com/office/drawing/2014/main" id="{5BF85BF6-110E-ECCD-181D-88DBBD99F9D3}"/>
              </a:ext>
            </a:extLst>
          </p:cNvPr>
          <p:cNvGrpSpPr/>
          <p:nvPr/>
        </p:nvGrpSpPr>
        <p:grpSpPr>
          <a:xfrm>
            <a:off x="695325" y="6302380"/>
            <a:ext cx="10429876" cy="265521"/>
            <a:chOff x="695325" y="6302380"/>
            <a:chExt cx="10429876" cy="265521"/>
          </a:xfrm>
        </p:grpSpPr>
        <p:sp>
          <p:nvSpPr>
            <p:cNvPr id="4" name="object 13">
              <a:extLst>
                <a:ext uri="{FF2B5EF4-FFF2-40B4-BE49-F238E27FC236}">
                  <a16:creationId xmlns:a16="http://schemas.microsoft.com/office/drawing/2014/main" id="{823F5944-E849-2DCE-11F8-0A7E3000CD1E}"/>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6" name="object 14">
              <a:extLst>
                <a:ext uri="{FF2B5EF4-FFF2-40B4-BE49-F238E27FC236}">
                  <a16:creationId xmlns:a16="http://schemas.microsoft.com/office/drawing/2014/main" id="{DD2CE29A-5400-DD0B-054A-4B3A0A5EF87F}"/>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7" name="object 15">
              <a:extLst>
                <a:ext uri="{FF2B5EF4-FFF2-40B4-BE49-F238E27FC236}">
                  <a16:creationId xmlns:a16="http://schemas.microsoft.com/office/drawing/2014/main" id="{0CD4662D-5426-4CF6-E9A3-D7752B887C02}"/>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8" name="object 16">
              <a:extLst>
                <a:ext uri="{FF2B5EF4-FFF2-40B4-BE49-F238E27FC236}">
                  <a16:creationId xmlns:a16="http://schemas.microsoft.com/office/drawing/2014/main" id="{371A4CAC-CFE6-ECBA-3C89-76F23F0339D1}"/>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9" name="object 37">
              <a:extLst>
                <a:ext uri="{FF2B5EF4-FFF2-40B4-BE49-F238E27FC236}">
                  <a16:creationId xmlns:a16="http://schemas.microsoft.com/office/drawing/2014/main" id="{3A3B6C32-F643-F9BB-88A6-613394BD085C}"/>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0" name="object 39">
              <a:extLst>
                <a:ext uri="{FF2B5EF4-FFF2-40B4-BE49-F238E27FC236}">
                  <a16:creationId xmlns:a16="http://schemas.microsoft.com/office/drawing/2014/main" id="{39EEB4C9-B795-142B-3700-99BFE93726B0}"/>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1" name="object 40">
              <a:extLst>
                <a:ext uri="{FF2B5EF4-FFF2-40B4-BE49-F238E27FC236}">
                  <a16:creationId xmlns:a16="http://schemas.microsoft.com/office/drawing/2014/main" id="{5AC75977-0AB3-E4DF-90A0-EEE6A165EB45}"/>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12" name="object 41">
              <a:extLst>
                <a:ext uri="{FF2B5EF4-FFF2-40B4-BE49-F238E27FC236}">
                  <a16:creationId xmlns:a16="http://schemas.microsoft.com/office/drawing/2014/main" id="{E0A9FB4B-3E36-B8D1-4B38-2690E0BED234}"/>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1789894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BE664-1459-42A1-4520-70FECD085EC6}"/>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id="{1125E194-7954-F279-9638-EBEBE9B09B46}"/>
              </a:ext>
            </a:extLst>
          </p:cNvPr>
          <p:cNvGraphicFramePr>
            <a:graphicFrameLocks noGrp="1"/>
          </p:cNvGraphicFramePr>
          <p:nvPr>
            <p:custDataLst>
              <p:tags r:id="rId1"/>
            </p:custDataLst>
            <p:extLst>
              <p:ext uri="{D42A27DB-BD31-4B8C-83A1-F6EECF244321}">
                <p14:modId xmlns:p14="http://schemas.microsoft.com/office/powerpoint/2010/main" val="247923695"/>
              </p:ext>
            </p:extLst>
          </p:nvPr>
        </p:nvGraphicFramePr>
        <p:xfrm>
          <a:off x="1026696" y="594074"/>
          <a:ext cx="9692640" cy="5137920"/>
        </p:xfrm>
        <a:graphic>
          <a:graphicData uri="http://schemas.openxmlformats.org/drawingml/2006/table">
            <a:tbl>
              <a:tblPr/>
              <a:tblGrid>
                <a:gridCol w="4711019">
                  <a:extLst>
                    <a:ext uri="{9D8B030D-6E8A-4147-A177-3AD203B41FA5}">
                      <a16:colId xmlns:a16="http://schemas.microsoft.com/office/drawing/2014/main" val="2878241771"/>
                    </a:ext>
                  </a:extLst>
                </a:gridCol>
                <a:gridCol w="835427">
                  <a:extLst>
                    <a:ext uri="{9D8B030D-6E8A-4147-A177-3AD203B41FA5}">
                      <a16:colId xmlns:a16="http://schemas.microsoft.com/office/drawing/2014/main" val="3631172033"/>
                    </a:ext>
                  </a:extLst>
                </a:gridCol>
                <a:gridCol w="819957">
                  <a:extLst>
                    <a:ext uri="{9D8B030D-6E8A-4147-A177-3AD203B41FA5}">
                      <a16:colId xmlns:a16="http://schemas.microsoft.com/office/drawing/2014/main" val="314243853"/>
                    </a:ext>
                  </a:extLst>
                </a:gridCol>
                <a:gridCol w="742603">
                  <a:extLst>
                    <a:ext uri="{9D8B030D-6E8A-4147-A177-3AD203B41FA5}">
                      <a16:colId xmlns:a16="http://schemas.microsoft.com/office/drawing/2014/main" val="4093490098"/>
                    </a:ext>
                  </a:extLst>
                </a:gridCol>
                <a:gridCol w="881839">
                  <a:extLst>
                    <a:ext uri="{9D8B030D-6E8A-4147-A177-3AD203B41FA5}">
                      <a16:colId xmlns:a16="http://schemas.microsoft.com/office/drawing/2014/main" val="166041501"/>
                    </a:ext>
                  </a:extLst>
                </a:gridCol>
                <a:gridCol w="742603">
                  <a:extLst>
                    <a:ext uri="{9D8B030D-6E8A-4147-A177-3AD203B41FA5}">
                      <a16:colId xmlns:a16="http://schemas.microsoft.com/office/drawing/2014/main" val="1649901029"/>
                    </a:ext>
                  </a:extLst>
                </a:gridCol>
                <a:gridCol w="959192">
                  <a:extLst>
                    <a:ext uri="{9D8B030D-6E8A-4147-A177-3AD203B41FA5}">
                      <a16:colId xmlns:a16="http://schemas.microsoft.com/office/drawing/2014/main" val="3451786914"/>
                    </a:ext>
                  </a:extLst>
                </a:gridCol>
              </a:tblGrid>
              <a:tr h="293753">
                <a:tc>
                  <a:txBody>
                    <a:bodyPr/>
                    <a:lstStyle/>
                    <a:p>
                      <a:pPr algn="l" rtl="0" fontAlgn="base">
                        <a:lnSpc>
                          <a:spcPts val="675"/>
                        </a:lnSpc>
                        <a:buNone/>
                      </a:pPr>
                      <a:r>
                        <a:rPr lang="en-US" sz="1400" b="1" i="0" u="none" strike="noStrike">
                          <a:solidFill>
                            <a:srgbClr val="FFFFFF"/>
                          </a:solidFill>
                          <a:effectLst/>
                          <a:latin typeface="Avenir Next LT Pro" panose="020B0504020202020204" pitchFamily="34" charset="0"/>
                        </a:rPr>
                        <a:t>3. Statement of Cash Flows</a:t>
                      </a:r>
                      <a:r>
                        <a:rPr lang="en-US" sz="1400" b="0" i="0">
                          <a:solidFill>
                            <a:srgbClr val="000000"/>
                          </a:solidFill>
                          <a:effectLst/>
                          <a:latin typeface="Avenir Next LT Pro" panose="020B0504020202020204" pitchFamily="34" charset="0"/>
                        </a:rPr>
                        <a:t>​</a:t>
                      </a:r>
                    </a:p>
                  </a:txBody>
                  <a:tcPr marT="45721" marB="45721"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4F15"/>
                    </a:solidFill>
                  </a:tcPr>
                </a:tc>
                <a:tc>
                  <a:txBody>
                    <a:bodyPr/>
                    <a:lstStyle/>
                    <a:p>
                      <a:pPr algn="ctr" rtl="0" fontAlgn="auto">
                        <a:lnSpc>
                          <a:spcPts val="525"/>
                        </a:lnSpc>
                        <a:buNone/>
                      </a:pPr>
                      <a:r>
                        <a:rPr lang="en-US" sz="1050" b="0" i="0" u="none" strike="noStrike">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4F15"/>
                    </a:solidFill>
                  </a:tcPr>
                </a:tc>
                <a:tc>
                  <a:txBody>
                    <a:bodyPr/>
                    <a:lstStyle/>
                    <a:p>
                      <a:pPr algn="ctr" rtl="0" fontAlgn="auto">
                        <a:lnSpc>
                          <a:spcPts val="525"/>
                        </a:lnSpc>
                        <a:buNone/>
                      </a:pPr>
                      <a:r>
                        <a:rPr lang="en-US" sz="1050" b="0" i="0" u="none" strike="noStrike">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4F15"/>
                    </a:solidFill>
                  </a:tcPr>
                </a:tc>
                <a:tc>
                  <a:txBody>
                    <a:bodyPr/>
                    <a:lstStyle/>
                    <a:p>
                      <a:pPr algn="ctr" rtl="0" fontAlgn="auto">
                        <a:lnSpc>
                          <a:spcPts val="525"/>
                        </a:lnSpc>
                        <a:buNone/>
                      </a:pPr>
                      <a:r>
                        <a:rPr lang="en-US" sz="1050" b="0" i="0" u="none" strike="noStrike">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4F15"/>
                    </a:solidFill>
                  </a:tcPr>
                </a:tc>
                <a:tc>
                  <a:txBody>
                    <a:bodyPr/>
                    <a:lstStyle/>
                    <a:p>
                      <a:pPr algn="ctr" rtl="0" fontAlgn="auto">
                        <a:lnSpc>
                          <a:spcPts val="525"/>
                        </a:lnSpc>
                        <a:buNone/>
                      </a:pPr>
                      <a:r>
                        <a:rPr lang="en-US" sz="1050" b="0" i="0" u="none" strike="noStrike">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4F15"/>
                    </a:solidFill>
                  </a:tcPr>
                </a:tc>
                <a:tc>
                  <a:txBody>
                    <a:bodyPr/>
                    <a:lstStyle/>
                    <a:p>
                      <a:pPr algn="ctr" rtl="0" fontAlgn="auto">
                        <a:lnSpc>
                          <a:spcPts val="525"/>
                        </a:lnSpc>
                        <a:buNone/>
                      </a:pPr>
                      <a:r>
                        <a:rPr lang="en-US" sz="1050" b="0" i="0" u="none" strike="noStrike">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4F15"/>
                    </a:solidFill>
                  </a:tcPr>
                </a:tc>
                <a:tc>
                  <a:txBody>
                    <a:bodyPr/>
                    <a:lstStyle/>
                    <a:p>
                      <a:pPr algn="ctr" rtl="0" fontAlgn="auto">
                        <a:lnSpc>
                          <a:spcPts val="525"/>
                        </a:lnSpc>
                        <a:buNone/>
                      </a:pPr>
                      <a:r>
                        <a:rPr lang="en-US" sz="1050" b="0" i="0" u="none" strike="noStrike">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4F15"/>
                    </a:solidFill>
                  </a:tcPr>
                </a:tc>
                <a:extLst>
                  <a:ext uri="{0D108BD9-81ED-4DB2-BD59-A6C34878D82A}">
                    <a16:rowId xmlns:a16="http://schemas.microsoft.com/office/drawing/2014/main" val="52401582"/>
                  </a:ext>
                </a:extLst>
              </a:tr>
              <a:tr h="293753">
                <a:tc>
                  <a:txBody>
                    <a:bodyPr/>
                    <a:lstStyle/>
                    <a:p>
                      <a:pPr marL="0" marR="0" lvl="0" indent="0" algn="l" defTabSz="914400" rtl="0" eaLnBrk="1" fontAlgn="auto" latinLnBrk="0" hangingPunct="1">
                        <a:lnSpc>
                          <a:spcPts val="525"/>
                        </a:lnSpc>
                        <a:spcBef>
                          <a:spcPts val="0"/>
                        </a:spcBef>
                        <a:spcAft>
                          <a:spcPts val="0"/>
                        </a:spcAft>
                        <a:buClrTx/>
                        <a:buSzTx/>
                        <a:buFontTx/>
                        <a:buNone/>
                        <a:tabLst/>
                        <a:defRPr/>
                      </a:pPr>
                      <a:r>
                        <a:rPr lang="en-US" sz="1100" b="1">
                          <a:effectLst/>
                          <a:latin typeface="Avenir Next LT Pro" panose="020B0504020202020204" pitchFamily="34" charset="0"/>
                          <a:ea typeface="Calibri" panose="020F0502020204030204" pitchFamily="34" charset="0"/>
                          <a:cs typeface="Calibri" panose="020F0502020204030204" pitchFamily="34" charset="0"/>
                        </a:rPr>
                        <a:t> All Figures are in Thousands</a:t>
                      </a:r>
                      <a:endParaRPr lang="en-US" sz="1100">
                        <a:effectLst/>
                        <a:latin typeface="Avenir Next LT Pro" panose="020B0504020202020204" pitchFamily="34" charset="0"/>
                        <a:ea typeface="Calibri" panose="020F0502020204030204" pitchFamily="34" charset="0"/>
                        <a:cs typeface="Calibri" panose="020F0502020204030204" pitchFamily="34" charset="0"/>
                      </a:endParaRPr>
                    </a:p>
                    <a:p>
                      <a:pPr algn="l" rtl="0" fontAlgn="auto">
                        <a:lnSpc>
                          <a:spcPts val="525"/>
                        </a:lnSpc>
                        <a:buNone/>
                      </a:pPr>
                      <a:r>
                        <a:rPr lang="en-US" sz="1100" b="0" i="0" u="none" strike="noStrike">
                          <a:solidFill>
                            <a:srgbClr val="83CCEB"/>
                          </a:solidFill>
                          <a:effectLst/>
                          <a:latin typeface="Avenir Next LT Pro" panose="020B0504020202020204" pitchFamily="34" charset="0"/>
                        </a:rPr>
                        <a:t>​</a:t>
                      </a:r>
                    </a:p>
                  </a:txBody>
                  <a:tcPr marT="45721" marB="45721"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rtl="0" fontAlgn="base">
                        <a:lnSpc>
                          <a:spcPts val="525"/>
                        </a:lnSpc>
                        <a:buNone/>
                      </a:pPr>
                      <a:r>
                        <a:rPr lang="en-US" sz="1100" b="1" i="0" u="none" strike="noStrike">
                          <a:solidFill>
                            <a:srgbClr val="000000"/>
                          </a:solidFill>
                          <a:effectLst/>
                          <a:latin typeface="Avenir Next LT Pro" panose="020B0504020202020204" pitchFamily="34" charset="0"/>
                        </a:rPr>
                        <a:t>2021</a:t>
                      </a:r>
                      <a:r>
                        <a:rPr lang="en-US" sz="1100" b="0" i="0">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rtl="0" fontAlgn="base">
                        <a:lnSpc>
                          <a:spcPts val="525"/>
                        </a:lnSpc>
                        <a:buNone/>
                      </a:pPr>
                      <a:r>
                        <a:rPr lang="en-US" sz="1100" b="1" i="0" u="none" strike="noStrike">
                          <a:solidFill>
                            <a:srgbClr val="000000"/>
                          </a:solidFill>
                          <a:effectLst/>
                          <a:latin typeface="Avenir Next LT Pro" panose="020B0504020202020204" pitchFamily="34" charset="0"/>
                        </a:rPr>
                        <a:t>2022</a:t>
                      </a:r>
                      <a:r>
                        <a:rPr lang="en-US" sz="1100" b="0" i="0">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rtl="0" fontAlgn="base">
                        <a:lnSpc>
                          <a:spcPts val="525"/>
                        </a:lnSpc>
                        <a:buNone/>
                      </a:pPr>
                      <a:r>
                        <a:rPr lang="en-US" sz="1100" b="1" i="0" u="none" strike="noStrike">
                          <a:solidFill>
                            <a:srgbClr val="000000"/>
                          </a:solidFill>
                          <a:effectLst/>
                          <a:latin typeface="Avenir Next LT Pro" panose="020B0504020202020204" pitchFamily="34" charset="0"/>
                        </a:rPr>
                        <a:t>2023</a:t>
                      </a:r>
                      <a:r>
                        <a:rPr lang="en-US" sz="1100" b="0" i="0">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rtl="0" fontAlgn="base">
                        <a:lnSpc>
                          <a:spcPts val="525"/>
                        </a:lnSpc>
                        <a:buNone/>
                      </a:pPr>
                      <a:r>
                        <a:rPr lang="en-US" sz="1100" b="1" i="0" u="none" strike="noStrike">
                          <a:solidFill>
                            <a:srgbClr val="000000"/>
                          </a:solidFill>
                          <a:effectLst/>
                          <a:latin typeface="Avenir Next LT Pro" panose="020B0504020202020204" pitchFamily="34" charset="0"/>
                        </a:rPr>
                        <a:t>2024</a:t>
                      </a:r>
                      <a:r>
                        <a:rPr lang="en-US" sz="1100" b="0" i="0">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rtl="0" fontAlgn="base">
                        <a:lnSpc>
                          <a:spcPts val="525"/>
                        </a:lnSpc>
                        <a:buNone/>
                      </a:pPr>
                      <a:r>
                        <a:rPr lang="en-US" sz="1100" b="1" i="0" u="none" strike="noStrike">
                          <a:solidFill>
                            <a:srgbClr val="000000"/>
                          </a:solidFill>
                          <a:effectLst/>
                          <a:latin typeface="Avenir Next LT Pro" panose="020B0504020202020204" pitchFamily="34" charset="0"/>
                        </a:rPr>
                        <a:t>2025</a:t>
                      </a:r>
                      <a:endParaRPr lang="en-US" sz="1100" b="0" i="0">
                        <a:solidFill>
                          <a:srgbClr val="000000"/>
                        </a:solidFill>
                        <a:effectLst/>
                        <a:latin typeface="Avenir Next LT Pro" panose="020B0504020202020204" pitchFamily="34" charset="0"/>
                      </a:endParaRPr>
                    </a:p>
                  </a:txBody>
                  <a:tcPr marT="45721" marB="45721"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tc>
                  <a:txBody>
                    <a:bodyPr/>
                    <a:lstStyle/>
                    <a:p>
                      <a:pPr algn="ctr" rtl="0" fontAlgn="base">
                        <a:lnSpc>
                          <a:spcPts val="525"/>
                        </a:lnSpc>
                        <a:buNone/>
                      </a:pPr>
                      <a:r>
                        <a:rPr lang="en-US" sz="1100" b="1" i="0" u="none" strike="noStrike">
                          <a:solidFill>
                            <a:srgbClr val="000000"/>
                          </a:solidFill>
                          <a:effectLst/>
                          <a:latin typeface="Avenir Next LT Pro" panose="020B0504020202020204" pitchFamily="34" charset="0"/>
                        </a:rPr>
                        <a:t>2026E</a:t>
                      </a:r>
                      <a:r>
                        <a:rPr lang="en-US" sz="1100" b="0" i="0">
                          <a:solidFill>
                            <a:srgbClr val="000000"/>
                          </a:solidFill>
                          <a:effectLst/>
                          <a:latin typeface="Avenir Next LT Pro" panose="020B0504020202020204" pitchFamily="34" charset="0"/>
                        </a:rPr>
                        <a:t>​</a:t>
                      </a:r>
                    </a:p>
                  </a:txBody>
                  <a:tcPr marT="45721" marB="4572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3D6"/>
                    </a:solidFill>
                  </a:tcPr>
                </a:tc>
                <a:extLst>
                  <a:ext uri="{0D108BD9-81ED-4DB2-BD59-A6C34878D82A}">
                    <a16:rowId xmlns:a16="http://schemas.microsoft.com/office/drawing/2014/main" val="3916121819"/>
                  </a:ext>
                </a:extLst>
              </a:tr>
              <a:tr h="348487">
                <a:tc>
                  <a:txBody>
                    <a:bodyPr/>
                    <a:lstStyle/>
                    <a:p>
                      <a:pPr algn="l" fontAlgn="b">
                        <a:buNone/>
                      </a:pPr>
                      <a:r>
                        <a:rPr lang="en-US" sz="1100" b="0" i="0" u="none" strike="noStrike">
                          <a:solidFill>
                            <a:srgbClr val="000000"/>
                          </a:solidFill>
                          <a:effectLst/>
                          <a:latin typeface="Avenir Next LT Pro" panose="020B0504020202020204" pitchFamily="34" charset="0"/>
                        </a:rPr>
                        <a:t> Net cash provided by operating activities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$975,701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$548,461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$754,887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$1,063,833</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$568,922</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$722,724</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908581638"/>
                  </a:ext>
                </a:extLst>
              </a:tr>
              <a:tr h="348487">
                <a:tc>
                  <a:txBody>
                    <a:bodyPr/>
                    <a:lstStyle/>
                    <a:p>
                      <a:pPr algn="l" fontAlgn="b">
                        <a:buNone/>
                      </a:pPr>
                      <a:r>
                        <a:rPr lang="en-US" sz="1100" b="0" i="0" u="none" strike="noStrike">
                          <a:solidFill>
                            <a:srgbClr val="000000"/>
                          </a:solidFill>
                          <a:effectLst/>
                          <a:latin typeface="Avenir Next LT Pro" panose="020B0504020202020204" pitchFamily="34" charset="0"/>
                        </a:rPr>
                        <a:t> Net cash used by investing activities</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-459,447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-773,011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-512,304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-383,330</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3,778,775</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2,163,392</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342005311"/>
                  </a:ext>
                </a:extLst>
              </a:tr>
              <a:tr h="348487">
                <a:tc>
                  <a:txBody>
                    <a:bodyPr/>
                    <a:lstStyle/>
                    <a:p>
                      <a:pPr algn="l" fontAlgn="b">
                        <a:buNone/>
                      </a:pPr>
                      <a:r>
                        <a:rPr lang="en-US" sz="1100" b="0" i="0" u="none" strike="noStrike" dirty="0">
                          <a:solidFill>
                            <a:srgbClr val="000000"/>
                          </a:solidFill>
                          <a:effectLst/>
                          <a:latin typeface="Avenir Next LT Pro" panose="020B0504020202020204" pitchFamily="34" charset="0"/>
                        </a:rPr>
                        <a:t> Net increase in deposits</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210,112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26,605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129,855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102,119</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-14,711</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15,970</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31088969"/>
                  </a:ext>
                </a:extLst>
              </a:tr>
              <a:tr h="348487">
                <a:tc>
                  <a:txBody>
                    <a:bodyPr/>
                    <a:lstStyle/>
                    <a:p>
                      <a:pPr algn="l" fontAlgn="b">
                        <a:buNone/>
                      </a:pPr>
                      <a:r>
                        <a:rPr lang="en-US" sz="1100" b="0" i="0" u="none" strike="noStrike">
                          <a:solidFill>
                            <a:srgbClr val="000000"/>
                          </a:solidFill>
                          <a:effectLst/>
                          <a:latin typeface="Avenir Next LT Pro" panose="020B0504020202020204" pitchFamily="34" charset="0"/>
                        </a:rPr>
                        <a:t> Dividends paid</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-92,426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-93,180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-96,310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-91,224</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-86,388</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-89,099</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002487674"/>
                  </a:ext>
                </a:extLst>
              </a:tr>
              <a:tr h="348487">
                <a:tc>
                  <a:txBody>
                    <a:bodyPr/>
                    <a:lstStyle/>
                    <a:p>
                      <a:pPr algn="l" fontAlgn="b">
                        <a:buNone/>
                      </a:pPr>
                      <a:r>
                        <a:rPr lang="en-US" sz="1100" b="0" i="0" u="none" strike="noStrike">
                          <a:solidFill>
                            <a:srgbClr val="000000"/>
                          </a:solidFill>
                          <a:effectLst/>
                          <a:latin typeface="Avenir Next LT Pro" panose="020B0504020202020204" pitchFamily="34" charset="0"/>
                        </a:rPr>
                        <a:t> Repurchase of common stock</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-11,623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-338,627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-363,987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-459,829</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202,234</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-133,064</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48503470"/>
                  </a:ext>
                </a:extLst>
              </a:tr>
              <a:tr h="348487">
                <a:tc>
                  <a:txBody>
                    <a:bodyPr/>
                    <a:lstStyle/>
                    <a:p>
                      <a:pPr algn="l" fontAlgn="b">
                        <a:buNone/>
                      </a:pPr>
                      <a:r>
                        <a:rPr lang="en-US" sz="1100" b="0" i="0" u="none" strike="noStrike">
                          <a:solidFill>
                            <a:srgbClr val="000000"/>
                          </a:solidFill>
                          <a:effectLst/>
                          <a:latin typeface="Avenir Next LT Pro" panose="020B0504020202020204" pitchFamily="34" charset="0"/>
                        </a:rPr>
                        <a:t> Other financing activities</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2,488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-1,985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1,946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11</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-787</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-576</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4227824515"/>
                  </a:ext>
                </a:extLst>
              </a:tr>
              <a:tr h="293753">
                <a:tc>
                  <a:txBody>
                    <a:bodyPr/>
                    <a:lstStyle/>
                    <a:p>
                      <a:pPr algn="l" fontAlgn="b">
                        <a:buNone/>
                      </a:pPr>
                      <a:r>
                        <a:rPr lang="en-US" sz="1100" b="0" i="0" u="none" strike="noStrike">
                          <a:solidFill>
                            <a:srgbClr val="000000"/>
                          </a:solidFill>
                          <a:effectLst/>
                          <a:latin typeface="Avenir Next LT Pro" panose="020B0504020202020204" pitchFamily="34" charset="0"/>
                        </a:rPr>
                        <a:t> Net cash used by financing activities</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-1,884,931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-201,967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-174,646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-572,315</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-3,010,300</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-1,693,049</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862128807"/>
                  </a:ext>
                </a:extLst>
              </a:tr>
              <a:tr h="293753">
                <a:tc>
                  <a:txBody>
                    <a:bodyPr/>
                    <a:lstStyle/>
                    <a:p>
                      <a:pPr algn="l" fontAlgn="b">
                        <a:buNone/>
                      </a:pPr>
                      <a:r>
                        <a:rPr lang="en-US" sz="1100" b="0" i="0" u="none" strike="noStrike">
                          <a:solidFill>
                            <a:srgbClr val="000000"/>
                          </a:solidFill>
                          <a:effectLst/>
                          <a:latin typeface="Avenir Next LT Pro" panose="020B0504020202020204" pitchFamily="34" charset="0"/>
                        </a:rPr>
                        <a:t> Net increase (decrease) in cash, cash equivalents and restricted cash</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-$1,383,949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-$446,042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$69,634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$92,043</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$1,350,890</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 $ 1,193,067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937862755"/>
                  </a:ext>
                </a:extLst>
              </a:tr>
              <a:tr h="293753">
                <a:tc>
                  <a:txBody>
                    <a:bodyPr/>
                    <a:lstStyle/>
                    <a:p>
                      <a:pPr algn="l" fontAlgn="b">
                        <a:buNone/>
                      </a:pPr>
                      <a:r>
                        <a:rPr lang="en-US" sz="1100" b="0" i="0" u="none" strike="noStrike">
                          <a:solidFill>
                            <a:srgbClr val="000000"/>
                          </a:solidFill>
                          <a:effectLst/>
                          <a:latin typeface="Avenir Next LT Pro" panose="020B0504020202020204" pitchFamily="34" charset="0"/>
                        </a:rPr>
                        <a:t> Cash, cash equivalents and restricted cash, beginning of period</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$3,409,168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$2,025,219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$1,579,177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$1,648,811</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$1,740,854</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$1,338,039</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1418672803"/>
                  </a:ext>
                </a:extLst>
              </a:tr>
              <a:tr h="348487">
                <a:tc>
                  <a:txBody>
                    <a:bodyPr/>
                    <a:lstStyle/>
                    <a:p>
                      <a:pPr algn="l" fontAlgn="b">
                        <a:buNone/>
                      </a:pPr>
                      <a:r>
                        <a:rPr lang="en-US" sz="1100" b="0" i="0" u="none" strike="noStrike">
                          <a:solidFill>
                            <a:srgbClr val="000000"/>
                          </a:solidFill>
                          <a:effectLst/>
                          <a:latin typeface="Avenir Next LT Pro" panose="020B0504020202020204" pitchFamily="34" charset="0"/>
                        </a:rPr>
                        <a:t> Cash, cash equivalents and restricted cash, end of period</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$2,025,219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$1,579,177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$1,648,811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$1,740,854</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$3,091,744</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$2,533,106</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857377499"/>
                  </a:ext>
                </a:extLst>
              </a:tr>
              <a:tr h="293753">
                <a:tc>
                  <a:txBody>
                    <a:bodyPr/>
                    <a:lstStyle/>
                    <a:p>
                      <a:pPr algn="l" fontAlgn="b">
                        <a:buNone/>
                      </a:pPr>
                      <a:r>
                        <a:rPr lang="en-US" sz="1100" b="0" i="0" u="none" strike="noStrike">
                          <a:solidFill>
                            <a:srgbClr val="000000"/>
                          </a:solidFill>
                          <a:effectLst/>
                          <a:latin typeface="Avenir Next LT Pro" panose="020B0504020202020204" pitchFamily="34" charset="0"/>
                        </a:rPr>
                        <a:t> Cash and cash equivalents</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$1,874,745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$1,579,177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$1,648,811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$1,589,608</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$3,091,744</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$2,533,106</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2604326829"/>
                  </a:ext>
                </a:extLst>
              </a:tr>
              <a:tr h="293753">
                <a:tc>
                  <a:txBody>
                    <a:bodyPr/>
                    <a:lstStyle/>
                    <a:p>
                      <a:pPr algn="l" fontAlgn="b">
                        <a:buNone/>
                      </a:pPr>
                      <a:r>
                        <a:rPr lang="en-US" sz="1100" b="0" i="0" u="none" strike="noStrike">
                          <a:solidFill>
                            <a:srgbClr val="000000"/>
                          </a:solidFill>
                          <a:effectLst/>
                          <a:latin typeface="Avenir Next LT Pro" panose="020B0504020202020204" pitchFamily="34" charset="0"/>
                        </a:rPr>
                        <a:t> Restricted cash</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128,935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135,424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104,642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135,661</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029733450"/>
                  </a:ext>
                </a:extLst>
              </a:tr>
              <a:tr h="293753">
                <a:tc>
                  <a:txBody>
                    <a:bodyPr/>
                    <a:lstStyle/>
                    <a:p>
                      <a:pPr algn="l" fontAlgn="b">
                        <a:buNone/>
                      </a:pPr>
                      <a:r>
                        <a:rPr lang="en-US" sz="1100" b="0" i="0" u="none" strike="noStrike">
                          <a:solidFill>
                            <a:srgbClr val="000000"/>
                          </a:solidFill>
                          <a:effectLst/>
                          <a:latin typeface="Avenir Next LT Pro" panose="020B0504020202020204" pitchFamily="34" charset="0"/>
                        </a:rPr>
                        <a:t> Restricted cash included in Other long-term assets</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21,539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10,578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10,363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15,585</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3182465774"/>
                  </a:ext>
                </a:extLst>
              </a:tr>
              <a:tr h="348487">
                <a:tc>
                  <a:txBody>
                    <a:bodyPr/>
                    <a:lstStyle/>
                    <a:p>
                      <a:pPr algn="l" fontAlgn="b">
                        <a:buNone/>
                      </a:pPr>
                      <a:r>
                        <a:rPr lang="en-US" sz="1100" b="0" i="0" u="none" strike="noStrike">
                          <a:solidFill>
                            <a:srgbClr val="000000"/>
                          </a:solidFill>
                          <a:effectLst/>
                          <a:latin typeface="Avenir Next LT Pro" panose="020B0504020202020204" pitchFamily="34" charset="0"/>
                        </a:rPr>
                        <a:t> Cash, cash equivalents and restricted cash per the Consolidated    statements of cash flows</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$2,025,219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$1,579,177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$1,648,811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$1,740,854</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a:solidFill>
                            <a:srgbClr val="000000"/>
                          </a:solidFill>
                          <a:effectLst/>
                          <a:latin typeface="Avenir Next LT Pro" panose="020B0504020202020204" pitchFamily="34" charset="0"/>
                        </a:rPr>
                        <a:t>$3,091,744</a:t>
                      </a:r>
                    </a:p>
                  </a:txBody>
                  <a:tcPr marL="9525" marR="9525" marT="9525"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fontAlgn="b">
                        <a:buNone/>
                      </a:pPr>
                      <a:r>
                        <a:rPr lang="en-US" sz="1100" b="0" i="0" u="none" strike="noStrike" dirty="0">
                          <a:solidFill>
                            <a:srgbClr val="000000"/>
                          </a:solidFill>
                          <a:effectLst/>
                          <a:latin typeface="Avenir Next LT Pro" panose="020B0504020202020204" pitchFamily="34" charset="0"/>
                        </a:rPr>
                        <a:t>$2,533,106</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extLst>
                  <a:ext uri="{0D108BD9-81ED-4DB2-BD59-A6C34878D82A}">
                    <a16:rowId xmlns:a16="http://schemas.microsoft.com/office/drawing/2014/main" val="473109732"/>
                  </a:ext>
                </a:extLst>
              </a:tr>
            </a:tbl>
          </a:graphicData>
        </a:graphic>
      </p:graphicFrame>
      <p:pic>
        <p:nvPicPr>
          <p:cNvPr id="3" name="Picture 2" descr="Harley Davidson Logo PNG Image - PurePNG | Free transparent CC0 PNG ...">
            <a:extLst>
              <a:ext uri="{FF2B5EF4-FFF2-40B4-BE49-F238E27FC236}">
                <a16:creationId xmlns:a16="http://schemas.microsoft.com/office/drawing/2014/main" id="{B6500B96-6581-EBA2-F4BC-9A3B8ACE2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6211" y="85401"/>
            <a:ext cx="1224916" cy="967997"/>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4">
            <a:extLst>
              <a:ext uri="{FF2B5EF4-FFF2-40B4-BE49-F238E27FC236}">
                <a16:creationId xmlns:a16="http://schemas.microsoft.com/office/drawing/2014/main" id="{11156B49-9070-2EE1-A37A-5B2332852186}"/>
              </a:ext>
            </a:extLst>
          </p:cNvPr>
          <p:cNvSpPr txBox="1"/>
          <p:nvPr/>
        </p:nvSpPr>
        <p:spPr>
          <a:xfrm>
            <a:off x="78739" y="6657021"/>
            <a:ext cx="3611487"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Q1-Q3</a:t>
            </a:r>
            <a:endParaRPr lang="en-US" sz="949">
              <a:latin typeface="Avenir Next LT Pro" panose="020B0504020202020204" pitchFamily="34" charset="0"/>
              <a:cs typeface="Segoe UI"/>
            </a:endParaRPr>
          </a:p>
        </p:txBody>
      </p:sp>
      <p:grpSp>
        <p:nvGrpSpPr>
          <p:cNvPr id="2" name="Group 1">
            <a:extLst>
              <a:ext uri="{FF2B5EF4-FFF2-40B4-BE49-F238E27FC236}">
                <a16:creationId xmlns:a16="http://schemas.microsoft.com/office/drawing/2014/main" id="{15236949-1EA3-416D-25CF-FFB835A456F5}"/>
              </a:ext>
            </a:extLst>
          </p:cNvPr>
          <p:cNvGrpSpPr/>
          <p:nvPr/>
        </p:nvGrpSpPr>
        <p:grpSpPr>
          <a:xfrm>
            <a:off x="695325" y="6302380"/>
            <a:ext cx="10429876" cy="265521"/>
            <a:chOff x="695325" y="6302380"/>
            <a:chExt cx="10429876" cy="265521"/>
          </a:xfrm>
        </p:grpSpPr>
        <p:sp>
          <p:nvSpPr>
            <p:cNvPr id="5" name="object 13">
              <a:extLst>
                <a:ext uri="{FF2B5EF4-FFF2-40B4-BE49-F238E27FC236}">
                  <a16:creationId xmlns:a16="http://schemas.microsoft.com/office/drawing/2014/main" id="{BA8CC168-3172-6808-4AFB-3484311C273D}"/>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6" name="object 14">
              <a:extLst>
                <a:ext uri="{FF2B5EF4-FFF2-40B4-BE49-F238E27FC236}">
                  <a16:creationId xmlns:a16="http://schemas.microsoft.com/office/drawing/2014/main" id="{93050751-D62D-8203-E335-71D1F9D9A61B}"/>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7" name="object 15">
              <a:extLst>
                <a:ext uri="{FF2B5EF4-FFF2-40B4-BE49-F238E27FC236}">
                  <a16:creationId xmlns:a16="http://schemas.microsoft.com/office/drawing/2014/main" id="{DBF8723A-CE3D-70E8-2D7B-583EFC90FFA3}"/>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solidFill>
                    <a:schemeClr val="tx1">
                      <a:lumMod val="95000"/>
                      <a:lumOff val="5000"/>
                    </a:schemeClr>
                  </a:solidFill>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Appendix</a:t>
              </a:r>
              <a:endParaRPr lang="en-US" sz="1401" b="1">
                <a:solidFill>
                  <a:schemeClr val="tx1">
                    <a:lumMod val="95000"/>
                    <a:lumOff val="5000"/>
                  </a:schemeClr>
                </a:solidFill>
                <a:latin typeface="Avenir Next LT Pro" panose="020B0504020202020204" pitchFamily="34" charset="0"/>
                <a:cs typeface="Segoe UI"/>
              </a:endParaRPr>
            </a:p>
          </p:txBody>
        </p:sp>
        <p:sp>
          <p:nvSpPr>
            <p:cNvPr id="8" name="object 16">
              <a:extLst>
                <a:ext uri="{FF2B5EF4-FFF2-40B4-BE49-F238E27FC236}">
                  <a16:creationId xmlns:a16="http://schemas.microsoft.com/office/drawing/2014/main" id="{ABFF3538-4261-9AB1-3314-5655F06499EA}"/>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9" name="object 37">
              <a:extLst>
                <a:ext uri="{FF2B5EF4-FFF2-40B4-BE49-F238E27FC236}">
                  <a16:creationId xmlns:a16="http://schemas.microsoft.com/office/drawing/2014/main" id="{76B8693B-97AA-E135-BB05-AFD9C8E19672}"/>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0" name="object 39">
              <a:extLst>
                <a:ext uri="{FF2B5EF4-FFF2-40B4-BE49-F238E27FC236}">
                  <a16:creationId xmlns:a16="http://schemas.microsoft.com/office/drawing/2014/main" id="{92699983-7FE6-16BE-9CB1-A1BE65D2D0EC}"/>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1" name="object 40">
              <a:extLst>
                <a:ext uri="{FF2B5EF4-FFF2-40B4-BE49-F238E27FC236}">
                  <a16:creationId xmlns:a16="http://schemas.microsoft.com/office/drawing/2014/main" id="{656768AC-6F57-8939-0C01-3422C4928851}"/>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12" name="object 41">
              <a:extLst>
                <a:ext uri="{FF2B5EF4-FFF2-40B4-BE49-F238E27FC236}">
                  <a16:creationId xmlns:a16="http://schemas.microsoft.com/office/drawing/2014/main" id="{43BF2F55-3782-2DD9-9AA8-55D56B84CDB7}"/>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695561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1B6DF79-4DD4-A348-5A1C-121767EA81D7}"/>
              </a:ext>
            </a:extLst>
          </p:cNvPr>
          <p:cNvGraphicFramePr>
            <a:graphicFrameLocks/>
          </p:cNvGraphicFramePr>
          <p:nvPr>
            <p:custDataLst>
              <p:tags r:id="rId1"/>
            </p:custDataLst>
            <p:extLst>
              <p:ext uri="{D42A27DB-BD31-4B8C-83A1-F6EECF244321}">
                <p14:modId xmlns:p14="http://schemas.microsoft.com/office/powerpoint/2010/main" val="3012499833"/>
              </p:ext>
            </p:extLst>
          </p:nvPr>
        </p:nvGraphicFramePr>
        <p:xfrm>
          <a:off x="949717" y="569399"/>
          <a:ext cx="9691435" cy="5606262"/>
        </p:xfrm>
        <a:graphic>
          <a:graphicData uri="http://schemas.openxmlformats.org/drawingml/2006/table">
            <a:tbl>
              <a:tblPr/>
              <a:tblGrid>
                <a:gridCol w="5218467">
                  <a:extLst>
                    <a:ext uri="{9D8B030D-6E8A-4147-A177-3AD203B41FA5}">
                      <a16:colId xmlns:a16="http://schemas.microsoft.com/office/drawing/2014/main" val="369768314"/>
                    </a:ext>
                  </a:extLst>
                </a:gridCol>
                <a:gridCol w="2236484">
                  <a:extLst>
                    <a:ext uri="{9D8B030D-6E8A-4147-A177-3AD203B41FA5}">
                      <a16:colId xmlns:a16="http://schemas.microsoft.com/office/drawing/2014/main" val="2441342681"/>
                    </a:ext>
                  </a:extLst>
                </a:gridCol>
                <a:gridCol w="2236484">
                  <a:extLst>
                    <a:ext uri="{9D8B030D-6E8A-4147-A177-3AD203B41FA5}">
                      <a16:colId xmlns:a16="http://schemas.microsoft.com/office/drawing/2014/main" val="1802124967"/>
                    </a:ext>
                  </a:extLst>
                </a:gridCol>
              </a:tblGrid>
              <a:tr h="260638">
                <a:tc gridSpan="3">
                  <a:txBody>
                    <a:bodyPr/>
                    <a:lstStyle/>
                    <a:p>
                      <a:pPr algn="ctr" fontAlgn="ctr">
                        <a:buNone/>
                      </a:pPr>
                      <a:r>
                        <a:rPr lang="en-US" sz="1400" b="1" i="0" u="none" strike="noStrike">
                          <a:solidFill>
                            <a:schemeClr val="bg1"/>
                          </a:solidFill>
                          <a:effectLst/>
                          <a:latin typeface="Avenir Next LT Pro" panose="020B0504020202020204" pitchFamily="34" charset="0"/>
                          <a:ea typeface="Calibri" panose="020F0502020204030204" pitchFamily="34" charset="0"/>
                          <a:cs typeface="Calibri" panose="020F0502020204030204" pitchFamily="34" charset="0"/>
                        </a:rPr>
                        <a:t>4. Facilities/Status</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E5014"/>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0243821"/>
                  </a:ext>
                </a:extLst>
              </a:tr>
              <a:tr h="260638">
                <a:tc>
                  <a:txBody>
                    <a:bodyPr/>
                    <a:lstStyle/>
                    <a:p>
                      <a:pPr algn="ctr" fontAlgn="ctr">
                        <a:buNone/>
                      </a:pPr>
                      <a:r>
                        <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Type of Facility</a:t>
                      </a:r>
                    </a:p>
                  </a:txBody>
                  <a:tcPr marL="6532" marR="6532" marT="6532"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buNone/>
                      </a:pPr>
                      <a:r>
                        <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Location</a:t>
                      </a:r>
                    </a:p>
                  </a:txBody>
                  <a:tcPr marL="6532" marR="6532" marT="6532"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buNone/>
                      </a:pPr>
                      <a:r>
                        <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Status</a:t>
                      </a:r>
                    </a:p>
                  </a:txBody>
                  <a:tcPr marL="6532" marR="6532" marT="6532"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528885965"/>
                  </a:ext>
                </a:extLst>
              </a:tr>
              <a:tr h="260638">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HDMC</a:t>
                      </a: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tc>
                  <a:txBody>
                    <a:bodyPr/>
                    <a:lstStyle/>
                    <a:p>
                      <a:pPr algn="r" fontAlgn="ctr">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tc>
                  <a:txBody>
                    <a:bodyPr/>
                    <a:lstStyle/>
                    <a:p>
                      <a:pPr algn="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90761850"/>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Corporate office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Milwaukee, WI</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28689264"/>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Product development center</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Wauwatosa, WI</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829423901"/>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Manufacturing - Motorcycle powertrain production</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Menomonee Falls, WI</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54966123"/>
                  </a:ext>
                </a:extLst>
              </a:tr>
              <a:tr h="393502">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Manufacturing - Motorcycle components parts  production and painting</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Tomahawk, WI</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440901031"/>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Manufacturing - Motorcycle parts fabrication, painting and assembly</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York, PA</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69107862"/>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Manufacturing - Motorcycle production for Asian and European        markets</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Rayong, Thailand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99560313"/>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Manufacturing - Motorcycle assembly for Brazilian market</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Manaus, Brazil</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Leased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73416070"/>
                  </a:ext>
                </a:extLst>
              </a:tr>
              <a:tr h="260638">
                <a:tc>
                  <a:txBody>
                    <a:bodyPr/>
                    <a:lstStyle/>
                    <a:p>
                      <a:pPr algn="l" fontAlgn="ctr">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388080064"/>
                  </a:ext>
                </a:extLst>
              </a:tr>
              <a:tr h="260638">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HDFS</a:t>
                      </a: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0376290"/>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Corporate and retail operations office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Reno, NV</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Leased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84958018"/>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Wholesale and retail operations office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Plano, TX</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Leased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72376876"/>
                  </a:ext>
                </a:extLst>
              </a:tr>
              <a:tr h="260638">
                <a:tc>
                  <a:txBody>
                    <a:bodyPr/>
                    <a:lstStyle/>
                    <a:p>
                      <a:pPr algn="l"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328123049"/>
                  </a:ext>
                </a:extLst>
              </a:tr>
              <a:tr h="260638">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Livewire</a:t>
                      </a: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375226277"/>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Corporate office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Milwaukee, WI</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Leased (From Harley-Davidson)</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43883607"/>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Livewire Labs - Customer experience center</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Malibu, CA</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Leased (inactive)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328105473"/>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Livewire Labs - Retail operations</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Carson, CA</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Leased (inactive)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3758523"/>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Livewire Labs - Marketing displays and test rides</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Los Angeles, CA</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Leased (inactive)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07843724"/>
                  </a:ext>
                </a:extLst>
              </a:tr>
              <a:tr h="260638">
                <a:tc>
                  <a:txBody>
                    <a:bodyPr/>
                    <a:lstStyle/>
                    <a:p>
                      <a:pPr algn="l"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Corporate office and research and development activities</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Fort Worth, TX</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Leased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69197456"/>
                  </a:ext>
                </a:extLst>
              </a:tr>
            </a:tbl>
          </a:graphicData>
        </a:graphic>
      </p:graphicFrame>
      <p:pic>
        <p:nvPicPr>
          <p:cNvPr id="3" name="Picture 2" descr="Harley Davidson Logo PNG Image - PurePNG | Free transparent CC0 PNG ...">
            <a:extLst>
              <a:ext uri="{FF2B5EF4-FFF2-40B4-BE49-F238E27FC236}">
                <a16:creationId xmlns:a16="http://schemas.microsoft.com/office/drawing/2014/main" id="{3DA0A340-73C9-D668-B116-0C622CA4F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4">
            <a:extLst>
              <a:ext uri="{FF2B5EF4-FFF2-40B4-BE49-F238E27FC236}">
                <a16:creationId xmlns:a16="http://schemas.microsoft.com/office/drawing/2014/main" id="{A415587E-BB3A-C8DD-0EAD-7F255AAD7B83}"/>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pSp>
        <p:nvGrpSpPr>
          <p:cNvPr id="5" name="Group 4">
            <a:extLst>
              <a:ext uri="{FF2B5EF4-FFF2-40B4-BE49-F238E27FC236}">
                <a16:creationId xmlns:a16="http://schemas.microsoft.com/office/drawing/2014/main" id="{702D0C44-7464-7DE1-E5AB-630B05CCE1FC}"/>
              </a:ext>
            </a:extLst>
          </p:cNvPr>
          <p:cNvGrpSpPr/>
          <p:nvPr/>
        </p:nvGrpSpPr>
        <p:grpSpPr>
          <a:xfrm>
            <a:off x="695325" y="6302380"/>
            <a:ext cx="10429876" cy="265521"/>
            <a:chOff x="695325" y="6302380"/>
            <a:chExt cx="10429876" cy="265521"/>
          </a:xfrm>
        </p:grpSpPr>
        <p:sp>
          <p:nvSpPr>
            <p:cNvPr id="6" name="object 13">
              <a:extLst>
                <a:ext uri="{FF2B5EF4-FFF2-40B4-BE49-F238E27FC236}">
                  <a16:creationId xmlns:a16="http://schemas.microsoft.com/office/drawing/2014/main" id="{8641C324-D3A9-083E-87E3-DF08D4A758C6}"/>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7" name="object 14">
              <a:extLst>
                <a:ext uri="{FF2B5EF4-FFF2-40B4-BE49-F238E27FC236}">
                  <a16:creationId xmlns:a16="http://schemas.microsoft.com/office/drawing/2014/main" id="{87E1C42F-7F17-4609-23EE-37784CAA122C}"/>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8" name="object 15">
              <a:extLst>
                <a:ext uri="{FF2B5EF4-FFF2-40B4-BE49-F238E27FC236}">
                  <a16:creationId xmlns:a16="http://schemas.microsoft.com/office/drawing/2014/main" id="{00B183A0-D7B9-B2F4-8128-7FA4D307ECBC}"/>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9" name="object 16">
              <a:extLst>
                <a:ext uri="{FF2B5EF4-FFF2-40B4-BE49-F238E27FC236}">
                  <a16:creationId xmlns:a16="http://schemas.microsoft.com/office/drawing/2014/main" id="{3B655ED9-C456-DBBD-0E25-3A63165491F0}"/>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0" name="object 37">
              <a:extLst>
                <a:ext uri="{FF2B5EF4-FFF2-40B4-BE49-F238E27FC236}">
                  <a16:creationId xmlns:a16="http://schemas.microsoft.com/office/drawing/2014/main" id="{8DB76907-6170-3339-FA56-CC71FC28D7DA}"/>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1" name="object 39">
              <a:extLst>
                <a:ext uri="{FF2B5EF4-FFF2-40B4-BE49-F238E27FC236}">
                  <a16:creationId xmlns:a16="http://schemas.microsoft.com/office/drawing/2014/main" id="{63C0405D-339A-404E-16A5-1D694C59A859}"/>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2" name="object 40">
              <a:extLst>
                <a:ext uri="{FF2B5EF4-FFF2-40B4-BE49-F238E27FC236}">
                  <a16:creationId xmlns:a16="http://schemas.microsoft.com/office/drawing/2014/main" id="{FC7868C7-41CE-197C-FEB3-BC56F1E1C081}"/>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13" name="object 41">
              <a:extLst>
                <a:ext uri="{FF2B5EF4-FFF2-40B4-BE49-F238E27FC236}">
                  <a16:creationId xmlns:a16="http://schemas.microsoft.com/office/drawing/2014/main" id="{DF4736ED-7077-2ACD-64CD-794F9EB2582C}"/>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7870A-1A97-8748-EEFB-B71FEF484B63}"/>
            </a:ext>
          </a:extLst>
        </p:cNvPr>
        <p:cNvGrpSpPr/>
        <p:nvPr/>
      </p:nvGrpSpPr>
      <p:grpSpPr>
        <a:xfrm>
          <a:off x="0" y="0"/>
          <a:ext cx="0" cy="0"/>
          <a:chOff x="0" y="0"/>
          <a:chExt cx="0" cy="0"/>
        </a:xfrm>
      </p:grpSpPr>
      <p:pic>
        <p:nvPicPr>
          <p:cNvPr id="2" name="Picture 1" descr="Harley Davidson Logo PNG Image - PurePNG | Free transparent CC0 PNG ...">
            <a:extLst>
              <a:ext uri="{FF2B5EF4-FFF2-40B4-BE49-F238E27FC236}">
                <a16:creationId xmlns:a16="http://schemas.microsoft.com/office/drawing/2014/main" id="{0AC6F212-E0EA-8F36-CFD3-FD307181F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183A36DF-0817-F81A-82D4-CD12EB1A55CB}"/>
              </a:ext>
            </a:extLst>
          </p:cNvPr>
          <p:cNvGraphicFramePr>
            <a:graphicFrameLocks noGrp="1"/>
          </p:cNvGraphicFramePr>
          <p:nvPr>
            <p:custDataLst>
              <p:tags r:id="rId1"/>
            </p:custDataLst>
            <p:extLst>
              <p:ext uri="{D42A27DB-BD31-4B8C-83A1-F6EECF244321}">
                <p14:modId xmlns:p14="http://schemas.microsoft.com/office/powerpoint/2010/main" val="3129954735"/>
              </p:ext>
            </p:extLst>
          </p:nvPr>
        </p:nvGraphicFramePr>
        <p:xfrm>
          <a:off x="949718" y="925019"/>
          <a:ext cx="9826491" cy="5035948"/>
        </p:xfrm>
        <a:graphic>
          <a:graphicData uri="http://schemas.openxmlformats.org/drawingml/2006/table">
            <a:tbl>
              <a:tblPr>
                <a:tableStyleId>{5C22544A-7EE6-4342-B048-85BDC9FD1C3A}</a:tableStyleId>
              </a:tblPr>
              <a:tblGrid>
                <a:gridCol w="1968951">
                  <a:extLst>
                    <a:ext uri="{9D8B030D-6E8A-4147-A177-3AD203B41FA5}">
                      <a16:colId xmlns:a16="http://schemas.microsoft.com/office/drawing/2014/main" val="407790322"/>
                    </a:ext>
                  </a:extLst>
                </a:gridCol>
                <a:gridCol w="1968951">
                  <a:extLst>
                    <a:ext uri="{9D8B030D-6E8A-4147-A177-3AD203B41FA5}">
                      <a16:colId xmlns:a16="http://schemas.microsoft.com/office/drawing/2014/main" val="1544301004"/>
                    </a:ext>
                  </a:extLst>
                </a:gridCol>
                <a:gridCol w="1968951">
                  <a:extLst>
                    <a:ext uri="{9D8B030D-6E8A-4147-A177-3AD203B41FA5}">
                      <a16:colId xmlns:a16="http://schemas.microsoft.com/office/drawing/2014/main" val="3583123240"/>
                    </a:ext>
                  </a:extLst>
                </a:gridCol>
                <a:gridCol w="1968951">
                  <a:extLst>
                    <a:ext uri="{9D8B030D-6E8A-4147-A177-3AD203B41FA5}">
                      <a16:colId xmlns:a16="http://schemas.microsoft.com/office/drawing/2014/main" val="226059541"/>
                    </a:ext>
                  </a:extLst>
                </a:gridCol>
                <a:gridCol w="1950687">
                  <a:extLst>
                    <a:ext uri="{9D8B030D-6E8A-4147-A177-3AD203B41FA5}">
                      <a16:colId xmlns:a16="http://schemas.microsoft.com/office/drawing/2014/main" val="3218378563"/>
                    </a:ext>
                  </a:extLst>
                </a:gridCol>
              </a:tblGrid>
              <a:tr h="232722">
                <a:tc gridSpan="5">
                  <a:txBody>
                    <a:bodyPr/>
                    <a:lstStyle/>
                    <a:p>
                      <a:pPr algn="ctr" fontAlgn="b">
                        <a:buNone/>
                      </a:pPr>
                      <a:r>
                        <a:rPr lang="en-US" sz="1400" b="1" i="0" u="none" strike="noStrike">
                          <a:solidFill>
                            <a:schemeClr val="bg1"/>
                          </a:solidFill>
                          <a:effectLst/>
                          <a:latin typeface="Avenir Next LT Pro" panose="020B0504020202020204" pitchFamily="34" charset="0"/>
                          <a:ea typeface="Calibri" panose="020F0502020204030204" pitchFamily="34" charset="0"/>
                          <a:cs typeface="Calibri" panose="020F0502020204030204" pitchFamily="34" charset="0"/>
                        </a:rPr>
                        <a:t>5. Geographic Segment of Revenue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pPr algn="ctr" fontAlgn="b">
                        <a:buNone/>
                      </a:pPr>
                      <a:endPar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pPr algn="ctr" fontAlgn="b">
                        <a:buNone/>
                      </a:pPr>
                      <a:endPar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pPr algn="ctr" fontAlgn="b">
                        <a:buNone/>
                      </a:pPr>
                      <a:endPar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694717645"/>
                  </a:ext>
                </a:extLst>
              </a:tr>
              <a:tr h="232722">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1" i="0" u="none" strike="noStrike">
                          <a:solidFill>
                            <a:schemeClr val="tx1"/>
                          </a:solidFill>
                          <a:effectLst/>
                          <a:latin typeface="Avenir Next LT Pro" panose="020B0504020202020204" pitchFamily="34" charset="0"/>
                          <a:ea typeface="Calibri" panose="020F0502020204030204" pitchFamily="34" charset="0"/>
                          <a:cs typeface="Calibri" panose="020F0502020204030204" pitchFamily="34" charset="0"/>
                        </a:rPr>
                        <a:t> 2021 </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1" i="0" u="none" strike="noStrike">
                          <a:solidFill>
                            <a:schemeClr val="tx1"/>
                          </a:solidFill>
                          <a:effectLst/>
                          <a:latin typeface="Avenir Next LT Pro" panose="020B0504020202020204" pitchFamily="34" charset="0"/>
                          <a:ea typeface="Calibri" panose="020F0502020204030204" pitchFamily="34" charset="0"/>
                          <a:cs typeface="Calibri" panose="020F0502020204030204" pitchFamily="34" charset="0"/>
                        </a:rPr>
                        <a:t> 2022 </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1" i="0" u="none" strike="noStrike">
                          <a:solidFill>
                            <a:schemeClr val="tx1"/>
                          </a:solidFill>
                          <a:effectLst/>
                          <a:latin typeface="Avenir Next LT Pro" panose="020B0504020202020204" pitchFamily="34" charset="0"/>
                          <a:ea typeface="Calibri" panose="020F0502020204030204" pitchFamily="34" charset="0"/>
                          <a:cs typeface="Calibri" panose="020F0502020204030204" pitchFamily="34" charset="0"/>
                        </a:rPr>
                        <a:t> 2023 </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1" i="0" u="none" strike="noStrike">
                          <a:solidFill>
                            <a:schemeClr val="tx1"/>
                          </a:solidFill>
                          <a:effectLst/>
                          <a:latin typeface="Avenir Next LT Pro" panose="020B0504020202020204" pitchFamily="34" charset="0"/>
                          <a:ea typeface="Calibri" panose="020F0502020204030204" pitchFamily="34" charset="0"/>
                          <a:cs typeface="Calibri" panose="020F0502020204030204" pitchFamily="34" charset="0"/>
                        </a:rPr>
                        <a:t> 2024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23771071"/>
                  </a:ext>
                </a:extLst>
              </a:tr>
              <a:tr h="186159">
                <a:tc>
                  <a:txBody>
                    <a:bodyPr/>
                    <a:lstStyle/>
                    <a:p>
                      <a:pPr algn="l" fontAlgn="b">
                        <a:buNone/>
                      </a:pPr>
                      <a:r>
                        <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HDMC revenue:</a:t>
                      </a: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432621003"/>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United States</a:t>
                      </a: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2,996,471</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3,253,875</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3,289,227</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2,814,482</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49050815"/>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EMEA</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703,048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693,073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637,492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584,490</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39126428"/>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Canada</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182,230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216,389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220,158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210,526</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28977680"/>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Japan</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150,138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175,292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200,539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128,432</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33741051"/>
                  </a:ext>
                </a:extLst>
              </a:tr>
              <a:tr h="227462">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Australia and New Zealand</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134,301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147,551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127,352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119,949</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72569535"/>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Other countries</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338,246</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401,492</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369,826</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264,027</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38916329"/>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4,504,434</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4,887,672</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4,844,594</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4,121,906</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99349486"/>
                  </a:ext>
                </a:extLst>
              </a:tr>
              <a:tr h="222936">
                <a:tc>
                  <a:txBody>
                    <a:bodyPr/>
                    <a:lstStyle/>
                    <a:p>
                      <a:pPr algn="l" fontAlgn="b">
                        <a:buNone/>
                      </a:pPr>
                      <a:r>
                        <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Livewire revenue:</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57147088"/>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United States</a:t>
                      </a: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24,633</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36,256</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31,483</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21,461</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89779341"/>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International</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11,173</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10,577</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6,815</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4,897</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11261676"/>
                  </a:ext>
                </a:extLst>
              </a:tr>
              <a:tr h="186159">
                <a:tc>
                  <a:txBody>
                    <a:bodyPr/>
                    <a:lstStyle/>
                    <a:p>
                      <a:pPr algn="l"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35,806</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46,833</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38,298</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26,358</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709564354"/>
                  </a:ext>
                </a:extLst>
              </a:tr>
              <a:tr h="186159">
                <a:tc>
                  <a:txBody>
                    <a:bodyPr/>
                    <a:lstStyle/>
                    <a:p>
                      <a:pPr algn="l" fontAlgn="b">
                        <a:buNone/>
                      </a:pPr>
                      <a:r>
                        <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HDFS revenue:</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49321234"/>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United States</a:t>
                      </a: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765,917</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794,912</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922,758</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1,006,574</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960484686"/>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Canada</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18,613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16,276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18,220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21,167</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05970669"/>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Europe</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7,464</a:t>
                      </a:r>
                    </a:p>
                  </a:txBody>
                  <a:tcPr marL="6350" marR="6350" marT="6350"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6,071</a:t>
                      </a:r>
                    </a:p>
                  </a:txBody>
                  <a:tcPr marL="6350" marR="6350" marT="6350"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7,343</a:t>
                      </a:r>
                    </a:p>
                  </a:txBody>
                  <a:tcPr marL="6350" marR="6350" marT="6350"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6,503</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46264670"/>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Other countries</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4,074</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3,366</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5,265</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4,294</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13375271"/>
                  </a:ext>
                </a:extLst>
              </a:tr>
              <a:tr h="186159">
                <a:tc>
                  <a:txBody>
                    <a:bodyPr/>
                    <a:lstStyle/>
                    <a:p>
                      <a:pPr algn="l"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796,068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820,625</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953,586</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1,038,538</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83568558"/>
                  </a:ext>
                </a:extLst>
              </a:tr>
              <a:tr h="222936">
                <a:tc>
                  <a:txBody>
                    <a:bodyPr/>
                    <a:lstStyle/>
                    <a:p>
                      <a:pPr algn="l" fontAlgn="b">
                        <a:buNone/>
                      </a:pPr>
                      <a:r>
                        <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Long-lived assets:</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58208004"/>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United States</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595,375</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611,421</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644,620</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640,837</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15597693"/>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Thailand</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81,927</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72,474</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82,197</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113,094</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74132860"/>
                  </a:ext>
                </a:extLst>
              </a:tr>
              <a:tr h="186159">
                <a:tc>
                  <a:txBody>
                    <a:bodyPr/>
                    <a:lstStyle/>
                    <a:p>
                      <a:pPr algn="l"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Other countries</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6,682</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5,991</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4,907</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3,141</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94864155"/>
                  </a:ext>
                </a:extLst>
              </a:tr>
              <a:tr h="146004">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683,984</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689,886</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731,724</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757,072</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45303514"/>
                  </a:ext>
                </a:extLst>
              </a:tr>
              <a:tr h="186159">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51144647"/>
                  </a:ext>
                </a:extLst>
              </a:tr>
            </a:tbl>
          </a:graphicData>
        </a:graphic>
      </p:graphicFrame>
      <p:sp>
        <p:nvSpPr>
          <p:cNvPr id="4" name="object 4">
            <a:extLst>
              <a:ext uri="{FF2B5EF4-FFF2-40B4-BE49-F238E27FC236}">
                <a16:creationId xmlns:a16="http://schemas.microsoft.com/office/drawing/2014/main" id="{2DB44F2C-E140-D95B-F98C-979B6E679509}"/>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pSp>
        <p:nvGrpSpPr>
          <p:cNvPr id="5" name="Group 4">
            <a:extLst>
              <a:ext uri="{FF2B5EF4-FFF2-40B4-BE49-F238E27FC236}">
                <a16:creationId xmlns:a16="http://schemas.microsoft.com/office/drawing/2014/main" id="{887FE826-1125-4793-0D26-99202ED59274}"/>
              </a:ext>
            </a:extLst>
          </p:cNvPr>
          <p:cNvGrpSpPr/>
          <p:nvPr/>
        </p:nvGrpSpPr>
        <p:grpSpPr>
          <a:xfrm>
            <a:off x="695325" y="6302380"/>
            <a:ext cx="10429876" cy="265521"/>
            <a:chOff x="695325" y="6302380"/>
            <a:chExt cx="10429876" cy="265521"/>
          </a:xfrm>
        </p:grpSpPr>
        <p:sp>
          <p:nvSpPr>
            <p:cNvPr id="15" name="object 13">
              <a:extLst>
                <a:ext uri="{FF2B5EF4-FFF2-40B4-BE49-F238E27FC236}">
                  <a16:creationId xmlns:a16="http://schemas.microsoft.com/office/drawing/2014/main" id="{05B2DAA8-F5C7-32E4-E356-28FA28075196}"/>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16" name="object 14">
              <a:extLst>
                <a:ext uri="{FF2B5EF4-FFF2-40B4-BE49-F238E27FC236}">
                  <a16:creationId xmlns:a16="http://schemas.microsoft.com/office/drawing/2014/main" id="{398DA616-D950-DE29-891F-F9E078BAADAC}"/>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17" name="object 15">
              <a:extLst>
                <a:ext uri="{FF2B5EF4-FFF2-40B4-BE49-F238E27FC236}">
                  <a16:creationId xmlns:a16="http://schemas.microsoft.com/office/drawing/2014/main" id="{D492381F-90EC-6161-26DE-C83CB6143A87}"/>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18" name="object 16">
              <a:extLst>
                <a:ext uri="{FF2B5EF4-FFF2-40B4-BE49-F238E27FC236}">
                  <a16:creationId xmlns:a16="http://schemas.microsoft.com/office/drawing/2014/main" id="{ED5B8E8C-DAD9-BFA9-A692-AF0F02CCAB59}"/>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9" name="object 37">
              <a:extLst>
                <a:ext uri="{FF2B5EF4-FFF2-40B4-BE49-F238E27FC236}">
                  <a16:creationId xmlns:a16="http://schemas.microsoft.com/office/drawing/2014/main" id="{2EB7073E-D408-791B-3B10-CAE3E7D3BFEF}"/>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20" name="object 39">
              <a:extLst>
                <a:ext uri="{FF2B5EF4-FFF2-40B4-BE49-F238E27FC236}">
                  <a16:creationId xmlns:a16="http://schemas.microsoft.com/office/drawing/2014/main" id="{0BFE6174-3BE5-BF4E-BD9F-C0B9C0A718E3}"/>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21" name="object 40">
              <a:extLst>
                <a:ext uri="{FF2B5EF4-FFF2-40B4-BE49-F238E27FC236}">
                  <a16:creationId xmlns:a16="http://schemas.microsoft.com/office/drawing/2014/main" id="{F2A68113-8ED2-D206-AA37-D98F6D811916}"/>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22" name="object 41">
              <a:extLst>
                <a:ext uri="{FF2B5EF4-FFF2-40B4-BE49-F238E27FC236}">
                  <a16:creationId xmlns:a16="http://schemas.microsoft.com/office/drawing/2014/main" id="{9655DF6A-8A44-3CE7-C4D2-C78735D9CF78}"/>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2615259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F91CB-89D7-C176-99CE-69B459E5145D}"/>
            </a:ext>
          </a:extLst>
        </p:cNvPr>
        <p:cNvGrpSpPr/>
        <p:nvPr/>
      </p:nvGrpSpPr>
      <p:grpSpPr>
        <a:xfrm>
          <a:off x="0" y="0"/>
          <a:ext cx="0" cy="0"/>
          <a:chOff x="0" y="0"/>
          <a:chExt cx="0" cy="0"/>
        </a:xfrm>
      </p:grpSpPr>
      <p:pic>
        <p:nvPicPr>
          <p:cNvPr id="2" name="Picture 1" descr="Harley Davidson Logo PNG Image - PurePNG | Free transparent CC0 PNG ...">
            <a:extLst>
              <a:ext uri="{FF2B5EF4-FFF2-40B4-BE49-F238E27FC236}">
                <a16:creationId xmlns:a16="http://schemas.microsoft.com/office/drawing/2014/main" id="{1CD348A5-C4F1-3E78-54AD-9683E78CA4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4">
            <a:extLst>
              <a:ext uri="{FF2B5EF4-FFF2-40B4-BE49-F238E27FC236}">
                <a16:creationId xmlns:a16="http://schemas.microsoft.com/office/drawing/2014/main" id="{3B320EE9-D130-5D2F-3EE2-F250F1C319AA}"/>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Q1-Q3</a:t>
            </a:r>
            <a:endParaRPr lang="en-US" sz="949">
              <a:latin typeface="Avenir Next LT Pro" panose="020B0504020202020204" pitchFamily="34" charset="0"/>
              <a:cs typeface="Segoe UI"/>
            </a:endParaRPr>
          </a:p>
        </p:txBody>
      </p:sp>
      <p:graphicFrame>
        <p:nvGraphicFramePr>
          <p:cNvPr id="15" name="Table 14">
            <a:extLst>
              <a:ext uri="{FF2B5EF4-FFF2-40B4-BE49-F238E27FC236}">
                <a16:creationId xmlns:a16="http://schemas.microsoft.com/office/drawing/2014/main" id="{F7078CDE-A013-3737-F47E-C7729AD846FF}"/>
              </a:ext>
            </a:extLst>
          </p:cNvPr>
          <p:cNvGraphicFramePr>
            <a:graphicFrameLocks noGrp="1"/>
          </p:cNvGraphicFramePr>
          <p:nvPr>
            <p:custDataLst>
              <p:tags r:id="rId1"/>
            </p:custDataLst>
            <p:extLst>
              <p:ext uri="{D42A27DB-BD31-4B8C-83A1-F6EECF244321}">
                <p14:modId xmlns:p14="http://schemas.microsoft.com/office/powerpoint/2010/main" val="2049865069"/>
              </p:ext>
            </p:extLst>
          </p:nvPr>
        </p:nvGraphicFramePr>
        <p:xfrm>
          <a:off x="1777940" y="1001489"/>
          <a:ext cx="9143998" cy="4754880"/>
        </p:xfrm>
        <a:graphic>
          <a:graphicData uri="http://schemas.openxmlformats.org/drawingml/2006/table">
            <a:tbl>
              <a:tblPr>
                <a:tableStyleId>{5C22544A-7EE6-4342-B048-85BDC9FD1C3A}</a:tableStyleId>
              </a:tblPr>
              <a:tblGrid>
                <a:gridCol w="1824163">
                  <a:extLst>
                    <a:ext uri="{9D8B030D-6E8A-4147-A177-3AD203B41FA5}">
                      <a16:colId xmlns:a16="http://schemas.microsoft.com/office/drawing/2014/main" val="633458626"/>
                    </a:ext>
                  </a:extLst>
                </a:gridCol>
                <a:gridCol w="632803">
                  <a:extLst>
                    <a:ext uri="{9D8B030D-6E8A-4147-A177-3AD203B41FA5}">
                      <a16:colId xmlns:a16="http://schemas.microsoft.com/office/drawing/2014/main" val="1418794668"/>
                    </a:ext>
                  </a:extLst>
                </a:gridCol>
                <a:gridCol w="607912">
                  <a:extLst>
                    <a:ext uri="{9D8B030D-6E8A-4147-A177-3AD203B41FA5}">
                      <a16:colId xmlns:a16="http://schemas.microsoft.com/office/drawing/2014/main" val="1760181129"/>
                    </a:ext>
                  </a:extLst>
                </a:gridCol>
                <a:gridCol w="607912">
                  <a:extLst>
                    <a:ext uri="{9D8B030D-6E8A-4147-A177-3AD203B41FA5}">
                      <a16:colId xmlns:a16="http://schemas.microsoft.com/office/drawing/2014/main" val="2171775760"/>
                    </a:ext>
                  </a:extLst>
                </a:gridCol>
                <a:gridCol w="607912">
                  <a:extLst>
                    <a:ext uri="{9D8B030D-6E8A-4147-A177-3AD203B41FA5}">
                      <a16:colId xmlns:a16="http://schemas.microsoft.com/office/drawing/2014/main" val="625812938"/>
                    </a:ext>
                  </a:extLst>
                </a:gridCol>
                <a:gridCol w="607912">
                  <a:extLst>
                    <a:ext uri="{9D8B030D-6E8A-4147-A177-3AD203B41FA5}">
                      <a16:colId xmlns:a16="http://schemas.microsoft.com/office/drawing/2014/main" val="3896168602"/>
                    </a:ext>
                  </a:extLst>
                </a:gridCol>
                <a:gridCol w="607912">
                  <a:extLst>
                    <a:ext uri="{9D8B030D-6E8A-4147-A177-3AD203B41FA5}">
                      <a16:colId xmlns:a16="http://schemas.microsoft.com/office/drawing/2014/main" val="166290453"/>
                    </a:ext>
                  </a:extLst>
                </a:gridCol>
                <a:gridCol w="607912">
                  <a:extLst>
                    <a:ext uri="{9D8B030D-6E8A-4147-A177-3AD203B41FA5}">
                      <a16:colId xmlns:a16="http://schemas.microsoft.com/office/drawing/2014/main" val="2259977100"/>
                    </a:ext>
                  </a:extLst>
                </a:gridCol>
                <a:gridCol w="607912">
                  <a:extLst>
                    <a:ext uri="{9D8B030D-6E8A-4147-A177-3AD203B41FA5}">
                      <a16:colId xmlns:a16="http://schemas.microsoft.com/office/drawing/2014/main" val="606922762"/>
                    </a:ext>
                  </a:extLst>
                </a:gridCol>
                <a:gridCol w="607912">
                  <a:extLst>
                    <a:ext uri="{9D8B030D-6E8A-4147-A177-3AD203B41FA5}">
                      <a16:colId xmlns:a16="http://schemas.microsoft.com/office/drawing/2014/main" val="202146955"/>
                    </a:ext>
                  </a:extLst>
                </a:gridCol>
                <a:gridCol w="607912">
                  <a:extLst>
                    <a:ext uri="{9D8B030D-6E8A-4147-A177-3AD203B41FA5}">
                      <a16:colId xmlns:a16="http://schemas.microsoft.com/office/drawing/2014/main" val="1234734329"/>
                    </a:ext>
                  </a:extLst>
                </a:gridCol>
                <a:gridCol w="607912">
                  <a:extLst>
                    <a:ext uri="{9D8B030D-6E8A-4147-A177-3AD203B41FA5}">
                      <a16:colId xmlns:a16="http://schemas.microsoft.com/office/drawing/2014/main" val="4047410458"/>
                    </a:ext>
                  </a:extLst>
                </a:gridCol>
                <a:gridCol w="607912">
                  <a:extLst>
                    <a:ext uri="{9D8B030D-6E8A-4147-A177-3AD203B41FA5}">
                      <a16:colId xmlns:a16="http://schemas.microsoft.com/office/drawing/2014/main" val="3009638071"/>
                    </a:ext>
                  </a:extLst>
                </a:gridCol>
              </a:tblGrid>
              <a:tr h="365760">
                <a:tc>
                  <a:txBody>
                    <a:bodyPr/>
                    <a:lstStyle/>
                    <a:p>
                      <a:pPr>
                        <a:lnSpc>
                          <a:spcPts val="400"/>
                        </a:lnSpc>
                      </a:pPr>
                      <a:endParaRPr lang="en-US" sz="1400" b="1">
                        <a:solidFill>
                          <a:schemeClr val="bg1"/>
                        </a:solidFill>
                        <a:latin typeface="Avenir Next LT Pro" panose="020B0504020202020204" pitchFamily="34" charset="0"/>
                        <a:ea typeface="Cambria" panose="02040503050406030204" pitchFamily="18" charset="0"/>
                        <a:cs typeface="Calibri" panose="020F0502020204030204" pitchFamily="34" charset="0"/>
                      </a:endParaRPr>
                    </a:p>
                    <a:p>
                      <a:pPr>
                        <a:lnSpc>
                          <a:spcPts val="400"/>
                        </a:lnSpc>
                      </a:pPr>
                      <a:r>
                        <a:rPr lang="en-US" sz="1400" b="1">
                          <a:solidFill>
                            <a:schemeClr val="bg1"/>
                          </a:solidFill>
                          <a:latin typeface="Avenir Next LT Pro" panose="020B0504020202020204" pitchFamily="34" charset="0"/>
                          <a:ea typeface="Cambria" panose="02040503050406030204" pitchFamily="18" charset="0"/>
                          <a:cs typeface="Calibri" panose="020F0502020204030204" pitchFamily="34" charset="0"/>
                        </a:rPr>
                        <a:t> 6. DCF Base</a:t>
                      </a:r>
                      <a:endParaRPr lang="en-US" sz="14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495330609"/>
                  </a:ext>
                </a:extLst>
              </a:tr>
              <a:tr h="365760">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2026E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2027E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2028E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2029E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2030E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2031E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511231703"/>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Net income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$739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$695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$445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$181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$333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$465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$621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$685</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28000634"/>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 of sales</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12.2%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12.8%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8.6%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3.6%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6.0%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7.6%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9.2%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9.2%</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15665071"/>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EPS</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$0.01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$4.23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$5.07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$5.10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$3.58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$0.34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$0.11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$2.09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$4.06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$6.04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$8.26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$9.31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5668616"/>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Growth</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49770.2%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19.7%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-29.8%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-90.4%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-67.2%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1751.6%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94.4%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48.8%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36.7%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12.7%</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918616070"/>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Terminal P/E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10.00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947075"/>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 Terminal EPS</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$9.31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38219482"/>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Terminal value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$93.09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93200764"/>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 Discount factor</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0.60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19301773"/>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Discounted terminal value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dirty="0">
                          <a:solidFill>
                            <a:srgbClr val="141414"/>
                          </a:solidFill>
                          <a:effectLst/>
                          <a:latin typeface="Avenir Next LT Pro" panose="020B0504020202020204" pitchFamily="34" charset="0"/>
                        </a:rPr>
                        <a:t>$55.78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48216123"/>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 First Stage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u="none" strike="noStrike">
                          <a:effectLst/>
                          <a:latin typeface="Avenir Next LT Pro" panose="020B0504020202020204" pitchFamily="34" charset="0"/>
                          <a:ea typeface="Calibri" panose="020F0502020204030204" pitchFamily="34" charset="0"/>
                          <a:cs typeface="Calibri" panose="020F0502020204030204" pitchFamily="34" charset="0"/>
                        </a:rPr>
                        <a:t> </a:t>
                      </a: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$12.21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36129115"/>
                  </a:ext>
                </a:extLst>
              </a:tr>
              <a:tr h="365760">
                <a:tc>
                  <a:txBody>
                    <a:bodyPr/>
                    <a:lstStyle/>
                    <a:p>
                      <a:pPr algn="l" fontAlgn="b">
                        <a:buNone/>
                      </a:pPr>
                      <a:r>
                        <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 Value P/E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dirty="0">
                          <a:solidFill>
                            <a:srgbClr val="141414"/>
                          </a:solidFill>
                          <a:effectLst/>
                          <a:latin typeface="Avenir Next LT Pro" panose="020B0504020202020204" pitchFamily="34" charset="0"/>
                        </a:rPr>
                        <a:t>$67.99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21455106"/>
                  </a:ext>
                </a:extLst>
              </a:tr>
            </a:tbl>
          </a:graphicData>
        </a:graphic>
      </p:graphicFrame>
      <p:grpSp>
        <p:nvGrpSpPr>
          <p:cNvPr id="3" name="Group 2">
            <a:extLst>
              <a:ext uri="{FF2B5EF4-FFF2-40B4-BE49-F238E27FC236}">
                <a16:creationId xmlns:a16="http://schemas.microsoft.com/office/drawing/2014/main" id="{3BD09290-9EFF-199A-A746-19E293D83F02}"/>
              </a:ext>
            </a:extLst>
          </p:cNvPr>
          <p:cNvGrpSpPr/>
          <p:nvPr/>
        </p:nvGrpSpPr>
        <p:grpSpPr>
          <a:xfrm>
            <a:off x="695325" y="6302380"/>
            <a:ext cx="10429876" cy="265521"/>
            <a:chOff x="695325" y="6302380"/>
            <a:chExt cx="10429876" cy="265521"/>
          </a:xfrm>
        </p:grpSpPr>
        <p:sp>
          <p:nvSpPr>
            <p:cNvPr id="4" name="object 13">
              <a:extLst>
                <a:ext uri="{FF2B5EF4-FFF2-40B4-BE49-F238E27FC236}">
                  <a16:creationId xmlns:a16="http://schemas.microsoft.com/office/drawing/2014/main" id="{0CC5958D-D29D-1F89-C6C1-69FC836D8D85}"/>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6" name="object 14">
              <a:extLst>
                <a:ext uri="{FF2B5EF4-FFF2-40B4-BE49-F238E27FC236}">
                  <a16:creationId xmlns:a16="http://schemas.microsoft.com/office/drawing/2014/main" id="{A32AFAFC-D4E8-E18B-0BA9-AFCEF0A95458}"/>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7" name="object 15">
              <a:extLst>
                <a:ext uri="{FF2B5EF4-FFF2-40B4-BE49-F238E27FC236}">
                  <a16:creationId xmlns:a16="http://schemas.microsoft.com/office/drawing/2014/main" id="{89ACC667-A1D3-9AEE-3D57-CC33C688AB51}"/>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8" name="object 16">
              <a:extLst>
                <a:ext uri="{FF2B5EF4-FFF2-40B4-BE49-F238E27FC236}">
                  <a16:creationId xmlns:a16="http://schemas.microsoft.com/office/drawing/2014/main" id="{199DE9B3-9B77-EE3D-9278-1F55E05EA2C8}"/>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9" name="object 37">
              <a:extLst>
                <a:ext uri="{FF2B5EF4-FFF2-40B4-BE49-F238E27FC236}">
                  <a16:creationId xmlns:a16="http://schemas.microsoft.com/office/drawing/2014/main" id="{C933AFC4-46A8-B788-A0FC-5A583F7B2D72}"/>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0" name="object 39">
              <a:extLst>
                <a:ext uri="{FF2B5EF4-FFF2-40B4-BE49-F238E27FC236}">
                  <a16:creationId xmlns:a16="http://schemas.microsoft.com/office/drawing/2014/main" id="{20EB0CE2-9ACB-CA41-B9FB-E243E3683153}"/>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1" name="object 40">
              <a:extLst>
                <a:ext uri="{FF2B5EF4-FFF2-40B4-BE49-F238E27FC236}">
                  <a16:creationId xmlns:a16="http://schemas.microsoft.com/office/drawing/2014/main" id="{43357581-4065-7174-4FEF-24690F89B6AF}"/>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12" name="object 41">
              <a:extLst>
                <a:ext uri="{FF2B5EF4-FFF2-40B4-BE49-F238E27FC236}">
                  <a16:creationId xmlns:a16="http://schemas.microsoft.com/office/drawing/2014/main" id="{29F85C1B-8963-F26C-F3B6-53E0130A92F6}"/>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38854833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arley Davidson Logo PNG Image - PurePNG | Free transparent CC0 PNG ...">
            <a:extLst>
              <a:ext uri="{FF2B5EF4-FFF2-40B4-BE49-F238E27FC236}">
                <a16:creationId xmlns:a16="http://schemas.microsoft.com/office/drawing/2014/main" id="{AF218D92-73BB-559C-11EB-11D12B5993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3CD2B7EC-DB8B-010E-48E8-C8261DA21BD9}"/>
              </a:ext>
            </a:extLst>
          </p:cNvPr>
          <p:cNvGraphicFramePr>
            <a:graphicFrameLocks noGrp="1"/>
          </p:cNvGraphicFramePr>
          <p:nvPr>
            <p:extLst>
              <p:ext uri="{D42A27DB-BD31-4B8C-83A1-F6EECF244321}">
                <p14:modId xmlns:p14="http://schemas.microsoft.com/office/powerpoint/2010/main" val="2639680303"/>
              </p:ext>
            </p:extLst>
          </p:nvPr>
        </p:nvGraphicFramePr>
        <p:xfrm>
          <a:off x="1792868" y="993441"/>
          <a:ext cx="9144005" cy="4754880"/>
        </p:xfrm>
        <a:graphic>
          <a:graphicData uri="http://schemas.openxmlformats.org/drawingml/2006/table">
            <a:tbl>
              <a:tblPr>
                <a:tableStyleId>{5C22544A-7EE6-4342-B048-85BDC9FD1C3A}</a:tableStyleId>
              </a:tblPr>
              <a:tblGrid>
                <a:gridCol w="1922681">
                  <a:extLst>
                    <a:ext uri="{9D8B030D-6E8A-4147-A177-3AD203B41FA5}">
                      <a16:colId xmlns:a16="http://schemas.microsoft.com/office/drawing/2014/main" val="1730735320"/>
                    </a:ext>
                  </a:extLst>
                </a:gridCol>
                <a:gridCol w="601777">
                  <a:extLst>
                    <a:ext uri="{9D8B030D-6E8A-4147-A177-3AD203B41FA5}">
                      <a16:colId xmlns:a16="http://schemas.microsoft.com/office/drawing/2014/main" val="3255835474"/>
                    </a:ext>
                  </a:extLst>
                </a:gridCol>
                <a:gridCol w="601777">
                  <a:extLst>
                    <a:ext uri="{9D8B030D-6E8A-4147-A177-3AD203B41FA5}">
                      <a16:colId xmlns:a16="http://schemas.microsoft.com/office/drawing/2014/main" val="898726422"/>
                    </a:ext>
                  </a:extLst>
                </a:gridCol>
                <a:gridCol w="601777">
                  <a:extLst>
                    <a:ext uri="{9D8B030D-6E8A-4147-A177-3AD203B41FA5}">
                      <a16:colId xmlns:a16="http://schemas.microsoft.com/office/drawing/2014/main" val="1984808713"/>
                    </a:ext>
                  </a:extLst>
                </a:gridCol>
                <a:gridCol w="601777">
                  <a:extLst>
                    <a:ext uri="{9D8B030D-6E8A-4147-A177-3AD203B41FA5}">
                      <a16:colId xmlns:a16="http://schemas.microsoft.com/office/drawing/2014/main" val="18268298"/>
                    </a:ext>
                  </a:extLst>
                </a:gridCol>
                <a:gridCol w="601777">
                  <a:extLst>
                    <a:ext uri="{9D8B030D-6E8A-4147-A177-3AD203B41FA5}">
                      <a16:colId xmlns:a16="http://schemas.microsoft.com/office/drawing/2014/main" val="2131047870"/>
                    </a:ext>
                  </a:extLst>
                </a:gridCol>
                <a:gridCol w="601777">
                  <a:extLst>
                    <a:ext uri="{9D8B030D-6E8A-4147-A177-3AD203B41FA5}">
                      <a16:colId xmlns:a16="http://schemas.microsoft.com/office/drawing/2014/main" val="1075828899"/>
                    </a:ext>
                  </a:extLst>
                </a:gridCol>
                <a:gridCol w="601777">
                  <a:extLst>
                    <a:ext uri="{9D8B030D-6E8A-4147-A177-3AD203B41FA5}">
                      <a16:colId xmlns:a16="http://schemas.microsoft.com/office/drawing/2014/main" val="1434190282"/>
                    </a:ext>
                  </a:extLst>
                </a:gridCol>
                <a:gridCol w="601777">
                  <a:extLst>
                    <a:ext uri="{9D8B030D-6E8A-4147-A177-3AD203B41FA5}">
                      <a16:colId xmlns:a16="http://schemas.microsoft.com/office/drawing/2014/main" val="4116427018"/>
                    </a:ext>
                  </a:extLst>
                </a:gridCol>
                <a:gridCol w="601777">
                  <a:extLst>
                    <a:ext uri="{9D8B030D-6E8A-4147-A177-3AD203B41FA5}">
                      <a16:colId xmlns:a16="http://schemas.microsoft.com/office/drawing/2014/main" val="3482935577"/>
                    </a:ext>
                  </a:extLst>
                </a:gridCol>
                <a:gridCol w="601777">
                  <a:extLst>
                    <a:ext uri="{9D8B030D-6E8A-4147-A177-3AD203B41FA5}">
                      <a16:colId xmlns:a16="http://schemas.microsoft.com/office/drawing/2014/main" val="1154516565"/>
                    </a:ext>
                  </a:extLst>
                </a:gridCol>
                <a:gridCol w="601777">
                  <a:extLst>
                    <a:ext uri="{9D8B030D-6E8A-4147-A177-3AD203B41FA5}">
                      <a16:colId xmlns:a16="http://schemas.microsoft.com/office/drawing/2014/main" val="3085776334"/>
                    </a:ext>
                  </a:extLst>
                </a:gridCol>
                <a:gridCol w="601777">
                  <a:extLst>
                    <a:ext uri="{9D8B030D-6E8A-4147-A177-3AD203B41FA5}">
                      <a16:colId xmlns:a16="http://schemas.microsoft.com/office/drawing/2014/main" val="4238386309"/>
                    </a:ext>
                  </a:extLst>
                </a:gridCol>
              </a:tblGrid>
              <a:tr h="365760">
                <a:tc>
                  <a:txBody>
                    <a:bodyPr/>
                    <a:lstStyle/>
                    <a:p>
                      <a:pPr>
                        <a:lnSpc>
                          <a:spcPts val="400"/>
                        </a:lnSpc>
                      </a:pPr>
                      <a:endParaRPr lang="en-US" sz="1200" b="1">
                        <a:solidFill>
                          <a:schemeClr val="bg1"/>
                        </a:solidFill>
                        <a:latin typeface="Avenir Next LT Pro" panose="020B0504020202020204" pitchFamily="34" charset="0"/>
                        <a:ea typeface="Cambria" panose="02040503050406030204" pitchFamily="18" charset="0"/>
                        <a:cs typeface="Calibri" panose="020F0502020204030204" pitchFamily="34" charset="0"/>
                      </a:endParaRPr>
                    </a:p>
                    <a:p>
                      <a:pPr algn="l">
                        <a:lnSpc>
                          <a:spcPts val="400"/>
                        </a:lnSpc>
                      </a:pPr>
                      <a:r>
                        <a:rPr lang="en-US" sz="1400" b="1" kern="1200">
                          <a:solidFill>
                            <a:schemeClr val="bg1"/>
                          </a:solidFill>
                          <a:latin typeface="Avenir Next LT Pro" panose="020B0504020202020204" pitchFamily="34" charset="0"/>
                          <a:ea typeface="Cambria" panose="02040503050406030204" pitchFamily="18" charset="0"/>
                          <a:cs typeface="Calibri" panose="020F0502020204030204" pitchFamily="34" charset="0"/>
                        </a:rPr>
                        <a:t> 7. DCF Bull </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2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2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0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506204816"/>
                  </a:ext>
                </a:extLst>
              </a:tr>
              <a:tr h="365760">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2026E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2027E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2028E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2029E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2030E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2031E</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642340169"/>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Net Income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$739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$695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$445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$330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$461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$508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$677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$746</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80129287"/>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 of sales</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12.2%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12.8%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8.6%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6.0%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7.6%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7.6%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9.2%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9.3%</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81541238"/>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EPS</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$0.01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$4.23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$5.07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$5.10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$3.58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$0.34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$0.13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$3.82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$5.62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$6.59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$9.00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$10.15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69719748"/>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Growth</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49770.2%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19.7%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-29.8%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-90.4%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-62.1%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2829.9%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47.0%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17.3%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36.6%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12.7%</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88999955"/>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Terminal P/E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12.00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439993922"/>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 Terminal EPS</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$10.15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98266314"/>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Terminal value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$121.76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27444742"/>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 Discount factor</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0.60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65315983"/>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Discounted terminal value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$72.95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04705763"/>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 First Stage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$9.53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906599753"/>
                  </a:ext>
                </a:extLst>
              </a:tr>
              <a:tr h="365760">
                <a:tc>
                  <a:txBody>
                    <a:bodyPr/>
                    <a:lstStyle/>
                    <a:p>
                      <a:pPr algn="l" fontAlgn="b">
                        <a:buNone/>
                      </a:pPr>
                      <a:r>
                        <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 Value P/E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141414"/>
                          </a:solidFill>
                          <a:effectLst/>
                          <a:latin typeface="Avenir Next LT Pro" panose="020B0504020202020204" pitchFamily="34" charset="0"/>
                        </a:rPr>
                        <a:t>$82.48 </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27476807"/>
                  </a:ext>
                </a:extLst>
              </a:tr>
            </a:tbl>
          </a:graphicData>
        </a:graphic>
      </p:graphicFrame>
      <p:sp>
        <p:nvSpPr>
          <p:cNvPr id="22" name="object 4">
            <a:extLst>
              <a:ext uri="{FF2B5EF4-FFF2-40B4-BE49-F238E27FC236}">
                <a16:creationId xmlns:a16="http://schemas.microsoft.com/office/drawing/2014/main" id="{70C2E889-8EC2-5B53-A99A-3FC37BD900BC}"/>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pSp>
        <p:nvGrpSpPr>
          <p:cNvPr id="4" name="Group 3">
            <a:extLst>
              <a:ext uri="{FF2B5EF4-FFF2-40B4-BE49-F238E27FC236}">
                <a16:creationId xmlns:a16="http://schemas.microsoft.com/office/drawing/2014/main" id="{B6016FA3-4A2A-B388-194D-DAC1D5F3DEC7}"/>
              </a:ext>
            </a:extLst>
          </p:cNvPr>
          <p:cNvGrpSpPr/>
          <p:nvPr/>
        </p:nvGrpSpPr>
        <p:grpSpPr>
          <a:xfrm>
            <a:off x="695325" y="6302380"/>
            <a:ext cx="10429876" cy="265521"/>
            <a:chOff x="695325" y="6302380"/>
            <a:chExt cx="10429876" cy="265521"/>
          </a:xfrm>
        </p:grpSpPr>
        <p:sp>
          <p:nvSpPr>
            <p:cNvPr id="6" name="object 13">
              <a:extLst>
                <a:ext uri="{FF2B5EF4-FFF2-40B4-BE49-F238E27FC236}">
                  <a16:creationId xmlns:a16="http://schemas.microsoft.com/office/drawing/2014/main" id="{A28ED2EF-E002-6E3B-CD78-8F6E81E0A898}"/>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7" name="object 14">
              <a:extLst>
                <a:ext uri="{FF2B5EF4-FFF2-40B4-BE49-F238E27FC236}">
                  <a16:creationId xmlns:a16="http://schemas.microsoft.com/office/drawing/2014/main" id="{6E0D7ED4-CE46-788B-A38A-C4452D7E3AC3}"/>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8" name="object 15">
              <a:extLst>
                <a:ext uri="{FF2B5EF4-FFF2-40B4-BE49-F238E27FC236}">
                  <a16:creationId xmlns:a16="http://schemas.microsoft.com/office/drawing/2014/main" id="{9C8B922A-C6B6-7C5C-AD57-FE71A622435A}"/>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3" action="ppaction://hlinksldjump">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9" name="object 16">
              <a:extLst>
                <a:ext uri="{FF2B5EF4-FFF2-40B4-BE49-F238E27FC236}">
                  <a16:creationId xmlns:a16="http://schemas.microsoft.com/office/drawing/2014/main" id="{C4410A95-07C0-98C8-3443-DE2CD4AEB794}"/>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0" name="object 37">
              <a:extLst>
                <a:ext uri="{FF2B5EF4-FFF2-40B4-BE49-F238E27FC236}">
                  <a16:creationId xmlns:a16="http://schemas.microsoft.com/office/drawing/2014/main" id="{D2C2515F-CB6F-312C-BBBE-29B910916DD4}"/>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1" name="object 39">
              <a:extLst>
                <a:ext uri="{FF2B5EF4-FFF2-40B4-BE49-F238E27FC236}">
                  <a16:creationId xmlns:a16="http://schemas.microsoft.com/office/drawing/2014/main" id="{E9F3B5A9-D1B4-0E63-3C94-480478526145}"/>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2" name="object 40">
              <a:extLst>
                <a:ext uri="{FF2B5EF4-FFF2-40B4-BE49-F238E27FC236}">
                  <a16:creationId xmlns:a16="http://schemas.microsoft.com/office/drawing/2014/main" id="{62B244DC-5885-0EEF-43FC-2577ADBB538A}"/>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13" name="object 41">
              <a:extLst>
                <a:ext uri="{FF2B5EF4-FFF2-40B4-BE49-F238E27FC236}">
                  <a16:creationId xmlns:a16="http://schemas.microsoft.com/office/drawing/2014/main" id="{5A386B7D-DCFA-C199-AA87-6AB8F8C96F89}"/>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3570302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540E2-7880-3795-556B-4A6F2C2F0715}"/>
            </a:ext>
          </a:extLst>
        </p:cNvPr>
        <p:cNvGrpSpPr/>
        <p:nvPr/>
      </p:nvGrpSpPr>
      <p:grpSpPr>
        <a:xfrm>
          <a:off x="0" y="0"/>
          <a:ext cx="0" cy="0"/>
          <a:chOff x="0" y="0"/>
          <a:chExt cx="0" cy="0"/>
        </a:xfrm>
      </p:grpSpPr>
      <p:pic>
        <p:nvPicPr>
          <p:cNvPr id="2" name="Picture 1" descr="Harley Davidson Logo PNG Image - PurePNG | Free transparent CC0 PNG ...">
            <a:extLst>
              <a:ext uri="{FF2B5EF4-FFF2-40B4-BE49-F238E27FC236}">
                <a16:creationId xmlns:a16="http://schemas.microsoft.com/office/drawing/2014/main" id="{F3E37250-EC31-53AD-EBB2-00B0540D0F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34C1081F-0FDA-4A72-A5EA-7E4D7AFE576C}"/>
              </a:ext>
            </a:extLst>
          </p:cNvPr>
          <p:cNvGraphicFramePr>
            <a:graphicFrameLocks noGrp="1"/>
          </p:cNvGraphicFramePr>
          <p:nvPr>
            <p:custDataLst>
              <p:tags r:id="rId1"/>
            </p:custDataLst>
            <p:extLst>
              <p:ext uri="{D42A27DB-BD31-4B8C-83A1-F6EECF244321}">
                <p14:modId xmlns:p14="http://schemas.microsoft.com/office/powerpoint/2010/main" val="64552387"/>
              </p:ext>
            </p:extLst>
          </p:nvPr>
        </p:nvGraphicFramePr>
        <p:xfrm>
          <a:off x="1782208" y="983409"/>
          <a:ext cx="9143995" cy="4754880"/>
        </p:xfrm>
        <a:graphic>
          <a:graphicData uri="http://schemas.openxmlformats.org/drawingml/2006/table">
            <a:tbl>
              <a:tblPr>
                <a:tableStyleId>{5C22544A-7EE6-4342-B048-85BDC9FD1C3A}</a:tableStyleId>
              </a:tblPr>
              <a:tblGrid>
                <a:gridCol w="1921939">
                  <a:extLst>
                    <a:ext uri="{9D8B030D-6E8A-4147-A177-3AD203B41FA5}">
                      <a16:colId xmlns:a16="http://schemas.microsoft.com/office/drawing/2014/main" val="848356194"/>
                    </a:ext>
                  </a:extLst>
                </a:gridCol>
                <a:gridCol w="601838">
                  <a:extLst>
                    <a:ext uri="{9D8B030D-6E8A-4147-A177-3AD203B41FA5}">
                      <a16:colId xmlns:a16="http://schemas.microsoft.com/office/drawing/2014/main" val="2174177587"/>
                    </a:ext>
                  </a:extLst>
                </a:gridCol>
                <a:gridCol w="601838">
                  <a:extLst>
                    <a:ext uri="{9D8B030D-6E8A-4147-A177-3AD203B41FA5}">
                      <a16:colId xmlns:a16="http://schemas.microsoft.com/office/drawing/2014/main" val="755334682"/>
                    </a:ext>
                  </a:extLst>
                </a:gridCol>
                <a:gridCol w="601838">
                  <a:extLst>
                    <a:ext uri="{9D8B030D-6E8A-4147-A177-3AD203B41FA5}">
                      <a16:colId xmlns:a16="http://schemas.microsoft.com/office/drawing/2014/main" val="302330595"/>
                    </a:ext>
                  </a:extLst>
                </a:gridCol>
                <a:gridCol w="601838">
                  <a:extLst>
                    <a:ext uri="{9D8B030D-6E8A-4147-A177-3AD203B41FA5}">
                      <a16:colId xmlns:a16="http://schemas.microsoft.com/office/drawing/2014/main" val="2941020105"/>
                    </a:ext>
                  </a:extLst>
                </a:gridCol>
                <a:gridCol w="601838">
                  <a:extLst>
                    <a:ext uri="{9D8B030D-6E8A-4147-A177-3AD203B41FA5}">
                      <a16:colId xmlns:a16="http://schemas.microsoft.com/office/drawing/2014/main" val="2678069063"/>
                    </a:ext>
                  </a:extLst>
                </a:gridCol>
                <a:gridCol w="601838">
                  <a:extLst>
                    <a:ext uri="{9D8B030D-6E8A-4147-A177-3AD203B41FA5}">
                      <a16:colId xmlns:a16="http://schemas.microsoft.com/office/drawing/2014/main" val="640148882"/>
                    </a:ext>
                  </a:extLst>
                </a:gridCol>
                <a:gridCol w="601838">
                  <a:extLst>
                    <a:ext uri="{9D8B030D-6E8A-4147-A177-3AD203B41FA5}">
                      <a16:colId xmlns:a16="http://schemas.microsoft.com/office/drawing/2014/main" val="3767586042"/>
                    </a:ext>
                  </a:extLst>
                </a:gridCol>
                <a:gridCol w="601838">
                  <a:extLst>
                    <a:ext uri="{9D8B030D-6E8A-4147-A177-3AD203B41FA5}">
                      <a16:colId xmlns:a16="http://schemas.microsoft.com/office/drawing/2014/main" val="655647484"/>
                    </a:ext>
                  </a:extLst>
                </a:gridCol>
                <a:gridCol w="601838">
                  <a:extLst>
                    <a:ext uri="{9D8B030D-6E8A-4147-A177-3AD203B41FA5}">
                      <a16:colId xmlns:a16="http://schemas.microsoft.com/office/drawing/2014/main" val="1982295730"/>
                    </a:ext>
                  </a:extLst>
                </a:gridCol>
                <a:gridCol w="601838">
                  <a:extLst>
                    <a:ext uri="{9D8B030D-6E8A-4147-A177-3AD203B41FA5}">
                      <a16:colId xmlns:a16="http://schemas.microsoft.com/office/drawing/2014/main" val="2531226543"/>
                    </a:ext>
                  </a:extLst>
                </a:gridCol>
                <a:gridCol w="601838">
                  <a:extLst>
                    <a:ext uri="{9D8B030D-6E8A-4147-A177-3AD203B41FA5}">
                      <a16:colId xmlns:a16="http://schemas.microsoft.com/office/drawing/2014/main" val="424529571"/>
                    </a:ext>
                  </a:extLst>
                </a:gridCol>
                <a:gridCol w="601838">
                  <a:extLst>
                    <a:ext uri="{9D8B030D-6E8A-4147-A177-3AD203B41FA5}">
                      <a16:colId xmlns:a16="http://schemas.microsoft.com/office/drawing/2014/main" val="1421570811"/>
                    </a:ext>
                  </a:extLst>
                </a:gridCol>
              </a:tblGrid>
              <a:tr h="365760">
                <a:tc>
                  <a:txBody>
                    <a:bodyPr/>
                    <a:lstStyle/>
                    <a:p>
                      <a:pPr algn="l">
                        <a:lnSpc>
                          <a:spcPts val="400"/>
                        </a:lnSpc>
                      </a:pPr>
                      <a:r>
                        <a:rPr lang="en-US" sz="1100" b="1">
                          <a:solidFill>
                            <a:schemeClr val="bg1"/>
                          </a:solidFill>
                          <a:latin typeface="Avenir Next LT Pro" panose="020B0504020202020204" pitchFamily="34" charset="0"/>
                          <a:ea typeface="Cambria" panose="02040503050406030204" pitchFamily="18" charset="0"/>
                          <a:cs typeface="Calibri" panose="020F0502020204030204" pitchFamily="34" charset="0"/>
                        </a:rPr>
                        <a:t> </a:t>
                      </a:r>
                      <a:r>
                        <a:rPr lang="en-US" sz="1400" b="1">
                          <a:solidFill>
                            <a:schemeClr val="bg1"/>
                          </a:solidFill>
                          <a:latin typeface="Avenir Next LT Pro" panose="020B0504020202020204" pitchFamily="34" charset="0"/>
                          <a:ea typeface="Cambria" panose="02040503050406030204" pitchFamily="18" charset="0"/>
                          <a:cs typeface="Calibri" panose="020F0502020204030204" pitchFamily="34" charset="0"/>
                        </a:rPr>
                        <a:t>8. DCF Bear</a:t>
                      </a:r>
                    </a:p>
                  </a:txBody>
                  <a:tcPr marL="0" marR="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3035687876"/>
                  </a:ext>
                </a:extLst>
              </a:tr>
              <a:tr h="365760">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2020</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2021</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2022</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2023</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2024</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2025</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2026E</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2027E</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2028E</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2029E</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2030E</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2031E</a:t>
                      </a: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180139878"/>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Net income</a:t>
                      </a:r>
                    </a:p>
                  </a:txBody>
                  <a:tcPr marL="0" marR="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$650</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$739</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$695</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$445</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$38</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-$62</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-$59</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$128</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$172</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$178</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$185</a:t>
                      </a: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79036720"/>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 of sales</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12.2%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3.5%</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25064599"/>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EPS</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$0.01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$4.23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$5.07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$5.10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$3.58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$0.34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($0.68)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($0.68)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$1.56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$2.23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$2.37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$2.52 </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104703189"/>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Growth</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49770.2%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19.7%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-29.8%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-90.4%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-297.5%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129.4%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43.2%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6.3%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1" u="none" strike="noStrike">
                          <a:solidFill>
                            <a:srgbClr val="141414"/>
                          </a:solidFill>
                          <a:effectLst/>
                          <a:latin typeface="Avenir Next LT Pro" panose="020B0504020202020204" pitchFamily="34" charset="0"/>
                        </a:rPr>
                        <a:t>6.2%</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85419114"/>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Terminal P/E</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8.00 </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45314658"/>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 Terminal EPS</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$2.52 </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72087807"/>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Terminal value</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$20.13 </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41742912"/>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 Discount factor</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0.60 </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51144736"/>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rPr>
                        <a:t> Discounted terminal value</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rPr>
                        <a:t>$12.06 </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726922347"/>
                  </a:ext>
                </a:extLst>
              </a:tr>
              <a:tr h="365760">
                <a:tc>
                  <a:txBody>
                    <a:bodyPr/>
                    <a:lstStyle/>
                    <a:p>
                      <a:pPr algn="l"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 First Stage</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$17.05</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9069141"/>
                  </a:ext>
                </a:extLst>
              </a:tr>
              <a:tr h="365760">
                <a:tc>
                  <a:txBody>
                    <a:bodyPr/>
                    <a:lstStyle/>
                    <a:p>
                      <a:pPr algn="l" fontAlgn="b">
                        <a:buNone/>
                      </a:pPr>
                      <a:r>
                        <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 Value P/E</a:t>
                      </a:r>
                    </a:p>
                  </a:txBody>
                  <a:tcPr marL="0" marR="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141414"/>
                          </a:solidFill>
                          <a:effectLst/>
                          <a:latin typeface="Avenir Next LT Pro" panose="020B0504020202020204" pitchFamily="34" charset="0"/>
                          <a:ea typeface="Calibri" panose="020F0502020204030204" pitchFamily="34" charset="0"/>
                          <a:cs typeface="Calibri" panose="020F0502020204030204" pitchFamily="34" charset="0"/>
                        </a:rPr>
                        <a:t>$29.11</a:t>
                      </a: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6047326"/>
                  </a:ext>
                </a:extLst>
              </a:tr>
            </a:tbl>
          </a:graphicData>
        </a:graphic>
      </p:graphicFrame>
      <p:sp>
        <p:nvSpPr>
          <p:cNvPr id="14" name="object 4">
            <a:extLst>
              <a:ext uri="{FF2B5EF4-FFF2-40B4-BE49-F238E27FC236}">
                <a16:creationId xmlns:a16="http://schemas.microsoft.com/office/drawing/2014/main" id="{667B1377-B59F-8AF5-5BC8-CBD2B5D71C1E}"/>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grpSp>
        <p:nvGrpSpPr>
          <p:cNvPr id="4" name="Group 3">
            <a:extLst>
              <a:ext uri="{FF2B5EF4-FFF2-40B4-BE49-F238E27FC236}">
                <a16:creationId xmlns:a16="http://schemas.microsoft.com/office/drawing/2014/main" id="{BB21EF1B-EEFB-8886-4FCA-65A3A972B6AE}"/>
              </a:ext>
            </a:extLst>
          </p:cNvPr>
          <p:cNvGrpSpPr/>
          <p:nvPr/>
        </p:nvGrpSpPr>
        <p:grpSpPr>
          <a:xfrm>
            <a:off x="695325" y="6302380"/>
            <a:ext cx="10429876" cy="265521"/>
            <a:chOff x="695325" y="6302380"/>
            <a:chExt cx="10429876" cy="265521"/>
          </a:xfrm>
        </p:grpSpPr>
        <p:sp>
          <p:nvSpPr>
            <p:cNvPr id="15" name="object 13">
              <a:extLst>
                <a:ext uri="{FF2B5EF4-FFF2-40B4-BE49-F238E27FC236}">
                  <a16:creationId xmlns:a16="http://schemas.microsoft.com/office/drawing/2014/main" id="{A3A84A45-EDE4-3AD0-A517-760B158B6F56}"/>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16" name="object 14">
              <a:extLst>
                <a:ext uri="{FF2B5EF4-FFF2-40B4-BE49-F238E27FC236}">
                  <a16:creationId xmlns:a16="http://schemas.microsoft.com/office/drawing/2014/main" id="{258EA531-AE7B-23E2-EF95-2B56114C5BA5}"/>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17" name="object 15">
              <a:extLst>
                <a:ext uri="{FF2B5EF4-FFF2-40B4-BE49-F238E27FC236}">
                  <a16:creationId xmlns:a16="http://schemas.microsoft.com/office/drawing/2014/main" id="{D0AB94AB-B2EB-09ED-59A3-81C433787309}"/>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18" name="object 16">
              <a:extLst>
                <a:ext uri="{FF2B5EF4-FFF2-40B4-BE49-F238E27FC236}">
                  <a16:creationId xmlns:a16="http://schemas.microsoft.com/office/drawing/2014/main" id="{25804883-6082-3E87-51D2-A94C6B367A19}"/>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9" name="object 37">
              <a:extLst>
                <a:ext uri="{FF2B5EF4-FFF2-40B4-BE49-F238E27FC236}">
                  <a16:creationId xmlns:a16="http://schemas.microsoft.com/office/drawing/2014/main" id="{E052E17E-55E2-AD15-0B99-51DE210D9E38}"/>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20" name="object 39">
              <a:extLst>
                <a:ext uri="{FF2B5EF4-FFF2-40B4-BE49-F238E27FC236}">
                  <a16:creationId xmlns:a16="http://schemas.microsoft.com/office/drawing/2014/main" id="{11557EAF-3337-848B-7C2B-323FBE34595C}"/>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21" name="object 40">
              <a:extLst>
                <a:ext uri="{FF2B5EF4-FFF2-40B4-BE49-F238E27FC236}">
                  <a16:creationId xmlns:a16="http://schemas.microsoft.com/office/drawing/2014/main" id="{2B8F6F5F-95B2-8FB3-7F11-1C02C734D156}"/>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22" name="object 41">
              <a:extLst>
                <a:ext uri="{FF2B5EF4-FFF2-40B4-BE49-F238E27FC236}">
                  <a16:creationId xmlns:a16="http://schemas.microsoft.com/office/drawing/2014/main" id="{C72965CE-0143-FF98-963B-07C3A46DF464}"/>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3641887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CECBC44E-FEFC-F368-8327-A1A4DAB4836E}"/>
              </a:ext>
            </a:extLst>
          </p:cNvPr>
          <p:cNvGraphicFramePr>
            <a:graphicFrameLocks noGrp="1"/>
          </p:cNvGraphicFramePr>
          <p:nvPr>
            <p:ph idx="1"/>
            <p:custDataLst>
              <p:tags r:id="rId1"/>
            </p:custDataLst>
            <p:extLst>
              <p:ext uri="{D42A27DB-BD31-4B8C-83A1-F6EECF244321}">
                <p14:modId xmlns:p14="http://schemas.microsoft.com/office/powerpoint/2010/main" val="1626611020"/>
              </p:ext>
            </p:extLst>
          </p:nvPr>
        </p:nvGraphicFramePr>
        <p:xfrm>
          <a:off x="2142226" y="603849"/>
          <a:ext cx="7614807" cy="5562648"/>
        </p:xfrm>
        <a:graphic>
          <a:graphicData uri="http://schemas.openxmlformats.org/drawingml/2006/table">
            <a:tbl>
              <a:tblPr/>
              <a:tblGrid>
                <a:gridCol w="3888313">
                  <a:extLst>
                    <a:ext uri="{9D8B030D-6E8A-4147-A177-3AD203B41FA5}">
                      <a16:colId xmlns:a16="http://schemas.microsoft.com/office/drawing/2014/main" val="3819689381"/>
                    </a:ext>
                  </a:extLst>
                </a:gridCol>
                <a:gridCol w="3726494">
                  <a:extLst>
                    <a:ext uri="{9D8B030D-6E8A-4147-A177-3AD203B41FA5}">
                      <a16:colId xmlns:a16="http://schemas.microsoft.com/office/drawing/2014/main" val="3318703840"/>
                    </a:ext>
                  </a:extLst>
                </a:gridCol>
              </a:tblGrid>
              <a:tr h="315606">
                <a:tc>
                  <a:txBody>
                    <a:bodyPr/>
                    <a:lstStyle/>
                    <a:p>
                      <a:pPr algn="ctr" fontAlgn="base">
                        <a:lnSpc>
                          <a:spcPts val="2775"/>
                        </a:lnSpc>
                        <a:buNone/>
                      </a:pPr>
                      <a:r>
                        <a:rPr lang="en-US" b="1">
                          <a:solidFill>
                            <a:schemeClr val="bg1"/>
                          </a:solidFill>
                          <a:latin typeface="Avenir Next LT Pro" panose="020B0504020202020204" pitchFamily="34" charset="0"/>
                          <a:ea typeface="Calibri"/>
                          <a:cs typeface="Calibri"/>
                        </a:rPr>
                        <a:t>Strengths​</a:t>
                      </a:r>
                    </a:p>
                  </a:txBody>
                  <a:tcPr marL="64464" marR="64464" marT="32232" marB="322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fontAlgn="base">
                        <a:lnSpc>
                          <a:spcPts val="2775"/>
                        </a:lnSpc>
                        <a:buNone/>
                      </a:pPr>
                      <a:r>
                        <a:rPr lang="en-US" b="1">
                          <a:solidFill>
                            <a:schemeClr val="bg1"/>
                          </a:solidFill>
                          <a:latin typeface="Avenir Next LT Pro" panose="020B0504020202020204" pitchFamily="34" charset="0"/>
                          <a:ea typeface="Calibri"/>
                          <a:cs typeface="Calibri"/>
                        </a:rPr>
                        <a:t>Weakness​</a:t>
                      </a:r>
                    </a:p>
                  </a:txBody>
                  <a:tcPr marL="64464" marR="64464" marT="32232" marB="322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1110110640"/>
                  </a:ext>
                </a:extLst>
              </a:tr>
              <a:tr h="2095089">
                <a:tc>
                  <a:txBody>
                    <a:bodyPr/>
                    <a:lstStyle/>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Strong brand loyalty &amp; lifestyle image</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Leader in heavyweight touring motorcycles</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Financing arm (HDFS) supports sales &amp; profits</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Strong cash flow, dividends, buybacks </a:t>
                      </a:r>
                    </a:p>
                    <a:p>
                      <a:pPr lvl="0" algn="l">
                        <a:lnSpc>
                          <a:spcPts val="2400"/>
                        </a:lnSpc>
                        <a:buNone/>
                      </a:pPr>
                      <a:endParaRPr lang="en-US" sz="1400" b="0" i="0">
                        <a:solidFill>
                          <a:srgbClr val="000000"/>
                        </a:solidFill>
                        <a:effectLst/>
                        <a:latin typeface="Avenir Next LT Pro" panose="020B0504020202020204" pitchFamily="34" charset="0"/>
                        <a:ea typeface="Calibri"/>
                        <a:cs typeface="Calibri"/>
                      </a:endParaRPr>
                    </a:p>
                  </a:txBody>
                  <a:tcPr marL="64464" marR="64464" marT="32232" marB="322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Aging customer base</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Expensive bikes limit younger buyers</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Reliance on heavyweight segment</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Electric segment unprofitable</a:t>
                      </a:r>
                    </a:p>
                    <a:p>
                      <a:pPr lvl="0" algn="l">
                        <a:lnSpc>
                          <a:spcPts val="2400"/>
                        </a:lnSpc>
                        <a:buNone/>
                      </a:pPr>
                      <a:endParaRPr lang="en-US" sz="1400" b="0" i="0">
                        <a:solidFill>
                          <a:srgbClr val="000000"/>
                        </a:solidFill>
                        <a:effectLst/>
                        <a:latin typeface="Avenir Next LT Pro" panose="020B0504020202020204" pitchFamily="34" charset="0"/>
                        <a:ea typeface="Calibri"/>
                        <a:cs typeface="Calibri"/>
                      </a:endParaRPr>
                    </a:p>
                  </a:txBody>
                  <a:tcPr marL="64464" marR="64464" marT="32232" marB="322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0342364"/>
                  </a:ext>
                </a:extLst>
              </a:tr>
              <a:tr h="322321">
                <a:tc>
                  <a:txBody>
                    <a:bodyPr/>
                    <a:lstStyle/>
                    <a:p>
                      <a:pPr marL="0" algn="ctr" defTabSz="914400" rtl="0" eaLnBrk="1" fontAlgn="base" latinLnBrk="0" hangingPunct="1">
                        <a:lnSpc>
                          <a:spcPts val="2775"/>
                        </a:lnSpc>
                        <a:buNone/>
                      </a:pPr>
                      <a:r>
                        <a:rPr lang="en-US" b="1">
                          <a:solidFill>
                            <a:schemeClr val="bg1"/>
                          </a:solidFill>
                          <a:latin typeface="Avenir Next LT Pro" panose="020B0504020202020204" pitchFamily="34" charset="0"/>
                          <a:ea typeface="Calibri"/>
                          <a:cs typeface="Calibri"/>
                        </a:rPr>
                        <a:t>Opportunities​</a:t>
                      </a:r>
                    </a:p>
                  </a:txBody>
                  <a:tcPr marL="64464" marR="64464" marT="32232" marB="322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marL="0" algn="ctr" defTabSz="914400" rtl="0" eaLnBrk="1" fontAlgn="base" latinLnBrk="0" hangingPunct="1">
                        <a:lnSpc>
                          <a:spcPts val="2775"/>
                        </a:lnSpc>
                        <a:buNone/>
                      </a:pPr>
                      <a:r>
                        <a:rPr lang="en-US" b="1">
                          <a:solidFill>
                            <a:schemeClr val="bg1"/>
                          </a:solidFill>
                          <a:latin typeface="Avenir Next LT Pro" panose="020B0504020202020204" pitchFamily="34" charset="0"/>
                          <a:ea typeface="Calibri"/>
                          <a:cs typeface="Calibri"/>
                        </a:rPr>
                        <a:t>Threats​</a:t>
                      </a:r>
                    </a:p>
                  </a:txBody>
                  <a:tcPr marL="64464" marR="64464" marT="32232" marB="322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2733759758"/>
                  </a:ext>
                </a:extLst>
              </a:tr>
              <a:tr h="1599456">
                <a:tc>
                  <a:txBody>
                    <a:bodyPr/>
                    <a:lstStyle/>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New entry-level “Sprint” motorcycle</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Electric bikes &amp; scooters expansion</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International growth markets</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Lower interest rates boost financing</a:t>
                      </a:r>
                    </a:p>
                    <a:p>
                      <a:pPr lvl="0" algn="l">
                        <a:lnSpc>
                          <a:spcPts val="2400"/>
                        </a:lnSpc>
                        <a:buNone/>
                      </a:pPr>
                      <a:endParaRPr lang="en-US" sz="1400" b="0" i="0">
                        <a:solidFill>
                          <a:srgbClr val="000000"/>
                        </a:solidFill>
                        <a:effectLst/>
                        <a:latin typeface="Avenir Next LT Pro" panose="020B0504020202020204" pitchFamily="34" charset="0"/>
                        <a:ea typeface="Calibri"/>
                        <a:cs typeface="Calibri"/>
                      </a:endParaRPr>
                    </a:p>
                  </a:txBody>
                  <a:tcPr marL="64464" marR="64464" marT="32232" marB="322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Cyclical demand &amp; recession risk</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Cheaper competitors &amp; substitutes</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Tariffs and supply chain issues</a:t>
                      </a:r>
                    </a:p>
                    <a:p>
                      <a:pPr marL="285750" lvl="0" indent="-285750" algn="l">
                        <a:lnSpc>
                          <a:spcPct val="100000"/>
                        </a:lnSpc>
                        <a:spcBef>
                          <a:spcPts val="0"/>
                        </a:spcBef>
                        <a:spcAft>
                          <a:spcPts val="0"/>
                        </a:spcAft>
                        <a:buFont typeface="Arial"/>
                        <a:buChar char="•"/>
                      </a:pPr>
                      <a:r>
                        <a:rPr lang="en-US">
                          <a:latin typeface="Avenir Next LT Pro" panose="020B0504020202020204" pitchFamily="34" charset="0"/>
                          <a:ea typeface="Calibri"/>
                          <a:cs typeface="Calibri"/>
                        </a:rPr>
                        <a:t>High interest rates reduce demand </a:t>
                      </a:r>
                    </a:p>
                    <a:p>
                      <a:pPr lvl="0" algn="l">
                        <a:lnSpc>
                          <a:spcPts val="2400"/>
                        </a:lnSpc>
                        <a:buNone/>
                      </a:pPr>
                      <a:endParaRPr lang="en-US" sz="1400" b="0" i="0">
                        <a:solidFill>
                          <a:srgbClr val="000000"/>
                        </a:solidFill>
                        <a:effectLst/>
                        <a:latin typeface="Avenir Next LT Pro" panose="020B0504020202020204" pitchFamily="34" charset="0"/>
                        <a:ea typeface="Calibri"/>
                        <a:cs typeface="Calibri"/>
                      </a:endParaRPr>
                    </a:p>
                  </a:txBody>
                  <a:tcPr marL="64464" marR="64464" marT="32232" marB="322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8488031"/>
                  </a:ext>
                </a:extLst>
              </a:tr>
            </a:tbl>
          </a:graphicData>
        </a:graphic>
      </p:graphicFrame>
      <p:sp>
        <p:nvSpPr>
          <p:cNvPr id="8" name="object 5">
            <a:extLst>
              <a:ext uri="{FF2B5EF4-FFF2-40B4-BE49-F238E27FC236}">
                <a16:creationId xmlns:a16="http://schemas.microsoft.com/office/drawing/2014/main" id="{2F865529-BB78-F657-2DB2-81608F69F077}"/>
              </a:ext>
            </a:extLst>
          </p:cNvPr>
          <p:cNvSpPr txBox="1"/>
          <p:nvPr/>
        </p:nvSpPr>
        <p:spPr>
          <a:xfrm>
            <a:off x="3095894" y="99188"/>
            <a:ext cx="6000211" cy="377026"/>
          </a:xfrm>
          <a:prstGeom prst="rect">
            <a:avLst/>
          </a:prstGeom>
          <a:solidFill>
            <a:schemeClr val="accent2">
              <a:lumMod val="75000"/>
            </a:schemeClr>
          </a:solidFill>
          <a:ln w="9525">
            <a:solidFill>
              <a:schemeClr val="tx1"/>
            </a:solidFill>
          </a:ln>
        </p:spPr>
        <p:txBody>
          <a:bodyPr vert="horz" wrap="square" lIns="0" tIns="99060" rIns="0" bIns="0" rtlCol="0" anchor="t">
            <a:spAutoFit/>
          </a:bodyPr>
          <a:lstStyle>
            <a:defPPr>
              <a:defRPr kern="0"/>
            </a:defPPr>
          </a:lstStyle>
          <a:p>
            <a:pPr marL="101600" algn="ctr">
              <a:spcBef>
                <a:spcPts val="780"/>
              </a:spcBef>
            </a:pPr>
            <a:r>
              <a:rPr lang="en-US" b="1">
                <a:solidFill>
                  <a:schemeClr val="bg1"/>
                </a:solidFill>
                <a:latin typeface="Avenir Next LT Pro" panose="020B0504020202020204" pitchFamily="34" charset="0"/>
                <a:ea typeface="Calibri" panose="020F0502020204030204" pitchFamily="34" charset="0"/>
                <a:cs typeface="Calibri" panose="020F0502020204030204" pitchFamily="34" charset="0"/>
              </a:rPr>
              <a:t>9. SWOT</a:t>
            </a:r>
            <a:r>
              <a:rPr lang="en-US" b="1" spc="11">
                <a:solidFill>
                  <a:schemeClr val="bg1"/>
                </a:solidFill>
                <a:latin typeface="Avenir Next LT Pro" panose="020B0504020202020204" pitchFamily="34" charset="0"/>
                <a:ea typeface="Calibri" panose="020F0502020204030204" pitchFamily="34" charset="0"/>
                <a:cs typeface="Calibri" panose="020F0502020204030204" pitchFamily="34" charset="0"/>
              </a:rPr>
              <a:t> </a:t>
            </a:r>
            <a:r>
              <a:rPr lang="en-US" b="1" spc="-11">
                <a:solidFill>
                  <a:schemeClr val="bg1"/>
                </a:solidFill>
                <a:latin typeface="Avenir Next LT Pro" panose="020B0504020202020204" pitchFamily="34" charset="0"/>
                <a:ea typeface="Calibri" panose="020F0502020204030204" pitchFamily="34" charset="0"/>
                <a:cs typeface="Calibri" panose="020F0502020204030204" pitchFamily="34" charset="0"/>
              </a:rPr>
              <a:t>Analysis</a:t>
            </a:r>
            <a:endParaRPr lang="en-US" b="1">
              <a:solidFill>
                <a:schemeClr val="bg1"/>
              </a:solidFill>
              <a:latin typeface="Avenir Next LT Pro" panose="020B0504020202020204" pitchFamily="34" charset="0"/>
              <a:ea typeface="Calibri" panose="020F0502020204030204" pitchFamily="34" charset="0"/>
              <a:cs typeface="Calibri" panose="020F0502020204030204" pitchFamily="34" charset="0"/>
            </a:endParaRPr>
          </a:p>
        </p:txBody>
      </p:sp>
      <p:pic>
        <p:nvPicPr>
          <p:cNvPr id="3" name="Picture 2" descr="Harley Davidson Logo PNG Image - PurePNG | Free transparent CC0 PNG ...">
            <a:extLst>
              <a:ext uri="{FF2B5EF4-FFF2-40B4-BE49-F238E27FC236}">
                <a16:creationId xmlns:a16="http://schemas.microsoft.com/office/drawing/2014/main" id="{55EE1288-886A-AE5F-4E66-A914070B68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33" name="object 4">
            <a:extLst>
              <a:ext uri="{FF2B5EF4-FFF2-40B4-BE49-F238E27FC236}">
                <a16:creationId xmlns:a16="http://schemas.microsoft.com/office/drawing/2014/main" id="{4883D3DF-1618-03C2-9F66-E5CEC902CA13}"/>
              </a:ext>
            </a:extLst>
          </p:cNvPr>
          <p:cNvSpPr txBox="1"/>
          <p:nvPr/>
        </p:nvSpPr>
        <p:spPr>
          <a:xfrm>
            <a:off x="78739" y="6657021"/>
            <a:ext cx="4381501"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 Company Reports</a:t>
            </a:r>
            <a:endParaRPr lang="en-US" sz="949">
              <a:latin typeface="Avenir Next LT Pro" panose="020B0504020202020204" pitchFamily="34" charset="0"/>
              <a:cs typeface="Segoe UI"/>
            </a:endParaRPr>
          </a:p>
        </p:txBody>
      </p:sp>
      <p:grpSp>
        <p:nvGrpSpPr>
          <p:cNvPr id="2" name="Group 1">
            <a:extLst>
              <a:ext uri="{FF2B5EF4-FFF2-40B4-BE49-F238E27FC236}">
                <a16:creationId xmlns:a16="http://schemas.microsoft.com/office/drawing/2014/main" id="{73CFC98B-BF4D-07C9-C89C-900CFC2D1D08}"/>
              </a:ext>
            </a:extLst>
          </p:cNvPr>
          <p:cNvGrpSpPr/>
          <p:nvPr/>
        </p:nvGrpSpPr>
        <p:grpSpPr>
          <a:xfrm>
            <a:off x="695325" y="6302380"/>
            <a:ext cx="10429876" cy="265521"/>
            <a:chOff x="695325" y="6302380"/>
            <a:chExt cx="10429876" cy="265521"/>
          </a:xfrm>
        </p:grpSpPr>
        <p:sp>
          <p:nvSpPr>
            <p:cNvPr id="4" name="object 13">
              <a:extLst>
                <a:ext uri="{FF2B5EF4-FFF2-40B4-BE49-F238E27FC236}">
                  <a16:creationId xmlns:a16="http://schemas.microsoft.com/office/drawing/2014/main" id="{C14A9860-EDFF-6892-8796-23017686E10C}"/>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5" name="object 14">
              <a:extLst>
                <a:ext uri="{FF2B5EF4-FFF2-40B4-BE49-F238E27FC236}">
                  <a16:creationId xmlns:a16="http://schemas.microsoft.com/office/drawing/2014/main" id="{D8B07DBB-F95E-C9EA-F5C0-F7E5CE04ECFB}"/>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7" name="object 15">
              <a:extLst>
                <a:ext uri="{FF2B5EF4-FFF2-40B4-BE49-F238E27FC236}">
                  <a16:creationId xmlns:a16="http://schemas.microsoft.com/office/drawing/2014/main" id="{FF078BE1-3363-7F9B-43F6-40C65B595FDF}"/>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4" action="ppaction://hlinksldjump">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9" name="object 16">
              <a:extLst>
                <a:ext uri="{FF2B5EF4-FFF2-40B4-BE49-F238E27FC236}">
                  <a16:creationId xmlns:a16="http://schemas.microsoft.com/office/drawing/2014/main" id="{20E9DED4-4FA7-2876-BDFB-F32FBBAF87DF}"/>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0" name="object 37">
              <a:extLst>
                <a:ext uri="{FF2B5EF4-FFF2-40B4-BE49-F238E27FC236}">
                  <a16:creationId xmlns:a16="http://schemas.microsoft.com/office/drawing/2014/main" id="{C66FC5C8-F0BD-374A-3B8D-6CC8D6A58429}"/>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1" name="object 39">
              <a:extLst>
                <a:ext uri="{FF2B5EF4-FFF2-40B4-BE49-F238E27FC236}">
                  <a16:creationId xmlns:a16="http://schemas.microsoft.com/office/drawing/2014/main" id="{B8D19BFD-5615-85C0-FB67-17DA12C2B0DC}"/>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2" name="object 40">
              <a:extLst>
                <a:ext uri="{FF2B5EF4-FFF2-40B4-BE49-F238E27FC236}">
                  <a16:creationId xmlns:a16="http://schemas.microsoft.com/office/drawing/2014/main" id="{6E368DEF-5362-9992-5432-9BD1620F6CED}"/>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13" name="object 41">
              <a:extLst>
                <a:ext uri="{FF2B5EF4-FFF2-40B4-BE49-F238E27FC236}">
                  <a16:creationId xmlns:a16="http://schemas.microsoft.com/office/drawing/2014/main" id="{DE76CCD5-D3F4-611C-7639-BC13C38A36A3}"/>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1700439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E09F-E2B4-31B1-18DB-B7CB34890E27}"/>
            </a:ext>
          </a:extLst>
        </p:cNvPr>
        <p:cNvGrpSpPr/>
        <p:nvPr/>
      </p:nvGrpSpPr>
      <p:grpSpPr>
        <a:xfrm>
          <a:off x="0" y="0"/>
          <a:ext cx="0" cy="0"/>
          <a:chOff x="0" y="0"/>
          <a:chExt cx="0" cy="0"/>
        </a:xfrm>
      </p:grpSpPr>
      <p:graphicFrame>
        <p:nvGraphicFramePr>
          <p:cNvPr id="109" name="Chart 108">
            <a:extLst>
              <a:ext uri="{FF2B5EF4-FFF2-40B4-BE49-F238E27FC236}">
                <a16:creationId xmlns:a16="http://schemas.microsoft.com/office/drawing/2014/main" id="{DF676F7E-03D0-FCFE-B327-DF05AA17842D}"/>
              </a:ext>
            </a:extLst>
          </p:cNvPr>
          <p:cNvGraphicFramePr>
            <a:graphicFrameLocks/>
          </p:cNvGraphicFramePr>
          <p:nvPr>
            <p:extLst>
              <p:ext uri="{D42A27DB-BD31-4B8C-83A1-F6EECF244321}">
                <p14:modId xmlns:p14="http://schemas.microsoft.com/office/powerpoint/2010/main" val="3110152460"/>
              </p:ext>
            </p:extLst>
          </p:nvPr>
        </p:nvGraphicFramePr>
        <p:xfrm>
          <a:off x="0" y="1053397"/>
          <a:ext cx="6143845" cy="521996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Table 2">
            <a:extLst>
              <a:ext uri="{FF2B5EF4-FFF2-40B4-BE49-F238E27FC236}">
                <a16:creationId xmlns:a16="http://schemas.microsoft.com/office/drawing/2014/main" id="{8D79D448-1D71-8A85-5AE3-7E7D45EB4886}"/>
              </a:ext>
            </a:extLst>
          </p:cNvPr>
          <p:cNvGraphicFramePr>
            <a:graphicFrameLocks noGrp="1"/>
          </p:cNvGraphicFramePr>
          <p:nvPr>
            <p:custDataLst>
              <p:tags r:id="rId1"/>
            </p:custDataLst>
            <p:extLst>
              <p:ext uri="{D42A27DB-BD31-4B8C-83A1-F6EECF244321}">
                <p14:modId xmlns:p14="http://schemas.microsoft.com/office/powerpoint/2010/main" val="631892121"/>
              </p:ext>
            </p:extLst>
          </p:nvPr>
        </p:nvGraphicFramePr>
        <p:xfrm>
          <a:off x="6285263" y="1355617"/>
          <a:ext cx="5576844" cy="4146765"/>
        </p:xfrm>
        <a:graphic>
          <a:graphicData uri="http://schemas.openxmlformats.org/drawingml/2006/table">
            <a:tbl>
              <a:tblPr/>
              <a:tblGrid>
                <a:gridCol w="1268057">
                  <a:extLst>
                    <a:ext uri="{9D8B030D-6E8A-4147-A177-3AD203B41FA5}">
                      <a16:colId xmlns:a16="http://schemas.microsoft.com/office/drawing/2014/main" val="1028271454"/>
                    </a:ext>
                  </a:extLst>
                </a:gridCol>
                <a:gridCol w="956285">
                  <a:extLst>
                    <a:ext uri="{9D8B030D-6E8A-4147-A177-3AD203B41FA5}">
                      <a16:colId xmlns:a16="http://schemas.microsoft.com/office/drawing/2014/main" val="1789204245"/>
                    </a:ext>
                  </a:extLst>
                </a:gridCol>
                <a:gridCol w="3352502">
                  <a:extLst>
                    <a:ext uri="{9D8B030D-6E8A-4147-A177-3AD203B41FA5}">
                      <a16:colId xmlns:a16="http://schemas.microsoft.com/office/drawing/2014/main" val="1085437078"/>
                    </a:ext>
                  </a:extLst>
                </a:gridCol>
              </a:tblGrid>
              <a:tr h="399876">
                <a:tc>
                  <a:txBody>
                    <a:bodyPr/>
                    <a:lstStyle/>
                    <a:p>
                      <a:pPr algn="just" fontAlgn="b">
                        <a:buNone/>
                      </a:pPr>
                      <a:r>
                        <a:rPr lang="en-US" sz="1400" b="1" i="0" u="none" strike="noStrike">
                          <a:solidFill>
                            <a:srgbClr val="FFFFFF"/>
                          </a:solidFill>
                          <a:effectLst/>
                          <a:latin typeface="Avenir Next LT Pro" panose="020B0504020202020204" pitchFamily="34" charset="0"/>
                        </a:rPr>
                        <a:t>Force</a:t>
                      </a:r>
                    </a:p>
                  </a:txBody>
                  <a:tcPr marL="7620" marR="7620" marT="762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just" fontAlgn="b">
                        <a:buNone/>
                      </a:pPr>
                      <a:r>
                        <a:rPr lang="en-US" sz="1400" b="1" i="0" u="none" strike="noStrike">
                          <a:solidFill>
                            <a:srgbClr val="FFFFFF"/>
                          </a:solidFill>
                          <a:effectLst/>
                          <a:latin typeface="Avenir Next LT Pro" panose="020B0504020202020204" pitchFamily="34" charset="0"/>
                        </a:rPr>
                        <a:t>Risk Score</a:t>
                      </a:r>
                    </a:p>
                  </a:txBody>
                  <a:tcPr marL="7620" marR="7620" marT="7620"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just" fontAlgn="b">
                        <a:buNone/>
                      </a:pPr>
                      <a:r>
                        <a:rPr lang="en-US" sz="1400" b="1" i="0" u="none" strike="noStrike">
                          <a:solidFill>
                            <a:srgbClr val="FFFFFF"/>
                          </a:solidFill>
                          <a:effectLst/>
                          <a:latin typeface="Avenir Next LT Pro" panose="020B0504020202020204" pitchFamily="34" charset="0"/>
                        </a:rPr>
                        <a:t>Key Points</a:t>
                      </a:r>
                    </a:p>
                  </a:txBody>
                  <a:tcPr marL="7620" marR="7620" marT="7620"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538448985"/>
                  </a:ext>
                </a:extLst>
              </a:tr>
              <a:tr h="674923">
                <a:tc>
                  <a:txBody>
                    <a:bodyPr/>
                    <a:lstStyle/>
                    <a:p>
                      <a:pPr algn="ctr" fontAlgn="b">
                        <a:buNone/>
                      </a:pPr>
                      <a:r>
                        <a:rPr lang="en-US" sz="1400" b="0" i="0" u="none" strike="noStrike">
                          <a:solidFill>
                            <a:srgbClr val="000000"/>
                          </a:solidFill>
                          <a:effectLst/>
                          <a:latin typeface="Avenir Next LT Pro" panose="020B0504020202020204" pitchFamily="34" charset="0"/>
                        </a:rPr>
                        <a:t>Threat of New Entrants</a:t>
                      </a:r>
                    </a:p>
                  </a:txBody>
                  <a:tcPr marL="7620" marR="7620" marT="762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6350" cap="flat" cmpd="sng" algn="ctr">
                      <a:solidFill>
                        <a:srgbClr val="F1A983"/>
                      </a:solidFill>
                      <a:prstDash val="solid"/>
                      <a:round/>
                      <a:headEnd type="none" w="med" len="med"/>
                      <a:tailEnd type="none" w="med" len="med"/>
                    </a:lnB>
                    <a:solidFill>
                      <a:srgbClr val="FBE2D5"/>
                    </a:solidFill>
                  </a:tcPr>
                </a:tc>
                <a:tc>
                  <a:txBody>
                    <a:bodyPr/>
                    <a:lstStyle/>
                    <a:p>
                      <a:pPr algn="ctr" fontAlgn="b">
                        <a:buNone/>
                      </a:pPr>
                      <a:r>
                        <a:rPr lang="en-US" sz="1400" b="0" i="0" u="none" strike="noStrike">
                          <a:solidFill>
                            <a:srgbClr val="000000"/>
                          </a:solidFill>
                          <a:effectLst/>
                          <a:latin typeface="Avenir Next LT Pro" panose="020B0504020202020204" pitchFamily="34" charset="0"/>
                        </a:rPr>
                        <a:t> 2/5</a:t>
                      </a:r>
                    </a:p>
                  </a:txBody>
                  <a:tcPr marL="7620" marR="7620" marT="7620" marB="0" anchor="b">
                    <a:lnL>
                      <a:noFill/>
                    </a:lnL>
                    <a:lnR>
                      <a:noFill/>
                    </a:lnR>
                    <a:lnT w="12700" cap="flat" cmpd="sng" algn="ctr">
                      <a:solidFill>
                        <a:schemeClr val="tx1"/>
                      </a:solidFill>
                      <a:prstDash val="solid"/>
                      <a:round/>
                      <a:headEnd type="none" w="med" len="med"/>
                      <a:tailEnd type="none" w="med" len="med"/>
                    </a:lnT>
                    <a:lnB w="6350" cap="flat" cmpd="sng" algn="ctr">
                      <a:solidFill>
                        <a:srgbClr val="F1A983"/>
                      </a:solidFill>
                      <a:prstDash val="solid"/>
                      <a:round/>
                      <a:headEnd type="none" w="med" len="med"/>
                      <a:tailEnd type="none" w="med" len="med"/>
                    </a:lnB>
                    <a:solidFill>
                      <a:srgbClr val="FBE2D5"/>
                    </a:solidFill>
                  </a:tcPr>
                </a:tc>
                <a:tc>
                  <a:txBody>
                    <a:bodyPr/>
                    <a:lstStyle/>
                    <a:p>
                      <a:pPr algn="just" fontAlgn="b">
                        <a:buNone/>
                      </a:pPr>
                      <a:r>
                        <a:rPr lang="en-US" sz="1400" b="0" i="0" u="none" strike="noStrike">
                          <a:solidFill>
                            <a:srgbClr val="000000"/>
                          </a:solidFill>
                          <a:effectLst/>
                          <a:latin typeface="Avenir Next LT Pro" panose="020B0504020202020204" pitchFamily="34" charset="0"/>
                        </a:rPr>
                        <a:t>Strong brand loyalty; 1-million-member HOG community; high capital needs; global dealer network is hard to replicate</a:t>
                      </a:r>
                    </a:p>
                  </a:txBody>
                  <a:tcPr marL="7620" marR="7620" marT="7620"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1A983"/>
                      </a:solidFill>
                      <a:prstDash val="solid"/>
                      <a:round/>
                      <a:headEnd type="none" w="med" len="med"/>
                      <a:tailEnd type="none" w="med" len="med"/>
                    </a:lnB>
                    <a:solidFill>
                      <a:srgbClr val="FBE2D5"/>
                    </a:solidFill>
                  </a:tcPr>
                </a:tc>
                <a:extLst>
                  <a:ext uri="{0D108BD9-81ED-4DB2-BD59-A6C34878D82A}">
                    <a16:rowId xmlns:a16="http://schemas.microsoft.com/office/drawing/2014/main" val="1707729631"/>
                  </a:ext>
                </a:extLst>
              </a:tr>
              <a:tr h="674923">
                <a:tc>
                  <a:txBody>
                    <a:bodyPr/>
                    <a:lstStyle/>
                    <a:p>
                      <a:pPr algn="ctr" fontAlgn="b">
                        <a:buNone/>
                      </a:pPr>
                      <a:r>
                        <a:rPr lang="en-US" sz="1400" b="0" i="0" u="none" strike="noStrike">
                          <a:solidFill>
                            <a:srgbClr val="000000"/>
                          </a:solidFill>
                          <a:effectLst/>
                          <a:latin typeface="Avenir Next LT Pro" panose="020B0504020202020204" pitchFamily="34" charset="0"/>
                        </a:rPr>
                        <a:t>Threat of Substitutes</a:t>
                      </a:r>
                    </a:p>
                  </a:txBody>
                  <a:tcPr marL="7620" marR="7620" marT="7620" marB="0" anchor="b">
                    <a:lnL w="12700" cap="flat" cmpd="sng" algn="ctr">
                      <a:solidFill>
                        <a:schemeClr val="tx1"/>
                      </a:solidFill>
                      <a:prstDash val="solid"/>
                      <a:round/>
                      <a:headEnd type="none" w="med" len="med"/>
                      <a:tailEnd type="none" w="med" len="med"/>
                    </a:lnL>
                    <a:lnR>
                      <a:noFill/>
                    </a:lnR>
                    <a:lnT w="6350" cap="flat" cmpd="sng" algn="ctr">
                      <a:solidFill>
                        <a:srgbClr val="F1A983"/>
                      </a:solidFill>
                      <a:prstDash val="solid"/>
                      <a:round/>
                      <a:headEnd type="none" w="med" len="med"/>
                      <a:tailEnd type="none" w="med" len="med"/>
                    </a:lnT>
                    <a:lnB w="6350" cap="flat" cmpd="sng" algn="ctr">
                      <a:solidFill>
                        <a:srgbClr val="F1A983"/>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Avenir Next LT Pro" panose="020B0504020202020204" pitchFamily="34" charset="0"/>
                        </a:rPr>
                        <a:t> 4/5</a:t>
                      </a:r>
                    </a:p>
                  </a:txBody>
                  <a:tcPr marL="7620" marR="7620" marT="7620" marB="0" anchor="b">
                    <a:lnL>
                      <a:noFill/>
                    </a:lnL>
                    <a:lnR>
                      <a:noFill/>
                    </a:lnR>
                    <a:lnT w="6350" cap="flat" cmpd="sng" algn="ctr">
                      <a:solidFill>
                        <a:srgbClr val="F1A983"/>
                      </a:solidFill>
                      <a:prstDash val="solid"/>
                      <a:round/>
                      <a:headEnd type="none" w="med" len="med"/>
                      <a:tailEnd type="none" w="med" len="med"/>
                    </a:lnT>
                    <a:lnB w="6350" cap="flat" cmpd="sng" algn="ctr">
                      <a:solidFill>
                        <a:srgbClr val="F1A983"/>
                      </a:solidFill>
                      <a:prstDash val="solid"/>
                      <a:round/>
                      <a:headEnd type="none" w="med" len="med"/>
                      <a:tailEnd type="none" w="med" len="med"/>
                    </a:lnB>
                    <a:noFill/>
                  </a:tcPr>
                </a:tc>
                <a:tc>
                  <a:txBody>
                    <a:bodyPr/>
                    <a:lstStyle/>
                    <a:p>
                      <a:pPr algn="just" fontAlgn="b">
                        <a:buNone/>
                      </a:pPr>
                      <a:r>
                        <a:rPr lang="en-US" sz="1400" b="0" i="0" u="none" strike="noStrike">
                          <a:solidFill>
                            <a:srgbClr val="000000"/>
                          </a:solidFill>
                          <a:effectLst/>
                          <a:latin typeface="Avenir Next LT Pro" panose="020B0504020202020204" pitchFamily="34" charset="0"/>
                        </a:rPr>
                        <a:t>Competes with RVs, boats, travel; cars/public transit substitute daily use; younger riders prefer scooters and smaller bikes</a:t>
                      </a:r>
                    </a:p>
                  </a:txBody>
                  <a:tcPr marL="7620" marR="7620" marT="7620" marB="0" anchor="b">
                    <a:lnL>
                      <a:noFill/>
                    </a:lnL>
                    <a:lnR w="12700" cap="flat" cmpd="sng" algn="ctr">
                      <a:solidFill>
                        <a:schemeClr val="tx1"/>
                      </a:solidFill>
                      <a:prstDash val="solid"/>
                      <a:round/>
                      <a:headEnd type="none" w="med" len="med"/>
                      <a:tailEnd type="none" w="med" len="med"/>
                    </a:lnR>
                    <a:lnT w="6350" cap="flat" cmpd="sng" algn="ctr">
                      <a:solidFill>
                        <a:srgbClr val="F1A983"/>
                      </a:solidFill>
                      <a:prstDash val="solid"/>
                      <a:round/>
                      <a:headEnd type="none" w="med" len="med"/>
                      <a:tailEnd type="none" w="med" len="med"/>
                    </a:lnT>
                    <a:lnB w="6350" cap="flat" cmpd="sng" algn="ctr">
                      <a:solidFill>
                        <a:srgbClr val="F1A983"/>
                      </a:solidFill>
                      <a:prstDash val="solid"/>
                      <a:round/>
                      <a:headEnd type="none" w="med" len="med"/>
                      <a:tailEnd type="none" w="med" len="med"/>
                    </a:lnB>
                    <a:noFill/>
                  </a:tcPr>
                </a:tc>
                <a:extLst>
                  <a:ext uri="{0D108BD9-81ED-4DB2-BD59-A6C34878D82A}">
                    <a16:rowId xmlns:a16="http://schemas.microsoft.com/office/drawing/2014/main" val="658641902"/>
                  </a:ext>
                </a:extLst>
              </a:tr>
              <a:tr h="674923">
                <a:tc>
                  <a:txBody>
                    <a:bodyPr/>
                    <a:lstStyle/>
                    <a:p>
                      <a:pPr algn="ctr" fontAlgn="b">
                        <a:buNone/>
                      </a:pPr>
                      <a:r>
                        <a:rPr lang="en-US" sz="1400" b="0" i="0" u="none" strike="noStrike">
                          <a:solidFill>
                            <a:srgbClr val="000000"/>
                          </a:solidFill>
                          <a:effectLst/>
                          <a:latin typeface="Avenir Next LT Pro" panose="020B0504020202020204" pitchFamily="34" charset="0"/>
                        </a:rPr>
                        <a:t>Bargaining Power of Buyers</a:t>
                      </a:r>
                    </a:p>
                  </a:txBody>
                  <a:tcPr marL="7620" marR="7620" marT="7620" marB="0" anchor="b">
                    <a:lnL w="12700" cap="flat" cmpd="sng" algn="ctr">
                      <a:solidFill>
                        <a:schemeClr val="tx1"/>
                      </a:solidFill>
                      <a:prstDash val="solid"/>
                      <a:round/>
                      <a:headEnd type="none" w="med" len="med"/>
                      <a:tailEnd type="none" w="med" len="med"/>
                    </a:lnL>
                    <a:lnR>
                      <a:noFill/>
                    </a:lnR>
                    <a:lnT w="6350" cap="flat" cmpd="sng" algn="ctr">
                      <a:solidFill>
                        <a:srgbClr val="F1A983"/>
                      </a:solidFill>
                      <a:prstDash val="solid"/>
                      <a:round/>
                      <a:headEnd type="none" w="med" len="med"/>
                      <a:tailEnd type="none" w="med" len="med"/>
                    </a:lnT>
                    <a:lnB w="6350" cap="flat" cmpd="sng" algn="ctr">
                      <a:solidFill>
                        <a:srgbClr val="F1A983"/>
                      </a:solidFill>
                      <a:prstDash val="solid"/>
                      <a:round/>
                      <a:headEnd type="none" w="med" len="med"/>
                      <a:tailEnd type="none" w="med" len="med"/>
                    </a:lnB>
                    <a:solidFill>
                      <a:srgbClr val="FBE2D5"/>
                    </a:solidFill>
                  </a:tcPr>
                </a:tc>
                <a:tc>
                  <a:txBody>
                    <a:bodyPr/>
                    <a:lstStyle/>
                    <a:p>
                      <a:pPr algn="ctr" fontAlgn="b">
                        <a:buNone/>
                      </a:pPr>
                      <a:r>
                        <a:rPr lang="en-US" sz="1400" b="0" i="0" u="none" strike="noStrike">
                          <a:solidFill>
                            <a:srgbClr val="000000"/>
                          </a:solidFill>
                          <a:effectLst/>
                          <a:latin typeface="Avenir Next LT Pro" panose="020B0504020202020204" pitchFamily="34" charset="0"/>
                        </a:rPr>
                        <a:t> 4/5</a:t>
                      </a:r>
                    </a:p>
                  </a:txBody>
                  <a:tcPr marL="7620" marR="7620" marT="7620" marB="0" anchor="b">
                    <a:lnL>
                      <a:noFill/>
                    </a:lnL>
                    <a:lnR>
                      <a:noFill/>
                    </a:lnR>
                    <a:lnT w="6350" cap="flat" cmpd="sng" algn="ctr">
                      <a:solidFill>
                        <a:srgbClr val="F1A983"/>
                      </a:solidFill>
                      <a:prstDash val="solid"/>
                      <a:round/>
                      <a:headEnd type="none" w="med" len="med"/>
                      <a:tailEnd type="none" w="med" len="med"/>
                    </a:lnT>
                    <a:lnB w="6350" cap="flat" cmpd="sng" algn="ctr">
                      <a:solidFill>
                        <a:srgbClr val="F1A983"/>
                      </a:solidFill>
                      <a:prstDash val="solid"/>
                      <a:round/>
                      <a:headEnd type="none" w="med" len="med"/>
                      <a:tailEnd type="none" w="med" len="med"/>
                    </a:lnB>
                    <a:solidFill>
                      <a:srgbClr val="FBE2D5"/>
                    </a:solidFill>
                  </a:tcPr>
                </a:tc>
                <a:tc>
                  <a:txBody>
                    <a:bodyPr/>
                    <a:lstStyle/>
                    <a:p>
                      <a:pPr algn="just" fontAlgn="b">
                        <a:buNone/>
                      </a:pPr>
                      <a:r>
                        <a:rPr lang="en-US" sz="1400" b="0" i="0" u="none" strike="noStrike">
                          <a:solidFill>
                            <a:srgbClr val="000000"/>
                          </a:solidFill>
                          <a:effectLst/>
                          <a:latin typeface="Avenir Next LT Pro" panose="020B0504020202020204" pitchFamily="34" charset="0"/>
                        </a:rPr>
                        <a:t>Economic conditions impact buyer's demand, online software’s gives buyers a range of options and allows comparison of products</a:t>
                      </a:r>
                    </a:p>
                  </a:txBody>
                  <a:tcPr marL="7620" marR="7620" marT="7620" marB="0" anchor="b">
                    <a:lnL>
                      <a:noFill/>
                    </a:lnL>
                    <a:lnR w="12700" cap="flat" cmpd="sng" algn="ctr">
                      <a:solidFill>
                        <a:schemeClr val="tx1"/>
                      </a:solidFill>
                      <a:prstDash val="solid"/>
                      <a:round/>
                      <a:headEnd type="none" w="med" len="med"/>
                      <a:tailEnd type="none" w="med" len="med"/>
                    </a:lnR>
                    <a:lnT w="6350" cap="flat" cmpd="sng" algn="ctr">
                      <a:solidFill>
                        <a:srgbClr val="F1A983"/>
                      </a:solidFill>
                      <a:prstDash val="solid"/>
                      <a:round/>
                      <a:headEnd type="none" w="med" len="med"/>
                      <a:tailEnd type="none" w="med" len="med"/>
                    </a:lnT>
                    <a:lnB w="6350" cap="flat" cmpd="sng" algn="ctr">
                      <a:solidFill>
                        <a:srgbClr val="F1A983"/>
                      </a:solidFill>
                      <a:prstDash val="solid"/>
                      <a:round/>
                      <a:headEnd type="none" w="med" len="med"/>
                      <a:tailEnd type="none" w="med" len="med"/>
                    </a:lnB>
                    <a:solidFill>
                      <a:srgbClr val="FBE2D5"/>
                    </a:solidFill>
                  </a:tcPr>
                </a:tc>
                <a:extLst>
                  <a:ext uri="{0D108BD9-81ED-4DB2-BD59-A6C34878D82A}">
                    <a16:rowId xmlns:a16="http://schemas.microsoft.com/office/drawing/2014/main" val="882445146"/>
                  </a:ext>
                </a:extLst>
              </a:tr>
              <a:tr h="674923">
                <a:tc>
                  <a:txBody>
                    <a:bodyPr/>
                    <a:lstStyle/>
                    <a:p>
                      <a:pPr algn="ctr" fontAlgn="b">
                        <a:buNone/>
                      </a:pPr>
                      <a:r>
                        <a:rPr lang="en-US" sz="1400" b="0" i="0" u="none" strike="noStrike">
                          <a:solidFill>
                            <a:srgbClr val="000000"/>
                          </a:solidFill>
                          <a:effectLst/>
                          <a:latin typeface="Avenir Next LT Pro" panose="020B0504020202020204" pitchFamily="34" charset="0"/>
                        </a:rPr>
                        <a:t>Bargaining Power of Suppliers</a:t>
                      </a:r>
                    </a:p>
                  </a:txBody>
                  <a:tcPr marL="7620" marR="7620" marT="7620" marB="0" anchor="b">
                    <a:lnL w="12700" cap="flat" cmpd="sng" algn="ctr">
                      <a:solidFill>
                        <a:schemeClr val="tx1"/>
                      </a:solidFill>
                      <a:prstDash val="solid"/>
                      <a:round/>
                      <a:headEnd type="none" w="med" len="med"/>
                      <a:tailEnd type="none" w="med" len="med"/>
                    </a:lnL>
                    <a:lnR>
                      <a:noFill/>
                    </a:lnR>
                    <a:lnT w="6350" cap="flat" cmpd="sng" algn="ctr">
                      <a:solidFill>
                        <a:srgbClr val="F1A983"/>
                      </a:solidFill>
                      <a:prstDash val="solid"/>
                      <a:round/>
                      <a:headEnd type="none" w="med" len="med"/>
                      <a:tailEnd type="none" w="med" len="med"/>
                    </a:lnT>
                    <a:lnB w="6350" cap="flat" cmpd="sng" algn="ctr">
                      <a:solidFill>
                        <a:srgbClr val="F1A983"/>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Avenir Next LT Pro" panose="020B0504020202020204" pitchFamily="34" charset="0"/>
                        </a:rPr>
                        <a:t> 3/5</a:t>
                      </a:r>
                    </a:p>
                  </a:txBody>
                  <a:tcPr marL="7620" marR="7620" marT="7620" marB="0" anchor="b">
                    <a:lnL>
                      <a:noFill/>
                    </a:lnL>
                    <a:lnR>
                      <a:noFill/>
                    </a:lnR>
                    <a:lnT w="6350" cap="flat" cmpd="sng" algn="ctr">
                      <a:solidFill>
                        <a:srgbClr val="F1A983"/>
                      </a:solidFill>
                      <a:prstDash val="solid"/>
                      <a:round/>
                      <a:headEnd type="none" w="med" len="med"/>
                      <a:tailEnd type="none" w="med" len="med"/>
                    </a:lnT>
                    <a:lnB w="6350" cap="flat" cmpd="sng" algn="ctr">
                      <a:solidFill>
                        <a:srgbClr val="F1A983"/>
                      </a:solidFill>
                      <a:prstDash val="solid"/>
                      <a:round/>
                      <a:headEnd type="none" w="med" len="med"/>
                      <a:tailEnd type="none" w="med" len="med"/>
                    </a:lnB>
                    <a:noFill/>
                  </a:tcPr>
                </a:tc>
                <a:tc>
                  <a:txBody>
                    <a:bodyPr/>
                    <a:lstStyle/>
                    <a:p>
                      <a:pPr algn="just" fontAlgn="b">
                        <a:buNone/>
                      </a:pPr>
                      <a:r>
                        <a:rPr lang="en-US" sz="1400" b="0" i="0" u="none" strike="noStrike">
                          <a:solidFill>
                            <a:srgbClr val="000000"/>
                          </a:solidFill>
                          <a:effectLst/>
                          <a:latin typeface="Avenir Next LT Pro" panose="020B0504020202020204" pitchFamily="34" charset="0"/>
                        </a:rPr>
                        <a:t>Diversified global suppliers; still exposed to geopolitical risk, tariffs, and raw material volatility</a:t>
                      </a:r>
                    </a:p>
                  </a:txBody>
                  <a:tcPr marL="7620" marR="7620" marT="7620" marB="0" anchor="b">
                    <a:lnL>
                      <a:noFill/>
                    </a:lnL>
                    <a:lnR w="12700" cap="flat" cmpd="sng" algn="ctr">
                      <a:solidFill>
                        <a:schemeClr val="tx1"/>
                      </a:solidFill>
                      <a:prstDash val="solid"/>
                      <a:round/>
                      <a:headEnd type="none" w="med" len="med"/>
                      <a:tailEnd type="none" w="med" len="med"/>
                    </a:lnR>
                    <a:lnT w="6350" cap="flat" cmpd="sng" algn="ctr">
                      <a:solidFill>
                        <a:srgbClr val="F1A983"/>
                      </a:solidFill>
                      <a:prstDash val="solid"/>
                      <a:round/>
                      <a:headEnd type="none" w="med" len="med"/>
                      <a:tailEnd type="none" w="med" len="med"/>
                    </a:lnT>
                    <a:lnB w="6350" cap="flat" cmpd="sng" algn="ctr">
                      <a:solidFill>
                        <a:srgbClr val="F1A983"/>
                      </a:solidFill>
                      <a:prstDash val="solid"/>
                      <a:round/>
                      <a:headEnd type="none" w="med" len="med"/>
                      <a:tailEnd type="none" w="med" len="med"/>
                    </a:lnB>
                    <a:noFill/>
                  </a:tcPr>
                </a:tc>
                <a:extLst>
                  <a:ext uri="{0D108BD9-81ED-4DB2-BD59-A6C34878D82A}">
                    <a16:rowId xmlns:a16="http://schemas.microsoft.com/office/drawing/2014/main" val="3591089891"/>
                  </a:ext>
                </a:extLst>
              </a:tr>
              <a:tr h="674923">
                <a:tc>
                  <a:txBody>
                    <a:bodyPr/>
                    <a:lstStyle/>
                    <a:p>
                      <a:pPr algn="ctr" fontAlgn="b">
                        <a:buNone/>
                      </a:pPr>
                      <a:r>
                        <a:rPr lang="en-US" sz="1400" b="0" i="0" u="none" strike="noStrike">
                          <a:solidFill>
                            <a:srgbClr val="000000"/>
                          </a:solidFill>
                          <a:effectLst/>
                          <a:latin typeface="Avenir Next LT Pro" panose="020B0504020202020204" pitchFamily="34" charset="0"/>
                        </a:rPr>
                        <a:t>Rivalry Among Competitors</a:t>
                      </a:r>
                    </a:p>
                  </a:txBody>
                  <a:tcPr marL="7620" marR="7620" marT="7620" marB="0" anchor="b">
                    <a:lnL w="12700" cap="flat" cmpd="sng" algn="ctr">
                      <a:solidFill>
                        <a:schemeClr val="tx1"/>
                      </a:solidFill>
                      <a:prstDash val="solid"/>
                      <a:round/>
                      <a:headEnd type="none" w="med" len="med"/>
                      <a:tailEnd type="none" w="med" len="med"/>
                    </a:lnL>
                    <a:lnR>
                      <a:noFill/>
                    </a:lnR>
                    <a:lnT w="6350" cap="flat" cmpd="sng" algn="ctr">
                      <a:solidFill>
                        <a:srgbClr val="F1A98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fontAlgn="b">
                        <a:buNone/>
                      </a:pPr>
                      <a:r>
                        <a:rPr lang="en-US" sz="1400" b="0" i="0" u="none" strike="noStrike">
                          <a:solidFill>
                            <a:srgbClr val="000000"/>
                          </a:solidFill>
                          <a:effectLst/>
                          <a:latin typeface="Avenir Next LT Pro" panose="020B0504020202020204" pitchFamily="34" charset="0"/>
                        </a:rPr>
                        <a:t>5/5</a:t>
                      </a:r>
                    </a:p>
                  </a:txBody>
                  <a:tcPr marL="7620" marR="7620" marT="7620" marB="0" anchor="b">
                    <a:lnL>
                      <a:noFill/>
                    </a:lnL>
                    <a:lnR>
                      <a:noFill/>
                    </a:lnR>
                    <a:lnT w="6350" cap="flat" cmpd="sng" algn="ctr">
                      <a:solidFill>
                        <a:srgbClr val="F1A98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just" fontAlgn="b">
                        <a:buNone/>
                      </a:pPr>
                      <a:r>
                        <a:rPr lang="en-US" sz="1400" b="0" i="0" u="none" strike="noStrike">
                          <a:solidFill>
                            <a:srgbClr val="000000"/>
                          </a:solidFill>
                          <a:effectLst/>
                          <a:latin typeface="Avenir Next LT Pro" panose="020B0504020202020204" pitchFamily="34" charset="0"/>
                        </a:rPr>
                        <a:t>With the launch of the Sprint bike competition from Honda, Kawasaki, Yamaha will increase</a:t>
                      </a:r>
                    </a:p>
                  </a:txBody>
                  <a:tcPr marL="7620" marR="7620" marT="7620" marB="0" anchor="b">
                    <a:lnL>
                      <a:noFill/>
                    </a:lnL>
                    <a:lnR w="12700" cap="flat" cmpd="sng" algn="ctr">
                      <a:solidFill>
                        <a:schemeClr val="tx1"/>
                      </a:solidFill>
                      <a:prstDash val="solid"/>
                      <a:round/>
                      <a:headEnd type="none" w="med" len="med"/>
                      <a:tailEnd type="none" w="med" len="med"/>
                    </a:lnR>
                    <a:lnT w="6350" cap="flat" cmpd="sng" algn="ctr">
                      <a:solidFill>
                        <a:srgbClr val="F1A98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2573280300"/>
                  </a:ext>
                </a:extLst>
              </a:tr>
            </a:tbl>
          </a:graphicData>
        </a:graphic>
      </p:graphicFrame>
      <p:pic>
        <p:nvPicPr>
          <p:cNvPr id="2" name="Picture 1" descr="Harley Davidson Logo PNG Image - PurePNG | Free transparent CC0 PNG ...">
            <a:extLst>
              <a:ext uri="{FF2B5EF4-FFF2-40B4-BE49-F238E27FC236}">
                <a16:creationId xmlns:a16="http://schemas.microsoft.com/office/drawing/2014/main" id="{60D4730B-2839-16BA-22B4-1C17CEEBC5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4">
            <a:extLst>
              <a:ext uri="{FF2B5EF4-FFF2-40B4-BE49-F238E27FC236}">
                <a16:creationId xmlns:a16="http://schemas.microsoft.com/office/drawing/2014/main" id="{4FB626BF-B362-A52E-4495-6FE859D1E01A}"/>
              </a:ext>
            </a:extLst>
          </p:cNvPr>
          <p:cNvSpPr txBox="1"/>
          <p:nvPr/>
        </p:nvSpPr>
        <p:spPr>
          <a:xfrm>
            <a:off x="78739" y="6657021"/>
            <a:ext cx="3686415"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dirty="0">
                <a:latin typeface="Calibri" panose="020F050202020403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a:t>
            </a:r>
            <a:endParaRPr lang="en-US" sz="949">
              <a:latin typeface="Avenir Next LT Pro" panose="020B0504020202020204" pitchFamily="34" charset="0"/>
              <a:cs typeface="Segoe UI"/>
            </a:endParaRPr>
          </a:p>
        </p:txBody>
      </p:sp>
      <p:sp>
        <p:nvSpPr>
          <p:cNvPr id="6" name="object 5">
            <a:extLst>
              <a:ext uri="{FF2B5EF4-FFF2-40B4-BE49-F238E27FC236}">
                <a16:creationId xmlns:a16="http://schemas.microsoft.com/office/drawing/2014/main" id="{D15E6409-A70F-DE1E-9BBD-EC6D2A84A323}"/>
              </a:ext>
            </a:extLst>
          </p:cNvPr>
          <p:cNvSpPr txBox="1"/>
          <p:nvPr/>
        </p:nvSpPr>
        <p:spPr>
          <a:xfrm>
            <a:off x="3095894" y="99188"/>
            <a:ext cx="6000211" cy="377026"/>
          </a:xfrm>
          <a:prstGeom prst="rect">
            <a:avLst/>
          </a:prstGeom>
          <a:solidFill>
            <a:schemeClr val="accent2">
              <a:lumMod val="75000"/>
            </a:schemeClr>
          </a:solidFill>
          <a:ln w="9525">
            <a:solidFill>
              <a:schemeClr val="tx1"/>
            </a:solidFill>
          </a:ln>
        </p:spPr>
        <p:txBody>
          <a:bodyPr vert="horz" wrap="square" lIns="0" tIns="99060" rIns="0" bIns="0" rtlCol="0" anchor="t">
            <a:spAutoFit/>
          </a:bodyPr>
          <a:lstStyle>
            <a:defPPr>
              <a:defRPr kern="0"/>
            </a:defPPr>
          </a:lstStyle>
          <a:p>
            <a:pPr marL="101600" algn="ctr">
              <a:spcBef>
                <a:spcPts val="780"/>
              </a:spcBef>
            </a:pPr>
            <a:r>
              <a:rPr lang="en-US" b="1">
                <a:solidFill>
                  <a:schemeClr val="bg1"/>
                </a:solidFill>
                <a:latin typeface="Avenir Next LT Pro" panose="020B0504020202020204" pitchFamily="34" charset="0"/>
                <a:ea typeface="Calibri" panose="020F0502020204030204" pitchFamily="34" charset="0"/>
                <a:cs typeface="Calibri" panose="020F0502020204030204" pitchFamily="34" charset="0"/>
              </a:rPr>
              <a:t>Porter Five Forces</a:t>
            </a:r>
            <a:r>
              <a:rPr lang="en-US" b="1" spc="11">
                <a:solidFill>
                  <a:schemeClr val="bg1"/>
                </a:solidFill>
                <a:latin typeface="Avenir Next LT Pro" panose="020B0504020202020204" pitchFamily="34" charset="0"/>
                <a:ea typeface="Calibri" panose="020F0502020204030204" pitchFamily="34" charset="0"/>
                <a:cs typeface="Calibri" panose="020F0502020204030204" pitchFamily="34" charset="0"/>
              </a:rPr>
              <a:t> </a:t>
            </a:r>
            <a:r>
              <a:rPr lang="en-US" b="1" spc="-11">
                <a:solidFill>
                  <a:schemeClr val="bg1"/>
                </a:solidFill>
                <a:latin typeface="Avenir Next LT Pro" panose="020B0504020202020204" pitchFamily="34" charset="0"/>
                <a:ea typeface="Calibri" panose="020F0502020204030204" pitchFamily="34" charset="0"/>
                <a:cs typeface="Calibri" panose="020F0502020204030204" pitchFamily="34" charset="0"/>
              </a:rPr>
              <a:t>Analysis</a:t>
            </a:r>
            <a:endParaRPr lang="en-US" b="1">
              <a:solidFill>
                <a:schemeClr val="bg1"/>
              </a:solidFill>
              <a:latin typeface="Avenir Next LT Pro" panose="020B0504020202020204" pitchFamily="34" charset="0"/>
              <a:ea typeface="Calibri" panose="020F0502020204030204" pitchFamily="34" charset="0"/>
              <a:cs typeface="Calibri" panose="020F0502020204030204" pitchFamily="34" charset="0"/>
            </a:endParaRPr>
          </a:p>
        </p:txBody>
      </p:sp>
      <p:grpSp>
        <p:nvGrpSpPr>
          <p:cNvPr id="15" name="Group 14">
            <a:extLst>
              <a:ext uri="{FF2B5EF4-FFF2-40B4-BE49-F238E27FC236}">
                <a16:creationId xmlns:a16="http://schemas.microsoft.com/office/drawing/2014/main" id="{35736F5A-83AB-03DA-8EA8-36A58D04302A}"/>
              </a:ext>
            </a:extLst>
          </p:cNvPr>
          <p:cNvGrpSpPr/>
          <p:nvPr/>
        </p:nvGrpSpPr>
        <p:grpSpPr>
          <a:xfrm>
            <a:off x="695325" y="6302380"/>
            <a:ext cx="10429876" cy="265521"/>
            <a:chOff x="695325" y="6302380"/>
            <a:chExt cx="10429876" cy="265521"/>
          </a:xfrm>
        </p:grpSpPr>
        <p:sp>
          <p:nvSpPr>
            <p:cNvPr id="16" name="object 13">
              <a:extLst>
                <a:ext uri="{FF2B5EF4-FFF2-40B4-BE49-F238E27FC236}">
                  <a16:creationId xmlns:a16="http://schemas.microsoft.com/office/drawing/2014/main" id="{00FC3287-5E70-3EA8-37AF-E1069C9681E7}"/>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17" name="object 14">
              <a:extLst>
                <a:ext uri="{FF2B5EF4-FFF2-40B4-BE49-F238E27FC236}">
                  <a16:creationId xmlns:a16="http://schemas.microsoft.com/office/drawing/2014/main" id="{FC49B275-15A5-33E4-9472-C29B625FB8C5}"/>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18" name="object 15">
              <a:extLst>
                <a:ext uri="{FF2B5EF4-FFF2-40B4-BE49-F238E27FC236}">
                  <a16:creationId xmlns:a16="http://schemas.microsoft.com/office/drawing/2014/main" id="{FAC14651-9C8A-587F-374D-B7E8E2CC2637}"/>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6" action="ppaction://hlinksldjump">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19" name="object 16">
              <a:extLst>
                <a:ext uri="{FF2B5EF4-FFF2-40B4-BE49-F238E27FC236}">
                  <a16:creationId xmlns:a16="http://schemas.microsoft.com/office/drawing/2014/main" id="{380A49C5-A15B-6BD6-86BE-7FE2A7E1C234}"/>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20" name="object 37">
              <a:extLst>
                <a:ext uri="{FF2B5EF4-FFF2-40B4-BE49-F238E27FC236}">
                  <a16:creationId xmlns:a16="http://schemas.microsoft.com/office/drawing/2014/main" id="{2562B971-DE9D-3638-C4F8-E47793C66D13}"/>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21" name="object 39">
              <a:extLst>
                <a:ext uri="{FF2B5EF4-FFF2-40B4-BE49-F238E27FC236}">
                  <a16:creationId xmlns:a16="http://schemas.microsoft.com/office/drawing/2014/main" id="{32A69CD4-7297-7BDD-896A-1A6B6F934BA4}"/>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22" name="object 40">
              <a:extLst>
                <a:ext uri="{FF2B5EF4-FFF2-40B4-BE49-F238E27FC236}">
                  <a16:creationId xmlns:a16="http://schemas.microsoft.com/office/drawing/2014/main" id="{5F02D02C-DE75-64CD-907B-E1326F718AC6}"/>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23" name="object 41">
              <a:extLst>
                <a:ext uri="{FF2B5EF4-FFF2-40B4-BE49-F238E27FC236}">
                  <a16:creationId xmlns:a16="http://schemas.microsoft.com/office/drawing/2014/main" id="{B9C4D2FA-6D37-8A91-42C0-88D9016C5D7C}"/>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6738070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07BC2A8-FAB5-3D27-676B-21500D5ABEAA}"/>
              </a:ext>
            </a:extLst>
          </p:cNvPr>
          <p:cNvGraphicFramePr>
            <a:graphicFrameLocks noGrp="1"/>
          </p:cNvGraphicFramePr>
          <p:nvPr>
            <p:custDataLst>
              <p:tags r:id="rId1"/>
            </p:custDataLst>
            <p:extLst>
              <p:ext uri="{D42A27DB-BD31-4B8C-83A1-F6EECF244321}">
                <p14:modId xmlns:p14="http://schemas.microsoft.com/office/powerpoint/2010/main" val="865457548"/>
              </p:ext>
            </p:extLst>
          </p:nvPr>
        </p:nvGraphicFramePr>
        <p:xfrm>
          <a:off x="686020" y="1308994"/>
          <a:ext cx="10819960" cy="4895122"/>
        </p:xfrm>
        <a:graphic>
          <a:graphicData uri="http://schemas.openxmlformats.org/drawingml/2006/table">
            <a:tbl>
              <a:tblPr/>
              <a:tblGrid>
                <a:gridCol w="4219935">
                  <a:extLst>
                    <a:ext uri="{9D8B030D-6E8A-4147-A177-3AD203B41FA5}">
                      <a16:colId xmlns:a16="http://schemas.microsoft.com/office/drawing/2014/main" val="3261034189"/>
                    </a:ext>
                  </a:extLst>
                </a:gridCol>
                <a:gridCol w="1531214">
                  <a:extLst>
                    <a:ext uri="{9D8B030D-6E8A-4147-A177-3AD203B41FA5}">
                      <a16:colId xmlns:a16="http://schemas.microsoft.com/office/drawing/2014/main" val="807766878"/>
                    </a:ext>
                  </a:extLst>
                </a:gridCol>
                <a:gridCol w="1315942">
                  <a:extLst>
                    <a:ext uri="{9D8B030D-6E8A-4147-A177-3AD203B41FA5}">
                      <a16:colId xmlns:a16="http://schemas.microsoft.com/office/drawing/2014/main" val="1706207478"/>
                    </a:ext>
                  </a:extLst>
                </a:gridCol>
                <a:gridCol w="1462155">
                  <a:extLst>
                    <a:ext uri="{9D8B030D-6E8A-4147-A177-3AD203B41FA5}">
                      <a16:colId xmlns:a16="http://schemas.microsoft.com/office/drawing/2014/main" val="2095892478"/>
                    </a:ext>
                  </a:extLst>
                </a:gridCol>
                <a:gridCol w="2290714">
                  <a:extLst>
                    <a:ext uri="{9D8B030D-6E8A-4147-A177-3AD203B41FA5}">
                      <a16:colId xmlns:a16="http://schemas.microsoft.com/office/drawing/2014/main" val="3219868461"/>
                    </a:ext>
                  </a:extLst>
                </a:gridCol>
              </a:tblGrid>
              <a:tr h="217351">
                <a:tc>
                  <a:txBody>
                    <a:bodyPr/>
                    <a:lstStyle/>
                    <a:p>
                      <a:pPr algn="l" fontAlgn="ctr"/>
                      <a:r>
                        <a:rPr lang="en-US" sz="1100" b="1" i="0" u="none" strike="noStrike">
                          <a:solidFill>
                            <a:schemeClr val="bg1"/>
                          </a:solidFill>
                          <a:effectLst/>
                          <a:latin typeface="Avenir Next LT Pro" panose="020B0504020202020204" pitchFamily="34" charset="0"/>
                          <a:ea typeface="Calibri"/>
                          <a:cs typeface="Calibri"/>
                        </a:rPr>
                        <a:t>  11. </a:t>
                      </a:r>
                      <a:r>
                        <a:rPr lang="en-US" sz="1100" b="1">
                          <a:solidFill>
                            <a:schemeClr val="bg1"/>
                          </a:solidFill>
                          <a:latin typeface="Avenir Next LT Pro" panose="020B0504020202020204" pitchFamily="34" charset="0"/>
                          <a:ea typeface="Cambria" panose="02040503050406030204" pitchFamily="18" charset="0"/>
                          <a:cs typeface="Calibri" panose="020F0502020204030204" pitchFamily="34" charset="0"/>
                        </a:rPr>
                        <a:t>ESG Justification and Scoring Methodology</a:t>
                      </a:r>
                      <a:endParaRPr lang="en-US" sz="1100" b="1" i="0" u="none" strike="noStrike">
                        <a:solidFill>
                          <a:schemeClr val="bg1"/>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l" fontAlgn="ctr"/>
                      <a:endParaRPr lang="en-US" sz="900" b="1" i="0" u="none" strike="noStrike">
                        <a:solidFill>
                          <a:schemeClr val="bg1"/>
                        </a:solidFill>
                        <a:effectLst/>
                        <a:latin typeface="Avenir Next LT Pro" panose="020B0504020202020204" pitchFamily="34" charset="0"/>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ctr"/>
                      <a:r>
                        <a:rPr lang="en-US" sz="900" b="1" i="0" u="none" strike="noStrike">
                          <a:solidFill>
                            <a:schemeClr val="bg1"/>
                          </a:solidFill>
                          <a:effectLst/>
                          <a:latin typeface="Avenir Next LT Pro" panose="020B0504020202020204" pitchFamily="34" charset="0"/>
                          <a:ea typeface="Calibri"/>
                          <a:cs typeface="Calibri"/>
                        </a:rPr>
                        <a:t>Weight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ctr"/>
                      <a:r>
                        <a:rPr lang="en-US" sz="900" b="1" i="0" u="none" strike="noStrike">
                          <a:solidFill>
                            <a:schemeClr val="bg1"/>
                          </a:solidFill>
                          <a:effectLst/>
                          <a:latin typeface="Avenir Next LT Pro" panose="020B0504020202020204" pitchFamily="34" charset="0"/>
                          <a:ea typeface="Calibri"/>
                          <a:cs typeface="Calibri"/>
                        </a:rPr>
                        <a:t>Score (0-10)</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ctr"/>
                      <a:r>
                        <a:rPr lang="en-US" sz="900" b="1" i="0" u="none" strike="noStrike">
                          <a:solidFill>
                            <a:schemeClr val="bg1"/>
                          </a:solidFill>
                          <a:effectLst/>
                          <a:latin typeface="Avenir Next LT Pro" panose="020B0504020202020204" pitchFamily="34" charset="0"/>
                          <a:ea typeface="Calibri"/>
                          <a:cs typeface="Calibri"/>
                        </a:rPr>
                        <a:t>Weighted Score (%)</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605477242"/>
                  </a:ext>
                </a:extLst>
              </a:tr>
              <a:tr h="189001">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42549199"/>
                  </a:ext>
                </a:extLst>
              </a:tr>
              <a:tr h="283501">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 Environmental </a:t>
                      </a: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Sustainability Practices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11.1%</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7</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77.7%</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91429971"/>
                  </a:ext>
                </a:extLst>
              </a:tr>
              <a:tr h="189001">
                <a:tc>
                  <a:txBody>
                    <a:bodyPr/>
                    <a:lstStyle/>
                    <a:p>
                      <a:pPr algn="l" fontAlgn="ctr"/>
                      <a:endParaRPr lang="en-US" sz="900" b="0"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Environmental Impact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11.1%</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55.5%</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45942244"/>
                  </a:ext>
                </a:extLst>
              </a:tr>
              <a:tr h="283501">
                <a:tc>
                  <a:txBody>
                    <a:bodyPr/>
                    <a:lstStyle/>
                    <a:p>
                      <a:pPr algn="l" fontAlgn="ctr"/>
                      <a:endParaRPr lang="en-US" sz="900" b="0"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Eco-Friendly Initiatives</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11.1%</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6</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66.6%</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10257223"/>
                  </a:ext>
                </a:extLst>
              </a:tr>
              <a:tr h="189001">
                <a:tc>
                  <a:txBody>
                    <a:bodyPr/>
                    <a:lstStyle/>
                    <a:p>
                      <a:pPr algn="l" fontAlgn="ctr"/>
                      <a:r>
                        <a:rPr lang="en-US" sz="900" b="1" i="0" u="none" strike="noStrike">
                          <a:solidFill>
                            <a:srgbClr val="000000"/>
                          </a:solidFill>
                          <a:effectLst/>
                          <a:latin typeface="Avenir Next LT Pro" panose="020B0504020202020204" pitchFamily="34" charset="0"/>
                          <a:ea typeface="Calibri"/>
                          <a:cs typeface="Calibri"/>
                        </a:rPr>
                        <a:t>Total Environmental</a:t>
                      </a:r>
                    </a:p>
                  </a:txBody>
                  <a:tcPr marL="6858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33.3%</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18</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60.0%</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377820848"/>
                  </a:ext>
                </a:extLst>
              </a:tr>
              <a:tr h="189001">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63709386"/>
                  </a:ext>
                </a:extLst>
              </a:tr>
              <a:tr h="189001">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 Social  </a:t>
                      </a: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Diversity and Inclusion</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11.1%</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66.6%</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67478134"/>
                  </a:ext>
                </a:extLst>
              </a:tr>
              <a:tr h="283501">
                <a:tc>
                  <a:txBody>
                    <a:bodyPr/>
                    <a:lstStyle/>
                    <a:p>
                      <a:pPr algn="l" fontAlgn="ctr"/>
                      <a:endParaRPr lang="en-US" sz="900" b="0"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Community Engagement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11.1%</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66.6%</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07489114"/>
                  </a:ext>
                </a:extLst>
              </a:tr>
              <a:tr h="283501">
                <a:tc>
                  <a:txBody>
                    <a:bodyPr/>
                    <a:lstStyle/>
                    <a:p>
                      <a:pPr algn="l" fontAlgn="ctr"/>
                      <a:endParaRPr lang="en-US" sz="900" b="0"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Customer Engagement</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11.1%</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4</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44.4%</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13750704"/>
                  </a:ext>
                </a:extLst>
              </a:tr>
              <a:tr h="189001">
                <a:tc>
                  <a:txBody>
                    <a:bodyPr/>
                    <a:lstStyle/>
                    <a:p>
                      <a:pPr algn="l" fontAlgn="ctr"/>
                      <a:r>
                        <a:rPr lang="en-US" sz="900" b="1" i="0" u="none" strike="noStrike">
                          <a:solidFill>
                            <a:srgbClr val="000000"/>
                          </a:solidFill>
                          <a:effectLst/>
                          <a:latin typeface="Avenir Next LT Pro" panose="020B0504020202020204" pitchFamily="34" charset="0"/>
                          <a:ea typeface="Calibri"/>
                          <a:cs typeface="Calibri"/>
                        </a:rPr>
                        <a:t>Total Social</a:t>
                      </a:r>
                    </a:p>
                  </a:txBody>
                  <a:tcPr marL="6858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ctr"/>
                      <a:endParaRPr lang="en-US" sz="900" b="0"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33.3%</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16</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53.3%</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28391114"/>
                  </a:ext>
                </a:extLst>
              </a:tr>
              <a:tr h="189001">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6858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0"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169607522"/>
                  </a:ext>
                </a:extLst>
              </a:tr>
              <a:tr h="283501">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 Governance </a:t>
                      </a: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Board &amp; Leadership Diversity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66.6%</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85573669"/>
                  </a:ext>
                </a:extLst>
              </a:tr>
              <a:tr h="283501">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Shareholder Rights Provisions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55.5%</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40277828"/>
                  </a:ext>
                </a:extLst>
              </a:tr>
              <a:tr h="189001">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Corporate Bylaws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4</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44.4%</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708827680"/>
                  </a:ext>
                </a:extLst>
              </a:tr>
              <a:tr h="425252">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Executive Compensation Structure</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4</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44.4%</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919480631"/>
                  </a:ext>
                </a:extLst>
              </a:tr>
              <a:tr h="283501">
                <a:tc>
                  <a:txBody>
                    <a:bodyPr/>
                    <a:lstStyle/>
                    <a:p>
                      <a:pPr algn="l" fontAlgn="ctr"/>
                      <a:endParaRPr lang="en-US" sz="900" b="0"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Transparency &amp; Accountability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66.6%</a:t>
                      </a:r>
                      <a:endParaRPr lang="en-US">
                        <a:latin typeface="Avenir Next LT Pro" panose="020B0504020202020204" pitchFamily="34" charset="0"/>
                      </a:endParaRP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04979743"/>
                  </a:ext>
                </a:extLst>
              </a:tr>
              <a:tr h="189001">
                <a:tc>
                  <a:txBody>
                    <a:bodyPr/>
                    <a:lstStyle/>
                    <a:p>
                      <a:pPr algn="l" fontAlgn="ctr"/>
                      <a:endParaRPr lang="en-US" sz="900" b="0" i="0" u="none" strike="noStrike">
                        <a:solidFill>
                          <a:srgbClr val="000000"/>
                        </a:solidFill>
                        <a:effectLst/>
                        <a:latin typeface="Avenir Next LT Pro" panose="020B0504020202020204" pitchFamily="34" charset="0"/>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Avenir Next LT Pro" panose="020B0504020202020204" pitchFamily="34" charset="0"/>
                          <a:ea typeface="Calibri"/>
                          <a:cs typeface="Calibri"/>
                        </a:rPr>
                        <a:t>Risk Management</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5.6%</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a:cs typeface="Calibri"/>
                        </a:rPr>
                        <a:t>55.5%</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226946481"/>
                  </a:ext>
                </a:extLst>
              </a:tr>
              <a:tr h="189001">
                <a:tc>
                  <a:txBody>
                    <a:bodyPr/>
                    <a:lstStyle/>
                    <a:p>
                      <a:pPr algn="l" fontAlgn="ctr"/>
                      <a:r>
                        <a:rPr lang="en-US" sz="900" b="1" i="0" u="none" strike="noStrike">
                          <a:solidFill>
                            <a:srgbClr val="000000"/>
                          </a:solidFill>
                          <a:effectLst/>
                          <a:latin typeface="Avenir Next LT Pro" panose="020B0504020202020204" pitchFamily="34" charset="0"/>
                          <a:ea typeface="Calibri"/>
                          <a:cs typeface="Calibri"/>
                        </a:rPr>
                        <a:t>Total Governance</a:t>
                      </a:r>
                    </a:p>
                  </a:txBody>
                  <a:tcPr marL="6858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ctr"/>
                      <a:endParaRPr lang="en-US" sz="900" b="0"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33.3%</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30</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50.0%</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42153133"/>
                  </a:ext>
                </a:extLst>
              </a:tr>
              <a:tr h="189001">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68580" marR="0" marT="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ctr"/>
                      <a:endParaRPr lang="en-US" sz="900" b="0"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767572403"/>
                  </a:ext>
                </a:extLst>
              </a:tr>
              <a:tr h="189001">
                <a:tc>
                  <a:txBody>
                    <a:bodyPr/>
                    <a:lstStyle/>
                    <a:p>
                      <a:pPr algn="l" fontAlgn="ctr"/>
                      <a:r>
                        <a:rPr lang="en-US" sz="900" b="1" i="0" u="none" strike="noStrike">
                          <a:solidFill>
                            <a:srgbClr val="000000"/>
                          </a:solidFill>
                          <a:effectLst/>
                          <a:latin typeface="Avenir Next LT Pro" panose="020B0504020202020204" pitchFamily="34" charset="0"/>
                          <a:ea typeface="Calibri"/>
                          <a:cs typeface="Calibri"/>
                        </a:rPr>
                        <a:t> Total</a:t>
                      </a: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ctr"/>
                      <a:endParaRPr lang="en-US" sz="900" b="1" i="0" u="none" strike="noStrike">
                        <a:solidFill>
                          <a:srgbClr val="000000"/>
                        </a:solidFill>
                        <a:effectLst/>
                        <a:latin typeface="Avenir Next LT Pro" panose="020B0504020202020204" pitchFamily="34" charset="0"/>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100.0%</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Avenir Next LT Pro" panose="020B0504020202020204" pitchFamily="34" charset="0"/>
                          <a:ea typeface="Calibri"/>
                          <a:cs typeface="Calibri"/>
                        </a:rPr>
                        <a:t>64</a:t>
                      </a:r>
                    </a:p>
                  </a:txBody>
                  <a:tcPr marL="0" marR="0" marT="0" marB="0" anchor="ctr">
                    <a:lnL>
                      <a:noFill/>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dirty="0">
                          <a:solidFill>
                            <a:srgbClr val="000000"/>
                          </a:solidFill>
                          <a:effectLst/>
                          <a:latin typeface="Avenir Next LT Pro" panose="020B0504020202020204" pitchFamily="34" charset="0"/>
                          <a:ea typeface="Calibri"/>
                          <a:cs typeface="Calibri"/>
                        </a:rPr>
                        <a:t>54.4%</a:t>
                      </a:r>
                    </a:p>
                  </a:txBody>
                  <a:tcPr marL="0" marR="0" marT="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695341354"/>
                  </a:ext>
                </a:extLst>
              </a:tr>
            </a:tbl>
          </a:graphicData>
        </a:graphic>
      </p:graphicFrame>
      <p:graphicFrame>
        <p:nvGraphicFramePr>
          <p:cNvPr id="5" name="Table 4">
            <a:extLst>
              <a:ext uri="{FF2B5EF4-FFF2-40B4-BE49-F238E27FC236}">
                <a16:creationId xmlns:a16="http://schemas.microsoft.com/office/drawing/2014/main" id="{AAA11346-D2B0-FFE8-5AA4-FD0B7FA91370}"/>
              </a:ext>
            </a:extLst>
          </p:cNvPr>
          <p:cNvGraphicFramePr>
            <a:graphicFrameLocks noGrp="1"/>
          </p:cNvGraphicFramePr>
          <p:nvPr>
            <p:custDataLst>
              <p:tags r:id="rId2"/>
            </p:custDataLst>
            <p:extLst>
              <p:ext uri="{D42A27DB-BD31-4B8C-83A1-F6EECF244321}">
                <p14:modId xmlns:p14="http://schemas.microsoft.com/office/powerpoint/2010/main" val="2098797533"/>
              </p:ext>
            </p:extLst>
          </p:nvPr>
        </p:nvGraphicFramePr>
        <p:xfrm>
          <a:off x="4801941" y="97174"/>
          <a:ext cx="2605222" cy="1115568"/>
        </p:xfrm>
        <a:graphic>
          <a:graphicData uri="http://schemas.openxmlformats.org/drawingml/2006/table">
            <a:tbl>
              <a:tblPr/>
              <a:tblGrid>
                <a:gridCol w="1345954">
                  <a:extLst>
                    <a:ext uri="{9D8B030D-6E8A-4147-A177-3AD203B41FA5}">
                      <a16:colId xmlns:a16="http://schemas.microsoft.com/office/drawing/2014/main" val="4228293272"/>
                    </a:ext>
                  </a:extLst>
                </a:gridCol>
                <a:gridCol w="1259268">
                  <a:extLst>
                    <a:ext uri="{9D8B030D-6E8A-4147-A177-3AD203B41FA5}">
                      <a16:colId xmlns:a16="http://schemas.microsoft.com/office/drawing/2014/main" val="1479913054"/>
                    </a:ext>
                  </a:extLst>
                </a:gridCol>
              </a:tblGrid>
              <a:tr h="274320">
                <a:tc gridSpan="2">
                  <a:txBody>
                    <a:bodyPr/>
                    <a:lstStyle/>
                    <a:p>
                      <a:pPr algn="ctr" fontAlgn="b"/>
                      <a:r>
                        <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en-US" sz="1100" b="1" i="0" u="none" strike="noStrike">
                          <a:solidFill>
                            <a:schemeClr val="bg1"/>
                          </a:solidFill>
                          <a:effectLst/>
                          <a:latin typeface="Avenir Next LT Pro" panose="020B0504020202020204" pitchFamily="34" charset="0"/>
                          <a:ea typeface="Calibri" panose="020F0502020204030204" pitchFamily="34" charset="0"/>
                          <a:cs typeface="Calibri" panose="020F0502020204030204" pitchFamily="34" charset="0"/>
                        </a:rPr>
                        <a:t>10. Rating Table Breakdown</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endParaRPr lang="en-US"/>
                    </a:p>
                  </a:txBody>
                  <a:tcPr/>
                </a:tc>
                <a:extLst>
                  <a:ext uri="{0D108BD9-81ED-4DB2-BD59-A6C34878D82A}">
                    <a16:rowId xmlns:a16="http://schemas.microsoft.com/office/drawing/2014/main" val="3935570433"/>
                  </a:ext>
                </a:extLst>
              </a:tr>
              <a:tr h="210312">
                <a:tc>
                  <a:txBody>
                    <a:bodyPr/>
                    <a:lstStyle/>
                    <a:p>
                      <a:pPr algn="ctr" fontAlgn="ctr"/>
                      <a:r>
                        <a:rPr lang="en-US" sz="9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80%-100%</a:t>
                      </a: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Excellent</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99256604"/>
                  </a:ext>
                </a:extLst>
              </a:tr>
              <a:tr h="210312">
                <a:tc>
                  <a:txBody>
                    <a:bodyPr/>
                    <a:lstStyle/>
                    <a:p>
                      <a:pPr algn="ctr" fontAlgn="b"/>
                      <a:r>
                        <a:rPr lang="en-US" sz="9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60%-79%</a:t>
                      </a:r>
                    </a:p>
                  </a:txBody>
                  <a:tcPr marL="0" marR="0" marT="0" marB="0" anchor="b">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r>
                        <a:rPr lang="en-US" sz="9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Good</a:t>
                      </a:r>
                    </a:p>
                  </a:txBody>
                  <a:tcPr marL="0" marR="0" marT="0" marB="0" anchor="b">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108145084"/>
                  </a:ext>
                </a:extLst>
              </a:tr>
              <a:tr h="210312">
                <a:tc>
                  <a:txBody>
                    <a:bodyPr/>
                    <a:lstStyle/>
                    <a:p>
                      <a:pPr algn="ctr" fontAlgn="b"/>
                      <a:r>
                        <a:rPr lang="en-US" sz="9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40%-59%</a:t>
                      </a:r>
                    </a:p>
                  </a:txBody>
                  <a:tcPr marL="0" marR="0" marT="0" marB="0" anchor="b">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r>
                        <a:rPr lang="en-US" sz="9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Moderate</a:t>
                      </a:r>
                    </a:p>
                  </a:txBody>
                  <a:tcPr marL="0" marR="0" marT="0" marB="0" anchor="b">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62167655"/>
                  </a:ext>
                </a:extLst>
              </a:tr>
              <a:tr h="210312">
                <a:tc>
                  <a:txBody>
                    <a:bodyPr/>
                    <a:lstStyle/>
                    <a:p>
                      <a:pPr algn="ctr" fontAlgn="b"/>
                      <a:r>
                        <a:rPr lang="en-US" sz="9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 Below 40%</a:t>
                      </a:r>
                    </a:p>
                  </a:txBody>
                  <a:tcPr marL="0" marR="0" marT="0"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900" b="0" i="0" u="none" strike="noStrike">
                          <a:solidFill>
                            <a:srgbClr val="000000"/>
                          </a:solidFill>
                          <a:effectLst/>
                          <a:latin typeface="Avenir Next LT Pro" panose="020B0504020202020204" pitchFamily="34" charset="0"/>
                          <a:ea typeface="Calibri" panose="020F0502020204030204" pitchFamily="34" charset="0"/>
                          <a:cs typeface="Calibri" panose="020F0502020204030204" pitchFamily="34" charset="0"/>
                        </a:rPr>
                        <a:t>Poor</a:t>
                      </a:r>
                    </a:p>
                  </a:txBody>
                  <a:tcPr marL="0" marR="0" marT="0"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09797758"/>
                  </a:ext>
                </a:extLst>
              </a:tr>
            </a:tbl>
          </a:graphicData>
        </a:graphic>
      </p:graphicFrame>
      <p:sp>
        <p:nvSpPr>
          <p:cNvPr id="24" name="object 4">
            <a:extLst>
              <a:ext uri="{FF2B5EF4-FFF2-40B4-BE49-F238E27FC236}">
                <a16:creationId xmlns:a16="http://schemas.microsoft.com/office/drawing/2014/main" id="{415B60CF-CD39-CA29-805C-BE97DB1A254E}"/>
              </a:ext>
            </a:extLst>
          </p:cNvPr>
          <p:cNvSpPr txBox="1"/>
          <p:nvPr/>
        </p:nvSpPr>
        <p:spPr>
          <a:xfrm>
            <a:off x="78739" y="6657021"/>
            <a:ext cx="4381501" cy="169919"/>
          </a:xfrm>
          <a:prstGeom prst="rect">
            <a:avLst/>
          </a:prstGeom>
        </p:spPr>
        <p:txBody>
          <a:bodyPr vert="horz" wrap="square" lIns="0" tIns="15876" rIns="0" bIns="0" rtlCol="0">
            <a:spAutoFit/>
          </a:bodyPr>
          <a:lstStyle/>
          <a:p>
            <a:pPr marL="12701">
              <a:spcBef>
                <a:spcPts val="124"/>
              </a:spcBef>
            </a:pPr>
            <a:r>
              <a:rPr lang="en-US" sz="949" i="1">
                <a:latin typeface="Avenir Next LT Pro" panose="020B0504020202020204" pitchFamily="34" charset="0"/>
                <a:cs typeface="Segoe UI"/>
              </a:rPr>
              <a:t>Source: </a:t>
            </a:r>
            <a:r>
              <a:rPr lang="en-US" sz="949" i="1" spc="-11">
                <a:latin typeface="Avenir Next LT Pro" panose="020B0504020202020204" pitchFamily="34" charset="0"/>
                <a:cs typeface="Segoe UI"/>
              </a:rPr>
              <a:t>FactSet, Harley Investor Relations</a:t>
            </a:r>
            <a:r>
              <a:rPr lang="en-US" sz="1000" i="1">
                <a:latin typeface="Avenir Next LT Pro" panose="020B0504020202020204" pitchFamily="34" charset="0"/>
                <a:cs typeface="Calibri" panose="020F0502020204030204" pitchFamily="34" charset="0"/>
              </a:rPr>
              <a:t>, </a:t>
            </a:r>
            <a:r>
              <a:rPr lang="en-US" sz="950" i="1">
                <a:latin typeface="Avenir Next LT Pro" panose="020B0504020202020204" pitchFamily="34" charset="0"/>
                <a:cs typeface="Segoe UI" panose="020B0502040204020203" pitchFamily="34" charset="0"/>
              </a:rPr>
              <a:t>HOG 2025 Q1-Q4, Company Reports</a:t>
            </a:r>
            <a:endParaRPr lang="en-US" sz="949">
              <a:latin typeface="Avenir Next LT Pro" panose="020B0504020202020204" pitchFamily="34" charset="0"/>
              <a:cs typeface="Segoe UI"/>
            </a:endParaRPr>
          </a:p>
        </p:txBody>
      </p:sp>
      <p:pic>
        <p:nvPicPr>
          <p:cNvPr id="2" name="Picture 1" descr="Harley Davidson Logo PNG Image - PurePNG | Free transparent CC0 PNG ...">
            <a:extLst>
              <a:ext uri="{FF2B5EF4-FFF2-40B4-BE49-F238E27FC236}">
                <a16:creationId xmlns:a16="http://schemas.microsoft.com/office/drawing/2014/main" id="{7495B13E-36D0-75B6-8AF2-29F6C78B1A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6210" y="85401"/>
            <a:ext cx="1250329" cy="967997"/>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0DEA26FE-9251-46B7-FA48-BCD226839256}"/>
              </a:ext>
            </a:extLst>
          </p:cNvPr>
          <p:cNvGrpSpPr/>
          <p:nvPr/>
        </p:nvGrpSpPr>
        <p:grpSpPr>
          <a:xfrm>
            <a:off x="695325" y="6302380"/>
            <a:ext cx="10429876" cy="265521"/>
            <a:chOff x="695325" y="6302380"/>
            <a:chExt cx="10429876" cy="265521"/>
          </a:xfrm>
        </p:grpSpPr>
        <p:sp>
          <p:nvSpPr>
            <p:cNvPr id="7" name="object 13">
              <a:extLst>
                <a:ext uri="{FF2B5EF4-FFF2-40B4-BE49-F238E27FC236}">
                  <a16:creationId xmlns:a16="http://schemas.microsoft.com/office/drawing/2014/main" id="{2B97B263-2144-C277-D101-315D390ACCDC}"/>
                </a:ext>
              </a:extLst>
            </p:cNvPr>
            <p:cNvSpPr txBox="1"/>
            <p:nvPr/>
          </p:nvSpPr>
          <p:spPr>
            <a:xfrm>
              <a:off x="7699204" y="6334466"/>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ESG</a:t>
              </a:r>
              <a:endParaRPr lang="en-US" sz="1401">
                <a:latin typeface="Avenir Next LT Pro" panose="020B0504020202020204" pitchFamily="34" charset="0"/>
                <a:cs typeface="Segoe UI"/>
              </a:endParaRPr>
            </a:p>
          </p:txBody>
        </p:sp>
        <p:sp>
          <p:nvSpPr>
            <p:cNvPr id="8" name="object 14">
              <a:extLst>
                <a:ext uri="{FF2B5EF4-FFF2-40B4-BE49-F238E27FC236}">
                  <a16:creationId xmlns:a16="http://schemas.microsoft.com/office/drawing/2014/main" id="{B70927D0-8CE6-9120-92C6-3690A8233CA7}"/>
                </a:ext>
              </a:extLst>
            </p:cNvPr>
            <p:cNvSpPr txBox="1"/>
            <p:nvPr/>
          </p:nvSpPr>
          <p:spPr>
            <a:xfrm>
              <a:off x="8957749" y="6334466"/>
              <a:ext cx="448718"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Risks</a:t>
              </a:r>
              <a:endParaRPr lang="en-US" sz="1401">
                <a:latin typeface="Avenir Next LT Pro" panose="020B0504020202020204" pitchFamily="34" charset="0"/>
                <a:cs typeface="Segoe UI"/>
              </a:endParaRPr>
            </a:p>
          </p:txBody>
        </p:sp>
        <p:sp>
          <p:nvSpPr>
            <p:cNvPr id="9" name="object 15">
              <a:extLst>
                <a:ext uri="{FF2B5EF4-FFF2-40B4-BE49-F238E27FC236}">
                  <a16:creationId xmlns:a16="http://schemas.microsoft.com/office/drawing/2014/main" id="{B87E969E-476F-1661-0648-6A197B75B61E}"/>
                </a:ext>
              </a:extLst>
            </p:cNvPr>
            <p:cNvSpPr txBox="1"/>
            <p:nvPr/>
          </p:nvSpPr>
          <p:spPr>
            <a:xfrm>
              <a:off x="10089004" y="6334466"/>
              <a:ext cx="883796" cy="230318"/>
            </a:xfrm>
            <a:prstGeom prst="rect">
              <a:avLst/>
            </a:prstGeom>
          </p:spPr>
          <p:txBody>
            <a:bodyPr vert="horz" wrap="square" lIns="0" tIns="14604" rIns="0" bIns="0" rtlCol="0">
              <a:spAutoFit/>
            </a:bodyPr>
            <a:lstStyle/>
            <a:p>
              <a:pPr marL="12701">
                <a:spcBef>
                  <a:spcPts val="114"/>
                </a:spcBef>
              </a:pPr>
              <a:r>
                <a:rPr lang="en-US" sz="1401" b="1" spc="-11">
                  <a:latin typeface="Avenir Next LT Pro" panose="020B0504020202020204" pitchFamily="34" charset="0"/>
                  <a:cs typeface="Segoe UI"/>
                  <a:hlinkClick r:id="rId5" action="ppaction://hlinksldjump">
                    <a:extLst>
                      <a:ext uri="{A12FA001-AC4F-418D-AE19-62706E023703}">
                        <ahyp:hlinkClr xmlns:ahyp="http://schemas.microsoft.com/office/drawing/2018/hyperlinkcolor" val="tx"/>
                      </a:ext>
                    </a:extLst>
                  </a:hlinkClick>
                </a:rPr>
                <a:t>Appendix</a:t>
              </a:r>
              <a:endParaRPr lang="en-US" sz="1401" b="1">
                <a:latin typeface="Avenir Next LT Pro" panose="020B0504020202020204" pitchFamily="34" charset="0"/>
                <a:cs typeface="Segoe UI"/>
              </a:endParaRPr>
            </a:p>
          </p:txBody>
        </p:sp>
        <p:sp>
          <p:nvSpPr>
            <p:cNvPr id="10" name="object 16">
              <a:extLst>
                <a:ext uri="{FF2B5EF4-FFF2-40B4-BE49-F238E27FC236}">
                  <a16:creationId xmlns:a16="http://schemas.microsoft.com/office/drawing/2014/main" id="{2ED9DB37-4A07-0619-5516-76DCA8A106C1}"/>
                </a:ext>
              </a:extLst>
            </p:cNvPr>
            <p:cNvSpPr/>
            <p:nvPr/>
          </p:nvSpPr>
          <p:spPr>
            <a:xfrm>
              <a:off x="695325" y="6302380"/>
              <a:ext cx="10429876" cy="6350"/>
            </a:xfrm>
            <a:custGeom>
              <a:avLst/>
              <a:gdLst/>
              <a:ahLst/>
              <a:cxnLst/>
              <a:rect l="l" t="t" r="r" b="b"/>
              <a:pathLst>
                <a:path w="10429875" h="6350">
                  <a:moveTo>
                    <a:pt x="0" y="6276"/>
                  </a:moveTo>
                  <a:lnTo>
                    <a:pt x="10429654" y="6276"/>
                  </a:lnTo>
                  <a:lnTo>
                    <a:pt x="10429654" y="0"/>
                  </a:lnTo>
                  <a:lnTo>
                    <a:pt x="0" y="0"/>
                  </a:lnTo>
                  <a:lnTo>
                    <a:pt x="0" y="6276"/>
                  </a:lnTo>
                  <a:close/>
                </a:path>
              </a:pathLst>
            </a:custGeom>
            <a:solidFill>
              <a:srgbClr val="0079C2"/>
            </a:solidFill>
            <a:ln>
              <a:solidFill>
                <a:schemeClr val="accent2">
                  <a:lumMod val="75000"/>
                </a:schemeClr>
              </a:solidFill>
            </a:ln>
          </p:spPr>
          <p:txBody>
            <a:bodyPr wrap="square" lIns="0" tIns="0" rIns="0" bIns="0" rtlCol="0"/>
            <a:lstStyle/>
            <a:p>
              <a:endParaRPr>
                <a:latin typeface="Avenir Next LT Pro" panose="020B0504020202020204" pitchFamily="34" charset="0"/>
              </a:endParaRPr>
            </a:p>
          </p:txBody>
        </p:sp>
        <p:sp>
          <p:nvSpPr>
            <p:cNvPr id="11" name="object 37">
              <a:extLst>
                <a:ext uri="{FF2B5EF4-FFF2-40B4-BE49-F238E27FC236}">
                  <a16:creationId xmlns:a16="http://schemas.microsoft.com/office/drawing/2014/main" id="{E5631AFA-F984-384E-85C4-2BD8AC95BDF0}"/>
                </a:ext>
              </a:extLst>
            </p:cNvPr>
            <p:cNvSpPr txBox="1"/>
            <p:nvPr/>
          </p:nvSpPr>
          <p:spPr>
            <a:xfrm>
              <a:off x="949717" y="6328116"/>
              <a:ext cx="806450"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Overview</a:t>
              </a:r>
              <a:endParaRPr lang="en-US" sz="1401">
                <a:latin typeface="Avenir Next LT Pro" panose="020B0504020202020204" pitchFamily="34" charset="0"/>
                <a:cs typeface="Segoe UI"/>
              </a:endParaRPr>
            </a:p>
          </p:txBody>
        </p:sp>
        <p:sp>
          <p:nvSpPr>
            <p:cNvPr id="12" name="object 39">
              <a:extLst>
                <a:ext uri="{FF2B5EF4-FFF2-40B4-BE49-F238E27FC236}">
                  <a16:creationId xmlns:a16="http://schemas.microsoft.com/office/drawing/2014/main" id="{CFF246D6-EEAF-7A12-A927-89974E966A00}"/>
                </a:ext>
              </a:extLst>
            </p:cNvPr>
            <p:cNvSpPr txBox="1"/>
            <p:nvPr/>
          </p:nvSpPr>
          <p:spPr>
            <a:xfrm>
              <a:off x="2680067" y="6337583"/>
              <a:ext cx="624657" cy="230318"/>
            </a:xfrm>
            <a:prstGeom prst="rect">
              <a:avLst/>
            </a:prstGeom>
          </p:spPr>
          <p:txBody>
            <a:bodyPr vert="horz" wrap="square" lIns="0" tIns="14604" rIns="0" bIns="0" rtlCol="0">
              <a:spAutoFit/>
            </a:bodyPr>
            <a:lstStyle/>
            <a:p>
              <a:pPr marL="12701">
                <a:spcBef>
                  <a:spcPts val="114"/>
                </a:spcBef>
              </a:pPr>
              <a:r>
                <a:rPr lang="en-US" sz="1401" spc="-25">
                  <a:latin typeface="Avenir Next LT Pro" panose="020B0504020202020204" pitchFamily="34" charset="0"/>
                  <a:cs typeface="Segoe UI"/>
                </a:rPr>
                <a:t>Driver</a:t>
              </a:r>
              <a:endParaRPr lang="en-US" sz="1401">
                <a:latin typeface="Avenir Next LT Pro" panose="020B0504020202020204" pitchFamily="34" charset="0"/>
                <a:cs typeface="Segoe UI"/>
              </a:endParaRPr>
            </a:p>
          </p:txBody>
        </p:sp>
        <p:sp>
          <p:nvSpPr>
            <p:cNvPr id="13" name="object 40">
              <a:extLst>
                <a:ext uri="{FF2B5EF4-FFF2-40B4-BE49-F238E27FC236}">
                  <a16:creationId xmlns:a16="http://schemas.microsoft.com/office/drawing/2014/main" id="{F05D0EA7-C30D-0137-EBFB-038E5177AC73}"/>
                </a:ext>
              </a:extLst>
            </p:cNvPr>
            <p:cNvSpPr txBox="1"/>
            <p:nvPr/>
          </p:nvSpPr>
          <p:spPr>
            <a:xfrm>
              <a:off x="4287375" y="6322739"/>
              <a:ext cx="82826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Financials</a:t>
              </a:r>
              <a:endParaRPr lang="en-US" sz="1401">
                <a:latin typeface="Avenir Next LT Pro" panose="020B0504020202020204" pitchFamily="34" charset="0"/>
                <a:cs typeface="Segoe UI"/>
              </a:endParaRPr>
            </a:p>
          </p:txBody>
        </p:sp>
        <p:sp>
          <p:nvSpPr>
            <p:cNvPr id="14" name="object 41">
              <a:extLst>
                <a:ext uri="{FF2B5EF4-FFF2-40B4-BE49-F238E27FC236}">
                  <a16:creationId xmlns:a16="http://schemas.microsoft.com/office/drawing/2014/main" id="{91FE6B1A-F616-9515-48CB-FE2857933A31}"/>
                </a:ext>
              </a:extLst>
            </p:cNvPr>
            <p:cNvSpPr txBox="1"/>
            <p:nvPr/>
          </p:nvSpPr>
          <p:spPr>
            <a:xfrm>
              <a:off x="6039539" y="6322739"/>
              <a:ext cx="886194" cy="230318"/>
            </a:xfrm>
            <a:prstGeom prst="rect">
              <a:avLst/>
            </a:prstGeom>
          </p:spPr>
          <p:txBody>
            <a:bodyPr vert="horz" wrap="square" lIns="0" tIns="14604" rIns="0" bIns="0" rtlCol="0">
              <a:spAutoFit/>
            </a:bodyPr>
            <a:lstStyle/>
            <a:p>
              <a:pPr marL="12701">
                <a:spcBef>
                  <a:spcPts val="114"/>
                </a:spcBef>
              </a:pPr>
              <a:r>
                <a:rPr lang="en-US" sz="1401" spc="-11">
                  <a:latin typeface="Avenir Next LT Pro" panose="020B0504020202020204" pitchFamily="34" charset="0"/>
                  <a:cs typeface="Segoe UI"/>
                </a:rPr>
                <a:t>Valuation</a:t>
              </a:r>
              <a:endParaRPr lang="en-US" sz="1401">
                <a:latin typeface="Avenir Next LT Pro" panose="020B0504020202020204" pitchFamily="34" charset="0"/>
                <a:cs typeface="Segoe UI"/>
              </a:endParaRPr>
            </a:p>
          </p:txBody>
        </p:sp>
      </p:grpSp>
    </p:spTree>
    <p:extLst>
      <p:ext uri="{BB962C8B-B14F-4D97-AF65-F5344CB8AC3E}">
        <p14:creationId xmlns:p14="http://schemas.microsoft.com/office/powerpoint/2010/main" val="34281373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AFSPANMODE" val="span"/>
</p:tagLst>
</file>

<file path=ppt/tags/tag7.xml><?xml version="1.0" encoding="utf-8"?>
<p:tagLst xmlns:a="http://schemas.openxmlformats.org/drawingml/2006/main" xmlns:r="http://schemas.openxmlformats.org/officeDocument/2006/relationships" xmlns:p="http://schemas.openxmlformats.org/presentationml/2006/main">
  <p:tag name="AFSPANMODE" val="span"/>
</p:tagLst>
</file>

<file path=ppt/tags/tag8.xml><?xml version="1.0" encoding="utf-8"?>
<p:tagLst xmlns:a="http://schemas.openxmlformats.org/drawingml/2006/main" xmlns:r="http://schemas.openxmlformats.org/officeDocument/2006/relationships" xmlns:p="http://schemas.openxmlformats.org/presentationml/2006/main">
  <p:tag name="AFSPANMODE" val="span"/>
</p:tagLst>
</file>

<file path=ppt/tags/tag9.xml><?xml version="1.0" encoding="utf-8"?>
<p:tagLst xmlns:a="http://schemas.openxmlformats.org/drawingml/2006/main" xmlns:r="http://schemas.openxmlformats.org/officeDocument/2006/relationships" xmlns:p="http://schemas.openxmlformats.org/presentationml/2006/main">
  <p:tag name="AFSPANMODE" val="span"/>
</p:tagLst>
</file>

<file path=ppt/tags/tag10.xml><?xml version="1.0" encoding="utf-8"?>
<p:tagLst xmlns:a="http://schemas.openxmlformats.org/drawingml/2006/main" xmlns:r="http://schemas.openxmlformats.org/officeDocument/2006/relationships" xmlns:p="http://schemas.openxmlformats.org/presentationml/2006/main">
  <p:tag name="AFSPANMODE" val="span"/>
</p:tagLst>
</file>

<file path=ppt/tags/tag11.xml><?xml version="1.0" encoding="utf-8"?>
<p:tagLst xmlns:a="http://schemas.openxmlformats.org/drawingml/2006/main" xmlns:r="http://schemas.openxmlformats.org/officeDocument/2006/relationships" xmlns:p="http://schemas.openxmlformats.org/presentationml/2006/main">
  <p:tag name="AFSPANMODE" val="span"/>
</p:tagLst>
</file>

<file path=ppt/tags/tag12.xml><?xml version="1.0" encoding="utf-8"?>
<p:tagLst xmlns:a="http://schemas.openxmlformats.org/drawingml/2006/main" xmlns:r="http://schemas.openxmlformats.org/officeDocument/2006/relationships" xmlns:p="http://schemas.openxmlformats.org/presentationml/2006/main">
  <p:tag name="AFSPANMODE" val="span"/>
</p:tagLst>
</file>

<file path=ppt/tags/tag13.xml><?xml version="1.0" encoding="utf-8"?>
<p:tagLst xmlns:a="http://schemas.openxmlformats.org/drawingml/2006/main" xmlns:r="http://schemas.openxmlformats.org/officeDocument/2006/relationships" xmlns:p="http://schemas.openxmlformats.org/presentationml/2006/main">
  <p:tag name="AFSPANMODE" val="span"/>
</p:tagLst>
</file>

<file path=ppt/tags/tag14.xml><?xml version="1.0" encoding="utf-8"?>
<p:tagLst xmlns:a="http://schemas.openxmlformats.org/drawingml/2006/main" xmlns:r="http://schemas.openxmlformats.org/officeDocument/2006/relationships" xmlns:p="http://schemas.openxmlformats.org/presentationml/2006/main">
  <p:tag name="AFSPANMODE" val="span"/>
</p:tagLst>
</file>

<file path=ppt/tags/tag15.xml><?xml version="1.0" encoding="utf-8"?>
<p:tagLst xmlns:a="http://schemas.openxmlformats.org/drawingml/2006/main" xmlns:r="http://schemas.openxmlformats.org/officeDocument/2006/relationships" xmlns:p="http://schemas.openxmlformats.org/presentationml/2006/main">
  <p:tag name="AFSPANMODE" val="span"/>
</p:tagLst>
</file>

<file path=ppt/tags/tag16.xml><?xml version="1.0" encoding="utf-8"?>
<p:tagLst xmlns:a="http://schemas.openxmlformats.org/drawingml/2006/main" xmlns:r="http://schemas.openxmlformats.org/officeDocument/2006/relationships" xmlns:p="http://schemas.openxmlformats.org/presentationml/2006/main">
  <p:tag name="AFSPANMODE" val="span"/>
</p:tagLst>
</file>

<file path=ppt/tags/tag17.xml><?xml version="1.0" encoding="utf-8"?>
<p:tagLst xmlns:a="http://schemas.openxmlformats.org/drawingml/2006/main" xmlns:r="http://schemas.openxmlformats.org/officeDocument/2006/relationships" xmlns:p="http://schemas.openxmlformats.org/presentationml/2006/main">
  <p:tag name="AFSPANMODE" val="span"/>
</p:tagLst>
</file>

<file path=ppt/tags/tag18.xml><?xml version="1.0" encoding="utf-8"?>
<p:tagLst xmlns:a="http://schemas.openxmlformats.org/drawingml/2006/main" xmlns:r="http://schemas.openxmlformats.org/officeDocument/2006/relationships" xmlns:p="http://schemas.openxmlformats.org/presentationml/2006/main">
  <p:tag name="AFSPANMODE" val="span"/>
</p:tagLst>
</file>

<file path=ppt/tags/tag19.xml><?xml version="1.0" encoding="utf-8"?>
<p:tagLst xmlns:a="http://schemas.openxmlformats.org/drawingml/2006/main" xmlns:r="http://schemas.openxmlformats.org/officeDocument/2006/relationships" xmlns:p="http://schemas.openxmlformats.org/presentationml/2006/main">
  <p:tag name="AFSPANMODE" val="span"/>
</p:tagLst>
</file>

<file path=ppt/tags/tag20.xml><?xml version="1.0" encoding="utf-8"?>
<p:tagLst xmlns:a="http://schemas.openxmlformats.org/drawingml/2006/main" xmlns:r="http://schemas.openxmlformats.org/officeDocument/2006/relationships" xmlns:p="http://schemas.openxmlformats.org/presentationml/2006/main">
  <p:tag name="AFSPANMODE" val="span"/>
</p:tagLst>
</file>

<file path=ppt/tags/tag21.xml><?xml version="1.0" encoding="utf-8"?>
<p:tagLst xmlns:a="http://schemas.openxmlformats.org/drawingml/2006/main" xmlns:r="http://schemas.openxmlformats.org/officeDocument/2006/relationships" xmlns:p="http://schemas.openxmlformats.org/presentationml/2006/main">
  <p:tag name="AFSPANMODE" val="span"/>
</p:tagLst>
</file>

<file path=ppt/tags/tag22.xml><?xml version="1.0" encoding="utf-8"?>
<p:tagLst xmlns:a="http://schemas.openxmlformats.org/drawingml/2006/main" xmlns:r="http://schemas.openxmlformats.org/officeDocument/2006/relationships" xmlns:p="http://schemas.openxmlformats.org/presentationml/2006/main">
  <p:tag name="AFSPANMODE" val="span"/>
</p:tagLst>
</file>

<file path=ppt/tags/tag23.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2744</TotalTime>
  <Words>5407</Words>
  <Application>Microsoft Office PowerPoint</Application>
  <PresentationFormat>Widescreen</PresentationFormat>
  <Paragraphs>2103</Paragraphs>
  <Slides>36</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Aptos Narrow</vt:lpstr>
      <vt:lpstr>Arial</vt:lpstr>
      <vt:lpstr>Arial MT</vt:lpstr>
      <vt:lpstr>Avenir Next LT Pro</vt:lpstr>
      <vt:lpstr>Calibri</vt:lpstr>
      <vt:lpstr>Cambria Math</vt:lpstr>
      <vt:lpstr>Times New Roman</vt:lpstr>
      <vt:lpstr>Wingdings</vt:lpstr>
      <vt:lpstr>Office Theme</vt:lpstr>
      <vt:lpstr>PowerPoint Presentation</vt:lpstr>
      <vt:lpstr>Thesis</vt:lpstr>
      <vt:lpstr>PowerPoint Presentation</vt:lpstr>
      <vt:lpstr>Segment Description</vt:lpstr>
      <vt:lpstr>Revenue Breakdown</vt:lpstr>
      <vt:lpstr>Industry Overview</vt:lpstr>
      <vt:lpstr>PowerPoint Presentation</vt:lpstr>
      <vt:lpstr>Driver 1: Lower Displacement Penetration</vt:lpstr>
      <vt:lpstr>Driver 2: HDFS Transaction </vt:lpstr>
      <vt:lpstr>PowerPoint Presentation</vt:lpstr>
      <vt:lpstr>PowerPoint Presentation</vt:lpstr>
      <vt:lpstr>PowerPoint Presentation</vt:lpstr>
      <vt:lpstr>PowerPoint Presentation</vt:lpstr>
      <vt:lpstr>PowerPoint Presentation</vt:lpstr>
      <vt:lpstr>PowerPoint Presentation</vt:lpstr>
      <vt:lpstr>We calculated a 12-month target price of $67.99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Owen Brown</dc:creator>
  <cp:lastModifiedBy>Jacob Thomas Schar</cp:lastModifiedBy>
  <cp:revision>2</cp:revision>
  <dcterms:created xsi:type="dcterms:W3CDTF">2026-02-10T23:32:13Z</dcterms:created>
  <dcterms:modified xsi:type="dcterms:W3CDTF">2026-02-24T19:27:51Z</dcterms:modified>
</cp:coreProperties>
</file>